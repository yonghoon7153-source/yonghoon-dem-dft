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85f34ce7-0443-c122-adc0-5dcbb5e73fc5}">
          <p14:sldIdLst>
            <p14:sldId id="256"/>
          </p14:sldIdLst>
        </p14:section>
        <p14:section name="목차·요약" id="{6f44a541-f3a1-2925-431d-64efb46e4e58}">
          <p14:sldIdLst>
            <p14:sldId id="257"/>
            <p14:sldId id="258"/>
          </p14:sldIdLst>
        </p14:section>
        <p14:section name="Ⅰ. 추진 배경" id="{3d8839a3-f128-4e7e-03c7-069359a51354}">
          <p14:sldIdLst>
            <p14:sldId id="259"/>
            <p14:sldId id="260"/>
            <p14:sldId id="261"/>
            <p14:sldId id="262"/>
            <p14:sldId id="263"/>
          </p14:sldIdLst>
        </p14:section>
        <p14:section name="Ⅱ. 사업 개요" id="{661c9dec-03d4-ac1a-751c-d23f834327d4}">
          <p14:sldIdLst>
            <p14:sldId id="264"/>
            <p14:sldId id="265"/>
            <p14:sldId id="266"/>
            <p14:sldId id="267"/>
            <p14:sldId id="268"/>
            <p14:sldId id="269"/>
          </p14:sldIdLst>
        </p14:section>
        <p14:section name="Ⅲ. 사업성" id="{1af9a5d4-75b9-fbed-1faf-854d5dcf007f}">
          <p14:sldIdLst>
            <p14:sldId id="270"/>
            <p14:sldId id="271"/>
            <p14:sldId id="272"/>
            <p14:sldId id="273"/>
          </p14:sldIdLst>
        </p14:section>
        <p14:section name="Ⅳ. 추진 계획" id="{f9b9d593-e9fb-b7b0-5cf9-5ede3dff1b71}">
          <p14:sldIdLst>
            <p14:sldId id="274"/>
            <p14:sldId id="275"/>
            <p14:sldId id="276"/>
            <p14:sldId id="277"/>
            <p14:sldId id="278"/>
          </p14:sldIdLst>
        </p14:section>
        <p14:section name="맺음" id="{64529d89-8e5b-5a2b-fb49-1a50e92fad10}">
          <p14:sldIdLst>
            <p14:sldId id="279"/>
          </p14:sldIdLst>
        </p14:section>
        <p14:section name="부록" id="{883e5b82-fdd4-2719-f183-2d2b24170843}">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2421"/>
                </a:solidFill>
                <a:latin typeface="+mn-lt"/>
              </a:defRPr>
            </a:pPr>
            <a:r>
              <a:rPr sz="1050" b="0" i="0" u="none" strike="noStrike">
                <a:solidFill>
                  <a:srgbClr val="1F2421"/>
                </a:solidFill>
                <a:latin typeface="+mn-lt"/>
              </a:rPr>
              <a:t>식생활평가지수 (100점 만점)</a:t>
            </a:r>
          </a:p>
        </c:rich>
      </c:tx>
      <c:layout/>
      <c:overlay val="0"/>
    </c:title>
    <c:autoTitleDeleted val="0"/>
    <c:plotArea>
      <c:layout/>
      <c:barChart>
        <c:barDir val="bar"/>
        <c:grouping val="clustered"/>
        <c:varyColors val="0"/>
        <c:ser>
          <c:idx val="0"/>
          <c:order val="0"/>
          <c:tx>
            <c:strRef>
              <c:f>Sheet1!$B$1</c:f>
              <c:strCache>
                <c:ptCount val="1"/>
                <c:pt idx="0">
                  <c:v>식생활평가지수</c:v>
                </c:pt>
              </c:strCache>
            </c:strRef>
          </c:tx>
          <c:spPr>
            <a:solidFill>
              <a:srgbClr val="B9C1BB"/>
            </a:solidFill>
            <a:effectLst/>
          </c:spPr>
          <c:invertIfNegative val="0"/>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B9C1BB"/>
              </a:solidFill>
              <a:effectLst/>
            </c:spPr>
          </c:dPt>
          <c:dPt>
            <c:idx val="1"/>
            <c:invertIfNegative val="0"/>
            <c:bubble3D val="0"/>
            <c:spPr>
              <a:solidFill>
                <a:srgbClr val="3F7F5F"/>
              </a:solidFill>
              <a:effectLst/>
            </c:spPr>
          </c:dPt>
          <c:dPt>
            <c:idx val="2"/>
            <c:invertIfNegative val="0"/>
            <c:bubble3D val="0"/>
            <c:spPr>
              <a:solidFill>
                <a:srgbClr val="1E4D3A"/>
              </a:solidFill>
              <a:effectLst/>
            </c:spPr>
          </c:dPt>
          <c:cat>
            <c:multiLvlStrRef>
              <c:f>Sheet1!$A$2:$A$4</c:f>
              <c:multiLvlStrCache>
                <c:ptCount val="3"/>
                <c:lvl>
                  <c:pt idx="0">
                    <c:v>성인 평균</c:v>
                  </c:pt>
                  <c:pt idx="1">
                    <c:v>30대</c:v>
                  </c:pt>
                  <c:pt idx="2">
                    <c:v>20대</c:v>
                  </c:pt>
                </c:lvl>
              </c:multiLvlStrCache>
            </c:multiLvlStrRef>
          </c:cat>
          <c:val>
            <c:numRef>
              <c:f>Sheet1!$B$2:$B$4</c:f>
              <c:numCache>
                <c:formatCode>General</c:formatCode>
                <c:ptCount val="3"/>
                <c:pt idx="0">
                  <c:v>58.6</c:v>
                </c:pt>
                <c:pt idx="1">
                  <c:v>52.8</c:v>
                </c:pt>
                <c:pt idx="2">
                  <c:v>50.3</c:v>
                </c:pt>
              </c:numCache>
            </c:numRef>
          </c:val>
        </c:ser>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9C1BB"/>
            </a:solidFill>
            <a:prstDash val="solid"/>
            <a:round/>
          </a:ln>
        </c:spPr>
        <c:txPr>
          <a:bodyPr/>
          <a:lstStyle/>
          <a:p>
            <a:pPr>
              <a:defRPr sz="10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83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2421"/>
                </a:solidFill>
                <a:latin typeface="+mn-lt"/>
              </a:defRPr>
            </a:pPr>
            <a:r>
              <a:rPr sz="1050" b="0" i="0" u="none" strike="noStrike">
                <a:solidFill>
                  <a:srgbClr val="1F2421"/>
                </a:solidFill>
                <a:latin typeface="+mn-lt"/>
              </a:rPr>
              <a:t>로컬푸드 직매장 수 (개)</a:t>
            </a:r>
          </a:p>
        </c:rich>
      </c:tx>
      <c:layout/>
      <c:overlay val="0"/>
    </c:title>
    <c:autoTitleDeleted val="0"/>
    <c:plotArea>
      <c:layout/>
      <c:barChart>
        <c:barDir val="col"/>
        <c:grouping val="clustered"/>
        <c:varyColors val="0"/>
        <c:ser>
          <c:idx val="0"/>
          <c:order val="0"/>
          <c:tx>
            <c:strRef>
              <c:f>Sheet1!$B$1</c:f>
              <c:strCache>
                <c:ptCount val="1"/>
                <c:pt idx="0">
                  <c:v>직매장 수</c:v>
                </c:pt>
              </c:strCache>
            </c:strRef>
          </c:tx>
          <c:spPr>
            <a:solidFill>
              <a:srgbClr val="1E4D3A"/>
            </a:solidFill>
            <a:effectLst/>
          </c:spPr>
          <c:invertIfNegative val="0"/>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cat>
            <c:multiLvlStrRef>
              <c:f>Sheet1!$A$2:$A$3</c:f>
              <c:multiLvlStrCache>
                <c:ptCount val="2"/>
                <c:lvl>
                  <c:pt idx="0">
                    <c:v>2013</c:v>
                  </c:pt>
                  <c:pt idx="1">
                    <c:v>2020</c:v>
                  </c:pt>
                </c:lvl>
              </c:multiLvlStrCache>
            </c:multiLvlStrRef>
          </c:cat>
          <c:val>
            <c:numRef>
              <c:f>Sheet1!$B$2:$B$3</c:f>
              <c:numCache>
                <c:formatCode>General</c:formatCode>
                <c:ptCount val="2"/>
                <c:pt idx="0">
                  <c:v>32</c:v>
                </c:pt>
                <c:pt idx="1">
                  <c:v>554</c:v>
                </c:pt>
              </c:numCache>
            </c:numRef>
          </c:val>
        </c:ser>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9C1BB"/>
            </a:solidFill>
            <a:prstDash val="solid"/>
            <a:round/>
          </a:ln>
        </c:spPr>
        <c:txPr>
          <a:bodyPr/>
          <a:lstStyle/>
          <a:p>
            <a:pPr>
              <a:defRPr sz="10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max val="6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3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2421"/>
                </a:solidFill>
                <a:latin typeface="+mn-lt"/>
              </a:defRPr>
            </a:pPr>
            <a:r>
              <a:rPr sz="1050" b="0" i="0" u="none" strike="noStrike">
                <a:solidFill>
                  <a:srgbClr val="1F2421"/>
                </a:solidFill>
                <a:latin typeface="+mn-lt"/>
              </a:rPr>
              <a:t>3년차 수익원별 매출 (억 원, 합계 8.0)</a:t>
            </a:r>
          </a:p>
        </c:rich>
      </c:tx>
      <c:layout/>
      <c:overlay val="0"/>
    </c:title>
    <c:autoTitleDeleted val="0"/>
    <c:plotArea>
      <c:layout/>
      <c:barChart>
        <c:barDir val="bar"/>
        <c:grouping val="clustered"/>
        <c:varyColors val="0"/>
        <c:ser>
          <c:idx val="0"/>
          <c:order val="0"/>
          <c:tx>
            <c:strRef>
              <c:f>Sheet1!$B$1</c:f>
              <c:strCache>
                <c:ptCount val="1"/>
                <c:pt idx="0">
                  <c:v>3년차 매출</c:v>
                </c:pt>
              </c:strCache>
            </c:strRef>
          </c:tx>
          <c:spPr>
            <a:solidFill>
              <a:srgbClr val="B8692B"/>
            </a:solidFill>
            <a:effectLst/>
          </c:spPr>
          <c:invertIfNegative val="0"/>
          <c:dLbls>
            <c:numFmt formatCode="0.0"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B8692B"/>
              </a:solidFill>
              <a:effectLst/>
            </c:spPr>
          </c:dPt>
          <c:dPt>
            <c:idx val="1"/>
            <c:invertIfNegative val="0"/>
            <c:bubble3D val="0"/>
            <c:spPr>
              <a:solidFill>
                <a:srgbClr val="A8C8B4"/>
              </a:solidFill>
              <a:effectLst/>
            </c:spPr>
          </c:dPt>
          <c:dPt>
            <c:idx val="2"/>
            <c:invertIfNegative val="0"/>
            <c:bubble3D val="0"/>
            <c:spPr>
              <a:solidFill>
                <a:srgbClr val="7A837D"/>
              </a:solidFill>
              <a:effectLst/>
            </c:spPr>
          </c:dPt>
          <c:dPt>
            <c:idx val="3"/>
            <c:invertIfNegative val="0"/>
            <c:bubble3D val="0"/>
            <c:spPr>
              <a:solidFill>
                <a:srgbClr val="A8C8B4"/>
              </a:solidFill>
              <a:effectLst/>
            </c:spPr>
          </c:dPt>
          <c:dPt>
            <c:idx val="4"/>
            <c:invertIfNegative val="0"/>
            <c:bubble3D val="0"/>
            <c:spPr>
              <a:solidFill>
                <a:srgbClr val="1E4D3A"/>
              </a:solidFill>
              <a:effectLst/>
            </c:spPr>
          </c:dPt>
          <c:cat>
            <c:multiLvlStrRef>
              <c:f>Sheet1!$A$2:$A$6</c:f>
              <c:multiLvlStrCache>
                <c:ptCount val="5"/>
                <c:lvl>
                  <c:pt idx="0">
                    <c:v>상인 Pro (AI 비서·노출)</c:v>
                  </c:pt>
                  <c:pt idx="1">
                    <c:v>크리에이터·브랜드 제휴</c:v>
                  </c:pt>
                  <c:pt idx="2">
                    <c:v>주문 중개 수수료 4%</c:v>
                  </c:pt>
                  <c:pt idx="3">
                    <c:v>지자체·데이터 사업</c:v>
                  </c:pt>
                  <c:pt idx="4">
                    <c:v>제철 꾸러미 구독</c:v>
                  </c:pt>
                </c:lvl>
              </c:multiLvlStrCache>
            </c:multiLvlStrRef>
          </c:cat>
          <c:val>
            <c:numRef>
              <c:f>Sheet1!$B$2:$B$6</c:f>
              <c:numCache>
                <c:formatCode>General</c:formatCode>
                <c:ptCount val="5"/>
                <c:pt idx="0">
                  <c:v>0.4</c:v>
                </c:pt>
                <c:pt idx="1">
                  <c:v>1.2</c:v>
                </c:pt>
                <c:pt idx="2">
                  <c:v>1.7</c:v>
                </c:pt>
                <c:pt idx="3">
                  <c:v>1.9</c:v>
                </c:pt>
                <c:pt idx="4">
                  <c:v>2.8</c:v>
                </c:pt>
              </c:numCache>
            </c:numRef>
          </c:val>
        </c:ser>
        <c:dLbls>
          <c:numFmt formatCode="0.0"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9C1BB"/>
            </a:solidFill>
            <a:prstDash val="solid"/>
            <a:round/>
          </a:ln>
        </c:spPr>
        <c:txPr>
          <a:bodyPr/>
          <a:lstStyle/>
          <a:p>
            <a:pPr>
              <a:defRPr sz="10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83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개발 (웹앱·챗봇)</c:v>
                </c:pt>
              </c:strCache>
            </c:strRef>
          </c:tx>
          <c:spPr>
            <a:solidFill>
              <a:srgbClr val="1E4D3A"/>
            </a:solidFill>
            <a:effectLst/>
          </c:spPr>
          <c:invertIfNegative val="0"/>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7천만 원</c:v>
                  </c:pt>
                </c:lvl>
              </c:multiLvlStrCache>
            </c:multiLvlStrRef>
          </c:cat>
          <c:val>
            <c:numRef>
              <c:f>Sheet1!$B$2:$B$2</c:f>
              <c:numCache>
                <c:formatCode>General</c:formatCode>
                <c:ptCount val="1"/>
                <c:pt idx="0">
                  <c:v>40</c:v>
                </c:pt>
              </c:numCache>
            </c:numRef>
          </c:val>
        </c:ser>
        <c:ser>
          <c:idx val="1"/>
          <c:order val="1"/>
          <c:tx>
            <c:strRef>
              <c:f>Sheet1!$C$1</c:f>
              <c:strCache>
                <c:ptCount val="1"/>
                <c:pt idx="0">
                  <c:v>마케팅·크리에이터</c:v>
                </c:pt>
              </c:strCache>
            </c:strRef>
          </c:tx>
          <c:spPr>
            <a:solidFill>
              <a:srgbClr val="3F7F5F"/>
            </a:solidFill>
            <a:effectLst/>
          </c:spPr>
          <c:invertIfNegative val="0"/>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7천만 원</c:v>
                  </c:pt>
                </c:lvl>
              </c:multiLvlStrCache>
            </c:multiLvlStrRef>
          </c:cat>
          <c:val>
            <c:numRef>
              <c:f>Sheet1!$C$2:$C$2</c:f>
              <c:numCache>
                <c:formatCode>General</c:formatCode>
                <c:ptCount val="1"/>
                <c:pt idx="0">
                  <c:v>25</c:v>
                </c:pt>
              </c:numCache>
            </c:numRef>
          </c:val>
        </c:ser>
        <c:ser>
          <c:idx val="2"/>
          <c:order val="2"/>
          <c:tx>
            <c:strRef>
              <c:f>Sheet1!$D$1</c:f>
              <c:strCache>
                <c:ptCount val="1"/>
                <c:pt idx="0">
                  <c:v>파일럿 운영·포장재</c:v>
                </c:pt>
              </c:strCache>
            </c:strRef>
          </c:tx>
          <c:spPr>
            <a:solidFill>
              <a:srgbClr val="A8C8B4"/>
            </a:solidFill>
            <a:effectLst/>
          </c:spPr>
          <c:invertIfNegative val="0"/>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7천만 원</c:v>
                  </c:pt>
                </c:lvl>
              </c:multiLvlStrCache>
            </c:multiLvlStrRef>
          </c:cat>
          <c:val>
            <c:numRef>
              <c:f>Sheet1!$D$2:$D$2</c:f>
              <c:numCache>
                <c:formatCode>General</c:formatCode>
                <c:ptCount val="1"/>
                <c:pt idx="0">
                  <c:v>15</c:v>
                </c:pt>
              </c:numCache>
            </c:numRef>
          </c:val>
        </c:ser>
        <c:ser>
          <c:idx val="3"/>
          <c:order val="3"/>
          <c:tx>
            <c:strRef>
              <c:f>Sheet1!$E$1</c:f>
              <c:strCache>
                <c:ptCount val="1"/>
                <c:pt idx="0">
                  <c:v>AI API·서버</c:v>
                </c:pt>
              </c:strCache>
            </c:strRef>
          </c:tx>
          <c:spPr>
            <a:solidFill>
              <a:srgbClr val="B8692B"/>
            </a:solidFill>
            <a:effectLst/>
          </c:spPr>
          <c:invertIfNegative val="0"/>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7천만 원</c:v>
                  </c:pt>
                </c:lvl>
              </c:multiLvlStrCache>
            </c:multiLvlStrRef>
          </c:cat>
          <c:val>
            <c:numRef>
              <c:f>Sheet1!$E$2:$E$2</c:f>
              <c:numCache>
                <c:formatCode>General</c:formatCode>
                <c:ptCount val="1"/>
                <c:pt idx="0">
                  <c:v>10</c:v>
                </c:pt>
              </c:numCache>
            </c:numRef>
          </c:val>
        </c:ser>
        <c:ser>
          <c:idx val="4"/>
          <c:order val="4"/>
          <c:tx>
            <c:strRef>
              <c:f>Sheet1!$F$1</c:f>
              <c:strCache>
                <c:ptCount val="1"/>
                <c:pt idx="0">
                  <c:v>법무·인증·기타</c:v>
                </c:pt>
              </c:strCache>
            </c:strRef>
          </c:tx>
          <c:spPr>
            <a:solidFill>
              <a:srgbClr val="B9C1BB"/>
            </a:solidFill>
            <a:effectLst/>
          </c:spPr>
          <c:invertIfNegative val="0"/>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7천만 원</c:v>
                  </c:pt>
                </c:lvl>
              </c:multiLvlStrCache>
            </c:multiLvlStrRef>
          </c:cat>
          <c:val>
            <c:numRef>
              <c:f>Sheet1!$F$2:$F$2</c:f>
              <c:numCache>
                <c:formatCode>General</c:formatCode>
                <c:ptCount val="1"/>
                <c:pt idx="0">
                  <c:v>10</c:v>
                </c:pt>
              </c:numCache>
            </c:numRef>
          </c:val>
        </c:ser>
        <c:dLbls>
          <c:numFmt formatCode="0&quot;%&quot;"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B9C1BB"/>
            </a:solidFill>
            <a:prstDash val="solid"/>
            <a:round/>
          </a:ln>
        </c:spPr>
        <c:txPr>
          <a:bodyPr/>
          <a:lstStyle/>
          <a:p>
            <a:pPr>
              <a:defRPr sz="10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A837D"/>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850">
              <a:solidFill>
                <a:srgbClr val="4A524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2421"/>
                </a:solidFill>
                <a:latin typeface="+mn-lt"/>
              </a:defRPr>
            </a:pPr>
            <a:r>
              <a:rPr sz="1050" b="0" i="0" u="none" strike="noStrike">
                <a:solidFill>
                  <a:srgbClr val="1F2421"/>
                </a:solidFill>
                <a:latin typeface="+mn-lt"/>
              </a:rPr>
              <a:t>거래액(GMV) · 매출 목표 (억 원)</a:t>
            </a:r>
          </a:p>
        </c:rich>
      </c:tx>
      <c:layout/>
      <c:overlay val="0"/>
    </c:title>
    <c:autoTitleDeleted val="0"/>
    <c:plotArea>
      <c:layout/>
      <c:barChart>
        <c:barDir val="col"/>
        <c:grouping val="clustered"/>
        <c:varyColors val="0"/>
        <c:ser>
          <c:idx val="0"/>
          <c:order val="0"/>
          <c:tx>
            <c:strRef>
              <c:f>Sheet1!$B$1</c:f>
              <c:strCache>
                <c:ptCount val="1"/>
                <c:pt idx="0">
                  <c:v>거래액(GMV)</c:v>
                </c:pt>
              </c:strCache>
            </c:strRef>
          </c:tx>
          <c:spPr>
            <a:solidFill>
              <a:srgbClr val="1E4D3A"/>
            </a:solidFill>
            <a:effectLst/>
          </c:spPr>
          <c:invertIfNegative val="0"/>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cat>
            <c:multiLvlStrRef>
              <c:f>Sheet1!$A$2:$A$4</c:f>
              <c:multiLvlStrCache>
                <c:ptCount val="3"/>
                <c:lvl>
                  <c:pt idx="0">
                    <c:v>1년차</c:v>
                  </c:pt>
                  <c:pt idx="1">
                    <c:v>2년차</c:v>
                  </c:pt>
                  <c:pt idx="2">
                    <c:v>3년차</c:v>
                  </c:pt>
                </c:lvl>
              </c:multiLvlStrCache>
            </c:multiLvlStrRef>
          </c:cat>
          <c:val>
            <c:numRef>
              <c:f>Sheet1!$B$2:$B$4</c:f>
              <c:numCache>
                <c:formatCode>General</c:formatCode>
                <c:ptCount val="3"/>
                <c:pt idx="0">
                  <c:v>2.5</c:v>
                </c:pt>
                <c:pt idx="1">
                  <c:v>15</c:v>
                </c:pt>
                <c:pt idx="2">
                  <c:v>54</c:v>
                </c:pt>
              </c:numCache>
            </c:numRef>
          </c:val>
        </c:ser>
        <c:ser>
          <c:idx val="1"/>
          <c:order val="1"/>
          <c:tx>
            <c:strRef>
              <c:f>Sheet1!$C$1</c:f>
              <c:strCache>
                <c:ptCount val="1"/>
                <c:pt idx="0">
                  <c:v>매출</c:v>
                </c:pt>
              </c:strCache>
            </c:strRef>
          </c:tx>
          <c:spPr>
            <a:solidFill>
              <a:srgbClr val="A8C8B4"/>
            </a:solidFill>
            <a:effectLst/>
          </c:spPr>
          <c:invertIfNegative val="0"/>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cat>
            <c:multiLvlStrRef>
              <c:f>Sheet1!$A$2:$A$4</c:f>
              <c:multiLvlStrCache>
                <c:ptCount val="3"/>
                <c:lvl>
                  <c:pt idx="0">
                    <c:v>1년차</c:v>
                  </c:pt>
                  <c:pt idx="1">
                    <c:v>2년차</c:v>
                  </c:pt>
                  <c:pt idx="2">
                    <c:v>3년차</c:v>
                  </c:pt>
                </c:lvl>
              </c:multiLvlStrCache>
            </c:multiLvlStrRef>
          </c:cat>
          <c:val>
            <c:numRef>
              <c:f>Sheet1!$C$2:$C$4</c:f>
              <c:numCache>
                <c:formatCode>General</c:formatCode>
                <c:ptCount val="3"/>
                <c:pt idx="0">
                  <c:v>0.6</c:v>
                </c:pt>
                <c:pt idx="1">
                  <c:v>3</c:v>
                </c:pt>
                <c:pt idx="2">
                  <c:v>8</c:v>
                </c:pt>
              </c:numCache>
            </c:numRef>
          </c:val>
        </c:ser>
        <c:dLbls>
          <c:numFmt formatCode="General"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9C1BB"/>
            </a:solidFill>
            <a:prstDash val="solid"/>
            <a:round/>
          </a:ln>
        </c:spPr>
        <c:txPr>
          <a:bodyPr/>
          <a:lstStyle/>
          <a:p>
            <a:pPr>
              <a:defRPr sz="10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max val="6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37D"/>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900">
              <a:solidFill>
                <a:srgbClr val="4A524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[0:00–0:13] 안녕하세요. 지금부터 나물로 사업계획을 발표하겠습니다. 나물로는 AI가 우리 동네 가게의 오늘 나물을 레시피와 함께 연결하는 플랫폼입니다.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[0:13–0:19] 추진 배경, 사업 개요, 사업성, 추진 계획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[0:19–0:48] 먼저 요약입니다. 소비자는 정보, 조리, 구매의 장벽 때문에 나물을 덜 먹고, 시장과 로컬푸드 매장은 온라인 주문 채널이 부족합니다. 나물로는 도감과 레시피, 동네 매장 주문을 하나로 잇고, 그 위에 AI 셰프와 AI 상인 비서, 수요 예측을 얹었습니다. 3년 차 거래액 54억 원, 매출 8억 원이 목표이고, AI 운영비는 매출의 약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[0:48–1:26] 추진 배경에 앞서 나물을 정의하겠습니다. 나물은 나는 곳에 따라 산나물, 들나물, 재배나물로, 먹는 법에 따라 생채, 숙채, 묵나물로 나뉩니다. 고사리와 두릅, 원추리는 독성분이 있어 반드시 데쳐 먹어야 하고, 원추리는 독초인 여로와 헷갈립니다. 2023년에는 중국산 고사리 56톤이 국산과 섞여 급식에 납품됐고, 올여름 시금치 값은 폭염으로 한 달 새 68% 올랐습니다. 그래서 나물 사업의 핵심은 정확한 정보와 원산지 신뢰, 그리고 수요 관리입니다.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[1:26–1:53] 소비자 측면입니다. 이름과 제철을 몰라 고르지 못하는 정보 장벽, 다듬고 데치기 번거로운 조리 장벽, 소량으로 살 곳이 없는 구매 장벽이 있습니다. 가족 가구에서는 아이가 잘 먹지 않는 문제도 더해집니다. 1인 가구는 36.1%까지 늘었고, 20대의 식생활평가지수는 50.3점으로 성인 평균보다 낮습니다.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[1:53–2:23] 공급자 측면입니다. 2024년 산나물 생산액은 9.3% 줄었고, 제철에 몰려 한 해 40톤이 버려진다는 업계 사례도 있습니다. 전국 전통시장은 1,393곳, 연매출 28.7조 원 규모지만, 많은 상인이 온라인 판매를 직접 운영하기 어렵습니다. 로컬푸드 직매장도 7년 사이 약 17배 늘었지만, 젊은 고객을 데려오는 통로는 여전히 부족합니다.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[2:23–2:40] 기존 서비스는 콘텐츠와 구매, 전국 배송과 동네 상권 가운데 한쪽에 머뭅니다. 배민과 네이버는 시장 장보기를 하지만, 왜, 어떻게 먹어야 하는지 알려 주지 않고, 상인에게 AI 도구도 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[2:40–3:03] 왜 지금일까요. 상인 메시지 한 건을 재고 데이터로 바꾸는 AI 비용이 약 6원까지 내려왔고, 배민에 입점한 전통시장 점포 매출은 1년 새 196% 늘었습니다. 컬리와 오아시스 같은 대형 플랫폼도 AI로 움직이는데, 동네 상인에게는 아직 이런 도구가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[3:03–3:25] 사업 개요입니다. 나물로는 알고, 고르고, 산다의 세 단계를 하나로 잇고, 제철 꾸러미 구독으로 재구매를 고정합니다. 도감은 나물마다 분류와 제철, 데치는 시간과 안전 정보를, 레시피 허브는 영상의 단계별 장면을, 동네 주문은 손질과 데침 옵션을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[3:25–4:04] 그리고 각 단계에 AI 엔진 네 개를 붙였습니다. 첫째, AI 셰프는 아이 나이나 냉장고 재료를 말하거나 사진을 올리면, 오늘 동네 가게에 있는 나물로 반찬을 추천합니다. 둘째, 크리에이터가 동의한 영상의 설명과 챕터를 AI가 재료와 단계로 정리해 레시피 허브를 키웁니다. 셋째, AI 상인 비서는 사장님이 카톡에 말하듯 쓴 한 줄을 재고와 가격으로 바꿉니다. 넷째, 판매 이력과 날씨로 내일 입고량을 추천하고, 남는 재고는 마감 할인으로 이어 폐기를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[4:04–4:30] 실제로 만든 웹앱 프로토타입 화면입니다. 홈에서 AI 셰프에게 묻고, 추천 반찬의 레시피를 단계별 장면으로 보고, 재료 담기 한 번으로 장바구니에 넣습니다. 아이가 있는 집에는 나물 김밥이나 볶음처럼 섞어 먹는 요리를 먼저 권합니다. 싫어하는 채소는 혼합 요리로 낼 때 더 잘 먹는다는 연구를 반영했습니다.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[4:30–4:51] 다음은 동네 매장 연결입니다. 반경 안의 시장 가게와 직매장의 오늘 재고와 가격을 보고, 손질 옵션과 픽업 시간을 고르면 픽업 번호가 발급됩니다. 손질과 데침은 사장님의 숙련 기술을 추가 수익으로 바꾸고, 소비자에게는 조리 시간을 줄여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[4:51–5:07] 상인 화면입니다. 사장님이 보낸 한 줄을 AI가 재고 카드로 정리하고, 입고 추천과 마감 할인 제안이 같은 대화방에 옵니다. 도감에는 꼭 데쳐 먹어야 하는 나물과 원산지 확인 안내를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[5:07–5:32] 실제로 써 보겠습니다. 다섯 살 아이와 먹을 순한 반찬을 묻자, AI 셰프가 세 가지를 추천합니다. 참나물 레시피를 확인하고 재료를 담으면, 600미터 거리 시장 가게에서 손질 옵션과 저녁 6시 픽업을 골라 바로 예약됩니다. 같은 시각 사장님 대화방에는 주문 알림이 도착하고, 한 번에 접수합니다.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[5:32–5:58] 사업성입니다. 온라인 식품과 전통시장을 합친 먹거리 거래 68.7조 원 가운데, 수도권 시장과 직매장의 채소, 나물류 약 1.7조 원을 1차 목표로 잡았습니다. 3년 차 목표 거래액은 54억 원입니다. 성장 요인은 1인 가구 증가, 온라인 장보기의 일상화, 그리고 전통시장 디지털 전환 정책입니다.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[5:58–6:20] 주요 서비스와 비교하면, 여섯 가지 요소를 모두 갖춘 곳은 나물로뿐이고, 특히 상인용 AI 도구는 어디에도 없습니다. 배민과 네이버는 시장 상권을, 어글리어스는 구독을, 레시피 앱은 콘텐츠를 가졌지만, 이를 동네 단위로 묶고 상인 운영까지 돕는 곳은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[6:20–6:46] 국내외 사례가 각 요소를 검증합니다. 배민 입점 시장 점포 매출은 196% 늘었고, 미국 애프레시는 AI 발주로 신선식품 폐기를 최대 25% 줄였다고 발표했으며, 컬리는 데이터 예측으로 폐기율 1% 미만을 말합니다. 어글리어스와 당근, 투굿투고와 타베쵸쿠도 같은 방향을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[6:46–7:12] 수익은 구독 마진이 중심이고, 지자체 사업, 수수료 4%, 제휴, 그리고 월 2만 9천 원의 상인 프로 구독이 더해집니다. AI 비용은 상인 메시지 한 건에 약 6원, AI 셰프 한 번에 약 23원으로, 3년 차 기준 월 72만 원, 주문당 약 24원입니다. 매출의 약 1%로 감당할 수 있는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[7:12–7:37] 추진 계획입니다. AI는 지금 할 수 있는 것부터 시작합니다. 0단계에서는 공개한 프로토타입으로 고객을 인터뷰하고, 사장님의 카톡 메시지를 AI로 정리해 확인받은 뒤 시트에 올립니다. 주문이 쌓이면 요일과 날씨로 예측을 시작하고, 1단계에서 챗봇 자동화와 매장별 예측 모델로 넓힙니다.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[7:37–8:03] 시장 한 곳 파일럿 뒤, 30곳, 수도권 120곳, 전국 300곳으로 넓힙니다. 예비창업패키지 7천만 원은 개발 40%, 마케팅 25%, 파일럿 운영 15%, AI와 서버 10%에 쓰겠습니다. 0단계 목표는 주문 100건과 재구매율 30%, 1단계는 월 주문 2천 건과 구독자 200명입니다.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[8:03–8:24] 3년 차 매출 8억 원, 영업이익 1.5억 원이 목표입니다. 1년 차와 2년 차에는 개발과 마케팅 투자로 적자를 예상하고, 지원금과 시드 투자로 메운 뒤 3년 차에 흑자로 돌아섭니다. 이후 제철 농산물 전체와 산지 직거래, 건조 나물 해외 진출로 확장합니다.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[8:24–8:47] 리스크도 준비했습니다. AI가 정리한 재고는 사장님 확인 뒤 게시하고, AI는 야생 식물의 식용 여부를 판단하지 않으며, 원산지 표시를 의무화합니다. 상인 참여는 카톡 한 줄 등록과 6개월 수수료 면제로, 대형 플랫폼 경쟁은 콘텐츠와 구독, 상인 도구로 대응합니다.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[8:47–9:03] 팀입니다. 저는 공학 연구실에서 시뮬레이션과 데이터 분석을 해 왔고, 이 경험으로 수요 예측과 데이터를 맡습니다. 개발과 콘텐츠 팀원을 모으고, 상인회와 영양, 식품안전 자문을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[9:03–9:19] 정리하겠습니다. 나물로는 콘텐츠와 AI가 수요를 만들고, 동네 가게가 공급하는 구조입니다. 올겨울 시장 한 곳에서 파일럿을 시작하겠습니다. 오늘 나물, 동네에서.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발표하지 않음. 질의응답 때 근거로 보여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73A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548640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2697480"/>
            <a:ext cx="5486400" cy="457200"/>
          </a:xfrm>
          <a:prstGeom prst="rect">
            <a:avLst/>
          </a:prstGeom>
          <a:noFill/>
          <a:ln/>
        </p:spPr>
        <p:txBody>
          <a:bodyPr wrap="square" rtlCol="0"/>
          <a:lstStyle>
            <a:lvl1pPr indent="0" marL="0">
              <a:buNone/>
              <a:defRPr lang="en-US" sz="1500" dirty="0">
                <a:solidFill>
                  <a:srgbClr val="DCE7E0"/>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8321040" cy="502920"/>
          </a:xfrm>
          <a:prstGeom prst="rect">
            <a:avLst/>
          </a:prstGeom>
          <a:solidFill>
            <a:srgbClr val="F2F4F2"/>
          </a:solidFill>
          <a:ln w="12700">
            <a:solidFill>
              <a:srgbClr val="F2F4F2"/>
            </a:solidFill>
            <a:prstDash val="solid"/>
          </a:ln>
        </p:spPr>
      </p:sp>
      <p:sp>
        <p:nvSpPr>
          <p:cNvPr id="3" name="Text 1"/>
          <p:cNvSpPr/>
          <p:nvPr/>
        </p:nvSpPr>
        <p:spPr>
          <a:xfrm>
            <a:off x="6949440" y="201168"/>
            <a:ext cx="1783080" cy="237744"/>
          </a:xfrm>
          <a:prstGeom prst="rect">
            <a:avLst/>
          </a:prstGeom>
          <a:noFill/>
          <a:ln/>
        </p:spPr>
        <p:txBody>
          <a:bodyPr wrap="square" lIns="0" tIns="0" rIns="0" bIns="0" rtlCol="0" anchor="ctr"/>
          <a:lstStyle/>
          <a:p>
            <a:pPr algn="r" indent="0" marL="0">
              <a:buNone/>
            </a:pPr>
            <a:r>
              <a:rPr lang="en-US" sz="900" b="1" spc="300" kern="0" dirty="0">
                <a:solidFill>
                  <a:srgbClr val="7A837D"/>
                </a:solidFill>
              </a:rPr>
              <a:t>NAMULLO</a:t>
            </a:r>
            <a:endParaRPr lang="en-US" sz="900" dirty="0"/>
          </a:p>
        </p:txBody>
      </p:sp>
      <p:sp>
        <p:nvSpPr>
          <p:cNvPr id="4" name="Text 2"/>
          <p:cNvSpPr/>
          <p:nvPr/>
        </p:nvSpPr>
        <p:spPr>
          <a:xfrm>
            <a:off x="6400800" y="4773168"/>
            <a:ext cx="1874520" cy="228600"/>
          </a:xfrm>
          <a:prstGeom prst="rect">
            <a:avLst/>
          </a:prstGeom>
          <a:noFill/>
          <a:ln/>
        </p:spPr>
        <p:txBody>
          <a:bodyPr wrap="square" lIns="0" tIns="0" rIns="0" bIns="0" rtlCol="0" anchor="ctr"/>
          <a:lstStyle/>
          <a:p>
            <a:pPr algn="r" indent="0" marL="0">
              <a:buNone/>
            </a:pPr>
            <a:r>
              <a:rPr lang="en-US" sz="900" dirty="0">
                <a:solidFill>
                  <a:srgbClr val="7A837D"/>
                </a:solidFill>
              </a:rPr>
              <a:t>나물로 사업계획</a:t>
            </a:r>
            <a:endParaRPr lang="en-US" sz="900" dirty="0"/>
          </a:p>
        </p:txBody>
      </p:sp>
      <p:sp>
        <p:nvSpPr>
          <p:cNvPr id="5" name="Text 3"/>
          <p:cNvSpPr/>
          <p:nvPr>
            <p:ph idx="103" type="body" hasCustomPrompt="1"/>
          </p:nvPr>
        </p:nvSpPr>
        <p:spPr>
          <a:xfrm>
            <a:off x="411480" y="201168"/>
            <a:ext cx="5943600" cy="237744"/>
          </a:xfrm>
          <a:prstGeom prst="rect">
            <a:avLst/>
          </a:prstGeom>
          <a:noFill/>
          <a:ln/>
        </p:spPr>
        <p:txBody>
          <a:bodyPr wrap="square" rtlCol="0"/>
          <a:lstStyle>
            <a:lvl1pPr indent="0" marL="0">
              <a:buNone/>
              <a:defRPr lang="en-US" sz="1000" b="1" dirty="0">
                <a:solidFill>
                  <a:schemeClr val="accent1"/>
                </a:solidFill>
              </a:defRPr>
            </a:lvl1pPr>
          </a:lstStyle>
          <a:p>
            <a:pPr indent="0" marL="0">
              <a:buNone/>
            </a:pPr>
            <a:endParaRPr lang="en-US" sz="1000" dirty="0"/>
          </a:p>
        </p:txBody>
      </p:sp>
      <p:sp>
        <p:nvSpPr>
          <p:cNvPr id="6" name="Text 3"/>
          <p:cNvSpPr/>
          <p:nvPr>
            <p:ph idx="104" type="title" hasCustomPrompt="1"/>
          </p:nvPr>
        </p:nvSpPr>
        <p:spPr>
          <a:xfrm>
            <a:off x="411480" y="438912"/>
            <a:ext cx="8321040" cy="420624"/>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7" name="Text 3"/>
          <p:cNvSpPr/>
          <p:nvPr>
            <p:ph idx="105" type="body" hasCustomPrompt="1"/>
          </p:nvPr>
        </p:nvSpPr>
        <p:spPr>
          <a:xfrm>
            <a:off x="566928" y="914400"/>
            <a:ext cx="8046720" cy="502920"/>
          </a:xfrm>
          <a:prstGeom prst="rect">
            <a:avLst/>
          </a:prstGeom>
          <a:noFill/>
          <a:ln/>
        </p:spPr>
        <p:txBody>
          <a:bodyPr wrap="square" rtlCol="0"/>
          <a:lstStyle>
            <a:lvl1pPr indent="0" marL="0">
              <a:buNone/>
              <a:defRPr lang="en-US" sz="1250" b="1" dirty="0">
                <a:solidFill>
                  <a:schemeClr val="tx1"/>
                </a:solidFill>
              </a:defRPr>
            </a:lvl1pPr>
          </a:lstStyle>
          <a:p>
            <a:pPr indent="0" marL="0">
              <a:buNone/>
            </a:pPr>
            <a:endParaRPr lang="en-US" sz="125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4773168"/>
            <a:ext cx="1874520" cy="228600"/>
          </a:xfrm>
          <a:prstGeom prst="rect">
            <a:avLst/>
          </a:prstGeom>
          <a:noFill/>
          <a:ln/>
        </p:spPr>
        <p:txBody>
          <a:bodyPr wrap="square" lIns="0" tIns="0" rIns="0" bIns="0" rtlCol="0" anchor="ctr"/>
          <a:lstStyle/>
          <a:p>
            <a:pPr indent="0" marL="0">
              <a:buNone/>
            </a:pPr>
            <a:r>
              <a:rPr lang="en-US" sz="900" dirty="0">
                <a:solidFill>
                  <a:srgbClr val="7A837D"/>
                </a:solidFill>
              </a:rPr>
              <a:t>나물로 사업계획</a:t>
            </a:r>
            <a:endParaRPr lang="en-US" sz="900" dirty="0"/>
          </a:p>
        </p:txBody>
      </p:sp>
      <p:sp>
        <p:nvSpPr>
          <p:cNvPr id="3" name="Text 1"/>
          <p:cNvSpPr/>
          <p:nvPr>
            <p:ph idx="101" type="body" hasCustomPrompt="1"/>
          </p:nvPr>
        </p:nvSpPr>
        <p:spPr>
          <a:xfrm>
            <a:off x="411480" y="201168"/>
            <a:ext cx="5486400" cy="237744"/>
          </a:xfrm>
          <a:prstGeom prst="rect">
            <a:avLst/>
          </a:prstGeom>
          <a:noFill/>
          <a:ln/>
        </p:spPr>
        <p:txBody>
          <a:bodyPr wrap="square" rtlCol="0"/>
          <a:lstStyle>
            <a:lvl1pPr indent="0" marL="0">
              <a:buNone/>
              <a:defRPr lang="en-US" sz="1000" b="1" dirty="0">
                <a:solidFill>
                  <a:schemeClr val="accent1"/>
                </a:solidFill>
              </a:defRPr>
            </a:lvl1pPr>
          </a:lstStyle>
          <a:p>
            <a:pPr indent="0" marL="0">
              <a:buNone/>
            </a:pPr>
            <a:endParaRPr lang="en-US" sz="1000" dirty="0"/>
          </a:p>
        </p:txBody>
      </p:sp>
      <p:sp>
        <p:nvSpPr>
          <p:cNvPr id="4" name="Text 1"/>
          <p:cNvSpPr/>
          <p:nvPr>
            <p:ph idx="102" type="title" hasCustomPrompt="1"/>
          </p:nvPr>
        </p:nvSpPr>
        <p:spPr>
          <a:xfrm>
            <a:off x="411480" y="438912"/>
            <a:ext cx="5486400" cy="420624"/>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54864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949440" y="201168"/>
            <a:ext cx="1783080" cy="237744"/>
          </a:xfrm>
          <a:prstGeom prst="rect">
            <a:avLst/>
          </a:prstGeom>
          <a:noFill/>
          <a:ln/>
        </p:spPr>
        <p:txBody>
          <a:bodyPr wrap="square" lIns="0" tIns="0" rIns="0" bIns="0" rtlCol="0" anchor="ctr"/>
          <a:lstStyle/>
          <a:p>
            <a:pPr algn="r" indent="0" marL="0">
              <a:buNone/>
            </a:pPr>
            <a:r>
              <a:rPr lang="en-US" sz="900" b="1" spc="300" kern="0" dirty="0">
                <a:solidFill>
                  <a:srgbClr val="7A837D"/>
                </a:solidFill>
              </a:rPr>
              <a:t>NAMULLO</a:t>
            </a:r>
            <a:endParaRPr lang="en-US" sz="900" dirty="0"/>
          </a:p>
        </p:txBody>
      </p:sp>
      <p:sp>
        <p:nvSpPr>
          <p:cNvPr id="3" name="Text 1"/>
          <p:cNvSpPr/>
          <p:nvPr>
            <p:ph idx="101" type="title" hasCustomPrompt="1"/>
          </p:nvPr>
        </p:nvSpPr>
        <p:spPr>
          <a:xfrm>
            <a:off x="548640" y="868680"/>
            <a:ext cx="2377440" cy="54864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173A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804672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1554480"/>
            <a:ext cx="8046720" cy="411480"/>
          </a:xfrm>
          <a:prstGeom prst="rect">
            <a:avLst/>
          </a:prstGeom>
          <a:noFill/>
          <a:ln/>
        </p:spPr>
        <p:txBody>
          <a:bodyPr wrap="square" rtlCol="0"/>
          <a:lstStyle>
            <a:lvl1pPr indent="0" marL="0">
              <a:buNone/>
              <a:defRPr lang="en-US" sz="1400" dirty="0">
                <a:solidFill>
                  <a:srgbClr val="DCE7E0"/>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548640" y="502920"/>
            <a:ext cx="2743200" cy="274320"/>
          </a:xfrm>
          <a:prstGeom prst="rect">
            <a:avLst/>
          </a:prstGeom>
          <a:noFill/>
          <a:ln/>
        </p:spPr>
        <p:txBody>
          <a:bodyPr wrap="square" lIns="0" tIns="0" rIns="0" bIns="0" rtlCol="0" anchor="ctr"/>
          <a:lstStyle/>
          <a:p>
            <a:pPr indent="0" marL="0">
              <a:buNone/>
            </a:pPr>
            <a:r>
              <a:rPr lang="en-US" sz="1100" b="1" spc="400" kern="0" dirty="0">
                <a:solidFill>
                  <a:srgbClr val="C7D6CC"/>
                </a:solidFill>
              </a:rPr>
              <a:t>NAMULLO</a:t>
            </a:r>
            <a:endParaRPr lang="en-US" sz="1100" dirty="0"/>
          </a:p>
        </p:txBody>
      </p:sp>
      <p:sp>
        <p:nvSpPr>
          <p:cNvPr id="3" name="kicker"/>
          <p:cNvSpPr txBox="1"/>
          <p:nvPr/>
        </p:nvSpPr>
        <p:spPr>
          <a:xfrm>
            <a:off x="548640" y="1463040"/>
            <a:ext cx="5029200" cy="320040"/>
          </a:xfrm>
          <a:prstGeom prst="rect">
            <a:avLst/>
          </a:prstGeom>
          <a:noFill/>
          <a:ln/>
        </p:spPr>
        <p:txBody>
          <a:bodyPr wrap="square" lIns="0" tIns="0" rIns="0" bIns="0" rtlCol="0" anchor="ctr"/>
          <a:lstStyle/>
          <a:p>
            <a:pPr indent="0" marL="0">
              <a:buNone/>
            </a:pPr>
            <a:r>
              <a:rPr lang="en-US" sz="1300" dirty="0">
                <a:solidFill>
                  <a:srgbClr val="A9C2B3"/>
                </a:solidFill>
              </a:rPr>
              <a:t>2026 창업 아이템 사업계획 발표</a:t>
            </a:r>
            <a:endParaRPr lang="en-US" sz="1300" dirty="0"/>
          </a:p>
        </p:txBody>
      </p:sp>
      <p:sp>
        <p:nvSpPr>
          <p:cNvPr id="4" name="Text 0"/>
          <p:cNvSpPr/>
          <p:nvPr>
            <p:ph idx="100" type="title" hasCustomPrompt="1"/>
          </p:nvPr>
        </p:nvSpPr>
        <p:spPr>
          <a:xfrm>
            <a:off x="548640" y="1874520"/>
            <a:ext cx="5486400" cy="777240"/>
          </a:xfrm>
          <a:prstGeom prst="rect">
            <a:avLst/>
          </a:prstGeom>
          <a:noFill/>
          <a:ln/>
        </p:spPr>
        <p:txBody>
          <a:bodyPr wrap="square" lIns="0" tIns="0" rIns="0" bIns="0" rtlCol="0" anchor="ctr"/>
          <a:lstStyle/>
          <a:p>
            <a:pPr algn="l" indent="0" marL="0">
              <a:buNone/>
            </a:pPr>
            <a:r>
              <a:rPr lang="en-US" sz="3200" b="1" dirty="0">
                <a:solidFill>
                  <a:schemeClr val="bg1"/>
                </a:solidFill>
              </a:rPr>
              <a:t>나물로(Namullo) 사업계획</a:t>
            </a:r>
            <a:endParaRPr lang="en-US" sz="3200" dirty="0"/>
          </a:p>
        </p:txBody>
      </p:sp>
      <p:sp>
        <p:nvSpPr>
          <p:cNvPr id="5" name="Text 0"/>
          <p:cNvSpPr/>
          <p:nvPr>
            <p:ph idx="101" type="body" hasCustomPrompt="1"/>
          </p:nvPr>
        </p:nvSpPr>
        <p:spPr>
          <a:xfrm>
            <a:off x="548640" y="2697480"/>
            <a:ext cx="5486400" cy="457200"/>
          </a:xfrm>
          <a:prstGeom prst="rect">
            <a:avLst/>
          </a:prstGeom>
          <a:noFill/>
          <a:ln/>
        </p:spPr>
        <p:txBody>
          <a:bodyPr wrap="square" lIns="0" tIns="0" rIns="0" bIns="0" rtlCol="0" anchor="t"/>
          <a:lstStyle/>
          <a:p>
            <a:pPr indent="0" marL="0">
              <a:buNone/>
            </a:pPr>
            <a:r>
              <a:rPr lang="en-US" sz="1500" dirty="0">
                <a:solidFill>
                  <a:srgbClr val="DCE7E0"/>
                </a:solidFill>
              </a:rPr>
              <a:t>AI 나물 큐레이션 × 동네 상권 연결 플랫폼</a:t>
            </a:r>
            <a:endParaRPr lang="en-US" sz="1500" dirty="0"/>
          </a:p>
        </p:txBody>
      </p:sp>
      <p:sp>
        <p:nvSpPr>
          <p:cNvPr id="6" name="one-liner"/>
          <p:cNvSpPr txBox="1"/>
          <p:nvPr/>
        </p:nvSpPr>
        <p:spPr>
          <a:xfrm>
            <a:off x="548640" y="3246120"/>
            <a:ext cx="5303520" cy="548640"/>
          </a:xfrm>
          <a:prstGeom prst="rect">
            <a:avLst/>
          </a:prstGeom>
          <a:noFill/>
          <a:ln/>
        </p:spPr>
        <p:txBody>
          <a:bodyPr wrap="square" lIns="0" tIns="0" rIns="0" bIns="0" rtlCol="0" anchor="ctr"/>
          <a:lstStyle/>
          <a:p>
            <a:pPr indent="0" marL="0">
              <a:buNone/>
            </a:pPr>
            <a:r>
              <a:rPr lang="en-US" sz="1200" dirty="0">
                <a:solidFill>
                  <a:srgbClr val="C7D6CC"/>
                </a:solidFill>
              </a:rPr>
              <a:t>나물로는 AI가 우리 동네 가게의 오늘 나물을</a:t>
            </a:r>
            <a:endParaRPr lang="en-US" sz="1200" dirty="0"/>
          </a:p>
          <a:p>
            <a:pPr indent="0" marL="0">
              <a:buNone/>
            </a:pPr>
            <a:r>
              <a:rPr lang="en-US" sz="1200" dirty="0">
                <a:solidFill>
                  <a:srgbClr val="C7D6CC"/>
                </a:solidFill>
              </a:rPr>
              <a:t>레시피와 함께 연결하는 플랫폼입니다.</a:t>
            </a:r>
            <a:endParaRPr lang="en-US" sz="1200" dirty="0"/>
          </a:p>
        </p:txBody>
      </p:sp>
      <p:sp>
        <p:nvSpPr>
          <p:cNvPr id="7" name="presenter"/>
          <p:cNvSpPr txBox="1"/>
          <p:nvPr/>
        </p:nvSpPr>
        <p:spPr>
          <a:xfrm>
            <a:off x="548640" y="4389120"/>
            <a:ext cx="4572000" cy="274320"/>
          </a:xfrm>
          <a:prstGeom prst="rect">
            <a:avLst/>
          </a:prstGeom>
          <a:noFill/>
          <a:ln/>
        </p:spPr>
        <p:txBody>
          <a:bodyPr wrap="square" lIns="0" tIns="0" rIns="0" bIns="0" rtlCol="0" anchor="ctr"/>
          <a:lstStyle/>
          <a:p>
            <a:pPr indent="0" marL="0">
              <a:buNone/>
            </a:pPr>
            <a:r>
              <a:rPr lang="en-US" sz="1100" dirty="0">
                <a:solidFill>
                  <a:srgbClr val="A9C2B3"/>
                </a:solidFill>
              </a:rPr>
              <a:t>2026. 11.      발표자  ○○○</a:t>
            </a:r>
            <a:endParaRPr lang="en-US" sz="1100" dirty="0"/>
          </a:p>
        </p:txBody>
      </p:sp>
      <p:pic>
        <p:nvPicPr>
          <p:cNvPr id="8" name="cover phone" descr="나물로 앱 화면: cover phone">    </p:cNvPr>
          <p:cNvPicPr>
            <a:picLocks noChangeAspect="1"/>
          </p:cNvPicPr>
          <p:nvPr/>
        </p:nvPicPr>
        <p:blipFill>
          <a:blip r:embed="rId1"/>
          <a:stretch>
            <a:fillRect/>
          </a:stretch>
        </p:blipFill>
        <p:spPr>
          <a:xfrm>
            <a:off x="6446520" y="347472"/>
            <a:ext cx="2115235" cy="4434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868680"/>
            <a:ext cx="2377440" cy="548640"/>
          </a:xfrm>
          <a:prstGeom prst="rect">
            <a:avLst/>
          </a:prstGeom>
          <a:noFill/>
          <a:ln/>
        </p:spPr>
        <p:txBody>
          <a:bodyPr wrap="square" lIns="0" tIns="0" rIns="0" bIns="0" rtlCol="0" anchor="ctr"/>
          <a:lstStyle/>
          <a:p>
            <a:pPr algn="l" indent="0" marL="0">
              <a:buNone/>
            </a:pPr>
            <a:r>
              <a:rPr lang="en-US" sz="2800" b="1" dirty="0">
                <a:solidFill>
                  <a:schemeClr val="accent1"/>
                </a:solidFill>
              </a:rPr>
              <a:t>목차</a:t>
            </a:r>
            <a:endParaRPr lang="en-US" sz="2800" dirty="0"/>
          </a:p>
        </p:txBody>
      </p:sp>
      <p:sp>
        <p:nvSpPr>
          <p:cNvPr id="3" name="contents en"/>
          <p:cNvSpPr txBox="1"/>
          <p:nvPr/>
        </p:nvSpPr>
        <p:spPr>
          <a:xfrm>
            <a:off x="548640" y="1417320"/>
            <a:ext cx="2194560" cy="274320"/>
          </a:xfrm>
          <a:prstGeom prst="rect">
            <a:avLst/>
          </a:prstGeom>
          <a:noFill/>
          <a:ln/>
        </p:spPr>
        <p:txBody>
          <a:bodyPr wrap="square" lIns="0" tIns="0" rIns="0" bIns="0" rtlCol="0" anchor="ctr"/>
          <a:lstStyle/>
          <a:p>
            <a:pPr indent="0" marL="0">
              <a:buNone/>
            </a:pPr>
            <a:r>
              <a:rPr lang="en-US" sz="1200" dirty="0">
                <a:solidFill>
                  <a:srgbClr val="7A837D"/>
                </a:solidFill>
              </a:rPr>
              <a:t>Contents</a:t>
            </a:r>
            <a:endParaRPr lang="en-US" sz="1200" dirty="0"/>
          </a:p>
        </p:txBody>
      </p:sp>
      <p:sp>
        <p:nvSpPr>
          <p:cNvPr id="4" name="toc num Ⅰ"/>
          <p:cNvSpPr txBox="1"/>
          <p:nvPr/>
        </p:nvSpPr>
        <p:spPr>
          <a:xfrm>
            <a:off x="3291840" y="868680"/>
            <a:ext cx="548640" cy="457200"/>
          </a:xfrm>
          <a:prstGeom prst="rect">
            <a:avLst/>
          </a:prstGeom>
          <a:noFill/>
          <a:ln/>
        </p:spPr>
        <p:txBody>
          <a:bodyPr wrap="square" lIns="0" tIns="0" rIns="0" bIns="0" rtlCol="0" anchor="ctr"/>
          <a:lstStyle/>
          <a:p>
            <a:pPr indent="0" marL="0">
              <a:buNone/>
            </a:pPr>
            <a:r>
              <a:rPr lang="en-US" sz="2200" b="1" dirty="0">
                <a:solidFill>
                  <a:schemeClr val="accent1"/>
                </a:solidFill>
              </a:rPr>
              <a:t>Ⅰ</a:t>
            </a:r>
            <a:endParaRPr lang="en-US" sz="2200" dirty="0"/>
          </a:p>
        </p:txBody>
      </p:sp>
      <p:sp>
        <p:nvSpPr>
          <p:cNvPr id="5" name="toc head 추진 배경"/>
          <p:cNvSpPr txBox="1"/>
          <p:nvPr/>
        </p:nvSpPr>
        <p:spPr>
          <a:xfrm>
            <a:off x="3931920" y="86868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추진 배경</a:t>
            </a:r>
            <a:endParaRPr lang="en-US" sz="1600" dirty="0"/>
          </a:p>
        </p:txBody>
      </p:sp>
      <p:sp>
        <p:nvSpPr>
          <p:cNvPr id="6" name="toc desc 추진 배경"/>
          <p:cNvSpPr txBox="1"/>
          <p:nvPr/>
        </p:nvSpPr>
        <p:spPr>
          <a:xfrm>
            <a:off x="3931920" y="1252728"/>
            <a:ext cx="4206240" cy="274320"/>
          </a:xfrm>
          <a:prstGeom prst="rect">
            <a:avLst/>
          </a:prstGeom>
          <a:noFill/>
          <a:ln/>
        </p:spPr>
        <p:txBody>
          <a:bodyPr wrap="square" lIns="0" tIns="0" rIns="0" bIns="0" rtlCol="0" anchor="ctr"/>
          <a:lstStyle/>
          <a:p>
            <a:pPr indent="0" marL="0">
              <a:buNone/>
            </a:pPr>
            <a:r>
              <a:rPr lang="en-US" sz="1100" dirty="0">
                <a:solidFill>
                  <a:srgbClr val="4A524D"/>
                </a:solidFill>
              </a:rPr>
              <a:t>나물 산업의 이해 · 소비자와 공급자의 문제 · 시장 공백 · Why now</a:t>
            </a:r>
            <a:endParaRPr lang="en-US" sz="1100" dirty="0"/>
          </a:p>
        </p:txBody>
      </p:sp>
      <p:sp>
        <p:nvSpPr>
          <p:cNvPr id="7" name="toc page 추진 배경"/>
          <p:cNvSpPr txBox="1"/>
          <p:nvPr/>
        </p:nvSpPr>
        <p:spPr>
          <a:xfrm>
            <a:off x="7863840" y="868680"/>
            <a:ext cx="822960" cy="365760"/>
          </a:xfrm>
          <a:prstGeom prst="rect">
            <a:avLst/>
          </a:prstGeom>
          <a:noFill/>
          <a:ln/>
        </p:spPr>
        <p:txBody>
          <a:bodyPr wrap="square" lIns="0" tIns="0" rIns="0" bIns="0" rtlCol="0" anchor="ctr"/>
          <a:lstStyle/>
          <a:p>
            <a:pPr algn="r" indent="0" marL="0">
              <a:buNone/>
            </a:pPr>
            <a:r>
              <a:rPr lang="en-US" sz="1100" dirty="0">
                <a:solidFill>
                  <a:srgbClr val="7A837D"/>
                </a:solidFill>
              </a:rPr>
              <a:t>p.4</a:t>
            </a:r>
            <a:endParaRPr lang="en-US" sz="1100" dirty="0"/>
          </a:p>
        </p:txBody>
      </p:sp>
      <p:sp>
        <p:nvSpPr>
          <p:cNvPr id="8" name="toc rule 0"/>
          <p:cNvSpPr/>
          <p:nvPr/>
        </p:nvSpPr>
        <p:spPr>
          <a:xfrm>
            <a:off x="3291840" y="1645920"/>
            <a:ext cx="5394960" cy="0"/>
          </a:xfrm>
          <a:prstGeom prst="line">
            <a:avLst/>
          </a:prstGeom>
          <a:noFill/>
          <a:ln w="9525">
            <a:solidFill>
              <a:srgbClr val="D9DED9"/>
            </a:solidFill>
            <a:prstDash val="solid"/>
          </a:ln>
        </p:spPr>
      </p:sp>
      <p:sp>
        <p:nvSpPr>
          <p:cNvPr id="9" name="toc num Ⅱ"/>
          <p:cNvSpPr txBox="1"/>
          <p:nvPr/>
        </p:nvSpPr>
        <p:spPr>
          <a:xfrm>
            <a:off x="3291840" y="1737360"/>
            <a:ext cx="548640" cy="457200"/>
          </a:xfrm>
          <a:prstGeom prst="rect">
            <a:avLst/>
          </a:prstGeom>
          <a:noFill/>
          <a:ln/>
        </p:spPr>
        <p:txBody>
          <a:bodyPr wrap="square" lIns="0" tIns="0" rIns="0" bIns="0" rtlCol="0" anchor="ctr"/>
          <a:lstStyle/>
          <a:p>
            <a:pPr indent="0" marL="0">
              <a:buNone/>
            </a:pPr>
            <a:r>
              <a:rPr lang="en-US" sz="2200" b="1" dirty="0">
                <a:solidFill>
                  <a:schemeClr val="accent1"/>
                </a:solidFill>
              </a:rPr>
              <a:t>Ⅱ</a:t>
            </a:r>
            <a:endParaRPr lang="en-US" sz="2200" dirty="0"/>
          </a:p>
        </p:txBody>
      </p:sp>
      <p:sp>
        <p:nvSpPr>
          <p:cNvPr id="10" name="toc head 사업 개요"/>
          <p:cNvSpPr txBox="1"/>
          <p:nvPr/>
        </p:nvSpPr>
        <p:spPr>
          <a:xfrm>
            <a:off x="3931920" y="173736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사업 개요</a:t>
            </a:r>
            <a:endParaRPr lang="en-US" sz="1600" dirty="0"/>
          </a:p>
        </p:txBody>
      </p:sp>
      <p:sp>
        <p:nvSpPr>
          <p:cNvPr id="11" name="toc desc 사업 개요"/>
          <p:cNvSpPr txBox="1"/>
          <p:nvPr/>
        </p:nvSpPr>
        <p:spPr>
          <a:xfrm>
            <a:off x="3931920" y="2121408"/>
            <a:ext cx="4206240" cy="274320"/>
          </a:xfrm>
          <a:prstGeom prst="rect">
            <a:avLst/>
          </a:prstGeom>
          <a:noFill/>
          <a:ln/>
        </p:spPr>
        <p:txBody>
          <a:bodyPr wrap="square" lIns="0" tIns="0" rIns="0" bIns="0" rtlCol="0" anchor="ctr"/>
          <a:lstStyle/>
          <a:p>
            <a:pPr indent="0" marL="0">
              <a:buNone/>
            </a:pPr>
            <a:r>
              <a:rPr lang="en-US" sz="1100" dirty="0">
                <a:solidFill>
                  <a:srgbClr val="4A524D"/>
                </a:solidFill>
              </a:rPr>
              <a:t>서비스 구조 · AI 엔진 4종 · 앱 화면 · 서비스 시연</a:t>
            </a:r>
            <a:endParaRPr lang="en-US" sz="1100" dirty="0"/>
          </a:p>
        </p:txBody>
      </p:sp>
      <p:sp>
        <p:nvSpPr>
          <p:cNvPr id="12" name="toc page 사업 개요"/>
          <p:cNvSpPr txBox="1"/>
          <p:nvPr/>
        </p:nvSpPr>
        <p:spPr>
          <a:xfrm>
            <a:off x="7863840" y="1737360"/>
            <a:ext cx="822960" cy="365760"/>
          </a:xfrm>
          <a:prstGeom prst="rect">
            <a:avLst/>
          </a:prstGeom>
          <a:noFill/>
          <a:ln/>
        </p:spPr>
        <p:txBody>
          <a:bodyPr wrap="square" lIns="0" tIns="0" rIns="0" bIns="0" rtlCol="0" anchor="ctr"/>
          <a:lstStyle/>
          <a:p>
            <a:pPr algn="r" indent="0" marL="0">
              <a:buNone/>
            </a:pPr>
            <a:r>
              <a:rPr lang="en-US" sz="1100" dirty="0">
                <a:solidFill>
                  <a:srgbClr val="7A837D"/>
                </a:solidFill>
              </a:rPr>
              <a:t>p.9</a:t>
            </a:r>
            <a:endParaRPr lang="en-US" sz="1100" dirty="0"/>
          </a:p>
        </p:txBody>
      </p:sp>
      <p:sp>
        <p:nvSpPr>
          <p:cNvPr id="13" name="toc rule 1"/>
          <p:cNvSpPr/>
          <p:nvPr/>
        </p:nvSpPr>
        <p:spPr>
          <a:xfrm>
            <a:off x="3291840" y="2514600"/>
            <a:ext cx="5394960" cy="0"/>
          </a:xfrm>
          <a:prstGeom prst="line">
            <a:avLst/>
          </a:prstGeom>
          <a:noFill/>
          <a:ln w="9525">
            <a:solidFill>
              <a:srgbClr val="D9DED9"/>
            </a:solidFill>
            <a:prstDash val="solid"/>
          </a:ln>
        </p:spPr>
      </p:sp>
      <p:sp>
        <p:nvSpPr>
          <p:cNvPr id="14" name="toc num Ⅲ"/>
          <p:cNvSpPr txBox="1"/>
          <p:nvPr/>
        </p:nvSpPr>
        <p:spPr>
          <a:xfrm>
            <a:off x="3291840" y="2606040"/>
            <a:ext cx="548640" cy="457200"/>
          </a:xfrm>
          <a:prstGeom prst="rect">
            <a:avLst/>
          </a:prstGeom>
          <a:noFill/>
          <a:ln/>
        </p:spPr>
        <p:txBody>
          <a:bodyPr wrap="square" lIns="0" tIns="0" rIns="0" bIns="0" rtlCol="0" anchor="ctr"/>
          <a:lstStyle/>
          <a:p>
            <a:pPr indent="0" marL="0">
              <a:buNone/>
            </a:pPr>
            <a:r>
              <a:rPr lang="en-US" sz="2200" b="1" dirty="0">
                <a:solidFill>
                  <a:schemeClr val="accent1"/>
                </a:solidFill>
              </a:rPr>
              <a:t>Ⅲ</a:t>
            </a:r>
            <a:endParaRPr lang="en-US" sz="2200" dirty="0"/>
          </a:p>
        </p:txBody>
      </p:sp>
      <p:sp>
        <p:nvSpPr>
          <p:cNvPr id="15" name="toc head 사업성"/>
          <p:cNvSpPr txBox="1"/>
          <p:nvPr/>
        </p:nvSpPr>
        <p:spPr>
          <a:xfrm>
            <a:off x="3931920" y="260604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사업성</a:t>
            </a:r>
            <a:endParaRPr lang="en-US" sz="1600" dirty="0"/>
          </a:p>
        </p:txBody>
      </p:sp>
      <p:sp>
        <p:nvSpPr>
          <p:cNvPr id="16" name="toc desc 사업성"/>
          <p:cNvSpPr txBox="1"/>
          <p:nvPr/>
        </p:nvSpPr>
        <p:spPr>
          <a:xfrm>
            <a:off x="3931920" y="2990088"/>
            <a:ext cx="4206240" cy="274320"/>
          </a:xfrm>
          <a:prstGeom prst="rect">
            <a:avLst/>
          </a:prstGeom>
          <a:noFill/>
          <a:ln/>
        </p:spPr>
        <p:txBody>
          <a:bodyPr wrap="square" lIns="0" tIns="0" rIns="0" bIns="0" rtlCol="0" anchor="ctr"/>
          <a:lstStyle/>
          <a:p>
            <a:pPr indent="0" marL="0">
              <a:buNone/>
            </a:pPr>
            <a:r>
              <a:rPr lang="en-US" sz="1100" dirty="0">
                <a:solidFill>
                  <a:srgbClr val="4A524D"/>
                </a:solidFill>
              </a:rPr>
              <a:t>목표 시장 · 경쟁 비교 · 국내외 벤치마킹 · 수익 구조와 AI 비용</a:t>
            </a:r>
            <a:endParaRPr lang="en-US" sz="1100" dirty="0"/>
          </a:p>
        </p:txBody>
      </p:sp>
      <p:sp>
        <p:nvSpPr>
          <p:cNvPr id="17" name="toc page 사업성"/>
          <p:cNvSpPr txBox="1"/>
          <p:nvPr/>
        </p:nvSpPr>
        <p:spPr>
          <a:xfrm>
            <a:off x="7863840" y="2606040"/>
            <a:ext cx="822960" cy="365760"/>
          </a:xfrm>
          <a:prstGeom prst="rect">
            <a:avLst/>
          </a:prstGeom>
          <a:noFill/>
          <a:ln/>
        </p:spPr>
        <p:txBody>
          <a:bodyPr wrap="square" lIns="0" tIns="0" rIns="0" bIns="0" rtlCol="0" anchor="ctr"/>
          <a:lstStyle/>
          <a:p>
            <a:pPr algn="r" indent="0" marL="0">
              <a:buNone/>
            </a:pPr>
            <a:r>
              <a:rPr lang="en-US" sz="1100" dirty="0">
                <a:solidFill>
                  <a:srgbClr val="7A837D"/>
                </a:solidFill>
              </a:rPr>
              <a:t>p.15</a:t>
            </a:r>
            <a:endParaRPr lang="en-US" sz="1100" dirty="0"/>
          </a:p>
        </p:txBody>
      </p:sp>
      <p:sp>
        <p:nvSpPr>
          <p:cNvPr id="18" name="toc rule 2"/>
          <p:cNvSpPr/>
          <p:nvPr/>
        </p:nvSpPr>
        <p:spPr>
          <a:xfrm>
            <a:off x="3291840" y="3383280"/>
            <a:ext cx="5394960" cy="0"/>
          </a:xfrm>
          <a:prstGeom prst="line">
            <a:avLst/>
          </a:prstGeom>
          <a:noFill/>
          <a:ln w="9525">
            <a:solidFill>
              <a:srgbClr val="D9DED9"/>
            </a:solidFill>
            <a:prstDash val="solid"/>
          </a:ln>
        </p:spPr>
      </p:sp>
      <p:sp>
        <p:nvSpPr>
          <p:cNvPr id="19" name="toc num Ⅳ"/>
          <p:cNvSpPr txBox="1"/>
          <p:nvPr/>
        </p:nvSpPr>
        <p:spPr>
          <a:xfrm>
            <a:off x="3291840" y="3474720"/>
            <a:ext cx="548640" cy="457200"/>
          </a:xfrm>
          <a:prstGeom prst="rect">
            <a:avLst/>
          </a:prstGeom>
          <a:noFill/>
          <a:ln/>
        </p:spPr>
        <p:txBody>
          <a:bodyPr wrap="square" lIns="0" tIns="0" rIns="0" bIns="0" rtlCol="0" anchor="ctr"/>
          <a:lstStyle/>
          <a:p>
            <a:pPr indent="0" marL="0">
              <a:buNone/>
            </a:pPr>
            <a:r>
              <a:rPr lang="en-US" sz="2200" b="1" dirty="0">
                <a:solidFill>
                  <a:schemeClr val="accent1"/>
                </a:solidFill>
              </a:rPr>
              <a:t>Ⅳ</a:t>
            </a:r>
            <a:endParaRPr lang="en-US" sz="2200" dirty="0"/>
          </a:p>
        </p:txBody>
      </p:sp>
      <p:sp>
        <p:nvSpPr>
          <p:cNvPr id="20" name="toc head 추진 계획"/>
          <p:cNvSpPr txBox="1"/>
          <p:nvPr/>
        </p:nvSpPr>
        <p:spPr>
          <a:xfrm>
            <a:off x="3931920" y="347472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추진 계획</a:t>
            </a:r>
            <a:endParaRPr lang="en-US" sz="1600" dirty="0"/>
          </a:p>
        </p:txBody>
      </p:sp>
      <p:sp>
        <p:nvSpPr>
          <p:cNvPr id="21" name="toc desc 추진 계획"/>
          <p:cNvSpPr txBox="1"/>
          <p:nvPr/>
        </p:nvSpPr>
        <p:spPr>
          <a:xfrm>
            <a:off x="3931920" y="3858768"/>
            <a:ext cx="4206240" cy="274320"/>
          </a:xfrm>
          <a:prstGeom prst="rect">
            <a:avLst/>
          </a:prstGeom>
          <a:noFill/>
          <a:ln/>
        </p:spPr>
        <p:txBody>
          <a:bodyPr wrap="square" lIns="0" tIns="0" rIns="0" bIns="0" rtlCol="0" anchor="ctr"/>
          <a:lstStyle/>
          <a:p>
            <a:pPr indent="0" marL="0">
              <a:buNone/>
            </a:pPr>
            <a:r>
              <a:rPr lang="en-US" sz="1100" dirty="0">
                <a:solidFill>
                  <a:srgbClr val="4A524D"/>
                </a:solidFill>
              </a:rPr>
              <a:t>AI 구현 계획 · 로드맵과 자금 · 재무 목표 · 리스크 · 팀</a:t>
            </a:r>
            <a:endParaRPr lang="en-US" sz="1100" dirty="0"/>
          </a:p>
        </p:txBody>
      </p:sp>
      <p:sp>
        <p:nvSpPr>
          <p:cNvPr id="22" name="toc page 추진 계획"/>
          <p:cNvSpPr txBox="1"/>
          <p:nvPr/>
        </p:nvSpPr>
        <p:spPr>
          <a:xfrm>
            <a:off x="7863840" y="3474720"/>
            <a:ext cx="822960" cy="365760"/>
          </a:xfrm>
          <a:prstGeom prst="rect">
            <a:avLst/>
          </a:prstGeom>
          <a:noFill/>
          <a:ln/>
        </p:spPr>
        <p:txBody>
          <a:bodyPr wrap="square" lIns="0" tIns="0" rIns="0" bIns="0" rtlCol="0" anchor="ctr"/>
          <a:lstStyle/>
          <a:p>
            <a:pPr algn="r" indent="0" marL="0">
              <a:buNone/>
            </a:pPr>
            <a:r>
              <a:rPr lang="en-US" sz="1100" dirty="0">
                <a:solidFill>
                  <a:srgbClr val="7A837D"/>
                </a:solidFill>
              </a:rPr>
              <a:t>p.19</a:t>
            </a:r>
            <a:endParaRPr lang="en-US" sz="1100" dirty="0"/>
          </a:p>
        </p:txBody>
      </p:sp>
      <p:sp>
        <p:nvSpPr>
          <p:cNvPr id="23" name="toc rule 3"/>
          <p:cNvSpPr/>
          <p:nvPr/>
        </p:nvSpPr>
        <p:spPr>
          <a:xfrm>
            <a:off x="3291840" y="4251960"/>
            <a:ext cx="5394960" cy="0"/>
          </a:xfrm>
          <a:prstGeom prst="line">
            <a:avLst/>
          </a:prstGeom>
          <a:noFill/>
          <a:ln w="9525">
            <a:solidFill>
              <a:srgbClr val="D9DED9"/>
            </a:solidFill>
            <a:prstDash val="solid"/>
          </a:ln>
        </p:spPr>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요약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사업 요약</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나물 소비 장벽과 동네 판매처의 온라인 공백을 ‘콘텐츠 + AI → 동네 매장 주문’ 구조로 연결하는 사업임</a:t>
            </a:r>
            <a:endParaRPr lang="en-US" sz="125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234440"/>
                <a:gridCol w="4526280"/>
                <a:gridCol w="2560320"/>
              </a:tblGrid>
              <a:tr h="310896">
                <a:tc>
                  <a:txBody>
                    <a:bodyPr/>
                    <a:lstStyle/>
                    <a:p>
                      <a:pPr algn="ctr" indent="0" marL="0">
                        <a:buNone/>
                      </a:pPr>
                      <a:r>
                        <a:rPr lang="en-US" sz="1050" b="1" dirty="0">
                          <a:solidFill>
                            <a:srgbClr val="FFFFFF"/>
                          </a:solidFill>
                        </a:rPr>
                        <a:t>구분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핵심 내용</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주요 근거 · 목표</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58368">
                <a:tc>
                  <a:txBody>
                    <a:bodyPr/>
                    <a:lstStyle/>
                    <a:p>
                      <a:pPr algn="ctr" indent="0" marL="0">
                        <a:buNone/>
                      </a:pPr>
                      <a:r>
                        <a:rPr lang="en-US" sz="1050" b="1" dirty="0">
                          <a:solidFill>
                            <a:srgbClr val="1F2421"/>
                          </a:solidFill>
                        </a:rPr>
                        <a:t>Ⅰ. 추진 배경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소비자: 정보·조리·구매 장벽 / 공급자: 판로 위축·원산지 신뢰·가격 변동</a:t>
                      </a:r>
                      <a:endParaRPr lang="en-US" sz="1050" dirty="0"/>
                    </a:p>
                    <a:p>
                      <a:pPr algn="l" indent="0" marL="0">
                        <a:buNone/>
                      </a:pPr>
                      <a:r>
                        <a:rPr lang="en-US" sz="1050" dirty="0">
                          <a:solidFill>
                            <a:srgbClr val="1F2421"/>
                          </a:solidFill>
                        </a:rPr>
                        <a:t>상인용 온라인·AI 도구 부재</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1인 가구 36.1% · 산나물 생산액 −9.3%</a:t>
                      </a:r>
                      <a:endParaRPr lang="en-US" sz="1050" dirty="0"/>
                    </a:p>
                    <a:p>
                      <a:pPr algn="l" indent="0" marL="0">
                        <a:buNone/>
                      </a:pPr>
                      <a:r>
                        <a:rPr lang="en-US" sz="1050" dirty="0">
                          <a:solidFill>
                            <a:srgbClr val="1F2421"/>
                          </a:solidFill>
                        </a:rPr>
                        <a:t>시금치 한 달 +68% (2026.8)</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58368">
                <a:tc>
                  <a:txBody>
                    <a:bodyPr/>
                    <a:lstStyle/>
                    <a:p>
                      <a:pPr algn="ctr" indent="0" marL="0">
                        <a:buNone/>
                      </a:pPr>
                      <a:r>
                        <a:rPr lang="en-US" sz="1050" b="1" dirty="0">
                          <a:solidFill>
                            <a:srgbClr val="1F2421"/>
                          </a:solidFill>
                        </a:rPr>
                        <a:t>Ⅱ. 사업 개요</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도감 · 레시피 · 동네 매장 주문 · 꾸러미 + AI 엔진 4종</a:t>
                      </a:r>
                      <a:endParaRPr lang="en-US" sz="1050" dirty="0"/>
                    </a:p>
                    <a:p>
                      <a:pPr algn="l" indent="0" marL="0">
                        <a:buNone/>
                      </a:pPr>
                      <a:r>
                        <a:rPr lang="en-US" sz="1050" dirty="0">
                          <a:solidFill>
                            <a:srgbClr val="1F2421"/>
                          </a:solidFill>
                        </a:rPr>
                        <a:t>(AI 셰프 · 레시피 구조화 · AI 상인 비서 · 수요 예측)</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반경 3km 매장 연결</a:t>
                      </a:r>
                      <a:endParaRPr lang="en-US" sz="1050" dirty="0"/>
                    </a:p>
                    <a:p>
                      <a:pPr algn="l" indent="0" marL="0">
                        <a:buNone/>
                      </a:pPr>
                      <a:r>
                        <a:rPr lang="en-US" sz="1050" dirty="0">
                          <a:solidFill>
                            <a:srgbClr val="1F2421"/>
                          </a:solidFill>
                        </a:rPr>
                        <a:t>AI 셰프·상인 비서는 프로토타입에서 동작</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58368">
                <a:tc>
                  <a:txBody>
                    <a:bodyPr/>
                    <a:lstStyle/>
                    <a:p>
                      <a:pPr algn="ctr" indent="0" marL="0">
                        <a:buNone/>
                      </a:pPr>
                      <a:r>
                        <a:rPr lang="en-US" sz="1050" b="1" dirty="0">
                          <a:solidFill>
                            <a:srgbClr val="1F2421"/>
                          </a:solidFill>
                        </a:rPr>
                        <a:t>Ⅲ. 사업성</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SAM 약 1.7조 원 · 경쟁 대비 6개 요소 모두 보유</a:t>
                      </a:r>
                      <a:endParaRPr lang="en-US" sz="1050" dirty="0"/>
                    </a:p>
                    <a:p>
                      <a:pPr algn="l" indent="0" marL="0">
                        <a:buNone/>
                      </a:pPr>
                      <a:r>
                        <a:rPr lang="en-US" sz="1050" dirty="0">
                          <a:solidFill>
                            <a:srgbClr val="1F2421"/>
                          </a:solidFill>
                        </a:rPr>
                        <a:t>구독·B2G·제휴·상인 Pro 중심 수익 (수수료 4%)</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3년차 GMV 54억 원 · 매출 8억 원</a:t>
                      </a:r>
                      <a:endParaRPr lang="en-US" sz="1050" dirty="0"/>
                    </a:p>
                    <a:p>
                      <a:pPr algn="l" indent="0" marL="0">
                        <a:buNone/>
                      </a:pPr>
                      <a:r>
                        <a:rPr lang="en-US" sz="1050" dirty="0">
                          <a:solidFill>
                            <a:srgbClr val="1F2421"/>
                          </a:solidFill>
                        </a:rPr>
                        <a:t>AI 운영비 매출의 약 1%</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548640">
                <a:tc>
                  <a:txBody>
                    <a:bodyPr/>
                    <a:lstStyle/>
                    <a:p>
                      <a:pPr algn="ctr" indent="0" marL="0">
                        <a:buNone/>
                      </a:pPr>
                      <a:r>
                        <a:rPr lang="en-US" sz="1050" b="1" dirty="0">
                          <a:solidFill>
                            <a:srgbClr val="1F2421"/>
                          </a:solidFill>
                        </a:rPr>
                        <a:t>Ⅳ. 추진 계획</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시장 1곳 파일럿(300만 원) → 예비창업패키지 → 수도권 → 전국 · 산지</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파일럿 KPI: 주문 100건 · 재구매 30%</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SAM·GMV·매출·AI 운영비는 가정 기반 추정치 (산출 근거 p.15, p.18)</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Ⅰ. 추진 배경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나물 산업의 이해</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나물은 나는 곳·먹는 법마다 다루는 법이 다르고 안전·원산지·가격 이슈가 커, 정보와 수요 관리가 경쟁력임</a:t>
            </a:r>
            <a:endParaRPr lang="en-US" sz="125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4343400" cy="914400"/>
        </p:xfrm>
        <a:graphic>
          <a:graphicData uri="http://schemas.openxmlformats.org/drawingml/2006/table">
            <a:tbl>
              <a:tblPr/>
              <a:tblGrid>
                <a:gridCol w="731520"/>
                <a:gridCol w="777240"/>
                <a:gridCol w="2834640"/>
              </a:tblGrid>
              <a:tr h="292608">
                <a:tc>
                  <a:txBody>
                    <a:bodyPr/>
                    <a:lstStyle/>
                    <a:p>
                      <a:pPr algn="ctr" indent="0" marL="0">
                        <a:buNone/>
                      </a:pPr>
                      <a:r>
                        <a:rPr lang="en-US" sz="1050" b="1" dirty="0">
                          <a:solidFill>
                            <a:srgbClr val="FFFFFF"/>
                          </a:solidFill>
                        </a:rPr>
                        <a:t>기준</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분류</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대표 나물</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393192">
                <a:tc rowSpan="3">
                  <a:txBody>
                    <a:bodyPr/>
                    <a:lstStyle/>
                    <a:p>
                      <a:pPr algn="ctr" indent="0" marL="0">
                        <a:buNone/>
                      </a:pPr>
                      <a:r>
                        <a:rPr lang="en-US" sz="950" b="1" dirty="0">
                          <a:solidFill>
                            <a:srgbClr val="1F2421"/>
                          </a:solidFill>
                        </a:rPr>
                        <a:t>나는 곳</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950" b="1" dirty="0">
                          <a:solidFill>
                            <a:srgbClr val="1F2421"/>
                          </a:solidFill>
                        </a:rPr>
                        <a:t>산나물</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취나물 · 곰취 · 두릅 · 고사리 · 곤드레 · 산마늘</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93192">
                <a:tc vMerge="1">
                  <a:tcPr/>
                </a:tc>
                <a:tc>
                  <a:txBody>
                    <a:bodyPr/>
                    <a:lstStyle/>
                    <a:p>
                      <a:pPr algn="ctr" indent="0" marL="0">
                        <a:buNone/>
                      </a:pPr>
                      <a:r>
                        <a:rPr lang="en-US" sz="950" b="1" dirty="0">
                          <a:solidFill>
                            <a:srgbClr val="1F2421"/>
                          </a:solidFill>
                        </a:rPr>
                        <a:t>들나물</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냉이 · 달래 · 씀바귀 · 돌나물 · 쑥</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93192">
                <a:tc vMerge="1">
                  <a:tcPr/>
                </a:tc>
                <a:tc>
                  <a:txBody>
                    <a:bodyPr/>
                    <a:lstStyle/>
                    <a:p>
                      <a:pPr algn="ctr" indent="0" marL="0">
                        <a:buNone/>
                      </a:pPr>
                      <a:r>
                        <a:rPr lang="en-US" sz="950" b="1" dirty="0">
                          <a:solidFill>
                            <a:srgbClr val="1F2421"/>
                          </a:solidFill>
                        </a:rPr>
                        <a:t>재배나물</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시금치 · 콩나물 · 참나물 · 배추 · 가지</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93192">
                <a:tc rowSpan="3">
                  <a:txBody>
                    <a:bodyPr/>
                    <a:lstStyle/>
                    <a:p>
                      <a:pPr algn="ctr" indent="0" marL="0">
                        <a:buNone/>
                      </a:pPr>
                      <a:r>
                        <a:rPr lang="en-US" sz="950" b="1" dirty="0">
                          <a:solidFill>
                            <a:srgbClr val="1F2421"/>
                          </a:solidFill>
                        </a:rPr>
                        <a:t>먹는 법</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950" b="1" dirty="0">
                          <a:solidFill>
                            <a:srgbClr val="1F2421"/>
                          </a:solidFill>
                        </a:rPr>
                        <a:t>생채</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달래 · 씀바귀 · 돌나물 · 참나물 · 더덕</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57200">
                <a:tc vMerge="1">
                  <a:tcPr/>
                </a:tc>
                <a:tc>
                  <a:txBody>
                    <a:bodyPr/>
                    <a:lstStyle/>
                    <a:p>
                      <a:pPr algn="ctr" indent="0" marL="0">
                        <a:buNone/>
                      </a:pPr>
                      <a:r>
                        <a:rPr lang="en-US" sz="950" b="1" dirty="0">
                          <a:solidFill>
                            <a:srgbClr val="1F2421"/>
                          </a:solidFill>
                        </a:rPr>
                        <a:t>숙채</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B8692B"/>
                          </a:solidFill>
                        </a:rPr>
                        <a:t>냉이 · 고사리 · 두릅 · 다래순 · 원추리</a:t>
                      </a:r>
                      <a:endParaRPr lang="en-US" sz="950" dirty="0"/>
                    </a:p>
                    <a:p>
                      <a:pPr algn="l" indent="0" marL="0">
                        <a:buNone/>
                      </a:pPr>
                      <a:r>
                        <a:rPr lang="en-US" sz="950" b="1" dirty="0">
                          <a:solidFill>
                            <a:srgbClr val="B8692B"/>
                          </a:solidFill>
                        </a:rPr>
                        <a:t>독성분 있는 나물은 반드시 데침</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93192">
                <a:tc vMerge="1">
                  <a:tcPr/>
                </a:tc>
                <a:tc>
                  <a:txBody>
                    <a:bodyPr/>
                    <a:lstStyle/>
                    <a:p>
                      <a:pPr algn="ctr" indent="0" marL="0">
                        <a:buNone/>
                      </a:pPr>
                      <a:r>
                        <a:rPr lang="en-US" sz="950" b="1" dirty="0">
                          <a:solidFill>
                            <a:srgbClr val="1F2421"/>
                          </a:solidFill>
                        </a:rPr>
                        <a:t>묵나물</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고사리 · 취나물 · 고비 · 시래기 (데쳐 말림, 겨울~초봄)</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issue box 안전"/>
          <p:cNvSpPr/>
          <p:nvPr/>
        </p:nvSpPr>
        <p:spPr>
          <a:xfrm>
            <a:off x="4919472" y="1536192"/>
            <a:ext cx="2240280" cy="914400"/>
          </a:xfrm>
          <a:prstGeom prst="rect">
            <a:avLst/>
          </a:prstGeom>
          <a:solidFill>
            <a:srgbClr val="FBEFE3"/>
          </a:solidFill>
          <a:ln w="12700">
            <a:solidFill>
              <a:srgbClr val="FBEFE3"/>
            </a:solidFill>
            <a:prstDash val="solid"/>
          </a:ln>
        </p:spPr>
      </p:sp>
      <p:sp>
        <p:nvSpPr>
          <p:cNvPr id="8" name="issue head 안전"/>
          <p:cNvSpPr txBox="1"/>
          <p:nvPr/>
        </p:nvSpPr>
        <p:spPr>
          <a:xfrm>
            <a:off x="5047488" y="1609344"/>
            <a:ext cx="2011680" cy="237744"/>
          </a:xfrm>
          <a:prstGeom prst="rect">
            <a:avLst/>
          </a:prstGeom>
          <a:noFill/>
          <a:ln/>
        </p:spPr>
        <p:txBody>
          <a:bodyPr wrap="square" lIns="0" tIns="0" rIns="0" bIns="0" rtlCol="0" anchor="ctr"/>
          <a:lstStyle/>
          <a:p>
            <a:pPr indent="0" marL="0">
              <a:buNone/>
            </a:pPr>
            <a:r>
              <a:rPr lang="en-US" sz="1150" b="1" dirty="0">
                <a:solidFill>
                  <a:srgbClr val="B8692B"/>
                </a:solidFill>
              </a:rPr>
              <a:t>안전</a:t>
            </a:r>
            <a:endParaRPr lang="en-US" sz="1150" dirty="0"/>
          </a:p>
        </p:txBody>
      </p:sp>
      <p:sp>
        <p:nvSpPr>
          <p:cNvPr id="9" name="issue desc 안전"/>
          <p:cNvSpPr txBox="1"/>
          <p:nvPr/>
        </p:nvSpPr>
        <p:spPr>
          <a:xfrm>
            <a:off x="5047488" y="1865376"/>
            <a:ext cx="2011680" cy="548640"/>
          </a:xfrm>
          <a:prstGeom prst="rect">
            <a:avLst/>
          </a:prstGeom>
          <a:noFill/>
          <a:ln/>
        </p:spPr>
        <p:txBody>
          <a:bodyPr wrap="square" lIns="0" tIns="0" rIns="0" bIns="0" rtlCol="0" anchor="ctr"/>
          <a:lstStyle/>
          <a:p>
            <a:pPr indent="0" marL="0">
              <a:buNone/>
            </a:pPr>
            <a:r>
              <a:rPr lang="en-US" sz="950" dirty="0">
                <a:solidFill>
                  <a:srgbClr val="1F2421"/>
                </a:solidFill>
              </a:rPr>
              <a:t>원추리↔여로, 곰취↔동의나물, 산마늘↔박새 혼동. 독초 섭취 위해 41건 중 80%가 3~6월</a:t>
            </a:r>
            <a:endParaRPr lang="en-US" sz="950" dirty="0"/>
          </a:p>
        </p:txBody>
      </p:sp>
      <p:sp>
        <p:nvSpPr>
          <p:cNvPr id="10" name="issue box 원산지"/>
          <p:cNvSpPr/>
          <p:nvPr/>
        </p:nvSpPr>
        <p:spPr>
          <a:xfrm>
            <a:off x="4919472" y="2542032"/>
            <a:ext cx="2240280" cy="914400"/>
          </a:xfrm>
          <a:prstGeom prst="rect">
            <a:avLst/>
          </a:prstGeom>
          <a:solidFill>
            <a:srgbClr val="F2F4F2"/>
          </a:solidFill>
          <a:ln w="12700">
            <a:solidFill>
              <a:srgbClr val="F2F4F2"/>
            </a:solidFill>
            <a:prstDash val="solid"/>
          </a:ln>
        </p:spPr>
      </p:sp>
      <p:sp>
        <p:nvSpPr>
          <p:cNvPr id="11" name="issue head 원산지"/>
          <p:cNvSpPr txBox="1"/>
          <p:nvPr/>
        </p:nvSpPr>
        <p:spPr>
          <a:xfrm>
            <a:off x="5047488" y="2615184"/>
            <a:ext cx="2011680" cy="237744"/>
          </a:xfrm>
          <a:prstGeom prst="rect">
            <a:avLst/>
          </a:prstGeom>
          <a:noFill/>
          <a:ln/>
        </p:spPr>
        <p:txBody>
          <a:bodyPr wrap="square" lIns="0" tIns="0" rIns="0" bIns="0" rtlCol="0" anchor="ctr"/>
          <a:lstStyle/>
          <a:p>
            <a:pPr indent="0" marL="0">
              <a:buNone/>
            </a:pPr>
            <a:r>
              <a:rPr lang="en-US" sz="1150" b="1" dirty="0">
                <a:solidFill>
                  <a:srgbClr val="1E4D3A"/>
                </a:solidFill>
              </a:rPr>
              <a:t>원산지</a:t>
            </a:r>
            <a:endParaRPr lang="en-US" sz="1150" dirty="0"/>
          </a:p>
        </p:txBody>
      </p:sp>
      <p:sp>
        <p:nvSpPr>
          <p:cNvPr id="12" name="issue desc 원산지"/>
          <p:cNvSpPr txBox="1"/>
          <p:nvPr/>
        </p:nvSpPr>
        <p:spPr>
          <a:xfrm>
            <a:off x="5047488" y="2871216"/>
            <a:ext cx="2011680" cy="548640"/>
          </a:xfrm>
          <a:prstGeom prst="rect">
            <a:avLst/>
          </a:prstGeom>
          <a:noFill/>
          <a:ln/>
        </p:spPr>
        <p:txBody>
          <a:bodyPr wrap="square" lIns="0" tIns="0" rIns="0" bIns="0" rtlCol="0" anchor="ctr"/>
          <a:lstStyle/>
          <a:p>
            <a:pPr indent="0" marL="0">
              <a:buNone/>
            </a:pPr>
            <a:r>
              <a:rPr lang="en-US" sz="950" dirty="0">
                <a:solidFill>
                  <a:srgbClr val="1F2421"/>
                </a:solidFill>
              </a:rPr>
              <a:t>2023년 중국산 고사리 56톤이 국산과 섞여 학교 급식에 납품, 적발</a:t>
            </a:r>
            <a:endParaRPr lang="en-US" sz="950" dirty="0"/>
          </a:p>
        </p:txBody>
      </p:sp>
      <p:sp>
        <p:nvSpPr>
          <p:cNvPr id="13" name="issue box 가격"/>
          <p:cNvSpPr/>
          <p:nvPr/>
        </p:nvSpPr>
        <p:spPr>
          <a:xfrm>
            <a:off x="4919472" y="3547872"/>
            <a:ext cx="2240280" cy="914400"/>
          </a:xfrm>
          <a:prstGeom prst="rect">
            <a:avLst/>
          </a:prstGeom>
          <a:solidFill>
            <a:srgbClr val="F2F4F2"/>
          </a:solidFill>
          <a:ln w="12700">
            <a:solidFill>
              <a:srgbClr val="F2F4F2"/>
            </a:solidFill>
            <a:prstDash val="solid"/>
          </a:ln>
        </p:spPr>
      </p:sp>
      <p:sp>
        <p:nvSpPr>
          <p:cNvPr id="14" name="issue head 가격"/>
          <p:cNvSpPr txBox="1"/>
          <p:nvPr/>
        </p:nvSpPr>
        <p:spPr>
          <a:xfrm>
            <a:off x="5047488" y="3621024"/>
            <a:ext cx="2011680" cy="237744"/>
          </a:xfrm>
          <a:prstGeom prst="rect">
            <a:avLst/>
          </a:prstGeom>
          <a:noFill/>
          <a:ln/>
        </p:spPr>
        <p:txBody>
          <a:bodyPr wrap="square" lIns="0" tIns="0" rIns="0" bIns="0" rtlCol="0" anchor="ctr"/>
          <a:lstStyle/>
          <a:p>
            <a:pPr indent="0" marL="0">
              <a:buNone/>
            </a:pPr>
            <a:r>
              <a:rPr lang="en-US" sz="1150" b="1" dirty="0">
                <a:solidFill>
                  <a:srgbClr val="1E4D3A"/>
                </a:solidFill>
              </a:rPr>
              <a:t>가격</a:t>
            </a:r>
            <a:endParaRPr lang="en-US" sz="1150" dirty="0"/>
          </a:p>
        </p:txBody>
      </p:sp>
      <p:sp>
        <p:nvSpPr>
          <p:cNvPr id="15" name="issue desc 가격"/>
          <p:cNvSpPr txBox="1"/>
          <p:nvPr/>
        </p:nvSpPr>
        <p:spPr>
          <a:xfrm>
            <a:off x="5047488" y="3877056"/>
            <a:ext cx="2011680" cy="548640"/>
          </a:xfrm>
          <a:prstGeom prst="rect">
            <a:avLst/>
          </a:prstGeom>
          <a:noFill/>
          <a:ln/>
        </p:spPr>
        <p:txBody>
          <a:bodyPr wrap="square" lIns="0" tIns="0" rIns="0" bIns="0" rtlCol="0" anchor="ctr"/>
          <a:lstStyle/>
          <a:p>
            <a:pPr indent="0" marL="0">
              <a:buNone/>
            </a:pPr>
            <a:r>
              <a:rPr lang="en-US" sz="950" dirty="0">
                <a:solidFill>
                  <a:srgbClr val="1F2421"/>
                </a:solidFill>
              </a:rPr>
              <a:t>2026년 8월 시금치 소비자물가 한 달 +68.2% (폭염)</a:t>
            </a:r>
            <a:endParaRPr lang="en-US" sz="950" dirty="0"/>
          </a:p>
        </p:txBody>
      </p:sp>
      <p:pic>
        <p:nvPicPr>
          <p:cNvPr id="16" name="in-app safety screen" descr="나물로 앱 화면: in-app safety screen">    </p:cNvPr>
          <p:cNvPicPr>
            <a:picLocks noChangeAspect="1"/>
          </p:cNvPicPr>
          <p:nvPr/>
        </p:nvPicPr>
        <p:blipFill>
          <a:blip r:embed="rId1"/>
          <a:stretch>
            <a:fillRect/>
          </a:stretch>
        </p:blipFill>
        <p:spPr>
          <a:xfrm>
            <a:off x="7315200" y="1517904"/>
            <a:ext cx="1439232" cy="3017520"/>
          </a:xfrm>
          <a:prstGeom prst="rect">
            <a:avLst/>
          </a:prstGeom>
        </p:spPr>
      </p:pic>
      <p:sp>
        <p:nvSpPr>
          <p:cNvPr id="17" name="source note"/>
          <p:cNvSpPr txBox="1"/>
          <p:nvPr/>
        </p:nvSpPr>
        <p:spPr>
          <a:xfrm>
            <a:off x="411480" y="4608576"/>
            <a:ext cx="6720840" cy="347472"/>
          </a:xfrm>
          <a:prstGeom prst="rect">
            <a:avLst/>
          </a:prstGeom>
          <a:noFill/>
          <a:ln/>
        </p:spPr>
        <p:txBody>
          <a:bodyPr wrap="square" lIns="0" tIns="0" rIns="0" bIns="0" rtlCol="0" anchor="b"/>
          <a:lstStyle/>
          <a:p>
            <a:pPr indent="0" marL="0">
              <a:buNone/>
            </a:pPr>
            <a:r>
              <a:rPr lang="en-US" sz="900" dirty="0">
                <a:solidFill>
                  <a:srgbClr val="7A837D"/>
                </a:solidFill>
              </a:rPr>
              <a:t>자료: 식약처 안내 보도, 한국소비자원 위해감시(쿠키뉴스 2025.04), 경북매일(2023.05), 국가데이터처·KAMIS(2026.08 보도), 나물 분류 문헌 종합 / 오른쪽: 앱 도감의 안전 정보</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Ⅰ. 추진 배경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소비자 측면의 나물 소비 장벽</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1인 가구·2030 세대는 늘었으나, 정보·조리·구매 장벽으로 나물의 소량·간편 소비 채널이 부재함</a:t>
            </a:r>
            <a:endParaRPr lang="en-US" sz="125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5120640" cy="914400"/>
        </p:xfrm>
        <a:graphic>
          <a:graphicData uri="http://schemas.openxmlformats.org/drawingml/2006/table">
            <a:tbl>
              <a:tblPr/>
              <a:tblGrid>
                <a:gridCol w="1005840"/>
                <a:gridCol w="2514600"/>
                <a:gridCol w="1600200"/>
              </a:tblGrid>
              <a:tr h="310896">
                <a:tc>
                  <a:txBody>
                    <a:bodyPr/>
                    <a:lstStyle/>
                    <a:p>
                      <a:pPr algn="ctr" indent="0" marL="0">
                        <a:buNone/>
                      </a:pPr>
                      <a:r>
                        <a:rPr lang="en-US" sz="1050" b="1" dirty="0">
                          <a:solidFill>
                            <a:srgbClr val="FFFFFF"/>
                          </a:solidFill>
                        </a:rPr>
                        <a:t>구분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현상</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필요 기능</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40080">
                <a:tc>
                  <a:txBody>
                    <a:bodyPr/>
                    <a:lstStyle/>
                    <a:p>
                      <a:pPr algn="ctr" indent="0" marL="0">
                        <a:buNone/>
                      </a:pPr>
                      <a:r>
                        <a:rPr lang="en-US" sz="1050" b="1" dirty="0">
                          <a:solidFill>
                            <a:srgbClr val="1F2421"/>
                          </a:solidFill>
                        </a:rPr>
                        <a:t>정보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나물 이름·제철·맛·안전하게 먹는 법을 모름</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나물 도감, AI 셰프</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1F2421"/>
                          </a:solidFill>
                        </a:rPr>
                        <a:t>조리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다듬기·데치기·간 맞추기 등 공정이 많고 실패 부담이 큼</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단계별 영상 레시피</a:t>
                      </a:r>
                      <a:endParaRPr lang="en-US" sz="1050" dirty="0"/>
                    </a:p>
                    <a:p>
                      <a:pPr algn="l" indent="0" marL="0">
                        <a:buNone/>
                      </a:pPr>
                      <a:r>
                        <a:rPr lang="en-US" sz="1050" dirty="0">
                          <a:solidFill>
                            <a:srgbClr val="1F2421"/>
                          </a:solidFill>
                        </a:rPr>
                        <a:t>손질·데침 옵션</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1F2421"/>
                          </a:solidFill>
                        </a:rPr>
                        <a:t>구매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온라인몰은 한 단·택배 단위, 시장은 재고 확인이 불가함</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동네 매장 소량 주문</a:t>
                      </a:r>
                      <a:endParaRPr lang="en-US" sz="1050" dirty="0"/>
                    </a:p>
                    <a:p>
                      <a:pPr algn="l" indent="0" marL="0">
                        <a:buNone/>
                      </a:pPr>
                      <a:r>
                        <a:rPr lang="en-US" sz="1050" dirty="0">
                          <a:solidFill>
                            <a:srgbClr val="1F2421"/>
                          </a:solidFill>
                        </a:rPr>
                        <a:t>예약 픽업</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4A524D"/>
                          </a:solidFill>
                        </a:rPr>
                        <a:t>(추가) 가족</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아이가 먹는 나물·조리법 정보가 흩어져 있음</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아이 선호도 지수</a:t>
                      </a:r>
                      <a:endParaRPr lang="en-US" sz="1050" dirty="0"/>
                    </a:p>
                    <a:p>
                      <a:pPr algn="l" indent="0" marL="0">
                        <a:buNone/>
                      </a:pPr>
                      <a:r>
                        <a:rPr lang="en-US" sz="1050" dirty="0">
                          <a:solidFill>
                            <a:srgbClr val="1F2421"/>
                          </a:solidFill>
                        </a:rPr>
                        <a:t>혼합 요리 추천</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kpi label"/>
          <p:cNvSpPr txBox="1"/>
          <p:nvPr/>
        </p:nvSpPr>
        <p:spPr>
          <a:xfrm>
            <a:off x="5806440" y="1536192"/>
            <a:ext cx="2926080" cy="237744"/>
          </a:xfrm>
          <a:prstGeom prst="rect">
            <a:avLst/>
          </a:prstGeom>
          <a:noFill/>
          <a:ln/>
        </p:spPr>
        <p:txBody>
          <a:bodyPr wrap="square" lIns="0" tIns="0" rIns="0" bIns="0" rtlCol="0" anchor="ctr"/>
          <a:lstStyle/>
          <a:p>
            <a:pPr indent="0" marL="0">
              <a:buNone/>
            </a:pPr>
            <a:r>
              <a:rPr lang="en-US" sz="1050" dirty="0">
                <a:solidFill>
                  <a:srgbClr val="4A524D"/>
                </a:solidFill>
              </a:rPr>
              <a:t>1인 가구 비중 (2024)</a:t>
            </a:r>
            <a:endParaRPr lang="en-US" sz="1050" dirty="0"/>
          </a:p>
        </p:txBody>
      </p:sp>
      <p:sp>
        <p:nvSpPr>
          <p:cNvPr id="8" name="kpi value"/>
          <p:cNvSpPr txBox="1"/>
          <p:nvPr/>
        </p:nvSpPr>
        <p:spPr>
          <a:xfrm>
            <a:off x="5806440" y="1764792"/>
            <a:ext cx="1463040" cy="502920"/>
          </a:xfrm>
          <a:prstGeom prst="rect">
            <a:avLst/>
          </a:prstGeom>
          <a:noFill/>
          <a:ln/>
        </p:spPr>
        <p:txBody>
          <a:bodyPr wrap="square" lIns="0" tIns="0" rIns="0" bIns="0" rtlCol="0" anchor="ctr"/>
          <a:lstStyle/>
          <a:p>
            <a:pPr indent="0" marL="0">
              <a:buNone/>
            </a:pPr>
            <a:r>
              <a:rPr lang="en-US" sz="3000" b="1" dirty="0">
                <a:solidFill>
                  <a:schemeClr val="accent1"/>
                </a:solidFill>
              </a:rPr>
              <a:t>36.1%</a:t>
            </a:r>
            <a:endParaRPr lang="en-US" sz="3000" dirty="0"/>
          </a:p>
        </p:txBody>
      </p:sp>
      <p:sp>
        <p:nvSpPr>
          <p:cNvPr id="9" name="kpi sub"/>
          <p:cNvSpPr txBox="1"/>
          <p:nvPr/>
        </p:nvSpPr>
        <p:spPr>
          <a:xfrm>
            <a:off x="5806440" y="2267712"/>
            <a:ext cx="2926080" cy="219456"/>
          </a:xfrm>
          <a:prstGeom prst="rect">
            <a:avLst/>
          </a:prstGeom>
          <a:noFill/>
          <a:ln/>
        </p:spPr>
        <p:txBody>
          <a:bodyPr wrap="square" lIns="0" tIns="0" rIns="0" bIns="0" rtlCol="0" anchor="ctr"/>
          <a:lstStyle/>
          <a:p>
            <a:pPr indent="0" marL="0">
              <a:buNone/>
            </a:pPr>
            <a:r>
              <a:rPr lang="en-US" sz="950" dirty="0">
                <a:solidFill>
                  <a:srgbClr val="7A837D"/>
                </a:solidFill>
              </a:rPr>
              <a:t>804만 가구·2019년 30% 돌파 후 지속 증가</a:t>
            </a:r>
            <a:endParaRPr lang="en-US" sz="950" dirty="0"/>
          </a:p>
        </p:txBody>
      </p:sp>
      <p:graphicFrame>
        <p:nvGraphicFramePr>
          <p:cNvPr id="10" name="diet score chart" descr=""/>
          <p:cNvGraphicFramePr/>
          <p:nvPr/>
        </p:nvGraphicFramePr>
        <p:xfrm>
          <a:off x="5669280" y="2542032"/>
          <a:ext cx="3108960" cy="1965960"/>
        </p:xfrm>
        <a:graphic xmlns:a="http://schemas.openxmlformats.org/drawingml/2006/main">
          <a:graphicData uri="http://schemas.openxmlformats.org/drawingml/2006/chart">
            <c:chart xmlns:c="http://schemas.openxmlformats.org/drawingml/2006/chart" r:id="rId1"/>
          </a:graphicData>
        </a:graphic>
      </p:graphicFrame>
      <p:sp>
        <p:nvSpPr>
          <p:cNvPr id="11"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국가데이터처 「2025 통계로 보는 1인 가구」(2025.12), 질병관리청 국민건강영양조사 2022–2024 식생활평가지수(2026.08 보도)</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Ⅰ. 추진 배경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공급자 측면의 판로 위축</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산나물 생산·판로는 위축되는 반면, 전통시장·로컬푸드는 규모 대비 온라인 주문 채널이 부족함</a:t>
            </a:r>
            <a:endParaRPr lang="en-US" sz="125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5486400" cy="914400"/>
        </p:xfrm>
        <a:graphic>
          <a:graphicData uri="http://schemas.openxmlformats.org/drawingml/2006/table">
            <a:tbl>
              <a:tblPr/>
              <a:tblGrid>
                <a:gridCol w="731520"/>
                <a:gridCol w="2103120"/>
                <a:gridCol w="1051560"/>
                <a:gridCol w="1600200"/>
              </a:tblGrid>
              <a:tr h="310896">
                <a:tc>
                  <a:txBody>
                    <a:bodyPr/>
                    <a:lstStyle/>
                    <a:p>
                      <a:pPr algn="ctr" indent="0" marL="0">
                        <a:buNone/>
                      </a:pPr>
                      <a:r>
                        <a:rPr lang="en-US" sz="1050" b="1" dirty="0">
                          <a:solidFill>
                            <a:srgbClr val="FFFFFF"/>
                          </a:solidFill>
                        </a:rPr>
                        <a:t>구분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지표</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수치</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시사점</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40080">
                <a:tc>
                  <a:txBody>
                    <a:bodyPr/>
                    <a:lstStyle/>
                    <a:p>
                      <a:pPr algn="ctr" indent="0" marL="0">
                        <a:buNone/>
                      </a:pPr>
                      <a:r>
                        <a:rPr lang="en-US" sz="1050" b="1" dirty="0">
                          <a:solidFill>
                            <a:srgbClr val="1F2421"/>
                          </a:solidFill>
                        </a:rPr>
                        <a:t>생산</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산나물 생산액 증감 (2024, 전년 대비)</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692B"/>
                          </a:solidFill>
                        </a:rPr>
                        <a:t>−9.3%</a:t>
                      </a:r>
                      <a:endParaRPr lang="en-US" sz="12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소비 위축이 생산 감소로 연결</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1F2421"/>
                          </a:solidFill>
                        </a:rPr>
                        <a:t>유통</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제철 집중에 따른 미판매·폐기 (업계 사례)</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692B"/>
                          </a:solidFill>
                        </a:rPr>
                        <a:t>연 40톤</a:t>
                      </a:r>
                      <a:endParaRPr lang="en-US" sz="12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수요 분산·묵나물 가공 필요</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1F2421"/>
                          </a:solidFill>
                        </a:rPr>
                        <a:t>판매처</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전국 전통시장 수 / 추정 연매출 (2023)</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4D3A"/>
                          </a:solidFill>
                        </a:rPr>
                        <a:t>1,393개</a:t>
                      </a:r>
                      <a:endParaRPr lang="en-US" sz="1200" dirty="0"/>
                    </a:p>
                    <a:p>
                      <a:pPr algn="ctr" indent="0" marL="0">
                        <a:buNone/>
                      </a:pPr>
                      <a:r>
                        <a:rPr lang="en-US" sz="1200" b="1" dirty="0">
                          <a:solidFill>
                            <a:srgbClr val="1E4D3A"/>
                          </a:solidFill>
                        </a:rPr>
                        <a:t>28.7조 원</a:t>
                      </a:r>
                      <a:endParaRPr lang="en-US" sz="12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대규모 오프라인 판매처 존재</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40080">
                <a:tc>
                  <a:txBody>
                    <a:bodyPr/>
                    <a:lstStyle/>
                    <a:p>
                      <a:pPr algn="ctr" indent="0" marL="0">
                        <a:buNone/>
                      </a:pPr>
                      <a:r>
                        <a:rPr lang="en-US" sz="1050" b="1" dirty="0">
                          <a:solidFill>
                            <a:srgbClr val="1F2421"/>
                          </a:solidFill>
                        </a:rPr>
                        <a:t>판매처</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로컬푸드 직매장 수 (2020)</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4D3A"/>
                          </a:solidFill>
                        </a:rPr>
                        <a:t>554개</a:t>
                      </a:r>
                      <a:endParaRPr lang="en-US" sz="12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산지 직거래 인프라 확대</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graphicFrame>
        <p:nvGraphicFramePr>
          <p:cNvPr id="7" name="local food chart" descr=""/>
          <p:cNvGraphicFramePr/>
          <p:nvPr/>
        </p:nvGraphicFramePr>
        <p:xfrm>
          <a:off x="6126480" y="1536192"/>
          <a:ext cx="2606040" cy="2331720"/>
        </p:xfrm>
        <a:graphic xmlns:a="http://schemas.openxmlformats.org/drawingml/2006/main">
          <a:graphicData uri="http://schemas.openxmlformats.org/drawingml/2006/chart">
            <c:chart xmlns:c="http://schemas.openxmlformats.org/drawingml/2006/chart" r:id="rId1"/>
          </a:graphicData>
        </a:graphic>
      </p:graphicFrame>
      <p:sp>
        <p:nvSpPr>
          <p:cNvPr id="8" name="chart note"/>
          <p:cNvSpPr txBox="1"/>
          <p:nvPr/>
        </p:nvSpPr>
        <p:spPr>
          <a:xfrm>
            <a:off x="6172200" y="3931920"/>
            <a:ext cx="2560320" cy="548640"/>
          </a:xfrm>
          <a:prstGeom prst="rect">
            <a:avLst/>
          </a:prstGeom>
          <a:noFill/>
          <a:ln/>
        </p:spPr>
        <p:txBody>
          <a:bodyPr wrap="square" lIns="0" tIns="0" rIns="0" bIns="0" rtlCol="0" anchor="ctr"/>
          <a:lstStyle/>
          <a:p>
            <a:pPr indent="0" marL="0">
              <a:buNone/>
            </a:pPr>
            <a:r>
              <a:rPr lang="en-US" sz="950" dirty="0">
                <a:solidFill>
                  <a:srgbClr val="4A524D"/>
                </a:solidFill>
              </a:rPr>
              <a:t>7년간 약 17배 증가</a:t>
            </a:r>
            <a:endParaRPr lang="en-US" sz="950" dirty="0"/>
          </a:p>
          <a:p>
            <a:pPr indent="0" marL="0">
              <a:buNone/>
            </a:pPr>
            <a:r>
              <a:rPr lang="en-US" sz="950" dirty="0">
                <a:solidFill>
                  <a:srgbClr val="4A524D"/>
                </a:solidFill>
              </a:rPr>
              <a:t>판매처는 늘었으나 온라인 주문 연결은 제한적</a:t>
            </a:r>
            <a:endParaRPr lang="en-US" sz="950" dirty="0"/>
          </a:p>
        </p:txBody>
      </p:sp>
      <p:sp>
        <p:nvSpPr>
          <p:cNvPr id="9"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산림청 「2024년 임산물생산조사」(2025.10), 유니콘팩토리(2024.11), 소상공인시장진흥공단 전통시장 실태조사(2023 기준), 농림축산식품부(2021.06 보도)</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Ⅰ. 추진 배경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기존 서비스의 공백</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기존 서비스는 콘텐츠 또는 구매 한쪽에 머물고 상인용 AI 도구도 없어, 수요를 만들어 동네 매장으로 잇는 서비스가 없음</a:t>
            </a:r>
            <a:endParaRPr lang="en-US" sz="1250" dirty="0"/>
          </a:p>
        </p:txBody>
      </p:sp>
      <p:sp>
        <p:nvSpPr>
          <p:cNvPr id="6" name="target quadrant"/>
          <p:cNvSpPr/>
          <p:nvPr/>
        </p:nvSpPr>
        <p:spPr>
          <a:xfrm>
            <a:off x="868680" y="2903220"/>
            <a:ext cx="1965960" cy="1303020"/>
          </a:xfrm>
          <a:prstGeom prst="rect">
            <a:avLst/>
          </a:prstGeom>
          <a:solidFill>
            <a:srgbClr val="E6F0EA"/>
          </a:solidFill>
          <a:ln w="12700">
            <a:solidFill>
              <a:srgbClr val="E6F0EA"/>
            </a:solidFill>
            <a:prstDash val="solid"/>
          </a:ln>
        </p:spPr>
      </p:sp>
      <p:sp>
        <p:nvSpPr>
          <p:cNvPr id="7" name="plot frame"/>
          <p:cNvSpPr/>
          <p:nvPr/>
        </p:nvSpPr>
        <p:spPr>
          <a:xfrm>
            <a:off x="868680" y="1600200"/>
            <a:ext cx="3931920" cy="2606040"/>
          </a:xfrm>
          <a:prstGeom prst="rect">
            <a:avLst/>
          </a:prstGeom>
          <a:ln w="9525">
            <a:solidFill>
              <a:srgbClr val="B9C1BB"/>
            </a:solidFill>
            <a:prstDash val="solid"/>
          </a:ln>
        </p:spPr>
      </p:sp>
      <p:sp>
        <p:nvSpPr>
          <p:cNvPr id="8" name="divider v"/>
          <p:cNvSpPr/>
          <p:nvPr/>
        </p:nvSpPr>
        <p:spPr>
          <a:xfrm>
            <a:off x="2834640" y="1600200"/>
            <a:ext cx="0" cy="2606040"/>
          </a:xfrm>
          <a:prstGeom prst="line">
            <a:avLst/>
          </a:prstGeom>
          <a:noFill/>
          <a:ln w="9525">
            <a:solidFill>
              <a:srgbClr val="D9DED9"/>
            </a:solidFill>
            <a:prstDash val="solid"/>
          </a:ln>
        </p:spPr>
      </p:sp>
      <p:sp>
        <p:nvSpPr>
          <p:cNvPr id="9" name="divider h"/>
          <p:cNvSpPr/>
          <p:nvPr/>
        </p:nvSpPr>
        <p:spPr>
          <a:xfrm>
            <a:off x="868680" y="2903220"/>
            <a:ext cx="3931920" cy="0"/>
          </a:xfrm>
          <a:prstGeom prst="line">
            <a:avLst/>
          </a:prstGeom>
          <a:noFill/>
          <a:ln w="9525">
            <a:solidFill>
              <a:srgbClr val="D9DED9"/>
            </a:solidFill>
            <a:prstDash val="solid"/>
          </a:ln>
        </p:spPr>
      </p:sp>
      <p:sp>
        <p:nvSpPr>
          <p:cNvPr id="10" name="x axis left"/>
          <p:cNvSpPr txBox="1"/>
          <p:nvPr/>
        </p:nvSpPr>
        <p:spPr>
          <a:xfrm>
            <a:off x="868680" y="4261104"/>
            <a:ext cx="1463040" cy="228600"/>
          </a:xfrm>
          <a:prstGeom prst="rect">
            <a:avLst/>
          </a:prstGeom>
          <a:noFill/>
          <a:ln/>
        </p:spPr>
        <p:txBody>
          <a:bodyPr wrap="square" lIns="0" tIns="0" rIns="0" bIns="0" rtlCol="0" anchor="ctr"/>
          <a:lstStyle/>
          <a:p>
            <a:pPr indent="0" marL="0">
              <a:buNone/>
            </a:pPr>
            <a:r>
              <a:rPr lang="en-US" sz="950" dirty="0">
                <a:solidFill>
                  <a:srgbClr val="4A524D"/>
                </a:solidFill>
              </a:rPr>
              <a:t>콘텐츠 중심</a:t>
            </a:r>
            <a:endParaRPr lang="en-US" sz="950" dirty="0"/>
          </a:p>
        </p:txBody>
      </p:sp>
      <p:sp>
        <p:nvSpPr>
          <p:cNvPr id="11" name="x axis right"/>
          <p:cNvSpPr txBox="1"/>
          <p:nvPr/>
        </p:nvSpPr>
        <p:spPr>
          <a:xfrm>
            <a:off x="3337560" y="4261104"/>
            <a:ext cx="1463040" cy="228600"/>
          </a:xfrm>
          <a:prstGeom prst="rect">
            <a:avLst/>
          </a:prstGeom>
          <a:noFill/>
          <a:ln/>
        </p:spPr>
        <p:txBody>
          <a:bodyPr wrap="square" lIns="0" tIns="0" rIns="0" bIns="0" rtlCol="0" anchor="ctr"/>
          <a:lstStyle/>
          <a:p>
            <a:pPr algn="r" indent="0" marL="0">
              <a:buNone/>
            </a:pPr>
            <a:r>
              <a:rPr lang="en-US" sz="950" dirty="0">
                <a:solidFill>
                  <a:srgbClr val="4A524D"/>
                </a:solidFill>
              </a:rPr>
              <a:t>구매 중심</a:t>
            </a:r>
            <a:endParaRPr lang="en-US" sz="950" dirty="0"/>
          </a:p>
        </p:txBody>
      </p:sp>
      <p:sp>
        <p:nvSpPr>
          <p:cNvPr id="12" name="y axis top"/>
          <p:cNvSpPr txBox="1"/>
          <p:nvPr/>
        </p:nvSpPr>
        <p:spPr>
          <a:xfrm>
            <a:off x="411480" y="1600200"/>
            <a:ext cx="384048" cy="411480"/>
          </a:xfrm>
          <a:prstGeom prst="rect">
            <a:avLst/>
          </a:prstGeom>
          <a:noFill/>
          <a:ln/>
        </p:spPr>
        <p:txBody>
          <a:bodyPr wrap="square" lIns="0" tIns="0" rIns="0" bIns="0" rtlCol="0" anchor="ctr"/>
          <a:lstStyle/>
          <a:p>
            <a:pPr algn="r" indent="0" marL="0">
              <a:buNone/>
            </a:pPr>
            <a:r>
              <a:rPr lang="en-US" sz="950" dirty="0">
                <a:solidFill>
                  <a:srgbClr val="4A524D"/>
                </a:solidFill>
              </a:rPr>
              <a:t>전국</a:t>
            </a:r>
            <a:endParaRPr lang="en-US" sz="950" dirty="0"/>
          </a:p>
          <a:p>
            <a:pPr algn="r" indent="0" marL="0">
              <a:buNone/>
            </a:pPr>
            <a:r>
              <a:rPr lang="en-US" sz="950" dirty="0">
                <a:solidFill>
                  <a:srgbClr val="4A524D"/>
                </a:solidFill>
              </a:rPr>
              <a:t>배송</a:t>
            </a:r>
            <a:endParaRPr lang="en-US" sz="950" dirty="0"/>
          </a:p>
        </p:txBody>
      </p:sp>
      <p:sp>
        <p:nvSpPr>
          <p:cNvPr id="13" name="y axis bottom"/>
          <p:cNvSpPr txBox="1"/>
          <p:nvPr/>
        </p:nvSpPr>
        <p:spPr>
          <a:xfrm>
            <a:off x="411480" y="3794760"/>
            <a:ext cx="384048" cy="411480"/>
          </a:xfrm>
          <a:prstGeom prst="rect">
            <a:avLst/>
          </a:prstGeom>
          <a:noFill/>
          <a:ln/>
        </p:spPr>
        <p:txBody>
          <a:bodyPr wrap="square" lIns="0" tIns="0" rIns="0" bIns="0" rtlCol="0" anchor="ctr"/>
          <a:lstStyle/>
          <a:p>
            <a:pPr algn="r" indent="0" marL="0">
              <a:buNone/>
            </a:pPr>
            <a:r>
              <a:rPr lang="en-US" sz="950" dirty="0">
                <a:solidFill>
                  <a:srgbClr val="4A524D"/>
                </a:solidFill>
              </a:rPr>
              <a:t>동네</a:t>
            </a:r>
            <a:endParaRPr lang="en-US" sz="950" dirty="0"/>
          </a:p>
          <a:p>
            <a:pPr algn="r" indent="0" marL="0">
              <a:buNone/>
            </a:pPr>
            <a:r>
              <a:rPr lang="en-US" sz="950" dirty="0">
                <a:solidFill>
                  <a:srgbClr val="4A524D"/>
                </a:solidFill>
              </a:rPr>
              <a:t>상권</a:t>
            </a:r>
            <a:endParaRPr lang="en-US" sz="950" dirty="0"/>
          </a:p>
        </p:txBody>
      </p:sp>
      <p:sp>
        <p:nvSpPr>
          <p:cNvPr id="14" name="dot 레시피 앱·유튜브"/>
          <p:cNvSpPr/>
          <p:nvPr/>
        </p:nvSpPr>
        <p:spPr>
          <a:xfrm>
            <a:off x="1129284" y="2089404"/>
            <a:ext cx="118872" cy="118872"/>
          </a:xfrm>
          <a:prstGeom prst="ellipse">
            <a:avLst/>
          </a:prstGeom>
          <a:solidFill>
            <a:srgbClr val="7A837D"/>
          </a:solidFill>
          <a:ln w="12700">
            <a:solidFill>
              <a:srgbClr val="7A837D"/>
            </a:solidFill>
            <a:prstDash val="solid"/>
          </a:ln>
        </p:spPr>
      </p:sp>
      <p:sp>
        <p:nvSpPr>
          <p:cNvPr id="15" name="dot label 레시피 앱·유튜브"/>
          <p:cNvSpPr txBox="1"/>
          <p:nvPr/>
        </p:nvSpPr>
        <p:spPr>
          <a:xfrm>
            <a:off x="1303020" y="2011680"/>
            <a:ext cx="1737360" cy="274320"/>
          </a:xfrm>
          <a:prstGeom prst="rect">
            <a:avLst/>
          </a:prstGeom>
          <a:noFill/>
          <a:ln/>
        </p:spPr>
        <p:txBody>
          <a:bodyPr wrap="square" lIns="0" tIns="0" rIns="0" bIns="0" rtlCol="0" anchor="ctr"/>
          <a:lstStyle/>
          <a:p>
            <a:pPr indent="0" marL="0">
              <a:buNone/>
            </a:pPr>
            <a:r>
              <a:rPr lang="en-US" sz="950" dirty="0">
                <a:solidFill>
                  <a:srgbClr val="1F2421"/>
                </a:solidFill>
              </a:rPr>
              <a:t>레시피 앱·유튜브</a:t>
            </a:r>
            <a:endParaRPr lang="en-US" sz="950" dirty="0"/>
          </a:p>
        </p:txBody>
      </p:sp>
      <p:sp>
        <p:nvSpPr>
          <p:cNvPr id="16" name="dot 쿠팡·컬리"/>
          <p:cNvSpPr/>
          <p:nvPr/>
        </p:nvSpPr>
        <p:spPr>
          <a:xfrm>
            <a:off x="3689604" y="1952244"/>
            <a:ext cx="118872" cy="118872"/>
          </a:xfrm>
          <a:prstGeom prst="ellipse">
            <a:avLst/>
          </a:prstGeom>
          <a:solidFill>
            <a:srgbClr val="7A837D"/>
          </a:solidFill>
          <a:ln w="12700">
            <a:solidFill>
              <a:srgbClr val="7A837D"/>
            </a:solidFill>
            <a:prstDash val="solid"/>
          </a:ln>
        </p:spPr>
      </p:sp>
      <p:sp>
        <p:nvSpPr>
          <p:cNvPr id="17" name="dot label 쿠팡·컬리"/>
          <p:cNvSpPr txBox="1"/>
          <p:nvPr/>
        </p:nvSpPr>
        <p:spPr>
          <a:xfrm>
            <a:off x="3863340" y="1874520"/>
            <a:ext cx="1737360" cy="274320"/>
          </a:xfrm>
          <a:prstGeom prst="rect">
            <a:avLst/>
          </a:prstGeom>
          <a:noFill/>
          <a:ln/>
        </p:spPr>
        <p:txBody>
          <a:bodyPr wrap="square" lIns="0" tIns="0" rIns="0" bIns="0" rtlCol="0" anchor="ctr"/>
          <a:lstStyle/>
          <a:p>
            <a:pPr indent="0" marL="0">
              <a:buNone/>
            </a:pPr>
            <a:r>
              <a:rPr lang="en-US" sz="950" dirty="0">
                <a:solidFill>
                  <a:srgbClr val="1F2421"/>
                </a:solidFill>
              </a:rPr>
              <a:t>쿠팡·컬리</a:t>
            </a:r>
            <a:endParaRPr lang="en-US" sz="950" dirty="0"/>
          </a:p>
        </p:txBody>
      </p:sp>
      <p:sp>
        <p:nvSpPr>
          <p:cNvPr id="18" name="dot 어글리어스"/>
          <p:cNvSpPr/>
          <p:nvPr/>
        </p:nvSpPr>
        <p:spPr>
          <a:xfrm>
            <a:off x="3140964" y="2500884"/>
            <a:ext cx="118872" cy="118872"/>
          </a:xfrm>
          <a:prstGeom prst="ellipse">
            <a:avLst/>
          </a:prstGeom>
          <a:solidFill>
            <a:srgbClr val="7A837D"/>
          </a:solidFill>
          <a:ln w="12700">
            <a:solidFill>
              <a:srgbClr val="7A837D"/>
            </a:solidFill>
            <a:prstDash val="solid"/>
          </a:ln>
        </p:spPr>
      </p:sp>
      <p:sp>
        <p:nvSpPr>
          <p:cNvPr id="19" name="dot label 어글리어스"/>
          <p:cNvSpPr txBox="1"/>
          <p:nvPr/>
        </p:nvSpPr>
        <p:spPr>
          <a:xfrm>
            <a:off x="3314700" y="2423160"/>
            <a:ext cx="1737360" cy="274320"/>
          </a:xfrm>
          <a:prstGeom prst="rect">
            <a:avLst/>
          </a:prstGeom>
          <a:noFill/>
          <a:ln/>
        </p:spPr>
        <p:txBody>
          <a:bodyPr wrap="square" lIns="0" tIns="0" rIns="0" bIns="0" rtlCol="0" anchor="ctr"/>
          <a:lstStyle/>
          <a:p>
            <a:pPr indent="0" marL="0">
              <a:buNone/>
            </a:pPr>
            <a:r>
              <a:rPr lang="en-US" sz="950" dirty="0">
                <a:solidFill>
                  <a:srgbClr val="1F2421"/>
                </a:solidFill>
              </a:rPr>
              <a:t>어글리어스</a:t>
            </a:r>
            <a:endParaRPr lang="en-US" sz="950" dirty="0"/>
          </a:p>
        </p:txBody>
      </p:sp>
      <p:sp>
        <p:nvSpPr>
          <p:cNvPr id="20" name="dot 배민·네이버 시장 장보기"/>
          <p:cNvSpPr/>
          <p:nvPr/>
        </p:nvSpPr>
        <p:spPr>
          <a:xfrm>
            <a:off x="3049524" y="3415284"/>
            <a:ext cx="118872" cy="118872"/>
          </a:xfrm>
          <a:prstGeom prst="ellipse">
            <a:avLst/>
          </a:prstGeom>
          <a:solidFill>
            <a:srgbClr val="7A837D"/>
          </a:solidFill>
          <a:ln w="12700">
            <a:solidFill>
              <a:srgbClr val="7A837D"/>
            </a:solidFill>
            <a:prstDash val="solid"/>
          </a:ln>
        </p:spPr>
      </p:sp>
      <p:sp>
        <p:nvSpPr>
          <p:cNvPr id="21" name="dot label 배민·네이버 시장 장보기"/>
          <p:cNvSpPr txBox="1"/>
          <p:nvPr/>
        </p:nvSpPr>
        <p:spPr>
          <a:xfrm>
            <a:off x="3223260" y="3337560"/>
            <a:ext cx="1737360" cy="274320"/>
          </a:xfrm>
          <a:prstGeom prst="rect">
            <a:avLst/>
          </a:prstGeom>
          <a:noFill/>
          <a:ln/>
        </p:spPr>
        <p:txBody>
          <a:bodyPr wrap="square" lIns="0" tIns="0" rIns="0" bIns="0" rtlCol="0" anchor="ctr"/>
          <a:lstStyle/>
          <a:p>
            <a:pPr indent="0" marL="0">
              <a:buNone/>
            </a:pPr>
            <a:r>
              <a:rPr lang="en-US" sz="950" dirty="0">
                <a:solidFill>
                  <a:srgbClr val="1F2421"/>
                </a:solidFill>
              </a:rPr>
              <a:t>배민·네이버 시장 장보기</a:t>
            </a:r>
            <a:endParaRPr lang="en-US" sz="950" dirty="0"/>
          </a:p>
        </p:txBody>
      </p:sp>
      <p:sp>
        <p:nvSpPr>
          <p:cNvPr id="22" name="dot 당근"/>
          <p:cNvSpPr/>
          <p:nvPr/>
        </p:nvSpPr>
        <p:spPr>
          <a:xfrm>
            <a:off x="2912364" y="3918204"/>
            <a:ext cx="118872" cy="118872"/>
          </a:xfrm>
          <a:prstGeom prst="ellipse">
            <a:avLst/>
          </a:prstGeom>
          <a:solidFill>
            <a:srgbClr val="7A837D"/>
          </a:solidFill>
          <a:ln w="12700">
            <a:solidFill>
              <a:srgbClr val="7A837D"/>
            </a:solidFill>
            <a:prstDash val="solid"/>
          </a:ln>
        </p:spPr>
      </p:sp>
      <p:sp>
        <p:nvSpPr>
          <p:cNvPr id="23" name="dot label 당근"/>
          <p:cNvSpPr txBox="1"/>
          <p:nvPr/>
        </p:nvSpPr>
        <p:spPr>
          <a:xfrm>
            <a:off x="3086100" y="3840480"/>
            <a:ext cx="1737360" cy="274320"/>
          </a:xfrm>
          <a:prstGeom prst="rect">
            <a:avLst/>
          </a:prstGeom>
          <a:noFill/>
          <a:ln/>
        </p:spPr>
        <p:txBody>
          <a:bodyPr wrap="square" lIns="0" tIns="0" rIns="0" bIns="0" rtlCol="0" anchor="ctr"/>
          <a:lstStyle/>
          <a:p>
            <a:pPr indent="0" marL="0">
              <a:buNone/>
            </a:pPr>
            <a:r>
              <a:rPr lang="en-US" sz="950" dirty="0">
                <a:solidFill>
                  <a:srgbClr val="1F2421"/>
                </a:solidFill>
              </a:rPr>
              <a:t>당근</a:t>
            </a:r>
            <a:endParaRPr lang="en-US" sz="950" dirty="0"/>
          </a:p>
        </p:txBody>
      </p:sp>
      <p:sp>
        <p:nvSpPr>
          <p:cNvPr id="24" name="dot 나물로 (+ 상인 AI)"/>
          <p:cNvSpPr/>
          <p:nvPr/>
        </p:nvSpPr>
        <p:spPr>
          <a:xfrm>
            <a:off x="1280160" y="3611880"/>
            <a:ext cx="182880" cy="182880"/>
          </a:xfrm>
          <a:prstGeom prst="ellipse">
            <a:avLst/>
          </a:prstGeom>
          <a:solidFill>
            <a:srgbClr val="B8692B"/>
          </a:solidFill>
          <a:ln w="12700">
            <a:solidFill>
              <a:srgbClr val="B8692B"/>
            </a:solidFill>
            <a:prstDash val="solid"/>
          </a:ln>
        </p:spPr>
      </p:sp>
      <p:sp>
        <p:nvSpPr>
          <p:cNvPr id="25" name="dot label 나물로 (+ 상인 AI)"/>
          <p:cNvSpPr txBox="1"/>
          <p:nvPr/>
        </p:nvSpPr>
        <p:spPr>
          <a:xfrm>
            <a:off x="1517904" y="3566160"/>
            <a:ext cx="1737360" cy="274320"/>
          </a:xfrm>
          <a:prstGeom prst="rect">
            <a:avLst/>
          </a:prstGeom>
          <a:noFill/>
          <a:ln/>
        </p:spPr>
        <p:txBody>
          <a:bodyPr wrap="square" lIns="0" tIns="0" rIns="0" bIns="0" rtlCol="0" anchor="ctr"/>
          <a:lstStyle/>
          <a:p>
            <a:pPr indent="0" marL="0">
              <a:buNone/>
            </a:pPr>
            <a:r>
              <a:rPr lang="en-US" sz="1100" b="1" dirty="0">
                <a:solidFill>
                  <a:srgbClr val="B8692B"/>
                </a:solidFill>
              </a:rPr>
              <a:t>나물로 (+ 상인 AI)</a:t>
            </a:r>
            <a:endParaRPr lang="en-US" sz="1100" dirty="0"/>
          </a:p>
        </p:txBody>
      </p:sp>
      <p:sp>
        <p:nvSpPr>
          <p:cNvPr id="26" name="gap caption"/>
          <p:cNvSpPr txBox="1"/>
          <p:nvPr/>
        </p:nvSpPr>
        <p:spPr>
          <a:xfrm>
            <a:off x="978408" y="2994660"/>
            <a:ext cx="1828800" cy="411480"/>
          </a:xfrm>
          <a:prstGeom prst="rect">
            <a:avLst/>
          </a:prstGeom>
          <a:noFill/>
          <a:ln/>
        </p:spPr>
        <p:txBody>
          <a:bodyPr wrap="square" lIns="0" tIns="0" rIns="0" bIns="0" rtlCol="0" anchor="ctr"/>
          <a:lstStyle/>
          <a:p>
            <a:pPr indent="0" marL="0">
              <a:buNone/>
            </a:pPr>
            <a:r>
              <a:rPr lang="en-US" sz="900" b="1" dirty="0">
                <a:solidFill>
                  <a:srgbClr val="1E4D3A"/>
                </a:solidFill>
              </a:rPr>
              <a:t>공백 영역</a:t>
            </a:r>
            <a:endParaRPr lang="en-US" sz="900" dirty="0"/>
          </a:p>
          <a:p>
            <a:pPr indent="0" marL="0">
              <a:buNone/>
            </a:pPr>
            <a:r>
              <a:rPr lang="en-US" sz="900" dirty="0">
                <a:solidFill>
                  <a:srgbClr val="1E4D3A"/>
                </a:solidFill>
              </a:rPr>
              <a:t>수요 창출 → 동네 매장 구매</a:t>
            </a:r>
            <a:endParaRPr lang="en-US" sz="9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166360" y="1536192"/>
          <a:ext cx="3566160" cy="914400"/>
        </p:xfrm>
        <a:graphic>
          <a:graphicData uri="http://schemas.openxmlformats.org/drawingml/2006/table">
            <a:tbl>
              <a:tblPr/>
              <a:tblGrid>
                <a:gridCol w="960120"/>
                <a:gridCol w="1005840"/>
                <a:gridCol w="1600200"/>
              </a:tblGrid>
              <a:tr h="310896">
                <a:tc>
                  <a:txBody>
                    <a:bodyPr/>
                    <a:lstStyle/>
                    <a:p>
                      <a:pPr algn="ctr" indent="0" marL="0">
                        <a:buNone/>
                      </a:pPr>
                      <a:r>
                        <a:rPr lang="en-US" sz="1050" b="1" dirty="0">
                          <a:solidFill>
                            <a:srgbClr val="FFFFFF"/>
                          </a:solidFill>
                        </a:rPr>
                        <a:t>유형</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대표 서비스</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한계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58368">
                <a:tc>
                  <a:txBody>
                    <a:bodyPr/>
                    <a:lstStyle/>
                    <a:p>
                      <a:pPr algn="ctr" indent="0" marL="0">
                        <a:buNone/>
                      </a:pPr>
                      <a:r>
                        <a:rPr lang="en-US" sz="1000" b="1" dirty="0">
                          <a:solidFill>
                            <a:srgbClr val="1F2421"/>
                          </a:solidFill>
                        </a:rPr>
                        <a:t>전국 온라인몰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쿠팡·컬리</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한 단·택배 단위, 지역 상권과 무관</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731520">
                <a:tc>
                  <a:txBody>
                    <a:bodyPr/>
                    <a:lstStyle/>
                    <a:p>
                      <a:pPr algn="ctr" indent="0" marL="0">
                        <a:buNone/>
                      </a:pPr>
                      <a:r>
                        <a:rPr lang="en-US" sz="1000" b="1" dirty="0">
                          <a:solidFill>
                            <a:srgbClr val="1F2421"/>
                          </a:solidFill>
                        </a:rPr>
                        <a:t>시장 장보기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배민·네이버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구매 대행 중심, ‘왜·어떻게 먹는지’ 없음, 상인용 AI 도구 없음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58368">
                <a:tc>
                  <a:txBody>
                    <a:bodyPr/>
                    <a:lstStyle/>
                    <a:p>
                      <a:pPr algn="ctr" indent="0" marL="0">
                        <a:buNone/>
                      </a:pPr>
                      <a:r>
                        <a:rPr lang="en-US" sz="1000" b="1" dirty="0">
                          <a:solidFill>
                            <a:srgbClr val="1F2421"/>
                          </a:solidFill>
                        </a:rPr>
                        <a:t>레시피 콘텐츠</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만개의레시피·유튜브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시청에서 끝나고 구매로 이어지지 않음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58368">
                <a:tc>
                  <a:txBody>
                    <a:bodyPr/>
                    <a:lstStyle/>
                    <a:p>
                      <a:pPr algn="ctr" indent="0" marL="0">
                        <a:buNone/>
                      </a:pPr>
                      <a:r>
                        <a:rPr lang="en-US" sz="1000" b="1" dirty="0">
                          <a:solidFill>
                            <a:srgbClr val="1F2421"/>
                          </a:solidFill>
                        </a:rPr>
                        <a:t>채소 구독</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어글리어스</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전국 택배, 동네 매장·소량 손질 불가</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28"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각 사 서비스 소개 및 언론 보도 종합 (2026.10 기준) / 주: 포지셔닝은 자체 판단</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Ⅰ. 추진 배경</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왜 지금인가 (Why now)</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AI 비용이 메시지 1건에 수 원 수준으로 내려왔고 시장 디지털화가 검증된 지금, 동네 상인용 AI 도구의 공백을 채울 시점임</a:t>
            </a:r>
            <a:endParaRPr lang="en-US" sz="1250" dirty="0"/>
          </a:p>
        </p:txBody>
      </p:sp>
      <p:sp>
        <p:nvSpPr>
          <p:cNvPr id="6" name="why box 0"/>
          <p:cNvSpPr/>
          <p:nvPr/>
        </p:nvSpPr>
        <p:spPr>
          <a:xfrm>
            <a:off x="411480" y="1600200"/>
            <a:ext cx="1965960" cy="2331720"/>
          </a:xfrm>
          <a:prstGeom prst="rect">
            <a:avLst/>
          </a:prstGeom>
          <a:solidFill>
            <a:srgbClr val="E6F0EA"/>
          </a:solidFill>
          <a:ln w="12700">
            <a:solidFill>
              <a:srgbClr val="E6F0EA"/>
            </a:solidFill>
            <a:prstDash val="solid"/>
          </a:ln>
        </p:spPr>
      </p:sp>
      <p:sp>
        <p:nvSpPr>
          <p:cNvPr id="7" name="why num 0"/>
          <p:cNvSpPr txBox="1"/>
          <p:nvPr/>
        </p:nvSpPr>
        <p:spPr>
          <a:xfrm>
            <a:off x="576072" y="1719072"/>
            <a:ext cx="548640" cy="274320"/>
          </a:xfrm>
          <a:prstGeom prst="rect">
            <a:avLst/>
          </a:prstGeom>
          <a:noFill/>
          <a:ln/>
        </p:spPr>
        <p:txBody>
          <a:bodyPr wrap="square" lIns="0" tIns="0" rIns="0" bIns="0" rtlCol="0" anchor="ctr"/>
          <a:lstStyle/>
          <a:p>
            <a:pPr indent="0" marL="0">
              <a:buNone/>
            </a:pPr>
            <a:r>
              <a:rPr lang="en-US" sz="1100" b="1" dirty="0">
                <a:solidFill>
                  <a:srgbClr val="7A837D"/>
                </a:solidFill>
              </a:rPr>
              <a:t>01</a:t>
            </a:r>
            <a:endParaRPr lang="en-US" sz="1100" dirty="0"/>
          </a:p>
        </p:txBody>
      </p:sp>
      <p:sp>
        <p:nvSpPr>
          <p:cNvPr id="8" name="why head 0"/>
          <p:cNvSpPr txBox="1"/>
          <p:nvPr/>
        </p:nvSpPr>
        <p:spPr>
          <a:xfrm>
            <a:off x="576072" y="1993392"/>
            <a:ext cx="1691640" cy="292608"/>
          </a:xfrm>
          <a:prstGeom prst="rect">
            <a:avLst/>
          </a:prstGeom>
          <a:noFill/>
          <a:ln/>
        </p:spPr>
        <p:txBody>
          <a:bodyPr wrap="square" lIns="0" tIns="0" rIns="0" bIns="0" rtlCol="0" anchor="ctr"/>
          <a:lstStyle/>
          <a:p>
            <a:pPr indent="0" marL="0">
              <a:buNone/>
            </a:pPr>
            <a:r>
              <a:rPr lang="en-US" sz="1250" b="1" dirty="0">
                <a:solidFill>
                  <a:srgbClr val="1F2421"/>
                </a:solidFill>
              </a:rPr>
              <a:t>AI 비용 하락</a:t>
            </a:r>
            <a:endParaRPr lang="en-US" sz="1250" dirty="0"/>
          </a:p>
        </p:txBody>
      </p:sp>
      <p:sp>
        <p:nvSpPr>
          <p:cNvPr id="9" name="why value 0"/>
          <p:cNvSpPr txBox="1"/>
          <p:nvPr/>
        </p:nvSpPr>
        <p:spPr>
          <a:xfrm>
            <a:off x="576072" y="2359152"/>
            <a:ext cx="1737360" cy="548640"/>
          </a:xfrm>
          <a:prstGeom prst="rect">
            <a:avLst/>
          </a:prstGeom>
          <a:noFill/>
          <a:ln/>
        </p:spPr>
        <p:txBody>
          <a:bodyPr wrap="square" lIns="0" tIns="0" rIns="0" bIns="0" rtlCol="0" anchor="ctr"/>
          <a:lstStyle/>
          <a:p>
            <a:pPr indent="0" marL="0">
              <a:buNone/>
            </a:pPr>
            <a:r>
              <a:rPr lang="en-US" sz="2800" b="1" dirty="0">
                <a:solidFill>
                  <a:srgbClr val="B8692B"/>
                </a:solidFill>
              </a:rPr>
              <a:t>약 6원</a:t>
            </a:r>
            <a:endParaRPr lang="en-US" sz="2800" dirty="0"/>
          </a:p>
        </p:txBody>
      </p:sp>
      <p:sp>
        <p:nvSpPr>
          <p:cNvPr id="10" name="why desc 0"/>
          <p:cNvSpPr txBox="1"/>
          <p:nvPr/>
        </p:nvSpPr>
        <p:spPr>
          <a:xfrm>
            <a:off x="576072" y="3017520"/>
            <a:ext cx="1737360" cy="777240"/>
          </a:xfrm>
          <a:prstGeom prst="rect">
            <a:avLst/>
          </a:prstGeom>
          <a:noFill/>
          <a:ln/>
        </p:spPr>
        <p:txBody>
          <a:bodyPr wrap="square" lIns="0" tIns="0" rIns="0" bIns="0" rtlCol="0" anchor="ctr"/>
          <a:lstStyle/>
          <a:p>
            <a:pPr indent="0" marL="0">
              <a:buNone/>
            </a:pPr>
            <a:r>
              <a:rPr lang="en-US" sz="950" dirty="0">
                <a:solidFill>
                  <a:srgbClr val="4A524D"/>
                </a:solidFill>
              </a:rPr>
              <a:t>상인 메시지 1건 → 재고 데이터</a:t>
            </a:r>
            <a:endParaRPr lang="en-US" sz="950" dirty="0"/>
          </a:p>
          <a:p>
            <a:pPr indent="0" marL="0">
              <a:buNone/>
            </a:pPr>
            <a:r>
              <a:rPr lang="en-US" sz="950" dirty="0">
                <a:solidFill>
                  <a:srgbClr val="4A524D"/>
                </a:solidFill>
              </a:rPr>
              <a:t>(Claude Opus 5.5 기준, 경량 모델은 1원 미만)</a:t>
            </a:r>
            <a:endParaRPr lang="en-US" sz="950" dirty="0"/>
          </a:p>
        </p:txBody>
      </p:sp>
      <p:sp>
        <p:nvSpPr>
          <p:cNvPr id="11" name="why box 1"/>
          <p:cNvSpPr/>
          <p:nvPr/>
        </p:nvSpPr>
        <p:spPr>
          <a:xfrm>
            <a:off x="2514600" y="1600200"/>
            <a:ext cx="1965960" cy="2331720"/>
          </a:xfrm>
          <a:prstGeom prst="rect">
            <a:avLst/>
          </a:prstGeom>
          <a:solidFill>
            <a:srgbClr val="F2F4F2"/>
          </a:solidFill>
          <a:ln w="12700">
            <a:solidFill>
              <a:srgbClr val="F2F4F2"/>
            </a:solidFill>
            <a:prstDash val="solid"/>
          </a:ln>
        </p:spPr>
      </p:sp>
      <p:sp>
        <p:nvSpPr>
          <p:cNvPr id="12" name="why num 1"/>
          <p:cNvSpPr txBox="1"/>
          <p:nvPr/>
        </p:nvSpPr>
        <p:spPr>
          <a:xfrm>
            <a:off x="2679192" y="1719072"/>
            <a:ext cx="548640" cy="274320"/>
          </a:xfrm>
          <a:prstGeom prst="rect">
            <a:avLst/>
          </a:prstGeom>
          <a:noFill/>
          <a:ln/>
        </p:spPr>
        <p:txBody>
          <a:bodyPr wrap="square" lIns="0" tIns="0" rIns="0" bIns="0" rtlCol="0" anchor="ctr"/>
          <a:lstStyle/>
          <a:p>
            <a:pPr indent="0" marL="0">
              <a:buNone/>
            </a:pPr>
            <a:r>
              <a:rPr lang="en-US" sz="1100" b="1" dirty="0">
                <a:solidFill>
                  <a:srgbClr val="7A837D"/>
                </a:solidFill>
              </a:rPr>
              <a:t>02</a:t>
            </a:r>
            <a:endParaRPr lang="en-US" sz="1100" dirty="0"/>
          </a:p>
        </p:txBody>
      </p:sp>
      <p:sp>
        <p:nvSpPr>
          <p:cNvPr id="13" name="why head 1"/>
          <p:cNvSpPr txBox="1"/>
          <p:nvPr/>
        </p:nvSpPr>
        <p:spPr>
          <a:xfrm>
            <a:off x="2679192" y="1993392"/>
            <a:ext cx="1691640" cy="292608"/>
          </a:xfrm>
          <a:prstGeom prst="rect">
            <a:avLst/>
          </a:prstGeom>
          <a:noFill/>
          <a:ln/>
        </p:spPr>
        <p:txBody>
          <a:bodyPr wrap="square" lIns="0" tIns="0" rIns="0" bIns="0" rtlCol="0" anchor="ctr"/>
          <a:lstStyle/>
          <a:p>
            <a:pPr indent="0" marL="0">
              <a:buNone/>
            </a:pPr>
            <a:r>
              <a:rPr lang="en-US" sz="1250" b="1" dirty="0">
                <a:solidFill>
                  <a:srgbClr val="1F2421"/>
                </a:solidFill>
              </a:rPr>
              <a:t>수요 구조 변화</a:t>
            </a:r>
            <a:endParaRPr lang="en-US" sz="1250" dirty="0"/>
          </a:p>
        </p:txBody>
      </p:sp>
      <p:sp>
        <p:nvSpPr>
          <p:cNvPr id="14" name="why value 1"/>
          <p:cNvSpPr txBox="1"/>
          <p:nvPr/>
        </p:nvSpPr>
        <p:spPr>
          <a:xfrm>
            <a:off x="2679192" y="2359152"/>
            <a:ext cx="1737360" cy="548640"/>
          </a:xfrm>
          <a:prstGeom prst="rect">
            <a:avLst/>
          </a:prstGeom>
          <a:noFill/>
          <a:ln/>
        </p:spPr>
        <p:txBody>
          <a:bodyPr wrap="square" lIns="0" tIns="0" rIns="0" bIns="0" rtlCol="0" anchor="ctr"/>
          <a:lstStyle/>
          <a:p>
            <a:pPr indent="0" marL="0">
              <a:buNone/>
            </a:pPr>
            <a:r>
              <a:rPr lang="en-US" sz="2800" b="1" dirty="0">
                <a:solidFill>
                  <a:srgbClr val="1E4D3A"/>
                </a:solidFill>
              </a:rPr>
              <a:t>36.1%</a:t>
            </a:r>
            <a:endParaRPr lang="en-US" sz="2800" dirty="0"/>
          </a:p>
        </p:txBody>
      </p:sp>
      <p:sp>
        <p:nvSpPr>
          <p:cNvPr id="15" name="why desc 1"/>
          <p:cNvSpPr txBox="1"/>
          <p:nvPr/>
        </p:nvSpPr>
        <p:spPr>
          <a:xfrm>
            <a:off x="2679192" y="3017520"/>
            <a:ext cx="1737360" cy="777240"/>
          </a:xfrm>
          <a:prstGeom prst="rect">
            <a:avLst/>
          </a:prstGeom>
          <a:noFill/>
          <a:ln/>
        </p:spPr>
        <p:txBody>
          <a:bodyPr wrap="square" lIns="0" tIns="0" rIns="0" bIns="0" rtlCol="0" anchor="ctr"/>
          <a:lstStyle/>
          <a:p>
            <a:pPr indent="0" marL="0">
              <a:buNone/>
            </a:pPr>
            <a:r>
              <a:rPr lang="en-US" sz="950" dirty="0">
                <a:solidFill>
                  <a:srgbClr val="4A524D"/>
                </a:solidFill>
              </a:rPr>
              <a:t>1인 가구 비중 (2024)</a:t>
            </a:r>
            <a:endParaRPr lang="en-US" sz="950" dirty="0"/>
          </a:p>
          <a:p>
            <a:pPr indent="0" marL="0">
              <a:buNone/>
            </a:pPr>
            <a:r>
              <a:rPr lang="en-US" sz="950" dirty="0">
                <a:solidFill>
                  <a:srgbClr val="4A524D"/>
                </a:solidFill>
              </a:rPr>
              <a:t>온라인 식품 거래 40조 원 돌파</a:t>
            </a:r>
            <a:endParaRPr lang="en-US" sz="950" dirty="0"/>
          </a:p>
        </p:txBody>
      </p:sp>
      <p:sp>
        <p:nvSpPr>
          <p:cNvPr id="16" name="why box 2"/>
          <p:cNvSpPr/>
          <p:nvPr/>
        </p:nvSpPr>
        <p:spPr>
          <a:xfrm>
            <a:off x="4617720" y="1600200"/>
            <a:ext cx="1965960" cy="2331720"/>
          </a:xfrm>
          <a:prstGeom prst="rect">
            <a:avLst/>
          </a:prstGeom>
          <a:solidFill>
            <a:srgbClr val="F2F4F2"/>
          </a:solidFill>
          <a:ln w="12700">
            <a:solidFill>
              <a:srgbClr val="F2F4F2"/>
            </a:solidFill>
            <a:prstDash val="solid"/>
          </a:ln>
        </p:spPr>
      </p:sp>
      <p:sp>
        <p:nvSpPr>
          <p:cNvPr id="17" name="why num 2"/>
          <p:cNvSpPr txBox="1"/>
          <p:nvPr/>
        </p:nvSpPr>
        <p:spPr>
          <a:xfrm>
            <a:off x="4782312" y="1719072"/>
            <a:ext cx="548640" cy="274320"/>
          </a:xfrm>
          <a:prstGeom prst="rect">
            <a:avLst/>
          </a:prstGeom>
          <a:noFill/>
          <a:ln/>
        </p:spPr>
        <p:txBody>
          <a:bodyPr wrap="square" lIns="0" tIns="0" rIns="0" bIns="0" rtlCol="0" anchor="ctr"/>
          <a:lstStyle/>
          <a:p>
            <a:pPr indent="0" marL="0">
              <a:buNone/>
            </a:pPr>
            <a:r>
              <a:rPr lang="en-US" sz="1100" b="1" dirty="0">
                <a:solidFill>
                  <a:srgbClr val="7A837D"/>
                </a:solidFill>
              </a:rPr>
              <a:t>03</a:t>
            </a:r>
            <a:endParaRPr lang="en-US" sz="1100" dirty="0"/>
          </a:p>
        </p:txBody>
      </p:sp>
      <p:sp>
        <p:nvSpPr>
          <p:cNvPr id="18" name="why head 2"/>
          <p:cNvSpPr txBox="1"/>
          <p:nvPr/>
        </p:nvSpPr>
        <p:spPr>
          <a:xfrm>
            <a:off x="4782312" y="1993392"/>
            <a:ext cx="1691640" cy="292608"/>
          </a:xfrm>
          <a:prstGeom prst="rect">
            <a:avLst/>
          </a:prstGeom>
          <a:noFill/>
          <a:ln/>
        </p:spPr>
        <p:txBody>
          <a:bodyPr wrap="square" lIns="0" tIns="0" rIns="0" bIns="0" rtlCol="0" anchor="ctr"/>
          <a:lstStyle/>
          <a:p>
            <a:pPr indent="0" marL="0">
              <a:buNone/>
            </a:pPr>
            <a:r>
              <a:rPr lang="en-US" sz="1250" b="1" dirty="0">
                <a:solidFill>
                  <a:srgbClr val="1F2421"/>
                </a:solidFill>
              </a:rPr>
              <a:t>시장 디지털화 검증</a:t>
            </a:r>
            <a:endParaRPr lang="en-US" sz="1250" dirty="0"/>
          </a:p>
        </p:txBody>
      </p:sp>
      <p:sp>
        <p:nvSpPr>
          <p:cNvPr id="19" name="why value 2"/>
          <p:cNvSpPr txBox="1"/>
          <p:nvPr/>
        </p:nvSpPr>
        <p:spPr>
          <a:xfrm>
            <a:off x="4782312" y="2359152"/>
            <a:ext cx="1737360" cy="548640"/>
          </a:xfrm>
          <a:prstGeom prst="rect">
            <a:avLst/>
          </a:prstGeom>
          <a:noFill/>
          <a:ln/>
        </p:spPr>
        <p:txBody>
          <a:bodyPr wrap="square" lIns="0" tIns="0" rIns="0" bIns="0" rtlCol="0" anchor="ctr"/>
          <a:lstStyle/>
          <a:p>
            <a:pPr indent="0" marL="0">
              <a:buNone/>
            </a:pPr>
            <a:r>
              <a:rPr lang="en-US" sz="2800" b="1" dirty="0">
                <a:solidFill>
                  <a:srgbClr val="1E4D3A"/>
                </a:solidFill>
              </a:rPr>
              <a:t>+196%</a:t>
            </a:r>
            <a:endParaRPr lang="en-US" sz="2800" dirty="0"/>
          </a:p>
        </p:txBody>
      </p:sp>
      <p:sp>
        <p:nvSpPr>
          <p:cNvPr id="20" name="why desc 2"/>
          <p:cNvSpPr txBox="1"/>
          <p:nvPr/>
        </p:nvSpPr>
        <p:spPr>
          <a:xfrm>
            <a:off x="4782312" y="3017520"/>
            <a:ext cx="1737360" cy="777240"/>
          </a:xfrm>
          <a:prstGeom prst="rect">
            <a:avLst/>
          </a:prstGeom>
          <a:noFill/>
          <a:ln/>
        </p:spPr>
        <p:txBody>
          <a:bodyPr wrap="square" lIns="0" tIns="0" rIns="0" bIns="0" rtlCol="0" anchor="ctr"/>
          <a:lstStyle/>
          <a:p>
            <a:pPr indent="0" marL="0">
              <a:buNone/>
            </a:pPr>
            <a:r>
              <a:rPr lang="en-US" sz="950" dirty="0">
                <a:solidFill>
                  <a:srgbClr val="4A524D"/>
                </a:solidFill>
              </a:rPr>
              <a:t>배민 입점 전통시장 점포</a:t>
            </a:r>
            <a:endParaRPr lang="en-US" sz="950" dirty="0"/>
          </a:p>
          <a:p>
            <a:pPr indent="0" marL="0">
              <a:buNone/>
            </a:pPr>
            <a:r>
              <a:rPr lang="en-US" sz="950" dirty="0">
                <a:solidFill>
                  <a:srgbClr val="4A524D"/>
                </a:solidFill>
              </a:rPr>
              <a:t>1년 매출 증가 (2026.3 보도)</a:t>
            </a:r>
            <a:endParaRPr lang="en-US" sz="950" dirty="0"/>
          </a:p>
        </p:txBody>
      </p:sp>
      <p:sp>
        <p:nvSpPr>
          <p:cNvPr id="21" name="why box 3"/>
          <p:cNvSpPr/>
          <p:nvPr/>
        </p:nvSpPr>
        <p:spPr>
          <a:xfrm>
            <a:off x="6720840" y="1600200"/>
            <a:ext cx="1965960" cy="2331720"/>
          </a:xfrm>
          <a:prstGeom prst="rect">
            <a:avLst/>
          </a:prstGeom>
          <a:solidFill>
            <a:srgbClr val="F2F4F2"/>
          </a:solidFill>
          <a:ln w="12700">
            <a:solidFill>
              <a:srgbClr val="F2F4F2"/>
            </a:solidFill>
            <a:prstDash val="solid"/>
          </a:ln>
        </p:spPr>
      </p:sp>
      <p:sp>
        <p:nvSpPr>
          <p:cNvPr id="22" name="why num 3"/>
          <p:cNvSpPr txBox="1"/>
          <p:nvPr/>
        </p:nvSpPr>
        <p:spPr>
          <a:xfrm>
            <a:off x="6885432" y="1719072"/>
            <a:ext cx="548640" cy="274320"/>
          </a:xfrm>
          <a:prstGeom prst="rect">
            <a:avLst/>
          </a:prstGeom>
          <a:noFill/>
          <a:ln/>
        </p:spPr>
        <p:txBody>
          <a:bodyPr wrap="square" lIns="0" tIns="0" rIns="0" bIns="0" rtlCol="0" anchor="ctr"/>
          <a:lstStyle/>
          <a:p>
            <a:pPr indent="0" marL="0">
              <a:buNone/>
            </a:pPr>
            <a:r>
              <a:rPr lang="en-US" sz="1100" b="1" dirty="0">
                <a:solidFill>
                  <a:srgbClr val="7A837D"/>
                </a:solidFill>
              </a:rPr>
              <a:t>04</a:t>
            </a:r>
            <a:endParaRPr lang="en-US" sz="1100" dirty="0"/>
          </a:p>
        </p:txBody>
      </p:sp>
      <p:sp>
        <p:nvSpPr>
          <p:cNvPr id="23" name="why head 3"/>
          <p:cNvSpPr txBox="1"/>
          <p:nvPr/>
        </p:nvSpPr>
        <p:spPr>
          <a:xfrm>
            <a:off x="6885432" y="1993392"/>
            <a:ext cx="1691640" cy="292608"/>
          </a:xfrm>
          <a:prstGeom prst="rect">
            <a:avLst/>
          </a:prstGeom>
          <a:noFill/>
          <a:ln/>
        </p:spPr>
        <p:txBody>
          <a:bodyPr wrap="square" lIns="0" tIns="0" rIns="0" bIns="0" rtlCol="0" anchor="ctr"/>
          <a:lstStyle/>
          <a:p>
            <a:pPr indent="0" marL="0">
              <a:buNone/>
            </a:pPr>
            <a:r>
              <a:rPr lang="en-US" sz="1250" b="1" dirty="0">
                <a:solidFill>
                  <a:srgbClr val="1F2421"/>
                </a:solidFill>
              </a:rPr>
              <a:t>대형 플랫폼의 AI 전환</a:t>
            </a:r>
            <a:endParaRPr lang="en-US" sz="1250" dirty="0"/>
          </a:p>
        </p:txBody>
      </p:sp>
      <p:sp>
        <p:nvSpPr>
          <p:cNvPr id="24" name="why value 3"/>
          <p:cNvSpPr txBox="1"/>
          <p:nvPr/>
        </p:nvSpPr>
        <p:spPr>
          <a:xfrm>
            <a:off x="6885432" y="2359152"/>
            <a:ext cx="1737360" cy="548640"/>
          </a:xfrm>
          <a:prstGeom prst="rect">
            <a:avLst/>
          </a:prstGeom>
          <a:noFill/>
          <a:ln/>
        </p:spPr>
        <p:txBody>
          <a:bodyPr wrap="square" lIns="0" tIns="0" rIns="0" bIns="0" rtlCol="0" anchor="ctr"/>
          <a:lstStyle/>
          <a:p>
            <a:pPr indent="0" marL="0">
              <a:buNone/>
            </a:pPr>
            <a:r>
              <a:rPr lang="en-US" sz="2000" b="1" dirty="0">
                <a:solidFill>
                  <a:srgbClr val="1E4D3A"/>
                </a:solidFill>
              </a:rPr>
              <a:t>컬리·오아시스</a:t>
            </a:r>
            <a:endParaRPr lang="en-US" sz="2000" dirty="0"/>
          </a:p>
        </p:txBody>
      </p:sp>
      <p:sp>
        <p:nvSpPr>
          <p:cNvPr id="25" name="why desc 3"/>
          <p:cNvSpPr txBox="1"/>
          <p:nvPr/>
        </p:nvSpPr>
        <p:spPr>
          <a:xfrm>
            <a:off x="6885432" y="3017520"/>
            <a:ext cx="1737360" cy="777240"/>
          </a:xfrm>
          <a:prstGeom prst="rect">
            <a:avLst/>
          </a:prstGeom>
          <a:noFill/>
          <a:ln/>
        </p:spPr>
        <p:txBody>
          <a:bodyPr wrap="square" lIns="0" tIns="0" rIns="0" bIns="0" rtlCol="0" anchor="ctr"/>
          <a:lstStyle/>
          <a:p>
            <a:pPr indent="0" marL="0">
              <a:buNone/>
            </a:pPr>
            <a:r>
              <a:rPr lang="en-US" sz="950" dirty="0">
                <a:solidFill>
                  <a:srgbClr val="4A524D"/>
                </a:solidFill>
              </a:rPr>
              <a:t>AI 인수 · AI 쇼핑 비서</a:t>
            </a:r>
            <a:endParaRPr lang="en-US" sz="950" dirty="0"/>
          </a:p>
          <a:p>
            <a:pPr indent="0" marL="0">
              <a:buNone/>
            </a:pPr>
            <a:r>
              <a:rPr lang="en-US" sz="950" dirty="0">
                <a:solidFill>
                  <a:srgbClr val="4A524D"/>
                </a:solidFill>
              </a:rPr>
              <a:t>동네 상인에겐 아직 없음</a:t>
            </a:r>
            <a:endParaRPr lang="en-US" sz="950" dirty="0"/>
          </a:p>
        </p:txBody>
      </p:sp>
      <p:sp>
        <p:nvSpPr>
          <p:cNvPr id="26" name="why band"/>
          <p:cNvSpPr/>
          <p:nvPr/>
        </p:nvSpPr>
        <p:spPr>
          <a:xfrm>
            <a:off x="411480" y="4069080"/>
            <a:ext cx="8321040" cy="438912"/>
          </a:xfrm>
          <a:prstGeom prst="rect">
            <a:avLst/>
          </a:prstGeom>
          <a:solidFill>
            <a:srgbClr val="1E4D3A"/>
          </a:solidFill>
          <a:ln w="12700">
            <a:solidFill>
              <a:srgbClr val="1E4D3A"/>
            </a:solidFill>
            <a:prstDash val="solid"/>
          </a:ln>
        </p:spPr>
      </p:sp>
      <p:sp>
        <p:nvSpPr>
          <p:cNvPr id="27" name="why band text"/>
          <p:cNvSpPr txBox="1"/>
          <p:nvPr/>
        </p:nvSpPr>
        <p:spPr>
          <a:xfrm>
            <a:off x="594360" y="4069080"/>
            <a:ext cx="7955280" cy="438912"/>
          </a:xfrm>
          <a:prstGeom prst="rect">
            <a:avLst/>
          </a:prstGeom>
          <a:noFill/>
          <a:ln/>
        </p:spPr>
        <p:txBody>
          <a:bodyPr wrap="square" lIns="0" tIns="0" rIns="0" bIns="0" rtlCol="0" anchor="ctr"/>
          <a:lstStyle/>
          <a:p>
            <a:pPr indent="0" marL="0">
              <a:buNone/>
            </a:pPr>
            <a:r>
              <a:rPr lang="en-US" sz="1200" b="1" dirty="0">
                <a:solidFill>
                  <a:srgbClr val="FFFFFF"/>
                </a:solidFill>
              </a:rPr>
              <a:t>소규모 팀도 AI로 상인용 도구를 만들고 운영할 수 있는 비용 구조가 처음 갖춰졌다</a:t>
            </a:r>
            <a:endParaRPr lang="en-US" sz="1200" dirty="0"/>
          </a:p>
        </p:txBody>
      </p:sp>
      <p:sp>
        <p:nvSpPr>
          <p:cNvPr id="28"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Anthropic 가격표(2026.10, 1달러=1,400원 가정, p.18), 국가데이터처(2025.12), 머니투데이(2026.03), 뉴데일리(2025.07)·뉴스웨이(2026.06) 보도</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서비스 구조</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정보 탐색부터 동네 매장 구매까지 3단계를 하나의 흐름으로 잇고, 단계마다 AI가 붙어 선택과 운영을 돕는 구조임</a:t>
            </a:r>
            <a:endParaRPr lang="en-US" sz="1250" dirty="0"/>
          </a:p>
        </p:txBody>
      </p:sp>
      <p:sp>
        <p:nvSpPr>
          <p:cNvPr id="6" name="step 01  알고"/>
          <p:cNvSpPr/>
          <p:nvPr/>
        </p:nvSpPr>
        <p:spPr>
          <a:xfrm>
            <a:off x="1600200" y="1536192"/>
            <a:ext cx="2331720" cy="457200"/>
          </a:xfrm>
          <a:prstGeom prst="homePlate">
            <a:avLst/>
          </a:prstGeom>
          <a:solidFill>
            <a:srgbClr val="3F7F5F"/>
          </a:solidFill>
          <a:ln w="12700">
            <a:solidFill>
              <a:srgbClr val="3F7F5F"/>
            </a:solidFill>
            <a:prstDash val="solid"/>
          </a:ln>
        </p:spPr>
      </p:sp>
      <p:sp>
        <p:nvSpPr>
          <p:cNvPr id="7" name="step text 01  알고"/>
          <p:cNvSpPr txBox="1"/>
          <p:nvPr/>
        </p:nvSpPr>
        <p:spPr>
          <a:xfrm>
            <a:off x="1737360" y="1536192"/>
            <a:ext cx="2011680" cy="457200"/>
          </a:xfrm>
          <a:prstGeom prst="rect">
            <a:avLst/>
          </a:prstGeom>
          <a:noFill/>
          <a:ln/>
        </p:spPr>
        <p:txBody>
          <a:bodyPr wrap="square" lIns="0" tIns="0" rIns="0" bIns="0" rtlCol="0" anchor="ctr"/>
          <a:lstStyle/>
          <a:p>
            <a:pPr indent="0" marL="0">
              <a:buNone/>
            </a:pPr>
            <a:r>
              <a:rPr lang="en-US" sz="1200" b="1" dirty="0">
                <a:solidFill>
                  <a:srgbClr val="FFFFFF"/>
                </a:solidFill>
              </a:rPr>
              <a:t>01  알고  </a:t>
            </a:r>
            <a:pPr indent="0" marL="0">
              <a:buNone/>
            </a:pPr>
            <a:r>
              <a:rPr lang="en-US" sz="1200" dirty="0">
                <a:solidFill>
                  <a:srgbClr val="FFFFFF"/>
                </a:solidFill>
              </a:rPr>
              <a:t>· 나물 도감</a:t>
            </a:r>
            <a:endParaRPr lang="en-US" sz="1200" dirty="0"/>
          </a:p>
        </p:txBody>
      </p:sp>
      <p:sp>
        <p:nvSpPr>
          <p:cNvPr id="8" name="step 02  고르고"/>
          <p:cNvSpPr/>
          <p:nvPr/>
        </p:nvSpPr>
        <p:spPr>
          <a:xfrm>
            <a:off x="3977640" y="1536192"/>
            <a:ext cx="2331720" cy="457200"/>
          </a:xfrm>
          <a:prstGeom prst="homePlate">
            <a:avLst/>
          </a:prstGeom>
          <a:solidFill>
            <a:srgbClr val="3F7F5F"/>
          </a:solidFill>
          <a:ln w="12700">
            <a:solidFill>
              <a:srgbClr val="3F7F5F"/>
            </a:solidFill>
            <a:prstDash val="solid"/>
          </a:ln>
        </p:spPr>
      </p:sp>
      <p:sp>
        <p:nvSpPr>
          <p:cNvPr id="9" name="step text 02  고르고"/>
          <p:cNvSpPr txBox="1"/>
          <p:nvPr/>
        </p:nvSpPr>
        <p:spPr>
          <a:xfrm>
            <a:off x="4114800" y="1536192"/>
            <a:ext cx="2011680" cy="457200"/>
          </a:xfrm>
          <a:prstGeom prst="rect">
            <a:avLst/>
          </a:prstGeom>
          <a:noFill/>
          <a:ln/>
        </p:spPr>
        <p:txBody>
          <a:bodyPr wrap="square" lIns="0" tIns="0" rIns="0" bIns="0" rtlCol="0" anchor="ctr"/>
          <a:lstStyle/>
          <a:p>
            <a:pPr indent="0" marL="0">
              <a:buNone/>
            </a:pPr>
            <a:r>
              <a:rPr lang="en-US" sz="1200" b="1" dirty="0">
                <a:solidFill>
                  <a:srgbClr val="FFFFFF"/>
                </a:solidFill>
              </a:rPr>
              <a:t>02  고르고  </a:t>
            </a:r>
            <a:pPr indent="0" marL="0">
              <a:buNone/>
            </a:pPr>
            <a:r>
              <a:rPr lang="en-US" sz="1200" dirty="0">
                <a:solidFill>
                  <a:srgbClr val="FFFFFF"/>
                </a:solidFill>
              </a:rPr>
              <a:t>· 레시피 허브</a:t>
            </a:r>
            <a:endParaRPr lang="en-US" sz="1200" dirty="0"/>
          </a:p>
        </p:txBody>
      </p:sp>
      <p:sp>
        <p:nvSpPr>
          <p:cNvPr id="10" name="step 03  산다"/>
          <p:cNvSpPr/>
          <p:nvPr/>
        </p:nvSpPr>
        <p:spPr>
          <a:xfrm>
            <a:off x="6355080" y="1536192"/>
            <a:ext cx="2331720" cy="457200"/>
          </a:xfrm>
          <a:prstGeom prst="homePlate">
            <a:avLst/>
          </a:prstGeom>
          <a:solidFill>
            <a:srgbClr val="1E4D3A"/>
          </a:solidFill>
          <a:ln w="12700">
            <a:solidFill>
              <a:srgbClr val="1E4D3A"/>
            </a:solidFill>
            <a:prstDash val="solid"/>
          </a:ln>
        </p:spPr>
      </p:sp>
      <p:sp>
        <p:nvSpPr>
          <p:cNvPr id="11" name="step text 03  산다"/>
          <p:cNvSpPr txBox="1"/>
          <p:nvPr/>
        </p:nvSpPr>
        <p:spPr>
          <a:xfrm>
            <a:off x="6492240" y="1536192"/>
            <a:ext cx="2011680" cy="457200"/>
          </a:xfrm>
          <a:prstGeom prst="rect">
            <a:avLst/>
          </a:prstGeom>
          <a:noFill/>
          <a:ln/>
        </p:spPr>
        <p:txBody>
          <a:bodyPr wrap="square" lIns="0" tIns="0" rIns="0" bIns="0" rtlCol="0" anchor="ctr"/>
          <a:lstStyle/>
          <a:p>
            <a:pPr indent="0" marL="0">
              <a:buNone/>
            </a:pPr>
            <a:r>
              <a:rPr lang="en-US" sz="1200" b="1" dirty="0">
                <a:solidFill>
                  <a:srgbClr val="FFFFFF"/>
                </a:solidFill>
              </a:rPr>
              <a:t>03  산다  </a:t>
            </a:r>
            <a:pPr indent="0" marL="0">
              <a:buNone/>
            </a:pPr>
            <a:r>
              <a:rPr lang="en-US" sz="1200" dirty="0">
                <a:solidFill>
                  <a:srgbClr val="FFFFFF"/>
                </a:solidFill>
              </a:rPr>
              <a:t>· 동네 매장 주문</a:t>
            </a:r>
            <a:endParaRPr lang="en-US" sz="1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11480" y="2084832"/>
          <a:ext cx="8321040" cy="914400"/>
        </p:xfrm>
        <a:graphic>
          <a:graphicData uri="http://schemas.openxmlformats.org/drawingml/2006/table">
            <a:tbl>
              <a:tblPr/>
              <a:tblGrid>
                <a:gridCol w="1188720"/>
                <a:gridCol w="2377440"/>
                <a:gridCol w="2377440"/>
                <a:gridCol w="2377440"/>
              </a:tblGrid>
              <a:tr h="914400">
                <a:tc>
                  <a:txBody>
                    <a:bodyPr/>
                    <a:lstStyle/>
                    <a:p>
                      <a:pPr algn="ctr" indent="0" marL="0">
                        <a:buNone/>
                      </a:pPr>
                      <a:r>
                        <a:rPr lang="en-US" sz="1050" b="1" dirty="0">
                          <a:solidFill>
                            <a:srgbClr val="1F2421"/>
                          </a:solidFill>
                        </a:rPr>
                        <a:t>제공 기능</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50" dirty="0">
                          <a:solidFill>
                            <a:srgbClr val="1F2421"/>
                          </a:solidFill>
                        </a:rPr>
                        <a:t>나물 60여 종 분류·제철·데침 시간</a:t>
                      </a:r>
                      <a:endParaRPr lang="en-US" sz="1050" dirty="0"/>
                    </a:p>
                    <a:p>
                      <a:pPr algn="l" indent="0" marL="0">
                        <a:buNone/>
                      </a:pPr>
                      <a:r>
                        <a:rPr lang="en-US" sz="1050" dirty="0">
                          <a:solidFill>
                            <a:srgbClr val="1F2421"/>
                          </a:solidFill>
                        </a:rPr>
                        <a:t>‘꼭 데쳐 먹는 나물’ 안전 표시</a:t>
                      </a:r>
                      <a:endParaRPr lang="en-US" sz="1050" dirty="0"/>
                    </a:p>
                    <a:p>
                      <a:pPr algn="l" indent="0" marL="0">
                        <a:buNone/>
                      </a:pPr>
                      <a:r>
                        <a:rPr lang="en-US" sz="1050" dirty="0">
                          <a:solidFill>
                            <a:srgbClr val="1F2421"/>
                          </a:solidFill>
                        </a:rPr>
                        <a:t>아이 선호도 지수</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나물별 영상 레시피 큐레이션</a:t>
                      </a:r>
                      <a:endParaRPr lang="en-US" sz="1050" dirty="0"/>
                    </a:p>
                    <a:p>
                      <a:pPr algn="l" indent="0" marL="0">
                        <a:buNone/>
                      </a:pPr>
                      <a:r>
                        <a:rPr lang="en-US" sz="1050" dirty="0">
                          <a:solidFill>
                            <a:srgbClr val="1F2421"/>
                          </a:solidFill>
                        </a:rPr>
                        <a:t>다듬기 → 데치기 → 무치기 구간 이동</a:t>
                      </a:r>
                      <a:endParaRPr lang="en-US" sz="1050" dirty="0"/>
                    </a:p>
                    <a:p>
                      <a:pPr algn="l" indent="0" marL="0">
                        <a:buNone/>
                      </a:pPr>
                      <a:r>
                        <a:rPr lang="en-US" sz="1050" dirty="0">
                          <a:solidFill>
                            <a:srgbClr val="1F2421"/>
                          </a:solidFill>
                        </a:rPr>
                        <a:t>영상 아래 ‘재료 담기’</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421"/>
                          </a:solidFill>
                        </a:rPr>
                        <a:t>반경 3km 시장·직매장·반찬가게</a:t>
                      </a:r>
                      <a:endParaRPr lang="en-US" sz="1050" dirty="0"/>
                    </a:p>
                    <a:p>
                      <a:pPr algn="l" indent="0" marL="0">
                        <a:buNone/>
                      </a:pPr>
                      <a:r>
                        <a:rPr lang="en-US" sz="1050" dirty="0">
                          <a:solidFill>
                            <a:srgbClr val="1F2421"/>
                          </a:solidFill>
                        </a:rPr>
                        <a:t>생나물 / 손질 / 데침 옵션</a:t>
                      </a:r>
                      <a:endParaRPr lang="en-US" sz="1050" dirty="0"/>
                    </a:p>
                    <a:p>
                      <a:pPr algn="l" indent="0" marL="0">
                        <a:buNone/>
                      </a:pPr>
                      <a:r>
                        <a:rPr lang="en-US" sz="1050" dirty="0">
                          <a:solidFill>
                            <a:srgbClr val="1F2421"/>
                          </a:solidFill>
                        </a:rPr>
                        <a:t>예약 픽업 · 근거리 배달</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84048">
                <a:tc>
                  <a:txBody>
                    <a:bodyPr/>
                    <a:lstStyle/>
                    <a:p>
                      <a:pPr algn="ctr" indent="0" marL="0">
                        <a:buNone/>
                      </a:pPr>
                      <a:r>
                        <a:rPr lang="en-US" sz="1050" b="1" dirty="0">
                          <a:solidFill>
                            <a:srgbClr val="1E4D3A"/>
                          </a:solidFill>
                        </a:rPr>
                        <a:t>AI 엔진</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050" b="1" dirty="0">
                          <a:solidFill>
                            <a:srgbClr val="1E4D3A"/>
                          </a:solidFill>
                        </a:rPr>
                        <a:t>AI 셰프 (질문·사진 → 추천)</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050" b="1" dirty="0">
                          <a:solidFill>
                            <a:srgbClr val="1E4D3A"/>
                          </a:solidFill>
                        </a:rPr>
                        <a:t>레시피 자동 구조화</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050" b="1" dirty="0">
                          <a:solidFill>
                            <a:srgbClr val="1E4D3A"/>
                          </a:solidFill>
                        </a:rPr>
                        <a:t>AI 상인 비서 · 수요 예측</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84048">
                <a:tc>
                  <a:txBody>
                    <a:bodyPr/>
                    <a:lstStyle/>
                    <a:p>
                      <a:pPr algn="ctr" indent="0" marL="0">
                        <a:buNone/>
                      </a:pPr>
                      <a:r>
                        <a:rPr lang="en-US" sz="1050" b="1" dirty="0">
                          <a:solidFill>
                            <a:srgbClr val="1F2421"/>
                          </a:solidFill>
                        </a:rPr>
                        <a:t>해결 과제</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50" b="1" dirty="0">
                          <a:solidFill>
                            <a:srgbClr val="1E4D3A"/>
                          </a:solidFill>
                        </a:rPr>
                        <a:t>정보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4D3A"/>
                          </a:solidFill>
                        </a:rPr>
                        <a:t>조리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4D3A"/>
                          </a:solidFill>
                        </a:rPr>
                        <a:t>구매 장벽</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13" name="subscription band"/>
          <p:cNvSpPr/>
          <p:nvPr/>
        </p:nvSpPr>
        <p:spPr>
          <a:xfrm>
            <a:off x="411480" y="4005072"/>
            <a:ext cx="8321040" cy="502920"/>
          </a:xfrm>
          <a:prstGeom prst="rect">
            <a:avLst/>
          </a:prstGeom>
          <a:solidFill>
            <a:srgbClr val="F2F4F2"/>
          </a:solidFill>
          <a:ln w="12700">
            <a:solidFill>
              <a:srgbClr val="F2F4F2"/>
            </a:solidFill>
            <a:prstDash val="solid"/>
          </a:ln>
        </p:spPr>
      </p:sp>
      <p:sp>
        <p:nvSpPr>
          <p:cNvPr id="14" name="subscription text"/>
          <p:cNvSpPr txBox="1"/>
          <p:nvPr/>
        </p:nvSpPr>
        <p:spPr>
          <a:xfrm>
            <a:off x="594360" y="4005072"/>
            <a:ext cx="8046720" cy="502920"/>
          </a:xfrm>
          <a:prstGeom prst="rect">
            <a:avLst/>
          </a:prstGeom>
          <a:noFill/>
          <a:ln/>
        </p:spPr>
        <p:txBody>
          <a:bodyPr wrap="square" lIns="0" tIns="0" rIns="0" bIns="0" rtlCol="0" anchor="ctr"/>
          <a:lstStyle/>
          <a:p>
            <a:pPr indent="0" marL="0">
              <a:buNone/>
            </a:pPr>
            <a:r>
              <a:rPr lang="en-US" sz="1050" b="1" dirty="0">
                <a:solidFill>
                  <a:srgbClr val="1E4D3A"/>
                </a:solidFill>
              </a:rPr>
              <a:t>＋ 제철 나물 꾸러미 구독</a:t>
            </a:r>
            <a:pPr indent="0" marL="0">
              <a:buNone/>
            </a:pPr>
            <a:r>
              <a:rPr lang="en-US" sz="1050" dirty="0">
                <a:solidFill>
                  <a:srgbClr val="1F2421"/>
                </a:solidFill>
              </a:rPr>
              <a:t>     주 1회 제철 3종 + 양념 + 레시피 카드 · 대보름 9나물 · 봄 산나물 한정판  →  재구매 고정</a:t>
            </a:r>
            <a:endParaRPr lang="en-US" sz="1050" dirty="0"/>
          </a:p>
        </p:txBody>
      </p:sp>
      <p:sp>
        <p:nvSpPr>
          <p:cNvPr id="15"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나물 분류·안전 표시는 식약처 안내와 나물 문헌 기반 (부록 · 도메인 리서치 문서)</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AI 엔진 4종</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AI 엔진 4종이 소비자의 선택과 상인의 운영을 동시에 돕고, 거래 데이터가 쌓일수록 정확해지는 구조임</a:t>
            </a:r>
            <a:endParaRPr lang="en-US" sz="1250" dirty="0"/>
          </a:p>
        </p:txBody>
      </p:sp>
      <p:sp>
        <p:nvSpPr>
          <p:cNvPr id="6" name="consumer box"/>
          <p:cNvSpPr/>
          <p:nvPr/>
        </p:nvSpPr>
        <p:spPr>
          <a:xfrm>
            <a:off x="411480" y="1600200"/>
            <a:ext cx="1463040" cy="2286000"/>
          </a:xfrm>
          <a:prstGeom prst="rect">
            <a:avLst/>
          </a:prstGeom>
          <a:solidFill>
            <a:srgbClr val="F2F4F2"/>
          </a:solidFill>
          <a:ln w="9525">
            <a:solidFill>
              <a:srgbClr val="D9DED9"/>
            </a:solidFill>
            <a:prstDash val="solid"/>
          </a:ln>
        </p:spPr>
      </p:sp>
      <p:sp>
        <p:nvSpPr>
          <p:cNvPr id="7" name="consumer box title"/>
          <p:cNvSpPr txBox="1"/>
          <p:nvPr/>
        </p:nvSpPr>
        <p:spPr>
          <a:xfrm>
            <a:off x="521208" y="1691640"/>
            <a:ext cx="1280160" cy="274320"/>
          </a:xfrm>
          <a:prstGeom prst="rect">
            <a:avLst/>
          </a:prstGeom>
          <a:noFill/>
          <a:ln/>
        </p:spPr>
        <p:txBody>
          <a:bodyPr wrap="square" lIns="0" tIns="0" rIns="0" bIns="0" rtlCol="0" anchor="ctr"/>
          <a:lstStyle/>
          <a:p>
            <a:pPr algn="ctr" indent="0" marL="0">
              <a:buNone/>
            </a:pPr>
            <a:r>
              <a:rPr lang="en-US" sz="1200" b="1" dirty="0">
                <a:solidFill>
                  <a:srgbClr val="1F2421"/>
                </a:solidFill>
              </a:rPr>
              <a:t>소비자</a:t>
            </a:r>
            <a:endParaRPr lang="en-US" sz="1200" dirty="0"/>
          </a:p>
        </p:txBody>
      </p:sp>
      <p:sp>
        <p:nvSpPr>
          <p:cNvPr id="8" name="consumer box lines"/>
          <p:cNvSpPr txBox="1"/>
          <p:nvPr/>
        </p:nvSpPr>
        <p:spPr>
          <a:xfrm>
            <a:off x="521208" y="2057400"/>
            <a:ext cx="1280160" cy="1737360"/>
          </a:xfrm>
          <a:prstGeom prst="rect">
            <a:avLst/>
          </a:prstGeom>
          <a:noFill/>
          <a:ln/>
        </p:spPr>
        <p:txBody>
          <a:bodyPr wrap="square" lIns="0" tIns="0" rIns="0" bIns="0" rtlCol="0" anchor="ctr"/>
          <a:lstStyle/>
          <a:p>
            <a:pPr algn="ctr" indent="0" marL="0">
              <a:spcAft>
                <a:spcPts val="600"/>
              </a:spcAft>
              <a:buNone/>
            </a:pPr>
            <a:r>
              <a:rPr lang="en-US" sz="950" dirty="0">
                <a:solidFill>
                  <a:srgbClr val="4A524D"/>
                </a:solidFill>
              </a:rPr>
              <a:t>질문 한 줄</a:t>
            </a:r>
            <a:endParaRPr lang="en-US" sz="950" dirty="0"/>
          </a:p>
          <a:p>
            <a:pPr algn="ctr" indent="0" marL="0">
              <a:spcAft>
                <a:spcPts val="600"/>
              </a:spcAft>
              <a:buNone/>
            </a:pPr>
            <a:r>
              <a:rPr lang="en-US" sz="950" dirty="0">
                <a:solidFill>
                  <a:srgbClr val="4A524D"/>
                </a:solidFill>
              </a:rPr>
              <a:t>냉장고 사진</a:t>
            </a:r>
            <a:endParaRPr lang="en-US" sz="950" dirty="0"/>
          </a:p>
          <a:p>
            <a:pPr algn="ctr" indent="0" marL="0">
              <a:spcAft>
                <a:spcPts val="600"/>
              </a:spcAft>
              <a:buNone/>
            </a:pPr>
            <a:r>
              <a:rPr lang="en-US" sz="950" dirty="0">
                <a:solidFill>
                  <a:srgbClr val="4A524D"/>
                </a:solidFill>
              </a:rPr>
              <a:t>주문 · 픽업</a:t>
            </a:r>
            <a:endParaRPr lang="en-US" sz="950" dirty="0"/>
          </a:p>
          <a:p>
            <a:pPr algn="ctr" indent="0" marL="0">
              <a:spcAft>
                <a:spcPts val="600"/>
              </a:spcAft>
              <a:buNone/>
            </a:pPr>
            <a:r>
              <a:rPr lang="en-US" sz="950" dirty="0">
                <a:solidFill>
                  <a:srgbClr val="4A524D"/>
                </a:solidFill>
              </a:rPr>
              <a:t>‘우리 아이</a:t>
            </a:r>
            <a:endParaRPr lang="en-US" sz="950" dirty="0"/>
          </a:p>
          <a:p>
            <a:pPr algn="ctr" indent="0" marL="0">
              <a:spcAft>
                <a:spcPts val="600"/>
              </a:spcAft>
              <a:buNone/>
            </a:pPr>
            <a:r>
              <a:rPr lang="en-US" sz="950" dirty="0">
                <a:solidFill>
                  <a:srgbClr val="4A524D"/>
                </a:solidFill>
              </a:rPr>
              <a:t>먹었어요’</a:t>
            </a:r>
            <a:endParaRPr lang="en-US" sz="950" dirty="0"/>
          </a:p>
        </p:txBody>
      </p:sp>
      <p:sp>
        <p:nvSpPr>
          <p:cNvPr id="9" name="merchant box"/>
          <p:cNvSpPr/>
          <p:nvPr/>
        </p:nvSpPr>
        <p:spPr>
          <a:xfrm>
            <a:off x="7269480" y="1600200"/>
            <a:ext cx="1463040" cy="2286000"/>
          </a:xfrm>
          <a:prstGeom prst="rect">
            <a:avLst/>
          </a:prstGeom>
          <a:solidFill>
            <a:srgbClr val="F2F4F2"/>
          </a:solidFill>
          <a:ln w="9525">
            <a:solidFill>
              <a:srgbClr val="D9DED9"/>
            </a:solidFill>
            <a:prstDash val="solid"/>
          </a:ln>
        </p:spPr>
      </p:sp>
      <p:sp>
        <p:nvSpPr>
          <p:cNvPr id="10" name="merchant box title"/>
          <p:cNvSpPr txBox="1"/>
          <p:nvPr/>
        </p:nvSpPr>
        <p:spPr>
          <a:xfrm>
            <a:off x="7379208" y="1691640"/>
            <a:ext cx="1280160" cy="274320"/>
          </a:xfrm>
          <a:prstGeom prst="rect">
            <a:avLst/>
          </a:prstGeom>
          <a:noFill/>
          <a:ln/>
        </p:spPr>
        <p:txBody>
          <a:bodyPr wrap="square" lIns="0" tIns="0" rIns="0" bIns="0" rtlCol="0" anchor="ctr"/>
          <a:lstStyle/>
          <a:p>
            <a:pPr algn="ctr" indent="0" marL="0">
              <a:buNone/>
            </a:pPr>
            <a:r>
              <a:rPr lang="en-US" sz="1200" b="1" dirty="0">
                <a:solidFill>
                  <a:srgbClr val="1F2421"/>
                </a:solidFill>
              </a:rPr>
              <a:t>동네 매장 · 상인</a:t>
            </a:r>
            <a:endParaRPr lang="en-US" sz="1200" dirty="0"/>
          </a:p>
        </p:txBody>
      </p:sp>
      <p:sp>
        <p:nvSpPr>
          <p:cNvPr id="11" name="merchant box lines"/>
          <p:cNvSpPr txBox="1"/>
          <p:nvPr/>
        </p:nvSpPr>
        <p:spPr>
          <a:xfrm>
            <a:off x="7379208" y="2057400"/>
            <a:ext cx="1280160" cy="1737360"/>
          </a:xfrm>
          <a:prstGeom prst="rect">
            <a:avLst/>
          </a:prstGeom>
          <a:noFill/>
          <a:ln/>
        </p:spPr>
        <p:txBody>
          <a:bodyPr wrap="square" lIns="0" tIns="0" rIns="0" bIns="0" rtlCol="0" anchor="ctr"/>
          <a:lstStyle/>
          <a:p>
            <a:pPr algn="ctr" indent="0" marL="0">
              <a:spcAft>
                <a:spcPts val="600"/>
              </a:spcAft>
              <a:buNone/>
            </a:pPr>
            <a:r>
              <a:rPr lang="en-US" sz="950" dirty="0">
                <a:solidFill>
                  <a:srgbClr val="4A524D"/>
                </a:solidFill>
              </a:rPr>
              <a:t>카톡 한 줄 재고</a:t>
            </a:r>
            <a:endParaRPr lang="en-US" sz="950" dirty="0"/>
          </a:p>
          <a:p>
            <a:pPr algn="ctr" indent="0" marL="0">
              <a:spcAft>
                <a:spcPts val="600"/>
              </a:spcAft>
              <a:buNone/>
            </a:pPr>
            <a:r>
              <a:rPr lang="en-US" sz="950" dirty="0">
                <a:solidFill>
                  <a:srgbClr val="4A524D"/>
                </a:solidFill>
              </a:rPr>
              <a:t>주문 접수</a:t>
            </a:r>
            <a:endParaRPr lang="en-US" sz="950" dirty="0"/>
          </a:p>
          <a:p>
            <a:pPr algn="ctr" indent="0" marL="0">
              <a:spcAft>
                <a:spcPts val="600"/>
              </a:spcAft>
              <a:buNone/>
            </a:pPr>
            <a:r>
              <a:rPr lang="en-US" sz="950" dirty="0">
                <a:solidFill>
                  <a:srgbClr val="4A524D"/>
                </a:solidFill>
              </a:rPr>
              <a:t>입고량 결정</a:t>
            </a:r>
            <a:endParaRPr lang="en-US" sz="950" dirty="0"/>
          </a:p>
          <a:p>
            <a:pPr algn="ctr" indent="0" marL="0">
              <a:spcAft>
                <a:spcPts val="600"/>
              </a:spcAft>
              <a:buNone/>
            </a:pPr>
            <a:r>
              <a:rPr lang="en-US" sz="950" dirty="0">
                <a:solidFill>
                  <a:srgbClr val="4A524D"/>
                </a:solidFill>
              </a:rPr>
              <a:t>마감 할인</a:t>
            </a:r>
            <a:endParaRPr lang="en-US" sz="950" dirty="0"/>
          </a:p>
        </p:txBody>
      </p:sp>
      <p:sp>
        <p:nvSpPr>
          <p:cNvPr id="12" name="engine 0"/>
          <p:cNvSpPr/>
          <p:nvPr/>
        </p:nvSpPr>
        <p:spPr>
          <a:xfrm>
            <a:off x="2103120" y="1600200"/>
            <a:ext cx="2377440" cy="1078992"/>
          </a:xfrm>
          <a:prstGeom prst="rect">
            <a:avLst/>
          </a:prstGeom>
          <a:solidFill>
            <a:srgbClr val="FFFFFF"/>
          </a:solidFill>
          <a:ln w="12700">
            <a:solidFill>
              <a:srgbClr val="3F7F5F"/>
            </a:solidFill>
            <a:prstDash val="solid"/>
          </a:ln>
        </p:spPr>
      </p:sp>
      <p:sp>
        <p:nvSpPr>
          <p:cNvPr id="13" name="engine title 0"/>
          <p:cNvSpPr txBox="1"/>
          <p:nvPr/>
        </p:nvSpPr>
        <p:spPr>
          <a:xfrm>
            <a:off x="2212848" y="1691640"/>
            <a:ext cx="1737360" cy="274320"/>
          </a:xfrm>
          <a:prstGeom prst="rect">
            <a:avLst/>
          </a:prstGeom>
          <a:noFill/>
          <a:ln/>
        </p:spPr>
        <p:txBody>
          <a:bodyPr wrap="square" lIns="0" tIns="0" rIns="0" bIns="0" rtlCol="0" anchor="ctr"/>
          <a:lstStyle/>
          <a:p>
            <a:pPr indent="0" marL="0">
              <a:buNone/>
            </a:pPr>
            <a:r>
              <a:rPr lang="en-US" sz="1150" b="1" dirty="0">
                <a:solidFill>
                  <a:srgbClr val="1E4D3A"/>
                </a:solidFill>
              </a:rPr>
              <a:t>① AI 셰프</a:t>
            </a:r>
            <a:endParaRPr lang="en-US" sz="1150" dirty="0"/>
          </a:p>
        </p:txBody>
      </p:sp>
      <p:sp>
        <p:nvSpPr>
          <p:cNvPr id="14" name="engine who 0"/>
          <p:cNvSpPr txBox="1"/>
          <p:nvPr/>
        </p:nvSpPr>
        <p:spPr>
          <a:xfrm>
            <a:off x="3794760" y="1709928"/>
            <a:ext cx="594360" cy="219456"/>
          </a:xfrm>
          <a:prstGeom prst="rect">
            <a:avLst/>
          </a:prstGeom>
          <a:noFill/>
          <a:ln/>
        </p:spPr>
        <p:txBody>
          <a:bodyPr wrap="square" lIns="0" tIns="0" rIns="0" bIns="0" rtlCol="0" anchor="ctr"/>
          <a:lstStyle/>
          <a:p>
            <a:pPr algn="r" indent="0" marL="0">
              <a:buNone/>
            </a:pPr>
            <a:r>
              <a:rPr lang="en-US" sz="900" b="1" dirty="0">
                <a:solidFill>
                  <a:srgbClr val="7A837D"/>
                </a:solidFill>
              </a:rPr>
              <a:t>소비자</a:t>
            </a:r>
            <a:endParaRPr lang="en-US" sz="900" dirty="0"/>
          </a:p>
        </p:txBody>
      </p:sp>
      <p:sp>
        <p:nvSpPr>
          <p:cNvPr id="15" name="engine desc 0"/>
          <p:cNvSpPr txBox="1"/>
          <p:nvPr/>
        </p:nvSpPr>
        <p:spPr>
          <a:xfrm>
            <a:off x="2212848" y="2011680"/>
            <a:ext cx="2176272" cy="594360"/>
          </a:xfrm>
          <a:prstGeom prst="rect">
            <a:avLst/>
          </a:prstGeom>
          <a:noFill/>
          <a:ln/>
        </p:spPr>
        <p:txBody>
          <a:bodyPr wrap="square" lIns="0" tIns="0" rIns="0" bIns="0" rtlCol="0" anchor="ctr"/>
          <a:lstStyle/>
          <a:p>
            <a:pPr indent="0" marL="0">
              <a:buNone/>
            </a:pPr>
            <a:r>
              <a:rPr lang="en-US" sz="950" dirty="0">
                <a:solidFill>
                  <a:srgbClr val="1F2421"/>
                </a:solidFill>
              </a:rPr>
              <a:t>질문·사진 → 오늘 동네 재고로 반찬 추천 · 레시피 · 담기</a:t>
            </a:r>
            <a:endParaRPr lang="en-US" sz="950" dirty="0"/>
          </a:p>
        </p:txBody>
      </p:sp>
      <p:sp>
        <p:nvSpPr>
          <p:cNvPr id="16" name="engine 1"/>
          <p:cNvSpPr/>
          <p:nvPr/>
        </p:nvSpPr>
        <p:spPr>
          <a:xfrm>
            <a:off x="4617720" y="1600200"/>
            <a:ext cx="2377440" cy="1078992"/>
          </a:xfrm>
          <a:prstGeom prst="rect">
            <a:avLst/>
          </a:prstGeom>
          <a:solidFill>
            <a:srgbClr val="FFFFFF"/>
          </a:solidFill>
          <a:ln w="12700">
            <a:solidFill>
              <a:srgbClr val="3F7F5F"/>
            </a:solidFill>
            <a:prstDash val="solid"/>
          </a:ln>
        </p:spPr>
      </p:sp>
      <p:sp>
        <p:nvSpPr>
          <p:cNvPr id="17" name="engine title 1"/>
          <p:cNvSpPr txBox="1"/>
          <p:nvPr/>
        </p:nvSpPr>
        <p:spPr>
          <a:xfrm>
            <a:off x="4727448" y="1691640"/>
            <a:ext cx="1737360" cy="274320"/>
          </a:xfrm>
          <a:prstGeom prst="rect">
            <a:avLst/>
          </a:prstGeom>
          <a:noFill/>
          <a:ln/>
        </p:spPr>
        <p:txBody>
          <a:bodyPr wrap="square" lIns="0" tIns="0" rIns="0" bIns="0" rtlCol="0" anchor="ctr"/>
          <a:lstStyle/>
          <a:p>
            <a:pPr indent="0" marL="0">
              <a:buNone/>
            </a:pPr>
            <a:r>
              <a:rPr lang="en-US" sz="1150" b="1" dirty="0">
                <a:solidFill>
                  <a:srgbClr val="1E4D3A"/>
                </a:solidFill>
              </a:rPr>
              <a:t>② 레시피 자동 구조화</a:t>
            </a:r>
            <a:endParaRPr lang="en-US" sz="1150" dirty="0"/>
          </a:p>
        </p:txBody>
      </p:sp>
      <p:sp>
        <p:nvSpPr>
          <p:cNvPr id="18" name="engine who 1"/>
          <p:cNvSpPr txBox="1"/>
          <p:nvPr/>
        </p:nvSpPr>
        <p:spPr>
          <a:xfrm>
            <a:off x="6309360" y="1709928"/>
            <a:ext cx="594360" cy="219456"/>
          </a:xfrm>
          <a:prstGeom prst="rect">
            <a:avLst/>
          </a:prstGeom>
          <a:noFill/>
          <a:ln/>
        </p:spPr>
        <p:txBody>
          <a:bodyPr wrap="square" lIns="0" tIns="0" rIns="0" bIns="0" rtlCol="0" anchor="ctr"/>
          <a:lstStyle/>
          <a:p>
            <a:pPr algn="r" indent="0" marL="0">
              <a:buNone/>
            </a:pPr>
            <a:r>
              <a:rPr lang="en-US" sz="900" b="1" dirty="0">
                <a:solidFill>
                  <a:srgbClr val="7A837D"/>
                </a:solidFill>
              </a:rPr>
              <a:t>콘텐츠</a:t>
            </a:r>
            <a:endParaRPr lang="en-US" sz="900" dirty="0"/>
          </a:p>
        </p:txBody>
      </p:sp>
      <p:sp>
        <p:nvSpPr>
          <p:cNvPr id="19" name="engine desc 1"/>
          <p:cNvSpPr txBox="1"/>
          <p:nvPr/>
        </p:nvSpPr>
        <p:spPr>
          <a:xfrm>
            <a:off x="4727448" y="2011680"/>
            <a:ext cx="2176272" cy="594360"/>
          </a:xfrm>
          <a:prstGeom prst="rect">
            <a:avLst/>
          </a:prstGeom>
          <a:noFill/>
          <a:ln/>
        </p:spPr>
        <p:txBody>
          <a:bodyPr wrap="square" lIns="0" tIns="0" rIns="0" bIns="0" rtlCol="0" anchor="ctr"/>
          <a:lstStyle/>
          <a:p>
            <a:pPr indent="0" marL="0">
              <a:buNone/>
            </a:pPr>
            <a:r>
              <a:rPr lang="en-US" sz="950" dirty="0">
                <a:solidFill>
                  <a:srgbClr val="1F2421"/>
                </a:solidFill>
              </a:rPr>
              <a:t>크리에이터 영상 설명·챕터 → 재료·단계·시간 데이터</a:t>
            </a:r>
            <a:endParaRPr lang="en-US" sz="950" dirty="0"/>
          </a:p>
        </p:txBody>
      </p:sp>
      <p:sp>
        <p:nvSpPr>
          <p:cNvPr id="20" name="engine 2"/>
          <p:cNvSpPr/>
          <p:nvPr/>
        </p:nvSpPr>
        <p:spPr>
          <a:xfrm>
            <a:off x="2103120" y="2788920"/>
            <a:ext cx="2377440" cy="1078992"/>
          </a:xfrm>
          <a:prstGeom prst="rect">
            <a:avLst/>
          </a:prstGeom>
          <a:solidFill>
            <a:srgbClr val="FFFFFF"/>
          </a:solidFill>
          <a:ln w="12700">
            <a:solidFill>
              <a:srgbClr val="3F7F5F"/>
            </a:solidFill>
            <a:prstDash val="solid"/>
          </a:ln>
        </p:spPr>
      </p:sp>
      <p:sp>
        <p:nvSpPr>
          <p:cNvPr id="21" name="engine title 2"/>
          <p:cNvSpPr txBox="1"/>
          <p:nvPr/>
        </p:nvSpPr>
        <p:spPr>
          <a:xfrm>
            <a:off x="2212848" y="2880360"/>
            <a:ext cx="1737360" cy="274320"/>
          </a:xfrm>
          <a:prstGeom prst="rect">
            <a:avLst/>
          </a:prstGeom>
          <a:noFill/>
          <a:ln/>
        </p:spPr>
        <p:txBody>
          <a:bodyPr wrap="square" lIns="0" tIns="0" rIns="0" bIns="0" rtlCol="0" anchor="ctr"/>
          <a:lstStyle/>
          <a:p>
            <a:pPr indent="0" marL="0">
              <a:buNone/>
            </a:pPr>
            <a:r>
              <a:rPr lang="en-US" sz="1150" b="1" dirty="0">
                <a:solidFill>
                  <a:srgbClr val="1E4D3A"/>
                </a:solidFill>
              </a:rPr>
              <a:t>③ AI 상인 비서</a:t>
            </a:r>
            <a:endParaRPr lang="en-US" sz="1150" dirty="0"/>
          </a:p>
        </p:txBody>
      </p:sp>
      <p:sp>
        <p:nvSpPr>
          <p:cNvPr id="22" name="engine who 2"/>
          <p:cNvSpPr txBox="1"/>
          <p:nvPr/>
        </p:nvSpPr>
        <p:spPr>
          <a:xfrm>
            <a:off x="3794760" y="2898648"/>
            <a:ext cx="594360" cy="219456"/>
          </a:xfrm>
          <a:prstGeom prst="rect">
            <a:avLst/>
          </a:prstGeom>
          <a:noFill/>
          <a:ln/>
        </p:spPr>
        <p:txBody>
          <a:bodyPr wrap="square" lIns="0" tIns="0" rIns="0" bIns="0" rtlCol="0" anchor="ctr"/>
          <a:lstStyle/>
          <a:p>
            <a:pPr algn="r" indent="0" marL="0">
              <a:buNone/>
            </a:pPr>
            <a:r>
              <a:rPr lang="en-US" sz="900" b="1" dirty="0">
                <a:solidFill>
                  <a:srgbClr val="7A837D"/>
                </a:solidFill>
              </a:rPr>
              <a:t>상인</a:t>
            </a:r>
            <a:endParaRPr lang="en-US" sz="900" dirty="0"/>
          </a:p>
        </p:txBody>
      </p:sp>
      <p:sp>
        <p:nvSpPr>
          <p:cNvPr id="23" name="engine desc 2"/>
          <p:cNvSpPr txBox="1"/>
          <p:nvPr/>
        </p:nvSpPr>
        <p:spPr>
          <a:xfrm>
            <a:off x="2212848" y="3200400"/>
            <a:ext cx="2176272" cy="594360"/>
          </a:xfrm>
          <a:prstGeom prst="rect">
            <a:avLst/>
          </a:prstGeom>
          <a:noFill/>
          <a:ln/>
        </p:spPr>
        <p:txBody>
          <a:bodyPr wrap="square" lIns="0" tIns="0" rIns="0" bIns="0" rtlCol="0" anchor="ctr"/>
          <a:lstStyle/>
          <a:p>
            <a:pPr indent="0" marL="0">
              <a:buNone/>
            </a:pPr>
            <a:r>
              <a:rPr lang="en-US" sz="950" dirty="0">
                <a:solidFill>
                  <a:srgbClr val="1F2421"/>
                </a:solidFill>
              </a:rPr>
              <a:t>말하듯 쓴 한 줄·음성 → 재고·가격·손질 등록, 홍보글</a:t>
            </a:r>
            <a:endParaRPr lang="en-US" sz="950" dirty="0"/>
          </a:p>
        </p:txBody>
      </p:sp>
      <p:sp>
        <p:nvSpPr>
          <p:cNvPr id="24" name="engine 3"/>
          <p:cNvSpPr/>
          <p:nvPr/>
        </p:nvSpPr>
        <p:spPr>
          <a:xfrm>
            <a:off x="4617720" y="2788920"/>
            <a:ext cx="2377440" cy="1078992"/>
          </a:xfrm>
          <a:prstGeom prst="rect">
            <a:avLst/>
          </a:prstGeom>
          <a:solidFill>
            <a:srgbClr val="FFFFFF"/>
          </a:solidFill>
          <a:ln w="12700">
            <a:solidFill>
              <a:srgbClr val="3F7F5F"/>
            </a:solidFill>
            <a:prstDash val="solid"/>
          </a:ln>
        </p:spPr>
      </p:sp>
      <p:sp>
        <p:nvSpPr>
          <p:cNvPr id="25" name="engine title 3"/>
          <p:cNvSpPr txBox="1"/>
          <p:nvPr/>
        </p:nvSpPr>
        <p:spPr>
          <a:xfrm>
            <a:off x="4727448" y="2880360"/>
            <a:ext cx="1737360" cy="274320"/>
          </a:xfrm>
          <a:prstGeom prst="rect">
            <a:avLst/>
          </a:prstGeom>
          <a:noFill/>
          <a:ln/>
        </p:spPr>
        <p:txBody>
          <a:bodyPr wrap="square" lIns="0" tIns="0" rIns="0" bIns="0" rtlCol="0" anchor="ctr"/>
          <a:lstStyle/>
          <a:p>
            <a:pPr indent="0" marL="0">
              <a:buNone/>
            </a:pPr>
            <a:r>
              <a:rPr lang="en-US" sz="1150" b="1" dirty="0">
                <a:solidFill>
                  <a:srgbClr val="1E4D3A"/>
                </a:solidFill>
              </a:rPr>
              <a:t>④ 수요 예측 · 마감 할인</a:t>
            </a:r>
            <a:endParaRPr lang="en-US" sz="1150" dirty="0"/>
          </a:p>
        </p:txBody>
      </p:sp>
      <p:sp>
        <p:nvSpPr>
          <p:cNvPr id="26" name="engine who 3"/>
          <p:cNvSpPr txBox="1"/>
          <p:nvPr/>
        </p:nvSpPr>
        <p:spPr>
          <a:xfrm>
            <a:off x="6309360" y="2898648"/>
            <a:ext cx="594360" cy="219456"/>
          </a:xfrm>
          <a:prstGeom prst="rect">
            <a:avLst/>
          </a:prstGeom>
          <a:noFill/>
          <a:ln/>
        </p:spPr>
        <p:txBody>
          <a:bodyPr wrap="square" lIns="0" tIns="0" rIns="0" bIns="0" rtlCol="0" anchor="ctr"/>
          <a:lstStyle/>
          <a:p>
            <a:pPr algn="r" indent="0" marL="0">
              <a:buNone/>
            </a:pPr>
            <a:r>
              <a:rPr lang="en-US" sz="900" b="1" dirty="0">
                <a:solidFill>
                  <a:srgbClr val="7A837D"/>
                </a:solidFill>
              </a:rPr>
              <a:t>운영</a:t>
            </a:r>
            <a:endParaRPr lang="en-US" sz="900" dirty="0"/>
          </a:p>
        </p:txBody>
      </p:sp>
      <p:sp>
        <p:nvSpPr>
          <p:cNvPr id="27" name="engine desc 3"/>
          <p:cNvSpPr txBox="1"/>
          <p:nvPr/>
        </p:nvSpPr>
        <p:spPr>
          <a:xfrm>
            <a:off x="4727448" y="3200400"/>
            <a:ext cx="2176272" cy="594360"/>
          </a:xfrm>
          <a:prstGeom prst="rect">
            <a:avLst/>
          </a:prstGeom>
          <a:noFill/>
          <a:ln/>
        </p:spPr>
        <p:txBody>
          <a:bodyPr wrap="square" lIns="0" tIns="0" rIns="0" bIns="0" rtlCol="0" anchor="ctr"/>
          <a:lstStyle/>
          <a:p>
            <a:pPr indent="0" marL="0">
              <a:buNone/>
            </a:pPr>
            <a:r>
              <a:rPr lang="en-US" sz="950" dirty="0">
                <a:solidFill>
                  <a:srgbClr val="1F2421"/>
                </a:solidFill>
              </a:rPr>
              <a:t>판매 이력·요일·날씨 → 내일 입고량, 잔여 재고 할인 제안</a:t>
            </a:r>
            <a:endParaRPr lang="en-US" sz="950" dirty="0"/>
          </a:p>
        </p:txBody>
      </p:sp>
      <p:sp>
        <p:nvSpPr>
          <p:cNvPr id="28" name="arrow consumer to chef"/>
          <p:cNvSpPr/>
          <p:nvPr/>
        </p:nvSpPr>
        <p:spPr>
          <a:xfrm>
            <a:off x="1892808" y="2139696"/>
            <a:ext cx="182880" cy="0"/>
          </a:xfrm>
          <a:prstGeom prst="line">
            <a:avLst/>
          </a:prstGeom>
          <a:noFill/>
          <a:ln w="15875">
            <a:solidFill>
              <a:srgbClr val="7A837D"/>
            </a:solidFill>
            <a:prstDash val="solid"/>
            <a:tailEnd type="triangle"/>
          </a:ln>
        </p:spPr>
      </p:sp>
      <p:sp>
        <p:nvSpPr>
          <p:cNvPr id="29" name="arrow merchant to assistant"/>
          <p:cNvSpPr/>
          <p:nvPr/>
        </p:nvSpPr>
        <p:spPr>
          <a:xfrm>
            <a:off x="7013448" y="2139696"/>
            <a:ext cx="237744" cy="0"/>
          </a:xfrm>
          <a:prstGeom prst="line">
            <a:avLst/>
          </a:prstGeom>
          <a:noFill/>
          <a:ln w="15875">
            <a:solidFill>
              <a:srgbClr val="7A837D"/>
            </a:solidFill>
            <a:prstDash val="solid"/>
            <a:headEnd type="triangle"/>
          </a:ln>
        </p:spPr>
      </p:sp>
      <p:sp>
        <p:nvSpPr>
          <p:cNvPr id="30" name="arrow forecast to merchant"/>
          <p:cNvSpPr/>
          <p:nvPr/>
        </p:nvSpPr>
        <p:spPr>
          <a:xfrm>
            <a:off x="7013448" y="3328416"/>
            <a:ext cx="237744" cy="0"/>
          </a:xfrm>
          <a:prstGeom prst="line">
            <a:avLst/>
          </a:prstGeom>
          <a:noFill/>
          <a:ln w="15875">
            <a:solidFill>
              <a:srgbClr val="7A837D"/>
            </a:solidFill>
            <a:prstDash val="solid"/>
            <a:tailEnd type="triangle"/>
          </a:ln>
        </p:spPr>
      </p:sp>
      <p:sp>
        <p:nvSpPr>
          <p:cNvPr id="31" name="flywheel band"/>
          <p:cNvSpPr/>
          <p:nvPr/>
        </p:nvSpPr>
        <p:spPr>
          <a:xfrm>
            <a:off x="2103120" y="4005072"/>
            <a:ext cx="4892040" cy="502920"/>
          </a:xfrm>
          <a:prstGeom prst="rect">
            <a:avLst/>
          </a:prstGeom>
          <a:solidFill>
            <a:srgbClr val="1E4D3A"/>
          </a:solidFill>
          <a:ln w="12700">
            <a:solidFill>
              <a:srgbClr val="1E4D3A"/>
            </a:solidFill>
            <a:prstDash val="solid"/>
          </a:ln>
        </p:spPr>
      </p:sp>
      <p:sp>
        <p:nvSpPr>
          <p:cNvPr id="32" name="flywheel text"/>
          <p:cNvSpPr txBox="1"/>
          <p:nvPr/>
        </p:nvSpPr>
        <p:spPr>
          <a:xfrm>
            <a:off x="2240280" y="4005072"/>
            <a:ext cx="4663440" cy="502920"/>
          </a:xfrm>
          <a:prstGeom prst="rect">
            <a:avLst/>
          </a:prstGeom>
          <a:noFill/>
          <a:ln/>
        </p:spPr>
        <p:txBody>
          <a:bodyPr wrap="square" lIns="0" tIns="0" rIns="0" bIns="0" rtlCol="0" anchor="ctr"/>
          <a:lstStyle/>
          <a:p>
            <a:pPr indent="0" marL="0">
              <a:buNone/>
            </a:pPr>
            <a:r>
              <a:rPr lang="en-US" sz="1000" b="1" dirty="0">
                <a:solidFill>
                  <a:srgbClr val="FFFFFF"/>
                </a:solidFill>
              </a:rPr>
              <a:t>데이터 플라이휠   주문·재고·피드백 → 정확도 ↑ → 폐기·품절 ↓ → 참여 ↑</a:t>
            </a:r>
            <a:endParaRPr lang="en-US" sz="1000" dirty="0"/>
          </a:p>
        </p:txBody>
      </p:sp>
      <p:sp>
        <p:nvSpPr>
          <p:cNvPr id="33"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①·③은 프로토타입에서 Claude로 실제 동작, ②·④는 0~1단계에 구현 / AI는 야생 채취 식물의 식용 여부를 판단하지 않음</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앱 화면 ① 알고 · 고르고</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질문 한 줄로 오늘 동네 재고에 맞는 반찬을 고르고, 레시피 장면을 보며 필요한 재료만 바로 담음</a:t>
            </a:r>
            <a:endParaRPr lang="en-US" sz="1250" dirty="0"/>
          </a:p>
        </p:txBody>
      </p:sp>
      <p:pic>
        <p:nvPicPr>
          <p:cNvPr id="6" name="a1_home" descr="나물로 앱 화면: a1_home">    </p:cNvPr>
          <p:cNvPicPr>
            <a:picLocks noChangeAspect="1"/>
          </p:cNvPicPr>
          <p:nvPr/>
        </p:nvPicPr>
        <p:blipFill>
          <a:blip r:embed="rId1"/>
          <a:stretch>
            <a:fillRect/>
          </a:stretch>
        </p:blipFill>
        <p:spPr>
          <a:xfrm>
            <a:off x="411480" y="1517904"/>
            <a:ext cx="1447955" cy="3035808"/>
          </a:xfrm>
          <a:prstGeom prst="rect">
            <a:avLst/>
          </a:prstGeom>
        </p:spPr>
      </p:pic>
      <p:pic>
        <p:nvPicPr>
          <p:cNvPr id="7" name="a2_aichef" descr="나물로 앱 화면: a2_aichef">    </p:cNvPr>
          <p:cNvPicPr>
            <a:picLocks noChangeAspect="1"/>
          </p:cNvPicPr>
          <p:nvPr/>
        </p:nvPicPr>
        <p:blipFill>
          <a:blip r:embed="rId2"/>
          <a:stretch>
            <a:fillRect/>
          </a:stretch>
        </p:blipFill>
        <p:spPr>
          <a:xfrm>
            <a:off x="2005739" y="1517904"/>
            <a:ext cx="1447955" cy="3035808"/>
          </a:xfrm>
          <a:prstGeom prst="rect">
            <a:avLst/>
          </a:prstGeom>
        </p:spPr>
      </p:pic>
      <p:pic>
        <p:nvPicPr>
          <p:cNvPr id="8" name="a3_recipe" descr="나물로 앱 화면: a3_recipe">    </p:cNvPr>
          <p:cNvPicPr>
            <a:picLocks noChangeAspect="1"/>
          </p:cNvPicPr>
          <p:nvPr/>
        </p:nvPicPr>
        <p:blipFill>
          <a:blip r:embed="rId3"/>
          <a:stretch>
            <a:fillRect/>
          </a:stretch>
        </p:blipFill>
        <p:spPr>
          <a:xfrm>
            <a:off x="3599997" y="1517904"/>
            <a:ext cx="1447955" cy="3035808"/>
          </a:xfrm>
          <a:prstGeom prst="rect">
            <a:avLst/>
          </a:prstGeom>
        </p:spPr>
      </p:pic>
      <p:sp>
        <p:nvSpPr>
          <p:cNvPr id="9" name="badge 1"/>
          <p:cNvSpPr/>
          <p:nvPr/>
        </p:nvSpPr>
        <p:spPr>
          <a:xfrm>
            <a:off x="5230368" y="1572768"/>
            <a:ext cx="274320" cy="274320"/>
          </a:xfrm>
          <a:prstGeom prst="ellipse">
            <a:avLst/>
          </a:prstGeom>
          <a:solidFill>
            <a:srgbClr val="E07B2E"/>
          </a:solidFill>
          <a:ln w="12700">
            <a:solidFill>
              <a:srgbClr val="E07B2E"/>
            </a:solidFill>
            <a:prstDash val="solid"/>
          </a:ln>
        </p:spPr>
      </p:sp>
      <p:sp>
        <p:nvSpPr>
          <p:cNvPr id="10" name="badge text 1"/>
          <p:cNvSpPr txBox="1"/>
          <p:nvPr/>
        </p:nvSpPr>
        <p:spPr>
          <a:xfrm>
            <a:off x="5230368" y="1572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p title 1"/>
          <p:cNvSpPr txBox="1"/>
          <p:nvPr/>
        </p:nvSpPr>
        <p:spPr>
          <a:xfrm>
            <a:off x="5614416" y="1554480"/>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홈 · AI 셰프 진입</a:t>
            </a:r>
            <a:endParaRPr lang="en-US" sz="1250" dirty="0"/>
          </a:p>
        </p:txBody>
      </p:sp>
      <p:sp>
        <p:nvSpPr>
          <p:cNvPr id="12" name="cap desc 1"/>
          <p:cNvSpPr txBox="1"/>
          <p:nvPr/>
        </p:nvSpPr>
        <p:spPr>
          <a:xfrm>
            <a:off x="5614416" y="1856232"/>
            <a:ext cx="3108960" cy="402336"/>
          </a:xfrm>
          <a:prstGeom prst="rect">
            <a:avLst/>
          </a:prstGeom>
          <a:noFill/>
          <a:ln/>
        </p:spPr>
        <p:txBody>
          <a:bodyPr wrap="square" lIns="0" tIns="0" rIns="0" bIns="0" rtlCol="0" anchor="ctr"/>
          <a:lstStyle/>
          <a:p>
            <a:pPr indent="0" marL="0">
              <a:buNone/>
            </a:pPr>
            <a:r>
              <a:rPr lang="en-US" sz="1000" dirty="0">
                <a:solidFill>
                  <a:srgbClr val="4A524D"/>
                </a:solidFill>
              </a:rPr>
              <a:t>이달의 제철 · 아이 선호 TOP3, 질문 한 줄로 AI 셰프 시작</a:t>
            </a:r>
            <a:endParaRPr lang="en-US" sz="1000" dirty="0"/>
          </a:p>
        </p:txBody>
      </p:sp>
      <p:sp>
        <p:nvSpPr>
          <p:cNvPr id="13" name="cap impl 1"/>
          <p:cNvSpPr txBox="1"/>
          <p:nvPr/>
        </p:nvSpPr>
        <p:spPr>
          <a:xfrm>
            <a:off x="5614416" y="2258568"/>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웹앱 + 매장 재고 데이터</a:t>
            </a:r>
            <a:endParaRPr lang="en-US" sz="950" dirty="0"/>
          </a:p>
        </p:txBody>
      </p:sp>
      <p:sp>
        <p:nvSpPr>
          <p:cNvPr id="14" name="cap rule 0"/>
          <p:cNvSpPr/>
          <p:nvPr/>
        </p:nvSpPr>
        <p:spPr>
          <a:xfrm>
            <a:off x="5614416" y="2505456"/>
            <a:ext cx="3108960" cy="0"/>
          </a:xfrm>
          <a:prstGeom prst="line">
            <a:avLst/>
          </a:prstGeom>
          <a:noFill/>
          <a:ln w="9525">
            <a:solidFill>
              <a:srgbClr val="D9DED9"/>
            </a:solidFill>
            <a:prstDash val="solid"/>
          </a:ln>
        </p:spPr>
      </p:sp>
      <p:sp>
        <p:nvSpPr>
          <p:cNvPr id="15" name="badge 2"/>
          <p:cNvSpPr/>
          <p:nvPr/>
        </p:nvSpPr>
        <p:spPr>
          <a:xfrm>
            <a:off x="5230368" y="2560320"/>
            <a:ext cx="274320" cy="274320"/>
          </a:xfrm>
          <a:prstGeom prst="ellipse">
            <a:avLst/>
          </a:prstGeom>
          <a:solidFill>
            <a:srgbClr val="E07B2E"/>
          </a:solidFill>
          <a:ln w="12700">
            <a:solidFill>
              <a:srgbClr val="E07B2E"/>
            </a:solidFill>
            <a:prstDash val="solid"/>
          </a:ln>
        </p:spPr>
      </p:sp>
      <p:sp>
        <p:nvSpPr>
          <p:cNvPr id="16" name="badge text 2"/>
          <p:cNvSpPr txBox="1"/>
          <p:nvPr/>
        </p:nvSpPr>
        <p:spPr>
          <a:xfrm>
            <a:off x="5230368"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7" name="cap title 2"/>
          <p:cNvSpPr txBox="1"/>
          <p:nvPr/>
        </p:nvSpPr>
        <p:spPr>
          <a:xfrm>
            <a:off x="5614416" y="2542032"/>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AI 셰프 추천</a:t>
            </a:r>
            <a:endParaRPr lang="en-US" sz="1250" dirty="0"/>
          </a:p>
        </p:txBody>
      </p:sp>
      <p:sp>
        <p:nvSpPr>
          <p:cNvPr id="18" name="cap desc 2"/>
          <p:cNvSpPr txBox="1"/>
          <p:nvPr/>
        </p:nvSpPr>
        <p:spPr>
          <a:xfrm>
            <a:off x="5614416" y="2843784"/>
            <a:ext cx="3108960" cy="402336"/>
          </a:xfrm>
          <a:prstGeom prst="rect">
            <a:avLst/>
          </a:prstGeom>
          <a:noFill/>
          <a:ln/>
        </p:spPr>
        <p:txBody>
          <a:bodyPr wrap="square" lIns="0" tIns="0" rIns="0" bIns="0" rtlCol="0" anchor="ctr"/>
          <a:lstStyle/>
          <a:p>
            <a:pPr indent="0" marL="0">
              <a:buNone/>
            </a:pPr>
            <a:r>
              <a:rPr lang="en-US" sz="1000" dirty="0">
                <a:solidFill>
                  <a:srgbClr val="4A524D"/>
                </a:solidFill>
              </a:rPr>
              <a:t>오늘 동네 재고 안에서 반찬 2~3개, 아이 가구는 혼합 요리를 먼저</a:t>
            </a:r>
            <a:endParaRPr lang="en-US" sz="1000" dirty="0"/>
          </a:p>
        </p:txBody>
      </p:sp>
      <p:sp>
        <p:nvSpPr>
          <p:cNvPr id="19" name="cap impl 2"/>
          <p:cNvSpPr txBox="1"/>
          <p:nvPr/>
        </p:nvSpPr>
        <p:spPr>
          <a:xfrm>
            <a:off x="5614416" y="3246120"/>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Claude (텍스트 · 사진 입력)</a:t>
            </a:r>
            <a:endParaRPr lang="en-US" sz="950" dirty="0"/>
          </a:p>
        </p:txBody>
      </p:sp>
      <p:sp>
        <p:nvSpPr>
          <p:cNvPr id="20" name="cap rule 1"/>
          <p:cNvSpPr/>
          <p:nvPr/>
        </p:nvSpPr>
        <p:spPr>
          <a:xfrm>
            <a:off x="5614416" y="3493008"/>
            <a:ext cx="3108960" cy="0"/>
          </a:xfrm>
          <a:prstGeom prst="line">
            <a:avLst/>
          </a:prstGeom>
          <a:noFill/>
          <a:ln w="9525">
            <a:solidFill>
              <a:srgbClr val="D9DED9"/>
            </a:solidFill>
            <a:prstDash val="solid"/>
          </a:ln>
        </p:spPr>
      </p:sp>
      <p:sp>
        <p:nvSpPr>
          <p:cNvPr id="21" name="badge 3"/>
          <p:cNvSpPr/>
          <p:nvPr/>
        </p:nvSpPr>
        <p:spPr>
          <a:xfrm>
            <a:off x="5230368" y="3547872"/>
            <a:ext cx="274320" cy="274320"/>
          </a:xfrm>
          <a:prstGeom prst="ellipse">
            <a:avLst/>
          </a:prstGeom>
          <a:solidFill>
            <a:srgbClr val="E07B2E"/>
          </a:solidFill>
          <a:ln w="12700">
            <a:solidFill>
              <a:srgbClr val="E07B2E"/>
            </a:solidFill>
            <a:prstDash val="solid"/>
          </a:ln>
        </p:spPr>
      </p:sp>
      <p:sp>
        <p:nvSpPr>
          <p:cNvPr id="22" name="badge text 3"/>
          <p:cNvSpPr txBox="1"/>
          <p:nvPr/>
        </p:nvSpPr>
        <p:spPr>
          <a:xfrm>
            <a:off x="5230368" y="3547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cap title 3"/>
          <p:cNvSpPr txBox="1"/>
          <p:nvPr/>
        </p:nvSpPr>
        <p:spPr>
          <a:xfrm>
            <a:off x="5614416" y="3529584"/>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레시피 · 재료 담기</a:t>
            </a:r>
            <a:endParaRPr lang="en-US" sz="1250" dirty="0"/>
          </a:p>
        </p:txBody>
      </p:sp>
      <p:sp>
        <p:nvSpPr>
          <p:cNvPr id="24" name="cap desc 3"/>
          <p:cNvSpPr txBox="1"/>
          <p:nvPr/>
        </p:nvSpPr>
        <p:spPr>
          <a:xfrm>
            <a:off x="5614416" y="3831336"/>
            <a:ext cx="3108960" cy="402336"/>
          </a:xfrm>
          <a:prstGeom prst="rect">
            <a:avLst/>
          </a:prstGeom>
          <a:noFill/>
          <a:ln/>
        </p:spPr>
        <p:txBody>
          <a:bodyPr wrap="square" lIns="0" tIns="0" rIns="0" bIns="0" rtlCol="0" anchor="ctr"/>
          <a:lstStyle/>
          <a:p>
            <a:pPr indent="0" marL="0">
              <a:buNone/>
            </a:pPr>
            <a:r>
              <a:rPr lang="en-US" sz="1000" dirty="0">
                <a:solidFill>
                  <a:srgbClr val="4A524D"/>
                </a:solidFill>
              </a:rPr>
              <a:t>영상 구간으로 이동, 집에 있는 재료는 체크하고 필요한 것만 담기</a:t>
            </a:r>
            <a:endParaRPr lang="en-US" sz="1000" dirty="0"/>
          </a:p>
        </p:txBody>
      </p:sp>
      <p:sp>
        <p:nvSpPr>
          <p:cNvPr id="25" name="cap impl 3"/>
          <p:cNvSpPr txBox="1"/>
          <p:nvPr/>
        </p:nvSpPr>
        <p:spPr>
          <a:xfrm>
            <a:off x="5614416" y="4233672"/>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영상 공식 임베드 + AI 구조화</a:t>
            </a:r>
            <a:endParaRPr lang="en-US" sz="950" dirty="0"/>
          </a:p>
        </p:txBody>
      </p:sp>
      <p:sp>
        <p:nvSpPr>
          <p:cNvPr id="26"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직접 만든 웹앱 프로토타입 화면 (매장·가격·수치는 시연용 예시) · 3D 아이콘 Microsoft Fluent Emoji (MIT)</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앱 화면 ② 동네에서 산다</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반경 3km 매장의 오늘 재고와 가격을 비교하고, 손질 옵션과 픽업 시간을 골라 1분 안에 예약함</a:t>
            </a:r>
            <a:endParaRPr lang="en-US" sz="1250" dirty="0"/>
          </a:p>
        </p:txBody>
      </p:sp>
      <p:pic>
        <p:nvPicPr>
          <p:cNvPr id="6" name="b1_stores" descr="나물로 앱 화면: b1_stores">    </p:cNvPr>
          <p:cNvPicPr>
            <a:picLocks noChangeAspect="1"/>
          </p:cNvPicPr>
          <p:nvPr/>
        </p:nvPicPr>
        <p:blipFill>
          <a:blip r:embed="rId1"/>
          <a:stretch>
            <a:fillRect/>
          </a:stretch>
        </p:blipFill>
        <p:spPr>
          <a:xfrm>
            <a:off x="411480" y="1517904"/>
            <a:ext cx="1447955" cy="3035808"/>
          </a:xfrm>
          <a:prstGeom prst="rect">
            <a:avLst/>
          </a:prstGeom>
        </p:spPr>
      </p:pic>
      <p:pic>
        <p:nvPicPr>
          <p:cNvPr id="7" name="b2_checkout" descr="나물로 앱 화면: b2_checkout">    </p:cNvPr>
          <p:cNvPicPr>
            <a:picLocks noChangeAspect="1"/>
          </p:cNvPicPr>
          <p:nvPr/>
        </p:nvPicPr>
        <p:blipFill>
          <a:blip r:embed="rId2"/>
          <a:stretch>
            <a:fillRect/>
          </a:stretch>
        </p:blipFill>
        <p:spPr>
          <a:xfrm>
            <a:off x="2005739" y="1517904"/>
            <a:ext cx="1447955" cy="3035808"/>
          </a:xfrm>
          <a:prstGeom prst="rect">
            <a:avLst/>
          </a:prstGeom>
        </p:spPr>
      </p:pic>
      <p:pic>
        <p:nvPicPr>
          <p:cNvPr id="8" name="b3_done" descr="나물로 앱 화면: b3_done">    </p:cNvPr>
          <p:cNvPicPr>
            <a:picLocks noChangeAspect="1"/>
          </p:cNvPicPr>
          <p:nvPr/>
        </p:nvPicPr>
        <p:blipFill>
          <a:blip r:embed="rId3"/>
          <a:stretch>
            <a:fillRect/>
          </a:stretch>
        </p:blipFill>
        <p:spPr>
          <a:xfrm>
            <a:off x="3599997" y="1517904"/>
            <a:ext cx="1447955" cy="3035808"/>
          </a:xfrm>
          <a:prstGeom prst="rect">
            <a:avLst/>
          </a:prstGeom>
        </p:spPr>
      </p:pic>
      <p:sp>
        <p:nvSpPr>
          <p:cNvPr id="9" name="badge 1"/>
          <p:cNvSpPr/>
          <p:nvPr/>
        </p:nvSpPr>
        <p:spPr>
          <a:xfrm>
            <a:off x="5230368" y="1572768"/>
            <a:ext cx="274320" cy="274320"/>
          </a:xfrm>
          <a:prstGeom prst="ellipse">
            <a:avLst/>
          </a:prstGeom>
          <a:solidFill>
            <a:srgbClr val="E07B2E"/>
          </a:solidFill>
          <a:ln w="12700">
            <a:solidFill>
              <a:srgbClr val="E07B2E"/>
            </a:solidFill>
            <a:prstDash val="solid"/>
          </a:ln>
        </p:spPr>
      </p:sp>
      <p:sp>
        <p:nvSpPr>
          <p:cNvPr id="10" name="badge text 1"/>
          <p:cNvSpPr txBox="1"/>
          <p:nvPr/>
        </p:nvSpPr>
        <p:spPr>
          <a:xfrm>
            <a:off x="5230368" y="1572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p title 1"/>
          <p:cNvSpPr txBox="1"/>
          <p:nvPr/>
        </p:nvSpPr>
        <p:spPr>
          <a:xfrm>
            <a:off x="5614416" y="1554480"/>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동네 매장 지도</a:t>
            </a:r>
            <a:endParaRPr lang="en-US" sz="1250" dirty="0"/>
          </a:p>
        </p:txBody>
      </p:sp>
      <p:sp>
        <p:nvSpPr>
          <p:cNvPr id="12" name="cap desc 1"/>
          <p:cNvSpPr txBox="1"/>
          <p:nvPr/>
        </p:nvSpPr>
        <p:spPr>
          <a:xfrm>
            <a:off x="5614416" y="1856232"/>
            <a:ext cx="3108960" cy="402336"/>
          </a:xfrm>
          <a:prstGeom prst="rect">
            <a:avLst/>
          </a:prstGeom>
          <a:noFill/>
          <a:ln/>
        </p:spPr>
        <p:txBody>
          <a:bodyPr wrap="square" lIns="0" tIns="0" rIns="0" bIns="0" rtlCol="0" anchor="ctr"/>
          <a:lstStyle/>
          <a:p>
            <a:pPr indent="0" marL="0">
              <a:buNone/>
            </a:pPr>
            <a:r>
              <a:rPr lang="en-US" sz="1000" dirty="0">
                <a:solidFill>
                  <a:srgbClr val="4A524D"/>
                </a:solidFill>
              </a:rPr>
              <a:t>시장 가게 · 직매장 · 반찬가게의 오늘 재고 · 가격 · 입고 시각</a:t>
            </a:r>
            <a:endParaRPr lang="en-US" sz="1000" dirty="0"/>
          </a:p>
        </p:txBody>
      </p:sp>
      <p:sp>
        <p:nvSpPr>
          <p:cNvPr id="13" name="cap impl 1"/>
          <p:cNvSpPr txBox="1"/>
          <p:nvPr/>
        </p:nvSpPr>
        <p:spPr>
          <a:xfrm>
            <a:off x="5614416" y="2258568"/>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지도 + 상인 재고 데이터</a:t>
            </a:r>
            <a:endParaRPr lang="en-US" sz="950" dirty="0"/>
          </a:p>
        </p:txBody>
      </p:sp>
      <p:sp>
        <p:nvSpPr>
          <p:cNvPr id="14" name="cap rule 0"/>
          <p:cNvSpPr/>
          <p:nvPr/>
        </p:nvSpPr>
        <p:spPr>
          <a:xfrm>
            <a:off x="5614416" y="2505456"/>
            <a:ext cx="3108960" cy="0"/>
          </a:xfrm>
          <a:prstGeom prst="line">
            <a:avLst/>
          </a:prstGeom>
          <a:noFill/>
          <a:ln w="9525">
            <a:solidFill>
              <a:srgbClr val="D9DED9"/>
            </a:solidFill>
            <a:prstDash val="solid"/>
          </a:ln>
        </p:spPr>
      </p:sp>
      <p:sp>
        <p:nvSpPr>
          <p:cNvPr id="15" name="badge 2"/>
          <p:cNvSpPr/>
          <p:nvPr/>
        </p:nvSpPr>
        <p:spPr>
          <a:xfrm>
            <a:off x="5230368" y="2560320"/>
            <a:ext cx="274320" cy="274320"/>
          </a:xfrm>
          <a:prstGeom prst="ellipse">
            <a:avLst/>
          </a:prstGeom>
          <a:solidFill>
            <a:srgbClr val="E07B2E"/>
          </a:solidFill>
          <a:ln w="12700">
            <a:solidFill>
              <a:srgbClr val="E07B2E"/>
            </a:solidFill>
            <a:prstDash val="solid"/>
          </a:ln>
        </p:spPr>
      </p:sp>
      <p:sp>
        <p:nvSpPr>
          <p:cNvPr id="16" name="badge text 2"/>
          <p:cNvSpPr txBox="1"/>
          <p:nvPr/>
        </p:nvSpPr>
        <p:spPr>
          <a:xfrm>
            <a:off x="5230368"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7" name="cap title 2"/>
          <p:cNvSpPr txBox="1"/>
          <p:nvPr/>
        </p:nvSpPr>
        <p:spPr>
          <a:xfrm>
            <a:off x="5614416" y="2542032"/>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손질 옵션 · 픽업 시간</a:t>
            </a:r>
            <a:endParaRPr lang="en-US" sz="1250" dirty="0"/>
          </a:p>
        </p:txBody>
      </p:sp>
      <p:sp>
        <p:nvSpPr>
          <p:cNvPr id="18" name="cap desc 2"/>
          <p:cNvSpPr txBox="1"/>
          <p:nvPr/>
        </p:nvSpPr>
        <p:spPr>
          <a:xfrm>
            <a:off x="5614416" y="2843784"/>
            <a:ext cx="3108960" cy="402336"/>
          </a:xfrm>
          <a:prstGeom prst="rect">
            <a:avLst/>
          </a:prstGeom>
          <a:noFill/>
          <a:ln/>
        </p:spPr>
        <p:txBody>
          <a:bodyPr wrap="square" lIns="0" tIns="0" rIns="0" bIns="0" rtlCol="0" anchor="ctr"/>
          <a:lstStyle/>
          <a:p>
            <a:pPr indent="0" marL="0">
              <a:buNone/>
            </a:pPr>
            <a:r>
              <a:rPr lang="en-US" sz="1000" dirty="0">
                <a:solidFill>
                  <a:srgbClr val="4A524D"/>
                </a:solidFill>
              </a:rPr>
              <a:t>생나물 / 손질 +500원 / 데침 +800원, 마감된 시간은 자동 비활성</a:t>
            </a:r>
            <a:endParaRPr lang="en-US" sz="1000" dirty="0"/>
          </a:p>
        </p:txBody>
      </p:sp>
      <p:sp>
        <p:nvSpPr>
          <p:cNvPr id="19" name="cap impl 2"/>
          <p:cNvSpPr txBox="1"/>
          <p:nvPr/>
        </p:nvSpPr>
        <p:spPr>
          <a:xfrm>
            <a:off x="5614416" y="3246120"/>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매장별 옵션 · 픽업 슬롯</a:t>
            </a:r>
            <a:endParaRPr lang="en-US" sz="950" dirty="0"/>
          </a:p>
        </p:txBody>
      </p:sp>
      <p:sp>
        <p:nvSpPr>
          <p:cNvPr id="20" name="cap rule 1"/>
          <p:cNvSpPr/>
          <p:nvPr/>
        </p:nvSpPr>
        <p:spPr>
          <a:xfrm>
            <a:off x="5614416" y="3493008"/>
            <a:ext cx="3108960" cy="0"/>
          </a:xfrm>
          <a:prstGeom prst="line">
            <a:avLst/>
          </a:prstGeom>
          <a:noFill/>
          <a:ln w="9525">
            <a:solidFill>
              <a:srgbClr val="D9DED9"/>
            </a:solidFill>
            <a:prstDash val="solid"/>
          </a:ln>
        </p:spPr>
      </p:sp>
      <p:sp>
        <p:nvSpPr>
          <p:cNvPr id="21" name="badge 3"/>
          <p:cNvSpPr/>
          <p:nvPr/>
        </p:nvSpPr>
        <p:spPr>
          <a:xfrm>
            <a:off x="5230368" y="3547872"/>
            <a:ext cx="274320" cy="274320"/>
          </a:xfrm>
          <a:prstGeom prst="ellipse">
            <a:avLst/>
          </a:prstGeom>
          <a:solidFill>
            <a:srgbClr val="E07B2E"/>
          </a:solidFill>
          <a:ln w="12700">
            <a:solidFill>
              <a:srgbClr val="E07B2E"/>
            </a:solidFill>
            <a:prstDash val="solid"/>
          </a:ln>
        </p:spPr>
      </p:sp>
      <p:sp>
        <p:nvSpPr>
          <p:cNvPr id="22" name="badge text 3"/>
          <p:cNvSpPr txBox="1"/>
          <p:nvPr/>
        </p:nvSpPr>
        <p:spPr>
          <a:xfrm>
            <a:off x="5230368" y="3547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cap title 3"/>
          <p:cNvSpPr txBox="1"/>
          <p:nvPr/>
        </p:nvSpPr>
        <p:spPr>
          <a:xfrm>
            <a:off x="5614416" y="3529584"/>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예약 완료</a:t>
            </a:r>
            <a:endParaRPr lang="en-US" sz="1250" dirty="0"/>
          </a:p>
        </p:txBody>
      </p:sp>
      <p:sp>
        <p:nvSpPr>
          <p:cNvPr id="24" name="cap desc 3"/>
          <p:cNvSpPr txBox="1"/>
          <p:nvPr/>
        </p:nvSpPr>
        <p:spPr>
          <a:xfrm>
            <a:off x="5614416" y="3831336"/>
            <a:ext cx="3108960" cy="402336"/>
          </a:xfrm>
          <a:prstGeom prst="rect">
            <a:avLst/>
          </a:prstGeom>
          <a:noFill/>
          <a:ln/>
        </p:spPr>
        <p:txBody>
          <a:bodyPr wrap="square" lIns="0" tIns="0" rIns="0" bIns="0" rtlCol="0" anchor="ctr"/>
          <a:lstStyle/>
          <a:p>
            <a:pPr indent="0" marL="0">
              <a:buNone/>
            </a:pPr>
            <a:r>
              <a:rPr lang="en-US" sz="1000" dirty="0">
                <a:solidFill>
                  <a:srgbClr val="4A524D"/>
                </a:solidFill>
              </a:rPr>
              <a:t>픽업 번호 · QR, 다음 날 ‘우리 아이 먹었어요’ 피드백 요청</a:t>
            </a:r>
            <a:endParaRPr lang="en-US" sz="1000" dirty="0"/>
          </a:p>
        </p:txBody>
      </p:sp>
      <p:sp>
        <p:nvSpPr>
          <p:cNvPr id="25" name="cap impl 3"/>
          <p:cNvSpPr txBox="1"/>
          <p:nvPr/>
        </p:nvSpPr>
        <p:spPr>
          <a:xfrm>
            <a:off x="5614416" y="4233672"/>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PG 결제 + 알림톡</a:t>
            </a:r>
            <a:endParaRPr lang="en-US" sz="950" dirty="0"/>
          </a:p>
        </p:txBody>
      </p:sp>
      <p:sp>
        <p:nvSpPr>
          <p:cNvPr id="26"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직접 만든 웹앱 프로토타입 화면 (매장·가격·수치는 시연용 예시) · 3D 아이콘 Microsoft Fluent Emoji (MIT)</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앱 화면 ③ AI 상인 비서 · 안전 정보</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사장님은 카톡 한 줄로 재고를 올리고 입고 추천·마감 할인을 받으며, 소비자는 안전하게 먹는 법을 함께 봄</a:t>
            </a:r>
            <a:endParaRPr lang="en-US" sz="1250" dirty="0"/>
          </a:p>
        </p:txBody>
      </p:sp>
      <p:pic>
        <p:nvPicPr>
          <p:cNvPr id="6" name="c1_merchant_stock" descr="나물로 앱 화면: c1_merchant_stock">    </p:cNvPr>
          <p:cNvPicPr>
            <a:picLocks noChangeAspect="1"/>
          </p:cNvPicPr>
          <p:nvPr/>
        </p:nvPicPr>
        <p:blipFill>
          <a:blip r:embed="rId1"/>
          <a:stretch>
            <a:fillRect/>
          </a:stretch>
        </p:blipFill>
        <p:spPr>
          <a:xfrm>
            <a:off x="411480" y="1517904"/>
            <a:ext cx="1447955" cy="3035808"/>
          </a:xfrm>
          <a:prstGeom prst="rect">
            <a:avLst/>
          </a:prstGeom>
        </p:spPr>
      </p:pic>
      <p:pic>
        <p:nvPicPr>
          <p:cNvPr id="7" name="c2_merchant_discount" descr="나물로 앱 화면: c2_merchant_discount">    </p:cNvPr>
          <p:cNvPicPr>
            <a:picLocks noChangeAspect="1"/>
          </p:cNvPicPr>
          <p:nvPr/>
        </p:nvPicPr>
        <p:blipFill>
          <a:blip r:embed="rId2"/>
          <a:stretch>
            <a:fillRect/>
          </a:stretch>
        </p:blipFill>
        <p:spPr>
          <a:xfrm>
            <a:off x="2005739" y="1517904"/>
            <a:ext cx="1447955" cy="3035808"/>
          </a:xfrm>
          <a:prstGeom prst="rect">
            <a:avLst/>
          </a:prstGeom>
        </p:spPr>
      </p:pic>
      <p:pic>
        <p:nvPicPr>
          <p:cNvPr id="8" name="d1_guide_gosari" descr="나물로 앱 화면: d1_guide_gosari">    </p:cNvPr>
          <p:cNvPicPr>
            <a:picLocks noChangeAspect="1"/>
          </p:cNvPicPr>
          <p:nvPr/>
        </p:nvPicPr>
        <p:blipFill>
          <a:blip r:embed="rId3"/>
          <a:stretch>
            <a:fillRect/>
          </a:stretch>
        </p:blipFill>
        <p:spPr>
          <a:xfrm>
            <a:off x="3599997" y="1517904"/>
            <a:ext cx="1447955" cy="3035808"/>
          </a:xfrm>
          <a:prstGeom prst="rect">
            <a:avLst/>
          </a:prstGeom>
        </p:spPr>
      </p:pic>
      <p:sp>
        <p:nvSpPr>
          <p:cNvPr id="9" name="badge 1"/>
          <p:cNvSpPr/>
          <p:nvPr/>
        </p:nvSpPr>
        <p:spPr>
          <a:xfrm>
            <a:off x="5230368" y="1572768"/>
            <a:ext cx="274320" cy="274320"/>
          </a:xfrm>
          <a:prstGeom prst="ellipse">
            <a:avLst/>
          </a:prstGeom>
          <a:solidFill>
            <a:srgbClr val="E07B2E"/>
          </a:solidFill>
          <a:ln w="12700">
            <a:solidFill>
              <a:srgbClr val="E07B2E"/>
            </a:solidFill>
            <a:prstDash val="solid"/>
          </a:ln>
        </p:spPr>
      </p:sp>
      <p:sp>
        <p:nvSpPr>
          <p:cNvPr id="10" name="badge text 1"/>
          <p:cNvSpPr txBox="1"/>
          <p:nvPr/>
        </p:nvSpPr>
        <p:spPr>
          <a:xfrm>
            <a:off x="5230368" y="1572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cap title 1"/>
          <p:cNvSpPr txBox="1"/>
          <p:nvPr/>
        </p:nvSpPr>
        <p:spPr>
          <a:xfrm>
            <a:off x="5614416" y="1554480"/>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AI 재고 등록</a:t>
            </a:r>
            <a:endParaRPr lang="en-US" sz="1250" dirty="0"/>
          </a:p>
        </p:txBody>
      </p:sp>
      <p:sp>
        <p:nvSpPr>
          <p:cNvPr id="12" name="cap desc 1"/>
          <p:cNvSpPr txBox="1"/>
          <p:nvPr/>
        </p:nvSpPr>
        <p:spPr>
          <a:xfrm>
            <a:off x="5614416" y="1856232"/>
            <a:ext cx="3108960" cy="402336"/>
          </a:xfrm>
          <a:prstGeom prst="rect">
            <a:avLst/>
          </a:prstGeom>
          <a:noFill/>
          <a:ln/>
        </p:spPr>
        <p:txBody>
          <a:bodyPr wrap="square" lIns="0" tIns="0" rIns="0" bIns="0" rtlCol="0" anchor="ctr"/>
          <a:lstStyle/>
          <a:p>
            <a:pPr indent="0" marL="0">
              <a:buNone/>
            </a:pPr>
            <a:r>
              <a:rPr lang="en-US" sz="1000" dirty="0">
                <a:solidFill>
                  <a:srgbClr val="4A524D"/>
                </a:solidFill>
              </a:rPr>
              <a:t>말하듯 쓴 한 줄 → 품목 · 수량 · 가격 · 손질 정리, 사장님 확인 후 게시</a:t>
            </a:r>
            <a:endParaRPr lang="en-US" sz="1000" dirty="0"/>
          </a:p>
        </p:txBody>
      </p:sp>
      <p:sp>
        <p:nvSpPr>
          <p:cNvPr id="13" name="cap impl 1"/>
          <p:cNvSpPr txBox="1"/>
          <p:nvPr/>
        </p:nvSpPr>
        <p:spPr>
          <a:xfrm>
            <a:off x="5614416" y="2258568"/>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Claude 정보 추출 + 확인 단계</a:t>
            </a:r>
            <a:endParaRPr lang="en-US" sz="950" dirty="0"/>
          </a:p>
        </p:txBody>
      </p:sp>
      <p:sp>
        <p:nvSpPr>
          <p:cNvPr id="14" name="cap rule 0"/>
          <p:cNvSpPr/>
          <p:nvPr/>
        </p:nvSpPr>
        <p:spPr>
          <a:xfrm>
            <a:off x="5614416" y="2505456"/>
            <a:ext cx="3108960" cy="0"/>
          </a:xfrm>
          <a:prstGeom prst="line">
            <a:avLst/>
          </a:prstGeom>
          <a:noFill/>
          <a:ln w="9525">
            <a:solidFill>
              <a:srgbClr val="D9DED9"/>
            </a:solidFill>
            <a:prstDash val="solid"/>
          </a:ln>
        </p:spPr>
      </p:sp>
      <p:sp>
        <p:nvSpPr>
          <p:cNvPr id="15" name="badge 2"/>
          <p:cNvSpPr/>
          <p:nvPr/>
        </p:nvSpPr>
        <p:spPr>
          <a:xfrm>
            <a:off x="5230368" y="2560320"/>
            <a:ext cx="274320" cy="274320"/>
          </a:xfrm>
          <a:prstGeom prst="ellipse">
            <a:avLst/>
          </a:prstGeom>
          <a:solidFill>
            <a:srgbClr val="E07B2E"/>
          </a:solidFill>
          <a:ln w="12700">
            <a:solidFill>
              <a:srgbClr val="E07B2E"/>
            </a:solidFill>
            <a:prstDash val="solid"/>
          </a:ln>
        </p:spPr>
      </p:sp>
      <p:sp>
        <p:nvSpPr>
          <p:cNvPr id="16" name="badge text 2"/>
          <p:cNvSpPr txBox="1"/>
          <p:nvPr/>
        </p:nvSpPr>
        <p:spPr>
          <a:xfrm>
            <a:off x="5230368" y="2560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7" name="cap title 2"/>
          <p:cNvSpPr txBox="1"/>
          <p:nvPr/>
        </p:nvSpPr>
        <p:spPr>
          <a:xfrm>
            <a:off x="5614416" y="2542032"/>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입고 추천 · 마감 할인</a:t>
            </a:r>
            <a:endParaRPr lang="en-US" sz="1250" dirty="0"/>
          </a:p>
        </p:txBody>
      </p:sp>
      <p:sp>
        <p:nvSpPr>
          <p:cNvPr id="18" name="cap desc 2"/>
          <p:cNvSpPr txBox="1"/>
          <p:nvPr/>
        </p:nvSpPr>
        <p:spPr>
          <a:xfrm>
            <a:off x="5614416" y="2843784"/>
            <a:ext cx="3108960" cy="402336"/>
          </a:xfrm>
          <a:prstGeom prst="rect">
            <a:avLst/>
          </a:prstGeom>
          <a:noFill/>
          <a:ln/>
        </p:spPr>
        <p:txBody>
          <a:bodyPr wrap="square" lIns="0" tIns="0" rIns="0" bIns="0" rtlCol="0" anchor="ctr"/>
          <a:lstStyle/>
          <a:p>
            <a:pPr indent="0" marL="0">
              <a:buNone/>
            </a:pPr>
            <a:r>
              <a:rPr lang="en-US" sz="1000" dirty="0">
                <a:solidFill>
                  <a:srgbClr val="4A524D"/>
                </a:solidFill>
              </a:rPr>
              <a:t>판매 이력 · 요일 · 날씨로 내일 입고량, 19시 이후 잔여 재고 할인 제안</a:t>
            </a:r>
            <a:endParaRPr lang="en-US" sz="1000" dirty="0"/>
          </a:p>
        </p:txBody>
      </p:sp>
      <p:sp>
        <p:nvSpPr>
          <p:cNvPr id="19" name="cap impl 2"/>
          <p:cNvSpPr txBox="1"/>
          <p:nvPr/>
        </p:nvSpPr>
        <p:spPr>
          <a:xfrm>
            <a:off x="5614416" y="3246120"/>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시계열 예측 → 머신러닝</a:t>
            </a:r>
            <a:endParaRPr lang="en-US" sz="950" dirty="0"/>
          </a:p>
        </p:txBody>
      </p:sp>
      <p:sp>
        <p:nvSpPr>
          <p:cNvPr id="20" name="cap rule 1"/>
          <p:cNvSpPr/>
          <p:nvPr/>
        </p:nvSpPr>
        <p:spPr>
          <a:xfrm>
            <a:off x="5614416" y="3493008"/>
            <a:ext cx="3108960" cy="0"/>
          </a:xfrm>
          <a:prstGeom prst="line">
            <a:avLst/>
          </a:prstGeom>
          <a:noFill/>
          <a:ln w="9525">
            <a:solidFill>
              <a:srgbClr val="D9DED9"/>
            </a:solidFill>
            <a:prstDash val="solid"/>
          </a:ln>
        </p:spPr>
      </p:sp>
      <p:sp>
        <p:nvSpPr>
          <p:cNvPr id="21" name="badge 3"/>
          <p:cNvSpPr/>
          <p:nvPr/>
        </p:nvSpPr>
        <p:spPr>
          <a:xfrm>
            <a:off x="5230368" y="3547872"/>
            <a:ext cx="274320" cy="274320"/>
          </a:xfrm>
          <a:prstGeom prst="ellipse">
            <a:avLst/>
          </a:prstGeom>
          <a:solidFill>
            <a:srgbClr val="E07B2E"/>
          </a:solidFill>
          <a:ln w="12700">
            <a:solidFill>
              <a:srgbClr val="E07B2E"/>
            </a:solidFill>
            <a:prstDash val="solid"/>
          </a:ln>
        </p:spPr>
      </p:sp>
      <p:sp>
        <p:nvSpPr>
          <p:cNvPr id="22" name="badge text 3"/>
          <p:cNvSpPr txBox="1"/>
          <p:nvPr/>
        </p:nvSpPr>
        <p:spPr>
          <a:xfrm>
            <a:off x="5230368" y="3547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23" name="cap title 3"/>
          <p:cNvSpPr txBox="1"/>
          <p:nvPr/>
        </p:nvSpPr>
        <p:spPr>
          <a:xfrm>
            <a:off x="5614416" y="3529584"/>
            <a:ext cx="3108960" cy="292608"/>
          </a:xfrm>
          <a:prstGeom prst="rect">
            <a:avLst/>
          </a:prstGeom>
          <a:noFill/>
          <a:ln/>
        </p:spPr>
        <p:txBody>
          <a:bodyPr wrap="square" lIns="0" tIns="0" rIns="0" bIns="0" rtlCol="0" anchor="ctr"/>
          <a:lstStyle/>
          <a:p>
            <a:pPr indent="0" marL="0">
              <a:buNone/>
            </a:pPr>
            <a:r>
              <a:rPr lang="en-US" sz="1250" b="1" dirty="0">
                <a:solidFill>
                  <a:srgbClr val="1F2421"/>
                </a:solidFill>
              </a:rPr>
              <a:t>도감 안전 정보</a:t>
            </a:r>
            <a:endParaRPr lang="en-US" sz="1250" dirty="0"/>
          </a:p>
        </p:txBody>
      </p:sp>
      <p:sp>
        <p:nvSpPr>
          <p:cNvPr id="24" name="cap desc 3"/>
          <p:cNvSpPr txBox="1"/>
          <p:nvPr/>
        </p:nvSpPr>
        <p:spPr>
          <a:xfrm>
            <a:off x="5614416" y="3831336"/>
            <a:ext cx="3108960" cy="402336"/>
          </a:xfrm>
          <a:prstGeom prst="rect">
            <a:avLst/>
          </a:prstGeom>
          <a:noFill/>
          <a:ln/>
        </p:spPr>
        <p:txBody>
          <a:bodyPr wrap="square" lIns="0" tIns="0" rIns="0" bIns="0" rtlCol="0" anchor="ctr"/>
          <a:lstStyle/>
          <a:p>
            <a:pPr indent="0" marL="0">
              <a:buNone/>
            </a:pPr>
            <a:r>
              <a:rPr lang="en-US" sz="1000" dirty="0">
                <a:solidFill>
                  <a:srgbClr val="4A524D"/>
                </a:solidFill>
              </a:rPr>
              <a:t>꼭 데쳐 먹는 나물 · 원산지 확인 안내, 야생 채취 식물 판별은 하지 않음</a:t>
            </a:r>
            <a:endParaRPr lang="en-US" sz="1000" dirty="0"/>
          </a:p>
        </p:txBody>
      </p:sp>
      <p:sp>
        <p:nvSpPr>
          <p:cNvPr id="25" name="cap impl 3"/>
          <p:cNvSpPr txBox="1"/>
          <p:nvPr/>
        </p:nvSpPr>
        <p:spPr>
          <a:xfrm>
            <a:off x="5614416" y="4233672"/>
            <a:ext cx="3108960" cy="219456"/>
          </a:xfrm>
          <a:prstGeom prst="rect">
            <a:avLst/>
          </a:prstGeom>
          <a:noFill/>
          <a:ln/>
        </p:spPr>
        <p:txBody>
          <a:bodyPr wrap="square" lIns="0" tIns="0" rIns="0" bIns="0" rtlCol="0" anchor="ctr"/>
          <a:lstStyle/>
          <a:p>
            <a:pPr indent="0" marL="0">
              <a:buNone/>
            </a:pPr>
            <a:r>
              <a:rPr lang="en-US" sz="950" b="1" dirty="0">
                <a:solidFill>
                  <a:srgbClr val="1E4D3A"/>
                </a:solidFill>
              </a:rPr>
              <a:t>구현  </a:t>
            </a:r>
            <a:pPr indent="0" marL="0">
              <a:buNone/>
            </a:pPr>
            <a:r>
              <a:rPr lang="en-US" sz="950" dirty="0">
                <a:solidFill>
                  <a:srgbClr val="4A524D"/>
                </a:solidFill>
              </a:rPr>
              <a:t>식약처 안내 기반 도감 데이터</a:t>
            </a:r>
            <a:endParaRPr lang="en-US" sz="950" dirty="0"/>
          </a:p>
        </p:txBody>
      </p:sp>
      <p:sp>
        <p:nvSpPr>
          <p:cNvPr id="26"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직접 만든 웹앱 프로토타입 화면 (매장·가격·수치는 시연용 예시) · 3D 아이콘 Microsoft Fluent Emoji (MIT)</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body" hasCustomPrompt="1"/>
          </p:nvPr>
        </p:nvSpPr>
        <p:spPr>
          <a:xfrm>
            <a:off x="411480" y="201168"/>
            <a:ext cx="5486400" cy="237744"/>
          </a:xfrm>
          <a:prstGeom prst="rect">
            <a:avLst/>
          </a:prstGeom>
          <a:noFill/>
          <a:ln/>
        </p:spPr>
        <p:txBody>
          <a:bodyPr wrap="square" lIns="0" tIns="0" rIns="0" bIns="0" rtlCol="0" anchor="ctr"/>
          <a:lstStyle/>
          <a:p>
            <a:pPr indent="0" marL="0">
              <a:buNone/>
            </a:pPr>
            <a:r>
              <a:rPr lang="en-US" sz="1000" b="1" dirty="0">
                <a:solidFill>
                  <a:schemeClr val="accent1"/>
                </a:solidFill>
              </a:rPr>
              <a:t>Ⅱ. 사업 개요</a:t>
            </a:r>
            <a:endParaRPr lang="en-US" sz="1000" dirty="0"/>
          </a:p>
        </p:txBody>
      </p:sp>
      <p:sp>
        <p:nvSpPr>
          <p:cNvPr id="4" name="Text 1"/>
          <p:cNvSpPr/>
          <p:nvPr>
            <p:ph idx="102" type="title" hasCustomPrompt="1"/>
          </p:nvPr>
        </p:nvSpPr>
        <p:spPr>
          <a:xfrm>
            <a:off x="411480" y="438912"/>
            <a:ext cx="5486400" cy="420624"/>
          </a:xfrm>
          <a:prstGeom prst="rect">
            <a:avLst/>
          </a:prstGeom>
          <a:noFill/>
          <a:ln/>
        </p:spPr>
        <p:txBody>
          <a:bodyPr wrap="square" lIns="0" tIns="0" rIns="0" bIns="0" rtlCol="0" anchor="ctr"/>
          <a:lstStyle/>
          <a:p>
            <a:pPr algn="l" indent="0" marL="0">
              <a:buNone/>
            </a:pPr>
            <a:r>
              <a:rPr lang="en-US" sz="2200" b="1" dirty="0">
                <a:solidFill>
                  <a:schemeClr val="tx1"/>
                </a:solidFill>
              </a:rPr>
              <a:t>서비스 시연</a:t>
            </a:r>
            <a:endParaRPr lang="en-US" sz="2200" dirty="0"/>
          </a:p>
        </p:txBody>
      </p:sp>
      <p:sp>
        <p:nvSpPr>
          <p:cNvPr id="5" name="demo sub"/>
          <p:cNvSpPr txBox="1"/>
          <p:nvPr/>
        </p:nvSpPr>
        <p:spPr>
          <a:xfrm>
            <a:off x="411480" y="914400"/>
            <a:ext cx="5486400" cy="292608"/>
          </a:xfrm>
          <a:prstGeom prst="rect">
            <a:avLst/>
          </a:prstGeom>
          <a:noFill/>
          <a:ln/>
        </p:spPr>
        <p:txBody>
          <a:bodyPr wrap="square" lIns="0" tIns="0" rIns="0" bIns="0" rtlCol="0" anchor="ctr"/>
          <a:lstStyle/>
          <a:p>
            <a:pPr indent="0" marL="0">
              <a:buNone/>
            </a:pPr>
            <a:r>
              <a:rPr lang="en-US" sz="1250" b="1" dirty="0">
                <a:solidFill>
                  <a:srgbClr val="4A524D"/>
                </a:solidFill>
              </a:rPr>
              <a:t>맞벌이 부모의 평일 저녁 — 실제 웹앱 화면 녹화</a:t>
            </a:r>
            <a:endParaRPr lang="en-US" sz="1250" dirty="0"/>
          </a:p>
        </p:txBody>
      </p:sp>
      <p:sp>
        <p:nvSpPr>
          <p:cNvPr id="6" name="timeline"/>
          <p:cNvSpPr/>
          <p:nvPr/>
        </p:nvSpPr>
        <p:spPr>
          <a:xfrm>
            <a:off x="758952" y="1417320"/>
            <a:ext cx="0" cy="2377440"/>
          </a:xfrm>
          <a:prstGeom prst="line">
            <a:avLst/>
          </a:prstGeom>
          <a:noFill/>
          <a:ln w="19050">
            <a:solidFill>
              <a:srgbClr val="D9DED9"/>
            </a:solidFill>
            <a:prstDash val="solid"/>
          </a:ln>
        </p:spPr>
      </p:sp>
      <p:sp>
        <p:nvSpPr>
          <p:cNvPr id="7" name="time pill 0"/>
          <p:cNvSpPr/>
          <p:nvPr/>
        </p:nvSpPr>
        <p:spPr>
          <a:xfrm>
            <a:off x="411480" y="1335024"/>
            <a:ext cx="694944" cy="274320"/>
          </a:xfrm>
          <a:prstGeom prst="roundRect">
            <a:avLst>
              <a:gd name="adj" fmla="val 50000"/>
            </a:avLst>
          </a:prstGeom>
          <a:solidFill>
            <a:srgbClr val="1E4D3A"/>
          </a:solidFill>
          <a:ln w="12700">
            <a:solidFill>
              <a:srgbClr val="1E4D3A"/>
            </a:solidFill>
            <a:prstDash val="solid"/>
          </a:ln>
        </p:spPr>
      </p:sp>
      <p:sp>
        <p:nvSpPr>
          <p:cNvPr id="8" name="time text 0"/>
          <p:cNvSpPr txBox="1"/>
          <p:nvPr/>
        </p:nvSpPr>
        <p:spPr>
          <a:xfrm>
            <a:off x="411480" y="1335024"/>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17:00</a:t>
            </a:r>
            <a:endParaRPr lang="en-US" sz="950" dirty="0"/>
          </a:p>
        </p:txBody>
      </p:sp>
      <p:sp>
        <p:nvSpPr>
          <p:cNvPr id="9" name="demo step 0"/>
          <p:cNvSpPr txBox="1"/>
          <p:nvPr/>
        </p:nvSpPr>
        <p:spPr>
          <a:xfrm>
            <a:off x="1261872" y="1298448"/>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AI 셰프에게 질문</a:t>
            </a:r>
            <a:endParaRPr lang="en-US" sz="1200" dirty="0"/>
          </a:p>
        </p:txBody>
      </p:sp>
      <p:sp>
        <p:nvSpPr>
          <p:cNvPr id="10" name="demo detail 0"/>
          <p:cNvSpPr txBox="1"/>
          <p:nvPr/>
        </p:nvSpPr>
        <p:spPr>
          <a:xfrm>
            <a:off x="1261872" y="1536192"/>
            <a:ext cx="4480560" cy="219456"/>
          </a:xfrm>
          <a:prstGeom prst="rect">
            <a:avLst/>
          </a:prstGeom>
          <a:noFill/>
          <a:ln/>
        </p:spPr>
        <p:txBody>
          <a:bodyPr wrap="square" lIns="0" tIns="0" rIns="0" bIns="0" rtlCol="0" anchor="ctr"/>
          <a:lstStyle/>
          <a:p>
            <a:pPr indent="0" marL="0">
              <a:buNone/>
            </a:pPr>
            <a:r>
              <a:rPr lang="en-US" sz="1000" dirty="0">
                <a:solidFill>
                  <a:srgbClr val="4A524D"/>
                </a:solidFill>
              </a:rPr>
              <a:t>‘다섯 살 아이랑 먹을 순한 반찬’</a:t>
            </a:r>
            <a:endParaRPr lang="en-US" sz="1000" dirty="0"/>
          </a:p>
        </p:txBody>
      </p:sp>
      <p:sp>
        <p:nvSpPr>
          <p:cNvPr id="11" name="time pill 1"/>
          <p:cNvSpPr/>
          <p:nvPr/>
        </p:nvSpPr>
        <p:spPr>
          <a:xfrm>
            <a:off x="411480" y="1810512"/>
            <a:ext cx="694944" cy="274320"/>
          </a:xfrm>
          <a:prstGeom prst="roundRect">
            <a:avLst>
              <a:gd name="adj" fmla="val 50000"/>
            </a:avLst>
          </a:prstGeom>
          <a:solidFill>
            <a:srgbClr val="1E4D3A"/>
          </a:solidFill>
          <a:ln w="12700">
            <a:solidFill>
              <a:srgbClr val="1E4D3A"/>
            </a:solidFill>
            <a:prstDash val="solid"/>
          </a:ln>
        </p:spPr>
      </p:sp>
      <p:sp>
        <p:nvSpPr>
          <p:cNvPr id="12" name="time text 1"/>
          <p:cNvSpPr txBox="1"/>
          <p:nvPr/>
        </p:nvSpPr>
        <p:spPr>
          <a:xfrm>
            <a:off x="411480" y="1810512"/>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17:01</a:t>
            </a:r>
            <a:endParaRPr lang="en-US" sz="950" dirty="0"/>
          </a:p>
        </p:txBody>
      </p:sp>
      <p:sp>
        <p:nvSpPr>
          <p:cNvPr id="13" name="demo step 1"/>
          <p:cNvSpPr txBox="1"/>
          <p:nvPr/>
        </p:nvSpPr>
        <p:spPr>
          <a:xfrm>
            <a:off x="1261872" y="1773936"/>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추천 3가지</a:t>
            </a:r>
            <a:endParaRPr lang="en-US" sz="1200" dirty="0"/>
          </a:p>
        </p:txBody>
      </p:sp>
      <p:sp>
        <p:nvSpPr>
          <p:cNvPr id="14" name="demo detail 1"/>
          <p:cNvSpPr txBox="1"/>
          <p:nvPr/>
        </p:nvSpPr>
        <p:spPr>
          <a:xfrm>
            <a:off x="1261872" y="2011680"/>
            <a:ext cx="4480560" cy="219456"/>
          </a:xfrm>
          <a:prstGeom prst="rect">
            <a:avLst/>
          </a:prstGeom>
          <a:noFill/>
          <a:ln/>
        </p:spPr>
        <p:txBody>
          <a:bodyPr wrap="square" lIns="0" tIns="0" rIns="0" bIns="0" rtlCol="0" anchor="ctr"/>
          <a:lstStyle/>
          <a:p>
            <a:pPr indent="0" marL="0">
              <a:buNone/>
            </a:pPr>
            <a:r>
              <a:rPr lang="en-US" sz="1000" dirty="0">
                <a:solidFill>
                  <a:srgbClr val="4A524D"/>
                </a:solidFill>
              </a:rPr>
              <a:t>오늘 동네 재고 기반 · 아이 선호도 표시</a:t>
            </a:r>
            <a:endParaRPr lang="en-US" sz="1000" dirty="0"/>
          </a:p>
        </p:txBody>
      </p:sp>
      <p:sp>
        <p:nvSpPr>
          <p:cNvPr id="15" name="time pill 2"/>
          <p:cNvSpPr/>
          <p:nvPr/>
        </p:nvSpPr>
        <p:spPr>
          <a:xfrm>
            <a:off x="411480" y="2286000"/>
            <a:ext cx="694944" cy="274320"/>
          </a:xfrm>
          <a:prstGeom prst="roundRect">
            <a:avLst>
              <a:gd name="adj" fmla="val 50000"/>
            </a:avLst>
          </a:prstGeom>
          <a:solidFill>
            <a:srgbClr val="1E4D3A"/>
          </a:solidFill>
          <a:ln w="12700">
            <a:solidFill>
              <a:srgbClr val="1E4D3A"/>
            </a:solidFill>
            <a:prstDash val="solid"/>
          </a:ln>
        </p:spPr>
      </p:sp>
      <p:sp>
        <p:nvSpPr>
          <p:cNvPr id="16" name="time text 2"/>
          <p:cNvSpPr txBox="1"/>
          <p:nvPr/>
        </p:nvSpPr>
        <p:spPr>
          <a:xfrm>
            <a:off x="411480" y="2286000"/>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17:02</a:t>
            </a:r>
            <a:endParaRPr lang="en-US" sz="950" dirty="0"/>
          </a:p>
        </p:txBody>
      </p:sp>
      <p:sp>
        <p:nvSpPr>
          <p:cNvPr id="17" name="demo step 2"/>
          <p:cNvSpPr txBox="1"/>
          <p:nvPr/>
        </p:nvSpPr>
        <p:spPr>
          <a:xfrm>
            <a:off x="1261872" y="2249424"/>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레시피 · 재료 담기</a:t>
            </a:r>
            <a:endParaRPr lang="en-US" sz="1200" dirty="0"/>
          </a:p>
        </p:txBody>
      </p:sp>
      <p:sp>
        <p:nvSpPr>
          <p:cNvPr id="18" name="demo detail 2"/>
          <p:cNvSpPr txBox="1"/>
          <p:nvPr/>
        </p:nvSpPr>
        <p:spPr>
          <a:xfrm>
            <a:off x="1261872" y="2487168"/>
            <a:ext cx="4480560" cy="219456"/>
          </a:xfrm>
          <a:prstGeom prst="rect">
            <a:avLst/>
          </a:prstGeom>
          <a:noFill/>
          <a:ln/>
        </p:spPr>
        <p:txBody>
          <a:bodyPr wrap="square" lIns="0" tIns="0" rIns="0" bIns="0" rtlCol="0" anchor="ctr"/>
          <a:lstStyle/>
          <a:p>
            <a:pPr indent="0" marL="0">
              <a:buNone/>
            </a:pPr>
            <a:r>
              <a:rPr lang="en-US" sz="1000" dirty="0">
                <a:solidFill>
                  <a:srgbClr val="4A524D"/>
                </a:solidFill>
              </a:rPr>
              <a:t>데치기 구간으로 이동 → 참나물 담기</a:t>
            </a:r>
            <a:endParaRPr lang="en-US" sz="1000" dirty="0"/>
          </a:p>
        </p:txBody>
      </p:sp>
      <p:sp>
        <p:nvSpPr>
          <p:cNvPr id="19" name="time pill 3"/>
          <p:cNvSpPr/>
          <p:nvPr/>
        </p:nvSpPr>
        <p:spPr>
          <a:xfrm>
            <a:off x="411480" y="2761488"/>
            <a:ext cx="694944" cy="274320"/>
          </a:xfrm>
          <a:prstGeom prst="roundRect">
            <a:avLst>
              <a:gd name="adj" fmla="val 50000"/>
            </a:avLst>
          </a:prstGeom>
          <a:solidFill>
            <a:srgbClr val="1E4D3A"/>
          </a:solidFill>
          <a:ln w="12700">
            <a:solidFill>
              <a:srgbClr val="1E4D3A"/>
            </a:solidFill>
            <a:prstDash val="solid"/>
          </a:ln>
        </p:spPr>
      </p:sp>
      <p:sp>
        <p:nvSpPr>
          <p:cNvPr id="20" name="time text 3"/>
          <p:cNvSpPr txBox="1"/>
          <p:nvPr/>
        </p:nvSpPr>
        <p:spPr>
          <a:xfrm>
            <a:off x="411480" y="2761488"/>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17:02</a:t>
            </a:r>
            <a:endParaRPr lang="en-US" sz="950" dirty="0"/>
          </a:p>
        </p:txBody>
      </p:sp>
      <p:sp>
        <p:nvSpPr>
          <p:cNvPr id="21" name="demo step 3"/>
          <p:cNvSpPr txBox="1"/>
          <p:nvPr/>
        </p:nvSpPr>
        <p:spPr>
          <a:xfrm>
            <a:off x="1261872" y="2724912"/>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동네 매장 선택</a:t>
            </a:r>
            <a:endParaRPr lang="en-US" sz="1200" dirty="0"/>
          </a:p>
        </p:txBody>
      </p:sp>
      <p:sp>
        <p:nvSpPr>
          <p:cNvPr id="22" name="demo detail 3"/>
          <p:cNvSpPr txBox="1"/>
          <p:nvPr/>
        </p:nvSpPr>
        <p:spPr>
          <a:xfrm>
            <a:off x="1261872" y="2962656"/>
            <a:ext cx="4480560" cy="219456"/>
          </a:xfrm>
          <a:prstGeom prst="rect">
            <a:avLst/>
          </a:prstGeom>
          <a:noFill/>
          <a:ln/>
        </p:spPr>
        <p:txBody>
          <a:bodyPr wrap="square" lIns="0" tIns="0" rIns="0" bIns="0" rtlCol="0" anchor="ctr"/>
          <a:lstStyle/>
          <a:p>
            <a:pPr indent="0" marL="0">
              <a:buNone/>
            </a:pPr>
            <a:r>
              <a:rPr lang="en-US" sz="1000" dirty="0">
                <a:solidFill>
                  <a:srgbClr val="4A524D"/>
                </a:solidFill>
              </a:rPr>
              <a:t>600m 초록나물상회 · 오늘 09:12 입고</a:t>
            </a:r>
            <a:endParaRPr lang="en-US" sz="1000" dirty="0"/>
          </a:p>
        </p:txBody>
      </p:sp>
      <p:sp>
        <p:nvSpPr>
          <p:cNvPr id="23" name="time pill 4"/>
          <p:cNvSpPr/>
          <p:nvPr/>
        </p:nvSpPr>
        <p:spPr>
          <a:xfrm>
            <a:off x="411480" y="3236976"/>
            <a:ext cx="694944" cy="274320"/>
          </a:xfrm>
          <a:prstGeom prst="roundRect">
            <a:avLst>
              <a:gd name="adj" fmla="val 50000"/>
            </a:avLst>
          </a:prstGeom>
          <a:solidFill>
            <a:srgbClr val="1E4D3A"/>
          </a:solidFill>
          <a:ln w="12700">
            <a:solidFill>
              <a:srgbClr val="1E4D3A"/>
            </a:solidFill>
            <a:prstDash val="solid"/>
          </a:ln>
        </p:spPr>
      </p:sp>
      <p:sp>
        <p:nvSpPr>
          <p:cNvPr id="24" name="time text 4"/>
          <p:cNvSpPr txBox="1"/>
          <p:nvPr/>
        </p:nvSpPr>
        <p:spPr>
          <a:xfrm>
            <a:off x="411480" y="3236976"/>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17:03</a:t>
            </a:r>
            <a:endParaRPr lang="en-US" sz="950" dirty="0"/>
          </a:p>
        </p:txBody>
      </p:sp>
      <p:sp>
        <p:nvSpPr>
          <p:cNvPr id="25" name="demo step 4"/>
          <p:cNvSpPr txBox="1"/>
          <p:nvPr/>
        </p:nvSpPr>
        <p:spPr>
          <a:xfrm>
            <a:off x="1261872" y="3200400"/>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손질 · 18:00 픽업 예약</a:t>
            </a:r>
            <a:endParaRPr lang="en-US" sz="1200" dirty="0"/>
          </a:p>
        </p:txBody>
      </p:sp>
      <p:sp>
        <p:nvSpPr>
          <p:cNvPr id="26" name="demo detail 4"/>
          <p:cNvSpPr txBox="1"/>
          <p:nvPr/>
        </p:nvSpPr>
        <p:spPr>
          <a:xfrm>
            <a:off x="1261872" y="3438144"/>
            <a:ext cx="4480560" cy="219456"/>
          </a:xfrm>
          <a:prstGeom prst="rect">
            <a:avLst/>
          </a:prstGeom>
          <a:noFill/>
          <a:ln/>
        </p:spPr>
        <p:txBody>
          <a:bodyPr wrap="square" lIns="0" tIns="0" rIns="0" bIns="0" rtlCol="0" anchor="ctr"/>
          <a:lstStyle/>
          <a:p>
            <a:pPr indent="0" marL="0">
              <a:buNone/>
            </a:pPr>
            <a:r>
              <a:rPr lang="en-US" sz="1000" dirty="0">
                <a:solidFill>
                  <a:srgbClr val="4A524D"/>
                </a:solidFill>
              </a:rPr>
              <a:t>4,000원 · 픽업 번호 N-2381</a:t>
            </a:r>
            <a:endParaRPr lang="en-US" sz="1000" dirty="0"/>
          </a:p>
        </p:txBody>
      </p:sp>
      <p:sp>
        <p:nvSpPr>
          <p:cNvPr id="27" name="time pill 5"/>
          <p:cNvSpPr/>
          <p:nvPr/>
        </p:nvSpPr>
        <p:spPr>
          <a:xfrm>
            <a:off x="411480" y="3712464"/>
            <a:ext cx="694944" cy="274320"/>
          </a:xfrm>
          <a:prstGeom prst="roundRect">
            <a:avLst>
              <a:gd name="adj" fmla="val 50000"/>
            </a:avLst>
          </a:prstGeom>
          <a:solidFill>
            <a:srgbClr val="E07B2E"/>
          </a:solidFill>
          <a:ln w="12700">
            <a:solidFill>
              <a:srgbClr val="E07B2E"/>
            </a:solidFill>
            <a:prstDash val="solid"/>
          </a:ln>
        </p:spPr>
      </p:sp>
      <p:sp>
        <p:nvSpPr>
          <p:cNvPr id="28" name="time text 5"/>
          <p:cNvSpPr txBox="1"/>
          <p:nvPr/>
        </p:nvSpPr>
        <p:spPr>
          <a:xfrm>
            <a:off x="411480" y="3712464"/>
            <a:ext cx="694944" cy="274320"/>
          </a:xfrm>
          <a:prstGeom prst="rect">
            <a:avLst/>
          </a:prstGeom>
          <a:noFill/>
          <a:ln/>
        </p:spPr>
        <p:txBody>
          <a:bodyPr wrap="square" lIns="0" tIns="0" rIns="0" bIns="0" rtlCol="0" anchor="ctr"/>
          <a:lstStyle/>
          <a:p>
            <a:pPr algn="ctr" indent="0" marL="0">
              <a:buNone/>
            </a:pPr>
            <a:r>
              <a:rPr lang="en-US" sz="950" b="1" dirty="0">
                <a:solidFill>
                  <a:srgbClr val="FFFFFF"/>
                </a:solidFill>
              </a:rPr>
              <a:t>17:03</a:t>
            </a:r>
            <a:endParaRPr lang="en-US" sz="950" dirty="0"/>
          </a:p>
        </p:txBody>
      </p:sp>
      <p:sp>
        <p:nvSpPr>
          <p:cNvPr id="29" name="demo step 5"/>
          <p:cNvSpPr txBox="1"/>
          <p:nvPr/>
        </p:nvSpPr>
        <p:spPr>
          <a:xfrm>
            <a:off x="1261872" y="3675888"/>
            <a:ext cx="4480560" cy="237744"/>
          </a:xfrm>
          <a:prstGeom prst="rect">
            <a:avLst/>
          </a:prstGeom>
          <a:noFill/>
          <a:ln/>
        </p:spPr>
        <p:txBody>
          <a:bodyPr wrap="square" lIns="0" tIns="0" rIns="0" bIns="0" rtlCol="0" anchor="ctr"/>
          <a:lstStyle/>
          <a:p>
            <a:pPr indent="0" marL="0">
              <a:buNone/>
            </a:pPr>
            <a:r>
              <a:rPr lang="en-US" sz="1200" b="1" dirty="0">
                <a:solidFill>
                  <a:srgbClr val="1F2421"/>
                </a:solidFill>
              </a:rPr>
              <a:t>사장님 대화방에 주문 도착</a:t>
            </a:r>
            <a:endParaRPr lang="en-US" sz="1200" dirty="0"/>
          </a:p>
        </p:txBody>
      </p:sp>
      <p:sp>
        <p:nvSpPr>
          <p:cNvPr id="30" name="demo detail 5"/>
          <p:cNvSpPr txBox="1"/>
          <p:nvPr/>
        </p:nvSpPr>
        <p:spPr>
          <a:xfrm>
            <a:off x="1261872" y="3913632"/>
            <a:ext cx="4480560" cy="219456"/>
          </a:xfrm>
          <a:prstGeom prst="rect">
            <a:avLst/>
          </a:prstGeom>
          <a:noFill/>
          <a:ln/>
        </p:spPr>
        <p:txBody>
          <a:bodyPr wrap="square" lIns="0" tIns="0" rIns="0" bIns="0" rtlCol="0" anchor="ctr"/>
          <a:lstStyle/>
          <a:p>
            <a:pPr indent="0" marL="0">
              <a:buNone/>
            </a:pPr>
            <a:r>
              <a:rPr lang="en-US" sz="1000" dirty="0">
                <a:solidFill>
                  <a:srgbClr val="4A524D"/>
                </a:solidFill>
              </a:rPr>
              <a:t>한 번에 접수 · 17:40까지 손질</a:t>
            </a:r>
            <a:endParaRPr lang="en-US" sz="1000" dirty="0"/>
          </a:p>
        </p:txBody>
      </p:sp>
      <p:sp>
        <p:nvSpPr>
          <p:cNvPr id="31" name="demo note band"/>
          <p:cNvSpPr/>
          <p:nvPr/>
        </p:nvSpPr>
        <p:spPr>
          <a:xfrm>
            <a:off x="411480" y="4187952"/>
            <a:ext cx="5440680" cy="384048"/>
          </a:xfrm>
          <a:prstGeom prst="rect">
            <a:avLst/>
          </a:prstGeom>
          <a:solidFill>
            <a:srgbClr val="F2F4F2"/>
          </a:solidFill>
          <a:ln w="12700">
            <a:solidFill>
              <a:srgbClr val="F2F4F2"/>
            </a:solidFill>
            <a:prstDash val="solid"/>
          </a:ln>
        </p:spPr>
      </p:sp>
      <p:sp>
        <p:nvSpPr>
          <p:cNvPr id="32" name="demo result"/>
          <p:cNvSpPr txBox="1"/>
          <p:nvPr/>
        </p:nvSpPr>
        <p:spPr>
          <a:xfrm>
            <a:off x="548640" y="4187952"/>
            <a:ext cx="5212080" cy="384048"/>
          </a:xfrm>
          <a:prstGeom prst="rect">
            <a:avLst/>
          </a:prstGeom>
          <a:noFill/>
          <a:ln/>
        </p:spPr>
        <p:txBody>
          <a:bodyPr wrap="square" lIns="0" tIns="0" rIns="0" bIns="0" rtlCol="0" anchor="ctr"/>
          <a:lstStyle/>
          <a:p>
            <a:pPr indent="0" marL="0">
              <a:buNone/>
            </a:pPr>
            <a:r>
              <a:rPr lang="en-US" sz="1050" b="1" dirty="0">
                <a:solidFill>
                  <a:srgbClr val="1E4D3A"/>
                </a:solidFill>
              </a:rPr>
              <a:t>결과  </a:t>
            </a:r>
            <a:pPr indent="0" marL="0">
              <a:buNone/>
            </a:pPr>
            <a:r>
              <a:rPr lang="en-US" sz="1050" dirty="0">
                <a:solidFill>
                  <a:srgbClr val="1F2421"/>
                </a:solidFill>
              </a:rPr>
              <a:t>메뉴 결정부터 예약까지 약 1분 · 매장은 주문 수신과 손질만으로 추가 매출</a:t>
            </a:r>
            <a:endParaRPr lang="en-US" sz="1050" dirty="0"/>
          </a:p>
        </p:txBody>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355080" y="329184"/>
            <a:ext cx="2084706" cy="4370832"/>
          </a:xfrm>
          <a:prstGeom prst="rect">
            <a:avLst/>
          </a:prstGeom>
        </p:spPr>
      </p:pic>
      <p:sp>
        <p:nvSpPr>
          <p:cNvPr id="34" name="demo caption"/>
          <p:cNvSpPr txBox="1"/>
          <p:nvPr/>
        </p:nvSpPr>
        <p:spPr>
          <a:xfrm>
            <a:off x="5989320" y="4736592"/>
            <a:ext cx="2816226" cy="228600"/>
          </a:xfrm>
          <a:prstGeom prst="rect">
            <a:avLst/>
          </a:prstGeom>
          <a:noFill/>
          <a:ln/>
        </p:spPr>
        <p:txBody>
          <a:bodyPr wrap="square" lIns="0" tIns="0" rIns="0" bIns="0" rtlCol="0" anchor="ctr"/>
          <a:lstStyle/>
          <a:p>
            <a:pPr algn="ctr" indent="0" marL="0">
              <a:buNone/>
            </a:pPr>
            <a:r>
              <a:rPr lang="en-US" sz="850" dirty="0">
                <a:solidFill>
                  <a:srgbClr val="7A837D"/>
                </a:solidFill>
              </a:rPr>
              <a:t>영상: 슬라이드 쇼에서 재생 · AI 응답은 시연용 예시</a:t>
            </a:r>
            <a:endParaRPr lang="en-US" sz="850" dirty="0"/>
          </a:p>
        </p:txBody>
      </p:sp>
      <p:sp>
        <p:nvSpPr>
          <p:cNvPr id="25" name="Slide Number Placeholder 0"/>
          <p:cNvSpPr>
            <a:spLocks noGrp="1"/>
          </p:cNvSpPr>
          <p:nvPr>
            <p:ph type="sldNum" sz="quarter" idx="4294967295"/>
          </p:nvPr>
        </p:nvSpPr>
        <p:spPr>
          <a:xfrm>
            <a:off x="54864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Ⅲ. 사업성</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목표 시장 규모</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먹거리 거래 시장 68.7조 원 중 수도권 채소·나물류 약 1.7조 원을 1차 목표 시장(SAM)으로 설정함</a:t>
            </a:r>
            <a:endParaRPr lang="en-US" sz="1250" dirty="0"/>
          </a:p>
        </p:txBody>
      </p:sp>
      <p:sp>
        <p:nvSpPr>
          <p:cNvPr id="6" name="funnel TAM"/>
          <p:cNvSpPr/>
          <p:nvPr/>
        </p:nvSpPr>
        <p:spPr>
          <a:xfrm flipV="1">
            <a:off x="457200" y="1572768"/>
            <a:ext cx="3108960" cy="731520"/>
          </a:xfrm>
          <a:prstGeom prst="trapezoid">
            <a:avLst/>
          </a:prstGeom>
          <a:solidFill>
            <a:srgbClr val="D9DED9"/>
          </a:solidFill>
          <a:ln w="12700">
            <a:solidFill>
              <a:srgbClr val="D9DED9"/>
            </a:solidFill>
            <a:prstDash val="solid"/>
          </a:ln>
        </p:spPr>
      </p:sp>
      <p:sp>
        <p:nvSpPr>
          <p:cNvPr id="7" name="funnel text TAM"/>
          <p:cNvSpPr txBox="1"/>
          <p:nvPr/>
        </p:nvSpPr>
        <p:spPr>
          <a:xfrm>
            <a:off x="457200" y="1572768"/>
            <a:ext cx="3108960" cy="731520"/>
          </a:xfrm>
          <a:prstGeom prst="rect">
            <a:avLst/>
          </a:prstGeom>
          <a:noFill/>
          <a:ln/>
        </p:spPr>
        <p:txBody>
          <a:bodyPr wrap="square" lIns="0" tIns="0" rIns="0" bIns="0" rtlCol="0" anchor="ctr"/>
          <a:lstStyle/>
          <a:p>
            <a:pPr algn="ctr" indent="0" marL="0">
              <a:buNone/>
            </a:pPr>
            <a:r>
              <a:rPr lang="en-US" sz="1050" dirty="0">
                <a:solidFill>
                  <a:srgbClr val="1F2421"/>
                </a:solidFill>
              </a:rPr>
              <a:t>TAM</a:t>
            </a:r>
            <a:endParaRPr lang="en-US" sz="1050" dirty="0"/>
          </a:p>
          <a:p>
            <a:pPr algn="ctr" indent="0" marL="0">
              <a:buNone/>
            </a:pPr>
            <a:r>
              <a:rPr lang="en-US" sz="1500" b="1" dirty="0">
                <a:solidFill>
                  <a:srgbClr val="1F2421"/>
                </a:solidFill>
              </a:rPr>
              <a:t>68.7조 원</a:t>
            </a:r>
            <a:endParaRPr lang="en-US" sz="1050" dirty="0"/>
          </a:p>
        </p:txBody>
      </p:sp>
      <p:sp>
        <p:nvSpPr>
          <p:cNvPr id="8" name="funnel SAM"/>
          <p:cNvSpPr/>
          <p:nvPr/>
        </p:nvSpPr>
        <p:spPr>
          <a:xfrm flipV="1">
            <a:off x="822960" y="2377440"/>
            <a:ext cx="2377440" cy="731520"/>
          </a:xfrm>
          <a:prstGeom prst="trapezoid">
            <a:avLst/>
          </a:prstGeom>
          <a:solidFill>
            <a:srgbClr val="3F7F5F"/>
          </a:solidFill>
          <a:ln w="12700">
            <a:solidFill>
              <a:srgbClr val="3F7F5F"/>
            </a:solidFill>
            <a:prstDash val="solid"/>
          </a:ln>
        </p:spPr>
      </p:sp>
      <p:sp>
        <p:nvSpPr>
          <p:cNvPr id="9" name="funnel text SAM"/>
          <p:cNvSpPr txBox="1"/>
          <p:nvPr/>
        </p:nvSpPr>
        <p:spPr>
          <a:xfrm>
            <a:off x="822960" y="2377440"/>
            <a:ext cx="2377440" cy="731520"/>
          </a:xfrm>
          <a:prstGeom prst="rect">
            <a:avLst/>
          </a:prstGeom>
          <a:noFill/>
          <a:ln/>
        </p:spPr>
        <p:txBody>
          <a:bodyPr wrap="square" lIns="0" tIns="0" rIns="0" bIns="0" rtlCol="0" anchor="ctr"/>
          <a:lstStyle/>
          <a:p>
            <a:pPr algn="ctr" indent="0" marL="0">
              <a:buNone/>
            </a:pPr>
            <a:r>
              <a:rPr lang="en-US" sz="1050" dirty="0">
                <a:solidFill>
                  <a:srgbClr val="FFFFFF"/>
                </a:solidFill>
              </a:rPr>
              <a:t>SAM</a:t>
            </a:r>
            <a:endParaRPr lang="en-US" sz="1050" dirty="0"/>
          </a:p>
          <a:p>
            <a:pPr algn="ctr" indent="0" marL="0">
              <a:buNone/>
            </a:pPr>
            <a:r>
              <a:rPr lang="en-US" sz="1500" b="1" dirty="0">
                <a:solidFill>
                  <a:srgbClr val="FFFFFF"/>
                </a:solidFill>
              </a:rPr>
              <a:t>약 1.7조 원</a:t>
            </a:r>
            <a:endParaRPr lang="en-US" sz="1050" dirty="0"/>
          </a:p>
        </p:txBody>
      </p:sp>
      <p:sp>
        <p:nvSpPr>
          <p:cNvPr id="10" name="funnel SOM (3년차)"/>
          <p:cNvSpPr/>
          <p:nvPr/>
        </p:nvSpPr>
        <p:spPr>
          <a:xfrm flipV="1">
            <a:off x="1188720" y="3182112"/>
            <a:ext cx="1645920" cy="731520"/>
          </a:xfrm>
          <a:prstGeom prst="trapezoid">
            <a:avLst/>
          </a:prstGeom>
          <a:solidFill>
            <a:srgbClr val="1E4D3A"/>
          </a:solidFill>
          <a:ln w="12700">
            <a:solidFill>
              <a:srgbClr val="1E4D3A"/>
            </a:solidFill>
            <a:prstDash val="solid"/>
          </a:ln>
        </p:spPr>
      </p:sp>
      <p:sp>
        <p:nvSpPr>
          <p:cNvPr id="11" name="funnel text SOM (3년차)"/>
          <p:cNvSpPr txBox="1"/>
          <p:nvPr/>
        </p:nvSpPr>
        <p:spPr>
          <a:xfrm>
            <a:off x="1188720" y="3182112"/>
            <a:ext cx="1645920" cy="731520"/>
          </a:xfrm>
          <a:prstGeom prst="rect">
            <a:avLst/>
          </a:prstGeom>
          <a:noFill/>
          <a:ln/>
        </p:spPr>
        <p:txBody>
          <a:bodyPr wrap="square" lIns="0" tIns="0" rIns="0" bIns="0" rtlCol="0" anchor="ctr"/>
          <a:lstStyle/>
          <a:p>
            <a:pPr algn="ctr" indent="0" marL="0">
              <a:buNone/>
            </a:pPr>
            <a:r>
              <a:rPr lang="en-US" sz="1050" dirty="0">
                <a:solidFill>
                  <a:srgbClr val="FFFFFF"/>
                </a:solidFill>
              </a:rPr>
              <a:t>SOM (3년차)</a:t>
            </a:r>
            <a:endParaRPr lang="en-US" sz="1050" dirty="0"/>
          </a:p>
          <a:p>
            <a:pPr algn="ctr" indent="0" marL="0">
              <a:buNone/>
            </a:pPr>
            <a:r>
              <a:rPr lang="en-US" sz="1500" b="1" dirty="0">
                <a:solidFill>
                  <a:srgbClr val="FFFFFF"/>
                </a:solidFill>
              </a:rPr>
              <a:t>54억 원</a:t>
            </a:r>
            <a:endParaRPr lang="en-US" sz="10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3794760" y="1536192"/>
          <a:ext cx="4937760" cy="914400"/>
        </p:xfrm>
        <a:graphic>
          <a:graphicData uri="http://schemas.openxmlformats.org/drawingml/2006/table">
            <a:tbl>
              <a:tblPr/>
              <a:tblGrid>
                <a:gridCol w="566928"/>
                <a:gridCol w="1371600"/>
                <a:gridCol w="896112"/>
                <a:gridCol w="2103120"/>
              </a:tblGrid>
              <a:tr h="310896">
                <a:tc>
                  <a:txBody>
                    <a:bodyPr/>
                    <a:lstStyle/>
                    <a:p>
                      <a:pPr algn="ctr" indent="0" marL="0">
                        <a:buNone/>
                      </a:pPr>
                      <a:r>
                        <a:rPr lang="en-US" sz="1050" b="1" dirty="0">
                          <a:solidFill>
                            <a:srgbClr val="FFFFFF"/>
                          </a:solidFill>
                        </a:rPr>
                        <a:t>구분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정의</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규모</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산출 근거</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713232">
                <a:tc>
                  <a:txBody>
                    <a:bodyPr/>
                    <a:lstStyle/>
                    <a:p>
                      <a:pPr algn="ctr" indent="0" marL="0">
                        <a:buNone/>
                      </a:pPr>
                      <a:r>
                        <a:rPr lang="en-US" sz="1000" b="1" dirty="0">
                          <a:solidFill>
                            <a:srgbClr val="1F2421"/>
                          </a:solidFill>
                        </a:rPr>
                        <a:t>TAM</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국내 먹거리 거래 시장</a:t>
                      </a:r>
                      <a:endParaRPr lang="en-US" sz="1000" dirty="0"/>
                    </a:p>
                    <a:p>
                      <a:pPr algn="l" indent="0" marL="0">
                        <a:buNone/>
                      </a:pPr>
                      <a:r>
                        <a:rPr lang="en-US" sz="1000" dirty="0">
                          <a:solidFill>
                            <a:srgbClr val="1F2421"/>
                          </a:solidFill>
                        </a:rPr>
                        <a:t>(온라인 식품 + 전통시장)</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F2421"/>
                          </a:solidFill>
                        </a:rPr>
                        <a:t>68.7조 원</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온라인 식품 40조 원(2024) + 전통시장 28.7조 원(2023), 단순 합산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713232">
                <a:tc>
                  <a:txBody>
                    <a:bodyPr/>
                    <a:lstStyle/>
                    <a:p>
                      <a:pPr algn="ctr" indent="0" marL="0">
                        <a:buNone/>
                      </a:pPr>
                      <a:r>
                        <a:rPr lang="en-US" sz="1000" b="1" dirty="0">
                          <a:solidFill>
                            <a:srgbClr val="1F2421"/>
                          </a:solidFill>
                        </a:rPr>
                        <a:t>SAM</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수도권 전통시장·로컬푸드의 채소·나물류</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4D3A"/>
                          </a:solidFill>
                        </a:rPr>
                        <a:t>약 1.7조 원</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28.7조 원 × 수도권 40% × 채소·나물 15% (가정)</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713232">
                <a:tc>
                  <a:txBody>
                    <a:bodyPr/>
                    <a:lstStyle/>
                    <a:p>
                      <a:pPr algn="ctr" indent="0" marL="0">
                        <a:buNone/>
                      </a:pPr>
                      <a:r>
                        <a:rPr lang="en-US" sz="1000" b="1" dirty="0">
                          <a:solidFill>
                            <a:srgbClr val="1F2421"/>
                          </a:solidFill>
                        </a:rPr>
                        <a:t>SOM</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3년차 나물로 거래액 (GMV)</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4D3A"/>
                          </a:solidFill>
                        </a:rPr>
                        <a:t>54억 원</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매장 300곳 × 월 100건 × 15,000원 × 12개월</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13" name="growth drivers"/>
          <p:cNvSpPr txBox="1"/>
          <p:nvPr/>
        </p:nvSpPr>
        <p:spPr>
          <a:xfrm>
            <a:off x="411480" y="4041648"/>
            <a:ext cx="8321040" cy="384048"/>
          </a:xfrm>
          <a:prstGeom prst="rect">
            <a:avLst/>
          </a:prstGeom>
          <a:solidFill>
            <a:srgbClr val="F2F4F2"/>
          </a:solidFill>
          <a:ln/>
        </p:spPr>
        <p:txBody>
          <a:bodyPr wrap="square" lIns="0" tIns="1905" rIns="0" bIns="0" rtlCol="0" anchor="ctr"/>
          <a:lstStyle/>
          <a:p>
            <a:pPr indent="0" marL="0">
              <a:buNone/>
            </a:pPr>
            <a:r>
              <a:rPr lang="en-US" sz="1000" b="1" dirty="0">
                <a:solidFill>
                  <a:srgbClr val="1E4D3A"/>
                </a:solidFill>
              </a:rPr>
              <a:t>성장 요인   </a:t>
            </a:r>
            <a:pPr indent="0" marL="0">
              <a:buNone/>
            </a:pPr>
            <a:r>
              <a:rPr lang="en-US" sz="1000" dirty="0">
                <a:solidFill>
                  <a:srgbClr val="1F2421"/>
                </a:solidFill>
              </a:rPr>
              <a:t>①  1인 가구 증가 (36.1%)      ②  온라인 장보기 일상화      ③  지자체·정부의 전통시장 디지털 전환 정책</a:t>
            </a:r>
            <a:endParaRPr lang="en-US" sz="1000" dirty="0"/>
          </a:p>
        </p:txBody>
      </p:sp>
      <p:sp>
        <p:nvSpPr>
          <p:cNvPr id="14"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통계청 온라인쇼핑동향 보도(2024), 소상공인시장진흥공단(2023 기준) / 주: SAM·SOM은 가정 기반 추정</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Ⅲ. 사업성</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경쟁 서비스 비교</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나물 특화·레시피 연동·동네 매장·손질 옵션·구독·상인 AI 도구 6개 요소를 모두 갖춘 서비스는 나물로가 유일함</a:t>
            </a:r>
            <a:endParaRPr lang="en-US" sz="125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2743200"/>
                <a:gridCol w="1051560"/>
                <a:gridCol w="1188720"/>
                <a:gridCol w="1097280"/>
                <a:gridCol w="1051560"/>
                <a:gridCol w="1188720"/>
              </a:tblGrid>
              <a:tr h="457200">
                <a:tc>
                  <a:txBody>
                    <a:bodyPr/>
                    <a:lstStyle/>
                    <a:p>
                      <a:pPr algn="ctr" indent="0" marL="0">
                        <a:buNone/>
                      </a:pPr>
                      <a:r>
                        <a:rPr lang="en-US" sz="1050" b="1" dirty="0">
                          <a:solidFill>
                            <a:srgbClr val="FFFFFF"/>
                          </a:solidFill>
                        </a:rPr>
                        <a:t>비교 항목</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쿠팡·컬리</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배민·네이버</a:t>
                      </a:r>
                      <a:endParaRPr lang="en-US" sz="1050" dirty="0"/>
                    </a:p>
                    <a:p>
                      <a:pPr algn="ctr" indent="0" marL="0">
                        <a:buNone/>
                      </a:pPr>
                      <a:r>
                        <a:rPr lang="en-US" sz="1050" b="1" dirty="0">
                          <a:solidFill>
                            <a:srgbClr val="FFFFFF"/>
                          </a:solidFill>
                        </a:rPr>
                        <a:t>시장 장보기</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레시피 앱</a:t>
                      </a:r>
                      <a:endParaRPr lang="en-US" sz="1050" dirty="0"/>
                    </a:p>
                    <a:p>
                      <a:pPr algn="ctr" indent="0" marL="0">
                        <a:buNone/>
                      </a:pPr>
                      <a:r>
                        <a:rPr lang="en-US" sz="1050" b="1" dirty="0">
                          <a:solidFill>
                            <a:srgbClr val="FFFFFF"/>
                          </a:solidFill>
                        </a:rPr>
                        <a:t>·유튜브</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어글리어스</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나물로</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B8692B"/>
                    </a:solidFill>
                  </a:tcPr>
                </a:tc>
              </a:tr>
              <a:tr h="320040">
                <a:tc>
                  <a:txBody>
                    <a:bodyPr/>
                    <a:lstStyle/>
                    <a:p>
                      <a:pPr algn="l" indent="0" marL="0">
                        <a:buNone/>
                      </a:pPr>
                      <a:r>
                        <a:rPr lang="en-US" sz="1050" b="1" dirty="0">
                          <a:solidFill>
                            <a:srgbClr val="1F2421"/>
                          </a:solidFill>
                        </a:rPr>
                        <a:t>나물 특화 큐레이션 (제철·안전)</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20040">
                <a:tc>
                  <a:txBody>
                    <a:bodyPr/>
                    <a:lstStyle/>
                    <a:p>
                      <a:pPr algn="l" indent="0" marL="0">
                        <a:buNone/>
                      </a:pPr>
                      <a:r>
                        <a:rPr lang="en-US" sz="1050" b="1" dirty="0">
                          <a:solidFill>
                            <a:srgbClr val="1F2421"/>
                          </a:solidFill>
                        </a:rPr>
                        <a:t>레시피 → 즉시 구매 연결</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20040">
                <a:tc>
                  <a:txBody>
                    <a:bodyPr/>
                    <a:lstStyle/>
                    <a:p>
                      <a:pPr algn="l" indent="0" marL="0">
                        <a:buNone/>
                      </a:pPr>
                      <a:r>
                        <a:rPr lang="en-US" sz="1050" b="1" dirty="0">
                          <a:solidFill>
                            <a:srgbClr val="1F2421"/>
                          </a:solidFill>
                        </a:rPr>
                        <a:t>동네 상권 (전통시장·로컬푸드) 연결</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20040">
                <a:tc>
                  <a:txBody>
                    <a:bodyPr/>
                    <a:lstStyle/>
                    <a:p>
                      <a:pPr algn="l" indent="0" marL="0">
                        <a:buNone/>
                      </a:pPr>
                      <a:r>
                        <a:rPr lang="en-US" sz="1050" b="1" dirty="0">
                          <a:solidFill>
                            <a:srgbClr val="1F2421"/>
                          </a:solidFill>
                        </a:rPr>
                        <a:t>소량·손질·데침 옵션</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20040">
                <a:tc>
                  <a:txBody>
                    <a:bodyPr/>
                    <a:lstStyle/>
                    <a:p>
                      <a:pPr algn="l" indent="0" marL="0">
                        <a:buNone/>
                      </a:pPr>
                      <a:r>
                        <a:rPr lang="en-US" sz="1050" b="1" dirty="0">
                          <a:solidFill>
                            <a:srgbClr val="1F2421"/>
                          </a:solidFill>
                        </a:rPr>
                        <a:t>제철 꾸러미 구독</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20040">
                <a:tc>
                  <a:txBody>
                    <a:bodyPr/>
                    <a:lstStyle/>
                    <a:p>
                      <a:pPr algn="l" indent="0" marL="0">
                        <a:buNone/>
                      </a:pPr>
                      <a:r>
                        <a:rPr lang="en-US" sz="1050" b="1" dirty="0">
                          <a:solidFill>
                            <a:srgbClr val="1F2421"/>
                          </a:solidFill>
                        </a:rPr>
                        <a:t>상인용 AI 운영 도구 (재고·예측)</a:t>
                      </a:r>
                      <a:endParaRPr lang="en-US" sz="10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400" dirty="0">
                          <a:solidFill>
                            <a:srgbClr val="3F7F5F"/>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9C1BB"/>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4D3A"/>
                          </a:solidFill>
                        </a:rPr>
                        <a:t>●</a:t>
                      </a:r>
                      <a:endParaRPr lang="en-US" sz="14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bl>
          </a:graphicData>
        </a:graphic>
      </p:graphicFrame>
      <p:sp>
        <p:nvSpPr>
          <p:cNvPr id="7" name="legend"/>
          <p:cNvSpPr txBox="1"/>
          <p:nvPr/>
        </p:nvSpPr>
        <p:spPr>
          <a:xfrm>
            <a:off x="3246120" y="3959352"/>
            <a:ext cx="5486400" cy="201168"/>
          </a:xfrm>
          <a:prstGeom prst="rect">
            <a:avLst/>
          </a:prstGeom>
          <a:noFill/>
          <a:ln/>
        </p:spPr>
        <p:txBody>
          <a:bodyPr wrap="square" lIns="0" tIns="0" rIns="0" bIns="0" rtlCol="0" anchor="ctr"/>
          <a:lstStyle/>
          <a:p>
            <a:pPr algn="r" indent="0" marL="0">
              <a:buNone/>
            </a:pPr>
            <a:r>
              <a:rPr lang="en-US" sz="900" dirty="0">
                <a:solidFill>
                  <a:srgbClr val="7A837D"/>
                </a:solidFill>
              </a:rPr>
              <a:t>●  충족     ◐  일부 충족     ○  미흡   (쿠팡·컬리의 ◐는 자체 물류용 예측)</a:t>
            </a:r>
            <a:endParaRPr lang="en-US" sz="900" dirty="0"/>
          </a:p>
        </p:txBody>
      </p:sp>
      <p:sp>
        <p:nvSpPr>
          <p:cNvPr id="8" name="moat 데이터"/>
          <p:cNvSpPr/>
          <p:nvPr/>
        </p:nvSpPr>
        <p:spPr>
          <a:xfrm>
            <a:off x="411480" y="4224528"/>
            <a:ext cx="2706624" cy="329184"/>
          </a:xfrm>
          <a:prstGeom prst="rect">
            <a:avLst/>
          </a:prstGeom>
          <a:solidFill>
            <a:srgbClr val="F2F4F2"/>
          </a:solidFill>
          <a:ln w="12700">
            <a:solidFill>
              <a:srgbClr val="F2F4F2"/>
            </a:solidFill>
            <a:prstDash val="solid"/>
          </a:ln>
        </p:spPr>
      </p:sp>
      <p:sp>
        <p:nvSpPr>
          <p:cNvPr id="9" name="moat text 데이터"/>
          <p:cNvSpPr txBox="1"/>
          <p:nvPr/>
        </p:nvSpPr>
        <p:spPr>
          <a:xfrm>
            <a:off x="521208" y="4224528"/>
            <a:ext cx="2542032" cy="329184"/>
          </a:xfrm>
          <a:prstGeom prst="rect">
            <a:avLst/>
          </a:prstGeom>
          <a:noFill/>
          <a:ln/>
        </p:spPr>
        <p:txBody>
          <a:bodyPr wrap="square" lIns="0" tIns="0" rIns="0" bIns="0" rtlCol="0" anchor="ctr"/>
          <a:lstStyle/>
          <a:p>
            <a:pPr indent="0" marL="0">
              <a:buNone/>
            </a:pPr>
            <a:r>
              <a:rPr lang="en-US" sz="950" b="1" dirty="0">
                <a:solidFill>
                  <a:srgbClr val="1E4D3A"/>
                </a:solidFill>
              </a:rPr>
              <a:t>데이터  </a:t>
            </a:r>
            <a:pPr indent="0" marL="0">
              <a:buNone/>
            </a:pPr>
            <a:r>
              <a:rPr lang="en-US" sz="950" dirty="0">
                <a:solidFill>
                  <a:srgbClr val="1F2421"/>
                </a:solidFill>
              </a:rPr>
              <a:t>도감·아이 선호도·판매 데이터 누적</a:t>
            </a:r>
            <a:endParaRPr lang="en-US" sz="950" dirty="0"/>
          </a:p>
        </p:txBody>
      </p:sp>
      <p:sp>
        <p:nvSpPr>
          <p:cNvPr id="10" name="moat 관계"/>
          <p:cNvSpPr/>
          <p:nvPr/>
        </p:nvSpPr>
        <p:spPr>
          <a:xfrm>
            <a:off x="3218688" y="4224528"/>
            <a:ext cx="2706624" cy="329184"/>
          </a:xfrm>
          <a:prstGeom prst="rect">
            <a:avLst/>
          </a:prstGeom>
          <a:solidFill>
            <a:srgbClr val="F2F4F2"/>
          </a:solidFill>
          <a:ln w="12700">
            <a:solidFill>
              <a:srgbClr val="F2F4F2"/>
            </a:solidFill>
            <a:prstDash val="solid"/>
          </a:ln>
        </p:spPr>
      </p:sp>
      <p:sp>
        <p:nvSpPr>
          <p:cNvPr id="11" name="moat text 관계"/>
          <p:cNvSpPr txBox="1"/>
          <p:nvPr/>
        </p:nvSpPr>
        <p:spPr>
          <a:xfrm>
            <a:off x="3328416" y="4224528"/>
            <a:ext cx="2542032" cy="329184"/>
          </a:xfrm>
          <a:prstGeom prst="rect">
            <a:avLst/>
          </a:prstGeom>
          <a:noFill/>
          <a:ln/>
        </p:spPr>
        <p:txBody>
          <a:bodyPr wrap="square" lIns="0" tIns="0" rIns="0" bIns="0" rtlCol="0" anchor="ctr"/>
          <a:lstStyle/>
          <a:p>
            <a:pPr indent="0" marL="0">
              <a:buNone/>
            </a:pPr>
            <a:r>
              <a:rPr lang="en-US" sz="950" b="1" dirty="0">
                <a:solidFill>
                  <a:srgbClr val="1E4D3A"/>
                </a:solidFill>
              </a:rPr>
              <a:t>관계  </a:t>
            </a:r>
            <a:pPr indent="0" marL="0">
              <a:buNone/>
            </a:pPr>
            <a:r>
              <a:rPr lang="en-US" sz="950" dirty="0">
                <a:solidFill>
                  <a:srgbClr val="1F2421"/>
                </a:solidFill>
              </a:rPr>
              <a:t>상인의 카톡 등록 습관·손질 서비스</a:t>
            </a:r>
            <a:endParaRPr lang="en-US" sz="950" dirty="0"/>
          </a:p>
        </p:txBody>
      </p:sp>
      <p:sp>
        <p:nvSpPr>
          <p:cNvPr id="12" name="moat 공공 신뢰"/>
          <p:cNvSpPr/>
          <p:nvPr/>
        </p:nvSpPr>
        <p:spPr>
          <a:xfrm>
            <a:off x="6025896" y="4224528"/>
            <a:ext cx="2706624" cy="329184"/>
          </a:xfrm>
          <a:prstGeom prst="rect">
            <a:avLst/>
          </a:prstGeom>
          <a:solidFill>
            <a:srgbClr val="F2F4F2"/>
          </a:solidFill>
          <a:ln w="12700">
            <a:solidFill>
              <a:srgbClr val="F2F4F2"/>
            </a:solidFill>
            <a:prstDash val="solid"/>
          </a:ln>
        </p:spPr>
      </p:sp>
      <p:sp>
        <p:nvSpPr>
          <p:cNvPr id="13" name="moat text 공공 신뢰"/>
          <p:cNvSpPr txBox="1"/>
          <p:nvPr/>
        </p:nvSpPr>
        <p:spPr>
          <a:xfrm>
            <a:off x="6135624" y="4224528"/>
            <a:ext cx="2542032" cy="329184"/>
          </a:xfrm>
          <a:prstGeom prst="rect">
            <a:avLst/>
          </a:prstGeom>
          <a:noFill/>
          <a:ln/>
        </p:spPr>
        <p:txBody>
          <a:bodyPr wrap="square" lIns="0" tIns="0" rIns="0" bIns="0" rtlCol="0" anchor="ctr"/>
          <a:lstStyle/>
          <a:p>
            <a:pPr indent="0" marL="0">
              <a:buNone/>
            </a:pPr>
            <a:r>
              <a:rPr lang="en-US" sz="950" b="1" dirty="0">
                <a:solidFill>
                  <a:srgbClr val="1E4D3A"/>
                </a:solidFill>
              </a:rPr>
              <a:t>공공 신뢰  </a:t>
            </a:r>
            <a:pPr indent="0" marL="0">
              <a:buNone/>
            </a:pPr>
            <a:r>
              <a:rPr lang="en-US" sz="950" dirty="0">
                <a:solidFill>
                  <a:srgbClr val="1F2421"/>
                </a:solidFill>
              </a:rPr>
              <a:t>지자체 전통시장 디지털화 사업</a:t>
            </a:r>
            <a:endParaRPr lang="en-US" sz="950" dirty="0"/>
          </a:p>
        </p:txBody>
      </p:sp>
      <p:sp>
        <p:nvSpPr>
          <p:cNvPr id="14"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2026.10 기준 각 서비스 공개 정보에 근거한 자체 평가 · 아래 띠는 진입 장벽 요소</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Ⅲ. 사업성</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국내외 벤치마킹</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동네 시장 온라인화·채소 구독·AI 수요 예측·AI 레시피 쇼핑이 각각 검증되었으며, 나물로는 이를 나물 품목에서 통합함</a:t>
            </a:r>
            <a:endParaRPr lang="en-US" sz="125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502920"/>
                <a:gridCol w="1508760"/>
                <a:gridCol w="2194560"/>
                <a:gridCol w="2377440"/>
                <a:gridCol w="1737360"/>
              </a:tblGrid>
              <a:tr h="274320">
                <a:tc>
                  <a:txBody>
                    <a:bodyPr/>
                    <a:lstStyle/>
                    <a:p>
                      <a:pPr algn="ctr" indent="0" marL="0">
                        <a:buNone/>
                      </a:pPr>
                      <a:r>
                        <a:rPr lang="en-US" sz="1050" b="1" dirty="0">
                          <a:solidFill>
                            <a:srgbClr val="FFFFFF"/>
                          </a:solidFill>
                        </a:rPr>
                        <a:t>구분</a:t>
                      </a:r>
                      <a:endParaRPr lang="en-US" sz="1050" dirty="0"/>
                    </a:p>
                  </a:txBody>
                  <a:tcPr marL="64008" marR="64008" marT="27432" marB="27432"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서비스</a:t>
                      </a:r>
                      <a:endParaRPr lang="en-US" sz="1050" dirty="0"/>
                    </a:p>
                  </a:txBody>
                  <a:tcPr marL="64008" marR="64008" marT="27432" marB="27432"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사업 모델</a:t>
                      </a:r>
                      <a:endParaRPr lang="en-US" sz="1050" dirty="0"/>
                    </a:p>
                  </a:txBody>
                  <a:tcPr marL="64008" marR="64008" marT="27432" marB="27432"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핵심 성과 (보도 기준)</a:t>
                      </a:r>
                      <a:endParaRPr lang="en-US" sz="1050" dirty="0"/>
                    </a:p>
                  </a:txBody>
                  <a:tcPr marL="64008" marR="64008" marT="27432" marB="27432"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나물로 적용</a:t>
                      </a:r>
                      <a:endParaRPr lang="en-US" sz="1050" dirty="0"/>
                    </a:p>
                  </a:txBody>
                  <a:tcPr marL="64008" marR="64008" marT="27432" marB="27432" anchor="ctr">
                    <a:lnL w="0" cap="flat" cmpd="sng" algn="ctr">
                      <a:noFill/>
                    </a:lnL>
                    <a:lnR w="0" cap="flat" cmpd="sng" algn="ctr">
                      <a:noFill/>
                    </a:lnR>
                    <a:lnT w="0" cap="flat" cmpd="sng" algn="ctr">
                      <a:noFill/>
                    </a:lnT>
                    <a:lnB w="0" cap="flat" cmpd="sng" algn="ctr">
                      <a:noFill/>
                    </a:lnB>
                    <a:solidFill>
                      <a:srgbClr val="1E4D3A"/>
                    </a:solidFill>
                  </a:tcPr>
                </a:tc>
              </a:tr>
              <a:tr h="329184">
                <a:tc>
                  <a:txBody>
                    <a:bodyPr/>
                    <a:lstStyle/>
                    <a:p>
                      <a:pPr algn="ctr" indent="0" marL="0">
                        <a:buNone/>
                      </a:pPr>
                      <a:r>
                        <a:rPr lang="en-US" sz="950" b="1" dirty="0">
                          <a:solidFill>
                            <a:srgbClr val="1F2421"/>
                          </a:solidFill>
                        </a:rPr>
                        <a:t>국내</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배민 전통시장 장보기</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전통시장 점포 입점, 2시간 배송, 수수료 0%</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입점 점포 매출 1년 +196%</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시장 상인 온라인 수요</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1F2421"/>
                          </a:solidFill>
                        </a:rPr>
                        <a:t>국내</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어글리어스</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못난이 농산물 정기배송</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누적 293만 kg 구출 · 투자 38억 원</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채소 구독 지불의사</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1F2421"/>
                          </a:solidFill>
                        </a:rPr>
                        <a:t>국내</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당근</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동네 기반 커뮤니티 · 로컬 광고</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MAU 2,000만+ · 비즈프로필 265만</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동네 단위 연결</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ctr" indent="0" marL="0">
                        <a:buNone/>
                      </a:pPr>
                      <a:r>
                        <a:rPr lang="en-US" sz="950" b="1" dirty="0">
                          <a:solidFill>
                            <a:srgbClr val="B8692B"/>
                          </a:solidFill>
                        </a:rPr>
                        <a:t>AI</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Afresh (미국)</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신선식품 발주 AI</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폐기 최대 25% 감소 주장 · 2026.4 3,400만 달러 투자</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AI 입고 추천</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B8692B"/>
                          </a:solidFill>
                        </a:rPr>
                        <a:t>AI</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컬리 ‘데멍이’</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데이터 기반 수요 예측</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신선식품 폐기율 1% 미만 주장</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예측 → 폐기 감소</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B8692B"/>
                          </a:solidFill>
                        </a:rPr>
                        <a:t>AI</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Instacart Ask</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ChatGPT 기반 레시피·식단 검색</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레시피 질문 → 장보기 연결 (2023)</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AI 셰프</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1F2421"/>
                          </a:solidFill>
                        </a:rPr>
                        <a:t>유럽</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Too Good To Go</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매장 잉여 식품 할인 앱</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2025년 1.56억 끼 구출</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마감 할인</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29184">
                <a:tc>
                  <a:txBody>
                    <a:bodyPr/>
                    <a:lstStyle/>
                    <a:p>
                      <a:pPr algn="ctr" indent="0" marL="0">
                        <a:buNone/>
                      </a:pPr>
                      <a:r>
                        <a:rPr lang="en-US" sz="950" b="1" dirty="0">
                          <a:solidFill>
                            <a:srgbClr val="1F2421"/>
                          </a:solidFill>
                        </a:rPr>
                        <a:t>일본</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타베쵸쿠</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생산자 직거래 마켓</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생산자 1.15만 명 · 이용자 130만 명</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3단계 산지 직거래</a:t>
                      </a:r>
                      <a:endParaRPr lang="en-US" sz="950" dirty="0"/>
                    </a:p>
                  </a:txBody>
                  <a:tcPr marL="64008" marR="64008" marT="27432" marB="27432"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자료: 머니투데이(2026.03), 한국경제(2025.02), 당근 실적 보도, Afresh(2026.04), 뉴데일리(2025.07), Supermarket News(2023), TGTG·vivid garden(2026) / 회사 발표 수치 포함</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Ⅲ. 사업성</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수익 구조 및 AI 비용</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구독·지자체 사업·제휴·상인 Pro가 주 수익원이며, AI 운영비는 주문당 약 24원으로 매출의 약 1% 수준임</a:t>
            </a:r>
            <a:endParaRPr lang="en-US" sz="1250" dirty="0"/>
          </a:p>
        </p:txBody>
      </p:sp>
      <p:graphicFrame>
        <p:nvGraphicFramePr>
          <p:cNvPr id="6" name="revenue mix chart" descr=""/>
          <p:cNvGraphicFramePr/>
          <p:nvPr/>
        </p:nvGraphicFramePr>
        <p:xfrm>
          <a:off x="320040" y="1536192"/>
          <a:ext cx="4069080" cy="2743200"/>
        </p:xfrm>
        <a:graphic xmlns:a="http://schemas.openxmlformats.org/drawingml/2006/main">
          <a:graphicData uri="http://schemas.openxmlformats.org/drawingml/2006/chart">
            <c:chart xmlns:c="http://schemas.openxmlformats.org/drawingml/2006/chart" r:id="rId1"/>
          </a:graphicData>
        </a:graphic>
      </p:graphicFrame>
      <p:sp>
        <p:nvSpPr>
          <p:cNvPr id="7" name="pro note"/>
          <p:cNvSpPr txBox="1"/>
          <p:nvPr/>
        </p:nvSpPr>
        <p:spPr>
          <a:xfrm>
            <a:off x="411480" y="4279392"/>
            <a:ext cx="3977640" cy="256032"/>
          </a:xfrm>
          <a:prstGeom prst="rect">
            <a:avLst/>
          </a:prstGeom>
          <a:noFill/>
          <a:ln/>
        </p:spPr>
        <p:txBody>
          <a:bodyPr wrap="square" lIns="0" tIns="0" rIns="0" bIns="0" rtlCol="0" anchor="ctr"/>
          <a:lstStyle/>
          <a:p>
            <a:pPr indent="0" marL="0">
              <a:buNone/>
            </a:pPr>
            <a:r>
              <a:rPr lang="en-US" sz="950" dirty="0">
                <a:solidFill>
                  <a:srgbClr val="4A524D"/>
                </a:solidFill>
              </a:rPr>
              <a:t>상인 Pro 월 29,000원: 입고 추천 · 마감 할인 · 홍보글 · 상단 노출</a:t>
            </a:r>
            <a:endParaRPr lang="en-US" sz="950" dirty="0"/>
          </a:p>
        </p:txBody>
      </p:sp>
      <p:sp>
        <p:nvSpPr>
          <p:cNvPr id="8" name="ai cost head"/>
          <p:cNvSpPr txBox="1"/>
          <p:nvPr/>
        </p:nvSpPr>
        <p:spPr>
          <a:xfrm>
            <a:off x="4617720" y="1536192"/>
            <a:ext cx="4114800" cy="256032"/>
          </a:xfrm>
          <a:prstGeom prst="rect">
            <a:avLst/>
          </a:prstGeom>
          <a:noFill/>
          <a:ln/>
        </p:spPr>
        <p:txBody>
          <a:bodyPr wrap="square" lIns="0" tIns="0" rIns="0" bIns="0" rtlCol="0" anchor="ctr"/>
          <a:lstStyle/>
          <a:p>
            <a:pPr indent="0" marL="0">
              <a:buNone/>
            </a:pPr>
            <a:r>
              <a:rPr lang="en-US" sz="1050" b="1" dirty="0">
                <a:solidFill>
                  <a:srgbClr val="1F2421"/>
                </a:solidFill>
              </a:rPr>
              <a:t>AI 운영 비용 (3년차, Claude Opus 5.5 기준)</a:t>
            </a:r>
            <a:endParaRPr lang="en-US" sz="105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4617720" y="1828800"/>
          <a:ext cx="4114800" cy="914400"/>
        </p:xfrm>
        <a:graphic>
          <a:graphicData uri="http://schemas.openxmlformats.org/drawingml/2006/table">
            <a:tbl>
              <a:tblPr/>
              <a:tblGrid>
                <a:gridCol w="1783080"/>
                <a:gridCol w="685800"/>
                <a:gridCol w="777240"/>
                <a:gridCol w="868680"/>
              </a:tblGrid>
              <a:tr h="274320">
                <a:tc>
                  <a:txBody>
                    <a:bodyPr/>
                    <a:lstStyle/>
                    <a:p>
                      <a:pPr algn="ctr" indent="0" marL="0">
                        <a:buNone/>
                      </a:pPr>
                      <a:r>
                        <a:rPr lang="en-US" sz="950" b="1" dirty="0">
                          <a:solidFill>
                            <a:srgbClr val="FFFFFF"/>
                          </a:solidFill>
                        </a:rPr>
                        <a:t>작업</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1건</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월 건수</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월 비용</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310896">
                <a:tc>
                  <a:txBody>
                    <a:bodyPr/>
                    <a:lstStyle/>
                    <a:p>
                      <a:pPr algn="l" indent="0" marL="0">
                        <a:buNone/>
                      </a:pPr>
                      <a:r>
                        <a:rPr lang="en-US" sz="950" b="1" dirty="0">
                          <a:solidFill>
                            <a:srgbClr val="1F2421"/>
                          </a:solidFill>
                        </a:rPr>
                        <a:t>상인 메시지 → 재고</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r" indent="0" marL="0">
                        <a:buNone/>
                      </a:pPr>
                      <a:r>
                        <a:rPr lang="en-US" sz="950" dirty="0">
                          <a:solidFill>
                            <a:srgbClr val="1F2421"/>
                          </a:solidFill>
                        </a:rPr>
                        <a:t>약 6원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27,000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약 17만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1F2421"/>
                          </a:solidFill>
                        </a:rPr>
                        <a:t>AI 셰프 (텍스트)</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r" indent="0" marL="0">
                        <a:buNone/>
                      </a:pPr>
                      <a:r>
                        <a:rPr lang="en-US" sz="950" dirty="0">
                          <a:solidFill>
                            <a:srgbClr val="1F2421"/>
                          </a:solidFill>
                        </a:rPr>
                        <a:t>약 23원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16,000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약 37만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1F2421"/>
                          </a:solidFill>
                        </a:rPr>
                        <a:t>사진 인식</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r" indent="0" marL="0">
                        <a:buNone/>
                      </a:pPr>
                      <a:r>
                        <a:rPr lang="en-US" sz="950" dirty="0">
                          <a:solidFill>
                            <a:srgbClr val="1F2421"/>
                          </a:solidFill>
                        </a:rPr>
                        <a:t>약 25원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3,000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약 7.5만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F2421"/>
                          </a:solidFill>
                        </a:rPr>
                        <a:t>홍보글 · 예측 설명 · 레시피 정리</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r" indent="0" marL="0">
                        <a:buNone/>
                      </a:pPr>
                      <a:r>
                        <a:rPr lang="en-US" sz="950" dirty="0">
                          <a:solidFill>
                            <a:srgbClr val="1F2421"/>
                          </a:solidFill>
                        </a:rPr>
                        <a:t>8~39원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11,700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421"/>
                          </a:solidFill>
                        </a:rPr>
                        <a:t>약 10.6만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1F2421"/>
                          </a:solidFill>
                        </a:rPr>
                        <a:t>합계</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r" indent="0" marL="0">
                        <a:buNone/>
                      </a:pP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E4D3A"/>
                          </a:solidFill>
                        </a:rPr>
                        <a:t>약 72만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10" name="unit band"/>
          <p:cNvSpPr/>
          <p:nvPr/>
        </p:nvSpPr>
        <p:spPr>
          <a:xfrm>
            <a:off x="4617720" y="3858768"/>
            <a:ext cx="4114800" cy="658368"/>
          </a:xfrm>
          <a:prstGeom prst="rect">
            <a:avLst/>
          </a:prstGeom>
          <a:solidFill>
            <a:srgbClr val="E6F0EA"/>
          </a:solidFill>
          <a:ln w="12700">
            <a:solidFill>
              <a:srgbClr val="E6F0EA"/>
            </a:solidFill>
            <a:prstDash val="solid"/>
          </a:ln>
        </p:spPr>
      </p:sp>
      <p:sp>
        <p:nvSpPr>
          <p:cNvPr id="11" name="unit text"/>
          <p:cNvSpPr txBox="1"/>
          <p:nvPr/>
        </p:nvSpPr>
        <p:spPr>
          <a:xfrm>
            <a:off x="4754880" y="3858768"/>
            <a:ext cx="3931920" cy="658368"/>
          </a:xfrm>
          <a:prstGeom prst="rect">
            <a:avLst/>
          </a:prstGeom>
          <a:noFill/>
          <a:ln/>
        </p:spPr>
        <p:txBody>
          <a:bodyPr wrap="square" lIns="0" tIns="0" rIns="0" bIns="0" rtlCol="0" anchor="ctr"/>
          <a:lstStyle/>
          <a:p>
            <a:pPr indent="0" marL="0">
              <a:buNone/>
            </a:pPr>
            <a:r>
              <a:rPr lang="en-US" sz="1000" b="1" dirty="0">
                <a:solidFill>
                  <a:srgbClr val="1E4D3A"/>
                </a:solidFill>
              </a:rPr>
              <a:t>주문당 AI 비용 약 24원</a:t>
            </a:r>
            <a:endParaRPr lang="en-US" sz="1000" dirty="0"/>
          </a:p>
          <a:p>
            <a:pPr indent="0" marL="0">
              <a:buNone/>
            </a:pPr>
            <a:r>
              <a:rPr lang="en-US" sz="1000" dirty="0">
                <a:solidFill>
                  <a:srgbClr val="1F2421"/>
                </a:solidFill>
              </a:rPr>
              <a:t>주문당 공헌이익 약 600원 · 대량 작업에 경량 모델을 쓰면 월 약 20만 원</a:t>
            </a:r>
            <a:endParaRPr lang="en-US" sz="1000" dirty="0"/>
          </a:p>
        </p:txBody>
      </p:sp>
      <p:sp>
        <p:nvSpPr>
          <p:cNvPr id="12"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가격 Opus 5.5 입력 $4 · 출력 $20 / Haiku 5.5 $0.10 · $0.50 (100만 토큰당), 배치 50% 할인, 1달러=1,400원, 토큰 수는 추정</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Ⅳ. 추진 계획</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AI 구현 계획</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AI는 지금 쓸 수 있는 도구로 사람 확인 단계를 둔 채 시작하고, 데이터가 쌓이는 만큼 자동화 범위를 넓힘</a:t>
            </a:r>
            <a:endParaRPr lang="en-US" sz="125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371600"/>
                <a:gridCol w="2514600"/>
                <a:gridCol w="2331720"/>
                <a:gridCol w="2103120"/>
              </a:tblGrid>
              <a:tr h="310896">
                <a:tc>
                  <a:txBody>
                    <a:bodyPr/>
                    <a:lstStyle/>
                    <a:p>
                      <a:pPr algn="ctr" indent="0" marL="0">
                        <a:buNone/>
                      </a:pPr>
                      <a:r>
                        <a:rPr lang="en-US" sz="1050" b="1" dirty="0">
                          <a:solidFill>
                            <a:srgbClr val="FFFFFF"/>
                          </a:solidFill>
                        </a:rPr>
                        <a:t>AI 엔진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0단계 (지금 · 0~3개월)</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B8692B"/>
                    </a:solidFill>
                  </a:tcPr>
                </a:tc>
                <a:tc>
                  <a:txBody>
                    <a:bodyPr/>
                    <a:lstStyle/>
                    <a:p>
                      <a:pPr algn="ctr" indent="0" marL="0">
                        <a:buNone/>
                      </a:pPr>
                      <a:r>
                        <a:rPr lang="en-US" sz="1050" b="1" dirty="0">
                          <a:solidFill>
                            <a:srgbClr val="FFFFFF"/>
                          </a:solidFill>
                        </a:rPr>
                        <a:t>1단계 (4~12개월)</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3F7F5F"/>
                    </a:solidFill>
                  </a:tcPr>
                </a:tc>
                <a:tc>
                  <a:txBody>
                    <a:bodyPr/>
                    <a:lstStyle/>
                    <a:p>
                      <a:pPr algn="ctr" indent="0" marL="0">
                        <a:buNone/>
                      </a:pPr>
                      <a:r>
                        <a:rPr lang="en-US" sz="1050" b="1" dirty="0">
                          <a:solidFill>
                            <a:srgbClr val="FFFFFF"/>
                          </a:solidFill>
                        </a:rPr>
                        <a:t>2단계 (2년차~)</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3F7F5F"/>
                    </a:solidFill>
                  </a:tcPr>
                </a:tc>
              </a:tr>
              <a:tr h="548640">
                <a:tc>
                  <a:txBody>
                    <a:bodyPr/>
                    <a:lstStyle/>
                    <a:p>
                      <a:pPr algn="l" indent="0" marL="0">
                        <a:buNone/>
                      </a:pPr>
                      <a:r>
                        <a:rPr lang="en-US" sz="1000" b="1" dirty="0">
                          <a:solidFill>
                            <a:srgbClr val="1F2421"/>
                          </a:solidFill>
                        </a:rPr>
                        <a:t>① AI 셰프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프로토타입 링크로 고객 10명 인터뷰, 추천 품질 기록</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웹앱 정식 기능, 사진 입력</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가족 프로필 개인화</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F2421"/>
                          </a:solidFill>
                        </a:rPr>
                        <a:t>② 레시피 구조화</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크리에이터 동의 영상 50편, AI 정리 + 사람 검수</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배치 처리로 200편</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크리에이터 셀프 등록</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F2421"/>
                          </a:solidFill>
                        </a:rPr>
                        <a:t>③ AI 상인 비서</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운영자가 카톡 메시지를 AI로 정리 → 사장님 확인 → 시트</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카톡 채널 챗봇 자동화, 음성 메모</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상인 Pro 유료화</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F2421"/>
                          </a:solidFill>
                        </a:rPr>
                        <a:t>④ 수요 예측</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주문·폐기 매일 기록, 요일·날씨 이동평균</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매장별 머신러닝 모델, 마감 할인 제안</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지역 수요 리포트 (B2G)</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ai principles band"/>
          <p:cNvSpPr/>
          <p:nvPr/>
        </p:nvSpPr>
        <p:spPr>
          <a:xfrm>
            <a:off x="411480" y="4114800"/>
            <a:ext cx="8321040" cy="420624"/>
          </a:xfrm>
          <a:prstGeom prst="rect">
            <a:avLst/>
          </a:prstGeom>
          <a:solidFill>
            <a:srgbClr val="F2F4F2"/>
          </a:solidFill>
          <a:ln w="12700">
            <a:solidFill>
              <a:srgbClr val="F2F4F2"/>
            </a:solidFill>
            <a:prstDash val="solid"/>
          </a:ln>
        </p:spPr>
      </p:sp>
      <p:sp>
        <p:nvSpPr>
          <p:cNvPr id="8" name="ai principles"/>
          <p:cNvSpPr txBox="1"/>
          <p:nvPr/>
        </p:nvSpPr>
        <p:spPr>
          <a:xfrm>
            <a:off x="548640" y="4114800"/>
            <a:ext cx="8092440" cy="420624"/>
          </a:xfrm>
          <a:prstGeom prst="rect">
            <a:avLst/>
          </a:prstGeom>
          <a:noFill/>
          <a:ln/>
        </p:spPr>
        <p:txBody>
          <a:bodyPr wrap="square" lIns="0" tIns="0" rIns="0" bIns="0" rtlCol="0" anchor="ctr"/>
          <a:lstStyle/>
          <a:p>
            <a:pPr indent="0" marL="0">
              <a:buNone/>
            </a:pPr>
            <a:r>
              <a:rPr lang="en-US" sz="1000" b="1" dirty="0">
                <a:solidFill>
                  <a:srgbClr val="1E4D3A"/>
                </a:solidFill>
              </a:rPr>
              <a:t>AI 원칙  </a:t>
            </a:r>
            <a:pPr indent="0" marL="0">
              <a:buNone/>
            </a:pPr>
            <a:r>
              <a:rPr lang="en-US" sz="1000" dirty="0">
                <a:solidFill>
                  <a:srgbClr val="1F2421"/>
                </a:solidFill>
              </a:rPr>
              <a:t>사람 확인 후 게시 · 야생 식물 식용 판별 금지 · 효능 표현 금지 · 아이 정보 최소 수집 · 사진 비저장 · ‘AI 정리’ 표시</a:t>
            </a:r>
            <a:endParaRPr lang="en-US" sz="1000" dirty="0"/>
          </a:p>
        </p:txBody>
      </p:sp>
      <p:sp>
        <p:nvSpPr>
          <p:cNvPr id="9"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도구 = Claude API, 구글시트, 파이썬(pandas·머신러닝), 카카오톡 채널 / 개발은 AI 코딩 도구 활용 (이번 프로토타입도 같은 방식으로 제작)</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Ⅳ. 추진 계획</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단계별 로드맵 및 자금 계획</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시장 1곳 파일럿으로 수요를 검증한 뒤 지원사업·시드 투자로 확장하며, 예비창업패키지는 개발·마케팅 중심으로 집행함</a:t>
            </a:r>
            <a:endParaRPr lang="en-US" sz="125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188720"/>
                <a:gridCol w="1783080"/>
                <a:gridCol w="1783080"/>
                <a:gridCol w="1783080"/>
                <a:gridCol w="1783080"/>
              </a:tblGrid>
              <a:tr h="457200">
                <a:tc>
                  <a:txBody>
                    <a:bodyPr/>
                    <a:lstStyle/>
                    <a:p>
                      <a:pPr algn="ctr" indent="0" marL="0">
                        <a:buNone/>
                      </a:pPr>
                      <a:r>
                        <a:rPr lang="en-US" sz="1050" b="1" dirty="0">
                          <a:solidFill>
                            <a:srgbClr val="FFFFFF"/>
                          </a:solidFill>
                        </a:rPr>
                        <a:t>구분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0단계 검증</a:t>
                      </a:r>
                      <a:endParaRPr lang="en-US" sz="1050" dirty="0"/>
                    </a:p>
                    <a:p>
                      <a:pPr algn="ctr" indent="0" marL="0">
                        <a:buNone/>
                      </a:pPr>
                      <a:r>
                        <a:rPr lang="en-US" sz="1050" b="1" dirty="0">
                          <a:solidFill>
                            <a:srgbClr val="FFFFFF"/>
                          </a:solidFill>
                        </a:rPr>
                        <a:t>0–3개월</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B8692B"/>
                    </a:solidFill>
                  </a:tcPr>
                </a:tc>
                <a:tc>
                  <a:txBody>
                    <a:bodyPr/>
                    <a:lstStyle/>
                    <a:p>
                      <a:pPr algn="ctr" indent="0" marL="0">
                        <a:buNone/>
                      </a:pPr>
                      <a:r>
                        <a:rPr lang="en-US" sz="1050" b="1" dirty="0">
                          <a:solidFill>
                            <a:srgbClr val="FFFFFF"/>
                          </a:solidFill>
                        </a:rPr>
                        <a:t>1단계 MVP</a:t>
                      </a:r>
                      <a:endParaRPr lang="en-US" sz="1050" dirty="0"/>
                    </a:p>
                    <a:p>
                      <a:pPr algn="ctr" indent="0" marL="0">
                        <a:buNone/>
                      </a:pPr>
                      <a:r>
                        <a:rPr lang="en-US" sz="1050" b="1" dirty="0">
                          <a:solidFill>
                            <a:srgbClr val="FFFFFF"/>
                          </a:solidFill>
                        </a:rPr>
                        <a:t>4–12개월</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3F7F5F"/>
                    </a:solidFill>
                  </a:tcPr>
                </a:tc>
                <a:tc>
                  <a:txBody>
                    <a:bodyPr/>
                    <a:lstStyle/>
                    <a:p>
                      <a:pPr algn="ctr" indent="0" marL="0">
                        <a:buNone/>
                      </a:pPr>
                      <a:r>
                        <a:rPr lang="en-US" sz="1050" b="1" dirty="0">
                          <a:solidFill>
                            <a:srgbClr val="FFFFFF"/>
                          </a:solidFill>
                        </a:rPr>
                        <a:t>2단계 확장</a:t>
                      </a:r>
                      <a:endParaRPr lang="en-US" sz="1050" dirty="0"/>
                    </a:p>
                    <a:p>
                      <a:pPr algn="ctr" indent="0" marL="0">
                        <a:buNone/>
                      </a:pPr>
                      <a:r>
                        <a:rPr lang="en-US" sz="1050" b="1" dirty="0">
                          <a:solidFill>
                            <a:srgbClr val="FFFFFF"/>
                          </a:solidFill>
                        </a:rPr>
                        <a:t>2년차</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3F7F5F"/>
                    </a:solidFill>
                  </a:tcPr>
                </a:tc>
                <a:tc>
                  <a:txBody>
                    <a:bodyPr/>
                    <a:lstStyle/>
                    <a:p>
                      <a:pPr algn="ctr" indent="0" marL="0">
                        <a:buNone/>
                      </a:pPr>
                      <a:r>
                        <a:rPr lang="en-US" sz="1050" b="1" dirty="0">
                          <a:solidFill>
                            <a:srgbClr val="FFFFFF"/>
                          </a:solidFill>
                        </a:rPr>
                        <a:t>3단계 전국화</a:t>
                      </a:r>
                      <a:endParaRPr lang="en-US" sz="1050" dirty="0"/>
                    </a:p>
                    <a:p>
                      <a:pPr algn="ctr" indent="0" marL="0">
                        <a:buNone/>
                      </a:pPr>
                      <a:r>
                        <a:rPr lang="en-US" sz="1050" b="1" dirty="0">
                          <a:solidFill>
                            <a:srgbClr val="FFFFFF"/>
                          </a:solidFill>
                        </a:rPr>
                        <a:t>3년차~</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3F7F5F"/>
                    </a:solidFill>
                  </a:tcPr>
                </a:tc>
              </a:tr>
              <a:tr h="329184">
                <a:tc>
                  <a:txBody>
                    <a:bodyPr/>
                    <a:lstStyle/>
                    <a:p>
                      <a:pPr algn="ctr" indent="0" marL="0">
                        <a:buNone/>
                      </a:pPr>
                      <a:r>
                        <a:rPr lang="en-US" sz="950" b="1" dirty="0">
                          <a:solidFill>
                            <a:srgbClr val="1F2421"/>
                          </a:solidFill>
                        </a:rPr>
                        <a:t>제휴 매장</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시장 1곳 · 점포 2~3곳</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30곳</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수도권 120곳</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전국 300곳 + 산지</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0624">
                <a:tc>
                  <a:txBody>
                    <a:bodyPr/>
                    <a:lstStyle/>
                    <a:p>
                      <a:pPr algn="ctr" indent="0" marL="0">
                        <a:buNone/>
                      </a:pPr>
                      <a:r>
                        <a:rPr lang="en-US" sz="950" b="1" dirty="0">
                          <a:solidFill>
                            <a:srgbClr val="1F2421"/>
                          </a:solidFill>
                        </a:rPr>
                        <a:t>서비스</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수동 운영 + AI 도구, 도감 30종</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웹앱 · 챗봇 · 레시피 200편</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네이티브 앱 · 구독 3종</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제철 농산물 · 해외</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0624">
                <a:tc>
                  <a:txBody>
                    <a:bodyPr/>
                    <a:lstStyle/>
                    <a:p>
                      <a:pPr algn="ctr" indent="0" marL="0">
                        <a:buNone/>
                      </a:pPr>
                      <a:r>
                        <a:rPr lang="en-US" sz="950" b="1" dirty="0">
                          <a:solidFill>
                            <a:srgbClr val="1F2421"/>
                          </a:solidFill>
                        </a:rPr>
                        <a:t>자금</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950" dirty="0">
                          <a:solidFill>
                            <a:srgbClr val="1F2421"/>
                          </a:solidFill>
                        </a:rPr>
                        <a:t>자기자본 300만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예비창업패키지 · 농식품 벤처육성</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시드 3~5억 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421"/>
                          </a:solidFill>
                        </a:rPr>
                        <a:t>시리즈 A 검토</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ctr" indent="0" marL="0">
                        <a:buNone/>
                      </a:pPr>
                      <a:r>
                        <a:rPr lang="en-US" sz="950" b="1" dirty="0">
                          <a:solidFill>
                            <a:srgbClr val="1E4D3A"/>
                          </a:solidFill>
                        </a:rPr>
                        <a:t>목표 KPI</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950" b="1" dirty="0">
                          <a:solidFill>
                            <a:srgbClr val="1E4D3A"/>
                          </a:solidFill>
                        </a:rPr>
                        <a:t>주문 100건 · 재구매 30%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950" b="1" dirty="0">
                          <a:solidFill>
                            <a:srgbClr val="1E4D3A"/>
                          </a:solidFill>
                        </a:rPr>
                        <a:t>월 주문 2,000 · 구독 200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950" b="1" dirty="0">
                          <a:solidFill>
                            <a:srgbClr val="1E4D3A"/>
                          </a:solidFill>
                        </a:rPr>
                        <a:t>월 주문 1만 · 구독 1,500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950" b="1" dirty="0">
                          <a:solidFill>
                            <a:srgbClr val="1E4D3A"/>
                          </a:solidFill>
                        </a:rPr>
                        <a:t>GMV 54억 원 · 흑자</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bl>
          </a:graphicData>
        </a:graphic>
      </p:graphicFrame>
      <p:graphicFrame>
        <p:nvGraphicFramePr>
          <p:cNvPr id="7" name="funds chart" descr=""/>
          <p:cNvGraphicFramePr/>
          <p:nvPr/>
        </p:nvGraphicFramePr>
        <p:xfrm>
          <a:off x="320040" y="3813048"/>
          <a:ext cx="8503920" cy="777240"/>
        </p:xfrm>
        <a:graphic xmlns:a="http://schemas.openxmlformats.org/drawingml/2006/main">
          <a:graphicData uri="http://schemas.openxmlformats.org/drawingml/2006/chart">
            <c:chart xmlns:c="http://schemas.openxmlformats.org/drawingml/2006/chart" r:id="rId1"/>
          </a:graphicData>
        </a:graphic>
      </p:graphicFrame>
      <p:sp>
        <p:nvSpPr>
          <p:cNvPr id="8" name="funds title"/>
          <p:cNvSpPr txBox="1"/>
          <p:nvPr/>
        </p:nvSpPr>
        <p:spPr>
          <a:xfrm>
            <a:off x="411480" y="3657600"/>
            <a:ext cx="3657600" cy="201168"/>
          </a:xfrm>
          <a:prstGeom prst="rect">
            <a:avLst/>
          </a:prstGeom>
          <a:noFill/>
          <a:ln/>
        </p:spPr>
        <p:txBody>
          <a:bodyPr wrap="square" lIns="0" tIns="0" rIns="0" bIns="0" rtlCol="0" anchor="ctr"/>
          <a:lstStyle/>
          <a:p>
            <a:pPr indent="0" marL="0">
              <a:buNone/>
            </a:pPr>
            <a:r>
              <a:rPr lang="en-US" sz="950" b="1" dirty="0">
                <a:solidFill>
                  <a:srgbClr val="1F2421"/>
                </a:solidFill>
              </a:rPr>
              <a:t>예비창업패키지 7천만 원 사용 계획</a:t>
            </a:r>
            <a:endParaRPr lang="en-US" sz="950" dirty="0"/>
          </a:p>
        </p:txBody>
      </p:sp>
      <p:sp>
        <p:nvSpPr>
          <p:cNvPr id="9"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지원사업 규모는 2026년 공고 기준 참고치, 2027년 공고 시 조건 재확인 / 사용 비율은 계획(가정)</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Ⅳ. 추진 계획</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재무 목표 및 확장 전략</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3년차 GMV 54억 원·매출 8억 원·영업이익 1.5억 원 달성 후, 품목·산지·해외로 확장함</a:t>
            </a:r>
            <a:endParaRPr lang="en-US" sz="1250" dirty="0"/>
          </a:p>
        </p:txBody>
      </p:sp>
      <p:graphicFrame>
        <p:nvGraphicFramePr>
          <p:cNvPr id="6" name="financial chart" descr=""/>
          <p:cNvGraphicFramePr/>
          <p:nvPr/>
        </p:nvGraphicFramePr>
        <p:xfrm>
          <a:off x="320040" y="1536192"/>
          <a:ext cx="420624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411480" y="3611880"/>
          <a:ext cx="4023360" cy="914400"/>
        </p:xfrm>
        <a:graphic>
          <a:graphicData uri="http://schemas.openxmlformats.org/drawingml/2006/table">
            <a:tbl>
              <a:tblPr/>
              <a:tblGrid>
                <a:gridCol w="1143000"/>
                <a:gridCol w="960120"/>
                <a:gridCol w="960120"/>
                <a:gridCol w="960120"/>
              </a:tblGrid>
              <a:tr h="237744">
                <a:tc>
                  <a:txBody>
                    <a:bodyPr/>
                    <a:lstStyle/>
                    <a:p>
                      <a:pPr algn="ctr" indent="0" marL="0">
                        <a:buNone/>
                      </a:pPr>
                      <a:r>
                        <a:rPr lang="en-US" sz="950" b="1" dirty="0">
                          <a:solidFill>
                            <a:srgbClr val="FFFFFF"/>
                          </a:solidFill>
                        </a:rPr>
                        <a:t>(억 원)</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1년차</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2년차</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950" b="1" dirty="0">
                          <a:solidFill>
                            <a:srgbClr val="FFFFFF"/>
                          </a:solidFill>
                        </a:rPr>
                        <a:t>3년차</a:t>
                      </a:r>
                      <a:endParaRPr lang="en-US" sz="9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219456">
                <a:tc>
                  <a:txBody>
                    <a:bodyPr/>
                    <a:lstStyle/>
                    <a:p>
                      <a:pPr algn="ctr" indent="0" marL="0">
                        <a:buNone/>
                      </a:pPr>
                      <a:r>
                        <a:rPr lang="en-US" sz="950" b="1" dirty="0">
                          <a:solidFill>
                            <a:srgbClr val="1F2421"/>
                          </a:solidFill>
                        </a:rPr>
                        <a:t>매출</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950" b="1" dirty="0">
                          <a:solidFill>
                            <a:srgbClr val="1F2421"/>
                          </a:solidFill>
                        </a:rPr>
                        <a:t>0.6</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F2421"/>
                          </a:solidFill>
                        </a:rPr>
                        <a:t>3.0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F2421"/>
                          </a:solidFill>
                        </a:rPr>
                        <a:t>8.0</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219456">
                <a:tc>
                  <a:txBody>
                    <a:bodyPr/>
                    <a:lstStyle/>
                    <a:p>
                      <a:pPr algn="ctr" indent="0" marL="0">
                        <a:buNone/>
                      </a:pPr>
                      <a:r>
                        <a:rPr lang="en-US" sz="950" b="1" dirty="0">
                          <a:solidFill>
                            <a:srgbClr val="1F2421"/>
                          </a:solidFill>
                        </a:rPr>
                        <a:t>비용 (AI 포함)</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950" b="1" dirty="0">
                          <a:solidFill>
                            <a:srgbClr val="1F2421"/>
                          </a:solidFill>
                        </a:rPr>
                        <a:t>1.2</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F2421"/>
                          </a:solidFill>
                        </a:rPr>
                        <a:t>3.5</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F2421"/>
                          </a:solidFill>
                        </a:rPr>
                        <a:t>6.5</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219456">
                <a:tc>
                  <a:txBody>
                    <a:bodyPr/>
                    <a:lstStyle/>
                    <a:p>
                      <a:pPr algn="ctr" indent="0" marL="0">
                        <a:buNone/>
                      </a:pPr>
                      <a:r>
                        <a:rPr lang="en-US" sz="950" b="1" dirty="0">
                          <a:solidFill>
                            <a:srgbClr val="1F2421"/>
                          </a:solidFill>
                        </a:rPr>
                        <a:t>영업손익</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950" b="1" dirty="0">
                          <a:solidFill>
                            <a:srgbClr val="B8692B"/>
                          </a:solidFill>
                        </a:rPr>
                        <a:t>−0.6</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692B"/>
                          </a:solidFill>
                        </a:rPr>
                        <a:t>−0.5</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4D3A"/>
                          </a:solidFill>
                        </a:rPr>
                        <a:t>+1.5</a:t>
                      </a:r>
                      <a:endParaRPr lang="en-US" sz="95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graphicFrame>
        <p:nvGraphicFramePr>
          <p:cNvPr id="43" name="table"/>
          <p:cNvGraphicFramePr>
            <a:graphicFrameLocks noGrp="1"/>
          </p:cNvGraphicFramePr>
          <p:nvPr>
            <p:extLst>
              <p:ext uri="{D42A27DB-BD31-4B8C-83A1-F6EECF244321}">
                <p14:modId xmlns:p14="http://schemas.microsoft.com/office/powerpoint/2010/main" val="1579011935"/>
              </p:ext>
            </p:extLst>
          </p:nvPr>
        </p:nvGraphicFramePr>
        <p:xfrm>
          <a:off x="4754880" y="1536192"/>
          <a:ext cx="3977640" cy="914400"/>
        </p:xfrm>
        <a:graphic>
          <a:graphicData uri="http://schemas.openxmlformats.org/drawingml/2006/table">
            <a:tbl>
              <a:tblPr/>
              <a:tblGrid>
                <a:gridCol w="1005840"/>
                <a:gridCol w="2971800"/>
              </a:tblGrid>
              <a:tr h="292608">
                <a:tc>
                  <a:txBody>
                    <a:bodyPr/>
                    <a:lstStyle/>
                    <a:p>
                      <a:pPr algn="ctr" indent="0" marL="0">
                        <a:buNone/>
                      </a:pPr>
                      <a:r>
                        <a:rPr lang="en-US" sz="1050" b="1" dirty="0">
                          <a:solidFill>
                            <a:srgbClr val="FFFFFF"/>
                          </a:solidFill>
                        </a:rPr>
                        <a:t>확장 방향</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내용</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03504">
                <a:tc>
                  <a:txBody>
                    <a:bodyPr/>
                    <a:lstStyle/>
                    <a:p>
                      <a:pPr algn="ctr" indent="0" marL="0">
                        <a:buNone/>
                      </a:pPr>
                      <a:r>
                        <a:rPr lang="en-US" sz="1000" b="1" dirty="0">
                          <a:solidFill>
                            <a:srgbClr val="1F2421"/>
                          </a:solidFill>
                        </a:rPr>
                        <a:t>품목 확장</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나물 → 제철 농산물 전반으로 품목 확대</a:t>
                      </a:r>
                      <a:endParaRPr lang="en-US" sz="1000" dirty="0"/>
                    </a:p>
                    <a:p>
                      <a:pPr algn="l" indent="0" marL="0">
                        <a:buNone/>
                      </a:pPr>
                      <a:r>
                        <a:rPr lang="en-US" sz="1000" dirty="0">
                          <a:solidFill>
                            <a:srgbClr val="1F2421"/>
                          </a:solidFill>
                        </a:rPr>
                        <a:t>(동네 큐레이션 커머스)</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03504">
                <a:tc>
                  <a:txBody>
                    <a:bodyPr/>
                    <a:lstStyle/>
                    <a:p>
                      <a:pPr algn="ctr" indent="0" marL="0">
                        <a:buNone/>
                      </a:pPr>
                      <a:r>
                        <a:rPr lang="en-US" sz="1000" b="1" dirty="0">
                          <a:solidFill>
                            <a:srgbClr val="1F2421"/>
                          </a:solidFill>
                        </a:rPr>
                        <a:t>산지 연결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산채 농가 → 동네 매장 → 소비자 직거래</a:t>
                      </a:r>
                      <a:endParaRPr lang="en-US" sz="1000" dirty="0"/>
                    </a:p>
                    <a:p>
                      <a:pPr algn="l" indent="0" marL="0">
                        <a:buNone/>
                      </a:pPr>
                      <a:r>
                        <a:rPr lang="en-US" sz="1000" dirty="0">
                          <a:solidFill>
                            <a:srgbClr val="1F2421"/>
                          </a:solidFill>
                        </a:rPr>
                        <a:t>고부가 품목(산마늘 · 곰취)부터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03504">
                <a:tc>
                  <a:txBody>
                    <a:bodyPr/>
                    <a:lstStyle/>
                    <a:p>
                      <a:pPr algn="ctr" indent="0" marL="0">
                        <a:buNone/>
                      </a:pPr>
                      <a:r>
                        <a:rPr lang="en-US" sz="1000" b="1" dirty="0">
                          <a:solidFill>
                            <a:srgbClr val="1F2421"/>
                          </a:solidFill>
                        </a:rPr>
                        <a:t>해외 진출</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‘Namul’ 브랜드 건조 나물 밀키트 + 레시피</a:t>
                      </a:r>
                      <a:endParaRPr lang="en-US" sz="1000" dirty="0"/>
                    </a:p>
                    <a:p>
                      <a:pPr algn="l" indent="0" marL="0">
                        <a:buNone/>
                      </a:pPr>
                      <a:r>
                        <a:rPr lang="en-US" sz="1000" dirty="0">
                          <a:solidFill>
                            <a:srgbClr val="1F2421"/>
                          </a:solidFill>
                        </a:rPr>
                        <a:t>(국내 산나물 업체 일본 · 미국 진출 사례)</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603504">
                <a:tc>
                  <a:txBody>
                    <a:bodyPr/>
                    <a:lstStyle/>
                    <a:p>
                      <a:pPr algn="ctr" indent="0" marL="0">
                        <a:buNone/>
                      </a:pPr>
                      <a:r>
                        <a:rPr lang="en-US" sz="1000" b="1" dirty="0">
                          <a:solidFill>
                            <a:srgbClr val="1F2421"/>
                          </a:solidFill>
                        </a:rPr>
                        <a:t>사회적 가치</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전통시장 젊은 고객 유입, 산나물 폐기 감소</a:t>
                      </a:r>
                      <a:endParaRPr lang="en-US" sz="1000" dirty="0"/>
                    </a:p>
                    <a:p>
                      <a:pPr algn="l" indent="0" marL="0">
                        <a:buNone/>
                      </a:pPr>
                      <a:r>
                        <a:rPr lang="en-US" sz="1000" dirty="0">
                          <a:solidFill>
                            <a:srgbClr val="1F2421"/>
                          </a:solidFill>
                        </a:rPr>
                        <a:t>2030 · 아동 채소 섭취 개선</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9"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재무 수치는 가정 기반 목표치 / 자료: 순천대 산채 소득 연구, 유니콘팩토리(2024.11), 문체부 영문 기사 ‘namul nation’</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Ⅳ. 추진 계획</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리스크 및 대응 방안</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상인 참여·대형 플랫폼 경쟁에 더해 AI 오류·식품 안전·원산지 신뢰를 핵심 리스크로 보고, 사람 확인과 표시 의무로 대응함</a:t>
            </a:r>
            <a:endParaRPr lang="en-US" sz="125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2377440"/>
                <a:gridCol w="777240"/>
                <a:gridCol w="5166360"/>
              </a:tblGrid>
              <a:tr h="292608">
                <a:tc>
                  <a:txBody>
                    <a:bodyPr/>
                    <a:lstStyle/>
                    <a:p>
                      <a:pPr algn="ctr" indent="0" marL="0">
                        <a:buNone/>
                      </a:pPr>
                      <a:r>
                        <a:rPr lang="en-US" sz="1050" b="1" dirty="0">
                          <a:solidFill>
                            <a:srgbClr val="FFFFFF"/>
                          </a:solidFill>
                        </a:rPr>
                        <a:t>리스크</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영향도</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대응 방안</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429768">
                <a:tc>
                  <a:txBody>
                    <a:bodyPr/>
                    <a:lstStyle/>
                    <a:p>
                      <a:pPr algn="l" indent="0" marL="0">
                        <a:buNone/>
                      </a:pPr>
                      <a:r>
                        <a:rPr lang="en-US" sz="1000" b="1" dirty="0">
                          <a:solidFill>
                            <a:srgbClr val="1F2421"/>
                          </a:solidFill>
                        </a:rPr>
                        <a:t>상인 참여 저조 (디지털 피로)</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B8692B"/>
                          </a:solidFill>
                        </a:rPr>
                        <a:t>높음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카톡 한 줄 등록 · 현장 온보딩 · 첫 6개월 수수료 0%, 주문을 먼저 확보한 뒤 상인 확대</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1F2421"/>
                          </a:solidFill>
                        </a:rPr>
                        <a:t>대형 플랫폼 경쟁 (배민 수수료 0%)</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B8692B"/>
                          </a:solidFill>
                        </a:rPr>
                        <a:t>높음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콘텐츠 · 구독 · 상인 AI 도구로 차별화, 병행 입점 허용 (독점 요구 없음)</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1F2421"/>
                          </a:solidFill>
                        </a:rPr>
                        <a:t>AI 오류 (파싱 · 추천)</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4A524D"/>
                          </a:solidFill>
                        </a:rPr>
                        <a:t>중간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사장님 확인 후 게시, 단가 · 수량 범위 검증, ‘AI 정리’ 표시</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1F2421"/>
                          </a:solidFill>
                        </a:rPr>
                        <a:t>식품 안전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4A524D"/>
                          </a:solidFill>
                        </a:rPr>
                        <a:t>중간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꼭 데쳐 먹는 나물 표시, 야생 채취 식물 판별 금지, 손질 · 데침은 당일 픽업</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1F2421"/>
                          </a:solidFill>
                        </a:rPr>
                        <a:t>원산지 신뢰</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4A524D"/>
                          </a:solidFill>
                        </a:rPr>
                        <a:t>중간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매장별 원산지 표시 의무화, 직매장 · 산지 연계, 원산지 위반 매장 즉시 제외</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29768">
                <a:tc>
                  <a:txBody>
                    <a:bodyPr/>
                    <a:lstStyle/>
                    <a:p>
                      <a:pPr algn="l" indent="0" marL="0">
                        <a:buNone/>
                      </a:pPr>
                      <a:r>
                        <a:rPr lang="en-US" sz="1000" b="1" dirty="0">
                          <a:solidFill>
                            <a:srgbClr val="1F2421"/>
                          </a:solidFill>
                        </a:rPr>
                        <a:t>계절성 · 가격 변동</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000" b="1" dirty="0">
                          <a:solidFill>
                            <a:srgbClr val="4A524D"/>
                          </a:solidFill>
                        </a:rPr>
                        <a:t>중간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묵나물 · 사계절 나물, 구독 가격 고정, AI 입고 추천으로 재고 조절</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영향도는 사업 초기(0~1단계) 기준 자체 평가</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Ⅳ. 추진 계획</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팀 구성</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대표가 데이터·AI와 현장 제휴를 맡고, 개발·콘텐츠 인력과 상인·영양·식품안전 자문으로 실행력을 보완함</a:t>
            </a:r>
            <a:endParaRPr lang="en-US" sz="125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234440"/>
                <a:gridCol w="2514600"/>
                <a:gridCol w="3291840"/>
                <a:gridCol w="1280160"/>
              </a:tblGrid>
              <a:tr h="310896">
                <a:tc>
                  <a:txBody>
                    <a:bodyPr/>
                    <a:lstStyle/>
                    <a:p>
                      <a:pPr algn="ctr" indent="0" marL="0">
                        <a:buNone/>
                      </a:pPr>
                      <a:r>
                        <a:rPr lang="en-US" sz="1050" b="1" dirty="0">
                          <a:solidFill>
                            <a:srgbClr val="FFFFFF"/>
                          </a:solidFill>
                        </a:rPr>
                        <a:t>역할</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담당</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역량 · 근거</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050" b="1" dirty="0">
                          <a:solidFill>
                            <a:srgbClr val="FFFFFF"/>
                          </a:solidFill>
                        </a:rPr>
                        <a:t>확보 계획</a:t>
                      </a:r>
                      <a:endParaRPr lang="en-US" sz="1050" dirty="0"/>
                    </a:p>
                  </a:txBody>
                  <a:tcPr marL="73152" marR="73152" marT="36576" marB="36576" anchor="ctr">
                    <a:lnL w="0" cap="flat" cmpd="sng" algn="ctr">
                      <a:noFill/>
                    </a:lnL>
                    <a:lnR w="0" cap="flat" cmpd="sng" algn="ctr">
                      <a:noFill/>
                    </a:lnR>
                    <a:lnT w="0" cap="flat" cmpd="sng" algn="ctr">
                      <a:noFill/>
                    </a:lnT>
                    <a:lnB w="0" cap="flat" cmpd="sng" algn="ctr">
                      <a:noFill/>
                    </a:lnB>
                    <a:solidFill>
                      <a:srgbClr val="1E4D3A"/>
                    </a:solidFill>
                  </a:tcPr>
                </a:tc>
              </a:tr>
              <a:tr h="640080">
                <a:tc>
                  <a:txBody>
                    <a:bodyPr/>
                    <a:lstStyle/>
                    <a:p>
                      <a:pPr algn="ctr" indent="0" marL="0">
                        <a:buNone/>
                      </a:pPr>
                      <a:r>
                        <a:rPr lang="en-US" sz="1000" b="1" dirty="0">
                          <a:solidFill>
                            <a:srgbClr val="1E4D3A"/>
                          </a:solidFill>
                        </a:rPr>
                        <a:t>대표 ○○○</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수요 예측 · 데이터 · AI 설계, 상인 제휴 현장 운영</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공학 연구실 시뮬레이션 · 데이터 분석(파이썬) 경험</a:t>
                      </a:r>
                      <a:endParaRPr lang="en-US" sz="1000" dirty="0"/>
                    </a:p>
                    <a:p>
                      <a:pPr algn="l" indent="0" marL="0">
                        <a:buNone/>
                      </a:pPr>
                      <a:r>
                        <a:rPr lang="en-US" sz="1000" dirty="0">
                          <a:solidFill>
                            <a:srgbClr val="1F2421"/>
                          </a:solidFill>
                        </a:rPr>
                        <a:t>AI 코딩 도구로 프로토타입 직접 제작</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4D3A"/>
                          </a:solidFill>
                        </a:rPr>
                        <a:t>확보</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57200">
                <a:tc>
                  <a:txBody>
                    <a:bodyPr/>
                    <a:lstStyle/>
                    <a:p>
                      <a:pPr algn="ctr" indent="0" marL="0">
                        <a:buNone/>
                      </a:pPr>
                      <a:r>
                        <a:rPr lang="en-US" sz="1000" b="1" dirty="0">
                          <a:solidFill>
                            <a:srgbClr val="1F2421"/>
                          </a:solidFill>
                        </a:rPr>
                        <a:t>개발 1명</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웹앱 · 결제 · 지도 · 챗봇</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공동창업 또는 파트타임, AI 코딩 도구 활용</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1"/>
                          </a:solidFill>
                        </a:rPr>
                        <a:t>1단계 착수 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57200">
                <a:tc>
                  <a:txBody>
                    <a:bodyPr/>
                    <a:lstStyle/>
                    <a:p>
                      <a:pPr algn="ctr" indent="0" marL="0">
                        <a:buNone/>
                      </a:pPr>
                      <a:r>
                        <a:rPr lang="en-US" sz="1000" b="1" dirty="0">
                          <a:solidFill>
                            <a:srgbClr val="1F2421"/>
                          </a:solidFill>
                        </a:rPr>
                        <a:t>콘텐츠 1명</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도감 · 레시피 촬영, 크리에이터 제휴</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요리 · 영상 경험 (파트타임)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1"/>
                          </a:solidFill>
                        </a:rPr>
                        <a:t>0단계 중</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57200">
                <a:tc>
                  <a:txBody>
                    <a:bodyPr/>
                    <a:lstStyle/>
                    <a:p>
                      <a:pPr algn="ctr" indent="0" marL="0">
                        <a:buNone/>
                      </a:pPr>
                      <a:r>
                        <a:rPr lang="en-US" sz="1000" b="1" dirty="0">
                          <a:solidFill>
                            <a:srgbClr val="1F2421"/>
                          </a:solidFill>
                        </a:rPr>
                        <a:t>자문</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000" dirty="0">
                          <a:solidFill>
                            <a:srgbClr val="1F2421"/>
                          </a:solidFill>
                        </a:rPr>
                        <a:t>상인회 · 창업지원단 · 영양사 · 식품안전</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421"/>
                          </a:solidFill>
                        </a:rPr>
                        <a:t>현장 · 아동 식단 · 원산지/표시 규정</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1"/>
                          </a:solidFill>
                        </a:rPr>
                        <a:t>0단계 중</a:t>
                      </a:r>
                      <a:endParaRPr lang="en-US" sz="1000" dirty="0"/>
                    </a:p>
                  </a:txBody>
                  <a:tcPr marL="73152" marR="73152"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team band"/>
          <p:cNvSpPr/>
          <p:nvPr/>
        </p:nvSpPr>
        <p:spPr>
          <a:xfrm>
            <a:off x="411480" y="4133088"/>
            <a:ext cx="8321040" cy="402336"/>
          </a:xfrm>
          <a:prstGeom prst="rect">
            <a:avLst/>
          </a:prstGeom>
          <a:solidFill>
            <a:srgbClr val="E6F0EA"/>
          </a:solidFill>
          <a:ln w="12700">
            <a:solidFill>
              <a:srgbClr val="E6F0EA"/>
            </a:solidFill>
            <a:prstDash val="solid"/>
          </a:ln>
        </p:spPr>
      </p:sp>
      <p:sp>
        <p:nvSpPr>
          <p:cNvPr id="8" name="team band text"/>
          <p:cNvSpPr txBox="1"/>
          <p:nvPr/>
        </p:nvSpPr>
        <p:spPr>
          <a:xfrm>
            <a:off x="548640" y="4133088"/>
            <a:ext cx="8092440" cy="402336"/>
          </a:xfrm>
          <a:prstGeom prst="rect">
            <a:avLst/>
          </a:prstGeom>
          <a:noFill/>
          <a:ln/>
        </p:spPr>
        <p:txBody>
          <a:bodyPr wrap="square" lIns="0" tIns="0" rIns="0" bIns="0" rtlCol="0" anchor="ctr"/>
          <a:lstStyle/>
          <a:p>
            <a:pPr indent="0" marL="0">
              <a:buNone/>
            </a:pPr>
            <a:r>
              <a:rPr lang="en-US" sz="1000" b="1" dirty="0">
                <a:solidFill>
                  <a:srgbClr val="1E4D3A"/>
                </a:solidFill>
              </a:rPr>
              <a:t>일하는 방식  </a:t>
            </a:r>
            <a:pPr indent="0" marL="0">
              <a:buNone/>
            </a:pPr>
            <a:r>
              <a:rPr lang="en-US" sz="1000" dirty="0">
                <a:solidFill>
                  <a:srgbClr val="1F2421"/>
                </a:solidFill>
              </a:rPr>
              <a:t>작은 팀 + AI 도구: 개발 · 콘텐츠 · 고객 응대 초안을 AI로 처리해 고정비를 낮춘다</a:t>
            </a:r>
            <a:endParaRPr lang="en-US" sz="1000" dirty="0"/>
          </a:p>
        </p:txBody>
      </p:sp>
      <p:sp>
        <p:nvSpPr>
          <p:cNvPr id="9"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주: 시드 단계 투자자는 팀 슬라이드를 가장 오래 본다 (DocSend 2024) · 이름과 경력은 발표자 정보로 채울 것</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losing label"/>
          <p:cNvSpPr txBox="1"/>
          <p:nvPr/>
        </p:nvSpPr>
        <p:spPr>
          <a:xfrm>
            <a:off x="548640" y="548640"/>
            <a:ext cx="2743200" cy="274320"/>
          </a:xfrm>
          <a:prstGeom prst="rect">
            <a:avLst/>
          </a:prstGeom>
          <a:noFill/>
          <a:ln/>
        </p:spPr>
        <p:txBody>
          <a:bodyPr wrap="square" lIns="0" tIns="0" rIns="0" bIns="0" rtlCol="0" anchor="ctr"/>
          <a:lstStyle/>
          <a:p>
            <a:pPr indent="0" marL="0">
              <a:buNone/>
            </a:pPr>
            <a:r>
              <a:rPr lang="en-US" sz="1200" dirty="0">
                <a:solidFill>
                  <a:srgbClr val="A9C2B3"/>
                </a:solidFill>
              </a:rPr>
              <a:t>맺음말</a:t>
            </a:r>
            <a:endParaRPr lang="en-US" sz="1200" dirty="0"/>
          </a:p>
        </p:txBody>
      </p:sp>
      <p:sp>
        <p:nvSpPr>
          <p:cNvPr id="3" name="Text 0"/>
          <p:cNvSpPr/>
          <p:nvPr>
            <p:ph idx="100" type="title" hasCustomPrompt="1"/>
          </p:nvPr>
        </p:nvSpPr>
        <p:spPr>
          <a:xfrm>
            <a:off x="548640" y="868680"/>
            <a:ext cx="8046720" cy="640080"/>
          </a:xfrm>
          <a:prstGeom prst="rect">
            <a:avLst/>
          </a:prstGeom>
          <a:noFill/>
          <a:ln/>
        </p:spPr>
        <p:txBody>
          <a:bodyPr wrap="square" lIns="0" tIns="0" rIns="0" bIns="0" rtlCol="0" anchor="ctr"/>
          <a:lstStyle/>
          <a:p>
            <a:pPr algn="l" indent="0" marL="0">
              <a:buNone/>
            </a:pPr>
            <a:r>
              <a:rPr lang="en-US" sz="3200" b="1" dirty="0">
                <a:solidFill>
                  <a:schemeClr val="bg1"/>
                </a:solidFill>
              </a:rPr>
              <a:t>오늘 나물, 동네에서.</a:t>
            </a:r>
            <a:endParaRPr lang="en-US" sz="3200" dirty="0"/>
          </a:p>
        </p:txBody>
      </p:sp>
      <p:sp>
        <p:nvSpPr>
          <p:cNvPr id="4" name="Text 0"/>
          <p:cNvSpPr/>
          <p:nvPr>
            <p:ph idx="101" type="body" hasCustomPrompt="1"/>
          </p:nvPr>
        </p:nvSpPr>
        <p:spPr>
          <a:xfrm>
            <a:off x="548640" y="1554480"/>
            <a:ext cx="8046720" cy="411480"/>
          </a:xfrm>
          <a:prstGeom prst="rect">
            <a:avLst/>
          </a:prstGeom>
          <a:noFill/>
          <a:ln/>
        </p:spPr>
        <p:txBody>
          <a:bodyPr wrap="square" lIns="0" tIns="0" rIns="0" bIns="0" rtlCol="0" anchor="t"/>
          <a:lstStyle/>
          <a:p>
            <a:pPr indent="0" marL="0">
              <a:buNone/>
            </a:pPr>
            <a:r>
              <a:rPr lang="en-US" sz="1400" dirty="0">
                <a:solidFill>
                  <a:srgbClr val="DCE7E0"/>
                </a:solidFill>
              </a:rPr>
              <a:t>콘텐츠와 AI가 수요를 만들고, 동네 가게가 공급하고, 데이터가 쌓이는 구조</a:t>
            </a:r>
            <a:endParaRPr lang="en-US" sz="1400" dirty="0"/>
          </a:p>
        </p:txBody>
      </p:sp>
      <p:sp>
        <p:nvSpPr>
          <p:cNvPr id="5" name="next steps label"/>
          <p:cNvSpPr txBox="1"/>
          <p:nvPr/>
        </p:nvSpPr>
        <p:spPr>
          <a:xfrm>
            <a:off x="548640" y="2377440"/>
            <a:ext cx="2743200" cy="274320"/>
          </a:xfrm>
          <a:prstGeom prst="rect">
            <a:avLst/>
          </a:prstGeom>
          <a:noFill/>
          <a:ln/>
        </p:spPr>
        <p:txBody>
          <a:bodyPr wrap="square" lIns="0" tIns="0" rIns="0" bIns="0" rtlCol="0" anchor="ctr"/>
          <a:lstStyle/>
          <a:p>
            <a:pPr indent="0" marL="0">
              <a:buNone/>
            </a:pPr>
            <a:r>
              <a:rPr lang="en-US" sz="1100" b="1" dirty="0">
                <a:solidFill>
                  <a:srgbClr val="A9C2B3"/>
                </a:solidFill>
              </a:rPr>
              <a:t>Next Steps</a:t>
            </a:r>
            <a:endParaRPr lang="en-US" sz="1100" dirty="0"/>
          </a:p>
        </p:txBody>
      </p:sp>
      <p:sp>
        <p:nvSpPr>
          <p:cNvPr id="6" name="step box 01"/>
          <p:cNvSpPr/>
          <p:nvPr/>
        </p:nvSpPr>
        <p:spPr>
          <a:xfrm>
            <a:off x="548640" y="2697480"/>
            <a:ext cx="2560320" cy="1234440"/>
          </a:xfrm>
          <a:prstGeom prst="rect">
            <a:avLst/>
          </a:prstGeom>
          <a:solidFill>
            <a:srgbClr val="214A39"/>
          </a:solidFill>
          <a:ln w="12700">
            <a:solidFill>
              <a:srgbClr val="214A39"/>
            </a:solidFill>
            <a:prstDash val="solid"/>
          </a:ln>
        </p:spPr>
      </p:sp>
      <p:sp>
        <p:nvSpPr>
          <p:cNvPr id="7" name="step num 01"/>
          <p:cNvSpPr txBox="1"/>
          <p:nvPr/>
        </p:nvSpPr>
        <p:spPr>
          <a:xfrm>
            <a:off x="731520" y="278892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01</a:t>
            </a:r>
            <a:endParaRPr lang="en-US" sz="1800" dirty="0"/>
          </a:p>
        </p:txBody>
      </p:sp>
      <p:sp>
        <p:nvSpPr>
          <p:cNvPr id="8" name="step head 01"/>
          <p:cNvSpPr txBox="1"/>
          <p:nvPr/>
        </p:nvSpPr>
        <p:spPr>
          <a:xfrm>
            <a:off x="1325880" y="2788920"/>
            <a:ext cx="1691640" cy="365760"/>
          </a:xfrm>
          <a:prstGeom prst="rect">
            <a:avLst/>
          </a:prstGeom>
          <a:noFill/>
          <a:ln/>
        </p:spPr>
        <p:txBody>
          <a:bodyPr wrap="square" lIns="0" tIns="0" rIns="0" bIns="0" rtlCol="0" anchor="ctr"/>
          <a:lstStyle/>
          <a:p>
            <a:pPr indent="0" marL="0">
              <a:buNone/>
            </a:pPr>
            <a:r>
              <a:rPr lang="en-US" sz="1300" b="1" dirty="0">
                <a:solidFill>
                  <a:srgbClr val="FFFFFF"/>
                </a:solidFill>
              </a:rPr>
              <a:t>파일럿 착수</a:t>
            </a:r>
            <a:endParaRPr lang="en-US" sz="1300" dirty="0"/>
          </a:p>
        </p:txBody>
      </p:sp>
      <p:sp>
        <p:nvSpPr>
          <p:cNvPr id="9" name="step desc 01"/>
          <p:cNvSpPr txBox="1"/>
          <p:nvPr/>
        </p:nvSpPr>
        <p:spPr>
          <a:xfrm>
            <a:off x="731520" y="3246120"/>
            <a:ext cx="2286000" cy="594360"/>
          </a:xfrm>
          <a:prstGeom prst="rect">
            <a:avLst/>
          </a:prstGeom>
          <a:noFill/>
          <a:ln/>
        </p:spPr>
        <p:txBody>
          <a:bodyPr wrap="square" lIns="0" tIns="0" rIns="0" bIns="0" rtlCol="0" anchor="ctr"/>
          <a:lstStyle/>
          <a:p>
            <a:pPr indent="0" marL="0">
              <a:buNone/>
            </a:pPr>
            <a:r>
              <a:rPr lang="en-US" sz="1000" dirty="0">
                <a:solidFill>
                  <a:srgbClr val="C7D6CC"/>
                </a:solidFill>
              </a:rPr>
              <a:t>2026.12 ~ 2027.2</a:t>
            </a:r>
            <a:endParaRPr lang="en-US" sz="1000" dirty="0"/>
          </a:p>
          <a:p>
            <a:pPr indent="0" marL="0">
              <a:buNone/>
            </a:pPr>
            <a:r>
              <a:rPr lang="en-US" sz="1000" dirty="0">
                <a:solidFill>
                  <a:srgbClr val="C7D6CC"/>
                </a:solidFill>
              </a:rPr>
              <a:t>캠퍼스 인근 시장 1곳 · 점포 2~3곳</a:t>
            </a:r>
            <a:endParaRPr lang="en-US" sz="1000" dirty="0"/>
          </a:p>
        </p:txBody>
      </p:sp>
      <p:sp>
        <p:nvSpPr>
          <p:cNvPr id="10" name="step box 02"/>
          <p:cNvSpPr/>
          <p:nvPr/>
        </p:nvSpPr>
        <p:spPr>
          <a:xfrm>
            <a:off x="3246120" y="2697480"/>
            <a:ext cx="2560320" cy="1234440"/>
          </a:xfrm>
          <a:prstGeom prst="rect">
            <a:avLst/>
          </a:prstGeom>
          <a:solidFill>
            <a:srgbClr val="214A39"/>
          </a:solidFill>
          <a:ln w="12700">
            <a:solidFill>
              <a:srgbClr val="214A39"/>
            </a:solidFill>
            <a:prstDash val="solid"/>
          </a:ln>
        </p:spPr>
      </p:sp>
      <p:sp>
        <p:nvSpPr>
          <p:cNvPr id="11" name="step num 02"/>
          <p:cNvSpPr txBox="1"/>
          <p:nvPr/>
        </p:nvSpPr>
        <p:spPr>
          <a:xfrm>
            <a:off x="3429000" y="278892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02</a:t>
            </a:r>
            <a:endParaRPr lang="en-US" sz="1800" dirty="0"/>
          </a:p>
        </p:txBody>
      </p:sp>
      <p:sp>
        <p:nvSpPr>
          <p:cNvPr id="12" name="step head 02"/>
          <p:cNvSpPr txBox="1"/>
          <p:nvPr/>
        </p:nvSpPr>
        <p:spPr>
          <a:xfrm>
            <a:off x="4023360" y="2788920"/>
            <a:ext cx="1691640" cy="365760"/>
          </a:xfrm>
          <a:prstGeom prst="rect">
            <a:avLst/>
          </a:prstGeom>
          <a:noFill/>
          <a:ln/>
        </p:spPr>
        <p:txBody>
          <a:bodyPr wrap="square" lIns="0" tIns="0" rIns="0" bIns="0" rtlCol="0" anchor="ctr"/>
          <a:lstStyle/>
          <a:p>
            <a:pPr indent="0" marL="0">
              <a:buNone/>
            </a:pPr>
            <a:r>
              <a:rPr lang="en-US" sz="1300" b="1" dirty="0">
                <a:solidFill>
                  <a:srgbClr val="FFFFFF"/>
                </a:solidFill>
              </a:rPr>
              <a:t>AI 검증</a:t>
            </a:r>
            <a:endParaRPr lang="en-US" sz="1300" dirty="0"/>
          </a:p>
        </p:txBody>
      </p:sp>
      <p:sp>
        <p:nvSpPr>
          <p:cNvPr id="13" name="step desc 02"/>
          <p:cNvSpPr txBox="1"/>
          <p:nvPr/>
        </p:nvSpPr>
        <p:spPr>
          <a:xfrm>
            <a:off x="3429000" y="3246120"/>
            <a:ext cx="2286000" cy="594360"/>
          </a:xfrm>
          <a:prstGeom prst="rect">
            <a:avLst/>
          </a:prstGeom>
          <a:noFill/>
          <a:ln/>
        </p:spPr>
        <p:txBody>
          <a:bodyPr wrap="square" lIns="0" tIns="0" rIns="0" bIns="0" rtlCol="0" anchor="ctr"/>
          <a:lstStyle/>
          <a:p>
            <a:pPr indent="0" marL="0">
              <a:buNone/>
            </a:pPr>
            <a:r>
              <a:rPr lang="en-US" sz="1000" dirty="0">
                <a:solidFill>
                  <a:srgbClr val="C7D6CC"/>
                </a:solidFill>
              </a:rPr>
              <a:t>AI 셰프 추천 품질 · 상인 메시지 정리</a:t>
            </a:r>
            <a:endParaRPr lang="en-US" sz="1000" dirty="0"/>
          </a:p>
          <a:p>
            <a:pPr indent="0" marL="0">
              <a:buNone/>
            </a:pPr>
            <a:r>
              <a:rPr lang="en-US" sz="1000" dirty="0">
                <a:solidFill>
                  <a:srgbClr val="C7D6CC"/>
                </a:solidFill>
              </a:rPr>
              <a:t>오류율 기록, 이동평균 예측 시작</a:t>
            </a:r>
            <a:endParaRPr lang="en-US" sz="1000" dirty="0"/>
          </a:p>
        </p:txBody>
      </p:sp>
      <p:sp>
        <p:nvSpPr>
          <p:cNvPr id="14" name="step box 03"/>
          <p:cNvSpPr/>
          <p:nvPr/>
        </p:nvSpPr>
        <p:spPr>
          <a:xfrm>
            <a:off x="5943600" y="2697480"/>
            <a:ext cx="2560320" cy="1234440"/>
          </a:xfrm>
          <a:prstGeom prst="rect">
            <a:avLst/>
          </a:prstGeom>
          <a:solidFill>
            <a:srgbClr val="214A39"/>
          </a:solidFill>
          <a:ln w="12700">
            <a:solidFill>
              <a:srgbClr val="214A39"/>
            </a:solidFill>
            <a:prstDash val="solid"/>
          </a:ln>
        </p:spPr>
      </p:sp>
      <p:sp>
        <p:nvSpPr>
          <p:cNvPr id="15" name="step num 03"/>
          <p:cNvSpPr txBox="1"/>
          <p:nvPr/>
        </p:nvSpPr>
        <p:spPr>
          <a:xfrm>
            <a:off x="6126480" y="278892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03</a:t>
            </a:r>
            <a:endParaRPr lang="en-US" sz="1800" dirty="0"/>
          </a:p>
        </p:txBody>
      </p:sp>
      <p:sp>
        <p:nvSpPr>
          <p:cNvPr id="16" name="step head 03"/>
          <p:cNvSpPr txBox="1"/>
          <p:nvPr/>
        </p:nvSpPr>
        <p:spPr>
          <a:xfrm>
            <a:off x="6720840" y="2788920"/>
            <a:ext cx="1691640" cy="365760"/>
          </a:xfrm>
          <a:prstGeom prst="rect">
            <a:avLst/>
          </a:prstGeom>
          <a:noFill/>
          <a:ln/>
        </p:spPr>
        <p:txBody>
          <a:bodyPr wrap="square" lIns="0" tIns="0" rIns="0" bIns="0" rtlCol="0" anchor="ctr"/>
          <a:lstStyle/>
          <a:p>
            <a:pPr indent="0" marL="0">
              <a:buNone/>
            </a:pPr>
            <a:r>
              <a:rPr lang="en-US" sz="1300" b="1" dirty="0">
                <a:solidFill>
                  <a:srgbClr val="FFFFFF"/>
                </a:solidFill>
              </a:rPr>
              <a:t>지원사업 · 팀</a:t>
            </a:r>
            <a:endParaRPr lang="en-US" sz="1300" dirty="0"/>
          </a:p>
        </p:txBody>
      </p:sp>
      <p:sp>
        <p:nvSpPr>
          <p:cNvPr id="17" name="step desc 03"/>
          <p:cNvSpPr txBox="1"/>
          <p:nvPr/>
        </p:nvSpPr>
        <p:spPr>
          <a:xfrm>
            <a:off x="6126480" y="3246120"/>
            <a:ext cx="2286000" cy="594360"/>
          </a:xfrm>
          <a:prstGeom prst="rect">
            <a:avLst/>
          </a:prstGeom>
          <a:noFill/>
          <a:ln/>
        </p:spPr>
        <p:txBody>
          <a:bodyPr wrap="square" lIns="0" tIns="0" rIns="0" bIns="0" rtlCol="0" anchor="ctr"/>
          <a:lstStyle/>
          <a:p>
            <a:pPr indent="0" marL="0">
              <a:buNone/>
            </a:pPr>
            <a:r>
              <a:rPr lang="en-US" sz="1000" dirty="0">
                <a:solidFill>
                  <a:srgbClr val="C7D6CC"/>
                </a:solidFill>
              </a:rPr>
              <a:t>2027 예비창업패키지 공고 대응</a:t>
            </a:r>
            <a:endParaRPr lang="en-US" sz="1000" dirty="0"/>
          </a:p>
          <a:p>
            <a:pPr indent="0" marL="0">
              <a:buNone/>
            </a:pPr>
            <a:r>
              <a:rPr lang="en-US" sz="1000" dirty="0">
                <a:solidFill>
                  <a:srgbClr val="C7D6CC"/>
                </a:solidFill>
              </a:rPr>
              <a:t>개발 · 콘텐츠 팀원 확보</a:t>
            </a:r>
            <a:endParaRPr lang="en-US" sz="1000" dirty="0"/>
          </a:p>
        </p:txBody>
      </p:sp>
      <p:sp>
        <p:nvSpPr>
          <p:cNvPr id="18" name="thanks"/>
          <p:cNvSpPr txBox="1"/>
          <p:nvPr/>
        </p:nvSpPr>
        <p:spPr>
          <a:xfrm>
            <a:off x="548640" y="4251960"/>
            <a:ext cx="3657600" cy="365760"/>
          </a:xfrm>
          <a:prstGeom prst="rect">
            <a:avLst/>
          </a:prstGeom>
          <a:noFill/>
          <a:ln/>
        </p:spPr>
        <p:txBody>
          <a:bodyPr wrap="square" lIns="0" tIns="0" rIns="0" bIns="0" rtlCol="0" anchor="ctr"/>
          <a:lstStyle/>
          <a:p>
            <a:pPr indent="0" marL="0">
              <a:buNone/>
            </a:pPr>
            <a:r>
              <a:rPr lang="en-US" sz="1600" b="1" dirty="0">
                <a:solidFill>
                  <a:srgbClr val="FFFFFF"/>
                </a:solidFill>
              </a:rPr>
              <a:t>감사합니다</a:t>
            </a:r>
            <a:endParaRPr lang="en-US" sz="1600" dirty="0"/>
          </a:p>
        </p:txBody>
      </p:sp>
      <p:sp>
        <p:nvSpPr>
          <p:cNvPr id="19" name="qa"/>
          <p:cNvSpPr txBox="1"/>
          <p:nvPr/>
        </p:nvSpPr>
        <p:spPr>
          <a:xfrm>
            <a:off x="5394960" y="4251960"/>
            <a:ext cx="3200400" cy="365760"/>
          </a:xfrm>
          <a:prstGeom prst="rect">
            <a:avLst/>
          </a:prstGeom>
          <a:noFill/>
          <a:ln/>
        </p:spPr>
        <p:txBody>
          <a:bodyPr wrap="square" lIns="0" tIns="0" rIns="0" bIns="0" rtlCol="0" anchor="ctr"/>
          <a:lstStyle/>
          <a:p>
            <a:pPr algn="r" indent="0" marL="0">
              <a:buNone/>
            </a:pPr>
            <a:r>
              <a:rPr lang="en-US" sz="1200" dirty="0">
                <a:solidFill>
                  <a:srgbClr val="A9C2B3"/>
                </a:solidFill>
              </a:rPr>
              <a:t>질의응답</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000" b="1" dirty="0">
                <a:solidFill>
                  <a:schemeClr val="accent1"/>
                </a:solidFill>
              </a:rPr>
              <a:t>부록</a:t>
            </a:r>
            <a:endParaRPr lang="en-US" sz="10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참고 자료</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250" b="1" dirty="0">
                <a:solidFill>
                  <a:schemeClr val="tx1"/>
                </a:solidFill>
              </a:rPr>
              <a:t>본 자료의 수치는 2026.10.29~30 웹 검색 기준 공개 통계·보도를 인용함 (발표 전 원문 확인 권장)</a:t>
            </a:r>
            <a:endParaRPr lang="en-US" sz="1250" dirty="0"/>
          </a:p>
        </p:txBody>
      </p:sp>
      <p:sp>
        <p:nvSpPr>
          <p:cNvPr id="6" name="ref head 통계 · 시장 · 나물 도메인"/>
          <p:cNvSpPr txBox="1"/>
          <p:nvPr/>
        </p:nvSpPr>
        <p:spPr>
          <a:xfrm>
            <a:off x="411480" y="1517904"/>
            <a:ext cx="4069080" cy="256032"/>
          </a:xfrm>
          <a:prstGeom prst="rect">
            <a:avLst/>
          </a:prstGeom>
          <a:noFill/>
          <a:ln/>
        </p:spPr>
        <p:txBody>
          <a:bodyPr wrap="square" lIns="0" tIns="0" rIns="0" bIns="0" rtlCol="0" anchor="ctr"/>
          <a:lstStyle/>
          <a:p>
            <a:pPr indent="0" marL="0">
              <a:buNone/>
            </a:pPr>
            <a:r>
              <a:rPr lang="en-US" sz="1100" b="1" dirty="0">
                <a:solidFill>
                  <a:schemeClr val="accent1"/>
                </a:solidFill>
              </a:rPr>
              <a:t>통계 · 시장 · 나물 도메인</a:t>
            </a:r>
            <a:endParaRPr lang="en-US" sz="1100" dirty="0"/>
          </a:p>
        </p:txBody>
      </p:sp>
      <p:sp>
        <p:nvSpPr>
          <p:cNvPr id="7" name="ref list 통계 · 시장 · 나물 도메인"/>
          <p:cNvSpPr txBox="1"/>
          <p:nvPr/>
        </p:nvSpPr>
        <p:spPr>
          <a:xfrm>
            <a:off x="411480" y="1810512"/>
            <a:ext cx="4069080" cy="274320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950" dirty="0">
                <a:solidFill>
                  <a:srgbClr val="1F2421"/>
                </a:solidFill>
              </a:rPr>
              <a:t>국가데이터처 「2025 통계로 보는 1인 가구」 (2025.12)</a:t>
            </a:r>
            <a:endParaRPr lang="en-US" sz="950" dirty="0"/>
          </a:p>
          <a:p>
            <a:pPr marL="342900" indent="-342900">
              <a:spcAft>
                <a:spcPts val="300"/>
              </a:spcAft>
              <a:buSzPct val="100000"/>
              <a:buFont typeface="+mj-lt"/>
              <a:buAutoNum type="arabicPeriod" startAt="1"/>
            </a:pPr>
            <a:r>
              <a:rPr lang="en-US" sz="950" dirty="0">
                <a:solidFill>
                  <a:srgbClr val="1F2421"/>
                </a:solidFill>
              </a:rPr>
              <a:t>질병관리청 국민건강영양조사 2022–2024 (뉴시스 2026.08)</a:t>
            </a:r>
            <a:endParaRPr lang="en-US" sz="950" dirty="0"/>
          </a:p>
          <a:p>
            <a:pPr marL="342900" indent="-342900">
              <a:spcAft>
                <a:spcPts val="300"/>
              </a:spcAft>
              <a:buSzPct val="100000"/>
              <a:buFont typeface="+mj-lt"/>
              <a:buAutoNum type="arabicPeriod" startAt="1"/>
            </a:pPr>
            <a:r>
              <a:rPr lang="en-US" sz="950" dirty="0">
                <a:solidFill>
                  <a:srgbClr val="1F2421"/>
                </a:solidFill>
              </a:rPr>
              <a:t>산림청 「2024년 임산물생산조사」 (쿠키뉴스 2025.10)</a:t>
            </a:r>
            <a:endParaRPr lang="en-US" sz="950" dirty="0"/>
          </a:p>
          <a:p>
            <a:pPr marL="342900" indent="-342900">
              <a:spcAft>
                <a:spcPts val="300"/>
              </a:spcAft>
              <a:buSzPct val="100000"/>
              <a:buFont typeface="+mj-lt"/>
              <a:buAutoNum type="arabicPeriod" startAt="1"/>
            </a:pPr>
            <a:r>
              <a:rPr lang="en-US" sz="950" dirty="0">
                <a:solidFill>
                  <a:srgbClr val="1F2421"/>
                </a:solidFill>
              </a:rPr>
              <a:t>소상공인시장진흥공단 전통시장 실태조사 (2025.01 보도)</a:t>
            </a:r>
            <a:endParaRPr lang="en-US" sz="950" dirty="0"/>
          </a:p>
          <a:p>
            <a:pPr marL="342900" indent="-342900">
              <a:spcAft>
                <a:spcPts val="300"/>
              </a:spcAft>
              <a:buSzPct val="100000"/>
              <a:buFont typeface="+mj-lt"/>
              <a:buAutoNum type="arabicPeriod" startAt="1"/>
            </a:pPr>
            <a:r>
              <a:rPr lang="en-US" sz="950" dirty="0">
                <a:solidFill>
                  <a:srgbClr val="1F2421"/>
                </a:solidFill>
              </a:rPr>
              <a:t>농림축산식품부 로컬푸드 직매장 현황 (2021.06)</a:t>
            </a:r>
            <a:endParaRPr lang="en-US" sz="950" dirty="0"/>
          </a:p>
          <a:p>
            <a:pPr marL="342900" indent="-342900">
              <a:spcAft>
                <a:spcPts val="300"/>
              </a:spcAft>
              <a:buSzPct val="100000"/>
              <a:buFont typeface="+mj-lt"/>
              <a:buAutoNum type="arabicPeriod" startAt="1"/>
            </a:pPr>
            <a:r>
              <a:rPr lang="en-US" sz="950" dirty="0">
                <a:solidFill>
                  <a:srgbClr val="1F2421"/>
                </a:solidFill>
              </a:rPr>
              <a:t>식약처 산나물·독초 안전 안내, 한국소비자원 위해 집계</a:t>
            </a:r>
            <a:endParaRPr lang="en-US" sz="950" dirty="0"/>
          </a:p>
          <a:p>
            <a:pPr marL="342900" indent="-342900">
              <a:spcAft>
                <a:spcPts val="300"/>
              </a:spcAft>
              <a:buSzPct val="100000"/>
              <a:buFont typeface="+mj-lt"/>
              <a:buAutoNum type="arabicPeriod" startAt="1"/>
            </a:pPr>
            <a:r>
              <a:rPr lang="en-US" sz="950" dirty="0">
                <a:solidFill>
                  <a:srgbClr val="1F2421"/>
                </a:solidFill>
              </a:rPr>
              <a:t>경북매일, 중국산 고사리 급식 납품 적발 (2023.05)</a:t>
            </a:r>
            <a:endParaRPr lang="en-US" sz="950" dirty="0"/>
          </a:p>
          <a:p>
            <a:pPr marL="342900" indent="-342900">
              <a:spcAft>
                <a:spcPts val="300"/>
              </a:spcAft>
              <a:buSzPct val="100000"/>
              <a:buFont typeface="+mj-lt"/>
              <a:buAutoNum type="arabicPeriod" startAt="1"/>
            </a:pPr>
            <a:r>
              <a:rPr lang="en-US" sz="950" dirty="0">
                <a:solidFill>
                  <a:srgbClr val="1F2421"/>
                </a:solidFill>
              </a:rPr>
              <a:t>국가데이터처·KAMIS 시금치 가격 (2026.08 보도)</a:t>
            </a:r>
            <a:endParaRPr lang="en-US" sz="950" dirty="0"/>
          </a:p>
          <a:p>
            <a:pPr marL="342900" indent="-342900">
              <a:spcAft>
                <a:spcPts val="300"/>
              </a:spcAft>
              <a:buSzPct val="100000"/>
              <a:buFont typeface="+mj-lt"/>
              <a:buAutoNum type="arabicPeriod" startAt="1"/>
            </a:pPr>
            <a:r>
              <a:rPr lang="en-US" sz="950" dirty="0">
                <a:solidFill>
                  <a:srgbClr val="1F2421"/>
                </a:solidFill>
              </a:rPr>
              <a:t>KREI 산채 소비자 의향 연구 · 나물 조리 과학 논문</a:t>
            </a:r>
            <a:endParaRPr lang="en-US" sz="950" dirty="0"/>
          </a:p>
          <a:p>
            <a:pPr marL="342900" indent="-342900">
              <a:spcAft>
                <a:spcPts val="300"/>
              </a:spcAft>
              <a:buSzPct val="100000"/>
              <a:buFont typeface="+mj-lt"/>
              <a:buAutoNum type="arabicPeriod" startAt="1"/>
            </a:pPr>
            <a:r>
              <a:rPr lang="en-US" sz="950" dirty="0">
                <a:solidFill>
                  <a:srgbClr val="1F2421"/>
                </a:solidFill>
              </a:rPr>
              <a:t>예비창업패키지 · 농식품 벤처육성 · AI 바우처 공고 (2026)</a:t>
            </a:r>
            <a:endParaRPr lang="en-US" sz="950" dirty="0"/>
          </a:p>
        </p:txBody>
      </p:sp>
      <p:sp>
        <p:nvSpPr>
          <p:cNvPr id="8" name="ref head 벤치마크 · AI · 피칭 · 출처"/>
          <p:cNvSpPr txBox="1"/>
          <p:nvPr/>
        </p:nvSpPr>
        <p:spPr>
          <a:xfrm>
            <a:off x="4663440" y="1517904"/>
            <a:ext cx="4069080" cy="256032"/>
          </a:xfrm>
          <a:prstGeom prst="rect">
            <a:avLst/>
          </a:prstGeom>
          <a:noFill/>
          <a:ln/>
        </p:spPr>
        <p:txBody>
          <a:bodyPr wrap="square" lIns="0" tIns="0" rIns="0" bIns="0" rtlCol="0" anchor="ctr"/>
          <a:lstStyle/>
          <a:p>
            <a:pPr indent="0" marL="0">
              <a:buNone/>
            </a:pPr>
            <a:r>
              <a:rPr lang="en-US" sz="1100" b="1" dirty="0">
                <a:solidFill>
                  <a:schemeClr val="accent1"/>
                </a:solidFill>
              </a:rPr>
              <a:t>벤치마크 · AI · 피칭 · 출처</a:t>
            </a:r>
            <a:endParaRPr lang="en-US" sz="1100" dirty="0"/>
          </a:p>
        </p:txBody>
      </p:sp>
      <p:sp>
        <p:nvSpPr>
          <p:cNvPr id="9" name="ref list 벤치마크 · AI · 피칭 · 출처"/>
          <p:cNvSpPr txBox="1"/>
          <p:nvPr/>
        </p:nvSpPr>
        <p:spPr>
          <a:xfrm>
            <a:off x="4663440" y="1810512"/>
            <a:ext cx="4069080" cy="2743200"/>
          </a:xfrm>
          <a:prstGeom prst="rect">
            <a:avLst/>
          </a:prstGeom>
          <a:noFill/>
          <a:ln/>
        </p:spPr>
        <p:txBody>
          <a:bodyPr wrap="square" lIns="0" tIns="0" rIns="0" bIns="0" rtlCol="0" anchor="t"/>
          <a:lstStyle/>
          <a:p>
            <a:pPr marL="342900" indent="-342900">
              <a:spcAft>
                <a:spcPts val="300"/>
              </a:spcAft>
              <a:buSzPct val="100000"/>
              <a:buFont typeface="+mj-lt"/>
              <a:buAutoNum type="arabicPeriod" startAt="11"/>
            </a:pPr>
            <a:r>
              <a:rPr lang="en-US" sz="950" dirty="0">
                <a:solidFill>
                  <a:srgbClr val="1F2421"/>
                </a:solidFill>
              </a:rPr>
              <a:t>머니투데이, 배민 전통시장 입점 성과 (2026.03)</a:t>
            </a:r>
            <a:endParaRPr lang="en-US" sz="950" dirty="0"/>
          </a:p>
          <a:p>
            <a:pPr marL="342900" indent="-342900">
              <a:spcAft>
                <a:spcPts val="300"/>
              </a:spcAft>
              <a:buSzPct val="100000"/>
              <a:buFont typeface="+mj-lt"/>
              <a:buAutoNum type="arabicPeriod" startAt="11"/>
            </a:pPr>
            <a:r>
              <a:rPr lang="en-US" sz="950" dirty="0">
                <a:solidFill>
                  <a:srgbClr val="1F2421"/>
                </a:solidFill>
              </a:rPr>
              <a:t>한국경제, 어글리어스 (2025.02) · 원티드 기업정보</a:t>
            </a:r>
            <a:endParaRPr lang="en-US" sz="950" dirty="0"/>
          </a:p>
          <a:p>
            <a:pPr marL="342900" indent="-342900">
              <a:spcAft>
                <a:spcPts val="300"/>
              </a:spcAft>
              <a:buSzPct val="100000"/>
              <a:buFont typeface="+mj-lt"/>
              <a:buAutoNum type="arabicPeriod" startAt="11"/>
            </a:pPr>
            <a:r>
              <a:rPr lang="en-US" sz="950" dirty="0">
                <a:solidFill>
                  <a:srgbClr val="1F2421"/>
                </a:solidFill>
              </a:rPr>
              <a:t>당근 2025 실적 보도 · 모바일인덱스 (2025.10)</a:t>
            </a:r>
            <a:endParaRPr lang="en-US" sz="950" dirty="0"/>
          </a:p>
          <a:p>
            <a:pPr marL="342900" indent="-342900">
              <a:spcAft>
                <a:spcPts val="300"/>
              </a:spcAft>
              <a:buSzPct val="100000"/>
              <a:buFont typeface="+mj-lt"/>
              <a:buAutoNum type="arabicPeriod" startAt="11"/>
            </a:pPr>
            <a:r>
              <a:rPr lang="en-US" sz="950" dirty="0">
                <a:solidFill>
                  <a:srgbClr val="1F2421"/>
                </a:solidFill>
              </a:rPr>
              <a:t>Afresh 투자 발표 (2026.04) · Grocery Dive</a:t>
            </a:r>
            <a:endParaRPr lang="en-US" sz="950" dirty="0"/>
          </a:p>
          <a:p>
            <a:pPr marL="342900" indent="-342900">
              <a:spcAft>
                <a:spcPts val="300"/>
              </a:spcAft>
              <a:buSzPct val="100000"/>
              <a:buFont typeface="+mj-lt"/>
              <a:buAutoNum type="arabicPeriod" startAt="11"/>
            </a:pPr>
            <a:r>
              <a:rPr lang="en-US" sz="950" dirty="0">
                <a:solidFill>
                  <a:srgbClr val="1F2421"/>
                </a:solidFill>
              </a:rPr>
              <a:t>뉴데일리, 컬리 데멍이 폐기율 (2025.07)</a:t>
            </a:r>
            <a:endParaRPr lang="en-US" sz="950" dirty="0"/>
          </a:p>
          <a:p>
            <a:pPr marL="342900" indent="-342900">
              <a:spcAft>
                <a:spcPts val="300"/>
              </a:spcAft>
              <a:buSzPct val="100000"/>
              <a:buFont typeface="+mj-lt"/>
              <a:buAutoNum type="arabicPeriod" startAt="11"/>
            </a:pPr>
            <a:r>
              <a:rPr lang="en-US" sz="950" dirty="0">
                <a:solidFill>
                  <a:srgbClr val="1F2421"/>
                </a:solidFill>
              </a:rPr>
              <a:t>Supermarket News, Ask Instacart (2023)</a:t>
            </a:r>
            <a:endParaRPr lang="en-US" sz="950" dirty="0"/>
          </a:p>
          <a:p>
            <a:pPr marL="342900" indent="-342900">
              <a:spcAft>
                <a:spcPts val="300"/>
              </a:spcAft>
              <a:buSzPct val="100000"/>
              <a:buFont typeface="+mj-lt"/>
              <a:buAutoNum type="arabicPeriod" startAt="11"/>
            </a:pPr>
            <a:r>
              <a:rPr lang="en-US" sz="950" dirty="0">
                <a:solidFill>
                  <a:srgbClr val="1F2421"/>
                </a:solidFill>
              </a:rPr>
              <a:t>Too Good To Go 2025 성과 · vivid garden 타베쵸쿠 (2026.04)</a:t>
            </a:r>
            <a:endParaRPr lang="en-US" sz="950" dirty="0"/>
          </a:p>
          <a:p>
            <a:pPr marL="342900" indent="-342900">
              <a:spcAft>
                <a:spcPts val="300"/>
              </a:spcAft>
              <a:buSzPct val="100000"/>
              <a:buFont typeface="+mj-lt"/>
              <a:buAutoNum type="arabicPeriod" startAt="11"/>
            </a:pPr>
            <a:r>
              <a:rPr lang="en-US" sz="950" dirty="0">
                <a:solidFill>
                  <a:srgbClr val="1F2421"/>
                </a:solidFill>
              </a:rPr>
              <a:t>Sequoia · YC · DocSend 피치덱 가이드</a:t>
            </a:r>
            <a:endParaRPr lang="en-US" sz="950" dirty="0"/>
          </a:p>
          <a:p>
            <a:pPr marL="342900" indent="-342900">
              <a:spcAft>
                <a:spcPts val="300"/>
              </a:spcAft>
              <a:buSzPct val="100000"/>
              <a:buFont typeface="+mj-lt"/>
              <a:buAutoNum type="arabicPeriod" startAt="11"/>
            </a:pPr>
            <a:r>
              <a:rPr lang="en-US" sz="950" dirty="0">
                <a:solidFill>
                  <a:srgbClr val="1F2421"/>
                </a:solidFill>
              </a:rPr>
              <a:t>Anthropic Claude API 가격표 (2026.10)</a:t>
            </a:r>
            <a:endParaRPr lang="en-US" sz="950" dirty="0"/>
          </a:p>
          <a:p>
            <a:pPr marL="342900" indent="-342900">
              <a:spcAft>
                <a:spcPts val="300"/>
              </a:spcAft>
              <a:buSzPct val="100000"/>
              <a:buFont typeface="+mj-lt"/>
              <a:buAutoNum type="arabicPeriod" startAt="11"/>
            </a:pPr>
            <a:r>
              <a:rPr lang="en-US" sz="950" dirty="0">
                <a:solidFill>
                  <a:srgbClr val="1F2421"/>
                </a:solidFill>
              </a:rPr>
              <a:t>이미지: Microsoft Fluent Emoji (MIT) · 글꼴: Pretendard (OFL)</a:t>
            </a:r>
            <a:endParaRPr lang="en-US" sz="950" dirty="0"/>
          </a:p>
        </p:txBody>
      </p:sp>
      <p:sp>
        <p:nvSpPr>
          <p:cNvPr id="10" name="source note"/>
          <p:cNvSpPr txBox="1"/>
          <p:nvPr/>
        </p:nvSpPr>
        <p:spPr>
          <a:xfrm>
            <a:off x="411480" y="4608576"/>
            <a:ext cx="5897880" cy="347472"/>
          </a:xfrm>
          <a:prstGeom prst="rect">
            <a:avLst/>
          </a:prstGeom>
          <a:noFill/>
          <a:ln/>
        </p:spPr>
        <p:txBody>
          <a:bodyPr wrap="square" lIns="0" tIns="0" rIns="0" bIns="0" rtlCol="0" anchor="b"/>
          <a:lstStyle/>
          <a:p>
            <a:pPr indent="0" marL="0">
              <a:buNone/>
            </a:pPr>
            <a:r>
              <a:rPr lang="en-US" sz="900" dirty="0">
                <a:solidFill>
                  <a:srgbClr val="7A837D"/>
                </a:solidFill>
              </a:rPr>
              <a:t>전체 링크: 04 레퍼런스 · 06 피치덱 레퍼런스 · 07 나물 도메인 리서치 문서</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Namullo Corporate">
  <a:themeElements>
    <a:clrScheme name="Namullo Corporate">
      <a:dk1>
        <a:srgbClr val="1F2421"/>
      </a:dk1>
      <a:lt1>
        <a:srgbClr val="FFFFFF"/>
      </a:lt1>
      <a:dk2>
        <a:srgbClr val="1E4D3A"/>
      </a:dk2>
      <a:lt2>
        <a:srgbClr val="F2F4F2"/>
      </a:lt2>
      <a:accent1>
        <a:srgbClr val="1E4D3A"/>
      </a:accent1>
      <a:accent2>
        <a:srgbClr val="3F7F5F"/>
      </a:accent2>
      <a:accent3>
        <a:srgbClr val="B8692B"/>
      </a:accent3>
      <a:accent4>
        <a:srgbClr val="7A837D"/>
      </a:accent4>
      <a:accent5>
        <a:srgbClr val="A8C8B4"/>
      </a:accent5>
      <a:accent6>
        <a:srgbClr val="D9DED9"/>
      </a:accent6>
      <a:hlink>
        <a:srgbClr val="1E4D3A"/>
      </a:hlink>
      <a:folHlink>
        <a:srgbClr val="3F7F5F"/>
      </a:folHlink>
    </a:clrScheme>
    <a:fontScheme name="Namullo Corporat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나물로 사업계획</dc:title>
  <dc:subject>PptxGenJS Presentation</dc:subject>
  <dc:creator>Namullo</dc:creator>
  <cp:lastModifiedBy>Namullo</cp:lastModifiedBy>
  <cp:revision>1</cp:revision>
  <dcterms:created xsi:type="dcterms:W3CDTF">2026-10-30T00:51:52Z</dcterms:created>
  <dcterms:modified xsi:type="dcterms:W3CDTF">2026-10-30T00:51:52Z</dcterms:modified>
</cp:coreProperties>
</file>