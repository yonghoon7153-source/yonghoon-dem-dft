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7fcf549-b68e-201f-3482-c446b246cac2}">
          <p14:sldIdLst>
            <p14:sldId id="256"/>
          </p14:sldIdLst>
        </p14:section>
        <p14:section name="Problem" id="{ea8966f8-1aac-7c81-6887-adfb4bae2176}">
          <p14:sldIdLst>
            <p14:sldId id="257"/>
            <p14:sldId id="258"/>
          </p14:sldIdLst>
        </p14:section>
        <p14:section name="Solution" id="{89580917-4181-c161-e031-c0f2676a50d7}">
          <p14:sldIdLst>
            <p14:sldId id="259"/>
            <p14:sldId id="260"/>
            <p14:sldId id="261"/>
          </p14:sldIdLst>
        </p14:section>
        <p14:section name="Business" id="{18e45004-a45b-4e25-6a31-5f2786776584}">
          <p14:sldIdLst>
            <p14:sldId id="262"/>
            <p14:sldId id="263"/>
            <p14:sldId id="264"/>
          </p14:sldIdLst>
        </p14:section>
        <p14:section name="Vision" id="{b5b718cb-2b35-f4be-7606-cf977318afae}">
          <p14:sldIdLst>
            <p14:sldId id="265"/>
            <p14:sldId id="266"/>
          </p14:sldIdLst>
        </p14:section>
        <p14:section name="마무리" id="{b8a24c52-cb32-1c88-05f5-b1e9fdf9487d}">
          <p14:sldIdLst>
            <p14:sldId id="267"/>
          </p14:sldIdLst>
        </p14:section>
        <p14:section name="부록" id="{b00eb930-4eaf-f090-7990-2e10db00126d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2421"/>
                </a:solidFill>
                <a:latin typeface="+mn-lt"/>
              </a:rPr>
              <a:t>연도별 목표 거래액 (억 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거래액</c:v>
                </c:pt>
              </c:strCache>
            </c:strRef>
          </c:tx>
          <c:spPr>
            <a:solidFill>
              <a:srgbClr val="A8C8B4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8C8B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F7F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4D3A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1년차</c:v>
                  </c:pt>
                  <c:pt idx="1">
                    <c:v>2년차</c:v>
                  </c:pt>
                  <c:pt idx="2">
                    <c:v>3년차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2.5</c:v>
                </c:pt>
                <c:pt idx="1">
                  <c:v>15</c:v>
                </c:pt>
                <c:pt idx="2">
                  <c:v>54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9C1BB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2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3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[0:00–0:40] 안녕하세요. 오늘 발표할 창업 아이템은 나물로입니다. 나물로는 레시피에서 고른 나물을 가까운 전통시장 가게에 온라인으로 주문하는 O2O 서비스입니다. AI가 메뉴 추천과 상품 등록을 돕고, 주문한 나물은 시장에서 찾아가거나 저녁에 배달받을 수 있습니다. 신발 한 켤레를 사면 한 켤레가 기부되던 탐스처럼, 장보기에도 의미를 담고 싶었습니다. 나물로에서 낸 나물값은 그대로 우리 동네 시장 가게의 매출이 됩니다. 문제, 해결 방안, 사업성, 향후 계획 순서로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[0:40–1:29] 먼저 고객 쪽 문제입니다. 주 고객은 나물을 챙겨 먹고 싶어도 장보기와 손질, 메뉴 고민 때문에 덜 먹게 되는 바쁜 가구입니다. 18세 미만 자녀를 둔 부부 가구의 맞벌이 비율은 작년에 60.4%로 처음 60%를 넘었습니다. 1인 가구도 전체 가구의 36.6%로 역대 가장 많습니다. 이런 가구는 장을 보고 요리할 시간이 부족하고, 무엇을 해 먹을지, 아이가 있다면 아이가 먹을지도 고민입니다. 나물은 다듬고 데치는 손질이 번거롭고, 시장 나물을 사려 해도 퇴근 후에는 시장에 들르기 어렵습니다. 그래서 무엇을 어디서 사서 어떻게 해 먹을지를 한 번에 알려 주는 서비스가 필요하다고 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[1:29–2:22] 다음은 판매자 쪽입니다. 전국 전통시장은 약 1,400곳, 연매출은 28.7조 원 규모입니다. 배민 전통시장 장보기에 입점한 점포의 매출이 1년 사이 196% 늘었다는 보도를 보면, 시장 상품을 온라인으로 사려는 수요는 있다고 판단했습니다. 다만 상인이 상품을 올리고 주문까지 직접 관리하려면 일이 꽤 늘어날 것으로 봤습니다. 손질해서 팔면 값을 더 받을 수 있는데도 이를 알릴 방법이 마땅치 않고, 제철에는 물량이 몰려 재고 부담도 클 것으로 예상합니다. 그래서 판매자에게는 상품을 쉽게 올리고 손질 주문을 미리 받을 수 있는 통로가 필요합니다. 이 부분은 아직 가설이라서, 시장 상인 인터뷰로 실제 부담을 확인하려고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[2:22–3:09] 그래서 나물로는 세 단계로 서비스를 제공합니다. 첫째, 제철 나물 정보와 손질법, 레시피를 보여 주고, 아이가 잘 먹는 메뉴도 따로 추천합니다. 둘째, 레시피 재료 가운데 집에 없는 것만 골라 장바구니에 담습니다. 셋째, 가까운 전통시장의 나물 가게 가운데 한 곳을 고르고, 시장에서 찾아갈지 저녁에 배달받을지 정합니다. 손질이나 데침을 원하면 가게에서 추가 요금을 받고 처리해 줍니다. 주문을 마치면 어느 시장 가게에서 얼마를 샀는지 보여 줘서, 내 장보기가 그 가게의 매출이 된다는 걸 알 수 있게 합니다. 이렇게 고객의 준비 시간과 시장 가게의 판매 부담을 함께 줄이려고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[3:09–4:01] AI는 세 가지 업무에 적용하려고 합니다. 첫째는 고객용 레시피 추천입니다. 가족 상황이나 집에 있는 재료를 입력하면, 근처 시장 가게 재고로 만들 수 있는 반찬을 추천합니다. 둘째는 판매자용 상품 등록입니다. 사장님이 평소처럼 참나물 스무 단, 한 단 3,500원이라고 메시지를 보내면, AI가 품목과 수량, 가격으로 정리합니다. 사장님이 확인을 눌러야 앱에 올라갑니다. 셋째인 발주량 추천과 마감 할인은 판매 데이터가 쌓인 뒤에 도입하겠습니다. 앞의 두 기능은 시연 화면까지 만들어 두었고, 화면의 응답과 가게, 가격은 예시 데이터입니다. 또 안전을 위해 AI가 야생에서 캔 식물의 식용 여부는 판단하지 않도록 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[4:01–4:39] 웹 프로토타입으로 사용 흐름을 보여 드리겠습니다. 맞벌이 부모가 다섯 살 아이와 먹을 순한 반찬을 물으면, 추천 메뉴 세 가지가 나옵니다. 참나물 레시피를 보고 재료를 담은 뒤, 새벽시장 가게에서 손질 옵션을 고르고 저녁 6시 픽업으로 예약합니다. 완료 화면에서는 주문한 시장 가게와 주문금액을 확인하고, 판매자 화면에서는 들어온 주문을 접수합니다. 시연 속 AI 응답과 주문 데이터는 예시이고, 실제 결제와 배달 연동은 파일럿에서 검증하겠습니다.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[4:39–5:17] 다음은 시장 규모입니다. 전통시장 전체 매출 28.7조 원에서 수도권 비중 40%와 채소, 나물류 비중 15%를 가정해, 1차 목표 시장을 약 1.7조 원으로 잡았습니다. 수도권과 품목 비중은 공개 통계로 보완하고, 파일럿에서는 참여 점포의 나물 매출과 주문 가능성을 확인하겠습니다. 3년 차 목표 거래액은 54억 원입니다. 입점 가게 300곳이 일반 주문과 명절 예약을 합쳐 한 달에 100건씩, 평균 1만 5천 원어치 주문을 받는다고 가정했습니다.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[5:17–6:10] 경쟁 서비스를 보면, 쿠팡과 컬리는 전국 배송, 레시피 앱과 유튜브는 콘텐츠, 배민과 네이버는 동네 가게 주문에 강합니다. 나물로는 레시피로 고른 재료를 전통시장 가게에서 바로 사도록 연결하는 데 집중했습니다. 올해 추석 서울 제수용품 조사에서 채소와 임산물류는 전통시장이 대형마트보다 26% 저렴했습니다. 나물로에서는 가게가 등록한 가격과 손질·배달비를 나눠 보여 주고, 주문마다 어느 시장 가게의 매출이 됐는지 표시합니다. 손질과 데침 옵션은 판매자에게는 추가 매출이 되고, 고객에게는 조리 시간을 줄여 줍니다. 큰 플랫폼과 정면으로 경쟁하기보다, 전통시장 가게가 새 주문을 받을 수 있는 나물 전문 채널이 되는 것이 목표입니다.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[6:10–6:58] 수익 모델은 세 가지입니다. 요금은 모두 예정안이고, 파일럿에서 검증할 계획입니다. 기본은 상품과 손질 금액의 4%를 받는 중개 수수료이고, 판매자가 선택하는 월 2만 9천 원의 유료 서비스와 제휴 광고를 더합니다. 배달비에는 별도 이익을 붙이지 않을 계획이라, 매출 목표에서 제외했습니다. 배달비 3,500원은 시험 요금입니다. 실제 배달대행 비용은 이보다 높을 수 있어서, 차액은 파일럿 예산 안에서 한도를 정해 부담하겠습니다. 판매자가 유료 서비스까지 쓰면 부담은 월 100건 가게 기준 거래액의 약 6%이고, 전통시장 점포는 첫 6개월 수수료를 받지 않겠습니다.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[6:58–7:44] 사업화는 세 단계로 진행합니다. 1단계는 올겨울, 주거 단지 근처 전통시장 한 곳의 점포 두세 곳과 함께하는 3개월 파일럿입니다. 자기자본 300만 원으로 시작합니다. 여기서 유료 주문 100건을 목표로, 30일 재구매율, 손질 옵션 선택률, 배달 선택률과 배달 한 건당 비용, 주문당 운영 시간을 측정하겠습니다. 결과가 기대에 못 미치면 타깃 고객이나 가격을 바꿔 다시 검증하겠습니다. 2단계는 예비창업패키지 같은 정부 지원사업으로 웹앱을 정식 출시하고, 명절 예약을 열며 입점 가게를 30곳으로 늘립니다. 3단계는 시드 투자를 받아 수도권으로 확장합니다.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[7:44–8:29] 3년 차 목표는 거래액 54억 원, 매출 약 2.6억 원입니다. 매출 목표는 주문 수수료와 판매자 유료 서비스로 계산했고, 지자체 사업이나 제휴 매출은 계약을 확보한 뒤 반영하겠습니다. 보수적으로 가게당 월 약 77건으로 잡으면 매출은 약 2.1억 원입니다. 숫자는 모두 가정이라, 파일럿이 끝나면 실제 데이터로 다시 계산하겠습니다. 확장은 첫 시장에서 재구매와 주문당 운영비를 확인한 뒤, 인접 시장과 제철 농산물 전체로 넓혀 가겠습니다. 이를 통해 지역 상권의 매출을 늘리고, 바쁜 가구도 나물 반찬을 더 쉽게 먹도록 돕는 것이 목표입니다.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[8:29–8:50] 정리하겠습니다. 나물로는 레시피와 AI로 장보기를 쉽게 하고, 그 장보기가 우리 동네 시장 가게의 매출이 되도록 돕는 서비스입니다. 먼저 시장 한 곳에서 사람들이 실제로 주문하고 다시 찾아오는지 확인해 보겠습니다. 들어 주셔서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(부록 — 발표하지 않음. 질의응답 때 근거로 보여 준다.)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(부록 — 발표하지 않음. 질의응답 때 근거로 보여 준다.)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73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83080"/>
            <a:ext cx="5486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56692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DCE7E0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914400"/>
            <a:ext cx="8321040" cy="502920"/>
          </a:xfrm>
          <a:prstGeom prst="rect">
            <a:avLst/>
          </a:prstGeom>
          <a:solidFill>
            <a:srgbClr val="F2F4F2"/>
          </a:solidFill>
          <a:ln w="12700">
            <a:solidFill>
              <a:srgbClr val="F2F4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949440" y="20116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7A837D"/>
                </a:solidFill>
              </a:rPr>
              <a:t>NAMULLO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080760" y="477316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D"/>
                </a:solidFill>
              </a:rPr>
              <a:t>나물로  |  창업 아이템 발표</a:t>
            </a:r>
            <a:endParaRPr lang="en-US" sz="900" dirty="0"/>
          </a:p>
        </p:txBody>
      </p:sp>
      <p:sp>
        <p:nvSpPr>
          <p:cNvPr id="5" name="Text 3"/>
          <p:cNvSpPr/>
          <p:nvPr>
            <p:ph idx="103" type="body" hasCustomPrompt="1"/>
          </p:nvPr>
        </p:nvSpPr>
        <p:spPr>
          <a:xfrm>
            <a:off x="41148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411480" y="438912"/>
            <a:ext cx="8321040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7" name="Text 3"/>
          <p:cNvSpPr/>
          <p:nvPr>
            <p:ph idx="105" type="body" hasCustomPrompt="1"/>
          </p:nvPr>
        </p:nvSpPr>
        <p:spPr>
          <a:xfrm>
            <a:off x="566928" y="914400"/>
            <a:ext cx="804672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77316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837D"/>
                </a:solidFill>
              </a:rPr>
              <a:t>나물로  |  창업 아이템 발표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11480" y="201168"/>
            <a:ext cx="54864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11480" y="438912"/>
            <a:ext cx="5486400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173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68680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572768"/>
            <a:ext cx="8046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DCE7E0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ewsis.com/view/NISX20260618_0003673686" TargetMode="External"/><Relationship Id="rId2" Type="http://schemas.openxmlformats.org/officeDocument/2006/relationships/hyperlink" Target="https://www.ytn.co.kr/_ln/0102_202607281324445082" TargetMode="External"/><Relationship Id="rId3" Type="http://schemas.openxmlformats.org/officeDocument/2006/relationships/hyperlink" Target="https://www.newsis.com/view/NISX20250103_0003020386" TargetMode="External"/><Relationship Id="rId4" Type="http://schemas.openxmlformats.org/officeDocument/2006/relationships/hyperlink" Target="https://www.index.go.kr/unify/idx-info.do?idxCd=1302" TargetMode="External"/><Relationship Id="rId5" Type="http://schemas.openxmlformats.org/officeDocument/2006/relationships/hyperlink" Target="https://www.mt.co.kr/tech/2026/03/18/2026031714425925652" TargetMode="External"/><Relationship Id="rId6" Type="http://schemas.openxmlformats.org/officeDocument/2006/relationships/hyperlink" Target="https://koreascience.or.kr/article/JAKO201931765048406.page" TargetMode="External"/><Relationship Id="rId7" Type="http://schemas.openxmlformats.org/officeDocument/2006/relationships/hyperlink" Target="https://www.mfds.go.kr/webzine/201504/pdf/main.pdf" TargetMode="External"/><Relationship Id="rId8" Type="http://schemas.openxmlformats.org/officeDocument/2006/relationships/hyperlink" Target="https://hanok.gongju.go.kr/cmm/fms/FileDown.do?atchFileId=FILE_0000127870Uc2bM&amp;fileSn=0" TargetMode="External"/><Relationship Id="rId9" Type="http://schemas.openxmlformats.org/officeDocument/2006/relationships/hyperlink" Target="https://navercorp.com/media/pressReleasesDetail?seq=34203" TargetMode="External"/><Relationship Id="rId10" Type="http://schemas.openxmlformats.org/officeDocument/2006/relationships/hyperlink" Target="https://biz.newdaily.co.kr/site/data/html/2024/10/07/2024100700114.amp.html" TargetMode="External"/><Relationship Id="rId11" Type="http://schemas.openxmlformats.org/officeDocument/2006/relationships/hyperlink" Target="https://byline.network/2024/01/30_baeminstore" TargetMode="External"/><Relationship Id="rId12" Type="http://schemas.openxmlformats.org/officeDocument/2006/relationships/hyperlink" Target="https://www.insight.co.kr/news/572535" TargetMode="External"/><Relationship Id="rId13" Type="http://schemas.openxmlformats.org/officeDocument/2006/relationships/hyperlink" Target="https://platform.claude.com/docs/en/about-claude/pricing" TargetMode="External"/><Relationship Id="rId14" Type="http://schemas.openxmlformats.org/officeDocument/2006/relationships/hyperlink" Target="https://github.com/microsoft/fluentui-emoji" TargetMode="External"/><Relationship Id="rId15" Type="http://schemas.openxmlformats.org/officeDocument/2006/relationships/slideLayout" Target="../slideLayouts/slideLayout3.xml"/><Relationship Id="rId1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dmark"/>
          <p:cNvSpPr txBox="1"/>
          <p:nvPr/>
        </p:nvSpPr>
        <p:spPr>
          <a:xfrm>
            <a:off x="548640" y="502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7D6CC"/>
                </a:solidFill>
              </a:rPr>
              <a:t>NAMULLO</a:t>
            </a:r>
            <a:endParaRPr lang="en-US" sz="1100" dirty="0"/>
          </a:p>
        </p:txBody>
      </p:sp>
      <p:sp>
        <p:nvSpPr>
          <p:cNvPr id="3" name="kicker"/>
          <p:cNvSpPr txBox="1"/>
          <p:nvPr/>
        </p:nvSpPr>
        <p:spPr>
          <a:xfrm>
            <a:off x="54864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2B3"/>
                </a:solidFill>
              </a:rPr>
              <a:t>창업 아이템 발표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7830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나물로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26517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CE7E0"/>
                </a:solidFill>
              </a:rPr>
              <a:t>레시피로 고르고 전통시장에서 사는 나물 장보기</a:t>
            </a:r>
            <a:endParaRPr lang="en-US" sz="1700" dirty="0"/>
          </a:p>
        </p:txBody>
      </p:sp>
      <p:sp>
        <p:nvSpPr>
          <p:cNvPr id="6" name="one-liner"/>
          <p:cNvSpPr txBox="1"/>
          <p:nvPr/>
        </p:nvSpPr>
        <p:spPr>
          <a:xfrm>
            <a:off x="548640" y="31546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6CC"/>
                </a:solidFill>
              </a:rPr>
              <a:t>나물 한 봉지로 지역 상권을 돕는 장보기</a:t>
            </a:r>
            <a:endParaRPr lang="en-US" sz="1300" dirty="0"/>
          </a:p>
        </p:txBody>
      </p:sp>
      <p:sp>
        <p:nvSpPr>
          <p:cNvPr id="7" name="pillar 0"/>
          <p:cNvSpPr/>
          <p:nvPr/>
        </p:nvSpPr>
        <p:spPr>
          <a:xfrm>
            <a:off x="548640" y="3611880"/>
            <a:ext cx="1101852" cy="310896"/>
          </a:xfrm>
          <a:prstGeom prst="roundRect">
            <a:avLst>
              <a:gd name="adj" fmla="val 50000"/>
            </a:avLst>
          </a:prstGeom>
          <a:solidFill>
            <a:srgbClr val="24503D"/>
          </a:solidFill>
          <a:ln w="9525">
            <a:solidFill>
              <a:srgbClr val="3F7F5F"/>
            </a:solidFill>
            <a:prstDash val="solid"/>
          </a:ln>
        </p:spPr>
      </p:sp>
      <p:sp>
        <p:nvSpPr>
          <p:cNvPr id="8" name="pillar text 0"/>
          <p:cNvSpPr txBox="1"/>
          <p:nvPr/>
        </p:nvSpPr>
        <p:spPr>
          <a:xfrm>
            <a:off x="548640" y="3611880"/>
            <a:ext cx="11018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나물 접근성</a:t>
            </a:r>
            <a:endParaRPr lang="en-US" sz="1150" dirty="0"/>
          </a:p>
        </p:txBody>
      </p:sp>
      <p:sp>
        <p:nvSpPr>
          <p:cNvPr id="9" name="pillar 1"/>
          <p:cNvSpPr/>
          <p:nvPr/>
        </p:nvSpPr>
        <p:spPr>
          <a:xfrm>
            <a:off x="1760220" y="3611880"/>
            <a:ext cx="1307592" cy="310896"/>
          </a:xfrm>
          <a:prstGeom prst="roundRect">
            <a:avLst>
              <a:gd name="adj" fmla="val 50000"/>
            </a:avLst>
          </a:prstGeom>
          <a:solidFill>
            <a:srgbClr val="24503D"/>
          </a:solidFill>
          <a:ln w="9525">
            <a:solidFill>
              <a:srgbClr val="3F7F5F"/>
            </a:solidFill>
            <a:prstDash val="solid"/>
          </a:ln>
        </p:spPr>
      </p:sp>
      <p:sp>
        <p:nvSpPr>
          <p:cNvPr id="10" name="pillar text 1"/>
          <p:cNvSpPr txBox="1"/>
          <p:nvPr/>
        </p:nvSpPr>
        <p:spPr>
          <a:xfrm>
            <a:off x="1760220" y="3611880"/>
            <a:ext cx="1307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지역 상권 상생</a:t>
            </a:r>
            <a:endParaRPr lang="en-US" sz="1150" dirty="0"/>
          </a:p>
        </p:txBody>
      </p:sp>
      <p:sp>
        <p:nvSpPr>
          <p:cNvPr id="11" name="pillar 2"/>
          <p:cNvSpPr/>
          <p:nvPr/>
        </p:nvSpPr>
        <p:spPr>
          <a:xfrm>
            <a:off x="3177540" y="3611880"/>
            <a:ext cx="832104" cy="310896"/>
          </a:xfrm>
          <a:prstGeom prst="roundRect">
            <a:avLst>
              <a:gd name="adj" fmla="val 50000"/>
            </a:avLst>
          </a:prstGeom>
          <a:solidFill>
            <a:srgbClr val="24503D"/>
          </a:solidFill>
          <a:ln w="9525">
            <a:solidFill>
              <a:srgbClr val="3F7F5F"/>
            </a:solidFill>
            <a:prstDash val="solid"/>
          </a:ln>
        </p:spPr>
      </p:sp>
      <p:sp>
        <p:nvSpPr>
          <p:cNvPr id="12" name="pillar text 2"/>
          <p:cNvSpPr txBox="1"/>
          <p:nvPr/>
        </p:nvSpPr>
        <p:spPr>
          <a:xfrm>
            <a:off x="3177540" y="3611880"/>
            <a:ext cx="832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AI 기반</a:t>
            </a:r>
            <a:endParaRPr lang="en-US" sz="1150" dirty="0"/>
          </a:p>
        </p:txBody>
      </p:sp>
      <p:sp>
        <p:nvSpPr>
          <p:cNvPr id="13" name="pillar 3"/>
          <p:cNvSpPr/>
          <p:nvPr/>
        </p:nvSpPr>
        <p:spPr>
          <a:xfrm>
            <a:off x="4119372" y="3611880"/>
            <a:ext cx="1101852" cy="310896"/>
          </a:xfrm>
          <a:prstGeom prst="roundRect">
            <a:avLst>
              <a:gd name="adj" fmla="val 50000"/>
            </a:avLst>
          </a:prstGeom>
          <a:solidFill>
            <a:srgbClr val="24503D"/>
          </a:solidFill>
          <a:ln w="9525">
            <a:solidFill>
              <a:srgbClr val="3F7F5F"/>
            </a:solidFill>
            <a:prstDash val="solid"/>
          </a:ln>
        </p:spPr>
      </p:sp>
      <p:sp>
        <p:nvSpPr>
          <p:cNvPr id="14" name="pillar text 3"/>
          <p:cNvSpPr txBox="1"/>
          <p:nvPr/>
        </p:nvSpPr>
        <p:spPr>
          <a:xfrm>
            <a:off x="4119372" y="3611880"/>
            <a:ext cx="11018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레시피 연계</a:t>
            </a:r>
            <a:endParaRPr lang="en-US" sz="1150" dirty="0"/>
          </a:p>
        </p:txBody>
      </p:sp>
      <p:sp>
        <p:nvSpPr>
          <p:cNvPr id="15" name="presenter"/>
          <p:cNvSpPr txBox="1"/>
          <p:nvPr/>
        </p:nvSpPr>
        <p:spPr>
          <a:xfrm>
            <a:off x="54864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2B3"/>
                </a:solidFill>
              </a:rPr>
              <a:t>2026. 10. 31.     ○○학과  ○○○</a:t>
            </a:r>
            <a:endParaRPr lang="en-US" sz="1200" dirty="0"/>
          </a:p>
        </p:txBody>
      </p:sp>
      <p:pic>
        <p:nvPicPr>
          <p:cNvPr id="16" name="screen home" descr="나물로 프로토타입 화면: 홈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347472"/>
            <a:ext cx="2112801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/>
          <p:nvPr>
            <p:ph idx="103" type="body" hasCustomPrompt="1"/>
          </p:nvPr>
        </p:nvSpPr>
        <p:spPr>
          <a:xfrm>
            <a:off x="41148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Problem  |  고객의 문제와 필요</a:t>
            </a:r>
            <a:endParaRPr lang="en-US" sz="1100" dirty="0"/>
          </a:p>
        </p:txBody>
      </p:sp>
      <p:sp>
        <p:nvSpPr>
          <p:cNvPr id="4" name="Text 3"/>
          <p:cNvSpPr/>
          <p:nvPr>
            <p:ph idx="104" type="title" hasCustomPrompt="1"/>
          </p:nvPr>
        </p:nvSpPr>
        <p:spPr>
          <a:xfrm>
            <a:off x="411480" y="438912"/>
            <a:ext cx="8321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고객 문제</a:t>
            </a:r>
            <a:endParaRPr lang="en-US" sz="22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566928" y="914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나물을 먹고 싶어도 장보기·손질·메뉴 고민 때문에 덜 먹는 바쁜 가구(맞벌이·1인 가구)가 주 고객</a:t>
            </a:r>
            <a:endParaRPr lang="en-US" sz="1300" dirty="0"/>
          </a:p>
        </p:txBody>
      </p:sp>
      <p:sp>
        <p:nvSpPr>
          <p:cNvPr id="6" name="pain box 01"/>
          <p:cNvSpPr/>
          <p:nvPr/>
        </p:nvSpPr>
        <p:spPr>
          <a:xfrm>
            <a:off x="411480" y="1572768"/>
            <a:ext cx="2615184" cy="1371600"/>
          </a:xfrm>
          <a:prstGeom prst="rect">
            <a:avLst/>
          </a:prstGeom>
          <a:solidFill>
            <a:srgbClr val="F2F4F2"/>
          </a:solidFill>
          <a:ln w="12700">
            <a:solidFill>
              <a:srgbClr val="F2F4F2"/>
            </a:solidFill>
            <a:prstDash val="solid"/>
          </a:ln>
        </p:spPr>
      </p:sp>
      <p:sp>
        <p:nvSpPr>
          <p:cNvPr id="7" name="pain num 01"/>
          <p:cNvSpPr txBox="1"/>
          <p:nvPr/>
        </p:nvSpPr>
        <p:spPr>
          <a:xfrm>
            <a:off x="594360" y="171907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837D"/>
                </a:solidFill>
              </a:rPr>
              <a:t>01</a:t>
            </a:r>
            <a:endParaRPr lang="en-US" sz="1200" dirty="0"/>
          </a:p>
        </p:txBody>
      </p:sp>
      <p:sp>
        <p:nvSpPr>
          <p:cNvPr id="8" name="pain head 01"/>
          <p:cNvSpPr txBox="1"/>
          <p:nvPr/>
        </p:nvSpPr>
        <p:spPr>
          <a:xfrm>
            <a:off x="594360" y="197510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21"/>
                </a:solidFill>
              </a:rPr>
              <a:t>시간 부족</a:t>
            </a:r>
            <a:endParaRPr lang="en-US" sz="1500" dirty="0"/>
          </a:p>
        </p:txBody>
      </p:sp>
      <p:sp>
        <p:nvSpPr>
          <p:cNvPr id="9" name="pain desc 01"/>
          <p:cNvSpPr txBox="1"/>
          <p:nvPr/>
        </p:nvSpPr>
        <p:spPr>
          <a:xfrm>
            <a:off x="594360" y="2340864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퇴근 후 장보기와 저녁 준비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시간이 짧음</a:t>
            </a:r>
            <a:endParaRPr lang="en-US" sz="1200" dirty="0"/>
          </a:p>
        </p:txBody>
      </p:sp>
      <p:sp>
        <p:nvSpPr>
          <p:cNvPr id="10" name="pain box 02"/>
          <p:cNvSpPr/>
          <p:nvPr/>
        </p:nvSpPr>
        <p:spPr>
          <a:xfrm>
            <a:off x="3136392" y="1572768"/>
            <a:ext cx="2615184" cy="1371600"/>
          </a:xfrm>
          <a:prstGeom prst="rect">
            <a:avLst/>
          </a:prstGeom>
          <a:solidFill>
            <a:srgbClr val="F2F4F2"/>
          </a:solidFill>
          <a:ln w="12700">
            <a:solidFill>
              <a:srgbClr val="F2F4F2"/>
            </a:solidFill>
            <a:prstDash val="solid"/>
          </a:ln>
        </p:spPr>
      </p:sp>
      <p:sp>
        <p:nvSpPr>
          <p:cNvPr id="11" name="pain num 02"/>
          <p:cNvSpPr txBox="1"/>
          <p:nvPr/>
        </p:nvSpPr>
        <p:spPr>
          <a:xfrm>
            <a:off x="3319272" y="171907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837D"/>
                </a:solidFill>
              </a:rPr>
              <a:t>02</a:t>
            </a:r>
            <a:endParaRPr lang="en-US" sz="1200" dirty="0"/>
          </a:p>
        </p:txBody>
      </p:sp>
      <p:sp>
        <p:nvSpPr>
          <p:cNvPr id="12" name="pain head 02"/>
          <p:cNvSpPr txBox="1"/>
          <p:nvPr/>
        </p:nvSpPr>
        <p:spPr>
          <a:xfrm>
            <a:off x="3319272" y="197510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21"/>
                </a:solidFill>
              </a:rPr>
              <a:t>메뉴 고민</a:t>
            </a:r>
            <a:endParaRPr lang="en-US" sz="1500" dirty="0"/>
          </a:p>
        </p:txBody>
      </p:sp>
      <p:sp>
        <p:nvSpPr>
          <p:cNvPr id="13" name="pain desc 02"/>
          <p:cNvSpPr txBox="1"/>
          <p:nvPr/>
        </p:nvSpPr>
        <p:spPr>
          <a:xfrm>
            <a:off x="3319272" y="2340864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무엇을 해 먹을지, 아이가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먹을지 정하기 어려움</a:t>
            </a:r>
            <a:endParaRPr lang="en-US" sz="1200" dirty="0"/>
          </a:p>
        </p:txBody>
      </p:sp>
      <p:sp>
        <p:nvSpPr>
          <p:cNvPr id="14" name="pain box 03"/>
          <p:cNvSpPr/>
          <p:nvPr/>
        </p:nvSpPr>
        <p:spPr>
          <a:xfrm>
            <a:off x="411480" y="3054096"/>
            <a:ext cx="2615184" cy="1371600"/>
          </a:xfrm>
          <a:prstGeom prst="rect">
            <a:avLst/>
          </a:prstGeom>
          <a:solidFill>
            <a:srgbClr val="F2F4F2"/>
          </a:solidFill>
          <a:ln w="12700">
            <a:solidFill>
              <a:srgbClr val="F2F4F2"/>
            </a:solidFill>
            <a:prstDash val="solid"/>
          </a:ln>
        </p:spPr>
      </p:sp>
      <p:sp>
        <p:nvSpPr>
          <p:cNvPr id="15" name="pain num 03"/>
          <p:cNvSpPr txBox="1"/>
          <p:nvPr/>
        </p:nvSpPr>
        <p:spPr>
          <a:xfrm>
            <a:off x="594360" y="32004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837D"/>
                </a:solidFill>
              </a:rPr>
              <a:t>03</a:t>
            </a:r>
            <a:endParaRPr lang="en-US" sz="1200" dirty="0"/>
          </a:p>
        </p:txBody>
      </p:sp>
      <p:sp>
        <p:nvSpPr>
          <p:cNvPr id="16" name="pain head 03"/>
          <p:cNvSpPr txBox="1"/>
          <p:nvPr/>
        </p:nvSpPr>
        <p:spPr>
          <a:xfrm>
            <a:off x="594360" y="345643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21"/>
                </a:solidFill>
              </a:rPr>
              <a:t>손질 부담</a:t>
            </a:r>
            <a:endParaRPr lang="en-US" sz="1500" dirty="0"/>
          </a:p>
        </p:txBody>
      </p:sp>
      <p:sp>
        <p:nvSpPr>
          <p:cNvPr id="17" name="pain desc 03"/>
          <p:cNvSpPr txBox="1"/>
          <p:nvPr/>
        </p:nvSpPr>
        <p:spPr>
          <a:xfrm>
            <a:off x="594360" y="3822192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나물은 다듬기·데치기 과정이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번거로움</a:t>
            </a:r>
            <a:endParaRPr lang="en-US" sz="1200" dirty="0"/>
          </a:p>
        </p:txBody>
      </p:sp>
      <p:sp>
        <p:nvSpPr>
          <p:cNvPr id="18" name="pain box 04"/>
          <p:cNvSpPr/>
          <p:nvPr/>
        </p:nvSpPr>
        <p:spPr>
          <a:xfrm>
            <a:off x="3136392" y="3054096"/>
            <a:ext cx="2615184" cy="1371600"/>
          </a:xfrm>
          <a:prstGeom prst="rect">
            <a:avLst/>
          </a:prstGeom>
          <a:solidFill>
            <a:srgbClr val="F2F4F2"/>
          </a:solidFill>
          <a:ln w="12700">
            <a:solidFill>
              <a:srgbClr val="F2F4F2"/>
            </a:solidFill>
            <a:prstDash val="solid"/>
          </a:ln>
        </p:spPr>
      </p:sp>
      <p:sp>
        <p:nvSpPr>
          <p:cNvPr id="19" name="pain num 04"/>
          <p:cNvSpPr txBox="1"/>
          <p:nvPr/>
        </p:nvSpPr>
        <p:spPr>
          <a:xfrm>
            <a:off x="3319272" y="32004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837D"/>
                </a:solidFill>
              </a:rPr>
              <a:t>04</a:t>
            </a:r>
            <a:endParaRPr lang="en-US" sz="1200" dirty="0"/>
          </a:p>
        </p:txBody>
      </p:sp>
      <p:sp>
        <p:nvSpPr>
          <p:cNvPr id="20" name="pain head 04"/>
          <p:cNvSpPr txBox="1"/>
          <p:nvPr/>
        </p:nvSpPr>
        <p:spPr>
          <a:xfrm>
            <a:off x="3319272" y="345643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21"/>
                </a:solidFill>
              </a:rPr>
              <a:t>시장 가기 어려움</a:t>
            </a:r>
            <a:endParaRPr lang="en-US" sz="1500" dirty="0"/>
          </a:p>
        </p:txBody>
      </p:sp>
      <p:sp>
        <p:nvSpPr>
          <p:cNvPr id="21" name="pain desc 04"/>
          <p:cNvSpPr txBox="1"/>
          <p:nvPr/>
        </p:nvSpPr>
        <p:spPr>
          <a:xfrm>
            <a:off x="3319272" y="3822192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시장 나물을 사고 싶어도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퇴근 후엔 들를 시간이 없음</a:t>
            </a:r>
            <a:endParaRPr lang="en-US" sz="1200" dirty="0"/>
          </a:p>
        </p:txBody>
      </p:sp>
      <p:sp>
        <p:nvSpPr>
          <p:cNvPr id="22" name="stat panel"/>
          <p:cNvSpPr/>
          <p:nvPr/>
        </p:nvSpPr>
        <p:spPr>
          <a:xfrm>
            <a:off x="5925312" y="1572768"/>
            <a:ext cx="2807208" cy="2852928"/>
          </a:xfrm>
          <a:prstGeom prst="rect">
            <a:avLst/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23" name="stat label"/>
          <p:cNvSpPr txBox="1"/>
          <p:nvPr/>
        </p:nvSpPr>
        <p:spPr>
          <a:xfrm>
            <a:off x="6108192" y="1682496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24D"/>
                </a:solidFill>
              </a:rPr>
              <a:t>18세 미만 자녀를 둔 부부 가구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24D"/>
                </a:solidFill>
              </a:rPr>
              <a:t>맞벌이 비율 (2025, 처음 60% 넘음)</a:t>
            </a:r>
            <a:endParaRPr lang="en-US" sz="1100" dirty="0"/>
          </a:p>
        </p:txBody>
      </p:sp>
      <p:sp>
        <p:nvSpPr>
          <p:cNvPr id="24" name="stat value"/>
          <p:cNvSpPr txBox="1"/>
          <p:nvPr/>
        </p:nvSpPr>
        <p:spPr>
          <a:xfrm>
            <a:off x="6108192" y="2084832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4D3A"/>
                </a:solidFill>
              </a:rPr>
              <a:t>60.4%</a:t>
            </a:r>
            <a:endParaRPr lang="en-US" sz="3000" dirty="0"/>
          </a:p>
        </p:txBody>
      </p:sp>
      <p:sp>
        <p:nvSpPr>
          <p:cNvPr id="25" name="stat rule 1"/>
          <p:cNvSpPr/>
          <p:nvPr/>
        </p:nvSpPr>
        <p:spPr>
          <a:xfrm>
            <a:off x="6108192" y="2651760"/>
            <a:ext cx="2441448" cy="0"/>
          </a:xfrm>
          <a:prstGeom prst="line">
            <a:avLst/>
          </a:prstGeom>
          <a:noFill/>
          <a:ln w="9525">
            <a:solidFill>
              <a:srgbClr val="A8C8B4"/>
            </a:solidFill>
            <a:prstDash val="solid"/>
          </a:ln>
        </p:spPr>
      </p:sp>
      <p:sp>
        <p:nvSpPr>
          <p:cNvPr id="26" name="stat label 2"/>
          <p:cNvSpPr txBox="1"/>
          <p:nvPr/>
        </p:nvSpPr>
        <p:spPr>
          <a:xfrm>
            <a:off x="6108192" y="2724912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24D"/>
                </a:solidFill>
              </a:rPr>
              <a:t>1인 가구 비중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24D"/>
                </a:solidFill>
              </a:rPr>
              <a:t>(2025, 824만 가구로 역대 최대)</a:t>
            </a:r>
            <a:endParaRPr lang="en-US" sz="1100" dirty="0"/>
          </a:p>
        </p:txBody>
      </p:sp>
      <p:sp>
        <p:nvSpPr>
          <p:cNvPr id="27" name="stat value 2"/>
          <p:cNvSpPr txBox="1"/>
          <p:nvPr/>
        </p:nvSpPr>
        <p:spPr>
          <a:xfrm>
            <a:off x="6108192" y="3127248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4D3A"/>
                </a:solidFill>
              </a:rPr>
              <a:t>36.6%</a:t>
            </a:r>
            <a:endParaRPr lang="en-US" sz="3000" dirty="0"/>
          </a:p>
        </p:txBody>
      </p:sp>
      <p:sp>
        <p:nvSpPr>
          <p:cNvPr id="28" name="stat rule 2"/>
          <p:cNvSpPr/>
          <p:nvPr/>
        </p:nvSpPr>
        <p:spPr>
          <a:xfrm>
            <a:off x="6108192" y="3694176"/>
            <a:ext cx="2441448" cy="0"/>
          </a:xfrm>
          <a:prstGeom prst="line">
            <a:avLst/>
          </a:prstGeom>
          <a:noFill/>
          <a:ln w="9525">
            <a:solidFill>
              <a:srgbClr val="A8C8B4"/>
            </a:solidFill>
            <a:prstDash val="solid"/>
          </a:ln>
        </p:spPr>
      </p:sp>
      <p:sp>
        <p:nvSpPr>
          <p:cNvPr id="29" name="stat research"/>
          <p:cNvSpPr txBox="1"/>
          <p:nvPr/>
        </p:nvSpPr>
        <p:spPr>
          <a:xfrm>
            <a:off x="6108192" y="376732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21"/>
                </a:solidFill>
              </a:rPr>
              <a:t>대구 유아 86명 조사에서도 반찬류를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2421"/>
                </a:solidFill>
              </a:rPr>
              <a:t>꺼리는 경향 (정유미, 2019)</a:t>
            </a:r>
            <a:endParaRPr lang="en-US" sz="1050" dirty="0"/>
          </a:p>
        </p:txBody>
      </p:sp>
      <p:sp>
        <p:nvSpPr>
          <p:cNvPr id="30" name="source note"/>
          <p:cNvSpPr txBox="1"/>
          <p:nvPr/>
        </p:nvSpPr>
        <p:spPr>
          <a:xfrm>
            <a:off x="411480" y="45720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7A837D"/>
                </a:solidFill>
              </a:rPr>
              <a:t>자료: 국가데이터처 「2025년 하반기 지역별고용조사」(2026.06 보도)·「2025 인구주택총조사」(2026.07 발표), 정유미(2019) 「유아의 나이에 따른 편식 및 식습관 실태」 한국식생활문화학회지 34(5)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/>
          <p:nvPr>
            <p:ph idx="103" type="body" hasCustomPrompt="1"/>
          </p:nvPr>
        </p:nvSpPr>
        <p:spPr>
          <a:xfrm>
            <a:off x="41148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Problem  |  판매자의 문제와 필요</a:t>
            </a:r>
            <a:endParaRPr lang="en-US" sz="1100" dirty="0"/>
          </a:p>
        </p:txBody>
      </p:sp>
      <p:sp>
        <p:nvSpPr>
          <p:cNvPr id="4" name="Text 3"/>
          <p:cNvSpPr/>
          <p:nvPr>
            <p:ph idx="104" type="title" hasCustomPrompt="1"/>
          </p:nvPr>
        </p:nvSpPr>
        <p:spPr>
          <a:xfrm>
            <a:off x="411480" y="438912"/>
            <a:ext cx="8321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판매자 문제</a:t>
            </a:r>
            <a:endParaRPr lang="en-US" sz="22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566928" y="914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온라인 구매 수요는 보도로 확인되나, 점포의 상품 등록·주문 응대 부담은 인터뷰로 확인할 가설임</a:t>
            </a:r>
            <a:endParaRPr lang="en-US" sz="1300" dirty="0"/>
          </a:p>
        </p:txBody>
      </p:sp>
      <p:sp>
        <p:nvSpPr>
          <p:cNvPr id="6" name="kpi box 0"/>
          <p:cNvSpPr/>
          <p:nvPr/>
        </p:nvSpPr>
        <p:spPr>
          <a:xfrm>
            <a:off x="411480" y="1572768"/>
            <a:ext cx="3063240" cy="877824"/>
          </a:xfrm>
          <a:prstGeom prst="rect">
            <a:avLst/>
          </a:prstGeom>
          <a:solidFill>
            <a:srgbClr val="F2F4F2"/>
          </a:solidFill>
          <a:ln w="12700">
            <a:solidFill>
              <a:srgbClr val="F2F4F2"/>
            </a:solidFill>
            <a:prstDash val="solid"/>
          </a:ln>
        </p:spPr>
      </p:sp>
      <p:sp>
        <p:nvSpPr>
          <p:cNvPr id="7" name="kpi value 0"/>
          <p:cNvSpPr txBox="1"/>
          <p:nvPr/>
        </p:nvSpPr>
        <p:spPr>
          <a:xfrm>
            <a:off x="594360" y="16459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D3A"/>
                </a:solidFill>
              </a:rPr>
              <a:t>1,393곳 · 28.7조 원</a:t>
            </a:r>
            <a:endParaRPr lang="en-US" sz="2000" dirty="0"/>
          </a:p>
        </p:txBody>
      </p:sp>
      <p:sp>
        <p:nvSpPr>
          <p:cNvPr id="8" name="kpi desc 0"/>
          <p:cNvSpPr txBox="1"/>
          <p:nvPr/>
        </p:nvSpPr>
        <p:spPr>
          <a:xfrm>
            <a:off x="594360" y="2048256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전국 전통시장 수 · 연매출 (2023)</a:t>
            </a:r>
            <a:endParaRPr lang="en-US" sz="1050" dirty="0"/>
          </a:p>
        </p:txBody>
      </p:sp>
      <p:sp>
        <p:nvSpPr>
          <p:cNvPr id="9" name="kpi box 1"/>
          <p:cNvSpPr/>
          <p:nvPr/>
        </p:nvSpPr>
        <p:spPr>
          <a:xfrm>
            <a:off x="411480" y="2542032"/>
            <a:ext cx="3063240" cy="877824"/>
          </a:xfrm>
          <a:prstGeom prst="rect">
            <a:avLst/>
          </a:prstGeom>
          <a:solidFill>
            <a:srgbClr val="F2F4F2"/>
          </a:solidFill>
          <a:ln w="12700">
            <a:solidFill>
              <a:srgbClr val="F2F4F2"/>
            </a:solidFill>
            <a:prstDash val="solid"/>
          </a:ln>
        </p:spPr>
      </p:sp>
      <p:sp>
        <p:nvSpPr>
          <p:cNvPr id="10" name="kpi value 1"/>
          <p:cNvSpPr txBox="1"/>
          <p:nvPr/>
        </p:nvSpPr>
        <p:spPr>
          <a:xfrm>
            <a:off x="594360" y="2615184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8692B"/>
                </a:solidFill>
              </a:rPr>
              <a:t>−9.3%</a:t>
            </a:r>
            <a:endParaRPr lang="en-US" sz="2600" dirty="0"/>
          </a:p>
        </p:txBody>
      </p:sp>
      <p:sp>
        <p:nvSpPr>
          <p:cNvPr id="11" name="kpi desc 1"/>
          <p:cNvSpPr txBox="1"/>
          <p:nvPr/>
        </p:nvSpPr>
        <p:spPr>
          <a:xfrm>
            <a:off x="594360" y="30175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산나물 생산액, 전년 대비 (2024)</a:t>
            </a:r>
            <a:endParaRPr lang="en-US" sz="1050" dirty="0"/>
          </a:p>
        </p:txBody>
      </p:sp>
      <p:sp>
        <p:nvSpPr>
          <p:cNvPr id="12" name="kpi box 2"/>
          <p:cNvSpPr/>
          <p:nvPr/>
        </p:nvSpPr>
        <p:spPr>
          <a:xfrm>
            <a:off x="411480" y="3511296"/>
            <a:ext cx="3063240" cy="877824"/>
          </a:xfrm>
          <a:prstGeom prst="rect">
            <a:avLst/>
          </a:prstGeom>
          <a:solidFill>
            <a:srgbClr val="F2F4F2"/>
          </a:solidFill>
          <a:ln w="12700">
            <a:solidFill>
              <a:srgbClr val="F2F4F2"/>
            </a:solidFill>
            <a:prstDash val="solid"/>
          </a:ln>
        </p:spPr>
      </p:sp>
      <p:sp>
        <p:nvSpPr>
          <p:cNvPr id="13" name="kpi value 2"/>
          <p:cNvSpPr txBox="1"/>
          <p:nvPr/>
        </p:nvSpPr>
        <p:spPr>
          <a:xfrm>
            <a:off x="594360" y="358444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3A"/>
                </a:solidFill>
              </a:rPr>
              <a:t>+196%</a:t>
            </a:r>
            <a:endParaRPr lang="en-US" sz="2600" dirty="0"/>
          </a:p>
        </p:txBody>
      </p:sp>
      <p:sp>
        <p:nvSpPr>
          <p:cNvPr id="14" name="kpi desc 2"/>
          <p:cNvSpPr txBox="1"/>
          <p:nvPr/>
        </p:nvSpPr>
        <p:spPr>
          <a:xfrm>
            <a:off x="594360" y="3986784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배민 전통시장 장보기 입점 점포 매출,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1년 증가율 (2026.3 보도)</a:t>
            </a:r>
            <a:endParaRPr lang="en-US" sz="1050" dirty="0"/>
          </a:p>
        </p:txBody>
      </p:sp>
      <p:sp>
        <p:nvSpPr>
          <p:cNvPr id="15" name="pain title"/>
          <p:cNvSpPr txBox="1"/>
          <p:nvPr/>
        </p:nvSpPr>
        <p:spPr>
          <a:xfrm>
            <a:off x="3794760" y="15727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D3A"/>
                </a:solidFill>
              </a:rPr>
              <a:t>예상되는 문제 (인터뷰로 확인할 가설)</a:t>
            </a:r>
            <a:endParaRPr lang="en-US" sz="1200" dirty="0"/>
          </a:p>
        </p:txBody>
      </p:sp>
      <p:sp>
        <p:nvSpPr>
          <p:cNvPr id="16" name="badge 1"/>
          <p:cNvSpPr/>
          <p:nvPr/>
        </p:nvSpPr>
        <p:spPr>
          <a:xfrm>
            <a:off x="3794760" y="1947672"/>
            <a:ext cx="274320" cy="274320"/>
          </a:xfrm>
          <a:prstGeom prst="ellipse">
            <a:avLst/>
          </a:prstGeom>
          <a:solidFill>
            <a:srgbClr val="E07B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badge text 1"/>
          <p:cNvSpPr txBox="1"/>
          <p:nvPr/>
        </p:nvSpPr>
        <p:spPr>
          <a:xfrm>
            <a:off x="3794760" y="19476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8" name="seller pain 0"/>
          <p:cNvSpPr txBox="1"/>
          <p:nvPr/>
        </p:nvSpPr>
        <p:spPr>
          <a:xfrm>
            <a:off x="4206240" y="1920240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1"/>
                </a:solidFill>
              </a:rPr>
              <a:t>온라인 운영 부담</a:t>
            </a:r>
            <a:endParaRPr lang="en-US" sz="1400" dirty="0"/>
          </a:p>
        </p:txBody>
      </p:sp>
      <p:sp>
        <p:nvSpPr>
          <p:cNvPr id="19" name="seller pain desc 0"/>
          <p:cNvSpPr txBox="1"/>
          <p:nvPr/>
        </p:nvSpPr>
        <p:spPr>
          <a:xfrm>
            <a:off x="4206240" y="2249424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상품을 올리고 주문에 응대하는 일이 늘어날 것으로 예상</a:t>
            </a:r>
            <a:endParaRPr lang="en-US" sz="1200" dirty="0"/>
          </a:p>
        </p:txBody>
      </p:sp>
      <p:sp>
        <p:nvSpPr>
          <p:cNvPr id="20" name="pain rule 0"/>
          <p:cNvSpPr/>
          <p:nvPr/>
        </p:nvSpPr>
        <p:spPr>
          <a:xfrm>
            <a:off x="4206240" y="2578608"/>
            <a:ext cx="4526280" cy="0"/>
          </a:xfrm>
          <a:prstGeom prst="line">
            <a:avLst/>
          </a:prstGeom>
          <a:noFill/>
          <a:ln w="9525">
            <a:solidFill>
              <a:srgbClr val="D9DED9"/>
            </a:solidFill>
            <a:prstDash val="solid"/>
          </a:ln>
        </p:spPr>
      </p:sp>
      <p:sp>
        <p:nvSpPr>
          <p:cNvPr id="21" name="badge 2"/>
          <p:cNvSpPr/>
          <p:nvPr/>
        </p:nvSpPr>
        <p:spPr>
          <a:xfrm>
            <a:off x="3794760" y="2660904"/>
            <a:ext cx="274320" cy="274320"/>
          </a:xfrm>
          <a:prstGeom prst="ellipse">
            <a:avLst/>
          </a:prstGeom>
          <a:solidFill>
            <a:srgbClr val="E07B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badge text 2"/>
          <p:cNvSpPr txBox="1"/>
          <p:nvPr/>
        </p:nvSpPr>
        <p:spPr>
          <a:xfrm>
            <a:off x="3794760" y="2660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eller pain 1"/>
          <p:cNvSpPr txBox="1"/>
          <p:nvPr/>
        </p:nvSpPr>
        <p:spPr>
          <a:xfrm>
            <a:off x="4206240" y="2633472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1"/>
                </a:solidFill>
              </a:rPr>
              <a:t>손질 서비스 홍보</a:t>
            </a:r>
            <a:endParaRPr lang="en-US" sz="1400" dirty="0"/>
          </a:p>
        </p:txBody>
      </p:sp>
      <p:sp>
        <p:nvSpPr>
          <p:cNvPr id="24" name="seller pain desc 1"/>
          <p:cNvSpPr txBox="1"/>
          <p:nvPr/>
        </p:nvSpPr>
        <p:spPr>
          <a:xfrm>
            <a:off x="4206240" y="29626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손질해서 팔면 값을 더 받을 수 있어도 알릴 방법이 부족할 것</a:t>
            </a:r>
            <a:endParaRPr lang="en-US" sz="1200" dirty="0"/>
          </a:p>
        </p:txBody>
      </p:sp>
      <p:sp>
        <p:nvSpPr>
          <p:cNvPr id="25" name="pain rule 1"/>
          <p:cNvSpPr/>
          <p:nvPr/>
        </p:nvSpPr>
        <p:spPr>
          <a:xfrm>
            <a:off x="4206240" y="3291840"/>
            <a:ext cx="4526280" cy="0"/>
          </a:xfrm>
          <a:prstGeom prst="line">
            <a:avLst/>
          </a:prstGeom>
          <a:noFill/>
          <a:ln w="9525">
            <a:solidFill>
              <a:srgbClr val="D9DED9"/>
            </a:solidFill>
            <a:prstDash val="solid"/>
          </a:ln>
        </p:spPr>
      </p:sp>
      <p:sp>
        <p:nvSpPr>
          <p:cNvPr id="26" name="badge 3"/>
          <p:cNvSpPr/>
          <p:nvPr/>
        </p:nvSpPr>
        <p:spPr>
          <a:xfrm>
            <a:off x="3794760" y="3374136"/>
            <a:ext cx="274320" cy="274320"/>
          </a:xfrm>
          <a:prstGeom prst="ellipse">
            <a:avLst/>
          </a:prstGeom>
          <a:solidFill>
            <a:srgbClr val="E07B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badge text 3"/>
          <p:cNvSpPr txBox="1"/>
          <p:nvPr/>
        </p:nvSpPr>
        <p:spPr>
          <a:xfrm>
            <a:off x="3794760" y="33741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8" name="seller pain 2"/>
          <p:cNvSpPr txBox="1"/>
          <p:nvPr/>
        </p:nvSpPr>
        <p:spPr>
          <a:xfrm>
            <a:off x="4206240" y="3346704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1"/>
                </a:solidFill>
              </a:rPr>
              <a:t>제철 재고 부담</a:t>
            </a:r>
            <a:endParaRPr lang="en-US" sz="1400" dirty="0"/>
          </a:p>
        </p:txBody>
      </p:sp>
      <p:sp>
        <p:nvSpPr>
          <p:cNvPr id="29" name="seller pain desc 2"/>
          <p:cNvSpPr txBox="1"/>
          <p:nvPr/>
        </p:nvSpPr>
        <p:spPr>
          <a:xfrm>
            <a:off x="4206240" y="3675888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제철에 물량이 몰려 남는 재고가 생길 것으로 예상</a:t>
            </a:r>
            <a:endParaRPr lang="en-US" sz="1200" dirty="0"/>
          </a:p>
        </p:txBody>
      </p:sp>
      <p:sp>
        <p:nvSpPr>
          <p:cNvPr id="30" name="need band"/>
          <p:cNvSpPr/>
          <p:nvPr/>
        </p:nvSpPr>
        <p:spPr>
          <a:xfrm>
            <a:off x="3794760" y="4005072"/>
            <a:ext cx="4937760" cy="384048"/>
          </a:xfrm>
          <a:prstGeom prst="rect">
            <a:avLst/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31" name="need text"/>
          <p:cNvSpPr txBox="1"/>
          <p:nvPr/>
        </p:nvSpPr>
        <p:spPr>
          <a:xfrm>
            <a:off x="3913632" y="400507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D3A"/>
                </a:solidFill>
              </a:rPr>
              <a:t>필요  </a:t>
            </a:r>
            <a:pPr indent="0" marL="0">
              <a:buNone/>
            </a:pPr>
            <a:r>
              <a:rPr lang="en-US" sz="1150" dirty="0">
                <a:solidFill>
                  <a:srgbClr val="1F2421"/>
                </a:solidFill>
              </a:rPr>
              <a:t>간단한 상품 등록과 손질·예약 주문</a:t>
            </a:r>
            <a:endParaRPr lang="en-US" sz="1150" dirty="0"/>
          </a:p>
        </p:txBody>
      </p:sp>
      <p:sp>
        <p:nvSpPr>
          <p:cNvPr id="32" name="source note"/>
          <p:cNvSpPr txBox="1"/>
          <p:nvPr/>
        </p:nvSpPr>
        <p:spPr>
          <a:xfrm>
            <a:off x="411480" y="45720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7A837D"/>
                </a:solidFill>
              </a:rPr>
              <a:t>자료: 소상공인시장진흥공단 전통시장 실태조사(2023 기준), 산림청 「2024년 임산물생산조사」(2025.10), 머니투데이(2026.03) / 증가율은 입점 점포 기준 보도 수치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/>
          <p:nvPr>
            <p:ph idx="103" type="body" hasCustomPrompt="1"/>
          </p:nvPr>
        </p:nvSpPr>
        <p:spPr>
          <a:xfrm>
            <a:off x="41148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Solution  |  서비스</a:t>
            </a:r>
            <a:endParaRPr lang="en-US" sz="1100" dirty="0"/>
          </a:p>
        </p:txBody>
      </p:sp>
      <p:sp>
        <p:nvSpPr>
          <p:cNvPr id="4" name="Text 3"/>
          <p:cNvSpPr/>
          <p:nvPr>
            <p:ph idx="104" type="title" hasCustomPrompt="1"/>
          </p:nvPr>
        </p:nvSpPr>
        <p:spPr>
          <a:xfrm>
            <a:off x="411480" y="438912"/>
            <a:ext cx="8321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서비스 개요</a:t>
            </a:r>
            <a:endParaRPr lang="en-US" sz="22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566928" y="914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레시피 탐색부터 전통시장 가게 주문, 픽업·저녁 배달까지 한 앱에서 처리하는 O2O 커머스</a:t>
            </a:r>
            <a:endParaRPr lang="en-US" sz="1300" dirty="0"/>
          </a:p>
        </p:txBody>
      </p:sp>
      <p:sp>
        <p:nvSpPr>
          <p:cNvPr id="6" name="step 0"/>
          <p:cNvSpPr/>
          <p:nvPr/>
        </p:nvSpPr>
        <p:spPr>
          <a:xfrm>
            <a:off x="411480" y="1572768"/>
            <a:ext cx="1691640" cy="676656"/>
          </a:xfrm>
          <a:prstGeom prst="homePlate">
            <a:avLst/>
          </a:prstGeom>
          <a:solidFill>
            <a:srgbClr val="3F7F5F"/>
          </a:solidFill>
          <a:ln w="12700">
            <a:solidFill>
              <a:srgbClr val="3F7F5F"/>
            </a:solidFill>
            <a:prstDash val="solid"/>
          </a:ln>
        </p:spPr>
      </p:sp>
      <p:sp>
        <p:nvSpPr>
          <p:cNvPr id="7" name="step text 0"/>
          <p:cNvSpPr txBox="1"/>
          <p:nvPr/>
        </p:nvSpPr>
        <p:spPr>
          <a:xfrm>
            <a:off x="548640" y="1572768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01  레시피 탐색</a:t>
            </a:r>
            <a:endParaRPr lang="en-US" sz="1300" dirty="0"/>
          </a:p>
        </p:txBody>
      </p:sp>
      <p:sp>
        <p:nvSpPr>
          <p:cNvPr id="8" name="step desc 0"/>
          <p:cNvSpPr txBox="1"/>
          <p:nvPr/>
        </p:nvSpPr>
        <p:spPr>
          <a:xfrm>
            <a:off x="2286000" y="1572768"/>
            <a:ext cx="3931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421"/>
                </a:solidFill>
              </a:rPr>
              <a:t>제철 나물 정보·손질법, 아이 선호 메뉴 추천,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421"/>
                </a:solidFill>
              </a:rPr>
              <a:t>유튜브 레시피 영상 연동</a:t>
            </a:r>
            <a:endParaRPr lang="en-US" sz="1200" dirty="0"/>
          </a:p>
        </p:txBody>
      </p:sp>
      <p:sp>
        <p:nvSpPr>
          <p:cNvPr id="9" name="step rule 0"/>
          <p:cNvSpPr/>
          <p:nvPr/>
        </p:nvSpPr>
        <p:spPr>
          <a:xfrm>
            <a:off x="2286000" y="2304288"/>
            <a:ext cx="3931920" cy="0"/>
          </a:xfrm>
          <a:prstGeom prst="line">
            <a:avLst/>
          </a:prstGeom>
          <a:noFill/>
          <a:ln w="9525">
            <a:solidFill>
              <a:srgbClr val="D9DED9"/>
            </a:solidFill>
            <a:prstDash val="solid"/>
          </a:ln>
        </p:spPr>
      </p:sp>
      <p:sp>
        <p:nvSpPr>
          <p:cNvPr id="10" name="step 1"/>
          <p:cNvSpPr/>
          <p:nvPr/>
        </p:nvSpPr>
        <p:spPr>
          <a:xfrm>
            <a:off x="411480" y="2359152"/>
            <a:ext cx="1691640" cy="676656"/>
          </a:xfrm>
          <a:prstGeom prst="homePlate">
            <a:avLst/>
          </a:prstGeom>
          <a:solidFill>
            <a:srgbClr val="3F7F5F"/>
          </a:solidFill>
          <a:ln w="12700">
            <a:solidFill>
              <a:srgbClr val="3F7F5F"/>
            </a:solidFill>
            <a:prstDash val="solid"/>
          </a:ln>
        </p:spPr>
      </p:sp>
      <p:sp>
        <p:nvSpPr>
          <p:cNvPr id="11" name="step text 1"/>
          <p:cNvSpPr txBox="1"/>
          <p:nvPr/>
        </p:nvSpPr>
        <p:spPr>
          <a:xfrm>
            <a:off x="548640" y="235915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02  재료 담기</a:t>
            </a:r>
            <a:endParaRPr lang="en-US" sz="1300" dirty="0"/>
          </a:p>
        </p:txBody>
      </p:sp>
      <p:sp>
        <p:nvSpPr>
          <p:cNvPr id="12" name="step desc 1"/>
          <p:cNvSpPr txBox="1"/>
          <p:nvPr/>
        </p:nvSpPr>
        <p:spPr>
          <a:xfrm>
            <a:off x="2286000" y="2359152"/>
            <a:ext cx="3931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421"/>
                </a:solidFill>
              </a:rPr>
              <a:t>레시피 재료 가운데 집에 없는 것만 골라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421"/>
                </a:solidFill>
              </a:rPr>
              <a:t>장바구니에 담기</a:t>
            </a:r>
            <a:endParaRPr lang="en-US" sz="1200" dirty="0"/>
          </a:p>
        </p:txBody>
      </p:sp>
      <p:sp>
        <p:nvSpPr>
          <p:cNvPr id="13" name="step rule 1"/>
          <p:cNvSpPr/>
          <p:nvPr/>
        </p:nvSpPr>
        <p:spPr>
          <a:xfrm>
            <a:off x="2286000" y="3090672"/>
            <a:ext cx="3931920" cy="0"/>
          </a:xfrm>
          <a:prstGeom prst="line">
            <a:avLst/>
          </a:prstGeom>
          <a:noFill/>
          <a:ln w="9525">
            <a:solidFill>
              <a:srgbClr val="D9DED9"/>
            </a:solidFill>
            <a:prstDash val="solid"/>
          </a:ln>
        </p:spPr>
      </p:sp>
      <p:sp>
        <p:nvSpPr>
          <p:cNvPr id="14" name="step 2"/>
          <p:cNvSpPr/>
          <p:nvPr/>
        </p:nvSpPr>
        <p:spPr>
          <a:xfrm>
            <a:off x="411480" y="3145536"/>
            <a:ext cx="1691640" cy="676656"/>
          </a:xfrm>
          <a:prstGeom prst="homePlat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5" name="step text 2"/>
          <p:cNvSpPr txBox="1"/>
          <p:nvPr/>
        </p:nvSpPr>
        <p:spPr>
          <a:xfrm>
            <a:off x="548640" y="3145536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  주문 · 받기</a:t>
            </a:r>
            <a:endParaRPr lang="en-US" sz="1300" dirty="0"/>
          </a:p>
        </p:txBody>
      </p:sp>
      <p:sp>
        <p:nvSpPr>
          <p:cNvPr id="16" name="step desc 2"/>
          <p:cNvSpPr txBox="1"/>
          <p:nvPr/>
        </p:nvSpPr>
        <p:spPr>
          <a:xfrm>
            <a:off x="2286000" y="3145536"/>
            <a:ext cx="3931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421"/>
                </a:solidFill>
              </a:rPr>
              <a:t>가까운 전통시장 나물 가게 비교, 손질·데침 옵션,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421"/>
                </a:solidFill>
              </a:rPr>
              <a:t>시장 픽업(무료) 또는 저녁 배달 선택</a:t>
            </a:r>
            <a:endParaRPr lang="en-US" sz="1200" dirty="0"/>
          </a:p>
        </p:txBody>
      </p:sp>
      <p:sp>
        <p:nvSpPr>
          <p:cNvPr id="17" name="subscription band"/>
          <p:cNvSpPr/>
          <p:nvPr/>
        </p:nvSpPr>
        <p:spPr>
          <a:xfrm>
            <a:off x="411480" y="3986784"/>
            <a:ext cx="5806440" cy="512064"/>
          </a:xfrm>
          <a:prstGeom prst="rect">
            <a:avLst/>
          </a:prstGeom>
          <a:solidFill>
            <a:srgbClr val="F2F4F2"/>
          </a:solidFill>
          <a:ln w="12700">
            <a:solidFill>
              <a:srgbClr val="F2F4F2"/>
            </a:solidFill>
            <a:prstDash val="solid"/>
          </a:ln>
        </p:spPr>
      </p:sp>
      <p:sp>
        <p:nvSpPr>
          <p:cNvPr id="18" name="subscription text"/>
          <p:cNvSpPr txBox="1"/>
          <p:nvPr/>
        </p:nvSpPr>
        <p:spPr>
          <a:xfrm>
            <a:off x="548640" y="3986784"/>
            <a:ext cx="5577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D3A"/>
                </a:solidFill>
              </a:rPr>
              <a:t>+ 시장 가게 주문 내역   </a:t>
            </a:r>
            <a:pPr indent="0" marL="0">
              <a:buNone/>
            </a:pPr>
            <a:r>
              <a:rPr lang="en-US" sz="1200" dirty="0">
                <a:solidFill>
                  <a:srgbClr val="1F2421"/>
                </a:solidFill>
              </a:rPr>
              <a:t>어느 시장 가게에서 얼마를 샀는지 표시</a:t>
            </a:r>
            <a:endParaRPr lang="en-US" sz="1200" dirty="0"/>
          </a:p>
        </p:txBody>
      </p:sp>
      <p:pic>
        <p:nvPicPr>
          <p:cNvPr id="19" name="screen home" descr="나물로 프로토타입 화면: 홈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517904"/>
            <a:ext cx="1437576" cy="3017520"/>
          </a:xfrm>
          <a:prstGeom prst="rect">
            <a:avLst/>
          </a:prstGeom>
        </p:spPr>
      </p:pic>
      <p:sp>
        <p:nvSpPr>
          <p:cNvPr id="20" name="source note"/>
          <p:cNvSpPr txBox="1"/>
          <p:nvPr/>
        </p:nvSpPr>
        <p:spPr>
          <a:xfrm>
            <a:off x="411480" y="45720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7A837D"/>
                </a:solidFill>
              </a:rPr>
              <a:t>주: 앱 화면은 웹 프로토타입 (가게·가격·선호도는 예시 데이터)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/>
          <p:nvPr>
            <p:ph idx="103" type="body" hasCustomPrompt="1"/>
          </p:nvPr>
        </p:nvSpPr>
        <p:spPr>
          <a:xfrm>
            <a:off x="41148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Solution  |  AI 기능</a:t>
            </a:r>
            <a:endParaRPr lang="en-US" sz="1100" dirty="0"/>
          </a:p>
        </p:txBody>
      </p:sp>
      <p:sp>
        <p:nvSpPr>
          <p:cNvPr id="4" name="Text 3"/>
          <p:cNvSpPr/>
          <p:nvPr>
            <p:ph idx="104" type="title" hasCustomPrompt="1"/>
          </p:nvPr>
        </p:nvSpPr>
        <p:spPr>
          <a:xfrm>
            <a:off x="411480" y="438912"/>
            <a:ext cx="8321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AI 적용 기능과 구현 현황</a:t>
            </a:r>
            <a:endParaRPr lang="en-US" sz="22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566928" y="914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AI는 고객 추천과 판매자 상품 등록에 먼저 적용하고, 판매자 확인을 거쳐 앱에 반영함</a:t>
            </a:r>
            <a:endParaRPr lang="en-US" sz="1300" dirty="0"/>
          </a:p>
        </p:txBody>
      </p:sp>
      <p:pic>
        <p:nvPicPr>
          <p:cNvPr id="6" name="screen aichef" descr="나물로 프로토타입 화면: 레시피 추천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517904"/>
            <a:ext cx="1437576" cy="3017520"/>
          </a:xfrm>
          <a:prstGeom prst="rect">
            <a:avLst/>
          </a:prstGeom>
        </p:spPr>
      </p:pic>
      <p:sp>
        <p:nvSpPr>
          <p:cNvPr id="7" name="badge 1"/>
          <p:cNvSpPr/>
          <p:nvPr/>
        </p:nvSpPr>
        <p:spPr>
          <a:xfrm>
            <a:off x="356616" y="1463040"/>
            <a:ext cx="274320" cy="274320"/>
          </a:xfrm>
          <a:prstGeom prst="ellipse">
            <a:avLst/>
          </a:prstGeom>
          <a:solidFill>
            <a:srgbClr val="E07B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badge text 1"/>
          <p:cNvSpPr txBox="1"/>
          <p:nvPr/>
        </p:nvSpPr>
        <p:spPr>
          <a:xfrm>
            <a:off x="356616" y="1463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pic>
        <p:nvPicPr>
          <p:cNvPr id="9" name="screen merchant_draft" descr="나물로 프로토타입 화면: 판매자 상품 등록안 화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7072" y="1517904"/>
            <a:ext cx="1437576" cy="3017520"/>
          </a:xfrm>
          <a:prstGeom prst="rect">
            <a:avLst/>
          </a:prstGeom>
        </p:spPr>
      </p:pic>
      <p:sp>
        <p:nvSpPr>
          <p:cNvPr id="10" name="badge 2"/>
          <p:cNvSpPr/>
          <p:nvPr/>
        </p:nvSpPr>
        <p:spPr>
          <a:xfrm>
            <a:off x="1922208" y="1463040"/>
            <a:ext cx="274320" cy="274320"/>
          </a:xfrm>
          <a:prstGeom prst="ellipse">
            <a:avLst/>
          </a:prstGeom>
          <a:solidFill>
            <a:srgbClr val="E07B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badge text 2"/>
          <p:cNvSpPr txBox="1"/>
          <p:nvPr/>
        </p:nvSpPr>
        <p:spPr>
          <a:xfrm>
            <a:off x="1922208" y="1463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pic>
        <p:nvPicPr>
          <p:cNvPr id="12" name="screen merchant_forecast" descr="나물로 프로토타입 화면: 발주 추천·마감 할인 예시 화면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2663" y="1517904"/>
            <a:ext cx="1437576" cy="3017520"/>
          </a:xfrm>
          <a:prstGeom prst="rect">
            <a:avLst/>
          </a:prstGeom>
        </p:spPr>
      </p:pic>
      <p:sp>
        <p:nvSpPr>
          <p:cNvPr id="13" name="badge 3"/>
          <p:cNvSpPr/>
          <p:nvPr/>
        </p:nvSpPr>
        <p:spPr>
          <a:xfrm>
            <a:off x="3487799" y="1463040"/>
            <a:ext cx="274320" cy="274320"/>
          </a:xfrm>
          <a:prstGeom prst="ellipse">
            <a:avLst/>
          </a:prstGeom>
          <a:solidFill>
            <a:srgbClr val="E07B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badge text 3"/>
          <p:cNvSpPr txBox="1"/>
          <p:nvPr/>
        </p:nvSpPr>
        <p:spPr>
          <a:xfrm>
            <a:off x="3487799" y="1463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badge 1"/>
          <p:cNvSpPr/>
          <p:nvPr/>
        </p:nvSpPr>
        <p:spPr>
          <a:xfrm>
            <a:off x="5074920" y="1572768"/>
            <a:ext cx="274320" cy="274320"/>
          </a:xfrm>
          <a:prstGeom prst="ellipse">
            <a:avLst/>
          </a:prstGeom>
          <a:solidFill>
            <a:srgbClr val="E07B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badge text 1"/>
          <p:cNvSpPr txBox="1"/>
          <p:nvPr/>
        </p:nvSpPr>
        <p:spPr>
          <a:xfrm>
            <a:off x="5074920" y="1572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cap title 0"/>
          <p:cNvSpPr txBox="1"/>
          <p:nvPr/>
        </p:nvSpPr>
        <p:spPr>
          <a:xfrm>
            <a:off x="5458968" y="155448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1"/>
                </a:solidFill>
              </a:rPr>
              <a:t>레시피 추천 (고객)</a:t>
            </a:r>
            <a:endParaRPr lang="en-US" sz="1350" dirty="0"/>
          </a:p>
        </p:txBody>
      </p:sp>
      <p:sp>
        <p:nvSpPr>
          <p:cNvPr id="18" name="status 시연 구현"/>
          <p:cNvSpPr/>
          <p:nvPr/>
        </p:nvSpPr>
        <p:spPr>
          <a:xfrm>
            <a:off x="8060436" y="1600200"/>
            <a:ext cx="672084" cy="219456"/>
          </a:xfrm>
          <a:prstGeom prst="roundRect">
            <a:avLst>
              <a:gd name="adj" fmla="val 50000"/>
            </a:avLst>
          </a:prstGeom>
          <a:solidFill>
            <a:srgbClr val="E6F0EA"/>
          </a:solidFill>
          <a:ln w="9525">
            <a:solidFill>
              <a:srgbClr val="E6F0EA"/>
            </a:solidFill>
            <a:prstDash val="solid"/>
          </a:ln>
        </p:spPr>
      </p:sp>
      <p:sp>
        <p:nvSpPr>
          <p:cNvPr id="19" name="status text 시연 구현"/>
          <p:cNvSpPr txBox="1"/>
          <p:nvPr/>
        </p:nvSpPr>
        <p:spPr>
          <a:xfrm>
            <a:off x="8060436" y="1600200"/>
            <a:ext cx="6720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4D3A"/>
                </a:solidFill>
              </a:rPr>
              <a:t>시연 구현</a:t>
            </a:r>
            <a:endParaRPr lang="en-US" sz="950" dirty="0"/>
          </a:p>
        </p:txBody>
      </p:sp>
      <p:sp>
        <p:nvSpPr>
          <p:cNvPr id="20" name="cap desc 0"/>
          <p:cNvSpPr txBox="1"/>
          <p:nvPr/>
        </p:nvSpPr>
        <p:spPr>
          <a:xfrm>
            <a:off x="5458968" y="190195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24D"/>
                </a:solidFill>
              </a:rPr>
              <a:t>가족 상황·보유 재료를 입력하면 근처 시장 가게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A524D"/>
                </a:solidFill>
              </a:rPr>
              <a:t>재고로 만들 수 있는 반찬을 추천</a:t>
            </a:r>
            <a:endParaRPr lang="en-US" sz="1150" dirty="0"/>
          </a:p>
        </p:txBody>
      </p:sp>
      <p:sp>
        <p:nvSpPr>
          <p:cNvPr id="21" name="cap rule 0"/>
          <p:cNvSpPr/>
          <p:nvPr/>
        </p:nvSpPr>
        <p:spPr>
          <a:xfrm>
            <a:off x="5458968" y="2468880"/>
            <a:ext cx="3273552" cy="0"/>
          </a:xfrm>
          <a:prstGeom prst="line">
            <a:avLst/>
          </a:prstGeom>
          <a:noFill/>
          <a:ln w="9525">
            <a:solidFill>
              <a:srgbClr val="D9DED9"/>
            </a:solidFill>
            <a:prstDash val="solid"/>
          </a:ln>
        </p:spPr>
      </p:sp>
      <p:sp>
        <p:nvSpPr>
          <p:cNvPr id="22" name="badge 2"/>
          <p:cNvSpPr/>
          <p:nvPr/>
        </p:nvSpPr>
        <p:spPr>
          <a:xfrm>
            <a:off x="5074920" y="2578608"/>
            <a:ext cx="274320" cy="274320"/>
          </a:xfrm>
          <a:prstGeom prst="ellipse">
            <a:avLst/>
          </a:prstGeom>
          <a:solidFill>
            <a:srgbClr val="E07B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badge text 2"/>
          <p:cNvSpPr txBox="1"/>
          <p:nvPr/>
        </p:nvSpPr>
        <p:spPr>
          <a:xfrm>
            <a:off x="5074920" y="2578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4" name="cap title 1"/>
          <p:cNvSpPr txBox="1"/>
          <p:nvPr/>
        </p:nvSpPr>
        <p:spPr>
          <a:xfrm>
            <a:off x="5458968" y="256032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1"/>
                </a:solidFill>
              </a:rPr>
              <a:t>상품 등록 자동화 (판매자)</a:t>
            </a:r>
            <a:endParaRPr lang="en-US" sz="1350" dirty="0"/>
          </a:p>
        </p:txBody>
      </p:sp>
      <p:sp>
        <p:nvSpPr>
          <p:cNvPr id="25" name="status 시연 구현"/>
          <p:cNvSpPr/>
          <p:nvPr/>
        </p:nvSpPr>
        <p:spPr>
          <a:xfrm>
            <a:off x="8060436" y="2606040"/>
            <a:ext cx="672084" cy="219456"/>
          </a:xfrm>
          <a:prstGeom prst="roundRect">
            <a:avLst>
              <a:gd name="adj" fmla="val 50000"/>
            </a:avLst>
          </a:prstGeom>
          <a:solidFill>
            <a:srgbClr val="E6F0EA"/>
          </a:solidFill>
          <a:ln w="9525">
            <a:solidFill>
              <a:srgbClr val="E6F0EA"/>
            </a:solidFill>
            <a:prstDash val="solid"/>
          </a:ln>
        </p:spPr>
      </p:sp>
      <p:sp>
        <p:nvSpPr>
          <p:cNvPr id="26" name="status text 시연 구현"/>
          <p:cNvSpPr txBox="1"/>
          <p:nvPr/>
        </p:nvSpPr>
        <p:spPr>
          <a:xfrm>
            <a:off x="8060436" y="2606040"/>
            <a:ext cx="6720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4D3A"/>
                </a:solidFill>
              </a:rPr>
              <a:t>시연 구현</a:t>
            </a:r>
            <a:endParaRPr lang="en-US" sz="950" dirty="0"/>
          </a:p>
        </p:txBody>
      </p:sp>
      <p:sp>
        <p:nvSpPr>
          <p:cNvPr id="27" name="cap desc 1"/>
          <p:cNvSpPr txBox="1"/>
          <p:nvPr/>
        </p:nvSpPr>
        <p:spPr>
          <a:xfrm>
            <a:off x="5458968" y="290779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24D"/>
                </a:solidFill>
              </a:rPr>
              <a:t>메시지 한 줄을 품목·수량·가격으로 정리,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A524D"/>
                </a:solidFill>
              </a:rPr>
              <a:t>판매자가 확인해야 앱에 반영</a:t>
            </a:r>
            <a:endParaRPr lang="en-US" sz="1150" dirty="0"/>
          </a:p>
        </p:txBody>
      </p:sp>
      <p:sp>
        <p:nvSpPr>
          <p:cNvPr id="28" name="cap rule 1"/>
          <p:cNvSpPr/>
          <p:nvPr/>
        </p:nvSpPr>
        <p:spPr>
          <a:xfrm>
            <a:off x="5458968" y="3474720"/>
            <a:ext cx="3273552" cy="0"/>
          </a:xfrm>
          <a:prstGeom prst="line">
            <a:avLst/>
          </a:prstGeom>
          <a:noFill/>
          <a:ln w="9525">
            <a:solidFill>
              <a:srgbClr val="D9DED9"/>
            </a:solidFill>
            <a:prstDash val="solid"/>
          </a:ln>
        </p:spPr>
      </p:sp>
      <p:sp>
        <p:nvSpPr>
          <p:cNvPr id="29" name="badge 3"/>
          <p:cNvSpPr/>
          <p:nvPr/>
        </p:nvSpPr>
        <p:spPr>
          <a:xfrm>
            <a:off x="5074920" y="3584448"/>
            <a:ext cx="274320" cy="274320"/>
          </a:xfrm>
          <a:prstGeom prst="ellipse">
            <a:avLst/>
          </a:prstGeom>
          <a:solidFill>
            <a:srgbClr val="E07B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badge text 3"/>
          <p:cNvSpPr txBox="1"/>
          <p:nvPr/>
        </p:nvSpPr>
        <p:spPr>
          <a:xfrm>
            <a:off x="5074920" y="35844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31" name="cap title 2"/>
          <p:cNvSpPr txBox="1"/>
          <p:nvPr/>
        </p:nvSpPr>
        <p:spPr>
          <a:xfrm>
            <a:off x="5458968" y="356616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1"/>
                </a:solidFill>
              </a:rPr>
              <a:t>발주량 추천 · 마감 할인</a:t>
            </a:r>
            <a:endParaRPr lang="en-US" sz="1350" dirty="0"/>
          </a:p>
        </p:txBody>
      </p:sp>
      <p:sp>
        <p:nvSpPr>
          <p:cNvPr id="32" name="status 개발 예정"/>
          <p:cNvSpPr/>
          <p:nvPr/>
        </p:nvSpPr>
        <p:spPr>
          <a:xfrm>
            <a:off x="8060436" y="3611880"/>
            <a:ext cx="672084" cy="219456"/>
          </a:xfrm>
          <a:prstGeom prst="roundRect">
            <a:avLst>
              <a:gd name="adj" fmla="val 50000"/>
            </a:avLst>
          </a:prstGeom>
          <a:solidFill>
            <a:srgbClr val="F2F4F2"/>
          </a:solidFill>
          <a:ln w="9525">
            <a:solidFill>
              <a:srgbClr val="D9DED9"/>
            </a:solidFill>
            <a:prstDash val="solid"/>
          </a:ln>
        </p:spPr>
      </p:sp>
      <p:sp>
        <p:nvSpPr>
          <p:cNvPr id="33" name="status text 개발 예정"/>
          <p:cNvSpPr txBox="1"/>
          <p:nvPr/>
        </p:nvSpPr>
        <p:spPr>
          <a:xfrm>
            <a:off x="8060436" y="3611880"/>
            <a:ext cx="6720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A524D"/>
                </a:solidFill>
              </a:rPr>
              <a:t>개발 예정</a:t>
            </a:r>
            <a:endParaRPr lang="en-US" sz="950" dirty="0"/>
          </a:p>
        </p:txBody>
      </p:sp>
      <p:sp>
        <p:nvSpPr>
          <p:cNvPr id="34" name="cap desc 2"/>
          <p:cNvSpPr txBox="1"/>
          <p:nvPr/>
        </p:nvSpPr>
        <p:spPr>
          <a:xfrm>
            <a:off x="5458968" y="391363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24D"/>
                </a:solidFill>
              </a:rPr>
              <a:t>판매 이력·요일·날씨 기반, 주문 데이터가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A524D"/>
                </a:solidFill>
              </a:rPr>
              <a:t>쌓인 뒤 도입</a:t>
            </a:r>
            <a:endParaRPr lang="en-US" sz="1150" dirty="0"/>
          </a:p>
        </p:txBody>
      </p:sp>
      <p:sp>
        <p:nvSpPr>
          <p:cNvPr id="35" name="source note"/>
          <p:cNvSpPr txBox="1"/>
          <p:nvPr/>
        </p:nvSpPr>
        <p:spPr>
          <a:xfrm>
            <a:off x="411480" y="45720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7A837D"/>
                </a:solidFill>
              </a:rPr>
              <a:t>주: 시연 화면의 AI 응답·가게·가격·예측 수치는 예시 데이터이며 실제 AI 호출은 검증 전 · AI는 야생 채취 식물의 식용 여부를 판단하지 않음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body" hasCustomPrompt="1"/>
          </p:nvPr>
        </p:nvSpPr>
        <p:spPr>
          <a:xfrm>
            <a:off x="411480" y="2011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Solution  |  시연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11480" y="438912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프로토타입 시연</a:t>
            </a:r>
            <a:endParaRPr lang="en-US" sz="2200" dirty="0"/>
          </a:p>
        </p:txBody>
      </p:sp>
      <p:sp>
        <p:nvSpPr>
          <p:cNvPr id="5" name="demo sub"/>
          <p:cNvSpPr txBox="1"/>
          <p:nvPr/>
        </p:nvSpPr>
        <p:spPr>
          <a:xfrm>
            <a:off x="411480" y="9144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524D"/>
                </a:solidFill>
              </a:rPr>
              <a:t>사용 시나리오: 맞벌이 부모의 평일 저녁 장보기</a:t>
            </a:r>
            <a:endParaRPr lang="en-US" sz="1300" dirty="0"/>
          </a:p>
        </p:txBody>
      </p:sp>
      <p:sp>
        <p:nvSpPr>
          <p:cNvPr id="6" name="timeline"/>
          <p:cNvSpPr/>
          <p:nvPr/>
        </p:nvSpPr>
        <p:spPr>
          <a:xfrm>
            <a:off x="786384" y="1481328"/>
            <a:ext cx="0" cy="2103120"/>
          </a:xfrm>
          <a:prstGeom prst="line">
            <a:avLst/>
          </a:prstGeom>
          <a:noFill/>
          <a:ln w="19050">
            <a:solidFill>
              <a:srgbClr val="D9DED9"/>
            </a:solidFill>
            <a:prstDash val="solid"/>
          </a:ln>
        </p:spPr>
      </p:sp>
      <p:sp>
        <p:nvSpPr>
          <p:cNvPr id="7" name="time pill 0"/>
          <p:cNvSpPr/>
          <p:nvPr/>
        </p:nvSpPr>
        <p:spPr>
          <a:xfrm>
            <a:off x="411480" y="138988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8" name="time text 0"/>
          <p:cNvSpPr txBox="1"/>
          <p:nvPr/>
        </p:nvSpPr>
        <p:spPr>
          <a:xfrm>
            <a:off x="411480" y="1389888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17:00</a:t>
            </a:r>
            <a:endParaRPr lang="en-US" sz="1050" dirty="0"/>
          </a:p>
        </p:txBody>
      </p:sp>
      <p:sp>
        <p:nvSpPr>
          <p:cNvPr id="9" name="demo step 0"/>
          <p:cNvSpPr txBox="1"/>
          <p:nvPr/>
        </p:nvSpPr>
        <p:spPr>
          <a:xfrm>
            <a:off x="1325880" y="13533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1"/>
                </a:solidFill>
              </a:rPr>
              <a:t>레시피 추천 요청</a:t>
            </a:r>
            <a:endParaRPr lang="en-US" sz="1400" dirty="0"/>
          </a:p>
        </p:txBody>
      </p:sp>
      <p:sp>
        <p:nvSpPr>
          <p:cNvPr id="10" name="demo detail 0"/>
          <p:cNvSpPr txBox="1"/>
          <p:nvPr/>
        </p:nvSpPr>
        <p:spPr>
          <a:xfrm>
            <a:off x="1325880" y="16367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‘다섯 살 아이랑 먹을 순한 반찬’</a:t>
            </a:r>
            <a:endParaRPr lang="en-US" sz="1200" dirty="0"/>
          </a:p>
        </p:txBody>
      </p:sp>
      <p:sp>
        <p:nvSpPr>
          <p:cNvPr id="11" name="time pill 1"/>
          <p:cNvSpPr/>
          <p:nvPr/>
        </p:nvSpPr>
        <p:spPr>
          <a:xfrm>
            <a:off x="411480" y="2048256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2" name="time text 1"/>
          <p:cNvSpPr txBox="1"/>
          <p:nvPr/>
        </p:nvSpPr>
        <p:spPr>
          <a:xfrm>
            <a:off x="411480" y="2048256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17:02</a:t>
            </a:r>
            <a:endParaRPr lang="en-US" sz="1050" dirty="0"/>
          </a:p>
        </p:txBody>
      </p:sp>
      <p:sp>
        <p:nvSpPr>
          <p:cNvPr id="13" name="demo step 1"/>
          <p:cNvSpPr txBox="1"/>
          <p:nvPr/>
        </p:nvSpPr>
        <p:spPr>
          <a:xfrm>
            <a:off x="1325880" y="2011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1"/>
                </a:solidFill>
              </a:rPr>
              <a:t>레시피 확인 · 재료 담기</a:t>
            </a:r>
            <a:endParaRPr lang="en-US" sz="1400" dirty="0"/>
          </a:p>
        </p:txBody>
      </p:sp>
      <p:sp>
        <p:nvSpPr>
          <p:cNvPr id="14" name="demo detail 1"/>
          <p:cNvSpPr txBox="1"/>
          <p:nvPr/>
        </p:nvSpPr>
        <p:spPr>
          <a:xfrm>
            <a:off x="1325880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참나물 들기름무침 → 참나물 200g 담기</a:t>
            </a:r>
            <a:endParaRPr lang="en-US" sz="1200" dirty="0"/>
          </a:p>
        </p:txBody>
      </p:sp>
      <p:sp>
        <p:nvSpPr>
          <p:cNvPr id="15" name="time pill 2"/>
          <p:cNvSpPr/>
          <p:nvPr/>
        </p:nvSpPr>
        <p:spPr>
          <a:xfrm>
            <a:off x="411480" y="2706624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6" name="time text 2"/>
          <p:cNvSpPr txBox="1"/>
          <p:nvPr/>
        </p:nvSpPr>
        <p:spPr>
          <a:xfrm>
            <a:off x="411480" y="270662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17:03</a:t>
            </a:r>
            <a:endParaRPr lang="en-US" sz="1050" dirty="0"/>
          </a:p>
        </p:txBody>
      </p:sp>
      <p:sp>
        <p:nvSpPr>
          <p:cNvPr id="17" name="demo step 2"/>
          <p:cNvSpPr txBox="1"/>
          <p:nvPr/>
        </p:nvSpPr>
        <p:spPr>
          <a:xfrm>
            <a:off x="1325880" y="26700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1"/>
                </a:solidFill>
              </a:rPr>
              <a:t>시장 가게 선택 · 받는 방법</a:t>
            </a:r>
            <a:endParaRPr lang="en-US" sz="1400" dirty="0"/>
          </a:p>
        </p:txBody>
      </p:sp>
      <p:sp>
        <p:nvSpPr>
          <p:cNvPr id="18" name="demo detail 2"/>
          <p:cNvSpPr txBox="1"/>
          <p:nvPr/>
        </p:nvSpPr>
        <p:spPr>
          <a:xfrm>
            <a:off x="1325880" y="295351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600m 새벽시장 가게, 손질 옵션, 18:00 픽업</a:t>
            </a:r>
            <a:endParaRPr lang="en-US" sz="1200" dirty="0"/>
          </a:p>
        </p:txBody>
      </p:sp>
      <p:sp>
        <p:nvSpPr>
          <p:cNvPr id="19" name="time pill 3"/>
          <p:cNvSpPr/>
          <p:nvPr/>
        </p:nvSpPr>
        <p:spPr>
          <a:xfrm>
            <a:off x="411480" y="336499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7B2E"/>
          </a:solidFill>
          <a:ln w="12700">
            <a:solidFill>
              <a:srgbClr val="E07B2E"/>
            </a:solidFill>
            <a:prstDash val="solid"/>
          </a:ln>
        </p:spPr>
      </p:sp>
      <p:sp>
        <p:nvSpPr>
          <p:cNvPr id="20" name="time text 3"/>
          <p:cNvSpPr txBox="1"/>
          <p:nvPr/>
        </p:nvSpPr>
        <p:spPr>
          <a:xfrm>
            <a:off x="411480" y="3364992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17:04</a:t>
            </a:r>
            <a:endParaRPr lang="en-US" sz="1050" dirty="0"/>
          </a:p>
        </p:txBody>
      </p:sp>
      <p:sp>
        <p:nvSpPr>
          <p:cNvPr id="21" name="demo step 3"/>
          <p:cNvSpPr txBox="1"/>
          <p:nvPr/>
        </p:nvSpPr>
        <p:spPr>
          <a:xfrm>
            <a:off x="1325880" y="332841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1"/>
                </a:solidFill>
              </a:rPr>
              <a:t>판매자 주문 접수</a:t>
            </a:r>
            <a:endParaRPr lang="en-US" sz="1400" dirty="0"/>
          </a:p>
        </p:txBody>
      </p:sp>
      <p:sp>
        <p:nvSpPr>
          <p:cNvPr id="22" name="demo detail 3"/>
          <p:cNvSpPr txBox="1"/>
          <p:nvPr/>
        </p:nvSpPr>
        <p:spPr>
          <a:xfrm>
            <a:off x="1325880" y="36118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판매자 화면에서 주문 확인 후 접수</a:t>
            </a:r>
            <a:endParaRPr lang="en-US" sz="1200" dirty="0"/>
          </a:p>
        </p:txBody>
      </p:sp>
      <p:sp>
        <p:nvSpPr>
          <p:cNvPr id="23" name="demo note band"/>
          <p:cNvSpPr/>
          <p:nvPr/>
        </p:nvSpPr>
        <p:spPr>
          <a:xfrm>
            <a:off x="411480" y="4096512"/>
            <a:ext cx="5440680" cy="420624"/>
          </a:xfrm>
          <a:prstGeom prst="rect">
            <a:avLst/>
          </a:prstGeom>
          <a:solidFill>
            <a:srgbClr val="F2F4F2"/>
          </a:solidFill>
          <a:ln w="12700">
            <a:solidFill>
              <a:srgbClr val="F2F4F2"/>
            </a:solidFill>
            <a:prstDash val="solid"/>
          </a:ln>
        </p:spPr>
      </p:sp>
      <p:sp>
        <p:nvSpPr>
          <p:cNvPr id="24" name="demo result"/>
          <p:cNvSpPr txBox="1"/>
          <p:nvPr/>
        </p:nvSpPr>
        <p:spPr>
          <a:xfrm>
            <a:off x="548640" y="409651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D3A"/>
                </a:solidFill>
              </a:rPr>
              <a:t>시연 범위  </a:t>
            </a:r>
            <a:pPr indent="0" marL="0">
              <a:buNone/>
            </a:pPr>
            <a:r>
              <a:rPr lang="en-US" sz="1200" dirty="0">
                <a:solidFill>
                  <a:srgbClr val="1F2421"/>
                </a:solidFill>
              </a:rPr>
              <a:t>추천 확인부터 픽업 예약, 판매자 접수까지의 흐름</a:t>
            </a:r>
            <a:endParaRPr lang="en-US" sz="1200" dirty="0"/>
          </a:p>
        </p:txBody>
      </p:sp>
      <p:pic>
        <p:nvPicPr>
          <p:cNvPr id="3" name="demo 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355080" y="329184"/>
            <a:ext cx="2084706" cy="4370832"/>
          </a:xfrm>
          <a:prstGeom prst="rect">
            <a:avLst/>
          </a:prstGeom>
        </p:spPr>
      </p:pic>
      <p:sp>
        <p:nvSpPr>
          <p:cNvPr id="26" name="demo caption"/>
          <p:cNvSpPr txBox="1"/>
          <p:nvPr/>
        </p:nvSpPr>
        <p:spPr>
          <a:xfrm>
            <a:off x="5943600" y="4736592"/>
            <a:ext cx="29076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837D"/>
                </a:solidFill>
              </a:rPr>
              <a:t>슬라이드 쇼에서 재생 · 예시 데이터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/>
          <p:nvPr>
            <p:ph idx="103" type="body" hasCustomPrompt="1"/>
          </p:nvPr>
        </p:nvSpPr>
        <p:spPr>
          <a:xfrm>
            <a:off x="41148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Business  |  시장성</a:t>
            </a:r>
            <a:endParaRPr lang="en-US" sz="1100" dirty="0"/>
          </a:p>
        </p:txBody>
      </p:sp>
      <p:sp>
        <p:nvSpPr>
          <p:cNvPr id="4" name="Text 3"/>
          <p:cNvSpPr/>
          <p:nvPr>
            <p:ph idx="104" type="title" hasCustomPrompt="1"/>
          </p:nvPr>
        </p:nvSpPr>
        <p:spPr>
          <a:xfrm>
            <a:off x="411480" y="438912"/>
            <a:ext cx="8321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목표 시장</a:t>
            </a:r>
            <a:endParaRPr lang="en-US" sz="22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566928" y="914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전통시장 매출 중 수도권 채소·나물류를 1차 목표 시장으로 설정 (비율은 가정, 공개 통계로 보완)</a:t>
            </a:r>
            <a:endParaRPr lang="en-US" sz="1300" dirty="0"/>
          </a:p>
        </p:txBody>
      </p:sp>
      <p:sp>
        <p:nvSpPr>
          <p:cNvPr id="6" name="funnel 전체 시장"/>
          <p:cNvSpPr/>
          <p:nvPr/>
        </p:nvSpPr>
        <p:spPr>
          <a:xfrm flipV="1">
            <a:off x="411480" y="1572768"/>
            <a:ext cx="3108960" cy="731520"/>
          </a:xfrm>
          <a:prstGeom prst="trapezoid">
            <a:avLst/>
          </a:prstGeom>
          <a:solidFill>
            <a:srgbClr val="D9DED9"/>
          </a:solidFill>
          <a:ln w="12700">
            <a:solidFill>
              <a:srgbClr val="D9DED9"/>
            </a:solidFill>
            <a:prstDash val="solid"/>
          </a:ln>
        </p:spPr>
      </p:sp>
      <p:sp>
        <p:nvSpPr>
          <p:cNvPr id="7" name="funnel text 전체 시장"/>
          <p:cNvSpPr txBox="1"/>
          <p:nvPr/>
        </p:nvSpPr>
        <p:spPr>
          <a:xfrm>
            <a:off x="411480" y="157276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421"/>
                </a:solidFill>
              </a:rPr>
              <a:t>전체 시장</a:t>
            </a:r>
            <a:endParaRPr lang="en-US" sz="11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F2421"/>
                </a:solidFill>
              </a:rPr>
              <a:t>28.7조 원</a:t>
            </a:r>
            <a:endParaRPr lang="en-US" sz="1100" dirty="0"/>
          </a:p>
        </p:txBody>
      </p:sp>
      <p:sp>
        <p:nvSpPr>
          <p:cNvPr id="8" name="funnel 목표 시장"/>
          <p:cNvSpPr/>
          <p:nvPr/>
        </p:nvSpPr>
        <p:spPr>
          <a:xfrm flipV="1">
            <a:off x="777240" y="2359152"/>
            <a:ext cx="2377440" cy="731520"/>
          </a:xfrm>
          <a:prstGeom prst="trapezoid">
            <a:avLst/>
          </a:prstGeom>
          <a:solidFill>
            <a:srgbClr val="3F7F5F"/>
          </a:solidFill>
          <a:ln w="12700">
            <a:solidFill>
              <a:srgbClr val="3F7F5F"/>
            </a:solidFill>
            <a:prstDash val="solid"/>
          </a:ln>
        </p:spPr>
      </p:sp>
      <p:sp>
        <p:nvSpPr>
          <p:cNvPr id="9" name="funnel text 목표 시장"/>
          <p:cNvSpPr txBox="1"/>
          <p:nvPr/>
        </p:nvSpPr>
        <p:spPr>
          <a:xfrm>
            <a:off x="777240" y="235915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목표 시장</a:t>
            </a:r>
            <a:endParaRPr lang="en-US" sz="11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약 1.7조 원</a:t>
            </a:r>
            <a:endParaRPr lang="en-US" sz="1100" dirty="0"/>
          </a:p>
        </p:txBody>
      </p:sp>
      <p:sp>
        <p:nvSpPr>
          <p:cNvPr id="10" name="funnel 3년차 목표 거래액"/>
          <p:cNvSpPr/>
          <p:nvPr/>
        </p:nvSpPr>
        <p:spPr>
          <a:xfrm flipV="1">
            <a:off x="1143000" y="3145536"/>
            <a:ext cx="1645920" cy="731520"/>
          </a:xfrm>
          <a:prstGeom prst="trapezoid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1" name="funnel text 3년차 목표 거래액"/>
          <p:cNvSpPr txBox="1"/>
          <p:nvPr/>
        </p:nvSpPr>
        <p:spPr>
          <a:xfrm>
            <a:off x="1143000" y="3145536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3년차 목표 거래액</a:t>
            </a:r>
            <a:endParaRPr lang="en-US" sz="11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54억 원</a:t>
            </a:r>
            <a:endParaRPr lang="en-US" sz="1100" dirty="0"/>
          </a:p>
        </p:txBody>
      </p:sp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49040" y="1536192"/>
          <a:ext cx="49834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43000"/>
                <a:gridCol w="274320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구분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규모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산출 근거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4D3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421"/>
                          </a:solidFill>
                        </a:rPr>
                        <a:t>전체 시장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421"/>
                          </a:solidFill>
                        </a:rPr>
                        <a:t>28.7조 원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전국 전통시장 1,393곳 연매출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(2023, 식품 외 업종 포함)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421"/>
                          </a:solidFill>
                        </a:rPr>
                        <a:t>목표 시장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4D3A"/>
                          </a:solidFill>
                        </a:rPr>
                        <a:t>약 1.7조 원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28.7조 원 × 수도권 40%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× 채소·나물 15% (가정)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421"/>
                          </a:solidFill>
                        </a:rPr>
                        <a:t>3년차 목표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4D3A"/>
                          </a:solidFill>
                        </a:rPr>
                        <a:t>54억 원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입점 300곳 × 월 100건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× 1.5만 원 × 12개월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note band"/>
          <p:cNvSpPr/>
          <p:nvPr/>
        </p:nvSpPr>
        <p:spPr>
          <a:xfrm>
            <a:off x="411480" y="4069080"/>
            <a:ext cx="8321040" cy="402336"/>
          </a:xfrm>
          <a:prstGeom prst="rect">
            <a:avLst/>
          </a:prstGeom>
          <a:solidFill>
            <a:srgbClr val="F2F4F2"/>
          </a:solidFill>
          <a:ln w="12700">
            <a:solidFill>
              <a:srgbClr val="F2F4F2"/>
            </a:solidFill>
            <a:prstDash val="solid"/>
          </a:ln>
        </p:spPr>
      </p:sp>
      <p:sp>
        <p:nvSpPr>
          <p:cNvPr id="14" name="market note"/>
          <p:cNvSpPr txBox="1"/>
          <p:nvPr/>
        </p:nvSpPr>
        <p:spPr>
          <a:xfrm>
            <a:off x="548640" y="4069080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421"/>
                </a:solidFill>
              </a:rPr>
              <a:t>온라인 식품 거래는 전통시장 매출과 겹칠 수 있어 전통시장 매출만 기준으로 잡음</a:t>
            </a:r>
            <a:endParaRPr lang="en-US" sz="1150" dirty="0"/>
          </a:p>
        </p:txBody>
      </p:sp>
      <p:sp>
        <p:nvSpPr>
          <p:cNvPr id="15" name="source note"/>
          <p:cNvSpPr txBox="1"/>
          <p:nvPr/>
        </p:nvSpPr>
        <p:spPr>
          <a:xfrm>
            <a:off x="411480" y="45720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7A837D"/>
                </a:solidFill>
              </a:rPr>
              <a:t>자료: 소상공인시장진흥공단 전통시장 실태조사(2023 기준) / 주: 수도권·품목 비율과 3년차 목표는 가정 기반 추정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/>
          <p:nvPr>
            <p:ph idx="103" type="body" hasCustomPrompt="1"/>
          </p:nvPr>
        </p:nvSpPr>
        <p:spPr>
          <a:xfrm>
            <a:off x="41148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Business  |  차별성</a:t>
            </a:r>
            <a:endParaRPr lang="en-US" sz="1100" dirty="0"/>
          </a:p>
        </p:txBody>
      </p:sp>
      <p:sp>
        <p:nvSpPr>
          <p:cNvPr id="4" name="Text 3"/>
          <p:cNvSpPr/>
          <p:nvPr>
            <p:ph idx="104" type="title" hasCustomPrompt="1"/>
          </p:nvPr>
        </p:nvSpPr>
        <p:spPr>
          <a:xfrm>
            <a:off x="411480" y="438912"/>
            <a:ext cx="8321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경쟁 현황 및 차별점</a:t>
            </a:r>
            <a:endParaRPr lang="en-US" sz="22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566928" y="914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레시피에서 고른 나물을 전통시장 가게에 주문하고, 가게별 주문금액을 보여 줌</a:t>
            </a:r>
            <a:endParaRPr lang="en-US" sz="1300" dirty="0"/>
          </a:p>
        </p:txBody>
      </p:sp>
      <p:sp>
        <p:nvSpPr>
          <p:cNvPr id="6" name="target quadrant"/>
          <p:cNvSpPr/>
          <p:nvPr/>
        </p:nvSpPr>
        <p:spPr>
          <a:xfrm>
            <a:off x="868680" y="2903220"/>
            <a:ext cx="1920240" cy="1303020"/>
          </a:xfrm>
          <a:prstGeom prst="rect">
            <a:avLst/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7" name="plot frame"/>
          <p:cNvSpPr/>
          <p:nvPr/>
        </p:nvSpPr>
        <p:spPr>
          <a:xfrm>
            <a:off x="868680" y="1600200"/>
            <a:ext cx="3840480" cy="2606040"/>
          </a:xfrm>
          <a:prstGeom prst="rect">
            <a:avLst/>
          </a:prstGeom>
          <a:ln w="9525">
            <a:solidFill>
              <a:srgbClr val="B9C1BB"/>
            </a:solidFill>
            <a:prstDash val="solid"/>
          </a:ln>
        </p:spPr>
      </p:sp>
      <p:sp>
        <p:nvSpPr>
          <p:cNvPr id="8" name="divider v"/>
          <p:cNvSpPr/>
          <p:nvPr/>
        </p:nvSpPr>
        <p:spPr>
          <a:xfrm>
            <a:off x="2788920" y="1600200"/>
            <a:ext cx="0" cy="2606040"/>
          </a:xfrm>
          <a:prstGeom prst="line">
            <a:avLst/>
          </a:prstGeom>
          <a:noFill/>
          <a:ln w="9525">
            <a:solidFill>
              <a:srgbClr val="D9DED9"/>
            </a:solidFill>
            <a:prstDash val="solid"/>
          </a:ln>
        </p:spPr>
      </p:sp>
      <p:sp>
        <p:nvSpPr>
          <p:cNvPr id="9" name="divider h"/>
          <p:cNvSpPr/>
          <p:nvPr/>
        </p:nvSpPr>
        <p:spPr>
          <a:xfrm>
            <a:off x="868680" y="2903220"/>
            <a:ext cx="3840480" cy="0"/>
          </a:xfrm>
          <a:prstGeom prst="line">
            <a:avLst/>
          </a:prstGeom>
          <a:noFill/>
          <a:ln w="9525">
            <a:solidFill>
              <a:srgbClr val="D9DED9"/>
            </a:solidFill>
            <a:prstDash val="solid"/>
          </a:ln>
        </p:spPr>
      </p:sp>
      <p:sp>
        <p:nvSpPr>
          <p:cNvPr id="10" name="x axis left"/>
          <p:cNvSpPr txBox="1"/>
          <p:nvPr/>
        </p:nvSpPr>
        <p:spPr>
          <a:xfrm>
            <a:off x="868680" y="4261104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콘텐츠 중심</a:t>
            </a:r>
            <a:endParaRPr lang="en-US" sz="1050" dirty="0"/>
          </a:p>
        </p:txBody>
      </p:sp>
      <p:sp>
        <p:nvSpPr>
          <p:cNvPr id="11" name="x axis right"/>
          <p:cNvSpPr txBox="1"/>
          <p:nvPr/>
        </p:nvSpPr>
        <p:spPr>
          <a:xfrm>
            <a:off x="3246120" y="4261104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구매 중심</a:t>
            </a:r>
            <a:endParaRPr lang="en-US" sz="1050" dirty="0"/>
          </a:p>
        </p:txBody>
      </p:sp>
      <p:sp>
        <p:nvSpPr>
          <p:cNvPr id="12" name="y axis top"/>
          <p:cNvSpPr txBox="1"/>
          <p:nvPr/>
        </p:nvSpPr>
        <p:spPr>
          <a:xfrm>
            <a:off x="384048" y="1600200"/>
            <a:ext cx="411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전국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대상</a:t>
            </a:r>
            <a:endParaRPr lang="en-US" sz="1050" dirty="0"/>
          </a:p>
        </p:txBody>
      </p:sp>
      <p:sp>
        <p:nvSpPr>
          <p:cNvPr id="13" name="y axis bottom"/>
          <p:cNvSpPr txBox="1"/>
          <p:nvPr/>
        </p:nvSpPr>
        <p:spPr>
          <a:xfrm>
            <a:off x="384048" y="3767328"/>
            <a:ext cx="411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지역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기반</a:t>
            </a:r>
            <a:endParaRPr lang="en-US" sz="1050" dirty="0"/>
          </a:p>
        </p:txBody>
      </p:sp>
      <p:sp>
        <p:nvSpPr>
          <p:cNvPr id="14" name="dot 레시피 앱·유튜브"/>
          <p:cNvSpPr/>
          <p:nvPr/>
        </p:nvSpPr>
        <p:spPr>
          <a:xfrm>
            <a:off x="1083564" y="2043684"/>
            <a:ext cx="118872" cy="118872"/>
          </a:xfrm>
          <a:prstGeom prst="ellipse">
            <a:avLst/>
          </a:prstGeom>
          <a:solidFill>
            <a:srgbClr val="7A837D"/>
          </a:solidFill>
          <a:ln w="12700">
            <a:solidFill>
              <a:srgbClr val="7A837D"/>
            </a:solidFill>
            <a:prstDash val="solid"/>
          </a:ln>
        </p:spPr>
      </p:sp>
      <p:sp>
        <p:nvSpPr>
          <p:cNvPr id="15" name="dot label 레시피 앱·유튜브"/>
          <p:cNvSpPr txBox="1"/>
          <p:nvPr/>
        </p:nvSpPr>
        <p:spPr>
          <a:xfrm>
            <a:off x="1257300" y="1965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21"/>
                </a:solidFill>
              </a:rPr>
              <a:t>레시피 앱·유튜브</a:t>
            </a:r>
            <a:endParaRPr lang="en-US" sz="1050" dirty="0"/>
          </a:p>
        </p:txBody>
      </p:sp>
      <p:sp>
        <p:nvSpPr>
          <p:cNvPr id="16" name="dot 쿠팡·컬리"/>
          <p:cNvSpPr/>
          <p:nvPr/>
        </p:nvSpPr>
        <p:spPr>
          <a:xfrm>
            <a:off x="3506724" y="1952244"/>
            <a:ext cx="118872" cy="118872"/>
          </a:xfrm>
          <a:prstGeom prst="ellipse">
            <a:avLst/>
          </a:prstGeom>
          <a:solidFill>
            <a:srgbClr val="7A837D"/>
          </a:solidFill>
          <a:ln w="12700">
            <a:solidFill>
              <a:srgbClr val="7A837D"/>
            </a:solidFill>
            <a:prstDash val="solid"/>
          </a:ln>
        </p:spPr>
      </p:sp>
      <p:sp>
        <p:nvSpPr>
          <p:cNvPr id="17" name="dot label 쿠팡·컬리"/>
          <p:cNvSpPr txBox="1"/>
          <p:nvPr/>
        </p:nvSpPr>
        <p:spPr>
          <a:xfrm>
            <a:off x="368046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21"/>
                </a:solidFill>
              </a:rPr>
              <a:t>쿠팡·컬리</a:t>
            </a:r>
            <a:endParaRPr lang="en-US" sz="1050" dirty="0"/>
          </a:p>
        </p:txBody>
      </p:sp>
      <p:sp>
        <p:nvSpPr>
          <p:cNvPr id="18" name="dot 어글리어스"/>
          <p:cNvSpPr/>
          <p:nvPr/>
        </p:nvSpPr>
        <p:spPr>
          <a:xfrm>
            <a:off x="3003804" y="2455164"/>
            <a:ext cx="118872" cy="118872"/>
          </a:xfrm>
          <a:prstGeom prst="ellipse">
            <a:avLst/>
          </a:prstGeom>
          <a:solidFill>
            <a:srgbClr val="7A837D"/>
          </a:solidFill>
          <a:ln w="12700">
            <a:solidFill>
              <a:srgbClr val="7A837D"/>
            </a:solidFill>
            <a:prstDash val="solid"/>
          </a:ln>
        </p:spPr>
      </p:sp>
      <p:sp>
        <p:nvSpPr>
          <p:cNvPr id="19" name="dot label 어글리어스"/>
          <p:cNvSpPr txBox="1"/>
          <p:nvPr/>
        </p:nvSpPr>
        <p:spPr>
          <a:xfrm>
            <a:off x="3177540" y="2377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21"/>
                </a:solidFill>
              </a:rPr>
              <a:t>어글리어스</a:t>
            </a:r>
            <a:endParaRPr lang="en-US" sz="1050" dirty="0"/>
          </a:p>
        </p:txBody>
      </p:sp>
      <p:sp>
        <p:nvSpPr>
          <p:cNvPr id="20" name="dot 배민 장보기"/>
          <p:cNvSpPr/>
          <p:nvPr/>
        </p:nvSpPr>
        <p:spPr>
          <a:xfrm>
            <a:off x="3415284" y="3232404"/>
            <a:ext cx="118872" cy="118872"/>
          </a:xfrm>
          <a:prstGeom prst="ellipse">
            <a:avLst/>
          </a:prstGeom>
          <a:solidFill>
            <a:srgbClr val="7A837D"/>
          </a:solidFill>
          <a:ln w="12700">
            <a:solidFill>
              <a:srgbClr val="7A837D"/>
            </a:solidFill>
            <a:prstDash val="solid"/>
          </a:ln>
        </p:spPr>
      </p:sp>
      <p:sp>
        <p:nvSpPr>
          <p:cNvPr id="21" name="dot label 배민 장보기"/>
          <p:cNvSpPr txBox="1"/>
          <p:nvPr/>
        </p:nvSpPr>
        <p:spPr>
          <a:xfrm>
            <a:off x="3589020" y="3154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21"/>
                </a:solidFill>
              </a:rPr>
              <a:t>배민 장보기</a:t>
            </a:r>
            <a:endParaRPr lang="en-US" sz="1050" dirty="0"/>
          </a:p>
        </p:txBody>
      </p:sp>
      <p:sp>
        <p:nvSpPr>
          <p:cNvPr id="22" name="dot 네이버"/>
          <p:cNvSpPr/>
          <p:nvPr/>
        </p:nvSpPr>
        <p:spPr>
          <a:xfrm>
            <a:off x="3003804" y="3598164"/>
            <a:ext cx="118872" cy="118872"/>
          </a:xfrm>
          <a:prstGeom prst="ellipse">
            <a:avLst/>
          </a:prstGeom>
          <a:solidFill>
            <a:srgbClr val="7A837D"/>
          </a:solidFill>
          <a:ln w="12700">
            <a:solidFill>
              <a:srgbClr val="7A837D"/>
            </a:solidFill>
            <a:prstDash val="solid"/>
          </a:ln>
        </p:spPr>
      </p:sp>
      <p:sp>
        <p:nvSpPr>
          <p:cNvPr id="23" name="dot label 네이버"/>
          <p:cNvSpPr txBox="1"/>
          <p:nvPr/>
        </p:nvSpPr>
        <p:spPr>
          <a:xfrm>
            <a:off x="317754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21"/>
                </a:solidFill>
              </a:rPr>
              <a:t>네이버</a:t>
            </a:r>
            <a:endParaRPr lang="en-US" sz="1050" dirty="0"/>
          </a:p>
        </p:txBody>
      </p:sp>
      <p:sp>
        <p:nvSpPr>
          <p:cNvPr id="24" name="dot 당근"/>
          <p:cNvSpPr/>
          <p:nvPr/>
        </p:nvSpPr>
        <p:spPr>
          <a:xfrm>
            <a:off x="3689604" y="3872484"/>
            <a:ext cx="118872" cy="118872"/>
          </a:xfrm>
          <a:prstGeom prst="ellipse">
            <a:avLst/>
          </a:prstGeom>
          <a:solidFill>
            <a:srgbClr val="7A837D"/>
          </a:solidFill>
          <a:ln w="12700">
            <a:solidFill>
              <a:srgbClr val="7A837D"/>
            </a:solidFill>
            <a:prstDash val="solid"/>
          </a:ln>
        </p:spPr>
      </p:sp>
      <p:sp>
        <p:nvSpPr>
          <p:cNvPr id="25" name="dot label 당근"/>
          <p:cNvSpPr txBox="1"/>
          <p:nvPr/>
        </p:nvSpPr>
        <p:spPr>
          <a:xfrm>
            <a:off x="3863340" y="3794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21"/>
                </a:solidFill>
              </a:rPr>
              <a:t>당근</a:t>
            </a:r>
            <a:endParaRPr lang="en-US" sz="1050" dirty="0"/>
          </a:p>
        </p:txBody>
      </p:sp>
      <p:sp>
        <p:nvSpPr>
          <p:cNvPr id="26" name="dot 나물로"/>
          <p:cNvSpPr/>
          <p:nvPr/>
        </p:nvSpPr>
        <p:spPr>
          <a:xfrm>
            <a:off x="1417320" y="3520440"/>
            <a:ext cx="182880" cy="182880"/>
          </a:xfrm>
          <a:prstGeom prst="ellipse">
            <a:avLst/>
          </a:prstGeom>
          <a:solidFill>
            <a:srgbClr val="B8692B"/>
          </a:solidFill>
          <a:ln w="12700">
            <a:solidFill>
              <a:srgbClr val="B8692B"/>
            </a:solidFill>
            <a:prstDash val="solid"/>
          </a:ln>
        </p:spPr>
      </p:sp>
      <p:sp>
        <p:nvSpPr>
          <p:cNvPr id="27" name="dot label 나물로"/>
          <p:cNvSpPr txBox="1"/>
          <p:nvPr/>
        </p:nvSpPr>
        <p:spPr>
          <a:xfrm>
            <a:off x="1655064" y="3474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692B"/>
                </a:solidFill>
              </a:rPr>
              <a:t>나물로</a:t>
            </a:r>
            <a:endParaRPr lang="en-US" sz="1200" dirty="0"/>
          </a:p>
        </p:txBody>
      </p:sp>
      <p:sp>
        <p:nvSpPr>
          <p:cNvPr id="28" name="gap caption"/>
          <p:cNvSpPr txBox="1"/>
          <p:nvPr/>
        </p:nvSpPr>
        <p:spPr>
          <a:xfrm>
            <a:off x="978408" y="29946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D3A"/>
                </a:solidFill>
              </a:rPr>
              <a:t>기회 영역</a:t>
            </a:r>
            <a:endParaRPr lang="en-US" sz="1050" dirty="0"/>
          </a:p>
        </p:txBody>
      </p:sp>
      <p:sp>
        <p:nvSpPr>
          <p:cNvPr id="29" name="diff title"/>
          <p:cNvSpPr txBox="1"/>
          <p:nvPr/>
        </p:nvSpPr>
        <p:spPr>
          <a:xfrm>
            <a:off x="5074920" y="1572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D3A"/>
                </a:solidFill>
              </a:rPr>
              <a:t>차별점</a:t>
            </a:r>
            <a:endParaRPr lang="en-US" sz="1200" dirty="0"/>
          </a:p>
        </p:txBody>
      </p:sp>
      <p:sp>
        <p:nvSpPr>
          <p:cNvPr id="30" name="badge 1"/>
          <p:cNvSpPr/>
          <p:nvPr/>
        </p:nvSpPr>
        <p:spPr>
          <a:xfrm>
            <a:off x="5074920" y="1901952"/>
            <a:ext cx="274320" cy="274320"/>
          </a:xfrm>
          <a:prstGeom prst="ellipse">
            <a:avLst/>
          </a:prstGeom>
          <a:solidFill>
            <a:srgbClr val="E07B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badge text 1"/>
          <p:cNvSpPr txBox="1"/>
          <p:nvPr/>
        </p:nvSpPr>
        <p:spPr>
          <a:xfrm>
            <a:off x="5074920" y="1901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32" name="diff head 0"/>
          <p:cNvSpPr txBox="1"/>
          <p:nvPr/>
        </p:nvSpPr>
        <p:spPr>
          <a:xfrm>
            <a:off x="5486400" y="1883664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1"/>
                </a:solidFill>
              </a:rPr>
              <a:t>레시피 연동 주문</a:t>
            </a:r>
            <a:endParaRPr lang="en-US" sz="1400" dirty="0"/>
          </a:p>
        </p:txBody>
      </p:sp>
      <p:sp>
        <p:nvSpPr>
          <p:cNvPr id="33" name="diff desc 0"/>
          <p:cNvSpPr txBox="1"/>
          <p:nvPr/>
        </p:nvSpPr>
        <p:spPr>
          <a:xfrm>
            <a:off x="5486400" y="2203704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24D"/>
                </a:solidFill>
              </a:rPr>
              <a:t>레시피 재료를 시장 가게 재고로 바로 주문</a:t>
            </a:r>
            <a:endParaRPr lang="en-US" sz="1150" dirty="0"/>
          </a:p>
        </p:txBody>
      </p:sp>
      <p:sp>
        <p:nvSpPr>
          <p:cNvPr id="34" name="badge 2"/>
          <p:cNvSpPr/>
          <p:nvPr/>
        </p:nvSpPr>
        <p:spPr>
          <a:xfrm>
            <a:off x="5074920" y="2633472"/>
            <a:ext cx="274320" cy="274320"/>
          </a:xfrm>
          <a:prstGeom prst="ellipse">
            <a:avLst/>
          </a:prstGeom>
          <a:solidFill>
            <a:srgbClr val="E07B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badge text 2"/>
          <p:cNvSpPr txBox="1"/>
          <p:nvPr/>
        </p:nvSpPr>
        <p:spPr>
          <a:xfrm>
            <a:off x="5074920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36" name="diff head 1"/>
          <p:cNvSpPr txBox="1"/>
          <p:nvPr/>
        </p:nvSpPr>
        <p:spPr>
          <a:xfrm>
            <a:off x="5486400" y="2615184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1"/>
                </a:solidFill>
              </a:rPr>
              <a:t>지역 상권 상생</a:t>
            </a:r>
            <a:endParaRPr lang="en-US" sz="1400" dirty="0"/>
          </a:p>
        </p:txBody>
      </p:sp>
      <p:sp>
        <p:nvSpPr>
          <p:cNvPr id="37" name="diff desc 1"/>
          <p:cNvSpPr txBox="1"/>
          <p:nvPr/>
        </p:nvSpPr>
        <p:spPr>
          <a:xfrm>
            <a:off x="5486400" y="2935224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24D"/>
                </a:solidFill>
              </a:rPr>
              <a:t>가게가 등록한 가격과 주문 내역을 확인</a:t>
            </a:r>
            <a:endParaRPr lang="en-US" sz="1150" dirty="0"/>
          </a:p>
        </p:txBody>
      </p:sp>
      <p:sp>
        <p:nvSpPr>
          <p:cNvPr id="38" name="badge 3"/>
          <p:cNvSpPr/>
          <p:nvPr/>
        </p:nvSpPr>
        <p:spPr>
          <a:xfrm>
            <a:off x="5074920" y="3364992"/>
            <a:ext cx="274320" cy="274320"/>
          </a:xfrm>
          <a:prstGeom prst="ellipse">
            <a:avLst/>
          </a:prstGeom>
          <a:solidFill>
            <a:srgbClr val="E07B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badge text 3"/>
          <p:cNvSpPr txBox="1"/>
          <p:nvPr/>
        </p:nvSpPr>
        <p:spPr>
          <a:xfrm>
            <a:off x="5074920" y="3364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40" name="diff head 2"/>
          <p:cNvSpPr txBox="1"/>
          <p:nvPr/>
        </p:nvSpPr>
        <p:spPr>
          <a:xfrm>
            <a:off x="5486400" y="3346704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1"/>
                </a:solidFill>
              </a:rPr>
              <a:t>손질·데침 옵션</a:t>
            </a:r>
            <a:endParaRPr lang="en-US" sz="1400" dirty="0"/>
          </a:p>
        </p:txBody>
      </p:sp>
      <p:sp>
        <p:nvSpPr>
          <p:cNvPr id="41" name="diff desc 2"/>
          <p:cNvSpPr txBox="1"/>
          <p:nvPr/>
        </p:nvSpPr>
        <p:spPr>
          <a:xfrm>
            <a:off x="5486400" y="3666744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24D"/>
                </a:solidFill>
              </a:rPr>
              <a:t>판매자는 추가 매출, 고객은 조리 시간 단축</a:t>
            </a:r>
            <a:endParaRPr lang="en-US" sz="1150" dirty="0"/>
          </a:p>
        </p:txBody>
      </p:sp>
      <p:sp>
        <p:nvSpPr>
          <p:cNvPr id="42" name="position band"/>
          <p:cNvSpPr/>
          <p:nvPr/>
        </p:nvSpPr>
        <p:spPr>
          <a:xfrm>
            <a:off x="5074920" y="4133088"/>
            <a:ext cx="3657600" cy="365760"/>
          </a:xfrm>
          <a:prstGeom prst="rect">
            <a:avLst/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43" name="position text"/>
          <p:cNvSpPr txBox="1"/>
          <p:nvPr/>
        </p:nvSpPr>
        <p:spPr>
          <a:xfrm>
            <a:off x="5193792" y="413308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4D3A"/>
                </a:solidFill>
              </a:rPr>
              <a:t>목표: 전통시장 가게의 나물 전문 주문 채널</a:t>
            </a:r>
            <a:endParaRPr lang="en-US" sz="1100" dirty="0"/>
          </a:p>
        </p:txBody>
      </p:sp>
      <p:sp>
        <p:nvSpPr>
          <p:cNvPr id="44" name="source note"/>
          <p:cNvSpPr txBox="1"/>
          <p:nvPr/>
        </p:nvSpPr>
        <p:spPr>
          <a:xfrm>
            <a:off x="411480" y="45720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7A837D"/>
                </a:solidFill>
              </a:rPr>
              <a:t>주: 포지셔닝은 2026.10 공개 정보 기준 자체 판단 / 가격: 한국소비자단체협의회 2026 추석 조사(서울 90곳), 채소·임산물류는 전통시장이 대형마트보다 26.0% 저렴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/>
          <p:nvPr>
            <p:ph idx="103" type="body" hasCustomPrompt="1"/>
          </p:nvPr>
        </p:nvSpPr>
        <p:spPr>
          <a:xfrm>
            <a:off x="41148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Business  |  수익모델</a:t>
            </a:r>
            <a:endParaRPr lang="en-US" sz="1100" dirty="0"/>
          </a:p>
        </p:txBody>
      </p:sp>
      <p:sp>
        <p:nvSpPr>
          <p:cNvPr id="4" name="Text 3"/>
          <p:cNvSpPr/>
          <p:nvPr>
            <p:ph idx="104" type="title" hasCustomPrompt="1"/>
          </p:nvPr>
        </p:nvSpPr>
        <p:spPr>
          <a:xfrm>
            <a:off x="411480" y="438912"/>
            <a:ext cx="8321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수익 모델</a:t>
            </a:r>
            <a:endParaRPr lang="en-US" sz="22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566928" y="914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중개 수수료를 기본 수익원으로 하고 판매자 유료 서비스·제휴 광고로 확대, 배달은 별도 이익 없이 연결</a:t>
            </a:r>
            <a:endParaRPr lang="en-US" sz="1300" dirty="0"/>
          </a:p>
        </p:txBody>
      </p:sp>
      <p:sp>
        <p:nvSpPr>
          <p:cNvPr id="6" name="node 고객"/>
          <p:cNvSpPr/>
          <p:nvPr/>
        </p:nvSpPr>
        <p:spPr>
          <a:xfrm>
            <a:off x="411480" y="1600200"/>
            <a:ext cx="1737360" cy="841248"/>
          </a:xfrm>
          <a:prstGeom prst="rect">
            <a:avLst/>
          </a:prstGeom>
          <a:solidFill>
            <a:srgbClr val="F2F4F2"/>
          </a:solidFill>
          <a:ln w="9525">
            <a:solidFill>
              <a:srgbClr val="B9C1BB"/>
            </a:solidFill>
            <a:prstDash val="solid"/>
          </a:ln>
        </p:spPr>
      </p:sp>
      <p:sp>
        <p:nvSpPr>
          <p:cNvPr id="7" name="node text 고객"/>
          <p:cNvSpPr txBox="1"/>
          <p:nvPr/>
        </p:nvSpPr>
        <p:spPr>
          <a:xfrm>
            <a:off x="411480" y="1600200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421"/>
                </a:solidFill>
              </a:rPr>
              <a:t>고객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421"/>
                </a:solidFill>
              </a:rPr>
              <a:t>맞벌이·1인 가구</a:t>
            </a:r>
            <a:endParaRPr lang="en-US" sz="1500" dirty="0"/>
          </a:p>
        </p:txBody>
      </p:sp>
      <p:sp>
        <p:nvSpPr>
          <p:cNvPr id="8" name="node 나물로"/>
          <p:cNvSpPr/>
          <p:nvPr/>
        </p:nvSpPr>
        <p:spPr>
          <a:xfrm>
            <a:off x="3703320" y="1600200"/>
            <a:ext cx="1737360" cy="841248"/>
          </a:xfrm>
          <a:prstGeom prst="rect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9" name="node text 나물로"/>
          <p:cNvSpPr txBox="1"/>
          <p:nvPr/>
        </p:nvSpPr>
        <p:spPr>
          <a:xfrm>
            <a:off x="3703320" y="1600200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나물로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주문 · 배달 연결 · 정산</a:t>
            </a:r>
            <a:endParaRPr lang="en-US" sz="1500" dirty="0"/>
          </a:p>
        </p:txBody>
      </p:sp>
      <p:sp>
        <p:nvSpPr>
          <p:cNvPr id="10" name="node 판매자"/>
          <p:cNvSpPr/>
          <p:nvPr/>
        </p:nvSpPr>
        <p:spPr>
          <a:xfrm>
            <a:off x="6995160" y="1600200"/>
            <a:ext cx="1737360" cy="841248"/>
          </a:xfrm>
          <a:prstGeom prst="rect">
            <a:avLst/>
          </a:prstGeom>
          <a:solidFill>
            <a:srgbClr val="F2F4F2"/>
          </a:solidFill>
          <a:ln w="9525">
            <a:solidFill>
              <a:srgbClr val="B9C1BB"/>
            </a:solidFill>
            <a:prstDash val="solid"/>
          </a:ln>
        </p:spPr>
      </p:sp>
      <p:sp>
        <p:nvSpPr>
          <p:cNvPr id="11" name="node text 판매자"/>
          <p:cNvSpPr txBox="1"/>
          <p:nvPr/>
        </p:nvSpPr>
        <p:spPr>
          <a:xfrm>
            <a:off x="6995160" y="1600200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421"/>
                </a:solidFill>
              </a:rPr>
              <a:t>판매자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421"/>
                </a:solidFill>
              </a:rPr>
              <a:t>전통시장 나물 가게</a:t>
            </a:r>
            <a:endParaRPr lang="en-US" sz="1500" dirty="0"/>
          </a:p>
        </p:txBody>
      </p:sp>
      <p:sp>
        <p:nvSpPr>
          <p:cNvPr id="12" name="pay arrow"/>
          <p:cNvSpPr/>
          <p:nvPr/>
        </p:nvSpPr>
        <p:spPr>
          <a:xfrm>
            <a:off x="2240280" y="1828800"/>
            <a:ext cx="1371600" cy="0"/>
          </a:xfrm>
          <a:prstGeom prst="line">
            <a:avLst/>
          </a:prstGeom>
          <a:noFill/>
          <a:ln w="15875">
            <a:solidFill>
              <a:srgbClr val="7A837D"/>
            </a:solidFill>
            <a:prstDash val="solid"/>
            <a:tailEnd type="triangle"/>
          </a:ln>
        </p:spPr>
      </p:sp>
      <p:sp>
        <p:nvSpPr>
          <p:cNvPr id="13" name="pay label"/>
          <p:cNvSpPr txBox="1"/>
          <p:nvPr/>
        </p:nvSpPr>
        <p:spPr>
          <a:xfrm>
            <a:off x="2148840" y="155448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주문 결제 · 배달비</a:t>
            </a:r>
            <a:endParaRPr lang="en-US" sz="1050" dirty="0"/>
          </a:p>
        </p:txBody>
      </p:sp>
      <p:sp>
        <p:nvSpPr>
          <p:cNvPr id="14" name="service arrow"/>
          <p:cNvSpPr/>
          <p:nvPr/>
        </p:nvSpPr>
        <p:spPr>
          <a:xfrm>
            <a:off x="2240280" y="2212848"/>
            <a:ext cx="1371600" cy="0"/>
          </a:xfrm>
          <a:prstGeom prst="line">
            <a:avLst/>
          </a:prstGeom>
          <a:noFill/>
          <a:ln w="15875">
            <a:solidFill>
              <a:srgbClr val="7A837D"/>
            </a:solidFill>
            <a:prstDash val="solid"/>
            <a:headEnd type="triangle"/>
          </a:ln>
        </p:spPr>
      </p:sp>
      <p:sp>
        <p:nvSpPr>
          <p:cNvPr id="15" name="service label"/>
          <p:cNvSpPr txBox="1"/>
          <p:nvPr/>
        </p:nvSpPr>
        <p:spPr>
          <a:xfrm>
            <a:off x="2148840" y="225856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레시피 · 픽업 · 배달</a:t>
            </a:r>
            <a:endParaRPr lang="en-US" sz="1050" dirty="0"/>
          </a:p>
        </p:txBody>
      </p:sp>
      <p:sp>
        <p:nvSpPr>
          <p:cNvPr id="16" name="order arrow"/>
          <p:cNvSpPr/>
          <p:nvPr/>
        </p:nvSpPr>
        <p:spPr>
          <a:xfrm>
            <a:off x="5532120" y="1828800"/>
            <a:ext cx="1371600" cy="0"/>
          </a:xfrm>
          <a:prstGeom prst="line">
            <a:avLst/>
          </a:prstGeom>
          <a:noFill/>
          <a:ln w="15875">
            <a:solidFill>
              <a:srgbClr val="7A837D"/>
            </a:solidFill>
            <a:prstDash val="solid"/>
            <a:tailEnd type="triangle"/>
          </a:ln>
        </p:spPr>
      </p:sp>
      <p:sp>
        <p:nvSpPr>
          <p:cNvPr id="17" name="order label"/>
          <p:cNvSpPr txBox="1"/>
          <p:nvPr/>
        </p:nvSpPr>
        <p:spPr>
          <a:xfrm>
            <a:off x="5440680" y="155448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주문 전달 · 정산</a:t>
            </a:r>
            <a:endParaRPr lang="en-US" sz="1050" dirty="0"/>
          </a:p>
        </p:txBody>
      </p:sp>
      <p:sp>
        <p:nvSpPr>
          <p:cNvPr id="18" name="stock arrow"/>
          <p:cNvSpPr/>
          <p:nvPr/>
        </p:nvSpPr>
        <p:spPr>
          <a:xfrm>
            <a:off x="5532120" y="2212848"/>
            <a:ext cx="1371600" cy="0"/>
          </a:xfrm>
          <a:prstGeom prst="line">
            <a:avLst/>
          </a:prstGeom>
          <a:noFill/>
          <a:ln w="15875">
            <a:solidFill>
              <a:srgbClr val="7A837D"/>
            </a:solidFill>
            <a:prstDash val="solid"/>
            <a:headEnd type="triangle"/>
          </a:ln>
        </p:spPr>
      </p:sp>
      <p:sp>
        <p:nvSpPr>
          <p:cNvPr id="19" name="stock label"/>
          <p:cNvSpPr txBox="1"/>
          <p:nvPr/>
        </p:nvSpPr>
        <p:spPr>
          <a:xfrm>
            <a:off x="5440680" y="225856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상품 등록 · 수수료</a:t>
            </a:r>
            <a:endParaRPr lang="en-US" sz="105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670048"/>
          <a:ext cx="83210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47548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수익원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과금 방식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4D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421"/>
                          </a:solidFill>
                        </a:rPr>
                        <a:t>중개 수수료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상품·손질 금액의 4%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배달비 제외 / 전통시장 첫 6개월 면제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4A524D"/>
                          </a:solidFill>
                        </a:rPr>
                        <a:t>배달비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시험 요금 3,500원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매출 목표에서 제외 / 차액은 시험 예산으로 지원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421"/>
                          </a:solidFill>
                        </a:rPr>
                        <a:t>판매자 유료 서비스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월 29,000원 (선택)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발주 추천 · 상단 노출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421"/>
                          </a:solidFill>
                        </a:rPr>
                        <a:t>제휴 광고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건별 계약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레시피 크리에이터 · 식품 브랜드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ource note"/>
          <p:cNvSpPr txBox="1"/>
          <p:nvPr/>
        </p:nvSpPr>
        <p:spPr>
          <a:xfrm>
            <a:off x="411480" y="45720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7A837D"/>
                </a:solidFill>
              </a:rPr>
              <a:t>주: 요금은 예정안이며 파일럿에서 검증 · 판매자 부담 예시: 월 100건 × 1.5만 원 가게 → 수수료 6만 원 + 유료 서비스 2.9만 원 = 월 8.9만 원 (거래액의 약 6%)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/>
          <p:nvPr>
            <p:ph idx="103" type="body" hasCustomPrompt="1"/>
          </p:nvPr>
        </p:nvSpPr>
        <p:spPr>
          <a:xfrm>
            <a:off x="41148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Vision  |  사업화 계획</a:t>
            </a:r>
            <a:endParaRPr lang="en-US" sz="1100" dirty="0"/>
          </a:p>
        </p:txBody>
      </p:sp>
      <p:sp>
        <p:nvSpPr>
          <p:cNvPr id="4" name="Text 3"/>
          <p:cNvSpPr/>
          <p:nvPr>
            <p:ph idx="104" type="title" hasCustomPrompt="1"/>
          </p:nvPr>
        </p:nvSpPr>
        <p:spPr>
          <a:xfrm>
            <a:off x="411480" y="438912"/>
            <a:ext cx="8321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사업화 로드맵</a:t>
            </a:r>
            <a:endParaRPr lang="en-US" sz="22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566928" y="914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시장 1곳 파일럿으로 실제 구매·재구매를 먼저 검증한 뒤, 정부 지원사업과 투자로 단계적 확장</a:t>
            </a:r>
            <a:endParaRPr lang="en-US" sz="1300" dirty="0"/>
          </a:p>
        </p:txBody>
      </p:sp>
      <p:graphicFrame>
        <p:nvGraphicFramePr>
          <p:cNvPr id="1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536192"/>
          <a:ext cx="83210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377440"/>
                <a:gridCol w="2377440"/>
                <a:gridCol w="237744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구분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1단계 파일럿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2026.12~2027.2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B86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2단계 정식 출시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2027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F7F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3단계 확장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2028~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F7F5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421"/>
                          </a:solidFill>
                        </a:rPr>
                        <a:t>범위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전통시장 1곳 · 점포 2~3곳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입점 가게 30곳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수도권 120곳 → 300곳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421"/>
                          </a:solidFill>
                        </a:rPr>
                        <a:t>주요 과제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웹 프로토타입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수동 운영, 배달은 단지 한정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웹앱 출시 · 결제 연동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명절·제철 예약 오픈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앱 출시 · 발주 추천 도입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421"/>
                          </a:solidFill>
                        </a:rPr>
                        <a:t>자금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자기자본 300만 원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배달 지원 최대 20만 원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예비창업패키지 등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정부 지원사업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시드 투자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4D3A"/>
                          </a:solidFill>
                        </a:rPr>
                        <a:t>목표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4D3A"/>
                          </a:solidFill>
                        </a:rPr>
                        <a:t>유료 주문 100건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4D3A"/>
                          </a:solidFill>
                        </a:rPr>
                        <a:t>월 주문 2,000건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4D3A"/>
                          </a:solidFill>
                        </a:rPr>
                        <a:t>3년차 거래액 54억 원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</a:tr>
            </a:tbl>
          </a:graphicData>
        </a:graphic>
      </p:graphicFrame>
      <p:sp>
        <p:nvSpPr>
          <p:cNvPr id="7" name="pilot kpi band"/>
          <p:cNvSpPr/>
          <p:nvPr/>
        </p:nvSpPr>
        <p:spPr>
          <a:xfrm>
            <a:off x="411480" y="3749040"/>
            <a:ext cx="8321040" cy="768096"/>
          </a:xfrm>
          <a:prstGeom prst="rect">
            <a:avLst/>
          </a:prstGeom>
          <a:solidFill>
            <a:srgbClr val="F2F4F2"/>
          </a:solidFill>
          <a:ln w="12700">
            <a:solidFill>
              <a:srgbClr val="F2F4F2"/>
            </a:solidFill>
            <a:prstDash val="solid"/>
          </a:ln>
        </p:spPr>
      </p:sp>
      <p:sp>
        <p:nvSpPr>
          <p:cNvPr id="8" name="pilot kpi title"/>
          <p:cNvSpPr txBox="1"/>
          <p:nvPr/>
        </p:nvSpPr>
        <p:spPr>
          <a:xfrm>
            <a:off x="594360" y="37856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D3A"/>
                </a:solidFill>
              </a:rPr>
              <a:t>파일럿 검증 지표</a:t>
            </a:r>
            <a:endParaRPr lang="en-US" sz="1200" dirty="0"/>
          </a:p>
        </p:txBody>
      </p:sp>
      <p:sp>
        <p:nvSpPr>
          <p:cNvPr id="9" name="pilot kpi list"/>
          <p:cNvSpPr txBox="1"/>
          <p:nvPr/>
        </p:nvSpPr>
        <p:spPr>
          <a:xfrm>
            <a:off x="594360" y="4041648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421"/>
                </a:solidFill>
              </a:rPr>
              <a:t>①  유료 주문 수 · 고객 수      ②  30일 재구매율      ③  손질 옵션 선택률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421"/>
                </a:solidFill>
              </a:rPr>
              <a:t>④  배달 선택률 · 배달 1건당 실제 비용      ⑤  주문당 운영 시간 · 등록 오류율</a:t>
            </a:r>
            <a:endParaRPr lang="en-US" sz="1150" dirty="0"/>
          </a:p>
        </p:txBody>
      </p:sp>
      <p:sp>
        <p:nvSpPr>
          <p:cNvPr id="10" name="source note"/>
          <p:cNvSpPr txBox="1"/>
          <p:nvPr/>
        </p:nvSpPr>
        <p:spPr>
          <a:xfrm>
            <a:off x="411480" y="45720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7A837D"/>
                </a:solidFill>
              </a:rPr>
              <a:t>주: 2026년 예비창업패키지는 1단계 2천만 원 지원 후 중간평가로 추가 지원(평균 약 4천만 원) · 2027년 공고 조건 확인 필요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/>
          <p:nvPr>
            <p:ph idx="103" type="body" hasCustomPrompt="1"/>
          </p:nvPr>
        </p:nvSpPr>
        <p:spPr>
          <a:xfrm>
            <a:off x="41148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Vision  |  성장 가능성</a:t>
            </a:r>
            <a:endParaRPr lang="en-US" sz="1100" dirty="0"/>
          </a:p>
        </p:txBody>
      </p:sp>
      <p:sp>
        <p:nvSpPr>
          <p:cNvPr id="4" name="Text 3"/>
          <p:cNvSpPr/>
          <p:nvPr>
            <p:ph idx="104" type="title" hasCustomPrompt="1"/>
          </p:nvPr>
        </p:nvSpPr>
        <p:spPr>
          <a:xfrm>
            <a:off x="411480" y="438912"/>
            <a:ext cx="8321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3년 목표 및 확장 계획</a:t>
            </a:r>
            <a:endParaRPr lang="en-US" sz="22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566928" y="914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3년차 거래액 54억 원·매출 약 2.6억 원을 목표로, 첫 시장에서 재구매와 운영비를 확인한 뒤 확장</a:t>
            </a:r>
            <a:endParaRPr lang="en-US" sz="1300" dirty="0"/>
          </a:p>
        </p:txBody>
      </p:sp>
      <p:graphicFrame>
        <p:nvGraphicFramePr>
          <p:cNvPr id="6" name="gmv chart" descr=""/>
          <p:cNvGraphicFramePr/>
          <p:nvPr/>
        </p:nvGraphicFramePr>
        <p:xfrm>
          <a:off x="320040" y="1517904"/>
          <a:ext cx="411480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revenue box"/>
          <p:cNvSpPr/>
          <p:nvPr/>
        </p:nvSpPr>
        <p:spPr>
          <a:xfrm>
            <a:off x="411480" y="3749040"/>
            <a:ext cx="4023360" cy="749808"/>
          </a:xfrm>
          <a:prstGeom prst="rect">
            <a:avLst/>
          </a:prstGeom>
          <a:solidFill>
            <a:srgbClr val="F2F4F2"/>
          </a:solidFill>
          <a:ln w="12700">
            <a:solidFill>
              <a:srgbClr val="F2F4F2"/>
            </a:solidFill>
            <a:prstDash val="solid"/>
          </a:ln>
        </p:spPr>
      </p:sp>
      <p:sp>
        <p:nvSpPr>
          <p:cNvPr id="8" name="revenue text"/>
          <p:cNvSpPr txBox="1"/>
          <p:nvPr/>
        </p:nvSpPr>
        <p:spPr>
          <a:xfrm>
            <a:off x="548640" y="3767328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D3A"/>
                </a:solidFill>
              </a:rPr>
              <a:t>3년차 매출 목표 약 2.6억 원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421"/>
                </a:solidFill>
              </a:rPr>
              <a:t>수수료 2.2 + 판매자 서비스 0.4 (억 원), 배달비 제외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421"/>
                </a:solidFill>
              </a:rPr>
              <a:t>보수 시나리오(가게당 월 약 77건) 약 2.1억 원</a:t>
            </a:r>
            <a:endParaRPr lang="en-US" sz="1200" dirty="0"/>
          </a:p>
        </p:txBody>
      </p:sp>
      <p:sp>
        <p:nvSpPr>
          <p:cNvPr id="9" name="expand title"/>
          <p:cNvSpPr txBox="1"/>
          <p:nvPr/>
        </p:nvSpPr>
        <p:spPr>
          <a:xfrm>
            <a:off x="4754880" y="15727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D3A"/>
                </a:solidFill>
              </a:rPr>
              <a:t>확장 계획</a:t>
            </a:r>
            <a:endParaRPr lang="en-US" sz="1200" dirty="0"/>
          </a:p>
        </p:txBody>
      </p:sp>
      <p:graphicFrame>
        <p:nvGraphicFramePr>
          <p:cNvPr id="1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883664"/>
          <a:ext cx="39776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7889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421"/>
                          </a:solidFill>
                        </a:rPr>
                        <a:t>확장 조건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첫 시장의 재구매·운영비 확인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421"/>
                          </a:solidFill>
                        </a:rPr>
                        <a:t>지역 확대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인접 시장·주거 단지 → 수도권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421"/>
                          </a:solidFill>
                        </a:rPr>
                        <a:t>품목 확대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나물 → 제철 농산물 전체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effect title"/>
          <p:cNvSpPr txBox="1"/>
          <p:nvPr/>
        </p:nvSpPr>
        <p:spPr>
          <a:xfrm>
            <a:off x="475488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D3A"/>
                </a:solidFill>
              </a:rPr>
              <a:t>기대 효과</a:t>
            </a:r>
            <a:endParaRPr lang="en-US" sz="1200" dirty="0"/>
          </a:p>
        </p:txBody>
      </p:sp>
      <p:sp>
        <p:nvSpPr>
          <p:cNvPr id="12" name="effect list"/>
          <p:cNvSpPr txBox="1"/>
          <p:nvPr/>
        </p:nvSpPr>
        <p:spPr>
          <a:xfrm>
            <a:off x="4754880" y="3511296"/>
            <a:ext cx="3977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421"/>
                </a:solidFill>
              </a:rPr>
              <a:t>전통시장 신규 고객 · 지역 상권 매출 증가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421"/>
                </a:solidFill>
              </a:rPr>
              <a:t>제철 재고 폐기 감소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421"/>
                </a:solidFill>
              </a:rPr>
              <a:t>바쁜 가구의 나물·채소 반찬 섭취 개선</a:t>
            </a:r>
            <a:endParaRPr lang="en-US" sz="1200" dirty="0"/>
          </a:p>
        </p:txBody>
      </p:sp>
      <p:sp>
        <p:nvSpPr>
          <p:cNvPr id="13" name="source note"/>
          <p:cNvSpPr txBox="1"/>
          <p:nvPr/>
        </p:nvSpPr>
        <p:spPr>
          <a:xfrm>
            <a:off x="411480" y="45720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7A837D"/>
                </a:solidFill>
              </a:rPr>
              <a:t>주: 재무 수치는 가정 기반 목표치 · 손익분기 시점은 파일럿 실측 후 재산정 (산식은 부록 1)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ing label"/>
          <p:cNvSpPr txBox="1"/>
          <p:nvPr/>
        </p:nvSpPr>
        <p:spPr>
          <a:xfrm>
            <a:off x="548640" y="548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2B3"/>
                </a:solidFill>
              </a:rPr>
              <a:t>마무리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나물로</a:t>
            </a:r>
            <a:endParaRPr lang="en-US" sz="3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5727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CE7E0"/>
                </a:solidFill>
              </a:rPr>
              <a:t>레시피에서 우리 동네 시장 장보기까지</a:t>
            </a:r>
            <a:endParaRPr lang="en-US" sz="1500" dirty="0"/>
          </a:p>
        </p:txBody>
      </p:sp>
      <p:sp>
        <p:nvSpPr>
          <p:cNvPr id="5" name="next steps label"/>
          <p:cNvSpPr txBox="1"/>
          <p:nvPr/>
        </p:nvSpPr>
        <p:spPr>
          <a:xfrm>
            <a:off x="548640" y="2331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C2B3"/>
                </a:solidFill>
              </a:rPr>
              <a:t>다음 단계</a:t>
            </a:r>
            <a:endParaRPr lang="en-US" sz="1200" dirty="0"/>
          </a:p>
        </p:txBody>
      </p:sp>
      <p:sp>
        <p:nvSpPr>
          <p:cNvPr id="6" name="step box 01"/>
          <p:cNvSpPr/>
          <p:nvPr/>
        </p:nvSpPr>
        <p:spPr>
          <a:xfrm>
            <a:off x="548640" y="2651760"/>
            <a:ext cx="2560320" cy="1280160"/>
          </a:xfrm>
          <a:prstGeom prst="rect">
            <a:avLst/>
          </a:prstGeom>
          <a:solidFill>
            <a:srgbClr val="214A39"/>
          </a:solidFill>
          <a:ln w="12700">
            <a:solidFill>
              <a:srgbClr val="214A39"/>
            </a:solidFill>
            <a:prstDash val="solid"/>
          </a:ln>
        </p:spPr>
      </p:sp>
      <p:sp>
        <p:nvSpPr>
          <p:cNvPr id="7" name="step num 01"/>
          <p:cNvSpPr txBox="1"/>
          <p:nvPr/>
        </p:nvSpPr>
        <p:spPr>
          <a:xfrm>
            <a:off x="731520" y="2743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8" name="step head 01"/>
          <p:cNvSpPr txBox="1"/>
          <p:nvPr/>
        </p:nvSpPr>
        <p:spPr>
          <a:xfrm>
            <a:off x="1298448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고객 인터뷰</a:t>
            </a:r>
            <a:endParaRPr lang="en-US" sz="1400" dirty="0"/>
          </a:p>
        </p:txBody>
      </p:sp>
      <p:sp>
        <p:nvSpPr>
          <p:cNvPr id="9" name="step desc 01"/>
          <p:cNvSpPr txBox="1"/>
          <p:nvPr/>
        </p:nvSpPr>
        <p:spPr>
          <a:xfrm>
            <a:off x="731520" y="32004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CC"/>
                </a:solidFill>
              </a:rPr>
              <a:t>맞벌이·1인 가구 10명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7D6CC"/>
                </a:solidFill>
              </a:rPr>
              <a:t>프로토타입으로 사용성 확인</a:t>
            </a:r>
            <a:endParaRPr lang="en-US" sz="1150" dirty="0"/>
          </a:p>
        </p:txBody>
      </p:sp>
      <p:sp>
        <p:nvSpPr>
          <p:cNvPr id="10" name="step box 02"/>
          <p:cNvSpPr/>
          <p:nvPr/>
        </p:nvSpPr>
        <p:spPr>
          <a:xfrm>
            <a:off x="3246120" y="2651760"/>
            <a:ext cx="2560320" cy="1280160"/>
          </a:xfrm>
          <a:prstGeom prst="rect">
            <a:avLst/>
          </a:prstGeom>
          <a:solidFill>
            <a:srgbClr val="214A39"/>
          </a:solidFill>
          <a:ln w="12700">
            <a:solidFill>
              <a:srgbClr val="214A39"/>
            </a:solidFill>
            <a:prstDash val="solid"/>
          </a:ln>
        </p:spPr>
      </p:sp>
      <p:sp>
        <p:nvSpPr>
          <p:cNvPr id="11" name="step num 02"/>
          <p:cNvSpPr txBox="1"/>
          <p:nvPr/>
        </p:nvSpPr>
        <p:spPr>
          <a:xfrm>
            <a:off x="3429000" y="2743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2" name="step head 02"/>
          <p:cNvSpPr txBox="1"/>
          <p:nvPr/>
        </p:nvSpPr>
        <p:spPr>
          <a:xfrm>
            <a:off x="3995928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파일럿</a:t>
            </a:r>
            <a:endParaRPr lang="en-US" sz="1400" dirty="0"/>
          </a:p>
        </p:txBody>
      </p:sp>
      <p:sp>
        <p:nvSpPr>
          <p:cNvPr id="13" name="step desc 02"/>
          <p:cNvSpPr txBox="1"/>
          <p:nvPr/>
        </p:nvSpPr>
        <p:spPr>
          <a:xfrm>
            <a:off x="3429000" y="32004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CC"/>
                </a:solidFill>
              </a:rPr>
              <a:t>2026.12~2027.2, 시장 1곳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7D6CC"/>
                </a:solidFill>
              </a:rPr>
              <a:t>유료 주문 100건 · 배달 비용 확인</a:t>
            </a:r>
            <a:endParaRPr lang="en-US" sz="1150" dirty="0"/>
          </a:p>
        </p:txBody>
      </p:sp>
      <p:sp>
        <p:nvSpPr>
          <p:cNvPr id="14" name="step box 03"/>
          <p:cNvSpPr/>
          <p:nvPr/>
        </p:nvSpPr>
        <p:spPr>
          <a:xfrm>
            <a:off x="5943600" y="2651760"/>
            <a:ext cx="2560320" cy="1280160"/>
          </a:xfrm>
          <a:prstGeom prst="rect">
            <a:avLst/>
          </a:prstGeom>
          <a:solidFill>
            <a:srgbClr val="214A39"/>
          </a:solidFill>
          <a:ln w="12700">
            <a:solidFill>
              <a:srgbClr val="214A39"/>
            </a:solidFill>
            <a:prstDash val="solid"/>
          </a:ln>
        </p:spPr>
      </p:sp>
      <p:sp>
        <p:nvSpPr>
          <p:cNvPr id="15" name="step num 03"/>
          <p:cNvSpPr txBox="1"/>
          <p:nvPr/>
        </p:nvSpPr>
        <p:spPr>
          <a:xfrm>
            <a:off x="6126480" y="2743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16" name="step head 03"/>
          <p:cNvSpPr txBox="1"/>
          <p:nvPr/>
        </p:nvSpPr>
        <p:spPr>
          <a:xfrm>
            <a:off x="6693408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팀 · 지원사업</a:t>
            </a:r>
            <a:endParaRPr lang="en-US" sz="1400" dirty="0"/>
          </a:p>
        </p:txBody>
      </p:sp>
      <p:sp>
        <p:nvSpPr>
          <p:cNvPr id="17" name="step desc 03"/>
          <p:cNvSpPr txBox="1"/>
          <p:nvPr/>
        </p:nvSpPr>
        <p:spPr>
          <a:xfrm>
            <a:off x="6126480" y="32004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CC"/>
                </a:solidFill>
              </a:rPr>
              <a:t>개발·콘텐츠 파트너 모집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7D6CC"/>
                </a:solidFill>
              </a:rPr>
              <a:t>2027 정부 지원사업 신청</a:t>
            </a:r>
            <a:endParaRPr lang="en-US" sz="1150" dirty="0"/>
          </a:p>
        </p:txBody>
      </p:sp>
      <p:sp>
        <p:nvSpPr>
          <p:cNvPr id="18" name="thanks"/>
          <p:cNvSpPr txBox="1"/>
          <p:nvPr/>
        </p:nvSpPr>
        <p:spPr>
          <a:xfrm>
            <a:off x="548640" y="42245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감사합니다</a:t>
            </a:r>
            <a:endParaRPr lang="en-US" sz="1800" dirty="0"/>
          </a:p>
        </p:txBody>
      </p:sp>
      <p:sp>
        <p:nvSpPr>
          <p:cNvPr id="19" name="presenter"/>
          <p:cNvSpPr txBox="1"/>
          <p:nvPr/>
        </p:nvSpPr>
        <p:spPr>
          <a:xfrm>
            <a:off x="5394960" y="42245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9C2B3"/>
                </a:solidFill>
              </a:rPr>
              <a:t>○○학과  ○○○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/>
          <p:nvPr>
            <p:ph idx="103" type="body" hasCustomPrompt="1"/>
          </p:nvPr>
        </p:nvSpPr>
        <p:spPr>
          <a:xfrm>
            <a:off x="41148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부록</a:t>
            </a:r>
            <a:endParaRPr lang="en-US" sz="1100" dirty="0"/>
          </a:p>
        </p:txBody>
      </p:sp>
      <p:sp>
        <p:nvSpPr>
          <p:cNvPr id="4" name="Text 3"/>
          <p:cNvSpPr/>
          <p:nvPr>
            <p:ph idx="104" type="title" hasCustomPrompt="1"/>
          </p:nvPr>
        </p:nvSpPr>
        <p:spPr>
          <a:xfrm>
            <a:off x="411480" y="438912"/>
            <a:ext cx="8321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부록 1. 수치 산출 근거</a:t>
            </a:r>
            <a:endParaRPr lang="en-US" sz="22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566928" y="914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모든 재무 수치는 가정 기반 추정치이며, 파일럿 실측 후 갱신함</a:t>
            </a:r>
            <a:endParaRPr lang="en-US" sz="1300" dirty="0"/>
          </a:p>
        </p:txBody>
      </p:sp>
      <p:graphicFrame>
        <p:nvGraphicFramePr>
          <p:cNvPr id="1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536192"/>
          <a:ext cx="83210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4572000"/>
                <a:gridCol w="17830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산식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값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4D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목표 시장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</a:rPr>
                        <a:t>28.7조 원 × 수도권 40% × 채소·나물 15%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약 1.7조 원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3년차 거래액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</a:rPr>
                        <a:t>입점 300곳 × 월 100건(일반·명절 예약) × 15,000원 × 12개월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54억 원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중개 수수료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</a:rPr>
                        <a:t>54억 원 × 4% (배달비 제외, 면제·할인 전)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약 2.2억 원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판매자 유료 서비스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</a:rPr>
                        <a:t>120곳 × 월 29,000원 × 12개월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약 0.4억 원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4D3A"/>
                          </a:solidFill>
                        </a:rPr>
                        <a:t>3년차 매출 목표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</a:rPr>
                        <a:t>수수료 + 판매자 유료 서비스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E4D3A"/>
                          </a:solidFill>
                        </a:rPr>
                        <a:t>약 2.6억 원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보수 시나리오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</a:rPr>
                        <a:t>거래액 41.4억 원(가게당 월 약 77건) × 4% + 판매자 서비스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4A524D"/>
                          </a:solidFill>
                        </a:rPr>
                        <a:t>약 2.1억 원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지자체·제휴 (확장)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</a:rPr>
                        <a:t>계약 확보 시 추가하는 확장 시나리오 (미검증, 기본 목표에서 제외)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4A524D"/>
                          </a:solidFill>
                        </a:rPr>
                        <a:t>+3.1억 원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주문당 수수료 수입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</a:rPr>
                        <a:t>15,000원 × 4% (변동비 차감 전, 공헌이익 아님)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600원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배달비 (시험 요금)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</a:rPr>
                        <a:t>매출 목표 제외 / 차액 최대 20만 원 지원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4A524D"/>
                          </a:solidFill>
                        </a:rPr>
                        <a:t>3,500원/건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LLM 호출비 (3년차)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</a:rPr>
                        <a:t>월 약 5.8만 건 기준, 캐시 적용 / 미적용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월 약 72만~99만 원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ource note"/>
          <p:cNvSpPr txBox="1"/>
          <p:nvPr/>
        </p:nvSpPr>
        <p:spPr>
          <a:xfrm>
            <a:off x="411480" y="45720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7A837D"/>
                </a:solidFill>
              </a:rPr>
              <a:t>주: LLM 호출비는 Claude API 가격표(2026.10, 1달러=1,400원) 기준, 재시도·서버·검수 별도 / 배달대행 요금은 견적으로 확인 (2024.10 일부 업체 5,400~5,800원 인상 예정 보도)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/>
          <p:nvPr>
            <p:ph idx="103" type="body" hasCustomPrompt="1"/>
          </p:nvPr>
        </p:nvSpPr>
        <p:spPr>
          <a:xfrm>
            <a:off x="41148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부록</a:t>
            </a:r>
            <a:endParaRPr lang="en-US" sz="1100" dirty="0"/>
          </a:p>
        </p:txBody>
      </p:sp>
      <p:sp>
        <p:nvSpPr>
          <p:cNvPr id="4" name="Text 3"/>
          <p:cNvSpPr/>
          <p:nvPr>
            <p:ph idx="104" type="title" hasCustomPrompt="1"/>
          </p:nvPr>
        </p:nvSpPr>
        <p:spPr>
          <a:xfrm>
            <a:off x="411480" y="438912"/>
            <a:ext cx="8321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부록 2. 참고 자료</a:t>
            </a:r>
            <a:endParaRPr lang="en-US" sz="22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566928" y="914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수치는 2026.10 웹 검색 기준 공개 통계·보도이며, 발표 전 원문 확인 권장</a:t>
            </a:r>
            <a:endParaRPr lang="en-US" sz="1300" dirty="0"/>
          </a:p>
        </p:txBody>
      </p:sp>
      <p:sp>
        <p:nvSpPr>
          <p:cNvPr id="6" name="ref head 통계 · 시장 · 연구"/>
          <p:cNvSpPr txBox="1"/>
          <p:nvPr/>
        </p:nvSpPr>
        <p:spPr>
          <a:xfrm>
            <a:off x="411480" y="15361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통계 · 시장 · 연구</a:t>
            </a:r>
            <a:endParaRPr lang="en-US" sz="1200" dirty="0"/>
          </a:p>
        </p:txBody>
      </p:sp>
      <p:sp>
        <p:nvSpPr>
          <p:cNvPr id="7" name="ref list 통계 · 시장 · 연구"/>
          <p:cNvSpPr txBox="1"/>
          <p:nvPr/>
        </p:nvSpPr>
        <p:spPr>
          <a:xfrm>
            <a:off x="411480" y="1847088"/>
            <a:ext cx="40690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050" u="sng" dirty="0">
                <a:solidFill>
                  <a:srgbClr val="1F2421"/>
                </a:solidFill>
                <a:hlinkClick r:id="rId1" invalidUrl="" action="" tgtFrame="" tooltip="https://www.newsis.com/view/NISX20260618_000367368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국가데이터처, 맞벌이 가구 현황 2025 하반기 (뉴시스)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050" u="sng" dirty="0">
                <a:solidFill>
                  <a:srgbClr val="1F2421"/>
                </a:solidFill>
                <a:hlinkClick r:id="rId2" invalidUrl="" action="" tgtFrame="" tooltip="https://www.ytn.co.kr/_ln/0102_20260728132444508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국가데이터처, 2025 인구주택총조사 1인 가구 (YTN)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050" u="sng" dirty="0">
                <a:solidFill>
                  <a:srgbClr val="1F2421"/>
                </a:solidFill>
                <a:hlinkClick r:id="rId3" invalidUrl="" action="" tgtFrame="" tooltip="https://www.newsis.com/view/NISX20250103_000302038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소상공인시장진흥공단, 전통시장 실태조사 2023 (뉴시스)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050" u="sng" dirty="0">
                <a:solidFill>
                  <a:srgbClr val="1F2421"/>
                </a:solidFill>
                <a:hlinkClick r:id="rId4" invalidUrl="" action="" tgtFrame="" tooltip="https://www.index.go.kr/unify/idx-info.do?idxCd=130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산림청, 2024년 임산물생산조사 (e-나라지표)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050" u="sng" dirty="0">
                <a:solidFill>
                  <a:srgbClr val="1F2421"/>
                </a:solidFill>
                <a:hlinkClick r:id="rId5" invalidUrl="" action="" tgtFrame="" tooltip="https://www.mt.co.kr/tech/2026/03/18/202603171442592565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머니투데이, 배민 전통시장 장보기 입점 성과 (2026.03.18)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050" u="sng" dirty="0">
                <a:solidFill>
                  <a:srgbClr val="1F2421"/>
                </a:solidFill>
                <a:hlinkClick r:id="rId6" invalidUrl="" action="" tgtFrame="" tooltip="https://koreascience.or.kr/article/JAKO201931765048406.pag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정유미(2019), 유아의 나이에 따른 편식 및 식습관 실태, 한국식생활문화학회지 34(5)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050" u="sng" dirty="0">
                <a:solidFill>
                  <a:srgbClr val="1F2421"/>
                </a:solidFill>
                <a:hlinkClick r:id="rId7" invalidUrl="" action="" tgtFrame="" tooltip="https://www.mfds.go.kr/webzine/201504/pdf/main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식품의약품안전처, 산나물과 독초 구별 안내 (웹진)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050" u="sng" dirty="0">
                <a:solidFill>
                  <a:srgbClr val="1F2421"/>
                </a:solidFill>
                <a:hlinkClick r:id="rId8" invalidUrl="" action="" tgtFrame="" tooltip="https://hanok.gongju.go.kr/cmm/fms/FileDown.do?atchFileId=FILE_0000127870Uc2bM&amp;fileSn=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중소벤처기업부 공고 제2026-143호, 예비창업패키지 수정공고</a:t>
            </a:r>
            <a:endParaRPr lang="en-US" sz="1050" dirty="0"/>
          </a:p>
        </p:txBody>
      </p:sp>
      <p:sp>
        <p:nvSpPr>
          <p:cNvPr id="8" name="ref head 경쟁 · 기술 · 자료"/>
          <p:cNvSpPr txBox="1"/>
          <p:nvPr/>
        </p:nvSpPr>
        <p:spPr>
          <a:xfrm>
            <a:off x="4663440" y="15361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경쟁 · 기술 · 자료</a:t>
            </a:r>
            <a:endParaRPr lang="en-US" sz="1200" dirty="0"/>
          </a:p>
        </p:txBody>
      </p:sp>
      <p:sp>
        <p:nvSpPr>
          <p:cNvPr id="9" name="ref list 경쟁 · 기술 · 자료"/>
          <p:cNvSpPr txBox="1"/>
          <p:nvPr/>
        </p:nvSpPr>
        <p:spPr>
          <a:xfrm>
            <a:off x="4663440" y="1847088"/>
            <a:ext cx="40690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9"/>
            </a:pPr>
            <a:r>
              <a:rPr lang="en-US" sz="1050" u="sng" dirty="0">
                <a:solidFill>
                  <a:srgbClr val="1F2421"/>
                </a:solidFill>
                <a:hlinkClick r:id="rId9" invalidUrl="" action="" tgtFrame="" tooltip="https://navercorp.com/media/pressReleasesDetail?seq=3420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네이버, 스마트플레이스 AI 리뷰 관리 · 톡톡 AI FAQ 발표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9"/>
            </a:pPr>
            <a:r>
              <a:rPr lang="en-US" sz="1050" dirty="0">
                <a:solidFill>
                  <a:srgbClr val="1F2421"/>
                </a:solidFill>
              </a:rPr>
              <a:t>쿠팡 · 컬리 · 어글리어스 · 당근 서비스 소개 (2026.10 확인, 자체 정리)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9"/>
            </a:pPr>
            <a:r>
              <a:rPr lang="en-US" sz="1050" u="sng" dirty="0">
                <a:solidFill>
                  <a:srgbClr val="1F2421"/>
                </a:solidFill>
                <a:hlinkClick r:id="rId10" invalidUrl="" action="" tgtFrame="" tooltip="https://biz.newdaily.co.kr/site/data/html/2024/10/07/2024100700114.amp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뉴데일리, 배달대행 기본료 인상 예정 보도 (2024.10.07)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9"/>
            </a:pPr>
            <a:r>
              <a:rPr lang="en-US" sz="1050" u="sng" dirty="0">
                <a:solidFill>
                  <a:srgbClr val="1F2421"/>
                </a:solidFill>
                <a:hlinkClick r:id="rId11" invalidUrl="" action="" tgtFrame="" tooltip="https://byline.network/2024/01/30_baeminsto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바이라인네트워크, 배민스토어 전통시장 합배송 (2024.01)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9"/>
            </a:pPr>
            <a:r>
              <a:rPr lang="en-US" sz="1050" u="sng" dirty="0">
                <a:solidFill>
                  <a:srgbClr val="1F2421"/>
                </a:solidFill>
                <a:hlinkClick r:id="rId12" invalidUrl="" action="" tgtFrame="" tooltip="https://www.insight.co.kr/news/57253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한국소비자단체협의회, 2026 추석 제수용품 조사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9"/>
            </a:pPr>
            <a:r>
              <a:rPr lang="en-US" sz="1050" u="sng" dirty="0">
                <a:solidFill>
                  <a:srgbClr val="1F2421"/>
                </a:solidFill>
                <a:hlinkClick r:id="rId13" invalidUrl="" action="" tgtFrame="" tooltip="https://platform.claude.com/docs/en/about-claude/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Anthropic, Claude API 가격표 (2026.10)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9"/>
            </a:pPr>
            <a:r>
              <a:rPr lang="en-US" sz="1050" u="sng" dirty="0">
                <a:solidFill>
                  <a:srgbClr val="1F2421"/>
                </a:solidFill>
                <a:hlinkClick r:id="rId14" invalidUrl="" action="" tgtFrame="" tooltip="https://github.com/microsoft/fluentui-emoj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아이콘 Fluent Emoji (MIT) · 글꼴 Pretendard (OFL)</a:t>
            </a:r>
            <a:endParaRPr lang="en-US" sz="1050" dirty="0"/>
          </a:p>
        </p:txBody>
      </p:sp>
      <p:sp>
        <p:nvSpPr>
          <p:cNvPr id="10" name="source note"/>
          <p:cNvSpPr txBox="1"/>
          <p:nvPr/>
        </p:nvSpPr>
        <p:spPr>
          <a:xfrm>
            <a:off x="411480" y="45720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7A837D"/>
                </a:solidFill>
              </a:rPr>
              <a:t>밑줄 친 항목은 원문 링크 · 전체 목록과 확인 메모는 04_레퍼런스_나물로.md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amullo">
  <a:themeElements>
    <a:clrScheme name="Namullo">
      <a:dk1>
        <a:srgbClr val="1F2421"/>
      </a:dk1>
      <a:lt1>
        <a:srgbClr val="FFFFFF"/>
      </a:lt1>
      <a:dk2>
        <a:srgbClr val="1E4D3A"/>
      </a:dk2>
      <a:lt2>
        <a:srgbClr val="F2F4F2"/>
      </a:lt2>
      <a:accent1>
        <a:srgbClr val="1E4D3A"/>
      </a:accent1>
      <a:accent2>
        <a:srgbClr val="3F7F5F"/>
      </a:accent2>
      <a:accent3>
        <a:srgbClr val="B8692B"/>
      </a:accent3>
      <a:accent4>
        <a:srgbClr val="7A837D"/>
      </a:accent4>
      <a:accent5>
        <a:srgbClr val="A8C8B4"/>
      </a:accent5>
      <a:accent6>
        <a:srgbClr val="D9DED9"/>
      </a:accent6>
      <a:hlink>
        <a:srgbClr val="1E4D3A"/>
      </a:hlink>
      <a:folHlink>
        <a:srgbClr val="3F7F5F"/>
      </a:folHlink>
    </a:clrScheme>
    <a:fontScheme name="Namullo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나물로 창업 아이템 발표</dc:title>
  <dc:subject>PptxGenJS Presentation</dc:subject>
  <dc:creator>나물로</dc:creator>
  <cp:lastModifiedBy>나물로</cp:lastModifiedBy>
  <cp:revision>1</cp:revision>
  <dcterms:created xsi:type="dcterms:W3CDTF">2026-10-31T12:40:35Z</dcterms:created>
  <dcterms:modified xsi:type="dcterms:W3CDTF">2026-10-31T12:40:35Z</dcterms:modified>
</cp:coreProperties>
</file>