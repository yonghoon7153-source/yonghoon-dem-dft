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c924725b-0c95-e479-d338-7f676a489a74}">
          <p14:sldIdLst>
            <p14:sldId id="256"/>
          </p14:sldIdLst>
        </p14:section>
        <p14:section name="Problem" id="{2967e55f-1a90-1d3d-32a5-e2fc5053f87f}">
          <p14:sldIdLst>
            <p14:sldId id="257"/>
            <p14:sldId id="258"/>
          </p14:sldIdLst>
        </p14:section>
        <p14:section name="Solution" id="{fc1665e9-85c3-8dc1-1a04-e3a139e4a094}">
          <p14:sldIdLst>
            <p14:sldId id="259"/>
            <p14:sldId id="260"/>
            <p14:sldId id="261"/>
          </p14:sldIdLst>
        </p14:section>
        <p14:section name="Business" id="{661df5cb-083f-052b-e464-199c9f36a2b8}">
          <p14:sldIdLst>
            <p14:sldId id="262"/>
            <p14:sldId id="263"/>
            <p14:sldId id="264"/>
          </p14:sldIdLst>
        </p14:section>
        <p14:section name="Vision" id="{7a13cda0-4cd3-f1e6-6e76-bace6dd45e6f}">
          <p14:sldIdLst>
            <p14:sldId id="265"/>
            <p14:sldId id="266"/>
          </p14:sldIdLst>
        </p14:section>
        <p14:section name="마무리" id="{c36595ba-753e-083a-88f2-1a9365befbdc}">
          <p14:sldIdLst>
            <p14:sldId id="267"/>
          </p14:sldIdLst>
        </p14:section>
        <p14:section name="부록" id="{59e9133b-0423-1f85-3ba1-e48050d97752}">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421"/>
                </a:solidFill>
                <a:latin typeface="+mn-lt"/>
              </a:defRPr>
            </a:pPr>
            <a:r>
              <a:rPr sz="1200" b="0" i="0" u="none" strike="noStrike">
                <a:solidFill>
                  <a:srgbClr val="1F2421"/>
                </a:solidFill>
                <a:latin typeface="+mn-lt"/>
              </a:rPr>
              <a:t>연도별 목표 거래액 (억 원)</a:t>
            </a:r>
          </a:p>
        </c:rich>
      </c:tx>
      <c:layout/>
      <c:overlay val="0"/>
    </c:title>
    <c:autoTitleDeleted val="0"/>
    <c:plotArea>
      <c:layout/>
      <c:barChart>
        <c:barDir val="col"/>
        <c:grouping val="clustered"/>
        <c:varyColors val="0"/>
        <c:ser>
          <c:idx val="0"/>
          <c:order val="0"/>
          <c:tx>
            <c:strRef>
              <c:f>Sheet1!$B$1</c:f>
              <c:strCache>
                <c:ptCount val="1"/>
                <c:pt idx="0">
                  <c:v>거래액</c:v>
                </c:pt>
              </c:strCache>
            </c:strRef>
          </c:tx>
          <c:spPr>
            <a:solidFill>
              <a:srgbClr val="A8C8B4"/>
            </a:solidFill>
            <a:effectLst/>
          </c:spPr>
          <c:invertIfNegative val="0"/>
          <c:dLbls>
            <c:numFmt formatCode="General" sourceLinked="0"/>
            <c:txPr>
              <a:bodyPr/>
              <a:lstStyle/>
              <a:p>
                <a:pPr>
                  <a:defRPr b="0" i="0" strike="noStrike" sz="1200" u="none">
                    <a:solidFill>
                      <a:srgbClr val="1F2421"/>
                    </a:solidFill>
                    <a:latin typeface="+mn-lt"/>
                  </a:defRPr>
                </a:pPr>
              </a:p>
            </c:txPr>
            <c:showLegendKey val="0"/>
            <c:showVal val="1"/>
            <c:showCatName val="0"/>
            <c:showSerName val="0"/>
            <c:showPercent val="0"/>
            <c:showBubbleSize val="0"/>
            <c:showLeaderLines val="0"/>
          </c:dLbls>
          <c:dPt>
            <c:idx val="0"/>
            <c:invertIfNegative val="0"/>
            <c:bubble3D val="0"/>
            <c:spPr>
              <a:solidFill>
                <a:srgbClr val="A8C8B4"/>
              </a:solidFill>
              <a:effectLst/>
            </c:spPr>
          </c:dPt>
          <c:dPt>
            <c:idx val="1"/>
            <c:invertIfNegative val="0"/>
            <c:bubble3D val="0"/>
            <c:spPr>
              <a:solidFill>
                <a:srgbClr val="3F7F5F"/>
              </a:solidFill>
              <a:effectLst/>
            </c:spPr>
          </c:dPt>
          <c:dPt>
            <c:idx val="2"/>
            <c:invertIfNegative val="0"/>
            <c:bubble3D val="0"/>
            <c:spPr>
              <a:solidFill>
                <a:srgbClr val="1E4D3A"/>
              </a:solidFill>
              <a:effectLst/>
            </c:spPr>
          </c:dPt>
          <c:cat>
            <c:multiLvlStrRef>
              <c:f>Sheet1!$A$2:$A$4</c:f>
              <c:multiLvlStrCache>
                <c:ptCount val="3"/>
                <c:lvl>
                  <c:pt idx="0">
                    <c:v>1년차</c:v>
                  </c:pt>
                  <c:pt idx="1">
                    <c:v>2년차</c:v>
                  </c:pt>
                  <c:pt idx="2">
                    <c:v>3년차</c:v>
                  </c:pt>
                </c:lvl>
              </c:multiLvlStrCache>
            </c:multiLvlStrRef>
          </c:cat>
          <c:val>
            <c:numRef>
              <c:f>Sheet1!$B$2:$B$4</c:f>
              <c:numCache>
                <c:formatCode>General</c:formatCode>
                <c:ptCount val="3"/>
                <c:pt idx="0">
                  <c:v>2.5</c:v>
                </c:pt>
                <c:pt idx="1">
                  <c:v>15</c:v>
                </c:pt>
                <c:pt idx="2">
                  <c:v>54</c:v>
                </c:pt>
              </c:numCache>
            </c:numRef>
          </c:val>
        </c:ser>
        <c:dLbls>
          <c:numFmt formatCode="General" sourceLinked="0"/>
          <c:txPr>
            <a:bodyPr/>
            <a:lstStyle/>
            <a:p>
              <a:pPr>
                <a:defRPr b="0" i="0" strike="noStrike" sz="1200" u="none">
                  <a:solidFill>
                    <a:srgbClr val="1F242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9C1BB"/>
            </a:solidFill>
            <a:prstDash val="solid"/>
            <a:round/>
          </a:ln>
        </c:spPr>
        <c:txPr>
          <a:bodyPr/>
          <a:lstStyle/>
          <a:p>
            <a:pPr>
              <a:defRPr sz="1200" b="0" i="0" u="none" strike="noStrike">
                <a:solidFill>
                  <a:srgbClr val="4A524D"/>
                </a:solidFill>
                <a:latin typeface="+mn-lt"/>
              </a:defRPr>
            </a:pPr>
            <a:endParaRPr lang="en-US"/>
          </a:p>
        </c:txPr>
        <c:crossAx val="2094734552"/>
        <c:crosses val="autoZero"/>
        <c:auto val="1"/>
        <c:lblAlgn val="ctr"/>
        <c:noMultiLvlLbl val="1"/>
      </c:catAx>
      <c:valAx>
        <c:axId val="2094734552"/>
        <c:scaling>
          <c:orientation val="minMax"/>
          <c:max val="6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837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[0:00–0:24] 안녕하세요. 오늘 발표할 창업 아이템은 나물로입니다. 나물로는 레시피를 고른 뒤 필요한 나물을 동네 가게에 주문하고 찾아갈 수 있는 서비스입니다. 온라인으로 주문하고 가게에서 찾아가는 방식이라, 흔히 O2O 서비스라고 부릅니다. 문제, 해결 방안, 사업성, 향후 계획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[0:24–1:22] 먼저 고객 쪽 문제입니다. 처음에는 전통시장 근처에 살면서 아이를 키우는 맞벌이 가정을 대상으로 생각했습니다. 18세 미만 자녀를 둔 부부 가구 가운데 맞벌이 비율은 작년에 60.4%로, 처음 60%를 넘었습니다. 여섯 시에 퇴근한 부모가 일곱 시 전에 아이 저녁을 차려야 하는 상황을 떠올리시면 됩니다. 장을 보고 요리할 시간이 부족하고, 아이가 채소 반찬을 잘 먹지 않아 메뉴 고르기도 어렵습니다. 나물은 다듬고 데치는 손질이 번거롭고, 마트나 온라인몰은 한 단, 한 봉지 단위라 조금만 사기도 불편합니다. 대구 지역 유아 86명을 조사한 연구에서도 반찬류를 꺼리는 경향이 나타났습니다. 그래서 무엇을 어디서 사서 어떻게 해 먹을지를 한 번에 알려 주는 서비스가 필요하다고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[1:22–2:13] 다음은 판매자 쪽입니다. 전국 전통시장은 약 1,400곳, 연매출은 28.7조 원 규모입니다. 배민 전통시장 장보기에 입점한 점포의 매출이 1년 사이 196% 늘었다는 보도를 보면, 시장 상품을 온라인으로 사려는 수요는 있다고 판단했습니다. 다만 상인이 상품을 올리고 주문까지 직접 관리하려면 일이 꽤 늘어날 것으로 봤습니다. 손질해서 팔면 값을 더 받을 수 있는데도 이를 알릴 방법이 마땅치 않고, 제철에는 물량이 몰려 재고 부담도 클 것으로 예상합니다. 이 부분은 아직 가설이라서, 시장 상인 인터뷰로 실제 부담을 확인하려고 합니다. 참고로 산나물 생산액은 2024년에 전년보다 9.3% 줄었습니다.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[2:13–2:59] 그래서 나물로는 세 단계로 서비스를 제공합니다. 첫째, 제철 나물 정보와 손질법, 레시피를 보여 주고, 아이가 잘 먹는 메뉴를 따로 추천합니다. 둘째, 레시피 재료 가운데 집에 없는 것만 골라 장바구니에 담습니다. 셋째, 반경 3km 안의 전통시장, 로컬푸드 매장, 반찬가게 중 한 곳을 골라 픽업 시간을 예약합니다. 손질이나 데침을 원하면 매장에서 추가 요금을 받고 처리해 주고, 매주 제철 나물을 받는 정기구독 상품도 함께 운영할 계획입니다. 고객은 레시피를 보다가 바로 주문까지 할 수 있고, 판매자는 따로 배송하지 않고 매장 픽업으로 판매할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[2:59–3:51] AI는 세 가지 업무에 적용하려고 합니다. 첫째는 고객용 레시피 추천입니다. 아이 나이나 집에 있는 재료를 입력하면, 근처 매장 재고로 만들 수 있는 반찬을 추천합니다. 둘째는 판매자용 상품 등록입니다. 사장님이 평소처럼 참나물 스무 단, 한 단 3,500원이라고 메시지를 보내면, AI가 품목과 수량, 가격으로 정리하고, 사장님이 확인을 눌러야 앱에 올라갑니다. 셋째는 발주량 추천과 마감 할인인데, 이 기능은 주문 데이터가 쌓인 뒤에 도입할 계획입니다. 앞의 두 기능은 시연 화면까지 만들어 두었고, 화면의 응답과 매장, 가격은 예시 데이터입니다. 또 안전을 위해 AI가 야생에서 캔 식물의 식용 여부는 판단하지 않도록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[3:51–4:32] 웹 프로토타입으로 사용 흐름을 보여 드리겠습니다. 맞벌이 부모가 다섯 살 아이와 먹을 순한 반찬을 물으면, 추천 메뉴 세 가지가 나옵니다. 참나물 레시피를 보고 재료를 담은 뒤, 600미터 떨어진 시장 가게에서 손질 옵션과 저녁 6시 픽업을 고릅니다. 판매자 화면에서는 들어온 주문을 확인하고 접수합니다. 추천 확인부터 예약, 판매자 접수까지가 한 흐름으로 이어지도록 만들었습니다. 시연 속 AI 응답과 주문 데이터는 예시이고, 실제 결제와 알림 연동은 파일럿에서 검증하겠습니다.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[4:32–5:14] 다음은 시장 규모입니다. 전통시장 전체 매출 28.7조 원에서 수도권 비중 40%와 채소, 나물류 비중 15%를 가정해, 1차 목표 시장을 약 1.7조 원으로 잡았습니다. 온라인 식품 거래와는 겹치는 부분이 있어서, 전통시장 매출만 기준으로 삼았습니다. 수도권과 품목 비중은 공개 통계로 보완하고, 파일럿에서는 참여 점포의 나물 매출과 주문 가능성을 확인하겠습니다. 3년 차 목표 거래액은 입점 매장 300곳이 한 달에 100건씩, 평균 1만 5천 원 주문을 받는다고 가정해 54억 원으로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[5:14–5:58] 경쟁 서비스를 보면, 쿠팡과 컬리는 전국 배송, 레시피 앱과 유튜브는 콘텐츠에 강하고, 배민과 네이버는 동네 가게 주문과 판매자 도구를 갖추고 있습니다. 나물로는 나물 요리를 고른 사람이 필요한 재료를 동네에서 손질까지 받아 살 수 있도록 만드는 데 집중했습니다. 손질과 데침 옵션은 판매자에게는 추가 매출이 되고, 고객에게는 조리 시간을 줄여 줍니다. 또 앱이 익숙하지 않은 상인도 메시지 한 줄로 상품을 올릴 수 있게 했습니다. 큰 플랫폼과 정면으로 경쟁하기보다, 상인들이 함께 쓸 수 있는 나물 전문 판매 채널로 자리 잡는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[5:58–6:47] 수익 모델은 네 가지입니다. 요금은 모두 예정안이고, 파일럿에서 검증할 계획입니다. 기본은 주문 금액의 4% 중개 수수료와, 월 29,900원에서 39,900원인 정기구독입니다. 정기구독은 매주 정해진 요일에 매장에서 픽업하는 방식이라, 판매자도 물량을 미리 준비할 수 있습니다. 여기에 판매자가 선택하는 월 2만 9천 원의 유료 서비스와, 레시피 크리에이터 제휴 광고를 더합니다. 판매자 부담을 계산해 보면, 한 달에 100건을 파는 매장은 수수료와 유료 서비스를 합쳐 거래액의 약 6%를 냅니다. 입점을 늘리기 위해 전통시장 점포는 첫 6개월 동안 수수료를 받지 않겠습니다.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[6:47–7:32] 사업화는 세 단계로 진행합니다. 1단계는 올겨울, 주거 단지 근처 전통시장 한 곳의 점포 두세 곳과 함께하는 3개월 파일럿입니다. 자기자본 300만 원으로 시작합니다. 여기서 유료 주문 100건을 목표로, 30일 재구매율, 손질 옵션 선택률, 주문 한 건당 운영 시간을 측정해 사업성을 검증하겠습니다. 결과가 기대에 못 미치면 타깃 고객이나 가격을 바꿔 다시 검증하겠습니다. 2단계는 예비창업패키지 같은 정부 지원사업으로 웹앱을 정식 출시하고 입점 매장을 30곳으로 늘리는 것이고, 3단계는 시드 투자를 받아 수도권으로 확장하는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[7:32–8:09] 3년 차 목표는 거래액 54억 원, 매출 약 5억 원입니다. 지자체 사업이나 제휴 매출은 아직 계약 근거가 없어 목표에서 뺐고, 계약을 확보하면 그때 더하겠습니다. 숫자는 모두 가정이라, 파일럿이 끝나면 실제 데이터로 다시 계산하겠습니다. 이후에는 나물에서 제철 농산물 전체로 품목을 넓히고, 산지 직거래와 건조 나물 해외 판매로 확장하려고 합니다. 이를 통해 전통시장의 매출을 늘리고, 아이들이 채소 반찬을 더 쉽게 먹도록 돕는 것이 목표입니다.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[8:09–8:30] 정리하겠습니다. 나물로는 바쁜 맞벌이 가정에는 레시피와 동네 매장 픽업을, 전통시장 판매자에게는 온라인 판매 채널을 제공하는 서비스입니다. 먼저 시장 한 곳에서 사람들이 실제로 주문하고 다시 찾아오는지 확인해 보겠습니다. 들어 주셔서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발표하지 않음. 질의응답 때 근거로 보여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 발표하지 않음. 질의응답 때 근거로 보여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73A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83080"/>
            <a:ext cx="548640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51760"/>
            <a:ext cx="5669280" cy="457200"/>
          </a:xfrm>
          <a:prstGeom prst="rect">
            <a:avLst/>
          </a:prstGeom>
          <a:noFill/>
          <a:ln/>
        </p:spPr>
        <p:txBody>
          <a:bodyPr wrap="square" rtlCol="0"/>
          <a:lstStyle>
            <a:lvl1pPr indent="0" marL="0">
              <a:buNone/>
              <a:defRPr lang="en-US" sz="1700" dirty="0">
                <a:solidFill>
                  <a:srgbClr val="DCE7E0"/>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914400"/>
            <a:ext cx="8321040" cy="502920"/>
          </a:xfrm>
          <a:prstGeom prst="rect">
            <a:avLst/>
          </a:prstGeom>
          <a:solidFill>
            <a:srgbClr val="F2F4F2"/>
          </a:solidFill>
          <a:ln w="12700">
            <a:solidFill>
              <a:srgbClr val="F2F4F2"/>
            </a:solidFill>
            <a:prstDash val="solid"/>
          </a:ln>
        </p:spPr>
      </p:sp>
      <p:sp>
        <p:nvSpPr>
          <p:cNvPr id="3" name="Text 1"/>
          <p:cNvSpPr/>
          <p:nvPr/>
        </p:nvSpPr>
        <p:spPr>
          <a:xfrm>
            <a:off x="6949440" y="201168"/>
            <a:ext cx="1783080" cy="237744"/>
          </a:xfrm>
          <a:prstGeom prst="rect">
            <a:avLst/>
          </a:prstGeom>
          <a:noFill/>
          <a:ln/>
        </p:spPr>
        <p:txBody>
          <a:bodyPr wrap="square" lIns="0" tIns="0" rIns="0" bIns="0" rtlCol="0" anchor="ctr"/>
          <a:lstStyle/>
          <a:p>
            <a:pPr algn="r" indent="0" marL="0">
              <a:buNone/>
            </a:pPr>
            <a:r>
              <a:rPr lang="en-US" sz="900" b="1" spc="300" kern="0" dirty="0">
                <a:solidFill>
                  <a:srgbClr val="7A837D"/>
                </a:solidFill>
              </a:rPr>
              <a:t>NAMULLO</a:t>
            </a:r>
            <a:endParaRPr lang="en-US" sz="900" dirty="0"/>
          </a:p>
        </p:txBody>
      </p:sp>
      <p:sp>
        <p:nvSpPr>
          <p:cNvPr id="4" name="Text 2"/>
          <p:cNvSpPr/>
          <p:nvPr/>
        </p:nvSpPr>
        <p:spPr>
          <a:xfrm>
            <a:off x="6080760" y="4773168"/>
            <a:ext cx="2194560" cy="228600"/>
          </a:xfrm>
          <a:prstGeom prst="rect">
            <a:avLst/>
          </a:prstGeom>
          <a:noFill/>
          <a:ln/>
        </p:spPr>
        <p:txBody>
          <a:bodyPr wrap="square" lIns="0" tIns="0" rIns="0" bIns="0" rtlCol="0" anchor="ctr"/>
          <a:lstStyle/>
          <a:p>
            <a:pPr algn="r" indent="0" marL="0">
              <a:buNone/>
            </a:pPr>
            <a:r>
              <a:rPr lang="en-US" sz="900" dirty="0">
                <a:solidFill>
                  <a:srgbClr val="7A837D"/>
                </a:solidFill>
              </a:rPr>
              <a:t>나물로  |  창업 아이템 발표</a:t>
            </a:r>
            <a:endParaRPr lang="en-US" sz="900" dirty="0"/>
          </a:p>
        </p:txBody>
      </p:sp>
      <p:sp>
        <p:nvSpPr>
          <p:cNvPr id="5" name="Text 3"/>
          <p:cNvSpPr/>
          <p:nvPr>
            <p:ph idx="103" type="body" hasCustomPrompt="1"/>
          </p:nvPr>
        </p:nvSpPr>
        <p:spPr>
          <a:xfrm>
            <a:off x="411480" y="201168"/>
            <a:ext cx="5943600" cy="237744"/>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6" name="Text 3"/>
          <p:cNvSpPr/>
          <p:nvPr>
            <p:ph idx="104" type="title" hasCustomPrompt="1"/>
          </p:nvPr>
        </p:nvSpPr>
        <p:spPr>
          <a:xfrm>
            <a:off x="411480" y="438912"/>
            <a:ext cx="8321040" cy="420624"/>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7" name="Text 3"/>
          <p:cNvSpPr/>
          <p:nvPr>
            <p:ph idx="105" type="body" hasCustomPrompt="1"/>
          </p:nvPr>
        </p:nvSpPr>
        <p:spPr>
          <a:xfrm>
            <a:off x="566928" y="914400"/>
            <a:ext cx="8046720" cy="502920"/>
          </a:xfrm>
          <a:prstGeom prst="rect">
            <a:avLst/>
          </a:prstGeom>
          <a:noFill/>
          <a:ln/>
        </p:spPr>
        <p:txBody>
          <a:bodyPr wrap="square" rtlCol="0"/>
          <a:lstStyle>
            <a:lvl1pPr indent="0" marL="0">
              <a:buNone/>
              <a:defRPr lang="en-US" sz="1300" b="1" dirty="0">
                <a:solidFill>
                  <a:schemeClr val="tx1"/>
                </a:solidFill>
              </a:defRPr>
            </a:lvl1pPr>
          </a:lstStyle>
          <a:p>
            <a:pPr indent="0" marL="0">
              <a:buNone/>
            </a:pPr>
            <a:endParaRPr lang="en-US" sz="13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4773168"/>
            <a:ext cx="2194560" cy="228600"/>
          </a:xfrm>
          <a:prstGeom prst="rect">
            <a:avLst/>
          </a:prstGeom>
          <a:noFill/>
          <a:ln/>
        </p:spPr>
        <p:txBody>
          <a:bodyPr wrap="square" lIns="0" tIns="0" rIns="0" bIns="0" rtlCol="0" anchor="ctr"/>
          <a:lstStyle/>
          <a:p>
            <a:pPr algn="l" indent="0" marL="0">
              <a:buNone/>
            </a:pPr>
            <a:r>
              <a:rPr lang="en-US" sz="900" dirty="0">
                <a:solidFill>
                  <a:srgbClr val="7A837D"/>
                </a:solidFill>
              </a:rPr>
              <a:t>나물로  |  창업 아이템 발표</a:t>
            </a:r>
            <a:endParaRPr lang="en-US" sz="900" dirty="0"/>
          </a:p>
        </p:txBody>
      </p:sp>
      <p:sp>
        <p:nvSpPr>
          <p:cNvPr id="3" name="Text 1"/>
          <p:cNvSpPr/>
          <p:nvPr>
            <p:ph idx="101" type="body" hasCustomPrompt="1"/>
          </p:nvPr>
        </p:nvSpPr>
        <p:spPr>
          <a:xfrm>
            <a:off x="411480" y="201168"/>
            <a:ext cx="5486400" cy="237744"/>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11480" y="438912"/>
            <a:ext cx="5486400" cy="420624"/>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54864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73A2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8046720" cy="6858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572768"/>
            <a:ext cx="8046720" cy="411480"/>
          </a:xfrm>
          <a:prstGeom prst="rect">
            <a:avLst/>
          </a:prstGeom>
          <a:noFill/>
          <a:ln/>
        </p:spPr>
        <p:txBody>
          <a:bodyPr wrap="square" rtlCol="0"/>
          <a:lstStyle>
            <a:lvl1pPr indent="0" marL="0">
              <a:buNone/>
              <a:defRPr lang="en-US" sz="1500" dirty="0">
                <a:solidFill>
                  <a:srgbClr val="DCE7E0"/>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newsis.com/view/NISX20260618_0003673686" TargetMode="External"/><Relationship Id="rId2" Type="http://schemas.openxmlformats.org/officeDocument/2006/relationships/hyperlink" Target="https://www.newsis.com/view/NISX20250103_0003020386" TargetMode="External"/><Relationship Id="rId3" Type="http://schemas.openxmlformats.org/officeDocument/2006/relationships/hyperlink" Target="https://www.index.go.kr/unify/idx-info.do?idxCd=1302" TargetMode="External"/><Relationship Id="rId4" Type="http://schemas.openxmlformats.org/officeDocument/2006/relationships/hyperlink" Target="https://www.mt.co.kr/tech/2026/03/18/2026031714425925652" TargetMode="External"/><Relationship Id="rId5" Type="http://schemas.openxmlformats.org/officeDocument/2006/relationships/hyperlink" Target="https://koreascience.or.kr/article/JAKO201931765048406.page" TargetMode="External"/><Relationship Id="rId6" Type="http://schemas.openxmlformats.org/officeDocument/2006/relationships/hyperlink" Target="https://www.mfds.go.kr/webzine/201504/pdf/main.pdf" TargetMode="External"/><Relationship Id="rId7" Type="http://schemas.openxmlformats.org/officeDocument/2006/relationships/hyperlink" Target="https://hanok.gongju.go.kr/cmm/fms/FileDown.do?atchFileId=FILE_0000127870Uc2bM&amp;fileSn=0" TargetMode="External"/><Relationship Id="rId8" Type="http://schemas.openxmlformats.org/officeDocument/2006/relationships/hyperlink" Target="https://navercorp.com/media/pressReleasesDetail?seq=34203" TargetMode="External"/><Relationship Id="rId9" Type="http://schemas.openxmlformats.org/officeDocument/2006/relationships/hyperlink" Target="https://platform.claude.com/docs/en/about-claude/pricing" TargetMode="External"/><Relationship Id="rId10" Type="http://schemas.openxmlformats.org/officeDocument/2006/relationships/hyperlink" Target="https://github.com/microsoft/fluentui-emoji" TargetMode="External"/><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548640" y="502920"/>
            <a:ext cx="2743200" cy="274320"/>
          </a:xfrm>
          <a:prstGeom prst="rect">
            <a:avLst/>
          </a:prstGeom>
          <a:noFill/>
          <a:ln/>
        </p:spPr>
        <p:txBody>
          <a:bodyPr wrap="square" lIns="0" tIns="0" rIns="0" bIns="0" rtlCol="0" anchor="ctr"/>
          <a:lstStyle/>
          <a:p>
            <a:pPr indent="0" marL="0">
              <a:buNone/>
            </a:pPr>
            <a:r>
              <a:rPr lang="en-US" sz="1100" b="1" spc="400" kern="0" dirty="0">
                <a:solidFill>
                  <a:srgbClr val="C7D6CC"/>
                </a:solidFill>
              </a:rPr>
              <a:t>NAMULLO</a:t>
            </a:r>
            <a:endParaRPr lang="en-US" sz="1100" dirty="0"/>
          </a:p>
        </p:txBody>
      </p:sp>
      <p:sp>
        <p:nvSpPr>
          <p:cNvPr id="3" name="kicker"/>
          <p:cNvSpPr txBox="1"/>
          <p:nvPr/>
        </p:nvSpPr>
        <p:spPr>
          <a:xfrm>
            <a:off x="548640" y="1371600"/>
            <a:ext cx="5029200" cy="320040"/>
          </a:xfrm>
          <a:prstGeom prst="rect">
            <a:avLst/>
          </a:prstGeom>
          <a:noFill/>
          <a:ln/>
        </p:spPr>
        <p:txBody>
          <a:bodyPr wrap="square" lIns="0" tIns="0" rIns="0" bIns="0" rtlCol="0" anchor="ctr"/>
          <a:lstStyle/>
          <a:p>
            <a:pPr indent="0" marL="0">
              <a:buNone/>
            </a:pPr>
            <a:r>
              <a:rPr lang="en-US" sz="1400" dirty="0">
                <a:solidFill>
                  <a:srgbClr val="A9C2B3"/>
                </a:solidFill>
              </a:rPr>
              <a:t>창업 아이템 발표</a:t>
            </a:r>
            <a:endParaRPr lang="en-US" sz="1400" dirty="0"/>
          </a:p>
        </p:txBody>
      </p:sp>
      <p:sp>
        <p:nvSpPr>
          <p:cNvPr id="4" name="Text 0"/>
          <p:cNvSpPr/>
          <p:nvPr>
            <p:ph idx="100" type="title" hasCustomPrompt="1"/>
          </p:nvPr>
        </p:nvSpPr>
        <p:spPr>
          <a:xfrm>
            <a:off x="548640" y="1783080"/>
            <a:ext cx="5486400" cy="822960"/>
          </a:xfrm>
          <a:prstGeom prst="rect">
            <a:avLst/>
          </a:prstGeom>
          <a:noFill/>
          <a:ln/>
        </p:spPr>
        <p:txBody>
          <a:bodyPr wrap="square" lIns="0" tIns="0" rIns="0" bIns="0" rtlCol="0" anchor="ctr"/>
          <a:lstStyle/>
          <a:p>
            <a:pPr algn="l" indent="0" marL="0">
              <a:buNone/>
            </a:pPr>
            <a:r>
              <a:rPr lang="en-US" sz="4000" b="1" dirty="0">
                <a:solidFill>
                  <a:schemeClr val="bg1"/>
                </a:solidFill>
              </a:rPr>
              <a:t>나물로</a:t>
            </a:r>
            <a:endParaRPr lang="en-US" sz="4000" dirty="0"/>
          </a:p>
        </p:txBody>
      </p:sp>
      <p:sp>
        <p:nvSpPr>
          <p:cNvPr id="5" name="Text 0"/>
          <p:cNvSpPr/>
          <p:nvPr>
            <p:ph idx="101" type="body" hasCustomPrompt="1"/>
          </p:nvPr>
        </p:nvSpPr>
        <p:spPr>
          <a:xfrm>
            <a:off x="548640" y="2651760"/>
            <a:ext cx="5669280" cy="457200"/>
          </a:xfrm>
          <a:prstGeom prst="rect">
            <a:avLst/>
          </a:prstGeom>
          <a:noFill/>
          <a:ln/>
        </p:spPr>
        <p:txBody>
          <a:bodyPr wrap="square" lIns="0" tIns="0" rIns="0" bIns="0" rtlCol="0" anchor="t"/>
          <a:lstStyle/>
          <a:p>
            <a:pPr indent="0" marL="0">
              <a:buNone/>
            </a:pPr>
            <a:r>
              <a:rPr lang="en-US" sz="1700" dirty="0">
                <a:solidFill>
                  <a:srgbClr val="DCE7E0"/>
                </a:solidFill>
              </a:rPr>
              <a:t>레시피 기반 동네 나물 픽업 주문 플랫폼</a:t>
            </a:r>
            <a:endParaRPr lang="en-US" sz="1700" dirty="0"/>
          </a:p>
        </p:txBody>
      </p:sp>
      <p:sp>
        <p:nvSpPr>
          <p:cNvPr id="6" name="one-liner"/>
          <p:cNvSpPr txBox="1"/>
          <p:nvPr/>
        </p:nvSpPr>
        <p:spPr>
          <a:xfrm>
            <a:off x="548640" y="3200400"/>
            <a:ext cx="5486400" cy="566928"/>
          </a:xfrm>
          <a:prstGeom prst="rect">
            <a:avLst/>
          </a:prstGeom>
          <a:noFill/>
          <a:ln/>
        </p:spPr>
        <p:txBody>
          <a:bodyPr wrap="square" lIns="0" tIns="0" rIns="0" bIns="0" rtlCol="0" anchor="ctr"/>
          <a:lstStyle/>
          <a:p>
            <a:pPr indent="0" marL="0">
              <a:buNone/>
            </a:pPr>
            <a:r>
              <a:rPr lang="en-US" sz="1300" dirty="0">
                <a:solidFill>
                  <a:srgbClr val="C7D6CC"/>
                </a:solidFill>
              </a:rPr>
              <a:t>제철 나물 레시피를 보고, 필요한 재료를</a:t>
            </a:r>
            <a:endParaRPr lang="en-US" sz="1300" dirty="0"/>
          </a:p>
          <a:p>
            <a:pPr indent="0" marL="0">
              <a:buNone/>
            </a:pPr>
            <a:r>
              <a:rPr lang="en-US" sz="1300" dirty="0">
                <a:solidFill>
                  <a:srgbClr val="C7D6CC"/>
                </a:solidFill>
              </a:rPr>
              <a:t>집 근처 전통시장·로컬푸드 매장에서 바로 픽업 주문</a:t>
            </a:r>
            <a:endParaRPr lang="en-US" sz="1300" dirty="0"/>
          </a:p>
        </p:txBody>
      </p:sp>
      <p:sp>
        <p:nvSpPr>
          <p:cNvPr id="7" name="presenter"/>
          <p:cNvSpPr txBox="1"/>
          <p:nvPr/>
        </p:nvSpPr>
        <p:spPr>
          <a:xfrm>
            <a:off x="548640" y="4389120"/>
            <a:ext cx="4572000" cy="274320"/>
          </a:xfrm>
          <a:prstGeom prst="rect">
            <a:avLst/>
          </a:prstGeom>
          <a:noFill/>
          <a:ln/>
        </p:spPr>
        <p:txBody>
          <a:bodyPr wrap="square" lIns="0" tIns="0" rIns="0" bIns="0" rtlCol="0" anchor="ctr"/>
          <a:lstStyle/>
          <a:p>
            <a:pPr indent="0" marL="0">
              <a:buNone/>
            </a:pPr>
            <a:r>
              <a:rPr lang="en-US" sz="1200" dirty="0">
                <a:solidFill>
                  <a:srgbClr val="A9C2B3"/>
                </a:solidFill>
              </a:rPr>
              <a:t>2026. 11.     ○○학과  ○○○</a:t>
            </a:r>
            <a:endParaRPr lang="en-US" sz="1200" dirty="0"/>
          </a:p>
        </p:txBody>
      </p:sp>
      <p:pic>
        <p:nvPicPr>
          <p:cNvPr id="8" name="screen home" descr="나물로 프로토타입 화면: 홈 화면">    </p:cNvPr>
          <p:cNvPicPr>
            <a:picLocks noChangeAspect="1"/>
          </p:cNvPicPr>
          <p:nvPr/>
        </p:nvPicPr>
        <p:blipFill>
          <a:blip r:embed="rId1"/>
          <a:stretch>
            <a:fillRect/>
          </a:stretch>
        </p:blipFill>
        <p:spPr>
          <a:xfrm>
            <a:off x="6446520" y="347472"/>
            <a:ext cx="2112801" cy="4434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Problem  |  고객</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고객 문제</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1차 타깃은 전통시장 인근 맞벌이 자녀 가구로, 장보기·손질 시간 부족과 아이 반찬 고민이 큼</a:t>
            </a:r>
            <a:endParaRPr lang="en-US" sz="1300" dirty="0"/>
          </a:p>
        </p:txBody>
      </p:sp>
      <p:sp>
        <p:nvSpPr>
          <p:cNvPr id="6" name="pain box 01"/>
          <p:cNvSpPr/>
          <p:nvPr/>
        </p:nvSpPr>
        <p:spPr>
          <a:xfrm>
            <a:off x="411480" y="1572768"/>
            <a:ext cx="2615184" cy="1371600"/>
          </a:xfrm>
          <a:prstGeom prst="rect">
            <a:avLst/>
          </a:prstGeom>
          <a:solidFill>
            <a:srgbClr val="F2F4F2"/>
          </a:solidFill>
          <a:ln w="12700">
            <a:solidFill>
              <a:srgbClr val="F2F4F2"/>
            </a:solidFill>
            <a:prstDash val="solid"/>
          </a:ln>
        </p:spPr>
      </p:sp>
      <p:sp>
        <p:nvSpPr>
          <p:cNvPr id="7" name="pain num 01"/>
          <p:cNvSpPr txBox="1"/>
          <p:nvPr/>
        </p:nvSpPr>
        <p:spPr>
          <a:xfrm>
            <a:off x="594360" y="1719072"/>
            <a:ext cx="548640" cy="256032"/>
          </a:xfrm>
          <a:prstGeom prst="rect">
            <a:avLst/>
          </a:prstGeom>
          <a:noFill/>
          <a:ln/>
        </p:spPr>
        <p:txBody>
          <a:bodyPr wrap="square" lIns="0" tIns="0" rIns="0" bIns="0" rtlCol="0" anchor="ctr"/>
          <a:lstStyle/>
          <a:p>
            <a:pPr indent="0" marL="0">
              <a:buNone/>
            </a:pPr>
            <a:r>
              <a:rPr lang="en-US" sz="1200" b="1" dirty="0">
                <a:solidFill>
                  <a:srgbClr val="7A837D"/>
                </a:solidFill>
              </a:rPr>
              <a:t>01</a:t>
            </a:r>
            <a:endParaRPr lang="en-US" sz="1200" dirty="0"/>
          </a:p>
        </p:txBody>
      </p:sp>
      <p:sp>
        <p:nvSpPr>
          <p:cNvPr id="8" name="pain head 01"/>
          <p:cNvSpPr txBox="1"/>
          <p:nvPr/>
        </p:nvSpPr>
        <p:spPr>
          <a:xfrm>
            <a:off x="594360" y="1975104"/>
            <a:ext cx="2286000" cy="329184"/>
          </a:xfrm>
          <a:prstGeom prst="rect">
            <a:avLst/>
          </a:prstGeom>
          <a:noFill/>
          <a:ln/>
        </p:spPr>
        <p:txBody>
          <a:bodyPr wrap="square" lIns="0" tIns="0" rIns="0" bIns="0" rtlCol="0" anchor="ctr"/>
          <a:lstStyle/>
          <a:p>
            <a:pPr indent="0" marL="0">
              <a:buNone/>
            </a:pPr>
            <a:r>
              <a:rPr lang="en-US" sz="1500" b="1" dirty="0">
                <a:solidFill>
                  <a:srgbClr val="1F2421"/>
                </a:solidFill>
              </a:rPr>
              <a:t>시간 부족</a:t>
            </a:r>
            <a:endParaRPr lang="en-US" sz="1500" dirty="0"/>
          </a:p>
        </p:txBody>
      </p:sp>
      <p:sp>
        <p:nvSpPr>
          <p:cNvPr id="9" name="pain desc 01"/>
          <p:cNvSpPr txBox="1"/>
          <p:nvPr/>
        </p:nvSpPr>
        <p:spPr>
          <a:xfrm>
            <a:off x="594360" y="2340864"/>
            <a:ext cx="2331720" cy="512064"/>
          </a:xfrm>
          <a:prstGeom prst="rect">
            <a:avLst/>
          </a:prstGeom>
          <a:noFill/>
          <a:ln/>
        </p:spPr>
        <p:txBody>
          <a:bodyPr wrap="square" lIns="0" tIns="0" rIns="0" bIns="0" rtlCol="0" anchor="ctr"/>
          <a:lstStyle/>
          <a:p>
            <a:pPr indent="0" marL="0">
              <a:buNone/>
            </a:pPr>
            <a:r>
              <a:rPr lang="en-US" sz="1200" dirty="0">
                <a:solidFill>
                  <a:srgbClr val="4A524D"/>
                </a:solidFill>
              </a:rPr>
              <a:t>퇴근 후 장보기와 저녁 준비</a:t>
            </a:r>
            <a:endParaRPr lang="en-US" sz="1200" dirty="0"/>
          </a:p>
          <a:p>
            <a:pPr indent="0" marL="0">
              <a:buNone/>
            </a:pPr>
            <a:r>
              <a:rPr lang="en-US" sz="1200" dirty="0">
                <a:solidFill>
                  <a:srgbClr val="4A524D"/>
                </a:solidFill>
              </a:rPr>
              <a:t>시간이 짧음</a:t>
            </a:r>
            <a:endParaRPr lang="en-US" sz="1200" dirty="0"/>
          </a:p>
        </p:txBody>
      </p:sp>
      <p:sp>
        <p:nvSpPr>
          <p:cNvPr id="10" name="pain box 02"/>
          <p:cNvSpPr/>
          <p:nvPr/>
        </p:nvSpPr>
        <p:spPr>
          <a:xfrm>
            <a:off x="3136392" y="1572768"/>
            <a:ext cx="2615184" cy="1371600"/>
          </a:xfrm>
          <a:prstGeom prst="rect">
            <a:avLst/>
          </a:prstGeom>
          <a:solidFill>
            <a:srgbClr val="F2F4F2"/>
          </a:solidFill>
          <a:ln w="12700">
            <a:solidFill>
              <a:srgbClr val="F2F4F2"/>
            </a:solidFill>
            <a:prstDash val="solid"/>
          </a:ln>
        </p:spPr>
      </p:sp>
      <p:sp>
        <p:nvSpPr>
          <p:cNvPr id="11" name="pain num 02"/>
          <p:cNvSpPr txBox="1"/>
          <p:nvPr/>
        </p:nvSpPr>
        <p:spPr>
          <a:xfrm>
            <a:off x="3319272" y="1719072"/>
            <a:ext cx="548640" cy="256032"/>
          </a:xfrm>
          <a:prstGeom prst="rect">
            <a:avLst/>
          </a:prstGeom>
          <a:noFill/>
          <a:ln/>
        </p:spPr>
        <p:txBody>
          <a:bodyPr wrap="square" lIns="0" tIns="0" rIns="0" bIns="0" rtlCol="0" anchor="ctr"/>
          <a:lstStyle/>
          <a:p>
            <a:pPr indent="0" marL="0">
              <a:buNone/>
            </a:pPr>
            <a:r>
              <a:rPr lang="en-US" sz="1200" b="1" dirty="0">
                <a:solidFill>
                  <a:srgbClr val="7A837D"/>
                </a:solidFill>
              </a:rPr>
              <a:t>02</a:t>
            </a:r>
            <a:endParaRPr lang="en-US" sz="1200" dirty="0"/>
          </a:p>
        </p:txBody>
      </p:sp>
      <p:sp>
        <p:nvSpPr>
          <p:cNvPr id="12" name="pain head 02"/>
          <p:cNvSpPr txBox="1"/>
          <p:nvPr/>
        </p:nvSpPr>
        <p:spPr>
          <a:xfrm>
            <a:off x="3319272" y="1975104"/>
            <a:ext cx="2286000" cy="329184"/>
          </a:xfrm>
          <a:prstGeom prst="rect">
            <a:avLst/>
          </a:prstGeom>
          <a:noFill/>
          <a:ln/>
        </p:spPr>
        <p:txBody>
          <a:bodyPr wrap="square" lIns="0" tIns="0" rIns="0" bIns="0" rtlCol="0" anchor="ctr"/>
          <a:lstStyle/>
          <a:p>
            <a:pPr indent="0" marL="0">
              <a:buNone/>
            </a:pPr>
            <a:r>
              <a:rPr lang="en-US" sz="1500" b="1" dirty="0">
                <a:solidFill>
                  <a:srgbClr val="1F2421"/>
                </a:solidFill>
              </a:rPr>
              <a:t>아이 반찬 고민</a:t>
            </a:r>
            <a:endParaRPr lang="en-US" sz="1500" dirty="0"/>
          </a:p>
        </p:txBody>
      </p:sp>
      <p:sp>
        <p:nvSpPr>
          <p:cNvPr id="13" name="pain desc 02"/>
          <p:cNvSpPr txBox="1"/>
          <p:nvPr/>
        </p:nvSpPr>
        <p:spPr>
          <a:xfrm>
            <a:off x="3319272" y="2340864"/>
            <a:ext cx="2331720" cy="512064"/>
          </a:xfrm>
          <a:prstGeom prst="rect">
            <a:avLst/>
          </a:prstGeom>
          <a:noFill/>
          <a:ln/>
        </p:spPr>
        <p:txBody>
          <a:bodyPr wrap="square" lIns="0" tIns="0" rIns="0" bIns="0" rtlCol="0" anchor="ctr"/>
          <a:lstStyle/>
          <a:p>
            <a:pPr indent="0" marL="0">
              <a:buNone/>
            </a:pPr>
            <a:r>
              <a:rPr lang="en-US" sz="1200" dirty="0">
                <a:solidFill>
                  <a:srgbClr val="4A524D"/>
                </a:solidFill>
              </a:rPr>
              <a:t>아이가 채소 반찬을 잘 먹지 않아</a:t>
            </a:r>
            <a:endParaRPr lang="en-US" sz="1200" dirty="0"/>
          </a:p>
          <a:p>
            <a:pPr indent="0" marL="0">
              <a:buNone/>
            </a:pPr>
            <a:r>
              <a:rPr lang="en-US" sz="1200" dirty="0">
                <a:solidFill>
                  <a:srgbClr val="4A524D"/>
                </a:solidFill>
              </a:rPr>
              <a:t>메뉴 정하기가 어려움</a:t>
            </a:r>
            <a:endParaRPr lang="en-US" sz="1200" dirty="0"/>
          </a:p>
        </p:txBody>
      </p:sp>
      <p:sp>
        <p:nvSpPr>
          <p:cNvPr id="14" name="pain box 03"/>
          <p:cNvSpPr/>
          <p:nvPr/>
        </p:nvSpPr>
        <p:spPr>
          <a:xfrm>
            <a:off x="411480" y="3054096"/>
            <a:ext cx="2615184" cy="1371600"/>
          </a:xfrm>
          <a:prstGeom prst="rect">
            <a:avLst/>
          </a:prstGeom>
          <a:solidFill>
            <a:srgbClr val="F2F4F2"/>
          </a:solidFill>
          <a:ln w="12700">
            <a:solidFill>
              <a:srgbClr val="F2F4F2"/>
            </a:solidFill>
            <a:prstDash val="solid"/>
          </a:ln>
        </p:spPr>
      </p:sp>
      <p:sp>
        <p:nvSpPr>
          <p:cNvPr id="15" name="pain num 03"/>
          <p:cNvSpPr txBox="1"/>
          <p:nvPr/>
        </p:nvSpPr>
        <p:spPr>
          <a:xfrm>
            <a:off x="594360" y="3200400"/>
            <a:ext cx="548640" cy="256032"/>
          </a:xfrm>
          <a:prstGeom prst="rect">
            <a:avLst/>
          </a:prstGeom>
          <a:noFill/>
          <a:ln/>
        </p:spPr>
        <p:txBody>
          <a:bodyPr wrap="square" lIns="0" tIns="0" rIns="0" bIns="0" rtlCol="0" anchor="ctr"/>
          <a:lstStyle/>
          <a:p>
            <a:pPr indent="0" marL="0">
              <a:buNone/>
            </a:pPr>
            <a:r>
              <a:rPr lang="en-US" sz="1200" b="1" dirty="0">
                <a:solidFill>
                  <a:srgbClr val="7A837D"/>
                </a:solidFill>
              </a:rPr>
              <a:t>03</a:t>
            </a:r>
            <a:endParaRPr lang="en-US" sz="1200" dirty="0"/>
          </a:p>
        </p:txBody>
      </p:sp>
      <p:sp>
        <p:nvSpPr>
          <p:cNvPr id="16" name="pain head 03"/>
          <p:cNvSpPr txBox="1"/>
          <p:nvPr/>
        </p:nvSpPr>
        <p:spPr>
          <a:xfrm>
            <a:off x="594360" y="3456432"/>
            <a:ext cx="2286000" cy="329184"/>
          </a:xfrm>
          <a:prstGeom prst="rect">
            <a:avLst/>
          </a:prstGeom>
          <a:noFill/>
          <a:ln/>
        </p:spPr>
        <p:txBody>
          <a:bodyPr wrap="square" lIns="0" tIns="0" rIns="0" bIns="0" rtlCol="0" anchor="ctr"/>
          <a:lstStyle/>
          <a:p>
            <a:pPr indent="0" marL="0">
              <a:buNone/>
            </a:pPr>
            <a:r>
              <a:rPr lang="en-US" sz="1500" b="1" dirty="0">
                <a:solidFill>
                  <a:srgbClr val="1F2421"/>
                </a:solidFill>
              </a:rPr>
              <a:t>손질 부담</a:t>
            </a:r>
            <a:endParaRPr lang="en-US" sz="1500" dirty="0"/>
          </a:p>
        </p:txBody>
      </p:sp>
      <p:sp>
        <p:nvSpPr>
          <p:cNvPr id="17" name="pain desc 03"/>
          <p:cNvSpPr txBox="1"/>
          <p:nvPr/>
        </p:nvSpPr>
        <p:spPr>
          <a:xfrm>
            <a:off x="594360" y="3822192"/>
            <a:ext cx="2331720" cy="512064"/>
          </a:xfrm>
          <a:prstGeom prst="rect">
            <a:avLst/>
          </a:prstGeom>
          <a:noFill/>
          <a:ln/>
        </p:spPr>
        <p:txBody>
          <a:bodyPr wrap="square" lIns="0" tIns="0" rIns="0" bIns="0" rtlCol="0" anchor="ctr"/>
          <a:lstStyle/>
          <a:p>
            <a:pPr indent="0" marL="0">
              <a:buNone/>
            </a:pPr>
            <a:r>
              <a:rPr lang="en-US" sz="1200" dirty="0">
                <a:solidFill>
                  <a:srgbClr val="4A524D"/>
                </a:solidFill>
              </a:rPr>
              <a:t>나물은 다듬기·데치기 과정이</a:t>
            </a:r>
            <a:endParaRPr lang="en-US" sz="1200" dirty="0"/>
          </a:p>
          <a:p>
            <a:pPr indent="0" marL="0">
              <a:buNone/>
            </a:pPr>
            <a:r>
              <a:rPr lang="en-US" sz="1200" dirty="0">
                <a:solidFill>
                  <a:srgbClr val="4A524D"/>
                </a:solidFill>
              </a:rPr>
              <a:t>번거로움</a:t>
            </a:r>
            <a:endParaRPr lang="en-US" sz="1200" dirty="0"/>
          </a:p>
        </p:txBody>
      </p:sp>
      <p:sp>
        <p:nvSpPr>
          <p:cNvPr id="18" name="pain box 04"/>
          <p:cNvSpPr/>
          <p:nvPr/>
        </p:nvSpPr>
        <p:spPr>
          <a:xfrm>
            <a:off x="3136392" y="3054096"/>
            <a:ext cx="2615184" cy="1371600"/>
          </a:xfrm>
          <a:prstGeom prst="rect">
            <a:avLst/>
          </a:prstGeom>
          <a:solidFill>
            <a:srgbClr val="F2F4F2"/>
          </a:solidFill>
          <a:ln w="12700">
            <a:solidFill>
              <a:srgbClr val="F2F4F2"/>
            </a:solidFill>
            <a:prstDash val="solid"/>
          </a:ln>
        </p:spPr>
      </p:sp>
      <p:sp>
        <p:nvSpPr>
          <p:cNvPr id="19" name="pain num 04"/>
          <p:cNvSpPr txBox="1"/>
          <p:nvPr/>
        </p:nvSpPr>
        <p:spPr>
          <a:xfrm>
            <a:off x="3319272" y="3200400"/>
            <a:ext cx="548640" cy="256032"/>
          </a:xfrm>
          <a:prstGeom prst="rect">
            <a:avLst/>
          </a:prstGeom>
          <a:noFill/>
          <a:ln/>
        </p:spPr>
        <p:txBody>
          <a:bodyPr wrap="square" lIns="0" tIns="0" rIns="0" bIns="0" rtlCol="0" anchor="ctr"/>
          <a:lstStyle/>
          <a:p>
            <a:pPr indent="0" marL="0">
              <a:buNone/>
            </a:pPr>
            <a:r>
              <a:rPr lang="en-US" sz="1200" b="1" dirty="0">
                <a:solidFill>
                  <a:srgbClr val="7A837D"/>
                </a:solidFill>
              </a:rPr>
              <a:t>04</a:t>
            </a:r>
            <a:endParaRPr lang="en-US" sz="1200" dirty="0"/>
          </a:p>
        </p:txBody>
      </p:sp>
      <p:sp>
        <p:nvSpPr>
          <p:cNvPr id="20" name="pain head 04"/>
          <p:cNvSpPr txBox="1"/>
          <p:nvPr/>
        </p:nvSpPr>
        <p:spPr>
          <a:xfrm>
            <a:off x="3319272" y="3456432"/>
            <a:ext cx="2286000" cy="329184"/>
          </a:xfrm>
          <a:prstGeom prst="rect">
            <a:avLst/>
          </a:prstGeom>
          <a:noFill/>
          <a:ln/>
        </p:spPr>
        <p:txBody>
          <a:bodyPr wrap="square" lIns="0" tIns="0" rIns="0" bIns="0" rtlCol="0" anchor="ctr"/>
          <a:lstStyle/>
          <a:p>
            <a:pPr indent="0" marL="0">
              <a:buNone/>
            </a:pPr>
            <a:r>
              <a:rPr lang="en-US" sz="1500" b="1" dirty="0">
                <a:solidFill>
                  <a:srgbClr val="1F2421"/>
                </a:solidFill>
              </a:rPr>
              <a:t>구매 단위</a:t>
            </a:r>
            <a:endParaRPr lang="en-US" sz="1500" dirty="0"/>
          </a:p>
        </p:txBody>
      </p:sp>
      <p:sp>
        <p:nvSpPr>
          <p:cNvPr id="21" name="pain desc 04"/>
          <p:cNvSpPr txBox="1"/>
          <p:nvPr/>
        </p:nvSpPr>
        <p:spPr>
          <a:xfrm>
            <a:off x="3319272" y="3822192"/>
            <a:ext cx="2331720" cy="512064"/>
          </a:xfrm>
          <a:prstGeom prst="rect">
            <a:avLst/>
          </a:prstGeom>
          <a:noFill/>
          <a:ln/>
        </p:spPr>
        <p:txBody>
          <a:bodyPr wrap="square" lIns="0" tIns="0" rIns="0" bIns="0" rtlCol="0" anchor="ctr"/>
          <a:lstStyle/>
          <a:p>
            <a:pPr indent="0" marL="0">
              <a:buNone/>
            </a:pPr>
            <a:r>
              <a:rPr lang="en-US" sz="1200" dirty="0">
                <a:solidFill>
                  <a:srgbClr val="4A524D"/>
                </a:solidFill>
              </a:rPr>
              <a:t>마트·온라인몰은 한 단·한 봉지</a:t>
            </a:r>
            <a:endParaRPr lang="en-US" sz="1200" dirty="0"/>
          </a:p>
          <a:p>
            <a:pPr indent="0" marL="0">
              <a:buNone/>
            </a:pPr>
            <a:r>
              <a:rPr lang="en-US" sz="1200" dirty="0">
                <a:solidFill>
                  <a:srgbClr val="4A524D"/>
                </a:solidFill>
              </a:rPr>
              <a:t>단위라 양이 많음</a:t>
            </a:r>
            <a:endParaRPr lang="en-US" sz="1200" dirty="0"/>
          </a:p>
        </p:txBody>
      </p:sp>
      <p:sp>
        <p:nvSpPr>
          <p:cNvPr id="22" name="stat panel"/>
          <p:cNvSpPr/>
          <p:nvPr/>
        </p:nvSpPr>
        <p:spPr>
          <a:xfrm>
            <a:off x="5925312" y="1572768"/>
            <a:ext cx="2807208" cy="2852928"/>
          </a:xfrm>
          <a:prstGeom prst="rect">
            <a:avLst/>
          </a:prstGeom>
          <a:solidFill>
            <a:srgbClr val="E6F0EA"/>
          </a:solidFill>
          <a:ln w="12700">
            <a:solidFill>
              <a:srgbClr val="E6F0EA"/>
            </a:solidFill>
            <a:prstDash val="solid"/>
          </a:ln>
        </p:spPr>
      </p:sp>
      <p:sp>
        <p:nvSpPr>
          <p:cNvPr id="23" name="stat label"/>
          <p:cNvSpPr txBox="1"/>
          <p:nvPr/>
        </p:nvSpPr>
        <p:spPr>
          <a:xfrm>
            <a:off x="6108192" y="1719072"/>
            <a:ext cx="2514600" cy="457200"/>
          </a:xfrm>
          <a:prstGeom prst="rect">
            <a:avLst/>
          </a:prstGeom>
          <a:noFill/>
          <a:ln/>
        </p:spPr>
        <p:txBody>
          <a:bodyPr wrap="square" lIns="0" tIns="0" rIns="0" bIns="0" rtlCol="0" anchor="ctr"/>
          <a:lstStyle/>
          <a:p>
            <a:pPr indent="0" marL="0">
              <a:buNone/>
            </a:pPr>
            <a:r>
              <a:rPr lang="en-US" sz="1200" dirty="0">
                <a:solidFill>
                  <a:srgbClr val="4A524D"/>
                </a:solidFill>
              </a:rPr>
              <a:t>18세 미만 자녀를 둔 부부 가구 중</a:t>
            </a:r>
            <a:endParaRPr lang="en-US" sz="1200" dirty="0"/>
          </a:p>
          <a:p>
            <a:pPr indent="0" marL="0">
              <a:buNone/>
            </a:pPr>
            <a:r>
              <a:rPr lang="en-US" sz="1200" dirty="0">
                <a:solidFill>
                  <a:srgbClr val="4A524D"/>
                </a:solidFill>
              </a:rPr>
              <a:t>맞벌이 비율 (2025)</a:t>
            </a:r>
            <a:endParaRPr lang="en-US" sz="1200" dirty="0"/>
          </a:p>
        </p:txBody>
      </p:sp>
      <p:sp>
        <p:nvSpPr>
          <p:cNvPr id="24" name="stat value"/>
          <p:cNvSpPr txBox="1"/>
          <p:nvPr/>
        </p:nvSpPr>
        <p:spPr>
          <a:xfrm>
            <a:off x="6108192" y="2212848"/>
            <a:ext cx="2377440" cy="640080"/>
          </a:xfrm>
          <a:prstGeom prst="rect">
            <a:avLst/>
          </a:prstGeom>
          <a:noFill/>
          <a:ln/>
        </p:spPr>
        <p:txBody>
          <a:bodyPr wrap="square" lIns="0" tIns="0" rIns="0" bIns="0" rtlCol="0" anchor="ctr"/>
          <a:lstStyle/>
          <a:p>
            <a:pPr indent="0" marL="0">
              <a:buNone/>
            </a:pPr>
            <a:r>
              <a:rPr lang="en-US" sz="3800" b="1" dirty="0">
                <a:solidFill>
                  <a:srgbClr val="1E4D3A"/>
                </a:solidFill>
              </a:rPr>
              <a:t>60.4%</a:t>
            </a:r>
            <a:endParaRPr lang="en-US" sz="3800" dirty="0"/>
          </a:p>
        </p:txBody>
      </p:sp>
      <p:sp>
        <p:nvSpPr>
          <p:cNvPr id="25" name="stat sub"/>
          <p:cNvSpPr txBox="1"/>
          <p:nvPr/>
        </p:nvSpPr>
        <p:spPr>
          <a:xfrm>
            <a:off x="6108192" y="2871216"/>
            <a:ext cx="2514600" cy="457200"/>
          </a:xfrm>
          <a:prstGeom prst="rect">
            <a:avLst/>
          </a:prstGeom>
          <a:noFill/>
          <a:ln/>
        </p:spPr>
        <p:txBody>
          <a:bodyPr wrap="square" lIns="0" tIns="0" rIns="0" bIns="0" rtlCol="0" anchor="ctr"/>
          <a:lstStyle/>
          <a:p>
            <a:pPr indent="0" marL="0">
              <a:buNone/>
            </a:pPr>
            <a:r>
              <a:rPr lang="en-US" sz="1150" dirty="0">
                <a:solidFill>
                  <a:srgbClr val="4A524D"/>
                </a:solidFill>
              </a:rPr>
              <a:t>처음으로 60% 넘음</a:t>
            </a:r>
            <a:endParaRPr lang="en-US" sz="1150" dirty="0"/>
          </a:p>
          <a:p>
            <a:pPr indent="0" marL="0">
              <a:buNone/>
            </a:pPr>
            <a:r>
              <a:rPr lang="en-US" sz="1150" dirty="0">
                <a:solidFill>
                  <a:srgbClr val="4A524D"/>
                </a:solidFill>
              </a:rPr>
              <a:t>막내가 6세 이하인 가구 56.5%</a:t>
            </a:r>
            <a:endParaRPr lang="en-US" sz="1150" dirty="0"/>
          </a:p>
        </p:txBody>
      </p:sp>
      <p:sp>
        <p:nvSpPr>
          <p:cNvPr id="26" name="stat rule"/>
          <p:cNvSpPr/>
          <p:nvPr/>
        </p:nvSpPr>
        <p:spPr>
          <a:xfrm>
            <a:off x="6108192" y="3456432"/>
            <a:ext cx="2441448" cy="0"/>
          </a:xfrm>
          <a:prstGeom prst="line">
            <a:avLst/>
          </a:prstGeom>
          <a:noFill/>
          <a:ln w="9525">
            <a:solidFill>
              <a:srgbClr val="A8C8B4"/>
            </a:solidFill>
            <a:prstDash val="solid"/>
          </a:ln>
        </p:spPr>
      </p:sp>
      <p:sp>
        <p:nvSpPr>
          <p:cNvPr id="27" name="stat research"/>
          <p:cNvSpPr txBox="1"/>
          <p:nvPr/>
        </p:nvSpPr>
        <p:spPr>
          <a:xfrm>
            <a:off x="6108192" y="3566160"/>
            <a:ext cx="2514600" cy="457200"/>
          </a:xfrm>
          <a:prstGeom prst="rect">
            <a:avLst/>
          </a:prstGeom>
          <a:noFill/>
          <a:ln/>
        </p:spPr>
        <p:txBody>
          <a:bodyPr wrap="square" lIns="0" tIns="0" rIns="0" bIns="0" rtlCol="0" anchor="ctr"/>
          <a:lstStyle/>
          <a:p>
            <a:pPr indent="0" marL="0">
              <a:buNone/>
            </a:pPr>
            <a:r>
              <a:rPr lang="en-US" sz="1150" dirty="0">
                <a:solidFill>
                  <a:srgbClr val="1F2421"/>
                </a:solidFill>
              </a:rPr>
              <a:t>대구 지역 유아 86명 조사에서도</a:t>
            </a:r>
            <a:endParaRPr lang="en-US" sz="1150" dirty="0"/>
          </a:p>
          <a:p>
            <a:pPr indent="0" marL="0">
              <a:buNone/>
            </a:pPr>
            <a:r>
              <a:rPr lang="en-US" sz="1150" dirty="0">
                <a:solidFill>
                  <a:srgbClr val="1F2421"/>
                </a:solidFill>
              </a:rPr>
              <a:t>반찬류를 꺼리는 경향 (정유미, 2019)</a:t>
            </a:r>
            <a:endParaRPr lang="en-US" sz="1150" dirty="0"/>
          </a:p>
        </p:txBody>
      </p:sp>
      <p:sp>
        <p:nvSpPr>
          <p:cNvPr id="28"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자료: 국가데이터처 「2025년 하반기 지역별고용조사」 맞벌이 가구 현황(2026.06 보도), 정유미(2019) 「유아의 나이에 따른 편식 및 식습관 실태」 한국식생활문화학회지 34(5)</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Problem  |  판매자</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판매자 문제</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온라인 구매 수요는 보도로 확인되나, 점포의 상품 등록·주문 응대 부담은 인터뷰로 확인할 가설임</a:t>
            </a:r>
            <a:endParaRPr lang="en-US" sz="1300" dirty="0"/>
          </a:p>
        </p:txBody>
      </p:sp>
      <p:sp>
        <p:nvSpPr>
          <p:cNvPr id="6" name="kpi box 0"/>
          <p:cNvSpPr/>
          <p:nvPr/>
        </p:nvSpPr>
        <p:spPr>
          <a:xfrm>
            <a:off x="411480" y="1572768"/>
            <a:ext cx="3063240" cy="877824"/>
          </a:xfrm>
          <a:prstGeom prst="rect">
            <a:avLst/>
          </a:prstGeom>
          <a:solidFill>
            <a:srgbClr val="F2F4F2"/>
          </a:solidFill>
          <a:ln w="12700">
            <a:solidFill>
              <a:srgbClr val="F2F4F2"/>
            </a:solidFill>
            <a:prstDash val="solid"/>
          </a:ln>
        </p:spPr>
      </p:sp>
      <p:sp>
        <p:nvSpPr>
          <p:cNvPr id="7" name="kpi value 0"/>
          <p:cNvSpPr txBox="1"/>
          <p:nvPr/>
        </p:nvSpPr>
        <p:spPr>
          <a:xfrm>
            <a:off x="594360" y="1645920"/>
            <a:ext cx="2743200" cy="420624"/>
          </a:xfrm>
          <a:prstGeom prst="rect">
            <a:avLst/>
          </a:prstGeom>
          <a:noFill/>
          <a:ln/>
        </p:spPr>
        <p:txBody>
          <a:bodyPr wrap="square" lIns="0" tIns="0" rIns="0" bIns="0" rtlCol="0" anchor="ctr"/>
          <a:lstStyle/>
          <a:p>
            <a:pPr indent="0" marL="0">
              <a:buNone/>
            </a:pPr>
            <a:r>
              <a:rPr lang="en-US" sz="2000" b="1" dirty="0">
                <a:solidFill>
                  <a:srgbClr val="1E4D3A"/>
                </a:solidFill>
              </a:rPr>
              <a:t>1,393곳 · 28.7조 원</a:t>
            </a:r>
            <a:endParaRPr lang="en-US" sz="2000" dirty="0"/>
          </a:p>
        </p:txBody>
      </p:sp>
      <p:sp>
        <p:nvSpPr>
          <p:cNvPr id="8" name="kpi desc 0"/>
          <p:cNvSpPr txBox="1"/>
          <p:nvPr/>
        </p:nvSpPr>
        <p:spPr>
          <a:xfrm>
            <a:off x="594360" y="2048256"/>
            <a:ext cx="2788920" cy="365760"/>
          </a:xfrm>
          <a:prstGeom prst="rect">
            <a:avLst/>
          </a:prstGeom>
          <a:noFill/>
          <a:ln/>
        </p:spPr>
        <p:txBody>
          <a:bodyPr wrap="square" lIns="0" tIns="0" rIns="0" bIns="0" rtlCol="0" anchor="ctr"/>
          <a:lstStyle/>
          <a:p>
            <a:pPr indent="0" marL="0">
              <a:buNone/>
            </a:pPr>
            <a:r>
              <a:rPr lang="en-US" sz="1050" dirty="0">
                <a:solidFill>
                  <a:srgbClr val="4A524D"/>
                </a:solidFill>
              </a:rPr>
              <a:t>전국 전통시장 수 · 연매출 (2023)</a:t>
            </a:r>
            <a:endParaRPr lang="en-US" sz="1050" dirty="0"/>
          </a:p>
        </p:txBody>
      </p:sp>
      <p:sp>
        <p:nvSpPr>
          <p:cNvPr id="9" name="kpi box 1"/>
          <p:cNvSpPr/>
          <p:nvPr/>
        </p:nvSpPr>
        <p:spPr>
          <a:xfrm>
            <a:off x="411480" y="2542032"/>
            <a:ext cx="3063240" cy="877824"/>
          </a:xfrm>
          <a:prstGeom prst="rect">
            <a:avLst/>
          </a:prstGeom>
          <a:solidFill>
            <a:srgbClr val="F2F4F2"/>
          </a:solidFill>
          <a:ln w="12700">
            <a:solidFill>
              <a:srgbClr val="F2F4F2"/>
            </a:solidFill>
            <a:prstDash val="solid"/>
          </a:ln>
        </p:spPr>
      </p:sp>
      <p:sp>
        <p:nvSpPr>
          <p:cNvPr id="10" name="kpi value 1"/>
          <p:cNvSpPr txBox="1"/>
          <p:nvPr/>
        </p:nvSpPr>
        <p:spPr>
          <a:xfrm>
            <a:off x="594360" y="2615184"/>
            <a:ext cx="2743200" cy="420624"/>
          </a:xfrm>
          <a:prstGeom prst="rect">
            <a:avLst/>
          </a:prstGeom>
          <a:noFill/>
          <a:ln/>
        </p:spPr>
        <p:txBody>
          <a:bodyPr wrap="square" lIns="0" tIns="0" rIns="0" bIns="0" rtlCol="0" anchor="ctr"/>
          <a:lstStyle/>
          <a:p>
            <a:pPr indent="0" marL="0">
              <a:buNone/>
            </a:pPr>
            <a:r>
              <a:rPr lang="en-US" sz="2600" b="1" dirty="0">
                <a:solidFill>
                  <a:srgbClr val="B8692B"/>
                </a:solidFill>
              </a:rPr>
              <a:t>−9.3%</a:t>
            </a:r>
            <a:endParaRPr lang="en-US" sz="2600" dirty="0"/>
          </a:p>
        </p:txBody>
      </p:sp>
      <p:sp>
        <p:nvSpPr>
          <p:cNvPr id="11" name="kpi desc 1"/>
          <p:cNvSpPr txBox="1"/>
          <p:nvPr/>
        </p:nvSpPr>
        <p:spPr>
          <a:xfrm>
            <a:off x="594360" y="3017520"/>
            <a:ext cx="2788920" cy="365760"/>
          </a:xfrm>
          <a:prstGeom prst="rect">
            <a:avLst/>
          </a:prstGeom>
          <a:noFill/>
          <a:ln/>
        </p:spPr>
        <p:txBody>
          <a:bodyPr wrap="square" lIns="0" tIns="0" rIns="0" bIns="0" rtlCol="0" anchor="ctr"/>
          <a:lstStyle/>
          <a:p>
            <a:pPr indent="0" marL="0">
              <a:buNone/>
            </a:pPr>
            <a:r>
              <a:rPr lang="en-US" sz="1050" dirty="0">
                <a:solidFill>
                  <a:srgbClr val="4A524D"/>
                </a:solidFill>
              </a:rPr>
              <a:t>산나물 생산액, 전년 대비 (2024)</a:t>
            </a:r>
            <a:endParaRPr lang="en-US" sz="1050" dirty="0"/>
          </a:p>
        </p:txBody>
      </p:sp>
      <p:sp>
        <p:nvSpPr>
          <p:cNvPr id="12" name="kpi box 2"/>
          <p:cNvSpPr/>
          <p:nvPr/>
        </p:nvSpPr>
        <p:spPr>
          <a:xfrm>
            <a:off x="411480" y="3511296"/>
            <a:ext cx="3063240" cy="877824"/>
          </a:xfrm>
          <a:prstGeom prst="rect">
            <a:avLst/>
          </a:prstGeom>
          <a:solidFill>
            <a:srgbClr val="F2F4F2"/>
          </a:solidFill>
          <a:ln w="12700">
            <a:solidFill>
              <a:srgbClr val="F2F4F2"/>
            </a:solidFill>
            <a:prstDash val="solid"/>
          </a:ln>
        </p:spPr>
      </p:sp>
      <p:sp>
        <p:nvSpPr>
          <p:cNvPr id="13" name="kpi value 2"/>
          <p:cNvSpPr txBox="1"/>
          <p:nvPr/>
        </p:nvSpPr>
        <p:spPr>
          <a:xfrm>
            <a:off x="594360" y="3584448"/>
            <a:ext cx="2743200" cy="420624"/>
          </a:xfrm>
          <a:prstGeom prst="rect">
            <a:avLst/>
          </a:prstGeom>
          <a:noFill/>
          <a:ln/>
        </p:spPr>
        <p:txBody>
          <a:bodyPr wrap="square" lIns="0" tIns="0" rIns="0" bIns="0" rtlCol="0" anchor="ctr"/>
          <a:lstStyle/>
          <a:p>
            <a:pPr indent="0" marL="0">
              <a:buNone/>
            </a:pPr>
            <a:r>
              <a:rPr lang="en-US" sz="2600" b="1" dirty="0">
                <a:solidFill>
                  <a:srgbClr val="1E4D3A"/>
                </a:solidFill>
              </a:rPr>
              <a:t>+196%</a:t>
            </a:r>
            <a:endParaRPr lang="en-US" sz="2600" dirty="0"/>
          </a:p>
        </p:txBody>
      </p:sp>
      <p:sp>
        <p:nvSpPr>
          <p:cNvPr id="14" name="kpi desc 2"/>
          <p:cNvSpPr txBox="1"/>
          <p:nvPr/>
        </p:nvSpPr>
        <p:spPr>
          <a:xfrm>
            <a:off x="594360" y="3986784"/>
            <a:ext cx="2788920" cy="365760"/>
          </a:xfrm>
          <a:prstGeom prst="rect">
            <a:avLst/>
          </a:prstGeom>
          <a:noFill/>
          <a:ln/>
        </p:spPr>
        <p:txBody>
          <a:bodyPr wrap="square" lIns="0" tIns="0" rIns="0" bIns="0" rtlCol="0" anchor="ctr"/>
          <a:lstStyle/>
          <a:p>
            <a:pPr indent="0" marL="0">
              <a:buNone/>
            </a:pPr>
            <a:r>
              <a:rPr lang="en-US" sz="1050" dirty="0">
                <a:solidFill>
                  <a:srgbClr val="4A524D"/>
                </a:solidFill>
              </a:rPr>
              <a:t>배민 전통시장 장보기 입점 점포 매출,</a:t>
            </a:r>
            <a:endParaRPr lang="en-US" sz="1050" dirty="0"/>
          </a:p>
          <a:p>
            <a:pPr indent="0" marL="0">
              <a:buNone/>
            </a:pPr>
            <a:r>
              <a:rPr lang="en-US" sz="1050" dirty="0">
                <a:solidFill>
                  <a:srgbClr val="4A524D"/>
                </a:solidFill>
              </a:rPr>
              <a:t>1년 증가율 (2026.3 보도)</a:t>
            </a:r>
            <a:endParaRPr lang="en-US" sz="1050" dirty="0"/>
          </a:p>
        </p:txBody>
      </p:sp>
      <p:sp>
        <p:nvSpPr>
          <p:cNvPr id="15" name="pain title"/>
          <p:cNvSpPr txBox="1"/>
          <p:nvPr/>
        </p:nvSpPr>
        <p:spPr>
          <a:xfrm>
            <a:off x="3794760" y="1572768"/>
            <a:ext cx="4937760" cy="274320"/>
          </a:xfrm>
          <a:prstGeom prst="rect">
            <a:avLst/>
          </a:prstGeom>
          <a:noFill/>
          <a:ln/>
        </p:spPr>
        <p:txBody>
          <a:bodyPr wrap="square" lIns="0" tIns="0" rIns="0" bIns="0" rtlCol="0" anchor="ctr"/>
          <a:lstStyle/>
          <a:p>
            <a:pPr indent="0" marL="0">
              <a:buNone/>
            </a:pPr>
            <a:r>
              <a:rPr lang="en-US" sz="1200" b="1" dirty="0">
                <a:solidFill>
                  <a:srgbClr val="1E4D3A"/>
                </a:solidFill>
              </a:rPr>
              <a:t>예상되는 문제 (인터뷰로 확인할 가설)</a:t>
            </a:r>
            <a:endParaRPr lang="en-US" sz="1200" dirty="0"/>
          </a:p>
        </p:txBody>
      </p:sp>
      <p:sp>
        <p:nvSpPr>
          <p:cNvPr id="16" name="badge 1"/>
          <p:cNvSpPr/>
          <p:nvPr/>
        </p:nvSpPr>
        <p:spPr>
          <a:xfrm>
            <a:off x="3794760" y="1947672"/>
            <a:ext cx="274320" cy="274320"/>
          </a:xfrm>
          <a:prstGeom prst="ellipse">
            <a:avLst/>
          </a:prstGeom>
          <a:solidFill>
            <a:srgbClr val="E07B2E"/>
          </a:solidFill>
          <a:ln w="19050">
            <a:solidFill>
              <a:srgbClr val="FFFFFF"/>
            </a:solidFill>
            <a:prstDash val="solid"/>
          </a:ln>
        </p:spPr>
      </p:sp>
      <p:sp>
        <p:nvSpPr>
          <p:cNvPr id="17" name="badge text 1"/>
          <p:cNvSpPr txBox="1"/>
          <p:nvPr/>
        </p:nvSpPr>
        <p:spPr>
          <a:xfrm>
            <a:off x="3794760" y="19476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8" name="seller pain 0"/>
          <p:cNvSpPr txBox="1"/>
          <p:nvPr/>
        </p:nvSpPr>
        <p:spPr>
          <a:xfrm>
            <a:off x="4206240" y="1920240"/>
            <a:ext cx="4526280" cy="310896"/>
          </a:xfrm>
          <a:prstGeom prst="rect">
            <a:avLst/>
          </a:prstGeom>
          <a:noFill/>
          <a:ln/>
        </p:spPr>
        <p:txBody>
          <a:bodyPr wrap="square" lIns="0" tIns="0" rIns="0" bIns="0" rtlCol="0" anchor="ctr"/>
          <a:lstStyle/>
          <a:p>
            <a:pPr indent="0" marL="0">
              <a:buNone/>
            </a:pPr>
            <a:r>
              <a:rPr lang="en-US" sz="1400" b="1" dirty="0">
                <a:solidFill>
                  <a:srgbClr val="1F2421"/>
                </a:solidFill>
              </a:rPr>
              <a:t>온라인 운영 부담</a:t>
            </a:r>
            <a:endParaRPr lang="en-US" sz="1400" dirty="0"/>
          </a:p>
        </p:txBody>
      </p:sp>
      <p:sp>
        <p:nvSpPr>
          <p:cNvPr id="19" name="seller pain desc 0"/>
          <p:cNvSpPr txBox="1"/>
          <p:nvPr/>
        </p:nvSpPr>
        <p:spPr>
          <a:xfrm>
            <a:off x="4206240" y="2249424"/>
            <a:ext cx="4526280" cy="292608"/>
          </a:xfrm>
          <a:prstGeom prst="rect">
            <a:avLst/>
          </a:prstGeom>
          <a:noFill/>
          <a:ln/>
        </p:spPr>
        <p:txBody>
          <a:bodyPr wrap="square" lIns="0" tIns="0" rIns="0" bIns="0" rtlCol="0" anchor="ctr"/>
          <a:lstStyle/>
          <a:p>
            <a:pPr indent="0" marL="0">
              <a:buNone/>
            </a:pPr>
            <a:r>
              <a:rPr lang="en-US" sz="1200" dirty="0">
                <a:solidFill>
                  <a:srgbClr val="4A524D"/>
                </a:solidFill>
              </a:rPr>
              <a:t>상품을 올리고 주문에 응대하는 일이 늘어날 것으로 예상</a:t>
            </a:r>
            <a:endParaRPr lang="en-US" sz="1200" dirty="0"/>
          </a:p>
        </p:txBody>
      </p:sp>
      <p:sp>
        <p:nvSpPr>
          <p:cNvPr id="20" name="pain rule 0"/>
          <p:cNvSpPr/>
          <p:nvPr/>
        </p:nvSpPr>
        <p:spPr>
          <a:xfrm>
            <a:off x="4206240" y="2651760"/>
            <a:ext cx="4526280" cy="0"/>
          </a:xfrm>
          <a:prstGeom prst="line">
            <a:avLst/>
          </a:prstGeom>
          <a:noFill/>
          <a:ln w="9525">
            <a:solidFill>
              <a:srgbClr val="D9DED9"/>
            </a:solidFill>
            <a:prstDash val="solid"/>
          </a:ln>
        </p:spPr>
      </p:sp>
      <p:sp>
        <p:nvSpPr>
          <p:cNvPr id="21" name="badge 2"/>
          <p:cNvSpPr/>
          <p:nvPr/>
        </p:nvSpPr>
        <p:spPr>
          <a:xfrm>
            <a:off x="3794760" y="2807208"/>
            <a:ext cx="274320" cy="274320"/>
          </a:xfrm>
          <a:prstGeom prst="ellipse">
            <a:avLst/>
          </a:prstGeom>
          <a:solidFill>
            <a:srgbClr val="E07B2E"/>
          </a:solidFill>
          <a:ln w="19050">
            <a:solidFill>
              <a:srgbClr val="FFFFFF"/>
            </a:solidFill>
            <a:prstDash val="solid"/>
          </a:ln>
        </p:spPr>
      </p:sp>
      <p:sp>
        <p:nvSpPr>
          <p:cNvPr id="22" name="badge text 2"/>
          <p:cNvSpPr txBox="1"/>
          <p:nvPr/>
        </p:nvSpPr>
        <p:spPr>
          <a:xfrm>
            <a:off x="3794760" y="28072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3" name="seller pain 1"/>
          <p:cNvSpPr txBox="1"/>
          <p:nvPr/>
        </p:nvSpPr>
        <p:spPr>
          <a:xfrm>
            <a:off x="4206240" y="2779776"/>
            <a:ext cx="4526280" cy="310896"/>
          </a:xfrm>
          <a:prstGeom prst="rect">
            <a:avLst/>
          </a:prstGeom>
          <a:noFill/>
          <a:ln/>
        </p:spPr>
        <p:txBody>
          <a:bodyPr wrap="square" lIns="0" tIns="0" rIns="0" bIns="0" rtlCol="0" anchor="ctr"/>
          <a:lstStyle/>
          <a:p>
            <a:pPr indent="0" marL="0">
              <a:buNone/>
            </a:pPr>
            <a:r>
              <a:rPr lang="en-US" sz="1400" b="1" dirty="0">
                <a:solidFill>
                  <a:srgbClr val="1F2421"/>
                </a:solidFill>
              </a:rPr>
              <a:t>손질 서비스 홍보</a:t>
            </a:r>
            <a:endParaRPr lang="en-US" sz="1400" dirty="0"/>
          </a:p>
        </p:txBody>
      </p:sp>
      <p:sp>
        <p:nvSpPr>
          <p:cNvPr id="24" name="seller pain desc 1"/>
          <p:cNvSpPr txBox="1"/>
          <p:nvPr/>
        </p:nvSpPr>
        <p:spPr>
          <a:xfrm>
            <a:off x="4206240" y="3108960"/>
            <a:ext cx="4526280" cy="292608"/>
          </a:xfrm>
          <a:prstGeom prst="rect">
            <a:avLst/>
          </a:prstGeom>
          <a:noFill/>
          <a:ln/>
        </p:spPr>
        <p:txBody>
          <a:bodyPr wrap="square" lIns="0" tIns="0" rIns="0" bIns="0" rtlCol="0" anchor="ctr"/>
          <a:lstStyle/>
          <a:p>
            <a:pPr indent="0" marL="0">
              <a:buNone/>
            </a:pPr>
            <a:r>
              <a:rPr lang="en-US" sz="1200" dirty="0">
                <a:solidFill>
                  <a:srgbClr val="4A524D"/>
                </a:solidFill>
              </a:rPr>
              <a:t>손질해서 팔면 값을 더 받을 수 있어도 알릴 방법이 부족할 것</a:t>
            </a:r>
            <a:endParaRPr lang="en-US" sz="1200" dirty="0"/>
          </a:p>
        </p:txBody>
      </p:sp>
      <p:sp>
        <p:nvSpPr>
          <p:cNvPr id="25" name="pain rule 1"/>
          <p:cNvSpPr/>
          <p:nvPr/>
        </p:nvSpPr>
        <p:spPr>
          <a:xfrm>
            <a:off x="4206240" y="3511296"/>
            <a:ext cx="4526280" cy="0"/>
          </a:xfrm>
          <a:prstGeom prst="line">
            <a:avLst/>
          </a:prstGeom>
          <a:noFill/>
          <a:ln w="9525">
            <a:solidFill>
              <a:srgbClr val="D9DED9"/>
            </a:solidFill>
            <a:prstDash val="solid"/>
          </a:ln>
        </p:spPr>
      </p:sp>
      <p:sp>
        <p:nvSpPr>
          <p:cNvPr id="26" name="badge 3"/>
          <p:cNvSpPr/>
          <p:nvPr/>
        </p:nvSpPr>
        <p:spPr>
          <a:xfrm>
            <a:off x="3794760" y="3666744"/>
            <a:ext cx="274320" cy="274320"/>
          </a:xfrm>
          <a:prstGeom prst="ellipse">
            <a:avLst/>
          </a:prstGeom>
          <a:solidFill>
            <a:srgbClr val="E07B2E"/>
          </a:solidFill>
          <a:ln w="19050">
            <a:solidFill>
              <a:srgbClr val="FFFFFF"/>
            </a:solidFill>
            <a:prstDash val="solid"/>
          </a:ln>
        </p:spPr>
      </p:sp>
      <p:sp>
        <p:nvSpPr>
          <p:cNvPr id="27" name="badge text 3"/>
          <p:cNvSpPr txBox="1"/>
          <p:nvPr/>
        </p:nvSpPr>
        <p:spPr>
          <a:xfrm>
            <a:off x="3794760" y="3666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8" name="seller pain 2"/>
          <p:cNvSpPr txBox="1"/>
          <p:nvPr/>
        </p:nvSpPr>
        <p:spPr>
          <a:xfrm>
            <a:off x="4206240" y="3639312"/>
            <a:ext cx="4526280" cy="310896"/>
          </a:xfrm>
          <a:prstGeom prst="rect">
            <a:avLst/>
          </a:prstGeom>
          <a:noFill/>
          <a:ln/>
        </p:spPr>
        <p:txBody>
          <a:bodyPr wrap="square" lIns="0" tIns="0" rIns="0" bIns="0" rtlCol="0" anchor="ctr"/>
          <a:lstStyle/>
          <a:p>
            <a:pPr indent="0" marL="0">
              <a:buNone/>
            </a:pPr>
            <a:r>
              <a:rPr lang="en-US" sz="1400" b="1" dirty="0">
                <a:solidFill>
                  <a:srgbClr val="1F2421"/>
                </a:solidFill>
              </a:rPr>
              <a:t>제철 재고 부담</a:t>
            </a:r>
            <a:endParaRPr lang="en-US" sz="1400" dirty="0"/>
          </a:p>
        </p:txBody>
      </p:sp>
      <p:sp>
        <p:nvSpPr>
          <p:cNvPr id="29" name="seller pain desc 2"/>
          <p:cNvSpPr txBox="1"/>
          <p:nvPr/>
        </p:nvSpPr>
        <p:spPr>
          <a:xfrm>
            <a:off x="4206240" y="3968496"/>
            <a:ext cx="4526280" cy="292608"/>
          </a:xfrm>
          <a:prstGeom prst="rect">
            <a:avLst/>
          </a:prstGeom>
          <a:noFill/>
          <a:ln/>
        </p:spPr>
        <p:txBody>
          <a:bodyPr wrap="square" lIns="0" tIns="0" rIns="0" bIns="0" rtlCol="0" anchor="ctr"/>
          <a:lstStyle/>
          <a:p>
            <a:pPr indent="0" marL="0">
              <a:buNone/>
            </a:pPr>
            <a:r>
              <a:rPr lang="en-US" sz="1200" dirty="0">
                <a:solidFill>
                  <a:srgbClr val="4A524D"/>
                </a:solidFill>
              </a:rPr>
              <a:t>제철에 물량이 몰려 남는 재고가 생길 것으로 예상</a:t>
            </a:r>
            <a:endParaRPr lang="en-US" sz="1200" dirty="0"/>
          </a:p>
        </p:txBody>
      </p:sp>
      <p:sp>
        <p:nvSpPr>
          <p:cNvPr id="30"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자료: 소상공인시장진흥공단 전통시장 실태조사(2023 기준), 산림청 「2024년 임산물생산조사」(2025.10), 머니투데이(2026.03) / 증가율은 입점 점포 기준 보도 수치</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Solution</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서비스 개요</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레시피 탐색부터 동네 매장 픽업 주문까지 한 앱에서 처리하는 O2O 커머스</a:t>
            </a:r>
            <a:endParaRPr lang="en-US" sz="1300" dirty="0"/>
          </a:p>
        </p:txBody>
      </p:sp>
      <p:sp>
        <p:nvSpPr>
          <p:cNvPr id="6" name="step 0"/>
          <p:cNvSpPr/>
          <p:nvPr/>
        </p:nvSpPr>
        <p:spPr>
          <a:xfrm>
            <a:off x="411480" y="1572768"/>
            <a:ext cx="1691640" cy="676656"/>
          </a:xfrm>
          <a:prstGeom prst="homePlate">
            <a:avLst/>
          </a:prstGeom>
          <a:solidFill>
            <a:srgbClr val="3F7F5F"/>
          </a:solidFill>
          <a:ln w="12700">
            <a:solidFill>
              <a:srgbClr val="3F7F5F"/>
            </a:solidFill>
            <a:prstDash val="solid"/>
          </a:ln>
        </p:spPr>
      </p:sp>
      <p:sp>
        <p:nvSpPr>
          <p:cNvPr id="7" name="step text 0"/>
          <p:cNvSpPr txBox="1"/>
          <p:nvPr/>
        </p:nvSpPr>
        <p:spPr>
          <a:xfrm>
            <a:off x="548640" y="1572768"/>
            <a:ext cx="1463040" cy="676656"/>
          </a:xfrm>
          <a:prstGeom prst="rect">
            <a:avLst/>
          </a:prstGeom>
          <a:noFill/>
          <a:ln/>
        </p:spPr>
        <p:txBody>
          <a:bodyPr wrap="square" lIns="0" tIns="0" rIns="0" bIns="0" rtlCol="0" anchor="ctr"/>
          <a:lstStyle/>
          <a:p>
            <a:pPr indent="0" marL="0">
              <a:buNone/>
            </a:pPr>
            <a:r>
              <a:rPr lang="en-US" sz="1300" b="1" dirty="0">
                <a:solidFill>
                  <a:srgbClr val="FFFFFF"/>
                </a:solidFill>
              </a:rPr>
              <a:t>01  레시피 탐색</a:t>
            </a:r>
            <a:endParaRPr lang="en-US" sz="1300" dirty="0"/>
          </a:p>
        </p:txBody>
      </p:sp>
      <p:sp>
        <p:nvSpPr>
          <p:cNvPr id="8" name="step desc 0"/>
          <p:cNvSpPr txBox="1"/>
          <p:nvPr/>
        </p:nvSpPr>
        <p:spPr>
          <a:xfrm>
            <a:off x="2286000" y="1572768"/>
            <a:ext cx="3931920" cy="676656"/>
          </a:xfrm>
          <a:prstGeom prst="rect">
            <a:avLst/>
          </a:prstGeom>
          <a:noFill/>
          <a:ln/>
        </p:spPr>
        <p:txBody>
          <a:bodyPr wrap="square" lIns="0" tIns="0" rIns="0" bIns="0" rtlCol="0" anchor="ctr"/>
          <a:lstStyle/>
          <a:p>
            <a:pPr indent="0" marL="0">
              <a:buNone/>
            </a:pPr>
            <a:r>
              <a:rPr lang="en-US" sz="1200" dirty="0">
                <a:solidFill>
                  <a:srgbClr val="1F2421"/>
                </a:solidFill>
              </a:rPr>
              <a:t>제철 나물 정보·손질법, 아이 선호 메뉴 추천,</a:t>
            </a:r>
            <a:endParaRPr lang="en-US" sz="1200" dirty="0"/>
          </a:p>
          <a:p>
            <a:pPr indent="0" marL="0">
              <a:buNone/>
            </a:pPr>
            <a:r>
              <a:rPr lang="en-US" sz="1200" dirty="0">
                <a:solidFill>
                  <a:srgbClr val="1F2421"/>
                </a:solidFill>
              </a:rPr>
              <a:t>유튜브 레시피 영상 연동</a:t>
            </a:r>
            <a:endParaRPr lang="en-US" sz="1200" dirty="0"/>
          </a:p>
        </p:txBody>
      </p:sp>
      <p:sp>
        <p:nvSpPr>
          <p:cNvPr id="9" name="step rule 0"/>
          <p:cNvSpPr/>
          <p:nvPr/>
        </p:nvSpPr>
        <p:spPr>
          <a:xfrm>
            <a:off x="2286000" y="2304288"/>
            <a:ext cx="3931920" cy="0"/>
          </a:xfrm>
          <a:prstGeom prst="line">
            <a:avLst/>
          </a:prstGeom>
          <a:noFill/>
          <a:ln w="9525">
            <a:solidFill>
              <a:srgbClr val="D9DED9"/>
            </a:solidFill>
            <a:prstDash val="solid"/>
          </a:ln>
        </p:spPr>
      </p:sp>
      <p:sp>
        <p:nvSpPr>
          <p:cNvPr id="10" name="step 1"/>
          <p:cNvSpPr/>
          <p:nvPr/>
        </p:nvSpPr>
        <p:spPr>
          <a:xfrm>
            <a:off x="411480" y="2359152"/>
            <a:ext cx="1691640" cy="676656"/>
          </a:xfrm>
          <a:prstGeom prst="homePlate">
            <a:avLst/>
          </a:prstGeom>
          <a:solidFill>
            <a:srgbClr val="3F7F5F"/>
          </a:solidFill>
          <a:ln w="12700">
            <a:solidFill>
              <a:srgbClr val="3F7F5F"/>
            </a:solidFill>
            <a:prstDash val="solid"/>
          </a:ln>
        </p:spPr>
      </p:sp>
      <p:sp>
        <p:nvSpPr>
          <p:cNvPr id="11" name="step text 1"/>
          <p:cNvSpPr txBox="1"/>
          <p:nvPr/>
        </p:nvSpPr>
        <p:spPr>
          <a:xfrm>
            <a:off x="548640" y="2359152"/>
            <a:ext cx="1463040" cy="676656"/>
          </a:xfrm>
          <a:prstGeom prst="rect">
            <a:avLst/>
          </a:prstGeom>
          <a:noFill/>
          <a:ln/>
        </p:spPr>
        <p:txBody>
          <a:bodyPr wrap="square" lIns="0" tIns="0" rIns="0" bIns="0" rtlCol="0" anchor="ctr"/>
          <a:lstStyle/>
          <a:p>
            <a:pPr indent="0" marL="0">
              <a:buNone/>
            </a:pPr>
            <a:r>
              <a:rPr lang="en-US" sz="1300" b="1" dirty="0">
                <a:solidFill>
                  <a:srgbClr val="FFFFFF"/>
                </a:solidFill>
              </a:rPr>
              <a:t>02  재료 담기</a:t>
            </a:r>
            <a:endParaRPr lang="en-US" sz="1300" dirty="0"/>
          </a:p>
        </p:txBody>
      </p:sp>
      <p:sp>
        <p:nvSpPr>
          <p:cNvPr id="12" name="step desc 1"/>
          <p:cNvSpPr txBox="1"/>
          <p:nvPr/>
        </p:nvSpPr>
        <p:spPr>
          <a:xfrm>
            <a:off x="2286000" y="2359152"/>
            <a:ext cx="3931920" cy="676656"/>
          </a:xfrm>
          <a:prstGeom prst="rect">
            <a:avLst/>
          </a:prstGeom>
          <a:noFill/>
          <a:ln/>
        </p:spPr>
        <p:txBody>
          <a:bodyPr wrap="square" lIns="0" tIns="0" rIns="0" bIns="0" rtlCol="0" anchor="ctr"/>
          <a:lstStyle/>
          <a:p>
            <a:pPr indent="0" marL="0">
              <a:buNone/>
            </a:pPr>
            <a:r>
              <a:rPr lang="en-US" sz="1200" dirty="0">
                <a:solidFill>
                  <a:srgbClr val="1F2421"/>
                </a:solidFill>
              </a:rPr>
              <a:t>레시피 재료 가운데 집에 없는 것만 골라</a:t>
            </a:r>
            <a:endParaRPr lang="en-US" sz="1200" dirty="0"/>
          </a:p>
          <a:p>
            <a:pPr indent="0" marL="0">
              <a:buNone/>
            </a:pPr>
            <a:r>
              <a:rPr lang="en-US" sz="1200" dirty="0">
                <a:solidFill>
                  <a:srgbClr val="1F2421"/>
                </a:solidFill>
              </a:rPr>
              <a:t>장바구니에 담기</a:t>
            </a:r>
            <a:endParaRPr lang="en-US" sz="1200" dirty="0"/>
          </a:p>
        </p:txBody>
      </p:sp>
      <p:sp>
        <p:nvSpPr>
          <p:cNvPr id="13" name="step rule 1"/>
          <p:cNvSpPr/>
          <p:nvPr/>
        </p:nvSpPr>
        <p:spPr>
          <a:xfrm>
            <a:off x="2286000" y="3090672"/>
            <a:ext cx="3931920" cy="0"/>
          </a:xfrm>
          <a:prstGeom prst="line">
            <a:avLst/>
          </a:prstGeom>
          <a:noFill/>
          <a:ln w="9525">
            <a:solidFill>
              <a:srgbClr val="D9DED9"/>
            </a:solidFill>
            <a:prstDash val="solid"/>
          </a:ln>
        </p:spPr>
      </p:sp>
      <p:sp>
        <p:nvSpPr>
          <p:cNvPr id="14" name="step 2"/>
          <p:cNvSpPr/>
          <p:nvPr/>
        </p:nvSpPr>
        <p:spPr>
          <a:xfrm>
            <a:off x="411480" y="3145536"/>
            <a:ext cx="1691640" cy="676656"/>
          </a:xfrm>
          <a:prstGeom prst="homePlate">
            <a:avLst/>
          </a:prstGeom>
          <a:solidFill>
            <a:srgbClr val="1E4D3A"/>
          </a:solidFill>
          <a:ln w="12700">
            <a:solidFill>
              <a:srgbClr val="1E4D3A"/>
            </a:solidFill>
            <a:prstDash val="solid"/>
          </a:ln>
        </p:spPr>
      </p:sp>
      <p:sp>
        <p:nvSpPr>
          <p:cNvPr id="15" name="step text 2"/>
          <p:cNvSpPr txBox="1"/>
          <p:nvPr/>
        </p:nvSpPr>
        <p:spPr>
          <a:xfrm>
            <a:off x="548640" y="3145536"/>
            <a:ext cx="1463040" cy="676656"/>
          </a:xfrm>
          <a:prstGeom prst="rect">
            <a:avLst/>
          </a:prstGeom>
          <a:noFill/>
          <a:ln/>
        </p:spPr>
        <p:txBody>
          <a:bodyPr wrap="square" lIns="0" tIns="0" rIns="0" bIns="0" rtlCol="0" anchor="ctr"/>
          <a:lstStyle/>
          <a:p>
            <a:pPr indent="0" marL="0">
              <a:buNone/>
            </a:pPr>
            <a:r>
              <a:rPr lang="en-US" sz="1300" b="1" dirty="0">
                <a:solidFill>
                  <a:srgbClr val="FFFFFF"/>
                </a:solidFill>
              </a:rPr>
              <a:t>03  픽업 주문</a:t>
            </a:r>
            <a:endParaRPr lang="en-US" sz="1300" dirty="0"/>
          </a:p>
        </p:txBody>
      </p:sp>
      <p:sp>
        <p:nvSpPr>
          <p:cNvPr id="16" name="step desc 2"/>
          <p:cNvSpPr txBox="1"/>
          <p:nvPr/>
        </p:nvSpPr>
        <p:spPr>
          <a:xfrm>
            <a:off x="2286000" y="3145536"/>
            <a:ext cx="3931920" cy="676656"/>
          </a:xfrm>
          <a:prstGeom prst="rect">
            <a:avLst/>
          </a:prstGeom>
          <a:noFill/>
          <a:ln/>
        </p:spPr>
        <p:txBody>
          <a:bodyPr wrap="square" lIns="0" tIns="0" rIns="0" bIns="0" rtlCol="0" anchor="ctr"/>
          <a:lstStyle/>
          <a:p>
            <a:pPr indent="0" marL="0">
              <a:buNone/>
            </a:pPr>
            <a:r>
              <a:rPr lang="en-US" sz="1200" dirty="0">
                <a:solidFill>
                  <a:srgbClr val="1F2421"/>
                </a:solidFill>
              </a:rPr>
              <a:t>반경 3km 전통시장·로컬푸드 매장·반찬가게 비교,</a:t>
            </a:r>
            <a:endParaRPr lang="en-US" sz="1200" dirty="0"/>
          </a:p>
          <a:p>
            <a:pPr indent="0" marL="0">
              <a:buNone/>
            </a:pPr>
            <a:r>
              <a:rPr lang="en-US" sz="1200" dirty="0">
                <a:solidFill>
                  <a:srgbClr val="1F2421"/>
                </a:solidFill>
              </a:rPr>
              <a:t>손질·데침 옵션 선택, 픽업 시간 예약</a:t>
            </a:r>
            <a:endParaRPr lang="en-US" sz="1200" dirty="0"/>
          </a:p>
        </p:txBody>
      </p:sp>
      <p:sp>
        <p:nvSpPr>
          <p:cNvPr id="17" name="subscription band"/>
          <p:cNvSpPr/>
          <p:nvPr/>
        </p:nvSpPr>
        <p:spPr>
          <a:xfrm>
            <a:off x="411480" y="3986784"/>
            <a:ext cx="5806440" cy="512064"/>
          </a:xfrm>
          <a:prstGeom prst="rect">
            <a:avLst/>
          </a:prstGeom>
          <a:solidFill>
            <a:srgbClr val="F2F4F2"/>
          </a:solidFill>
          <a:ln w="12700">
            <a:solidFill>
              <a:srgbClr val="F2F4F2"/>
            </a:solidFill>
            <a:prstDash val="solid"/>
          </a:ln>
        </p:spPr>
      </p:sp>
      <p:sp>
        <p:nvSpPr>
          <p:cNvPr id="18" name="subscription text"/>
          <p:cNvSpPr txBox="1"/>
          <p:nvPr/>
        </p:nvSpPr>
        <p:spPr>
          <a:xfrm>
            <a:off x="548640" y="3986784"/>
            <a:ext cx="5577840" cy="512064"/>
          </a:xfrm>
          <a:prstGeom prst="rect">
            <a:avLst/>
          </a:prstGeom>
          <a:noFill/>
          <a:ln/>
        </p:spPr>
        <p:txBody>
          <a:bodyPr wrap="square" lIns="0" tIns="0" rIns="0" bIns="0" rtlCol="0" anchor="ctr"/>
          <a:lstStyle/>
          <a:p>
            <a:pPr indent="0" marL="0">
              <a:buNone/>
            </a:pPr>
            <a:r>
              <a:rPr lang="en-US" sz="1200" b="1" dirty="0">
                <a:solidFill>
                  <a:srgbClr val="1E4D3A"/>
                </a:solidFill>
              </a:rPr>
              <a:t>+ 정기구독   </a:t>
            </a:r>
            <a:pPr indent="0" marL="0">
              <a:buNone/>
            </a:pPr>
            <a:r>
              <a:rPr lang="en-US" sz="1200" dirty="0">
                <a:solidFill>
                  <a:srgbClr val="1F2421"/>
                </a:solidFill>
              </a:rPr>
              <a:t>매주 제철 나물 3종 + 양념 + 레시피 카드 (예정 요금 월 29,900원부터)</a:t>
            </a:r>
            <a:endParaRPr lang="en-US" sz="1200" dirty="0"/>
          </a:p>
        </p:txBody>
      </p:sp>
      <p:pic>
        <p:nvPicPr>
          <p:cNvPr id="19" name="screen home" descr="나물로 프로토타입 화면: 홈 화면">    </p:cNvPr>
          <p:cNvPicPr>
            <a:picLocks noChangeAspect="1"/>
          </p:cNvPicPr>
          <p:nvPr/>
        </p:nvPicPr>
        <p:blipFill>
          <a:blip r:embed="rId1"/>
          <a:stretch>
            <a:fillRect/>
          </a:stretch>
        </p:blipFill>
        <p:spPr>
          <a:xfrm>
            <a:off x="6812280" y="1517904"/>
            <a:ext cx="1437576" cy="3017520"/>
          </a:xfrm>
          <a:prstGeom prst="rect">
            <a:avLst/>
          </a:prstGeom>
        </p:spPr>
      </p:pic>
      <p:sp>
        <p:nvSpPr>
          <p:cNvPr id="20"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앱 화면은 웹 프로토타입 (매장·가격·선호도는 예시 데이터)</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Solution</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AI 적용 기능과 구현 현황</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AI는 고객 추천과 판매자 상품 등록에 먼저 적용하고, 판매자 확인을 거쳐 앱에 반영함</a:t>
            </a:r>
            <a:endParaRPr lang="en-US" sz="1300" dirty="0"/>
          </a:p>
        </p:txBody>
      </p:sp>
      <p:pic>
        <p:nvPicPr>
          <p:cNvPr id="6" name="screen aichef" descr="나물로 프로토타입 화면: 레시피 추천 화면">    </p:cNvPr>
          <p:cNvPicPr>
            <a:picLocks noChangeAspect="1"/>
          </p:cNvPicPr>
          <p:nvPr/>
        </p:nvPicPr>
        <p:blipFill>
          <a:blip r:embed="rId1"/>
          <a:stretch>
            <a:fillRect/>
          </a:stretch>
        </p:blipFill>
        <p:spPr>
          <a:xfrm>
            <a:off x="411480" y="1517904"/>
            <a:ext cx="1437576" cy="3017520"/>
          </a:xfrm>
          <a:prstGeom prst="rect">
            <a:avLst/>
          </a:prstGeom>
        </p:spPr>
      </p:pic>
      <p:sp>
        <p:nvSpPr>
          <p:cNvPr id="7" name="badge 1"/>
          <p:cNvSpPr/>
          <p:nvPr/>
        </p:nvSpPr>
        <p:spPr>
          <a:xfrm>
            <a:off x="356616" y="1463040"/>
            <a:ext cx="274320" cy="274320"/>
          </a:xfrm>
          <a:prstGeom prst="ellipse">
            <a:avLst/>
          </a:prstGeom>
          <a:solidFill>
            <a:srgbClr val="E07B2E"/>
          </a:solidFill>
          <a:ln w="19050">
            <a:solidFill>
              <a:srgbClr val="FFFFFF"/>
            </a:solidFill>
            <a:prstDash val="solid"/>
          </a:ln>
        </p:spPr>
      </p:sp>
      <p:sp>
        <p:nvSpPr>
          <p:cNvPr id="8" name="badge text 1"/>
          <p:cNvSpPr txBox="1"/>
          <p:nvPr/>
        </p:nvSpPr>
        <p:spPr>
          <a:xfrm>
            <a:off x="356616"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pic>
        <p:nvPicPr>
          <p:cNvPr id="9" name="screen merchant_draft" descr="나물로 프로토타입 화면: 판매자 상품 등록안 화면">    </p:cNvPr>
          <p:cNvPicPr>
            <a:picLocks noChangeAspect="1"/>
          </p:cNvPicPr>
          <p:nvPr/>
        </p:nvPicPr>
        <p:blipFill>
          <a:blip r:embed="rId2"/>
          <a:stretch>
            <a:fillRect/>
          </a:stretch>
        </p:blipFill>
        <p:spPr>
          <a:xfrm>
            <a:off x="1977072" y="1517904"/>
            <a:ext cx="1437576" cy="3017520"/>
          </a:xfrm>
          <a:prstGeom prst="rect">
            <a:avLst/>
          </a:prstGeom>
        </p:spPr>
      </p:pic>
      <p:sp>
        <p:nvSpPr>
          <p:cNvPr id="10" name="badge 2"/>
          <p:cNvSpPr/>
          <p:nvPr/>
        </p:nvSpPr>
        <p:spPr>
          <a:xfrm>
            <a:off x="1922208" y="1463040"/>
            <a:ext cx="274320" cy="274320"/>
          </a:xfrm>
          <a:prstGeom prst="ellipse">
            <a:avLst/>
          </a:prstGeom>
          <a:solidFill>
            <a:srgbClr val="E07B2E"/>
          </a:solidFill>
          <a:ln w="19050">
            <a:solidFill>
              <a:srgbClr val="FFFFFF"/>
            </a:solidFill>
            <a:prstDash val="solid"/>
          </a:ln>
        </p:spPr>
      </p:sp>
      <p:sp>
        <p:nvSpPr>
          <p:cNvPr id="11" name="badge text 2"/>
          <p:cNvSpPr txBox="1"/>
          <p:nvPr/>
        </p:nvSpPr>
        <p:spPr>
          <a:xfrm>
            <a:off x="1922208"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pic>
        <p:nvPicPr>
          <p:cNvPr id="12" name="screen merchant_forecast" descr="나물로 프로토타입 화면: 발주 추천·마감 할인 예시 화면">    </p:cNvPr>
          <p:cNvPicPr>
            <a:picLocks noChangeAspect="1"/>
          </p:cNvPicPr>
          <p:nvPr/>
        </p:nvPicPr>
        <p:blipFill>
          <a:blip r:embed="rId3"/>
          <a:stretch>
            <a:fillRect/>
          </a:stretch>
        </p:blipFill>
        <p:spPr>
          <a:xfrm>
            <a:off x="3542663" y="1517904"/>
            <a:ext cx="1437576" cy="3017520"/>
          </a:xfrm>
          <a:prstGeom prst="rect">
            <a:avLst/>
          </a:prstGeom>
        </p:spPr>
      </p:pic>
      <p:sp>
        <p:nvSpPr>
          <p:cNvPr id="13" name="badge 3"/>
          <p:cNvSpPr/>
          <p:nvPr/>
        </p:nvSpPr>
        <p:spPr>
          <a:xfrm>
            <a:off x="3487799" y="1463040"/>
            <a:ext cx="274320" cy="274320"/>
          </a:xfrm>
          <a:prstGeom prst="ellipse">
            <a:avLst/>
          </a:prstGeom>
          <a:solidFill>
            <a:srgbClr val="E07B2E"/>
          </a:solidFill>
          <a:ln w="19050">
            <a:solidFill>
              <a:srgbClr val="FFFFFF"/>
            </a:solidFill>
            <a:prstDash val="solid"/>
          </a:ln>
        </p:spPr>
      </p:sp>
      <p:sp>
        <p:nvSpPr>
          <p:cNvPr id="14" name="badge text 3"/>
          <p:cNvSpPr txBox="1"/>
          <p:nvPr/>
        </p:nvSpPr>
        <p:spPr>
          <a:xfrm>
            <a:off x="3487799" y="14630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badge 1"/>
          <p:cNvSpPr/>
          <p:nvPr/>
        </p:nvSpPr>
        <p:spPr>
          <a:xfrm>
            <a:off x="5074920" y="1572768"/>
            <a:ext cx="274320" cy="274320"/>
          </a:xfrm>
          <a:prstGeom prst="ellipse">
            <a:avLst/>
          </a:prstGeom>
          <a:solidFill>
            <a:srgbClr val="E07B2E"/>
          </a:solidFill>
          <a:ln w="19050">
            <a:solidFill>
              <a:srgbClr val="FFFFFF"/>
            </a:solidFill>
            <a:prstDash val="solid"/>
          </a:ln>
        </p:spPr>
      </p:sp>
      <p:sp>
        <p:nvSpPr>
          <p:cNvPr id="16" name="badge text 1"/>
          <p:cNvSpPr txBox="1"/>
          <p:nvPr/>
        </p:nvSpPr>
        <p:spPr>
          <a:xfrm>
            <a:off x="5074920" y="15727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17" name="cap title 0"/>
          <p:cNvSpPr txBox="1"/>
          <p:nvPr/>
        </p:nvSpPr>
        <p:spPr>
          <a:xfrm>
            <a:off x="5458968" y="1554480"/>
            <a:ext cx="2240280" cy="310896"/>
          </a:xfrm>
          <a:prstGeom prst="rect">
            <a:avLst/>
          </a:prstGeom>
          <a:noFill/>
          <a:ln/>
        </p:spPr>
        <p:txBody>
          <a:bodyPr wrap="square" lIns="0" tIns="0" rIns="0" bIns="0" rtlCol="0" anchor="ctr"/>
          <a:lstStyle/>
          <a:p>
            <a:pPr indent="0" marL="0">
              <a:buNone/>
            </a:pPr>
            <a:r>
              <a:rPr lang="en-US" sz="1350" b="1" dirty="0">
                <a:solidFill>
                  <a:srgbClr val="1F2421"/>
                </a:solidFill>
              </a:rPr>
              <a:t>레시피 추천 (고객)</a:t>
            </a:r>
            <a:endParaRPr lang="en-US" sz="1350" dirty="0"/>
          </a:p>
        </p:txBody>
      </p:sp>
      <p:sp>
        <p:nvSpPr>
          <p:cNvPr id="18" name="status 시연 구현"/>
          <p:cNvSpPr/>
          <p:nvPr/>
        </p:nvSpPr>
        <p:spPr>
          <a:xfrm>
            <a:off x="8060436" y="1600200"/>
            <a:ext cx="672084" cy="219456"/>
          </a:xfrm>
          <a:prstGeom prst="roundRect">
            <a:avLst>
              <a:gd name="adj" fmla="val 50000"/>
            </a:avLst>
          </a:prstGeom>
          <a:solidFill>
            <a:srgbClr val="E6F0EA"/>
          </a:solidFill>
          <a:ln w="9525">
            <a:solidFill>
              <a:srgbClr val="E6F0EA"/>
            </a:solidFill>
            <a:prstDash val="solid"/>
          </a:ln>
        </p:spPr>
      </p:sp>
      <p:sp>
        <p:nvSpPr>
          <p:cNvPr id="19" name="status text 시연 구현"/>
          <p:cNvSpPr txBox="1"/>
          <p:nvPr/>
        </p:nvSpPr>
        <p:spPr>
          <a:xfrm>
            <a:off x="8060436" y="1600200"/>
            <a:ext cx="672084" cy="219456"/>
          </a:xfrm>
          <a:prstGeom prst="rect">
            <a:avLst/>
          </a:prstGeom>
          <a:noFill/>
          <a:ln/>
        </p:spPr>
        <p:txBody>
          <a:bodyPr wrap="square" lIns="0" tIns="0" rIns="0" bIns="0" rtlCol="0" anchor="ctr"/>
          <a:lstStyle/>
          <a:p>
            <a:pPr algn="ctr" indent="0" marL="0">
              <a:buNone/>
            </a:pPr>
            <a:r>
              <a:rPr lang="en-US" sz="950" b="1" dirty="0">
                <a:solidFill>
                  <a:srgbClr val="1E4D3A"/>
                </a:solidFill>
              </a:rPr>
              <a:t>시연 구현</a:t>
            </a:r>
            <a:endParaRPr lang="en-US" sz="950" dirty="0"/>
          </a:p>
        </p:txBody>
      </p:sp>
      <p:sp>
        <p:nvSpPr>
          <p:cNvPr id="20" name="cap desc 0"/>
          <p:cNvSpPr txBox="1"/>
          <p:nvPr/>
        </p:nvSpPr>
        <p:spPr>
          <a:xfrm>
            <a:off x="5458968" y="1901952"/>
            <a:ext cx="3291840" cy="512064"/>
          </a:xfrm>
          <a:prstGeom prst="rect">
            <a:avLst/>
          </a:prstGeom>
          <a:noFill/>
          <a:ln/>
        </p:spPr>
        <p:txBody>
          <a:bodyPr wrap="square" lIns="0" tIns="0" rIns="0" bIns="0" rtlCol="0" anchor="ctr"/>
          <a:lstStyle/>
          <a:p>
            <a:pPr indent="0" marL="0">
              <a:buNone/>
            </a:pPr>
            <a:r>
              <a:rPr lang="en-US" sz="1150" dirty="0">
                <a:solidFill>
                  <a:srgbClr val="4A524D"/>
                </a:solidFill>
              </a:rPr>
              <a:t>아이 나이·보유 재료를 입력하면 근처 매장</a:t>
            </a:r>
            <a:endParaRPr lang="en-US" sz="1150" dirty="0"/>
          </a:p>
          <a:p>
            <a:pPr indent="0" marL="0">
              <a:buNone/>
            </a:pPr>
            <a:r>
              <a:rPr lang="en-US" sz="1150" dirty="0">
                <a:solidFill>
                  <a:srgbClr val="4A524D"/>
                </a:solidFill>
              </a:rPr>
              <a:t>재고로 만들 수 있는 반찬을 추천</a:t>
            </a:r>
            <a:endParaRPr lang="en-US" sz="1150" dirty="0"/>
          </a:p>
        </p:txBody>
      </p:sp>
      <p:sp>
        <p:nvSpPr>
          <p:cNvPr id="21" name="cap rule 0"/>
          <p:cNvSpPr/>
          <p:nvPr/>
        </p:nvSpPr>
        <p:spPr>
          <a:xfrm>
            <a:off x="5458968" y="2468880"/>
            <a:ext cx="3273552" cy="0"/>
          </a:xfrm>
          <a:prstGeom prst="line">
            <a:avLst/>
          </a:prstGeom>
          <a:noFill/>
          <a:ln w="9525">
            <a:solidFill>
              <a:srgbClr val="D9DED9"/>
            </a:solidFill>
            <a:prstDash val="solid"/>
          </a:ln>
        </p:spPr>
      </p:sp>
      <p:sp>
        <p:nvSpPr>
          <p:cNvPr id="22" name="badge 2"/>
          <p:cNvSpPr/>
          <p:nvPr/>
        </p:nvSpPr>
        <p:spPr>
          <a:xfrm>
            <a:off x="5074920" y="2578608"/>
            <a:ext cx="274320" cy="274320"/>
          </a:xfrm>
          <a:prstGeom prst="ellipse">
            <a:avLst/>
          </a:prstGeom>
          <a:solidFill>
            <a:srgbClr val="E07B2E"/>
          </a:solidFill>
          <a:ln w="19050">
            <a:solidFill>
              <a:srgbClr val="FFFFFF"/>
            </a:solidFill>
            <a:prstDash val="solid"/>
          </a:ln>
        </p:spPr>
      </p:sp>
      <p:sp>
        <p:nvSpPr>
          <p:cNvPr id="23" name="badge text 2"/>
          <p:cNvSpPr txBox="1"/>
          <p:nvPr/>
        </p:nvSpPr>
        <p:spPr>
          <a:xfrm>
            <a:off x="5074920" y="2578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4" name="cap title 1"/>
          <p:cNvSpPr txBox="1"/>
          <p:nvPr/>
        </p:nvSpPr>
        <p:spPr>
          <a:xfrm>
            <a:off x="5458968" y="2560320"/>
            <a:ext cx="2240280" cy="310896"/>
          </a:xfrm>
          <a:prstGeom prst="rect">
            <a:avLst/>
          </a:prstGeom>
          <a:noFill/>
          <a:ln/>
        </p:spPr>
        <p:txBody>
          <a:bodyPr wrap="square" lIns="0" tIns="0" rIns="0" bIns="0" rtlCol="0" anchor="ctr"/>
          <a:lstStyle/>
          <a:p>
            <a:pPr indent="0" marL="0">
              <a:buNone/>
            </a:pPr>
            <a:r>
              <a:rPr lang="en-US" sz="1350" b="1" dirty="0">
                <a:solidFill>
                  <a:srgbClr val="1F2421"/>
                </a:solidFill>
              </a:rPr>
              <a:t>상품 등록 자동화 (판매자)</a:t>
            </a:r>
            <a:endParaRPr lang="en-US" sz="1350" dirty="0"/>
          </a:p>
        </p:txBody>
      </p:sp>
      <p:sp>
        <p:nvSpPr>
          <p:cNvPr id="25" name="status 시연 구현"/>
          <p:cNvSpPr/>
          <p:nvPr/>
        </p:nvSpPr>
        <p:spPr>
          <a:xfrm>
            <a:off x="8060436" y="2606040"/>
            <a:ext cx="672084" cy="219456"/>
          </a:xfrm>
          <a:prstGeom prst="roundRect">
            <a:avLst>
              <a:gd name="adj" fmla="val 50000"/>
            </a:avLst>
          </a:prstGeom>
          <a:solidFill>
            <a:srgbClr val="E6F0EA"/>
          </a:solidFill>
          <a:ln w="9525">
            <a:solidFill>
              <a:srgbClr val="E6F0EA"/>
            </a:solidFill>
            <a:prstDash val="solid"/>
          </a:ln>
        </p:spPr>
      </p:sp>
      <p:sp>
        <p:nvSpPr>
          <p:cNvPr id="26" name="status text 시연 구현"/>
          <p:cNvSpPr txBox="1"/>
          <p:nvPr/>
        </p:nvSpPr>
        <p:spPr>
          <a:xfrm>
            <a:off x="8060436" y="2606040"/>
            <a:ext cx="672084" cy="219456"/>
          </a:xfrm>
          <a:prstGeom prst="rect">
            <a:avLst/>
          </a:prstGeom>
          <a:noFill/>
          <a:ln/>
        </p:spPr>
        <p:txBody>
          <a:bodyPr wrap="square" lIns="0" tIns="0" rIns="0" bIns="0" rtlCol="0" anchor="ctr"/>
          <a:lstStyle/>
          <a:p>
            <a:pPr algn="ctr" indent="0" marL="0">
              <a:buNone/>
            </a:pPr>
            <a:r>
              <a:rPr lang="en-US" sz="950" b="1" dirty="0">
                <a:solidFill>
                  <a:srgbClr val="1E4D3A"/>
                </a:solidFill>
              </a:rPr>
              <a:t>시연 구현</a:t>
            </a:r>
            <a:endParaRPr lang="en-US" sz="950" dirty="0"/>
          </a:p>
        </p:txBody>
      </p:sp>
      <p:sp>
        <p:nvSpPr>
          <p:cNvPr id="27" name="cap desc 1"/>
          <p:cNvSpPr txBox="1"/>
          <p:nvPr/>
        </p:nvSpPr>
        <p:spPr>
          <a:xfrm>
            <a:off x="5458968" y="2907792"/>
            <a:ext cx="3291840" cy="512064"/>
          </a:xfrm>
          <a:prstGeom prst="rect">
            <a:avLst/>
          </a:prstGeom>
          <a:noFill/>
          <a:ln/>
        </p:spPr>
        <p:txBody>
          <a:bodyPr wrap="square" lIns="0" tIns="0" rIns="0" bIns="0" rtlCol="0" anchor="ctr"/>
          <a:lstStyle/>
          <a:p>
            <a:pPr indent="0" marL="0">
              <a:buNone/>
            </a:pPr>
            <a:r>
              <a:rPr lang="en-US" sz="1150" dirty="0">
                <a:solidFill>
                  <a:srgbClr val="4A524D"/>
                </a:solidFill>
              </a:rPr>
              <a:t>메시지 한 줄을 품목·수량·가격으로 정리,</a:t>
            </a:r>
            <a:endParaRPr lang="en-US" sz="1150" dirty="0"/>
          </a:p>
          <a:p>
            <a:pPr indent="0" marL="0">
              <a:buNone/>
            </a:pPr>
            <a:r>
              <a:rPr lang="en-US" sz="1150" dirty="0">
                <a:solidFill>
                  <a:srgbClr val="4A524D"/>
                </a:solidFill>
              </a:rPr>
              <a:t>판매자가 확인해야 앱에 반영</a:t>
            </a:r>
            <a:endParaRPr lang="en-US" sz="1150" dirty="0"/>
          </a:p>
        </p:txBody>
      </p:sp>
      <p:sp>
        <p:nvSpPr>
          <p:cNvPr id="28" name="cap rule 1"/>
          <p:cNvSpPr/>
          <p:nvPr/>
        </p:nvSpPr>
        <p:spPr>
          <a:xfrm>
            <a:off x="5458968" y="3474720"/>
            <a:ext cx="3273552" cy="0"/>
          </a:xfrm>
          <a:prstGeom prst="line">
            <a:avLst/>
          </a:prstGeom>
          <a:noFill/>
          <a:ln w="9525">
            <a:solidFill>
              <a:srgbClr val="D9DED9"/>
            </a:solidFill>
            <a:prstDash val="solid"/>
          </a:ln>
        </p:spPr>
      </p:sp>
      <p:sp>
        <p:nvSpPr>
          <p:cNvPr id="29" name="badge 3"/>
          <p:cNvSpPr/>
          <p:nvPr/>
        </p:nvSpPr>
        <p:spPr>
          <a:xfrm>
            <a:off x="5074920" y="3584448"/>
            <a:ext cx="274320" cy="274320"/>
          </a:xfrm>
          <a:prstGeom prst="ellipse">
            <a:avLst/>
          </a:prstGeom>
          <a:solidFill>
            <a:srgbClr val="E07B2E"/>
          </a:solidFill>
          <a:ln w="19050">
            <a:solidFill>
              <a:srgbClr val="FFFFFF"/>
            </a:solidFill>
            <a:prstDash val="solid"/>
          </a:ln>
        </p:spPr>
      </p:sp>
      <p:sp>
        <p:nvSpPr>
          <p:cNvPr id="30" name="badge text 3"/>
          <p:cNvSpPr txBox="1"/>
          <p:nvPr/>
        </p:nvSpPr>
        <p:spPr>
          <a:xfrm>
            <a:off x="5074920" y="35844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1" name="cap title 2"/>
          <p:cNvSpPr txBox="1"/>
          <p:nvPr/>
        </p:nvSpPr>
        <p:spPr>
          <a:xfrm>
            <a:off x="5458968" y="3566160"/>
            <a:ext cx="2240280" cy="310896"/>
          </a:xfrm>
          <a:prstGeom prst="rect">
            <a:avLst/>
          </a:prstGeom>
          <a:noFill/>
          <a:ln/>
        </p:spPr>
        <p:txBody>
          <a:bodyPr wrap="square" lIns="0" tIns="0" rIns="0" bIns="0" rtlCol="0" anchor="ctr"/>
          <a:lstStyle/>
          <a:p>
            <a:pPr indent="0" marL="0">
              <a:buNone/>
            </a:pPr>
            <a:r>
              <a:rPr lang="en-US" sz="1350" b="1" dirty="0">
                <a:solidFill>
                  <a:srgbClr val="1F2421"/>
                </a:solidFill>
              </a:rPr>
              <a:t>발주량 추천 · 마감 할인</a:t>
            </a:r>
            <a:endParaRPr lang="en-US" sz="1350" dirty="0"/>
          </a:p>
        </p:txBody>
      </p:sp>
      <p:sp>
        <p:nvSpPr>
          <p:cNvPr id="32" name="status 개발 예정"/>
          <p:cNvSpPr/>
          <p:nvPr/>
        </p:nvSpPr>
        <p:spPr>
          <a:xfrm>
            <a:off x="8060436" y="3611880"/>
            <a:ext cx="672084" cy="219456"/>
          </a:xfrm>
          <a:prstGeom prst="roundRect">
            <a:avLst>
              <a:gd name="adj" fmla="val 50000"/>
            </a:avLst>
          </a:prstGeom>
          <a:solidFill>
            <a:srgbClr val="F2F4F2"/>
          </a:solidFill>
          <a:ln w="9525">
            <a:solidFill>
              <a:srgbClr val="D9DED9"/>
            </a:solidFill>
            <a:prstDash val="solid"/>
          </a:ln>
        </p:spPr>
      </p:sp>
      <p:sp>
        <p:nvSpPr>
          <p:cNvPr id="33" name="status text 개발 예정"/>
          <p:cNvSpPr txBox="1"/>
          <p:nvPr/>
        </p:nvSpPr>
        <p:spPr>
          <a:xfrm>
            <a:off x="8060436" y="3611880"/>
            <a:ext cx="672084" cy="219456"/>
          </a:xfrm>
          <a:prstGeom prst="rect">
            <a:avLst/>
          </a:prstGeom>
          <a:noFill/>
          <a:ln/>
        </p:spPr>
        <p:txBody>
          <a:bodyPr wrap="square" lIns="0" tIns="0" rIns="0" bIns="0" rtlCol="0" anchor="ctr"/>
          <a:lstStyle/>
          <a:p>
            <a:pPr algn="ctr" indent="0" marL="0">
              <a:buNone/>
            </a:pPr>
            <a:r>
              <a:rPr lang="en-US" sz="950" b="1" dirty="0">
                <a:solidFill>
                  <a:srgbClr val="4A524D"/>
                </a:solidFill>
              </a:rPr>
              <a:t>개발 예정</a:t>
            </a:r>
            <a:endParaRPr lang="en-US" sz="950" dirty="0"/>
          </a:p>
        </p:txBody>
      </p:sp>
      <p:sp>
        <p:nvSpPr>
          <p:cNvPr id="34" name="cap desc 2"/>
          <p:cNvSpPr txBox="1"/>
          <p:nvPr/>
        </p:nvSpPr>
        <p:spPr>
          <a:xfrm>
            <a:off x="5458968" y="3913632"/>
            <a:ext cx="3291840" cy="512064"/>
          </a:xfrm>
          <a:prstGeom prst="rect">
            <a:avLst/>
          </a:prstGeom>
          <a:noFill/>
          <a:ln/>
        </p:spPr>
        <p:txBody>
          <a:bodyPr wrap="square" lIns="0" tIns="0" rIns="0" bIns="0" rtlCol="0" anchor="ctr"/>
          <a:lstStyle/>
          <a:p>
            <a:pPr indent="0" marL="0">
              <a:buNone/>
            </a:pPr>
            <a:r>
              <a:rPr lang="en-US" sz="1150" dirty="0">
                <a:solidFill>
                  <a:srgbClr val="4A524D"/>
                </a:solidFill>
              </a:rPr>
              <a:t>판매 이력·요일·날씨 기반, 주문 데이터가</a:t>
            </a:r>
            <a:endParaRPr lang="en-US" sz="1150" dirty="0"/>
          </a:p>
          <a:p>
            <a:pPr indent="0" marL="0">
              <a:buNone/>
            </a:pPr>
            <a:r>
              <a:rPr lang="en-US" sz="1150" dirty="0">
                <a:solidFill>
                  <a:srgbClr val="4A524D"/>
                </a:solidFill>
              </a:rPr>
              <a:t>쌓인 뒤 도입</a:t>
            </a:r>
            <a:endParaRPr lang="en-US" sz="1150" dirty="0"/>
          </a:p>
        </p:txBody>
      </p:sp>
      <p:sp>
        <p:nvSpPr>
          <p:cNvPr id="35"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시연 화면의 AI 응답·매장·가격·예측 수치는 예시 데이터이며 실제 AI 호출은 검증 전 · AI는 야생 채취 식물의 식용 여부를 판단하지 않음</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1" type="body" hasCustomPrompt="1"/>
          </p:nvPr>
        </p:nvSpPr>
        <p:spPr>
          <a:xfrm>
            <a:off x="411480" y="201168"/>
            <a:ext cx="5486400" cy="237744"/>
          </a:xfrm>
          <a:prstGeom prst="rect">
            <a:avLst/>
          </a:prstGeom>
          <a:noFill/>
          <a:ln/>
        </p:spPr>
        <p:txBody>
          <a:bodyPr wrap="square" lIns="0" tIns="0" rIns="0" bIns="0" rtlCol="0" anchor="ctr"/>
          <a:lstStyle/>
          <a:p>
            <a:pPr indent="0" marL="0">
              <a:buNone/>
            </a:pPr>
            <a:r>
              <a:rPr lang="en-US" sz="1100" b="1" dirty="0">
                <a:solidFill>
                  <a:schemeClr val="accent1"/>
                </a:solidFill>
              </a:rPr>
              <a:t>Solution</a:t>
            </a:r>
            <a:endParaRPr lang="en-US" sz="1100" dirty="0"/>
          </a:p>
        </p:txBody>
      </p:sp>
      <p:sp>
        <p:nvSpPr>
          <p:cNvPr id="4" name="Text 1"/>
          <p:cNvSpPr/>
          <p:nvPr>
            <p:ph idx="102" type="title" hasCustomPrompt="1"/>
          </p:nvPr>
        </p:nvSpPr>
        <p:spPr>
          <a:xfrm>
            <a:off x="411480" y="438912"/>
            <a:ext cx="5486400" cy="420624"/>
          </a:xfrm>
          <a:prstGeom prst="rect">
            <a:avLst/>
          </a:prstGeom>
          <a:noFill/>
          <a:ln/>
        </p:spPr>
        <p:txBody>
          <a:bodyPr wrap="square" lIns="0" tIns="0" rIns="0" bIns="0" rtlCol="0" anchor="ctr"/>
          <a:lstStyle/>
          <a:p>
            <a:pPr algn="l" indent="0" marL="0">
              <a:buNone/>
            </a:pPr>
            <a:r>
              <a:rPr lang="en-US" sz="2200" b="1" dirty="0">
                <a:solidFill>
                  <a:schemeClr val="tx1"/>
                </a:solidFill>
              </a:rPr>
              <a:t>프로토타입 시연</a:t>
            </a:r>
            <a:endParaRPr lang="en-US" sz="2200" dirty="0"/>
          </a:p>
        </p:txBody>
      </p:sp>
      <p:sp>
        <p:nvSpPr>
          <p:cNvPr id="5" name="demo sub"/>
          <p:cNvSpPr txBox="1"/>
          <p:nvPr/>
        </p:nvSpPr>
        <p:spPr>
          <a:xfrm>
            <a:off x="411480" y="914400"/>
            <a:ext cx="5486400" cy="292608"/>
          </a:xfrm>
          <a:prstGeom prst="rect">
            <a:avLst/>
          </a:prstGeom>
          <a:noFill/>
          <a:ln/>
        </p:spPr>
        <p:txBody>
          <a:bodyPr wrap="square" lIns="0" tIns="0" rIns="0" bIns="0" rtlCol="0" anchor="ctr"/>
          <a:lstStyle/>
          <a:p>
            <a:pPr indent="0" marL="0">
              <a:buNone/>
            </a:pPr>
            <a:r>
              <a:rPr lang="en-US" sz="1300" b="1" dirty="0">
                <a:solidFill>
                  <a:srgbClr val="4A524D"/>
                </a:solidFill>
              </a:rPr>
              <a:t>사용 시나리오: 맞벌이 부모의 평일 저녁 장보기</a:t>
            </a:r>
            <a:endParaRPr lang="en-US" sz="1300" dirty="0"/>
          </a:p>
        </p:txBody>
      </p:sp>
      <p:sp>
        <p:nvSpPr>
          <p:cNvPr id="6" name="timeline"/>
          <p:cNvSpPr/>
          <p:nvPr/>
        </p:nvSpPr>
        <p:spPr>
          <a:xfrm>
            <a:off x="786384" y="1481328"/>
            <a:ext cx="0" cy="2103120"/>
          </a:xfrm>
          <a:prstGeom prst="line">
            <a:avLst/>
          </a:prstGeom>
          <a:noFill/>
          <a:ln w="19050">
            <a:solidFill>
              <a:srgbClr val="D9DED9"/>
            </a:solidFill>
            <a:prstDash val="solid"/>
          </a:ln>
        </p:spPr>
      </p:sp>
      <p:sp>
        <p:nvSpPr>
          <p:cNvPr id="7" name="time pill 0"/>
          <p:cNvSpPr/>
          <p:nvPr/>
        </p:nvSpPr>
        <p:spPr>
          <a:xfrm>
            <a:off x="411480" y="1389888"/>
            <a:ext cx="749808" cy="292608"/>
          </a:xfrm>
          <a:prstGeom prst="roundRect">
            <a:avLst>
              <a:gd name="adj" fmla="val 50000"/>
            </a:avLst>
          </a:prstGeom>
          <a:solidFill>
            <a:srgbClr val="1E4D3A"/>
          </a:solidFill>
          <a:ln w="12700">
            <a:solidFill>
              <a:srgbClr val="1E4D3A"/>
            </a:solidFill>
            <a:prstDash val="solid"/>
          </a:ln>
        </p:spPr>
      </p:sp>
      <p:sp>
        <p:nvSpPr>
          <p:cNvPr id="8" name="time text 0"/>
          <p:cNvSpPr txBox="1"/>
          <p:nvPr/>
        </p:nvSpPr>
        <p:spPr>
          <a:xfrm>
            <a:off x="411480" y="1389888"/>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rPr>
              <a:t>17:00</a:t>
            </a:r>
            <a:endParaRPr lang="en-US" sz="1050" dirty="0"/>
          </a:p>
        </p:txBody>
      </p:sp>
      <p:sp>
        <p:nvSpPr>
          <p:cNvPr id="9" name="demo step 0"/>
          <p:cNvSpPr txBox="1"/>
          <p:nvPr/>
        </p:nvSpPr>
        <p:spPr>
          <a:xfrm>
            <a:off x="1325880" y="1353312"/>
            <a:ext cx="4480560" cy="274320"/>
          </a:xfrm>
          <a:prstGeom prst="rect">
            <a:avLst/>
          </a:prstGeom>
          <a:noFill/>
          <a:ln/>
        </p:spPr>
        <p:txBody>
          <a:bodyPr wrap="square" lIns="0" tIns="0" rIns="0" bIns="0" rtlCol="0" anchor="ctr"/>
          <a:lstStyle/>
          <a:p>
            <a:pPr indent="0" marL="0">
              <a:buNone/>
            </a:pPr>
            <a:r>
              <a:rPr lang="en-US" sz="1400" b="1" dirty="0">
                <a:solidFill>
                  <a:srgbClr val="1F2421"/>
                </a:solidFill>
              </a:rPr>
              <a:t>레시피 추천 요청</a:t>
            </a:r>
            <a:endParaRPr lang="en-US" sz="1400" dirty="0"/>
          </a:p>
        </p:txBody>
      </p:sp>
      <p:sp>
        <p:nvSpPr>
          <p:cNvPr id="10" name="demo detail 0"/>
          <p:cNvSpPr txBox="1"/>
          <p:nvPr/>
        </p:nvSpPr>
        <p:spPr>
          <a:xfrm>
            <a:off x="1325880" y="1636776"/>
            <a:ext cx="4480560" cy="256032"/>
          </a:xfrm>
          <a:prstGeom prst="rect">
            <a:avLst/>
          </a:prstGeom>
          <a:noFill/>
          <a:ln/>
        </p:spPr>
        <p:txBody>
          <a:bodyPr wrap="square" lIns="0" tIns="0" rIns="0" bIns="0" rtlCol="0" anchor="ctr"/>
          <a:lstStyle/>
          <a:p>
            <a:pPr indent="0" marL="0">
              <a:buNone/>
            </a:pPr>
            <a:r>
              <a:rPr lang="en-US" sz="1200" dirty="0">
                <a:solidFill>
                  <a:srgbClr val="4A524D"/>
                </a:solidFill>
              </a:rPr>
              <a:t>‘다섯 살 아이랑 먹을 순한 반찬’</a:t>
            </a:r>
            <a:endParaRPr lang="en-US" sz="1200" dirty="0"/>
          </a:p>
        </p:txBody>
      </p:sp>
      <p:sp>
        <p:nvSpPr>
          <p:cNvPr id="11" name="time pill 1"/>
          <p:cNvSpPr/>
          <p:nvPr/>
        </p:nvSpPr>
        <p:spPr>
          <a:xfrm>
            <a:off x="411480" y="2048256"/>
            <a:ext cx="749808" cy="292608"/>
          </a:xfrm>
          <a:prstGeom prst="roundRect">
            <a:avLst>
              <a:gd name="adj" fmla="val 50000"/>
            </a:avLst>
          </a:prstGeom>
          <a:solidFill>
            <a:srgbClr val="1E4D3A"/>
          </a:solidFill>
          <a:ln w="12700">
            <a:solidFill>
              <a:srgbClr val="1E4D3A"/>
            </a:solidFill>
            <a:prstDash val="solid"/>
          </a:ln>
        </p:spPr>
      </p:sp>
      <p:sp>
        <p:nvSpPr>
          <p:cNvPr id="12" name="time text 1"/>
          <p:cNvSpPr txBox="1"/>
          <p:nvPr/>
        </p:nvSpPr>
        <p:spPr>
          <a:xfrm>
            <a:off x="411480" y="2048256"/>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rPr>
              <a:t>17:02</a:t>
            </a:r>
            <a:endParaRPr lang="en-US" sz="1050" dirty="0"/>
          </a:p>
        </p:txBody>
      </p:sp>
      <p:sp>
        <p:nvSpPr>
          <p:cNvPr id="13" name="demo step 1"/>
          <p:cNvSpPr txBox="1"/>
          <p:nvPr/>
        </p:nvSpPr>
        <p:spPr>
          <a:xfrm>
            <a:off x="1325880" y="2011680"/>
            <a:ext cx="4480560" cy="274320"/>
          </a:xfrm>
          <a:prstGeom prst="rect">
            <a:avLst/>
          </a:prstGeom>
          <a:noFill/>
          <a:ln/>
        </p:spPr>
        <p:txBody>
          <a:bodyPr wrap="square" lIns="0" tIns="0" rIns="0" bIns="0" rtlCol="0" anchor="ctr"/>
          <a:lstStyle/>
          <a:p>
            <a:pPr indent="0" marL="0">
              <a:buNone/>
            </a:pPr>
            <a:r>
              <a:rPr lang="en-US" sz="1400" b="1" dirty="0">
                <a:solidFill>
                  <a:srgbClr val="1F2421"/>
                </a:solidFill>
              </a:rPr>
              <a:t>레시피 확인 · 재료 담기</a:t>
            </a:r>
            <a:endParaRPr lang="en-US" sz="1400" dirty="0"/>
          </a:p>
        </p:txBody>
      </p:sp>
      <p:sp>
        <p:nvSpPr>
          <p:cNvPr id="14" name="demo detail 1"/>
          <p:cNvSpPr txBox="1"/>
          <p:nvPr/>
        </p:nvSpPr>
        <p:spPr>
          <a:xfrm>
            <a:off x="1325880" y="2295144"/>
            <a:ext cx="4480560" cy="256032"/>
          </a:xfrm>
          <a:prstGeom prst="rect">
            <a:avLst/>
          </a:prstGeom>
          <a:noFill/>
          <a:ln/>
        </p:spPr>
        <p:txBody>
          <a:bodyPr wrap="square" lIns="0" tIns="0" rIns="0" bIns="0" rtlCol="0" anchor="ctr"/>
          <a:lstStyle/>
          <a:p>
            <a:pPr indent="0" marL="0">
              <a:buNone/>
            </a:pPr>
            <a:r>
              <a:rPr lang="en-US" sz="1200" dirty="0">
                <a:solidFill>
                  <a:srgbClr val="4A524D"/>
                </a:solidFill>
              </a:rPr>
              <a:t>참나물 들기름무침 → 참나물 200g 담기</a:t>
            </a:r>
            <a:endParaRPr lang="en-US" sz="1200" dirty="0"/>
          </a:p>
        </p:txBody>
      </p:sp>
      <p:sp>
        <p:nvSpPr>
          <p:cNvPr id="15" name="time pill 2"/>
          <p:cNvSpPr/>
          <p:nvPr/>
        </p:nvSpPr>
        <p:spPr>
          <a:xfrm>
            <a:off x="411480" y="2706624"/>
            <a:ext cx="749808" cy="292608"/>
          </a:xfrm>
          <a:prstGeom prst="roundRect">
            <a:avLst>
              <a:gd name="adj" fmla="val 50000"/>
            </a:avLst>
          </a:prstGeom>
          <a:solidFill>
            <a:srgbClr val="1E4D3A"/>
          </a:solidFill>
          <a:ln w="12700">
            <a:solidFill>
              <a:srgbClr val="1E4D3A"/>
            </a:solidFill>
            <a:prstDash val="solid"/>
          </a:ln>
        </p:spPr>
      </p:sp>
      <p:sp>
        <p:nvSpPr>
          <p:cNvPr id="16" name="time text 2"/>
          <p:cNvSpPr txBox="1"/>
          <p:nvPr/>
        </p:nvSpPr>
        <p:spPr>
          <a:xfrm>
            <a:off x="411480" y="2706624"/>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rPr>
              <a:t>17:03</a:t>
            </a:r>
            <a:endParaRPr lang="en-US" sz="1050" dirty="0"/>
          </a:p>
        </p:txBody>
      </p:sp>
      <p:sp>
        <p:nvSpPr>
          <p:cNvPr id="17" name="demo step 2"/>
          <p:cNvSpPr txBox="1"/>
          <p:nvPr/>
        </p:nvSpPr>
        <p:spPr>
          <a:xfrm>
            <a:off x="1325880" y="2670048"/>
            <a:ext cx="4480560" cy="274320"/>
          </a:xfrm>
          <a:prstGeom prst="rect">
            <a:avLst/>
          </a:prstGeom>
          <a:noFill/>
          <a:ln/>
        </p:spPr>
        <p:txBody>
          <a:bodyPr wrap="square" lIns="0" tIns="0" rIns="0" bIns="0" rtlCol="0" anchor="ctr"/>
          <a:lstStyle/>
          <a:p>
            <a:pPr indent="0" marL="0">
              <a:buNone/>
            </a:pPr>
            <a:r>
              <a:rPr lang="en-US" sz="1400" b="1" dirty="0">
                <a:solidFill>
                  <a:srgbClr val="1F2421"/>
                </a:solidFill>
              </a:rPr>
              <a:t>매장 선택 · 픽업 예약</a:t>
            </a:r>
            <a:endParaRPr lang="en-US" sz="1400" dirty="0"/>
          </a:p>
        </p:txBody>
      </p:sp>
      <p:sp>
        <p:nvSpPr>
          <p:cNvPr id="18" name="demo detail 2"/>
          <p:cNvSpPr txBox="1"/>
          <p:nvPr/>
        </p:nvSpPr>
        <p:spPr>
          <a:xfrm>
            <a:off x="1325880" y="2953512"/>
            <a:ext cx="4480560" cy="256032"/>
          </a:xfrm>
          <a:prstGeom prst="rect">
            <a:avLst/>
          </a:prstGeom>
          <a:noFill/>
          <a:ln/>
        </p:spPr>
        <p:txBody>
          <a:bodyPr wrap="square" lIns="0" tIns="0" rIns="0" bIns="0" rtlCol="0" anchor="ctr"/>
          <a:lstStyle/>
          <a:p>
            <a:pPr indent="0" marL="0">
              <a:buNone/>
            </a:pPr>
            <a:r>
              <a:rPr lang="en-US" sz="1200" dirty="0">
                <a:solidFill>
                  <a:srgbClr val="4A524D"/>
                </a:solidFill>
              </a:rPr>
              <a:t>600m 시장 가게, 손질 옵션, 18:00 픽업</a:t>
            </a:r>
            <a:endParaRPr lang="en-US" sz="1200" dirty="0"/>
          </a:p>
        </p:txBody>
      </p:sp>
      <p:sp>
        <p:nvSpPr>
          <p:cNvPr id="19" name="time pill 3"/>
          <p:cNvSpPr/>
          <p:nvPr/>
        </p:nvSpPr>
        <p:spPr>
          <a:xfrm>
            <a:off x="411480" y="3364992"/>
            <a:ext cx="749808" cy="292608"/>
          </a:xfrm>
          <a:prstGeom prst="roundRect">
            <a:avLst>
              <a:gd name="adj" fmla="val 50000"/>
            </a:avLst>
          </a:prstGeom>
          <a:solidFill>
            <a:srgbClr val="E07B2E"/>
          </a:solidFill>
          <a:ln w="12700">
            <a:solidFill>
              <a:srgbClr val="E07B2E"/>
            </a:solidFill>
            <a:prstDash val="solid"/>
          </a:ln>
        </p:spPr>
      </p:sp>
      <p:sp>
        <p:nvSpPr>
          <p:cNvPr id="20" name="time text 3"/>
          <p:cNvSpPr txBox="1"/>
          <p:nvPr/>
        </p:nvSpPr>
        <p:spPr>
          <a:xfrm>
            <a:off x="411480" y="3364992"/>
            <a:ext cx="749808" cy="292608"/>
          </a:xfrm>
          <a:prstGeom prst="rect">
            <a:avLst/>
          </a:prstGeom>
          <a:noFill/>
          <a:ln/>
        </p:spPr>
        <p:txBody>
          <a:bodyPr wrap="square" lIns="0" tIns="0" rIns="0" bIns="0" rtlCol="0" anchor="ctr"/>
          <a:lstStyle/>
          <a:p>
            <a:pPr algn="ctr" indent="0" marL="0">
              <a:buNone/>
            </a:pPr>
            <a:r>
              <a:rPr lang="en-US" sz="1050" b="1" dirty="0">
                <a:solidFill>
                  <a:srgbClr val="FFFFFF"/>
                </a:solidFill>
              </a:rPr>
              <a:t>17:04</a:t>
            </a:r>
            <a:endParaRPr lang="en-US" sz="1050" dirty="0"/>
          </a:p>
        </p:txBody>
      </p:sp>
      <p:sp>
        <p:nvSpPr>
          <p:cNvPr id="21" name="demo step 3"/>
          <p:cNvSpPr txBox="1"/>
          <p:nvPr/>
        </p:nvSpPr>
        <p:spPr>
          <a:xfrm>
            <a:off x="1325880" y="3328416"/>
            <a:ext cx="4480560" cy="274320"/>
          </a:xfrm>
          <a:prstGeom prst="rect">
            <a:avLst/>
          </a:prstGeom>
          <a:noFill/>
          <a:ln/>
        </p:spPr>
        <p:txBody>
          <a:bodyPr wrap="square" lIns="0" tIns="0" rIns="0" bIns="0" rtlCol="0" anchor="ctr"/>
          <a:lstStyle/>
          <a:p>
            <a:pPr indent="0" marL="0">
              <a:buNone/>
            </a:pPr>
            <a:r>
              <a:rPr lang="en-US" sz="1400" b="1" dirty="0">
                <a:solidFill>
                  <a:srgbClr val="1F2421"/>
                </a:solidFill>
              </a:rPr>
              <a:t>판매자 주문 접수</a:t>
            </a:r>
            <a:endParaRPr lang="en-US" sz="1400" dirty="0"/>
          </a:p>
        </p:txBody>
      </p:sp>
      <p:sp>
        <p:nvSpPr>
          <p:cNvPr id="22" name="demo detail 3"/>
          <p:cNvSpPr txBox="1"/>
          <p:nvPr/>
        </p:nvSpPr>
        <p:spPr>
          <a:xfrm>
            <a:off x="1325880" y="3611880"/>
            <a:ext cx="4480560" cy="256032"/>
          </a:xfrm>
          <a:prstGeom prst="rect">
            <a:avLst/>
          </a:prstGeom>
          <a:noFill/>
          <a:ln/>
        </p:spPr>
        <p:txBody>
          <a:bodyPr wrap="square" lIns="0" tIns="0" rIns="0" bIns="0" rtlCol="0" anchor="ctr"/>
          <a:lstStyle/>
          <a:p>
            <a:pPr indent="0" marL="0">
              <a:buNone/>
            </a:pPr>
            <a:r>
              <a:rPr lang="en-US" sz="1200" dirty="0">
                <a:solidFill>
                  <a:srgbClr val="4A524D"/>
                </a:solidFill>
              </a:rPr>
              <a:t>판매자 화면에서 주문 확인 후 접수</a:t>
            </a:r>
            <a:endParaRPr lang="en-US" sz="1200" dirty="0"/>
          </a:p>
        </p:txBody>
      </p:sp>
      <p:sp>
        <p:nvSpPr>
          <p:cNvPr id="23" name="demo note band"/>
          <p:cNvSpPr/>
          <p:nvPr/>
        </p:nvSpPr>
        <p:spPr>
          <a:xfrm>
            <a:off x="411480" y="4096512"/>
            <a:ext cx="5440680" cy="420624"/>
          </a:xfrm>
          <a:prstGeom prst="rect">
            <a:avLst/>
          </a:prstGeom>
          <a:solidFill>
            <a:srgbClr val="F2F4F2"/>
          </a:solidFill>
          <a:ln w="12700">
            <a:solidFill>
              <a:srgbClr val="F2F4F2"/>
            </a:solidFill>
            <a:prstDash val="solid"/>
          </a:ln>
        </p:spPr>
      </p:sp>
      <p:sp>
        <p:nvSpPr>
          <p:cNvPr id="24" name="demo result"/>
          <p:cNvSpPr txBox="1"/>
          <p:nvPr/>
        </p:nvSpPr>
        <p:spPr>
          <a:xfrm>
            <a:off x="548640" y="4096512"/>
            <a:ext cx="5212080" cy="420624"/>
          </a:xfrm>
          <a:prstGeom prst="rect">
            <a:avLst/>
          </a:prstGeom>
          <a:noFill/>
          <a:ln/>
        </p:spPr>
        <p:txBody>
          <a:bodyPr wrap="square" lIns="0" tIns="0" rIns="0" bIns="0" rtlCol="0" anchor="ctr"/>
          <a:lstStyle/>
          <a:p>
            <a:pPr indent="0" marL="0">
              <a:buNone/>
            </a:pPr>
            <a:r>
              <a:rPr lang="en-US" sz="1200" b="1" dirty="0">
                <a:solidFill>
                  <a:srgbClr val="1E4D3A"/>
                </a:solidFill>
              </a:rPr>
              <a:t>시연 범위  </a:t>
            </a:r>
            <a:pPr indent="0" marL="0">
              <a:buNone/>
            </a:pPr>
            <a:r>
              <a:rPr lang="en-US" sz="1200" dirty="0">
                <a:solidFill>
                  <a:srgbClr val="1F2421"/>
                </a:solidFill>
              </a:rPr>
              <a:t>추천 확인부터 픽업 예약, 판매자 접수까지의 흐름</a:t>
            </a:r>
            <a:endParaRPr lang="en-US" sz="1200" dirty="0"/>
          </a:p>
        </p:txBody>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355080" y="329184"/>
            <a:ext cx="2084706" cy="4370832"/>
          </a:xfrm>
          <a:prstGeom prst="rect">
            <a:avLst/>
          </a:prstGeom>
        </p:spPr>
      </p:pic>
      <p:sp>
        <p:nvSpPr>
          <p:cNvPr id="26" name="demo caption"/>
          <p:cNvSpPr txBox="1"/>
          <p:nvPr/>
        </p:nvSpPr>
        <p:spPr>
          <a:xfrm>
            <a:off x="5943600" y="4736592"/>
            <a:ext cx="2907666" cy="228600"/>
          </a:xfrm>
          <a:prstGeom prst="rect">
            <a:avLst/>
          </a:prstGeom>
          <a:noFill/>
          <a:ln/>
        </p:spPr>
        <p:txBody>
          <a:bodyPr wrap="square" lIns="0" tIns="0" rIns="0" bIns="0" rtlCol="0" anchor="ctr"/>
          <a:lstStyle/>
          <a:p>
            <a:pPr algn="ctr" indent="0" marL="0">
              <a:buNone/>
            </a:pPr>
            <a:r>
              <a:rPr lang="en-US" sz="850" dirty="0">
                <a:solidFill>
                  <a:srgbClr val="7A837D"/>
                </a:solidFill>
              </a:rPr>
              <a:t>슬라이드 쇼에서 재생 · 예시 데이터</a:t>
            </a:r>
            <a:endParaRPr lang="en-US" sz="850" dirty="0"/>
          </a:p>
        </p:txBody>
      </p:sp>
      <p:sp>
        <p:nvSpPr>
          <p:cNvPr id="25" name="Slide Number Placeholder 0"/>
          <p:cNvSpPr>
            <a:spLocks noGrp="1"/>
          </p:cNvSpPr>
          <p:nvPr>
            <p:ph type="sldNum" sz="quarter" idx="4294967295"/>
          </p:nvPr>
        </p:nvSpPr>
        <p:spPr>
          <a:xfrm>
            <a:off x="548640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Business</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목표 시장</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전통시장 매출 중 수도권 채소·나물류를 1차 목표 시장으로 설정 (비율은 가정, 공개 통계로 보완)</a:t>
            </a:r>
            <a:endParaRPr lang="en-US" sz="1300" dirty="0"/>
          </a:p>
        </p:txBody>
      </p:sp>
      <p:sp>
        <p:nvSpPr>
          <p:cNvPr id="6" name="funnel 전체 시장"/>
          <p:cNvSpPr/>
          <p:nvPr/>
        </p:nvSpPr>
        <p:spPr>
          <a:xfrm flipV="1">
            <a:off x="411480" y="1572768"/>
            <a:ext cx="3108960" cy="731520"/>
          </a:xfrm>
          <a:prstGeom prst="trapezoid">
            <a:avLst/>
          </a:prstGeom>
          <a:solidFill>
            <a:srgbClr val="D9DED9"/>
          </a:solidFill>
          <a:ln w="12700">
            <a:solidFill>
              <a:srgbClr val="D9DED9"/>
            </a:solidFill>
            <a:prstDash val="solid"/>
          </a:ln>
        </p:spPr>
      </p:sp>
      <p:sp>
        <p:nvSpPr>
          <p:cNvPr id="7" name="funnel text 전체 시장"/>
          <p:cNvSpPr txBox="1"/>
          <p:nvPr/>
        </p:nvSpPr>
        <p:spPr>
          <a:xfrm>
            <a:off x="411480" y="1572768"/>
            <a:ext cx="3108960" cy="731520"/>
          </a:xfrm>
          <a:prstGeom prst="rect">
            <a:avLst/>
          </a:prstGeom>
          <a:noFill/>
          <a:ln/>
        </p:spPr>
        <p:txBody>
          <a:bodyPr wrap="square" lIns="0" tIns="0" rIns="0" bIns="0" rtlCol="0" anchor="ctr"/>
          <a:lstStyle/>
          <a:p>
            <a:pPr algn="ctr" indent="0" marL="0">
              <a:buNone/>
            </a:pPr>
            <a:r>
              <a:rPr lang="en-US" sz="1100" dirty="0">
                <a:solidFill>
                  <a:srgbClr val="1F2421"/>
                </a:solidFill>
              </a:rPr>
              <a:t>전체 시장</a:t>
            </a:r>
            <a:endParaRPr lang="en-US" sz="1100" dirty="0"/>
          </a:p>
          <a:p>
            <a:pPr algn="ctr" indent="0" marL="0">
              <a:buNone/>
            </a:pPr>
            <a:r>
              <a:rPr lang="en-US" sz="1600" b="1" dirty="0">
                <a:solidFill>
                  <a:srgbClr val="1F2421"/>
                </a:solidFill>
              </a:rPr>
              <a:t>28.7조 원</a:t>
            </a:r>
            <a:endParaRPr lang="en-US" sz="1100" dirty="0"/>
          </a:p>
        </p:txBody>
      </p:sp>
      <p:sp>
        <p:nvSpPr>
          <p:cNvPr id="8" name="funnel 목표 시장"/>
          <p:cNvSpPr/>
          <p:nvPr/>
        </p:nvSpPr>
        <p:spPr>
          <a:xfrm flipV="1">
            <a:off x="777240" y="2359152"/>
            <a:ext cx="2377440" cy="731520"/>
          </a:xfrm>
          <a:prstGeom prst="trapezoid">
            <a:avLst/>
          </a:prstGeom>
          <a:solidFill>
            <a:srgbClr val="3F7F5F"/>
          </a:solidFill>
          <a:ln w="12700">
            <a:solidFill>
              <a:srgbClr val="3F7F5F"/>
            </a:solidFill>
            <a:prstDash val="solid"/>
          </a:ln>
        </p:spPr>
      </p:sp>
      <p:sp>
        <p:nvSpPr>
          <p:cNvPr id="9" name="funnel text 목표 시장"/>
          <p:cNvSpPr txBox="1"/>
          <p:nvPr/>
        </p:nvSpPr>
        <p:spPr>
          <a:xfrm>
            <a:off x="777240" y="2359152"/>
            <a:ext cx="2377440" cy="731520"/>
          </a:xfrm>
          <a:prstGeom prst="rect">
            <a:avLst/>
          </a:prstGeom>
          <a:noFill/>
          <a:ln/>
        </p:spPr>
        <p:txBody>
          <a:bodyPr wrap="square" lIns="0" tIns="0" rIns="0" bIns="0" rtlCol="0" anchor="ctr"/>
          <a:lstStyle/>
          <a:p>
            <a:pPr algn="ctr" indent="0" marL="0">
              <a:buNone/>
            </a:pPr>
            <a:r>
              <a:rPr lang="en-US" sz="1100" dirty="0">
                <a:solidFill>
                  <a:srgbClr val="FFFFFF"/>
                </a:solidFill>
              </a:rPr>
              <a:t>목표 시장</a:t>
            </a:r>
            <a:endParaRPr lang="en-US" sz="1100" dirty="0"/>
          </a:p>
          <a:p>
            <a:pPr algn="ctr" indent="0" marL="0">
              <a:buNone/>
            </a:pPr>
            <a:r>
              <a:rPr lang="en-US" sz="1600" b="1" dirty="0">
                <a:solidFill>
                  <a:srgbClr val="FFFFFF"/>
                </a:solidFill>
              </a:rPr>
              <a:t>약 1.7조 원</a:t>
            </a:r>
            <a:endParaRPr lang="en-US" sz="1100" dirty="0"/>
          </a:p>
        </p:txBody>
      </p:sp>
      <p:sp>
        <p:nvSpPr>
          <p:cNvPr id="10" name="funnel 3년차 목표 거래액"/>
          <p:cNvSpPr/>
          <p:nvPr/>
        </p:nvSpPr>
        <p:spPr>
          <a:xfrm flipV="1">
            <a:off x="1143000" y="3145536"/>
            <a:ext cx="1645920" cy="731520"/>
          </a:xfrm>
          <a:prstGeom prst="trapezoid">
            <a:avLst/>
          </a:prstGeom>
          <a:solidFill>
            <a:srgbClr val="1E4D3A"/>
          </a:solidFill>
          <a:ln w="12700">
            <a:solidFill>
              <a:srgbClr val="1E4D3A"/>
            </a:solidFill>
            <a:prstDash val="solid"/>
          </a:ln>
        </p:spPr>
      </p:sp>
      <p:sp>
        <p:nvSpPr>
          <p:cNvPr id="11" name="funnel text 3년차 목표 거래액"/>
          <p:cNvSpPr txBox="1"/>
          <p:nvPr/>
        </p:nvSpPr>
        <p:spPr>
          <a:xfrm>
            <a:off x="1143000" y="3145536"/>
            <a:ext cx="1645920" cy="731520"/>
          </a:xfrm>
          <a:prstGeom prst="rect">
            <a:avLst/>
          </a:prstGeom>
          <a:noFill/>
          <a:ln/>
        </p:spPr>
        <p:txBody>
          <a:bodyPr wrap="square" lIns="0" tIns="0" rIns="0" bIns="0" rtlCol="0" anchor="ctr"/>
          <a:lstStyle/>
          <a:p>
            <a:pPr algn="ctr" indent="0" marL="0">
              <a:buNone/>
            </a:pPr>
            <a:r>
              <a:rPr lang="en-US" sz="1100" dirty="0">
                <a:solidFill>
                  <a:srgbClr val="FFFFFF"/>
                </a:solidFill>
              </a:rPr>
              <a:t>3년차 목표 거래액</a:t>
            </a:r>
            <a:endParaRPr lang="en-US" sz="1100" dirty="0"/>
          </a:p>
          <a:p>
            <a:pPr algn="ctr" indent="0" marL="0">
              <a:buNone/>
            </a:pPr>
            <a:r>
              <a:rPr lang="en-US" sz="1600" b="1" dirty="0">
                <a:solidFill>
                  <a:srgbClr val="FFFFFF"/>
                </a:solidFill>
              </a:rPr>
              <a:t>54억 원</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3749040" y="1536192"/>
          <a:ext cx="4983480" cy="914400"/>
        </p:xfrm>
        <a:graphic>
          <a:graphicData uri="http://schemas.openxmlformats.org/drawingml/2006/table">
            <a:tbl>
              <a:tblPr/>
              <a:tblGrid>
                <a:gridCol w="1097280"/>
                <a:gridCol w="1143000"/>
                <a:gridCol w="2743200"/>
              </a:tblGrid>
              <a:tr h="329184">
                <a:tc>
                  <a:txBody>
                    <a:bodyPr/>
                    <a:lstStyle/>
                    <a:p>
                      <a:pPr algn="ctr" indent="0" marL="0">
                        <a:buNone/>
                      </a:pPr>
                      <a:r>
                        <a:rPr lang="en-US" sz="1200" b="1" dirty="0">
                          <a:solidFill>
                            <a:srgbClr val="FFFFFF"/>
                          </a:solidFill>
                        </a:rPr>
                        <a:t>구분</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200" b="1" dirty="0">
                          <a:solidFill>
                            <a:srgbClr val="FFFFFF"/>
                          </a:solidFill>
                        </a:rPr>
                        <a:t>규모</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200" b="1" dirty="0">
                          <a:solidFill>
                            <a:srgbClr val="FFFFFF"/>
                          </a:solidFill>
                        </a:rPr>
                        <a:t>산출 근거</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r>
              <a:tr h="713232">
                <a:tc>
                  <a:txBody>
                    <a:bodyPr/>
                    <a:lstStyle/>
                    <a:p>
                      <a:pPr algn="ctr" indent="0" marL="0">
                        <a:buNone/>
                      </a:pPr>
                      <a:r>
                        <a:rPr lang="en-US" sz="1200" b="1" dirty="0">
                          <a:solidFill>
                            <a:srgbClr val="1F2421"/>
                          </a:solidFill>
                        </a:rPr>
                        <a:t>전체 시장</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200" b="1" dirty="0">
                          <a:solidFill>
                            <a:srgbClr val="1F2421"/>
                          </a:solidFill>
                        </a:rPr>
                        <a:t>28.7조 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전국 전통시장 1,393곳 연매출</a:t>
                      </a:r>
                      <a:endParaRPr lang="en-US" sz="1200" dirty="0"/>
                    </a:p>
                    <a:p>
                      <a:pPr algn="l" indent="0" marL="0">
                        <a:buNone/>
                      </a:pPr>
                      <a:r>
                        <a:rPr lang="en-US" sz="1200" dirty="0">
                          <a:solidFill>
                            <a:srgbClr val="1F2421"/>
                          </a:solidFill>
                        </a:rPr>
                        <a:t>(2023, 식품 외 업종 포함)</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713232">
                <a:tc>
                  <a:txBody>
                    <a:bodyPr/>
                    <a:lstStyle/>
                    <a:p>
                      <a:pPr algn="ctr" indent="0" marL="0">
                        <a:buNone/>
                      </a:pPr>
                      <a:r>
                        <a:rPr lang="en-US" sz="1200" b="1" dirty="0">
                          <a:solidFill>
                            <a:srgbClr val="1F2421"/>
                          </a:solidFill>
                        </a:rPr>
                        <a:t>목표 시장</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200" b="1" dirty="0">
                          <a:solidFill>
                            <a:srgbClr val="1E4D3A"/>
                          </a:solidFill>
                        </a:rPr>
                        <a:t>약 1.7조 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28.7조 원 × 수도권 40%</a:t>
                      </a:r>
                      <a:endParaRPr lang="en-US" sz="1200" dirty="0"/>
                    </a:p>
                    <a:p>
                      <a:pPr algn="l" indent="0" marL="0">
                        <a:buNone/>
                      </a:pPr>
                      <a:r>
                        <a:rPr lang="en-US" sz="1200" dirty="0">
                          <a:solidFill>
                            <a:srgbClr val="1F2421"/>
                          </a:solidFill>
                        </a:rPr>
                        <a:t>× 채소·나물 15% (가정)</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713232">
                <a:tc>
                  <a:txBody>
                    <a:bodyPr/>
                    <a:lstStyle/>
                    <a:p>
                      <a:pPr algn="ctr" indent="0" marL="0">
                        <a:buNone/>
                      </a:pPr>
                      <a:r>
                        <a:rPr lang="en-US" sz="1200" b="1" dirty="0">
                          <a:solidFill>
                            <a:srgbClr val="1F2421"/>
                          </a:solidFill>
                        </a:rPr>
                        <a:t>3년차 목표</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ctr" indent="0" marL="0">
                        <a:buNone/>
                      </a:pPr>
                      <a:r>
                        <a:rPr lang="en-US" sz="1200" b="1" dirty="0">
                          <a:solidFill>
                            <a:srgbClr val="1E4D3A"/>
                          </a:solidFill>
                        </a:rPr>
                        <a:t>54억 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입점 300곳 × 월 100건</a:t>
                      </a:r>
                      <a:endParaRPr lang="en-US" sz="1200" dirty="0"/>
                    </a:p>
                    <a:p>
                      <a:pPr algn="l" indent="0" marL="0">
                        <a:buNone/>
                      </a:pPr>
                      <a:r>
                        <a:rPr lang="en-US" sz="1200" dirty="0">
                          <a:solidFill>
                            <a:srgbClr val="1F2421"/>
                          </a:solidFill>
                        </a:rPr>
                        <a:t>× 1.5만 원 × 12개월</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13" name="note band"/>
          <p:cNvSpPr/>
          <p:nvPr/>
        </p:nvSpPr>
        <p:spPr>
          <a:xfrm>
            <a:off x="411480" y="4069080"/>
            <a:ext cx="8321040" cy="402336"/>
          </a:xfrm>
          <a:prstGeom prst="rect">
            <a:avLst/>
          </a:prstGeom>
          <a:solidFill>
            <a:srgbClr val="F2F4F2"/>
          </a:solidFill>
          <a:ln w="12700">
            <a:solidFill>
              <a:srgbClr val="F2F4F2"/>
            </a:solidFill>
            <a:prstDash val="solid"/>
          </a:ln>
        </p:spPr>
      </p:sp>
      <p:sp>
        <p:nvSpPr>
          <p:cNvPr id="14" name="market note"/>
          <p:cNvSpPr txBox="1"/>
          <p:nvPr/>
        </p:nvSpPr>
        <p:spPr>
          <a:xfrm>
            <a:off x="548640" y="4069080"/>
            <a:ext cx="8138160" cy="402336"/>
          </a:xfrm>
          <a:prstGeom prst="rect">
            <a:avLst/>
          </a:prstGeom>
          <a:noFill/>
          <a:ln/>
        </p:spPr>
        <p:txBody>
          <a:bodyPr wrap="square" lIns="0" tIns="0" rIns="0" bIns="0" rtlCol="0" anchor="ctr"/>
          <a:lstStyle/>
          <a:p>
            <a:pPr indent="0" marL="0">
              <a:buNone/>
            </a:pPr>
            <a:r>
              <a:rPr lang="en-US" sz="1150" dirty="0">
                <a:solidFill>
                  <a:srgbClr val="1F2421"/>
                </a:solidFill>
              </a:rPr>
              <a:t>온라인 식품 거래는 전통시장 매출과 겹칠 수 있어 전통시장 매출만 기준으로 잡음</a:t>
            </a:r>
            <a:endParaRPr lang="en-US" sz="1150" dirty="0"/>
          </a:p>
        </p:txBody>
      </p:sp>
      <p:sp>
        <p:nvSpPr>
          <p:cNvPr id="15"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자료: 소상공인시장진흥공단 전통시장 실태조사(2023 기준) / 주: 수도권·품목 비율과 3년차 목표는 가정 기반 추정</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Business</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경쟁 현황 및 차별점</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나물 요리를 고른 고객이 필요한 재료를 동네 매장에서 손질까지 받아 살 수 있게 하는 데 집중</a:t>
            </a:r>
            <a:endParaRPr lang="en-US" sz="1300" dirty="0"/>
          </a:p>
        </p:txBody>
      </p:sp>
      <p:sp>
        <p:nvSpPr>
          <p:cNvPr id="6" name="target quadrant"/>
          <p:cNvSpPr/>
          <p:nvPr/>
        </p:nvSpPr>
        <p:spPr>
          <a:xfrm>
            <a:off x="868680" y="2903220"/>
            <a:ext cx="1920240" cy="1303020"/>
          </a:xfrm>
          <a:prstGeom prst="rect">
            <a:avLst/>
          </a:prstGeom>
          <a:solidFill>
            <a:srgbClr val="E6F0EA"/>
          </a:solidFill>
          <a:ln w="12700">
            <a:solidFill>
              <a:srgbClr val="E6F0EA"/>
            </a:solidFill>
            <a:prstDash val="solid"/>
          </a:ln>
        </p:spPr>
      </p:sp>
      <p:sp>
        <p:nvSpPr>
          <p:cNvPr id="7" name="plot frame"/>
          <p:cNvSpPr/>
          <p:nvPr/>
        </p:nvSpPr>
        <p:spPr>
          <a:xfrm>
            <a:off x="868680" y="1600200"/>
            <a:ext cx="3840480" cy="2606040"/>
          </a:xfrm>
          <a:prstGeom prst="rect">
            <a:avLst/>
          </a:prstGeom>
          <a:ln w="9525">
            <a:solidFill>
              <a:srgbClr val="B9C1BB"/>
            </a:solidFill>
            <a:prstDash val="solid"/>
          </a:ln>
        </p:spPr>
      </p:sp>
      <p:sp>
        <p:nvSpPr>
          <p:cNvPr id="8" name="divider v"/>
          <p:cNvSpPr/>
          <p:nvPr/>
        </p:nvSpPr>
        <p:spPr>
          <a:xfrm>
            <a:off x="2788920" y="1600200"/>
            <a:ext cx="0" cy="2606040"/>
          </a:xfrm>
          <a:prstGeom prst="line">
            <a:avLst/>
          </a:prstGeom>
          <a:noFill/>
          <a:ln w="9525">
            <a:solidFill>
              <a:srgbClr val="D9DED9"/>
            </a:solidFill>
            <a:prstDash val="solid"/>
          </a:ln>
        </p:spPr>
      </p:sp>
      <p:sp>
        <p:nvSpPr>
          <p:cNvPr id="9" name="divider h"/>
          <p:cNvSpPr/>
          <p:nvPr/>
        </p:nvSpPr>
        <p:spPr>
          <a:xfrm>
            <a:off x="868680" y="2903220"/>
            <a:ext cx="3840480" cy="0"/>
          </a:xfrm>
          <a:prstGeom prst="line">
            <a:avLst/>
          </a:prstGeom>
          <a:noFill/>
          <a:ln w="9525">
            <a:solidFill>
              <a:srgbClr val="D9DED9"/>
            </a:solidFill>
            <a:prstDash val="solid"/>
          </a:ln>
        </p:spPr>
      </p:sp>
      <p:sp>
        <p:nvSpPr>
          <p:cNvPr id="10" name="x axis left"/>
          <p:cNvSpPr txBox="1"/>
          <p:nvPr/>
        </p:nvSpPr>
        <p:spPr>
          <a:xfrm>
            <a:off x="868680" y="4261104"/>
            <a:ext cx="1463040" cy="228600"/>
          </a:xfrm>
          <a:prstGeom prst="rect">
            <a:avLst/>
          </a:prstGeom>
          <a:noFill/>
          <a:ln/>
        </p:spPr>
        <p:txBody>
          <a:bodyPr wrap="square" lIns="0" tIns="0" rIns="0" bIns="0" rtlCol="0" anchor="ctr"/>
          <a:lstStyle/>
          <a:p>
            <a:pPr indent="0" marL="0">
              <a:buNone/>
            </a:pPr>
            <a:r>
              <a:rPr lang="en-US" sz="1050" dirty="0">
                <a:solidFill>
                  <a:srgbClr val="4A524D"/>
                </a:solidFill>
              </a:rPr>
              <a:t>콘텐츠 중심</a:t>
            </a:r>
            <a:endParaRPr lang="en-US" sz="1050" dirty="0"/>
          </a:p>
        </p:txBody>
      </p:sp>
      <p:sp>
        <p:nvSpPr>
          <p:cNvPr id="11" name="x axis right"/>
          <p:cNvSpPr txBox="1"/>
          <p:nvPr/>
        </p:nvSpPr>
        <p:spPr>
          <a:xfrm>
            <a:off x="3246120" y="4261104"/>
            <a:ext cx="1463040" cy="228600"/>
          </a:xfrm>
          <a:prstGeom prst="rect">
            <a:avLst/>
          </a:prstGeom>
          <a:noFill/>
          <a:ln/>
        </p:spPr>
        <p:txBody>
          <a:bodyPr wrap="square" lIns="0" tIns="0" rIns="0" bIns="0" rtlCol="0" anchor="ctr"/>
          <a:lstStyle/>
          <a:p>
            <a:pPr algn="r" indent="0" marL="0">
              <a:buNone/>
            </a:pPr>
            <a:r>
              <a:rPr lang="en-US" sz="1050" dirty="0">
                <a:solidFill>
                  <a:srgbClr val="4A524D"/>
                </a:solidFill>
              </a:rPr>
              <a:t>구매 중심</a:t>
            </a:r>
            <a:endParaRPr lang="en-US" sz="1050" dirty="0"/>
          </a:p>
        </p:txBody>
      </p:sp>
      <p:sp>
        <p:nvSpPr>
          <p:cNvPr id="12" name="y axis top"/>
          <p:cNvSpPr txBox="1"/>
          <p:nvPr/>
        </p:nvSpPr>
        <p:spPr>
          <a:xfrm>
            <a:off x="384048" y="1600200"/>
            <a:ext cx="411480" cy="438912"/>
          </a:xfrm>
          <a:prstGeom prst="rect">
            <a:avLst/>
          </a:prstGeom>
          <a:noFill/>
          <a:ln/>
        </p:spPr>
        <p:txBody>
          <a:bodyPr wrap="square" lIns="0" tIns="0" rIns="0" bIns="0" rtlCol="0" anchor="ctr"/>
          <a:lstStyle/>
          <a:p>
            <a:pPr algn="r" indent="0" marL="0">
              <a:buNone/>
            </a:pPr>
            <a:r>
              <a:rPr lang="en-US" sz="1050" dirty="0">
                <a:solidFill>
                  <a:srgbClr val="4A524D"/>
                </a:solidFill>
              </a:rPr>
              <a:t>전국</a:t>
            </a:r>
            <a:endParaRPr lang="en-US" sz="1050" dirty="0"/>
          </a:p>
          <a:p>
            <a:pPr algn="r" indent="0" marL="0">
              <a:buNone/>
            </a:pPr>
            <a:r>
              <a:rPr lang="en-US" sz="1050" dirty="0">
                <a:solidFill>
                  <a:srgbClr val="4A524D"/>
                </a:solidFill>
              </a:rPr>
              <a:t>대상</a:t>
            </a:r>
            <a:endParaRPr lang="en-US" sz="1050" dirty="0"/>
          </a:p>
        </p:txBody>
      </p:sp>
      <p:sp>
        <p:nvSpPr>
          <p:cNvPr id="13" name="y axis bottom"/>
          <p:cNvSpPr txBox="1"/>
          <p:nvPr/>
        </p:nvSpPr>
        <p:spPr>
          <a:xfrm>
            <a:off x="384048" y="3767328"/>
            <a:ext cx="411480" cy="438912"/>
          </a:xfrm>
          <a:prstGeom prst="rect">
            <a:avLst/>
          </a:prstGeom>
          <a:noFill/>
          <a:ln/>
        </p:spPr>
        <p:txBody>
          <a:bodyPr wrap="square" lIns="0" tIns="0" rIns="0" bIns="0" rtlCol="0" anchor="ctr"/>
          <a:lstStyle/>
          <a:p>
            <a:pPr algn="r" indent="0" marL="0">
              <a:buNone/>
            </a:pPr>
            <a:r>
              <a:rPr lang="en-US" sz="1050" dirty="0">
                <a:solidFill>
                  <a:srgbClr val="4A524D"/>
                </a:solidFill>
              </a:rPr>
              <a:t>지역</a:t>
            </a:r>
            <a:endParaRPr lang="en-US" sz="1050" dirty="0"/>
          </a:p>
          <a:p>
            <a:pPr algn="r" indent="0" marL="0">
              <a:buNone/>
            </a:pPr>
            <a:r>
              <a:rPr lang="en-US" sz="1050" dirty="0">
                <a:solidFill>
                  <a:srgbClr val="4A524D"/>
                </a:solidFill>
              </a:rPr>
              <a:t>기반</a:t>
            </a:r>
            <a:endParaRPr lang="en-US" sz="1050" dirty="0"/>
          </a:p>
        </p:txBody>
      </p:sp>
      <p:sp>
        <p:nvSpPr>
          <p:cNvPr id="14" name="dot 레시피 앱·유튜브"/>
          <p:cNvSpPr/>
          <p:nvPr/>
        </p:nvSpPr>
        <p:spPr>
          <a:xfrm>
            <a:off x="1083564" y="2043684"/>
            <a:ext cx="118872" cy="118872"/>
          </a:xfrm>
          <a:prstGeom prst="ellipse">
            <a:avLst/>
          </a:prstGeom>
          <a:solidFill>
            <a:srgbClr val="7A837D"/>
          </a:solidFill>
          <a:ln w="12700">
            <a:solidFill>
              <a:srgbClr val="7A837D"/>
            </a:solidFill>
            <a:prstDash val="solid"/>
          </a:ln>
        </p:spPr>
      </p:sp>
      <p:sp>
        <p:nvSpPr>
          <p:cNvPr id="15" name="dot label 레시피 앱·유튜브"/>
          <p:cNvSpPr txBox="1"/>
          <p:nvPr/>
        </p:nvSpPr>
        <p:spPr>
          <a:xfrm>
            <a:off x="1257300" y="1965960"/>
            <a:ext cx="1463040" cy="274320"/>
          </a:xfrm>
          <a:prstGeom prst="rect">
            <a:avLst/>
          </a:prstGeom>
          <a:noFill/>
          <a:ln/>
        </p:spPr>
        <p:txBody>
          <a:bodyPr wrap="square" lIns="0" tIns="0" rIns="0" bIns="0" rtlCol="0" anchor="ctr"/>
          <a:lstStyle/>
          <a:p>
            <a:pPr indent="0" marL="0">
              <a:buNone/>
            </a:pPr>
            <a:r>
              <a:rPr lang="en-US" sz="1050" dirty="0">
                <a:solidFill>
                  <a:srgbClr val="1F2421"/>
                </a:solidFill>
              </a:rPr>
              <a:t>레시피 앱·유튜브</a:t>
            </a:r>
            <a:endParaRPr lang="en-US" sz="1050" dirty="0"/>
          </a:p>
        </p:txBody>
      </p:sp>
      <p:sp>
        <p:nvSpPr>
          <p:cNvPr id="16" name="dot 쿠팡·컬리"/>
          <p:cNvSpPr/>
          <p:nvPr/>
        </p:nvSpPr>
        <p:spPr>
          <a:xfrm>
            <a:off x="3506724" y="1952244"/>
            <a:ext cx="118872" cy="118872"/>
          </a:xfrm>
          <a:prstGeom prst="ellipse">
            <a:avLst/>
          </a:prstGeom>
          <a:solidFill>
            <a:srgbClr val="7A837D"/>
          </a:solidFill>
          <a:ln w="12700">
            <a:solidFill>
              <a:srgbClr val="7A837D"/>
            </a:solidFill>
            <a:prstDash val="solid"/>
          </a:ln>
        </p:spPr>
      </p:sp>
      <p:sp>
        <p:nvSpPr>
          <p:cNvPr id="17" name="dot label 쿠팡·컬리"/>
          <p:cNvSpPr txBox="1"/>
          <p:nvPr/>
        </p:nvSpPr>
        <p:spPr>
          <a:xfrm>
            <a:off x="3680460" y="1874520"/>
            <a:ext cx="1463040" cy="274320"/>
          </a:xfrm>
          <a:prstGeom prst="rect">
            <a:avLst/>
          </a:prstGeom>
          <a:noFill/>
          <a:ln/>
        </p:spPr>
        <p:txBody>
          <a:bodyPr wrap="square" lIns="0" tIns="0" rIns="0" bIns="0" rtlCol="0" anchor="ctr"/>
          <a:lstStyle/>
          <a:p>
            <a:pPr indent="0" marL="0">
              <a:buNone/>
            </a:pPr>
            <a:r>
              <a:rPr lang="en-US" sz="1050" dirty="0">
                <a:solidFill>
                  <a:srgbClr val="1F2421"/>
                </a:solidFill>
              </a:rPr>
              <a:t>쿠팡·컬리</a:t>
            </a:r>
            <a:endParaRPr lang="en-US" sz="1050" dirty="0"/>
          </a:p>
        </p:txBody>
      </p:sp>
      <p:sp>
        <p:nvSpPr>
          <p:cNvPr id="18" name="dot 어글리어스"/>
          <p:cNvSpPr/>
          <p:nvPr/>
        </p:nvSpPr>
        <p:spPr>
          <a:xfrm>
            <a:off x="3003804" y="2455164"/>
            <a:ext cx="118872" cy="118872"/>
          </a:xfrm>
          <a:prstGeom prst="ellipse">
            <a:avLst/>
          </a:prstGeom>
          <a:solidFill>
            <a:srgbClr val="7A837D"/>
          </a:solidFill>
          <a:ln w="12700">
            <a:solidFill>
              <a:srgbClr val="7A837D"/>
            </a:solidFill>
            <a:prstDash val="solid"/>
          </a:ln>
        </p:spPr>
      </p:sp>
      <p:sp>
        <p:nvSpPr>
          <p:cNvPr id="19" name="dot label 어글리어스"/>
          <p:cNvSpPr txBox="1"/>
          <p:nvPr/>
        </p:nvSpPr>
        <p:spPr>
          <a:xfrm>
            <a:off x="3177540" y="2377440"/>
            <a:ext cx="1463040" cy="274320"/>
          </a:xfrm>
          <a:prstGeom prst="rect">
            <a:avLst/>
          </a:prstGeom>
          <a:noFill/>
          <a:ln/>
        </p:spPr>
        <p:txBody>
          <a:bodyPr wrap="square" lIns="0" tIns="0" rIns="0" bIns="0" rtlCol="0" anchor="ctr"/>
          <a:lstStyle/>
          <a:p>
            <a:pPr indent="0" marL="0">
              <a:buNone/>
            </a:pPr>
            <a:r>
              <a:rPr lang="en-US" sz="1050" dirty="0">
                <a:solidFill>
                  <a:srgbClr val="1F2421"/>
                </a:solidFill>
              </a:rPr>
              <a:t>어글리어스</a:t>
            </a:r>
            <a:endParaRPr lang="en-US" sz="1050" dirty="0"/>
          </a:p>
        </p:txBody>
      </p:sp>
      <p:sp>
        <p:nvSpPr>
          <p:cNvPr id="20" name="dot 배민 장보기"/>
          <p:cNvSpPr/>
          <p:nvPr/>
        </p:nvSpPr>
        <p:spPr>
          <a:xfrm>
            <a:off x="3415284" y="3232404"/>
            <a:ext cx="118872" cy="118872"/>
          </a:xfrm>
          <a:prstGeom prst="ellipse">
            <a:avLst/>
          </a:prstGeom>
          <a:solidFill>
            <a:srgbClr val="7A837D"/>
          </a:solidFill>
          <a:ln w="12700">
            <a:solidFill>
              <a:srgbClr val="7A837D"/>
            </a:solidFill>
            <a:prstDash val="solid"/>
          </a:ln>
        </p:spPr>
      </p:sp>
      <p:sp>
        <p:nvSpPr>
          <p:cNvPr id="21" name="dot label 배민 장보기"/>
          <p:cNvSpPr txBox="1"/>
          <p:nvPr/>
        </p:nvSpPr>
        <p:spPr>
          <a:xfrm>
            <a:off x="3589020" y="3154680"/>
            <a:ext cx="1463040" cy="274320"/>
          </a:xfrm>
          <a:prstGeom prst="rect">
            <a:avLst/>
          </a:prstGeom>
          <a:noFill/>
          <a:ln/>
        </p:spPr>
        <p:txBody>
          <a:bodyPr wrap="square" lIns="0" tIns="0" rIns="0" bIns="0" rtlCol="0" anchor="ctr"/>
          <a:lstStyle/>
          <a:p>
            <a:pPr indent="0" marL="0">
              <a:buNone/>
            </a:pPr>
            <a:r>
              <a:rPr lang="en-US" sz="1050" dirty="0">
                <a:solidFill>
                  <a:srgbClr val="1F2421"/>
                </a:solidFill>
              </a:rPr>
              <a:t>배민 장보기</a:t>
            </a:r>
            <a:endParaRPr lang="en-US" sz="1050" dirty="0"/>
          </a:p>
        </p:txBody>
      </p:sp>
      <p:sp>
        <p:nvSpPr>
          <p:cNvPr id="22" name="dot 네이버"/>
          <p:cNvSpPr/>
          <p:nvPr/>
        </p:nvSpPr>
        <p:spPr>
          <a:xfrm>
            <a:off x="3003804" y="3598164"/>
            <a:ext cx="118872" cy="118872"/>
          </a:xfrm>
          <a:prstGeom prst="ellipse">
            <a:avLst/>
          </a:prstGeom>
          <a:solidFill>
            <a:srgbClr val="7A837D"/>
          </a:solidFill>
          <a:ln w="12700">
            <a:solidFill>
              <a:srgbClr val="7A837D"/>
            </a:solidFill>
            <a:prstDash val="solid"/>
          </a:ln>
        </p:spPr>
      </p:sp>
      <p:sp>
        <p:nvSpPr>
          <p:cNvPr id="23" name="dot label 네이버"/>
          <p:cNvSpPr txBox="1"/>
          <p:nvPr/>
        </p:nvSpPr>
        <p:spPr>
          <a:xfrm>
            <a:off x="3177540" y="3520440"/>
            <a:ext cx="1463040" cy="274320"/>
          </a:xfrm>
          <a:prstGeom prst="rect">
            <a:avLst/>
          </a:prstGeom>
          <a:noFill/>
          <a:ln/>
        </p:spPr>
        <p:txBody>
          <a:bodyPr wrap="square" lIns="0" tIns="0" rIns="0" bIns="0" rtlCol="0" anchor="ctr"/>
          <a:lstStyle/>
          <a:p>
            <a:pPr indent="0" marL="0">
              <a:buNone/>
            </a:pPr>
            <a:r>
              <a:rPr lang="en-US" sz="1050" dirty="0">
                <a:solidFill>
                  <a:srgbClr val="1F2421"/>
                </a:solidFill>
              </a:rPr>
              <a:t>네이버</a:t>
            </a:r>
            <a:endParaRPr lang="en-US" sz="1050" dirty="0"/>
          </a:p>
        </p:txBody>
      </p:sp>
      <p:sp>
        <p:nvSpPr>
          <p:cNvPr id="24" name="dot 당근"/>
          <p:cNvSpPr/>
          <p:nvPr/>
        </p:nvSpPr>
        <p:spPr>
          <a:xfrm>
            <a:off x="3689604" y="3872484"/>
            <a:ext cx="118872" cy="118872"/>
          </a:xfrm>
          <a:prstGeom prst="ellipse">
            <a:avLst/>
          </a:prstGeom>
          <a:solidFill>
            <a:srgbClr val="7A837D"/>
          </a:solidFill>
          <a:ln w="12700">
            <a:solidFill>
              <a:srgbClr val="7A837D"/>
            </a:solidFill>
            <a:prstDash val="solid"/>
          </a:ln>
        </p:spPr>
      </p:sp>
      <p:sp>
        <p:nvSpPr>
          <p:cNvPr id="25" name="dot label 당근"/>
          <p:cNvSpPr txBox="1"/>
          <p:nvPr/>
        </p:nvSpPr>
        <p:spPr>
          <a:xfrm>
            <a:off x="3863340" y="3794760"/>
            <a:ext cx="1463040" cy="274320"/>
          </a:xfrm>
          <a:prstGeom prst="rect">
            <a:avLst/>
          </a:prstGeom>
          <a:noFill/>
          <a:ln/>
        </p:spPr>
        <p:txBody>
          <a:bodyPr wrap="square" lIns="0" tIns="0" rIns="0" bIns="0" rtlCol="0" anchor="ctr"/>
          <a:lstStyle/>
          <a:p>
            <a:pPr indent="0" marL="0">
              <a:buNone/>
            </a:pPr>
            <a:r>
              <a:rPr lang="en-US" sz="1050" dirty="0">
                <a:solidFill>
                  <a:srgbClr val="1F2421"/>
                </a:solidFill>
              </a:rPr>
              <a:t>당근</a:t>
            </a:r>
            <a:endParaRPr lang="en-US" sz="1050" dirty="0"/>
          </a:p>
        </p:txBody>
      </p:sp>
      <p:sp>
        <p:nvSpPr>
          <p:cNvPr id="26" name="dot 나물로"/>
          <p:cNvSpPr/>
          <p:nvPr/>
        </p:nvSpPr>
        <p:spPr>
          <a:xfrm>
            <a:off x="1417320" y="3520440"/>
            <a:ext cx="182880" cy="182880"/>
          </a:xfrm>
          <a:prstGeom prst="ellipse">
            <a:avLst/>
          </a:prstGeom>
          <a:solidFill>
            <a:srgbClr val="B8692B"/>
          </a:solidFill>
          <a:ln w="12700">
            <a:solidFill>
              <a:srgbClr val="B8692B"/>
            </a:solidFill>
            <a:prstDash val="solid"/>
          </a:ln>
        </p:spPr>
      </p:sp>
      <p:sp>
        <p:nvSpPr>
          <p:cNvPr id="27" name="dot label 나물로"/>
          <p:cNvSpPr txBox="1"/>
          <p:nvPr/>
        </p:nvSpPr>
        <p:spPr>
          <a:xfrm>
            <a:off x="1655064" y="3474720"/>
            <a:ext cx="1463040" cy="274320"/>
          </a:xfrm>
          <a:prstGeom prst="rect">
            <a:avLst/>
          </a:prstGeom>
          <a:noFill/>
          <a:ln/>
        </p:spPr>
        <p:txBody>
          <a:bodyPr wrap="square" lIns="0" tIns="0" rIns="0" bIns="0" rtlCol="0" anchor="ctr"/>
          <a:lstStyle/>
          <a:p>
            <a:pPr indent="0" marL="0">
              <a:buNone/>
            </a:pPr>
            <a:r>
              <a:rPr lang="en-US" sz="1200" b="1" dirty="0">
                <a:solidFill>
                  <a:srgbClr val="B8692B"/>
                </a:solidFill>
              </a:rPr>
              <a:t>나물로</a:t>
            </a:r>
            <a:endParaRPr lang="en-US" sz="1200" dirty="0"/>
          </a:p>
        </p:txBody>
      </p:sp>
      <p:sp>
        <p:nvSpPr>
          <p:cNvPr id="28" name="gap caption"/>
          <p:cNvSpPr txBox="1"/>
          <p:nvPr/>
        </p:nvSpPr>
        <p:spPr>
          <a:xfrm>
            <a:off x="978408" y="2994660"/>
            <a:ext cx="1463040" cy="237744"/>
          </a:xfrm>
          <a:prstGeom prst="rect">
            <a:avLst/>
          </a:prstGeom>
          <a:noFill/>
          <a:ln/>
        </p:spPr>
        <p:txBody>
          <a:bodyPr wrap="square" lIns="0" tIns="0" rIns="0" bIns="0" rtlCol="0" anchor="ctr"/>
          <a:lstStyle/>
          <a:p>
            <a:pPr indent="0" marL="0">
              <a:buNone/>
            </a:pPr>
            <a:r>
              <a:rPr lang="en-US" sz="1050" b="1" dirty="0">
                <a:solidFill>
                  <a:srgbClr val="1E4D3A"/>
                </a:solidFill>
              </a:rPr>
              <a:t>기회 영역</a:t>
            </a:r>
            <a:endParaRPr lang="en-US" sz="1050" dirty="0"/>
          </a:p>
        </p:txBody>
      </p:sp>
      <p:sp>
        <p:nvSpPr>
          <p:cNvPr id="29" name="diff title"/>
          <p:cNvSpPr txBox="1"/>
          <p:nvPr/>
        </p:nvSpPr>
        <p:spPr>
          <a:xfrm>
            <a:off x="5074920" y="1572768"/>
            <a:ext cx="3657600" cy="274320"/>
          </a:xfrm>
          <a:prstGeom prst="rect">
            <a:avLst/>
          </a:prstGeom>
          <a:noFill/>
          <a:ln/>
        </p:spPr>
        <p:txBody>
          <a:bodyPr wrap="square" lIns="0" tIns="0" rIns="0" bIns="0" rtlCol="0" anchor="ctr"/>
          <a:lstStyle/>
          <a:p>
            <a:pPr indent="0" marL="0">
              <a:buNone/>
            </a:pPr>
            <a:r>
              <a:rPr lang="en-US" sz="1200" b="1" dirty="0">
                <a:solidFill>
                  <a:srgbClr val="1E4D3A"/>
                </a:solidFill>
              </a:rPr>
              <a:t>차별점</a:t>
            </a:r>
            <a:endParaRPr lang="en-US" sz="1200" dirty="0"/>
          </a:p>
        </p:txBody>
      </p:sp>
      <p:sp>
        <p:nvSpPr>
          <p:cNvPr id="30" name="badge 1"/>
          <p:cNvSpPr/>
          <p:nvPr/>
        </p:nvSpPr>
        <p:spPr>
          <a:xfrm>
            <a:off x="5074920" y="1901952"/>
            <a:ext cx="274320" cy="274320"/>
          </a:xfrm>
          <a:prstGeom prst="ellipse">
            <a:avLst/>
          </a:prstGeom>
          <a:solidFill>
            <a:srgbClr val="E07B2E"/>
          </a:solidFill>
          <a:ln w="19050">
            <a:solidFill>
              <a:srgbClr val="FFFFFF"/>
            </a:solidFill>
            <a:prstDash val="solid"/>
          </a:ln>
        </p:spPr>
      </p:sp>
      <p:sp>
        <p:nvSpPr>
          <p:cNvPr id="31" name="badge text 1"/>
          <p:cNvSpPr txBox="1"/>
          <p:nvPr/>
        </p:nvSpPr>
        <p:spPr>
          <a:xfrm>
            <a:off x="5074920" y="19019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32" name="diff head 0"/>
          <p:cNvSpPr txBox="1"/>
          <p:nvPr/>
        </p:nvSpPr>
        <p:spPr>
          <a:xfrm>
            <a:off x="5486400" y="1883664"/>
            <a:ext cx="3246120" cy="310896"/>
          </a:xfrm>
          <a:prstGeom prst="rect">
            <a:avLst/>
          </a:prstGeom>
          <a:noFill/>
          <a:ln/>
        </p:spPr>
        <p:txBody>
          <a:bodyPr wrap="square" lIns="0" tIns="0" rIns="0" bIns="0" rtlCol="0" anchor="ctr"/>
          <a:lstStyle/>
          <a:p>
            <a:pPr indent="0" marL="0">
              <a:buNone/>
            </a:pPr>
            <a:r>
              <a:rPr lang="en-US" sz="1400" b="1" dirty="0">
                <a:solidFill>
                  <a:srgbClr val="1F2421"/>
                </a:solidFill>
              </a:rPr>
              <a:t>레시피 연동 주문</a:t>
            </a:r>
            <a:endParaRPr lang="en-US" sz="1400" dirty="0"/>
          </a:p>
        </p:txBody>
      </p:sp>
      <p:sp>
        <p:nvSpPr>
          <p:cNvPr id="33" name="diff desc 0"/>
          <p:cNvSpPr txBox="1"/>
          <p:nvPr/>
        </p:nvSpPr>
        <p:spPr>
          <a:xfrm>
            <a:off x="5486400" y="2203704"/>
            <a:ext cx="3246120" cy="420624"/>
          </a:xfrm>
          <a:prstGeom prst="rect">
            <a:avLst/>
          </a:prstGeom>
          <a:noFill/>
          <a:ln/>
        </p:spPr>
        <p:txBody>
          <a:bodyPr wrap="square" lIns="0" tIns="0" rIns="0" bIns="0" rtlCol="0" anchor="ctr"/>
          <a:lstStyle/>
          <a:p>
            <a:pPr indent="0" marL="0">
              <a:buNone/>
            </a:pPr>
            <a:r>
              <a:rPr lang="en-US" sz="1150" dirty="0">
                <a:solidFill>
                  <a:srgbClr val="4A524D"/>
                </a:solidFill>
              </a:rPr>
              <a:t>레시피 재료를 근처 매장 재고로 바로 주문</a:t>
            </a:r>
            <a:endParaRPr lang="en-US" sz="1150" dirty="0"/>
          </a:p>
        </p:txBody>
      </p:sp>
      <p:sp>
        <p:nvSpPr>
          <p:cNvPr id="34" name="badge 2"/>
          <p:cNvSpPr/>
          <p:nvPr/>
        </p:nvSpPr>
        <p:spPr>
          <a:xfrm>
            <a:off x="5074920" y="2633472"/>
            <a:ext cx="274320" cy="274320"/>
          </a:xfrm>
          <a:prstGeom prst="ellipse">
            <a:avLst/>
          </a:prstGeom>
          <a:solidFill>
            <a:srgbClr val="E07B2E"/>
          </a:solidFill>
          <a:ln w="19050">
            <a:solidFill>
              <a:srgbClr val="FFFFFF"/>
            </a:solidFill>
            <a:prstDash val="solid"/>
          </a:ln>
        </p:spPr>
      </p:sp>
      <p:sp>
        <p:nvSpPr>
          <p:cNvPr id="35" name="badge text 2"/>
          <p:cNvSpPr txBox="1"/>
          <p:nvPr/>
        </p:nvSpPr>
        <p:spPr>
          <a:xfrm>
            <a:off x="5074920" y="263347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6" name="diff head 1"/>
          <p:cNvSpPr txBox="1"/>
          <p:nvPr/>
        </p:nvSpPr>
        <p:spPr>
          <a:xfrm>
            <a:off x="5486400" y="2615184"/>
            <a:ext cx="3246120" cy="310896"/>
          </a:xfrm>
          <a:prstGeom prst="rect">
            <a:avLst/>
          </a:prstGeom>
          <a:noFill/>
          <a:ln/>
        </p:spPr>
        <p:txBody>
          <a:bodyPr wrap="square" lIns="0" tIns="0" rIns="0" bIns="0" rtlCol="0" anchor="ctr"/>
          <a:lstStyle/>
          <a:p>
            <a:pPr indent="0" marL="0">
              <a:buNone/>
            </a:pPr>
            <a:r>
              <a:rPr lang="en-US" sz="1400" b="1" dirty="0">
                <a:solidFill>
                  <a:srgbClr val="1F2421"/>
                </a:solidFill>
              </a:rPr>
              <a:t>손질·데침 옵션</a:t>
            </a:r>
            <a:endParaRPr lang="en-US" sz="1400" dirty="0"/>
          </a:p>
        </p:txBody>
      </p:sp>
      <p:sp>
        <p:nvSpPr>
          <p:cNvPr id="37" name="diff desc 1"/>
          <p:cNvSpPr txBox="1"/>
          <p:nvPr/>
        </p:nvSpPr>
        <p:spPr>
          <a:xfrm>
            <a:off x="5486400" y="2935224"/>
            <a:ext cx="3246120" cy="420624"/>
          </a:xfrm>
          <a:prstGeom prst="rect">
            <a:avLst/>
          </a:prstGeom>
          <a:noFill/>
          <a:ln/>
        </p:spPr>
        <p:txBody>
          <a:bodyPr wrap="square" lIns="0" tIns="0" rIns="0" bIns="0" rtlCol="0" anchor="ctr"/>
          <a:lstStyle/>
          <a:p>
            <a:pPr indent="0" marL="0">
              <a:buNone/>
            </a:pPr>
            <a:r>
              <a:rPr lang="en-US" sz="1150" dirty="0">
                <a:solidFill>
                  <a:srgbClr val="4A524D"/>
                </a:solidFill>
              </a:rPr>
              <a:t>판매자는 추가 매출, 고객은 조리 시간 단축</a:t>
            </a:r>
            <a:endParaRPr lang="en-US" sz="1150" dirty="0"/>
          </a:p>
        </p:txBody>
      </p:sp>
      <p:sp>
        <p:nvSpPr>
          <p:cNvPr id="38" name="badge 3"/>
          <p:cNvSpPr/>
          <p:nvPr/>
        </p:nvSpPr>
        <p:spPr>
          <a:xfrm>
            <a:off x="5074920" y="3364992"/>
            <a:ext cx="274320" cy="274320"/>
          </a:xfrm>
          <a:prstGeom prst="ellipse">
            <a:avLst/>
          </a:prstGeom>
          <a:solidFill>
            <a:srgbClr val="E07B2E"/>
          </a:solidFill>
          <a:ln w="19050">
            <a:solidFill>
              <a:srgbClr val="FFFFFF"/>
            </a:solidFill>
            <a:prstDash val="solid"/>
          </a:ln>
        </p:spPr>
      </p:sp>
      <p:sp>
        <p:nvSpPr>
          <p:cNvPr id="39" name="badge text 3"/>
          <p:cNvSpPr txBox="1"/>
          <p:nvPr/>
        </p:nvSpPr>
        <p:spPr>
          <a:xfrm>
            <a:off x="5074920" y="33649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40" name="diff head 2"/>
          <p:cNvSpPr txBox="1"/>
          <p:nvPr/>
        </p:nvSpPr>
        <p:spPr>
          <a:xfrm>
            <a:off x="5486400" y="3346704"/>
            <a:ext cx="3246120" cy="310896"/>
          </a:xfrm>
          <a:prstGeom prst="rect">
            <a:avLst/>
          </a:prstGeom>
          <a:noFill/>
          <a:ln/>
        </p:spPr>
        <p:txBody>
          <a:bodyPr wrap="square" lIns="0" tIns="0" rIns="0" bIns="0" rtlCol="0" anchor="ctr"/>
          <a:lstStyle/>
          <a:p>
            <a:pPr indent="0" marL="0">
              <a:buNone/>
            </a:pPr>
            <a:r>
              <a:rPr lang="en-US" sz="1400" b="1" dirty="0">
                <a:solidFill>
                  <a:srgbClr val="1F2421"/>
                </a:solidFill>
              </a:rPr>
              <a:t>메시지 상품 등록</a:t>
            </a:r>
            <a:endParaRPr lang="en-US" sz="1400" dirty="0"/>
          </a:p>
        </p:txBody>
      </p:sp>
      <p:sp>
        <p:nvSpPr>
          <p:cNvPr id="41" name="diff desc 2"/>
          <p:cNvSpPr txBox="1"/>
          <p:nvPr/>
        </p:nvSpPr>
        <p:spPr>
          <a:xfrm>
            <a:off x="5486400" y="3666744"/>
            <a:ext cx="3246120" cy="420624"/>
          </a:xfrm>
          <a:prstGeom prst="rect">
            <a:avLst/>
          </a:prstGeom>
          <a:noFill/>
          <a:ln/>
        </p:spPr>
        <p:txBody>
          <a:bodyPr wrap="square" lIns="0" tIns="0" rIns="0" bIns="0" rtlCol="0" anchor="ctr"/>
          <a:lstStyle/>
          <a:p>
            <a:pPr indent="0" marL="0">
              <a:buNone/>
            </a:pPr>
            <a:r>
              <a:rPr lang="en-US" sz="1150" dirty="0">
                <a:solidFill>
                  <a:srgbClr val="4A524D"/>
                </a:solidFill>
              </a:rPr>
              <a:t>앱이 익숙지 않은 상인도 메시지로 등록</a:t>
            </a:r>
            <a:endParaRPr lang="en-US" sz="1150" dirty="0"/>
          </a:p>
        </p:txBody>
      </p:sp>
      <p:sp>
        <p:nvSpPr>
          <p:cNvPr id="42" name="position band"/>
          <p:cNvSpPr/>
          <p:nvPr/>
        </p:nvSpPr>
        <p:spPr>
          <a:xfrm>
            <a:off x="5074920" y="4133088"/>
            <a:ext cx="3657600" cy="365760"/>
          </a:xfrm>
          <a:prstGeom prst="rect">
            <a:avLst/>
          </a:prstGeom>
          <a:solidFill>
            <a:srgbClr val="E6F0EA"/>
          </a:solidFill>
          <a:ln w="12700">
            <a:solidFill>
              <a:srgbClr val="E6F0EA"/>
            </a:solidFill>
            <a:prstDash val="solid"/>
          </a:ln>
        </p:spPr>
      </p:sp>
      <p:sp>
        <p:nvSpPr>
          <p:cNvPr id="43" name="position text"/>
          <p:cNvSpPr txBox="1"/>
          <p:nvPr/>
        </p:nvSpPr>
        <p:spPr>
          <a:xfrm>
            <a:off x="5193792" y="4133088"/>
            <a:ext cx="3474720" cy="365760"/>
          </a:xfrm>
          <a:prstGeom prst="rect">
            <a:avLst/>
          </a:prstGeom>
          <a:noFill/>
          <a:ln/>
        </p:spPr>
        <p:txBody>
          <a:bodyPr wrap="square" lIns="0" tIns="0" rIns="0" bIns="0" rtlCol="0" anchor="ctr"/>
          <a:lstStyle/>
          <a:p>
            <a:pPr indent="0" marL="0">
              <a:buNone/>
            </a:pPr>
            <a:r>
              <a:rPr lang="en-US" sz="1100" b="1" dirty="0">
                <a:solidFill>
                  <a:srgbClr val="1E4D3A"/>
                </a:solidFill>
              </a:rPr>
              <a:t>목표: 배민·네이버와 함께 쓰는 나물 전문 채널</a:t>
            </a:r>
            <a:endParaRPr lang="en-US" sz="1100" dirty="0"/>
          </a:p>
        </p:txBody>
      </p:sp>
      <p:sp>
        <p:nvSpPr>
          <p:cNvPr id="44"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포지셔닝은 2026.10 공개 정보 기준 자체 판단 · 네이버 등은 판매자용 AI 도구(리뷰 관리·FAQ)를 이미 제공</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Business</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수익 모델</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중개 수수료와 정기구독을 기본 수익원으로 하고, 판매자 유료 서비스·제휴 광고로 확대</a:t>
            </a:r>
            <a:endParaRPr lang="en-US" sz="1300" dirty="0"/>
          </a:p>
        </p:txBody>
      </p:sp>
      <p:sp>
        <p:nvSpPr>
          <p:cNvPr id="6" name="node 고객"/>
          <p:cNvSpPr/>
          <p:nvPr/>
        </p:nvSpPr>
        <p:spPr>
          <a:xfrm>
            <a:off x="411480" y="1600200"/>
            <a:ext cx="1737360" cy="841248"/>
          </a:xfrm>
          <a:prstGeom prst="rect">
            <a:avLst/>
          </a:prstGeom>
          <a:solidFill>
            <a:srgbClr val="F2F4F2"/>
          </a:solidFill>
          <a:ln w="9525">
            <a:solidFill>
              <a:srgbClr val="B9C1BB"/>
            </a:solidFill>
            <a:prstDash val="solid"/>
          </a:ln>
        </p:spPr>
      </p:sp>
      <p:sp>
        <p:nvSpPr>
          <p:cNvPr id="7" name="node text 고객"/>
          <p:cNvSpPr txBox="1"/>
          <p:nvPr/>
        </p:nvSpPr>
        <p:spPr>
          <a:xfrm>
            <a:off x="411480" y="1600200"/>
            <a:ext cx="1737360" cy="841248"/>
          </a:xfrm>
          <a:prstGeom prst="rect">
            <a:avLst/>
          </a:prstGeom>
          <a:noFill/>
          <a:ln/>
        </p:spPr>
        <p:txBody>
          <a:bodyPr wrap="square" lIns="0" tIns="0" rIns="0" bIns="0" rtlCol="0" anchor="ctr"/>
          <a:lstStyle/>
          <a:p>
            <a:pPr algn="ctr" indent="0" marL="0">
              <a:buNone/>
            </a:pPr>
            <a:r>
              <a:rPr lang="en-US" sz="1500" b="1" dirty="0">
                <a:solidFill>
                  <a:srgbClr val="1F2421"/>
                </a:solidFill>
              </a:rPr>
              <a:t>고객</a:t>
            </a:r>
            <a:endParaRPr lang="en-US" sz="1500" dirty="0"/>
          </a:p>
          <a:p>
            <a:pPr algn="ctr" indent="0" marL="0">
              <a:buNone/>
            </a:pPr>
            <a:r>
              <a:rPr lang="en-US" sz="1050" dirty="0">
                <a:solidFill>
                  <a:srgbClr val="1F2421"/>
                </a:solidFill>
              </a:rPr>
              <a:t>맞벌이 자녀 가구</a:t>
            </a:r>
            <a:endParaRPr lang="en-US" sz="1500" dirty="0"/>
          </a:p>
        </p:txBody>
      </p:sp>
      <p:sp>
        <p:nvSpPr>
          <p:cNvPr id="8" name="node 나물로"/>
          <p:cNvSpPr/>
          <p:nvPr/>
        </p:nvSpPr>
        <p:spPr>
          <a:xfrm>
            <a:off x="3703320" y="1600200"/>
            <a:ext cx="1737360" cy="841248"/>
          </a:xfrm>
          <a:prstGeom prst="rect">
            <a:avLst/>
          </a:prstGeom>
          <a:solidFill>
            <a:srgbClr val="1E4D3A"/>
          </a:solidFill>
          <a:ln w="12700">
            <a:solidFill>
              <a:srgbClr val="1E4D3A"/>
            </a:solidFill>
            <a:prstDash val="solid"/>
          </a:ln>
        </p:spPr>
      </p:sp>
      <p:sp>
        <p:nvSpPr>
          <p:cNvPr id="9" name="node text 나물로"/>
          <p:cNvSpPr txBox="1"/>
          <p:nvPr/>
        </p:nvSpPr>
        <p:spPr>
          <a:xfrm>
            <a:off x="3703320" y="1600200"/>
            <a:ext cx="1737360" cy="841248"/>
          </a:xfrm>
          <a:prstGeom prst="rect">
            <a:avLst/>
          </a:prstGeom>
          <a:noFill/>
          <a:ln/>
        </p:spPr>
        <p:txBody>
          <a:bodyPr wrap="square" lIns="0" tIns="0" rIns="0" bIns="0" rtlCol="0" anchor="ctr"/>
          <a:lstStyle/>
          <a:p>
            <a:pPr algn="ctr" indent="0" marL="0">
              <a:buNone/>
            </a:pPr>
            <a:r>
              <a:rPr lang="en-US" sz="1500" b="1" dirty="0">
                <a:solidFill>
                  <a:srgbClr val="FFFFFF"/>
                </a:solidFill>
              </a:rPr>
              <a:t>나물로</a:t>
            </a:r>
            <a:endParaRPr lang="en-US" sz="1500" dirty="0"/>
          </a:p>
          <a:p>
            <a:pPr algn="ctr" indent="0" marL="0">
              <a:buNone/>
            </a:pPr>
            <a:r>
              <a:rPr lang="en-US" sz="1050" dirty="0">
                <a:solidFill>
                  <a:srgbClr val="FFFFFF"/>
                </a:solidFill>
              </a:rPr>
              <a:t>레시피 · 주문 · 정산</a:t>
            </a:r>
            <a:endParaRPr lang="en-US" sz="1500" dirty="0"/>
          </a:p>
        </p:txBody>
      </p:sp>
      <p:sp>
        <p:nvSpPr>
          <p:cNvPr id="10" name="node 판매자"/>
          <p:cNvSpPr/>
          <p:nvPr/>
        </p:nvSpPr>
        <p:spPr>
          <a:xfrm>
            <a:off x="6995160" y="1600200"/>
            <a:ext cx="1737360" cy="841248"/>
          </a:xfrm>
          <a:prstGeom prst="rect">
            <a:avLst/>
          </a:prstGeom>
          <a:solidFill>
            <a:srgbClr val="F2F4F2"/>
          </a:solidFill>
          <a:ln w="9525">
            <a:solidFill>
              <a:srgbClr val="B9C1BB"/>
            </a:solidFill>
            <a:prstDash val="solid"/>
          </a:ln>
        </p:spPr>
      </p:sp>
      <p:sp>
        <p:nvSpPr>
          <p:cNvPr id="11" name="node text 판매자"/>
          <p:cNvSpPr txBox="1"/>
          <p:nvPr/>
        </p:nvSpPr>
        <p:spPr>
          <a:xfrm>
            <a:off x="6995160" y="1600200"/>
            <a:ext cx="1737360" cy="841248"/>
          </a:xfrm>
          <a:prstGeom prst="rect">
            <a:avLst/>
          </a:prstGeom>
          <a:noFill/>
          <a:ln/>
        </p:spPr>
        <p:txBody>
          <a:bodyPr wrap="square" lIns="0" tIns="0" rIns="0" bIns="0" rtlCol="0" anchor="ctr"/>
          <a:lstStyle/>
          <a:p>
            <a:pPr algn="ctr" indent="0" marL="0">
              <a:buNone/>
            </a:pPr>
            <a:r>
              <a:rPr lang="en-US" sz="1500" b="1" dirty="0">
                <a:solidFill>
                  <a:srgbClr val="1F2421"/>
                </a:solidFill>
              </a:rPr>
              <a:t>판매자</a:t>
            </a:r>
            <a:endParaRPr lang="en-US" sz="1500" dirty="0"/>
          </a:p>
          <a:p>
            <a:pPr algn="ctr" indent="0" marL="0">
              <a:buNone/>
            </a:pPr>
            <a:r>
              <a:rPr lang="en-US" sz="1050" dirty="0">
                <a:solidFill>
                  <a:srgbClr val="1F2421"/>
                </a:solidFill>
              </a:rPr>
              <a:t>전통시장 · 로컬푸드</a:t>
            </a:r>
            <a:endParaRPr lang="en-US" sz="1500" dirty="0"/>
          </a:p>
        </p:txBody>
      </p:sp>
      <p:sp>
        <p:nvSpPr>
          <p:cNvPr id="12" name="pay arrow"/>
          <p:cNvSpPr/>
          <p:nvPr/>
        </p:nvSpPr>
        <p:spPr>
          <a:xfrm>
            <a:off x="2240280" y="1828800"/>
            <a:ext cx="1371600" cy="0"/>
          </a:xfrm>
          <a:prstGeom prst="line">
            <a:avLst/>
          </a:prstGeom>
          <a:noFill/>
          <a:ln w="15875">
            <a:solidFill>
              <a:srgbClr val="7A837D"/>
            </a:solidFill>
            <a:prstDash val="solid"/>
            <a:tailEnd type="triangle"/>
          </a:ln>
        </p:spPr>
      </p:sp>
      <p:sp>
        <p:nvSpPr>
          <p:cNvPr id="13" name="pay label"/>
          <p:cNvSpPr txBox="1"/>
          <p:nvPr/>
        </p:nvSpPr>
        <p:spPr>
          <a:xfrm>
            <a:off x="2148840" y="1554480"/>
            <a:ext cx="1554480" cy="237744"/>
          </a:xfrm>
          <a:prstGeom prst="rect">
            <a:avLst/>
          </a:prstGeom>
          <a:noFill/>
          <a:ln/>
        </p:spPr>
        <p:txBody>
          <a:bodyPr wrap="square" lIns="0" tIns="0" rIns="0" bIns="0" rtlCol="0" anchor="ctr"/>
          <a:lstStyle/>
          <a:p>
            <a:pPr algn="ctr" indent="0" marL="0">
              <a:buNone/>
            </a:pPr>
            <a:r>
              <a:rPr lang="en-US" sz="1050" dirty="0">
                <a:solidFill>
                  <a:srgbClr val="4A524D"/>
                </a:solidFill>
              </a:rPr>
              <a:t>주문 결제 · 구독료</a:t>
            </a:r>
            <a:endParaRPr lang="en-US" sz="1050" dirty="0"/>
          </a:p>
        </p:txBody>
      </p:sp>
      <p:sp>
        <p:nvSpPr>
          <p:cNvPr id="14" name="service arrow"/>
          <p:cNvSpPr/>
          <p:nvPr/>
        </p:nvSpPr>
        <p:spPr>
          <a:xfrm>
            <a:off x="2240280" y="2212848"/>
            <a:ext cx="1371600" cy="0"/>
          </a:xfrm>
          <a:prstGeom prst="line">
            <a:avLst/>
          </a:prstGeom>
          <a:noFill/>
          <a:ln w="15875">
            <a:solidFill>
              <a:srgbClr val="7A837D"/>
            </a:solidFill>
            <a:prstDash val="solid"/>
            <a:headEnd type="triangle"/>
          </a:ln>
        </p:spPr>
      </p:sp>
      <p:sp>
        <p:nvSpPr>
          <p:cNvPr id="15" name="service label"/>
          <p:cNvSpPr txBox="1"/>
          <p:nvPr/>
        </p:nvSpPr>
        <p:spPr>
          <a:xfrm>
            <a:off x="2148840" y="2258568"/>
            <a:ext cx="1554480" cy="237744"/>
          </a:xfrm>
          <a:prstGeom prst="rect">
            <a:avLst/>
          </a:prstGeom>
          <a:noFill/>
          <a:ln/>
        </p:spPr>
        <p:txBody>
          <a:bodyPr wrap="square" lIns="0" tIns="0" rIns="0" bIns="0" rtlCol="0" anchor="ctr"/>
          <a:lstStyle/>
          <a:p>
            <a:pPr algn="ctr" indent="0" marL="0">
              <a:buNone/>
            </a:pPr>
            <a:r>
              <a:rPr lang="en-US" sz="1050" dirty="0">
                <a:solidFill>
                  <a:srgbClr val="4A524D"/>
                </a:solidFill>
              </a:rPr>
              <a:t>레시피 · 추천 · 예약</a:t>
            </a:r>
            <a:endParaRPr lang="en-US" sz="1050" dirty="0"/>
          </a:p>
        </p:txBody>
      </p:sp>
      <p:sp>
        <p:nvSpPr>
          <p:cNvPr id="16" name="order arrow"/>
          <p:cNvSpPr/>
          <p:nvPr/>
        </p:nvSpPr>
        <p:spPr>
          <a:xfrm>
            <a:off x="5532120" y="1828800"/>
            <a:ext cx="1371600" cy="0"/>
          </a:xfrm>
          <a:prstGeom prst="line">
            <a:avLst/>
          </a:prstGeom>
          <a:noFill/>
          <a:ln w="15875">
            <a:solidFill>
              <a:srgbClr val="7A837D"/>
            </a:solidFill>
            <a:prstDash val="solid"/>
            <a:tailEnd type="triangle"/>
          </a:ln>
        </p:spPr>
      </p:sp>
      <p:sp>
        <p:nvSpPr>
          <p:cNvPr id="17" name="order label"/>
          <p:cNvSpPr txBox="1"/>
          <p:nvPr/>
        </p:nvSpPr>
        <p:spPr>
          <a:xfrm>
            <a:off x="5440680" y="1554480"/>
            <a:ext cx="1554480" cy="237744"/>
          </a:xfrm>
          <a:prstGeom prst="rect">
            <a:avLst/>
          </a:prstGeom>
          <a:noFill/>
          <a:ln/>
        </p:spPr>
        <p:txBody>
          <a:bodyPr wrap="square" lIns="0" tIns="0" rIns="0" bIns="0" rtlCol="0" anchor="ctr"/>
          <a:lstStyle/>
          <a:p>
            <a:pPr algn="ctr" indent="0" marL="0">
              <a:buNone/>
            </a:pPr>
            <a:r>
              <a:rPr lang="en-US" sz="1050" dirty="0">
                <a:solidFill>
                  <a:srgbClr val="4A524D"/>
                </a:solidFill>
              </a:rPr>
              <a:t>주문 전달 · 정산</a:t>
            </a:r>
            <a:endParaRPr lang="en-US" sz="1050" dirty="0"/>
          </a:p>
        </p:txBody>
      </p:sp>
      <p:sp>
        <p:nvSpPr>
          <p:cNvPr id="18" name="stock arrow"/>
          <p:cNvSpPr/>
          <p:nvPr/>
        </p:nvSpPr>
        <p:spPr>
          <a:xfrm>
            <a:off x="5532120" y="2212848"/>
            <a:ext cx="1371600" cy="0"/>
          </a:xfrm>
          <a:prstGeom prst="line">
            <a:avLst/>
          </a:prstGeom>
          <a:noFill/>
          <a:ln w="15875">
            <a:solidFill>
              <a:srgbClr val="7A837D"/>
            </a:solidFill>
            <a:prstDash val="solid"/>
            <a:headEnd type="triangle"/>
          </a:ln>
        </p:spPr>
      </p:sp>
      <p:sp>
        <p:nvSpPr>
          <p:cNvPr id="19" name="stock label"/>
          <p:cNvSpPr txBox="1"/>
          <p:nvPr/>
        </p:nvSpPr>
        <p:spPr>
          <a:xfrm>
            <a:off x="5440680" y="2258568"/>
            <a:ext cx="1554480" cy="237744"/>
          </a:xfrm>
          <a:prstGeom prst="rect">
            <a:avLst/>
          </a:prstGeom>
          <a:noFill/>
          <a:ln/>
        </p:spPr>
        <p:txBody>
          <a:bodyPr wrap="square" lIns="0" tIns="0" rIns="0" bIns="0" rtlCol="0" anchor="ctr"/>
          <a:lstStyle/>
          <a:p>
            <a:pPr algn="ctr" indent="0" marL="0">
              <a:buNone/>
            </a:pPr>
            <a:r>
              <a:rPr lang="en-US" sz="1050" dirty="0">
                <a:solidFill>
                  <a:srgbClr val="4A524D"/>
                </a:solidFill>
              </a:rPr>
              <a:t>상품 등록 · 수수료</a:t>
            </a:r>
            <a:endParaRPr lang="en-US" sz="105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411480" y="2670048"/>
          <a:ext cx="8321040" cy="914400"/>
        </p:xfrm>
        <a:graphic>
          <a:graphicData uri="http://schemas.openxmlformats.org/drawingml/2006/table">
            <a:tbl>
              <a:tblPr/>
              <a:tblGrid>
                <a:gridCol w="1828800"/>
                <a:gridCol w="2194560"/>
                <a:gridCol w="4297680"/>
              </a:tblGrid>
              <a:tr h="310896">
                <a:tc>
                  <a:txBody>
                    <a:bodyPr/>
                    <a:lstStyle/>
                    <a:p>
                      <a:pPr algn="ctr" indent="0" marL="0">
                        <a:buNone/>
                      </a:pPr>
                      <a:r>
                        <a:rPr lang="en-US" sz="1200" b="1" dirty="0">
                          <a:solidFill>
                            <a:srgbClr val="FFFFFF"/>
                          </a:solidFill>
                        </a:rPr>
                        <a:t>수익원</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200" b="1" dirty="0">
                          <a:solidFill>
                            <a:srgbClr val="FFFFFF"/>
                          </a:solidFill>
                        </a:rPr>
                        <a:t>과금 방식</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200" b="1" dirty="0">
                          <a:solidFill>
                            <a:srgbClr val="FFFFFF"/>
                          </a:solidFill>
                        </a:rPr>
                        <a:t>비고</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r>
              <a:tr h="365760">
                <a:tc>
                  <a:txBody>
                    <a:bodyPr/>
                    <a:lstStyle/>
                    <a:p>
                      <a:pPr algn="l" indent="0" marL="0">
                        <a:buNone/>
                      </a:pPr>
                      <a:r>
                        <a:rPr lang="en-US" sz="1200" b="1" dirty="0">
                          <a:solidFill>
                            <a:srgbClr val="1F2421"/>
                          </a:solidFill>
                        </a:rPr>
                        <a:t>중개 수수료</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주문 금액의 4%</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전통시장 점포는 첫 6개월 0%</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2421"/>
                          </a:solidFill>
                        </a:rPr>
                        <a:t>정기구독</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월 29,900~39,900원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결제액 중 플랫폼 몫(약 22%)만 매출로 계산</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2421"/>
                          </a:solidFill>
                        </a:rPr>
                        <a:t>판매자 유료 서비스</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월 29,000원 (선택)</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발주 추천 · 상단 노출</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2421"/>
                          </a:solidFill>
                        </a:rPr>
                        <a:t>제휴 광고</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건별 계약</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레시피 크리에이터 · 식품 브랜드</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21"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요금은 예정안이며 파일럿에서 검증 · 판매자 부담 예시: 월 100건 × 1.5만 원 매장 → 수수료 6만 원 + 유료 서비스 2.9만 원 = 월 8.9만 원 (거래액의 약 6%)</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Vision</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사업화 로드맵</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시장 1곳 파일럿으로 실제 구매·재구매를 먼저 검증한 뒤, 정부 지원사업과 투자로 단계적 확장</a:t>
            </a:r>
            <a:endParaRPr lang="en-US" sz="13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188720"/>
                <a:gridCol w="2377440"/>
                <a:gridCol w="2377440"/>
                <a:gridCol w="2377440"/>
              </a:tblGrid>
              <a:tr h="512064">
                <a:tc>
                  <a:txBody>
                    <a:bodyPr/>
                    <a:lstStyle/>
                    <a:p>
                      <a:pPr algn="ctr" indent="0" marL="0">
                        <a:buNone/>
                      </a:pPr>
                      <a:r>
                        <a:rPr lang="en-US" sz="1200" b="1" dirty="0">
                          <a:solidFill>
                            <a:srgbClr val="FFFFFF"/>
                          </a:solidFill>
                        </a:rPr>
                        <a:t>구분</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200" b="1" dirty="0">
                          <a:solidFill>
                            <a:srgbClr val="FFFFFF"/>
                          </a:solidFill>
                        </a:rPr>
                        <a:t>1단계 파일럿</a:t>
                      </a:r>
                      <a:endParaRPr lang="en-US" sz="1200" dirty="0"/>
                    </a:p>
                    <a:p>
                      <a:pPr algn="ctr" indent="0" marL="0">
                        <a:buNone/>
                      </a:pPr>
                      <a:r>
                        <a:rPr lang="en-US" sz="1200" b="1" dirty="0">
                          <a:solidFill>
                            <a:srgbClr val="FFFFFF"/>
                          </a:solidFill>
                        </a:rPr>
                        <a:t>2026.12~2027.2</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B8692B"/>
                    </a:solidFill>
                  </a:tcPr>
                </a:tc>
                <a:tc>
                  <a:txBody>
                    <a:bodyPr/>
                    <a:lstStyle/>
                    <a:p>
                      <a:pPr algn="ctr" indent="0" marL="0">
                        <a:buNone/>
                      </a:pPr>
                      <a:r>
                        <a:rPr lang="en-US" sz="1200" b="1" dirty="0">
                          <a:solidFill>
                            <a:srgbClr val="FFFFFF"/>
                          </a:solidFill>
                        </a:rPr>
                        <a:t>2단계 정식 출시</a:t>
                      </a:r>
                      <a:endParaRPr lang="en-US" sz="1200" dirty="0"/>
                    </a:p>
                    <a:p>
                      <a:pPr algn="ctr" indent="0" marL="0">
                        <a:buNone/>
                      </a:pPr>
                      <a:r>
                        <a:rPr lang="en-US" sz="1200" b="1" dirty="0">
                          <a:solidFill>
                            <a:srgbClr val="FFFFFF"/>
                          </a:solidFill>
                        </a:rPr>
                        <a:t>2027</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3F7F5F"/>
                    </a:solidFill>
                  </a:tcPr>
                </a:tc>
                <a:tc>
                  <a:txBody>
                    <a:bodyPr/>
                    <a:lstStyle/>
                    <a:p>
                      <a:pPr algn="ctr" indent="0" marL="0">
                        <a:buNone/>
                      </a:pPr>
                      <a:r>
                        <a:rPr lang="en-US" sz="1200" b="1" dirty="0">
                          <a:solidFill>
                            <a:srgbClr val="FFFFFF"/>
                          </a:solidFill>
                        </a:rPr>
                        <a:t>3단계 확장</a:t>
                      </a:r>
                      <a:endParaRPr lang="en-US" sz="1200" dirty="0"/>
                    </a:p>
                    <a:p>
                      <a:pPr algn="ctr" indent="0" marL="0">
                        <a:buNone/>
                      </a:pPr>
                      <a:r>
                        <a:rPr lang="en-US" sz="1200" b="1" dirty="0">
                          <a:solidFill>
                            <a:srgbClr val="FFFFFF"/>
                          </a:solidFill>
                        </a:rPr>
                        <a:t>2028~</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3F7F5F"/>
                    </a:solidFill>
                  </a:tcPr>
                </a:tc>
              </a:tr>
              <a:tr h="365760">
                <a:tc>
                  <a:txBody>
                    <a:bodyPr/>
                    <a:lstStyle/>
                    <a:p>
                      <a:pPr algn="ctr" indent="0" marL="0">
                        <a:buNone/>
                      </a:pPr>
                      <a:r>
                        <a:rPr lang="en-US" sz="1200" b="1" dirty="0">
                          <a:solidFill>
                            <a:srgbClr val="1F2421"/>
                          </a:solidFill>
                        </a:rPr>
                        <a:t>범위</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전통시장 1곳 · 점포 2~3곳</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입점 매장 30곳</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수도권 120곳 → 300곳</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1F2421"/>
                          </a:solidFill>
                        </a:rPr>
                        <a:t>주요 과제</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웹 프로토타입 + 수동 운영</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웹앱 출시 · 결제 연동 · 정기구독</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앱 출시 · 발주 추천 도입</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475488">
                <a:tc>
                  <a:txBody>
                    <a:bodyPr/>
                    <a:lstStyle/>
                    <a:p>
                      <a:pPr algn="ctr" indent="0" marL="0">
                        <a:buNone/>
                      </a:pPr>
                      <a:r>
                        <a:rPr lang="en-US" sz="1200" b="1" dirty="0">
                          <a:solidFill>
                            <a:srgbClr val="1F2421"/>
                          </a:solidFill>
                        </a:rPr>
                        <a:t>자금</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자기자본 300만 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예비창업패키지 등</a:t>
                      </a:r>
                      <a:endParaRPr lang="en-US" sz="1200" dirty="0"/>
                    </a:p>
                    <a:p>
                      <a:pPr algn="l" indent="0" marL="0">
                        <a:buNone/>
                      </a:pPr>
                      <a:r>
                        <a:rPr lang="en-US" sz="1200" dirty="0">
                          <a:solidFill>
                            <a:srgbClr val="1F2421"/>
                          </a:solidFill>
                        </a:rPr>
                        <a:t>정부 지원사업</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421"/>
                          </a:solidFill>
                        </a:rPr>
                        <a:t>시드 투자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65760">
                <a:tc>
                  <a:txBody>
                    <a:bodyPr/>
                    <a:lstStyle/>
                    <a:p>
                      <a:pPr algn="ctr" indent="0" marL="0">
                        <a:buNone/>
                      </a:pPr>
                      <a:r>
                        <a:rPr lang="en-US" sz="1200" b="1" dirty="0">
                          <a:solidFill>
                            <a:srgbClr val="1E4D3A"/>
                          </a:solidFill>
                        </a:rPr>
                        <a:t>목표</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200" b="1" dirty="0">
                          <a:solidFill>
                            <a:srgbClr val="1E4D3A"/>
                          </a:solidFill>
                        </a:rPr>
                        <a:t>유료 주문 100건</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200" b="1" dirty="0">
                          <a:solidFill>
                            <a:srgbClr val="1E4D3A"/>
                          </a:solidFill>
                        </a:rPr>
                        <a:t>월 주문 2,000건</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200" b="1" dirty="0">
                          <a:solidFill>
                            <a:srgbClr val="1E4D3A"/>
                          </a:solidFill>
                        </a:rPr>
                        <a:t>3년차 거래액 54억 원</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bl>
          </a:graphicData>
        </a:graphic>
      </p:graphicFrame>
      <p:sp>
        <p:nvSpPr>
          <p:cNvPr id="7" name="pilot kpi band"/>
          <p:cNvSpPr/>
          <p:nvPr/>
        </p:nvSpPr>
        <p:spPr>
          <a:xfrm>
            <a:off x="411480" y="3749040"/>
            <a:ext cx="8321040" cy="749808"/>
          </a:xfrm>
          <a:prstGeom prst="rect">
            <a:avLst/>
          </a:prstGeom>
          <a:solidFill>
            <a:srgbClr val="F2F4F2"/>
          </a:solidFill>
          <a:ln w="12700">
            <a:solidFill>
              <a:srgbClr val="F2F4F2"/>
            </a:solidFill>
            <a:prstDash val="solid"/>
          </a:ln>
        </p:spPr>
      </p:sp>
      <p:sp>
        <p:nvSpPr>
          <p:cNvPr id="8" name="pilot kpi title"/>
          <p:cNvSpPr txBox="1"/>
          <p:nvPr/>
        </p:nvSpPr>
        <p:spPr>
          <a:xfrm>
            <a:off x="594360" y="3803904"/>
            <a:ext cx="2743200" cy="256032"/>
          </a:xfrm>
          <a:prstGeom prst="rect">
            <a:avLst/>
          </a:prstGeom>
          <a:noFill/>
          <a:ln/>
        </p:spPr>
        <p:txBody>
          <a:bodyPr wrap="square" lIns="0" tIns="0" rIns="0" bIns="0" rtlCol="0" anchor="ctr"/>
          <a:lstStyle/>
          <a:p>
            <a:pPr indent="0" marL="0">
              <a:buNone/>
            </a:pPr>
            <a:r>
              <a:rPr lang="en-US" sz="1200" b="1" dirty="0">
                <a:solidFill>
                  <a:srgbClr val="1E4D3A"/>
                </a:solidFill>
              </a:rPr>
              <a:t>파일럿 검증 지표</a:t>
            </a:r>
            <a:endParaRPr lang="en-US" sz="1200" dirty="0"/>
          </a:p>
        </p:txBody>
      </p:sp>
      <p:sp>
        <p:nvSpPr>
          <p:cNvPr id="9" name="pilot kpi list"/>
          <p:cNvSpPr txBox="1"/>
          <p:nvPr/>
        </p:nvSpPr>
        <p:spPr>
          <a:xfrm>
            <a:off x="594360" y="4096512"/>
            <a:ext cx="8046720" cy="310896"/>
          </a:xfrm>
          <a:prstGeom prst="rect">
            <a:avLst/>
          </a:prstGeom>
          <a:noFill/>
          <a:ln/>
        </p:spPr>
        <p:txBody>
          <a:bodyPr wrap="square" lIns="0" tIns="0" rIns="0" bIns="0" rtlCol="0" anchor="ctr"/>
          <a:lstStyle/>
          <a:p>
            <a:pPr indent="0" marL="0">
              <a:buNone/>
            </a:pPr>
            <a:r>
              <a:rPr lang="en-US" sz="1200" dirty="0">
                <a:solidFill>
                  <a:srgbClr val="1F2421"/>
                </a:solidFill>
              </a:rPr>
              <a:t>①  유료 주문 수 · 고객 수      ②  30일 재구매율      ③  손질 옵션 선택률      ④  주문당 운영 시간 · 등록 오류율</a:t>
            </a:r>
            <a:endParaRPr lang="en-US" sz="1200" dirty="0"/>
          </a:p>
        </p:txBody>
      </p:sp>
      <p:sp>
        <p:nvSpPr>
          <p:cNvPr id="10"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2026년 예비창업패키지는 1단계 2천만 원 지원 후 중간평가로 추가 지원(평균 약 4천만 원) · 2027년 공고 조건 확인 필요</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Vision</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3년 목표 및 확장 계획</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3년차 거래액 54억 원·매출 약 5억 원(기본 수익원 기준)을 목표로, 품목·산지·해외로 확장</a:t>
            </a:r>
            <a:endParaRPr lang="en-US" sz="1300" dirty="0"/>
          </a:p>
        </p:txBody>
      </p:sp>
      <p:graphicFrame>
        <p:nvGraphicFramePr>
          <p:cNvPr id="6" name="gmv chart" descr=""/>
          <p:cNvGraphicFramePr/>
          <p:nvPr/>
        </p:nvGraphicFramePr>
        <p:xfrm>
          <a:off x="320040" y="1517904"/>
          <a:ext cx="4114800" cy="2148840"/>
        </p:xfrm>
        <a:graphic xmlns:a="http://schemas.openxmlformats.org/drawingml/2006/main">
          <a:graphicData uri="http://schemas.openxmlformats.org/drawingml/2006/chart">
            <c:chart xmlns:c="http://schemas.openxmlformats.org/drawingml/2006/chart" r:id="rId1"/>
          </a:graphicData>
        </a:graphic>
      </p:graphicFrame>
      <p:sp>
        <p:nvSpPr>
          <p:cNvPr id="7" name="revenue box"/>
          <p:cNvSpPr/>
          <p:nvPr/>
        </p:nvSpPr>
        <p:spPr>
          <a:xfrm>
            <a:off x="411480" y="3749040"/>
            <a:ext cx="4023360" cy="749808"/>
          </a:xfrm>
          <a:prstGeom prst="rect">
            <a:avLst/>
          </a:prstGeom>
          <a:solidFill>
            <a:srgbClr val="F2F4F2"/>
          </a:solidFill>
          <a:ln w="12700">
            <a:solidFill>
              <a:srgbClr val="F2F4F2"/>
            </a:solidFill>
            <a:prstDash val="solid"/>
          </a:ln>
        </p:spPr>
      </p:sp>
      <p:sp>
        <p:nvSpPr>
          <p:cNvPr id="8" name="revenue text"/>
          <p:cNvSpPr txBox="1"/>
          <p:nvPr/>
        </p:nvSpPr>
        <p:spPr>
          <a:xfrm>
            <a:off x="548640" y="3767328"/>
            <a:ext cx="3840480" cy="713232"/>
          </a:xfrm>
          <a:prstGeom prst="rect">
            <a:avLst/>
          </a:prstGeom>
          <a:noFill/>
          <a:ln/>
        </p:spPr>
        <p:txBody>
          <a:bodyPr wrap="square" lIns="0" tIns="0" rIns="0" bIns="0" rtlCol="0" anchor="ctr"/>
          <a:lstStyle/>
          <a:p>
            <a:pPr indent="0" marL="0">
              <a:buNone/>
            </a:pPr>
            <a:r>
              <a:rPr lang="en-US" sz="1200" b="1" dirty="0">
                <a:solidFill>
                  <a:srgbClr val="1E4D3A"/>
                </a:solidFill>
              </a:rPr>
              <a:t>3년차 매출(기본) 약 4.9억 원</a:t>
            </a:r>
            <a:endParaRPr lang="en-US" sz="1200" dirty="0"/>
          </a:p>
          <a:p>
            <a:pPr indent="0" marL="0">
              <a:buNone/>
            </a:pPr>
            <a:r>
              <a:rPr lang="en-US" sz="1050" dirty="0">
                <a:solidFill>
                  <a:srgbClr val="1F2421"/>
                </a:solidFill>
              </a:rPr>
              <a:t>수수료 1.7 + 정기구독 2.8 + 판매자 서비스 0.4 (억 원)</a:t>
            </a:r>
            <a:endParaRPr lang="en-US" sz="1200" dirty="0"/>
          </a:p>
          <a:p>
            <a:pPr indent="0" marL="0">
              <a:buNone/>
            </a:pPr>
            <a:r>
              <a:rPr lang="en-US" sz="1050" dirty="0">
                <a:solidFill>
                  <a:srgbClr val="1F2421"/>
                </a:solidFill>
              </a:rPr>
              <a:t>지자체·제휴 사업은 계약 확보 후 추가 (미검증)</a:t>
            </a:r>
            <a:endParaRPr lang="en-US" sz="1200" dirty="0"/>
          </a:p>
        </p:txBody>
      </p:sp>
      <p:sp>
        <p:nvSpPr>
          <p:cNvPr id="9" name="expand title"/>
          <p:cNvSpPr txBox="1"/>
          <p:nvPr/>
        </p:nvSpPr>
        <p:spPr>
          <a:xfrm>
            <a:off x="4754880" y="1572768"/>
            <a:ext cx="3931920" cy="274320"/>
          </a:xfrm>
          <a:prstGeom prst="rect">
            <a:avLst/>
          </a:prstGeom>
          <a:noFill/>
          <a:ln/>
        </p:spPr>
        <p:txBody>
          <a:bodyPr wrap="square" lIns="0" tIns="0" rIns="0" bIns="0" rtlCol="0" anchor="ctr"/>
          <a:lstStyle/>
          <a:p>
            <a:pPr indent="0" marL="0">
              <a:buNone/>
            </a:pPr>
            <a:r>
              <a:rPr lang="en-US" sz="1200" b="1" dirty="0">
                <a:solidFill>
                  <a:srgbClr val="1E4D3A"/>
                </a:solidFill>
              </a:rPr>
              <a:t>확장 계획</a:t>
            </a:r>
            <a:endParaRPr lang="en-US" sz="1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4754880" y="1883664"/>
          <a:ext cx="3977640" cy="914400"/>
        </p:xfrm>
        <a:graphic>
          <a:graphicData uri="http://schemas.openxmlformats.org/drawingml/2006/table">
            <a:tbl>
              <a:tblPr/>
              <a:tblGrid>
                <a:gridCol w="1188720"/>
                <a:gridCol w="2788920"/>
              </a:tblGrid>
              <a:tr h="384048">
                <a:tc>
                  <a:txBody>
                    <a:bodyPr/>
                    <a:lstStyle/>
                    <a:p>
                      <a:pPr algn="ctr" indent="0" marL="0">
                        <a:buNone/>
                      </a:pPr>
                      <a:r>
                        <a:rPr lang="en-US" sz="1200" b="1" dirty="0">
                          <a:solidFill>
                            <a:srgbClr val="1F2421"/>
                          </a:solidFill>
                        </a:rPr>
                        <a:t>품목 확대</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나물 → 제철 농산물 전체</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F2421"/>
                          </a:solidFill>
                        </a:rPr>
                        <a:t>산지 직거래</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산채 농가 → 동네 매장 → 고객</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F2421"/>
                          </a:solidFill>
                        </a:rPr>
                        <a:t>해외 판매</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200" dirty="0">
                          <a:solidFill>
                            <a:srgbClr val="1F2421"/>
                          </a:solidFill>
                        </a:rPr>
                        <a:t>건조 나물 + 레시피 키트</a:t>
                      </a:r>
                      <a:endParaRPr lang="en-US" sz="1200" dirty="0"/>
                    </a:p>
                  </a:txBody>
                  <a:tcPr marL="91440" marR="91440" marT="36576" marB="36576"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11" name="effect title"/>
          <p:cNvSpPr txBox="1"/>
          <p:nvPr/>
        </p:nvSpPr>
        <p:spPr>
          <a:xfrm>
            <a:off x="4754880" y="3200400"/>
            <a:ext cx="3931920" cy="274320"/>
          </a:xfrm>
          <a:prstGeom prst="rect">
            <a:avLst/>
          </a:prstGeom>
          <a:noFill/>
          <a:ln/>
        </p:spPr>
        <p:txBody>
          <a:bodyPr wrap="square" lIns="0" tIns="0" rIns="0" bIns="0" rtlCol="0" anchor="ctr"/>
          <a:lstStyle/>
          <a:p>
            <a:pPr indent="0" marL="0">
              <a:buNone/>
            </a:pPr>
            <a:r>
              <a:rPr lang="en-US" sz="1200" b="1" dirty="0">
                <a:solidFill>
                  <a:srgbClr val="1E4D3A"/>
                </a:solidFill>
              </a:rPr>
              <a:t>기대 효과</a:t>
            </a:r>
            <a:endParaRPr lang="en-US" sz="1200" dirty="0"/>
          </a:p>
        </p:txBody>
      </p:sp>
      <p:sp>
        <p:nvSpPr>
          <p:cNvPr id="12" name="effect list"/>
          <p:cNvSpPr txBox="1"/>
          <p:nvPr/>
        </p:nvSpPr>
        <p:spPr>
          <a:xfrm>
            <a:off x="4754880" y="3511296"/>
            <a:ext cx="3977640" cy="969264"/>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421"/>
                </a:solidFill>
              </a:rPr>
              <a:t>전통시장 신규 고객 유입 · 매출 증가</a:t>
            </a:r>
            <a:endParaRPr lang="en-US" sz="1200" dirty="0"/>
          </a:p>
          <a:p>
            <a:pPr marL="342900" indent="-342900">
              <a:spcAft>
                <a:spcPts val="400"/>
              </a:spcAft>
              <a:buSzPct val="100000"/>
              <a:buChar char="•"/>
            </a:pPr>
            <a:r>
              <a:rPr lang="en-US" sz="1200" dirty="0">
                <a:solidFill>
                  <a:srgbClr val="1F2421"/>
                </a:solidFill>
              </a:rPr>
              <a:t>제철 재고 폐기 감소</a:t>
            </a:r>
            <a:endParaRPr lang="en-US" sz="1200" dirty="0"/>
          </a:p>
          <a:p>
            <a:pPr marL="342900" indent="-342900">
              <a:spcAft>
                <a:spcPts val="400"/>
              </a:spcAft>
              <a:buSzPct val="100000"/>
              <a:buChar char="•"/>
            </a:pPr>
            <a:r>
              <a:rPr lang="en-US" sz="1200" dirty="0">
                <a:solidFill>
                  <a:srgbClr val="1F2421"/>
                </a:solidFill>
              </a:rPr>
              <a:t>아이 채소 반찬 섭취 개선</a:t>
            </a:r>
            <a:endParaRPr lang="en-US" sz="1200" dirty="0"/>
          </a:p>
        </p:txBody>
      </p:sp>
      <p:sp>
        <p:nvSpPr>
          <p:cNvPr id="13"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재무 수치는 가정 기반 목표치 · 손익분기 시점은 파일럿 실측 후 재산정 (산식은 부록 1)</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losing label"/>
          <p:cNvSpPr txBox="1"/>
          <p:nvPr/>
        </p:nvSpPr>
        <p:spPr>
          <a:xfrm>
            <a:off x="548640" y="548640"/>
            <a:ext cx="2743200" cy="274320"/>
          </a:xfrm>
          <a:prstGeom prst="rect">
            <a:avLst/>
          </a:prstGeom>
          <a:noFill/>
          <a:ln/>
        </p:spPr>
        <p:txBody>
          <a:bodyPr wrap="square" lIns="0" tIns="0" rIns="0" bIns="0" rtlCol="0" anchor="ctr"/>
          <a:lstStyle/>
          <a:p>
            <a:pPr indent="0" marL="0">
              <a:buNone/>
            </a:pPr>
            <a:r>
              <a:rPr lang="en-US" sz="1200" dirty="0">
                <a:solidFill>
                  <a:srgbClr val="A9C2B3"/>
                </a:solidFill>
              </a:rPr>
              <a:t>마무리</a:t>
            </a:r>
            <a:endParaRPr lang="en-US" sz="1200" dirty="0"/>
          </a:p>
        </p:txBody>
      </p:sp>
      <p:sp>
        <p:nvSpPr>
          <p:cNvPr id="3" name="Text 0"/>
          <p:cNvSpPr/>
          <p:nvPr>
            <p:ph idx="100" type="title" hasCustomPrompt="1"/>
          </p:nvPr>
        </p:nvSpPr>
        <p:spPr>
          <a:xfrm>
            <a:off x="548640" y="868680"/>
            <a:ext cx="8046720" cy="685800"/>
          </a:xfrm>
          <a:prstGeom prst="rect">
            <a:avLst/>
          </a:prstGeom>
          <a:noFill/>
          <a:ln/>
        </p:spPr>
        <p:txBody>
          <a:bodyPr wrap="square" lIns="0" tIns="0" rIns="0" bIns="0" rtlCol="0" anchor="ctr"/>
          <a:lstStyle/>
          <a:p>
            <a:pPr algn="l" indent="0" marL="0">
              <a:buNone/>
            </a:pPr>
            <a:r>
              <a:rPr lang="en-US" sz="3400" b="1" dirty="0">
                <a:solidFill>
                  <a:schemeClr val="bg1"/>
                </a:solidFill>
              </a:rPr>
              <a:t>나물로</a:t>
            </a:r>
            <a:endParaRPr lang="en-US" sz="3400" dirty="0"/>
          </a:p>
        </p:txBody>
      </p:sp>
      <p:sp>
        <p:nvSpPr>
          <p:cNvPr id="4" name="Text 0"/>
          <p:cNvSpPr/>
          <p:nvPr>
            <p:ph idx="101" type="body" hasCustomPrompt="1"/>
          </p:nvPr>
        </p:nvSpPr>
        <p:spPr>
          <a:xfrm>
            <a:off x="548640" y="1572768"/>
            <a:ext cx="8046720" cy="411480"/>
          </a:xfrm>
          <a:prstGeom prst="rect">
            <a:avLst/>
          </a:prstGeom>
          <a:noFill/>
          <a:ln/>
        </p:spPr>
        <p:txBody>
          <a:bodyPr wrap="square" lIns="0" tIns="0" rIns="0" bIns="0" rtlCol="0" anchor="t"/>
          <a:lstStyle/>
          <a:p>
            <a:pPr indent="0" marL="0">
              <a:buNone/>
            </a:pPr>
            <a:r>
              <a:rPr lang="en-US" sz="1500" dirty="0">
                <a:solidFill>
                  <a:srgbClr val="DCE7E0"/>
                </a:solidFill>
              </a:rPr>
              <a:t>맞벌이 가정에는 레시피와 동네 매장 픽업을, 전통시장 판매자에게는 온라인 판매 채널을 제공</a:t>
            </a:r>
            <a:endParaRPr lang="en-US" sz="1500" dirty="0"/>
          </a:p>
        </p:txBody>
      </p:sp>
      <p:sp>
        <p:nvSpPr>
          <p:cNvPr id="5" name="next steps label"/>
          <p:cNvSpPr txBox="1"/>
          <p:nvPr/>
        </p:nvSpPr>
        <p:spPr>
          <a:xfrm>
            <a:off x="548640" y="2331720"/>
            <a:ext cx="2743200" cy="274320"/>
          </a:xfrm>
          <a:prstGeom prst="rect">
            <a:avLst/>
          </a:prstGeom>
          <a:noFill/>
          <a:ln/>
        </p:spPr>
        <p:txBody>
          <a:bodyPr wrap="square" lIns="0" tIns="0" rIns="0" bIns="0" rtlCol="0" anchor="ctr"/>
          <a:lstStyle/>
          <a:p>
            <a:pPr indent="0" marL="0">
              <a:buNone/>
            </a:pPr>
            <a:r>
              <a:rPr lang="en-US" sz="1200" b="1" dirty="0">
                <a:solidFill>
                  <a:srgbClr val="A9C2B3"/>
                </a:solidFill>
              </a:rPr>
              <a:t>다음 단계</a:t>
            </a:r>
            <a:endParaRPr lang="en-US" sz="1200" dirty="0"/>
          </a:p>
        </p:txBody>
      </p:sp>
      <p:sp>
        <p:nvSpPr>
          <p:cNvPr id="6" name="step box 01"/>
          <p:cNvSpPr/>
          <p:nvPr/>
        </p:nvSpPr>
        <p:spPr>
          <a:xfrm>
            <a:off x="548640" y="2651760"/>
            <a:ext cx="2560320" cy="1280160"/>
          </a:xfrm>
          <a:prstGeom prst="rect">
            <a:avLst/>
          </a:prstGeom>
          <a:solidFill>
            <a:srgbClr val="214A39"/>
          </a:solidFill>
          <a:ln w="12700">
            <a:solidFill>
              <a:srgbClr val="214A39"/>
            </a:solidFill>
            <a:prstDash val="solid"/>
          </a:ln>
        </p:spPr>
      </p:sp>
      <p:sp>
        <p:nvSpPr>
          <p:cNvPr id="7" name="step num 01"/>
          <p:cNvSpPr txBox="1"/>
          <p:nvPr/>
        </p:nvSpPr>
        <p:spPr>
          <a:xfrm>
            <a:off x="731520" y="274320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01</a:t>
            </a:r>
            <a:endParaRPr lang="en-US" sz="1800" dirty="0"/>
          </a:p>
        </p:txBody>
      </p:sp>
      <p:sp>
        <p:nvSpPr>
          <p:cNvPr id="8" name="step head 01"/>
          <p:cNvSpPr txBox="1"/>
          <p:nvPr/>
        </p:nvSpPr>
        <p:spPr>
          <a:xfrm>
            <a:off x="1298448" y="2743200"/>
            <a:ext cx="1737360" cy="365760"/>
          </a:xfrm>
          <a:prstGeom prst="rect">
            <a:avLst/>
          </a:prstGeom>
          <a:noFill/>
          <a:ln/>
        </p:spPr>
        <p:txBody>
          <a:bodyPr wrap="square" lIns="0" tIns="0" rIns="0" bIns="0" rtlCol="0" anchor="ctr"/>
          <a:lstStyle/>
          <a:p>
            <a:pPr indent="0" marL="0">
              <a:buNone/>
            </a:pPr>
            <a:r>
              <a:rPr lang="en-US" sz="1400" b="1" dirty="0">
                <a:solidFill>
                  <a:srgbClr val="FFFFFF"/>
                </a:solidFill>
              </a:rPr>
              <a:t>고객 인터뷰</a:t>
            </a:r>
            <a:endParaRPr lang="en-US" sz="1400" dirty="0"/>
          </a:p>
        </p:txBody>
      </p:sp>
      <p:sp>
        <p:nvSpPr>
          <p:cNvPr id="9" name="step desc 01"/>
          <p:cNvSpPr txBox="1"/>
          <p:nvPr/>
        </p:nvSpPr>
        <p:spPr>
          <a:xfrm>
            <a:off x="731520" y="3200400"/>
            <a:ext cx="2331720" cy="640080"/>
          </a:xfrm>
          <a:prstGeom prst="rect">
            <a:avLst/>
          </a:prstGeom>
          <a:noFill/>
          <a:ln/>
        </p:spPr>
        <p:txBody>
          <a:bodyPr wrap="square" lIns="0" tIns="0" rIns="0" bIns="0" rtlCol="0" anchor="ctr"/>
          <a:lstStyle/>
          <a:p>
            <a:pPr indent="0" marL="0">
              <a:buNone/>
            </a:pPr>
            <a:r>
              <a:rPr lang="en-US" sz="1150" dirty="0">
                <a:solidFill>
                  <a:srgbClr val="C7D6CC"/>
                </a:solidFill>
              </a:rPr>
              <a:t>시장 인근 맞벌이 가정 10명</a:t>
            </a:r>
            <a:endParaRPr lang="en-US" sz="1150" dirty="0"/>
          </a:p>
          <a:p>
            <a:pPr indent="0" marL="0">
              <a:buNone/>
            </a:pPr>
            <a:r>
              <a:rPr lang="en-US" sz="1150" dirty="0">
                <a:solidFill>
                  <a:srgbClr val="C7D6CC"/>
                </a:solidFill>
              </a:rPr>
              <a:t>프로토타입으로 사용성 확인</a:t>
            </a:r>
            <a:endParaRPr lang="en-US" sz="1150" dirty="0"/>
          </a:p>
        </p:txBody>
      </p:sp>
      <p:sp>
        <p:nvSpPr>
          <p:cNvPr id="10" name="step box 02"/>
          <p:cNvSpPr/>
          <p:nvPr/>
        </p:nvSpPr>
        <p:spPr>
          <a:xfrm>
            <a:off x="3246120" y="2651760"/>
            <a:ext cx="2560320" cy="1280160"/>
          </a:xfrm>
          <a:prstGeom prst="rect">
            <a:avLst/>
          </a:prstGeom>
          <a:solidFill>
            <a:srgbClr val="214A39"/>
          </a:solidFill>
          <a:ln w="12700">
            <a:solidFill>
              <a:srgbClr val="214A39"/>
            </a:solidFill>
            <a:prstDash val="solid"/>
          </a:ln>
        </p:spPr>
      </p:sp>
      <p:sp>
        <p:nvSpPr>
          <p:cNvPr id="11" name="step num 02"/>
          <p:cNvSpPr txBox="1"/>
          <p:nvPr/>
        </p:nvSpPr>
        <p:spPr>
          <a:xfrm>
            <a:off x="3429000" y="274320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02</a:t>
            </a:r>
            <a:endParaRPr lang="en-US" sz="1800" dirty="0"/>
          </a:p>
        </p:txBody>
      </p:sp>
      <p:sp>
        <p:nvSpPr>
          <p:cNvPr id="12" name="step head 02"/>
          <p:cNvSpPr txBox="1"/>
          <p:nvPr/>
        </p:nvSpPr>
        <p:spPr>
          <a:xfrm>
            <a:off x="3995928" y="2743200"/>
            <a:ext cx="1737360" cy="365760"/>
          </a:xfrm>
          <a:prstGeom prst="rect">
            <a:avLst/>
          </a:prstGeom>
          <a:noFill/>
          <a:ln/>
        </p:spPr>
        <p:txBody>
          <a:bodyPr wrap="square" lIns="0" tIns="0" rIns="0" bIns="0" rtlCol="0" anchor="ctr"/>
          <a:lstStyle/>
          <a:p>
            <a:pPr indent="0" marL="0">
              <a:buNone/>
            </a:pPr>
            <a:r>
              <a:rPr lang="en-US" sz="1400" b="1" dirty="0">
                <a:solidFill>
                  <a:srgbClr val="FFFFFF"/>
                </a:solidFill>
              </a:rPr>
              <a:t>파일럿</a:t>
            </a:r>
            <a:endParaRPr lang="en-US" sz="1400" dirty="0"/>
          </a:p>
        </p:txBody>
      </p:sp>
      <p:sp>
        <p:nvSpPr>
          <p:cNvPr id="13" name="step desc 02"/>
          <p:cNvSpPr txBox="1"/>
          <p:nvPr/>
        </p:nvSpPr>
        <p:spPr>
          <a:xfrm>
            <a:off x="3429000" y="3200400"/>
            <a:ext cx="2331720" cy="640080"/>
          </a:xfrm>
          <a:prstGeom prst="rect">
            <a:avLst/>
          </a:prstGeom>
          <a:noFill/>
          <a:ln/>
        </p:spPr>
        <p:txBody>
          <a:bodyPr wrap="square" lIns="0" tIns="0" rIns="0" bIns="0" rtlCol="0" anchor="ctr"/>
          <a:lstStyle/>
          <a:p>
            <a:pPr indent="0" marL="0">
              <a:buNone/>
            </a:pPr>
            <a:r>
              <a:rPr lang="en-US" sz="1150" dirty="0">
                <a:solidFill>
                  <a:srgbClr val="C7D6CC"/>
                </a:solidFill>
              </a:rPr>
              <a:t>2026.12~2027.2, 시장 1곳</a:t>
            </a:r>
            <a:endParaRPr lang="en-US" sz="1150" dirty="0"/>
          </a:p>
          <a:p>
            <a:pPr indent="0" marL="0">
              <a:buNone/>
            </a:pPr>
            <a:r>
              <a:rPr lang="en-US" sz="1150" dirty="0">
                <a:solidFill>
                  <a:srgbClr val="C7D6CC"/>
                </a:solidFill>
              </a:rPr>
              <a:t>유료 주문 100건 목표</a:t>
            </a:r>
            <a:endParaRPr lang="en-US" sz="1150" dirty="0"/>
          </a:p>
        </p:txBody>
      </p:sp>
      <p:sp>
        <p:nvSpPr>
          <p:cNvPr id="14" name="step box 03"/>
          <p:cNvSpPr/>
          <p:nvPr/>
        </p:nvSpPr>
        <p:spPr>
          <a:xfrm>
            <a:off x="5943600" y="2651760"/>
            <a:ext cx="2560320" cy="1280160"/>
          </a:xfrm>
          <a:prstGeom prst="rect">
            <a:avLst/>
          </a:prstGeom>
          <a:solidFill>
            <a:srgbClr val="214A39"/>
          </a:solidFill>
          <a:ln w="12700">
            <a:solidFill>
              <a:srgbClr val="214A39"/>
            </a:solidFill>
            <a:prstDash val="solid"/>
          </a:ln>
        </p:spPr>
      </p:sp>
      <p:sp>
        <p:nvSpPr>
          <p:cNvPr id="15" name="step num 03"/>
          <p:cNvSpPr txBox="1"/>
          <p:nvPr/>
        </p:nvSpPr>
        <p:spPr>
          <a:xfrm>
            <a:off x="6126480" y="2743200"/>
            <a:ext cx="548640" cy="365760"/>
          </a:xfrm>
          <a:prstGeom prst="rect">
            <a:avLst/>
          </a:prstGeom>
          <a:noFill/>
          <a:ln/>
        </p:spPr>
        <p:txBody>
          <a:bodyPr wrap="square" lIns="0" tIns="0" rIns="0" bIns="0" rtlCol="0" anchor="ctr"/>
          <a:lstStyle/>
          <a:p>
            <a:pPr indent="0" marL="0">
              <a:buNone/>
            </a:pPr>
            <a:r>
              <a:rPr lang="en-US" sz="1800" b="1" dirty="0">
                <a:solidFill>
                  <a:srgbClr val="FFFFFF"/>
                </a:solidFill>
              </a:rPr>
              <a:t>03</a:t>
            </a:r>
            <a:endParaRPr lang="en-US" sz="1800" dirty="0"/>
          </a:p>
        </p:txBody>
      </p:sp>
      <p:sp>
        <p:nvSpPr>
          <p:cNvPr id="16" name="step head 03"/>
          <p:cNvSpPr txBox="1"/>
          <p:nvPr/>
        </p:nvSpPr>
        <p:spPr>
          <a:xfrm>
            <a:off x="6693408" y="2743200"/>
            <a:ext cx="1737360" cy="365760"/>
          </a:xfrm>
          <a:prstGeom prst="rect">
            <a:avLst/>
          </a:prstGeom>
          <a:noFill/>
          <a:ln/>
        </p:spPr>
        <p:txBody>
          <a:bodyPr wrap="square" lIns="0" tIns="0" rIns="0" bIns="0" rtlCol="0" anchor="ctr"/>
          <a:lstStyle/>
          <a:p>
            <a:pPr indent="0" marL="0">
              <a:buNone/>
            </a:pPr>
            <a:r>
              <a:rPr lang="en-US" sz="1400" b="1" dirty="0">
                <a:solidFill>
                  <a:srgbClr val="FFFFFF"/>
                </a:solidFill>
              </a:rPr>
              <a:t>팀 · 지원사업</a:t>
            </a:r>
            <a:endParaRPr lang="en-US" sz="1400" dirty="0"/>
          </a:p>
        </p:txBody>
      </p:sp>
      <p:sp>
        <p:nvSpPr>
          <p:cNvPr id="17" name="step desc 03"/>
          <p:cNvSpPr txBox="1"/>
          <p:nvPr/>
        </p:nvSpPr>
        <p:spPr>
          <a:xfrm>
            <a:off x="6126480" y="3200400"/>
            <a:ext cx="2331720" cy="640080"/>
          </a:xfrm>
          <a:prstGeom prst="rect">
            <a:avLst/>
          </a:prstGeom>
          <a:noFill/>
          <a:ln/>
        </p:spPr>
        <p:txBody>
          <a:bodyPr wrap="square" lIns="0" tIns="0" rIns="0" bIns="0" rtlCol="0" anchor="ctr"/>
          <a:lstStyle/>
          <a:p>
            <a:pPr indent="0" marL="0">
              <a:buNone/>
            </a:pPr>
            <a:r>
              <a:rPr lang="en-US" sz="1150" dirty="0">
                <a:solidFill>
                  <a:srgbClr val="C7D6CC"/>
                </a:solidFill>
              </a:rPr>
              <a:t>개발·콘텐츠 파트너 모집</a:t>
            </a:r>
            <a:endParaRPr lang="en-US" sz="1150" dirty="0"/>
          </a:p>
          <a:p>
            <a:pPr indent="0" marL="0">
              <a:buNone/>
            </a:pPr>
            <a:r>
              <a:rPr lang="en-US" sz="1150" dirty="0">
                <a:solidFill>
                  <a:srgbClr val="C7D6CC"/>
                </a:solidFill>
              </a:rPr>
              <a:t>2027 정부 지원사업 신청</a:t>
            </a:r>
            <a:endParaRPr lang="en-US" sz="1150" dirty="0"/>
          </a:p>
        </p:txBody>
      </p:sp>
      <p:sp>
        <p:nvSpPr>
          <p:cNvPr id="18" name="thanks"/>
          <p:cNvSpPr txBox="1"/>
          <p:nvPr/>
        </p:nvSpPr>
        <p:spPr>
          <a:xfrm>
            <a:off x="548640" y="4224528"/>
            <a:ext cx="3657600" cy="384048"/>
          </a:xfrm>
          <a:prstGeom prst="rect">
            <a:avLst/>
          </a:prstGeom>
          <a:noFill/>
          <a:ln/>
        </p:spPr>
        <p:txBody>
          <a:bodyPr wrap="square" lIns="0" tIns="0" rIns="0" bIns="0" rtlCol="0" anchor="ctr"/>
          <a:lstStyle/>
          <a:p>
            <a:pPr indent="0" marL="0">
              <a:buNone/>
            </a:pPr>
            <a:r>
              <a:rPr lang="en-US" sz="1800" b="1" dirty="0">
                <a:solidFill>
                  <a:srgbClr val="FFFFFF"/>
                </a:solidFill>
              </a:rPr>
              <a:t>감사합니다</a:t>
            </a:r>
            <a:endParaRPr lang="en-US" sz="1800" dirty="0"/>
          </a:p>
        </p:txBody>
      </p:sp>
      <p:sp>
        <p:nvSpPr>
          <p:cNvPr id="19" name="presenter"/>
          <p:cNvSpPr txBox="1"/>
          <p:nvPr/>
        </p:nvSpPr>
        <p:spPr>
          <a:xfrm>
            <a:off x="5394960" y="4224528"/>
            <a:ext cx="3200400" cy="384048"/>
          </a:xfrm>
          <a:prstGeom prst="rect">
            <a:avLst/>
          </a:prstGeom>
          <a:noFill/>
          <a:ln/>
        </p:spPr>
        <p:txBody>
          <a:bodyPr wrap="square" lIns="0" tIns="0" rIns="0" bIns="0" rtlCol="0" anchor="ctr"/>
          <a:lstStyle/>
          <a:p>
            <a:pPr algn="r" indent="0" marL="0">
              <a:buNone/>
            </a:pPr>
            <a:r>
              <a:rPr lang="en-US" sz="1200" dirty="0">
                <a:solidFill>
                  <a:srgbClr val="A9C2B3"/>
                </a:solidFill>
              </a:rPr>
              <a:t>○○학과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부록</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부록 1. 수치 산출 근거</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모든 재무 수치는 가정 기반 추정치이며, 파일럿 실측 후 갱신함</a:t>
            </a:r>
            <a:endParaRPr lang="en-US" sz="13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411480" y="1536192"/>
          <a:ext cx="8321040" cy="914400"/>
        </p:xfrm>
        <a:graphic>
          <a:graphicData uri="http://schemas.openxmlformats.org/drawingml/2006/table">
            <a:tbl>
              <a:tblPr/>
              <a:tblGrid>
                <a:gridCol w="1965960"/>
                <a:gridCol w="4572000"/>
                <a:gridCol w="1783080"/>
              </a:tblGrid>
              <a:tr h="292608">
                <a:tc>
                  <a:txBody>
                    <a:bodyPr/>
                    <a:lstStyle/>
                    <a:p>
                      <a:pPr algn="ctr" indent="0" marL="0">
                        <a:buNone/>
                      </a:pPr>
                      <a:r>
                        <a:rPr lang="en-US" sz="1100" b="1" dirty="0">
                          <a:solidFill>
                            <a:srgbClr val="FFFFFF"/>
                          </a:solidFill>
                        </a:rPr>
                        <a:t>항목</a:t>
                      </a:r>
                      <a:endParaRPr lang="en-US" sz="11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100" b="1" dirty="0">
                          <a:solidFill>
                            <a:srgbClr val="FFFFFF"/>
                          </a:solidFill>
                        </a:rPr>
                        <a:t>산식</a:t>
                      </a:r>
                      <a:endParaRPr lang="en-US" sz="11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1E4D3A"/>
                    </a:solidFill>
                  </a:tcPr>
                </a:tc>
                <a:tc>
                  <a:txBody>
                    <a:bodyPr/>
                    <a:lstStyle/>
                    <a:p>
                      <a:pPr algn="ctr" indent="0" marL="0">
                        <a:buNone/>
                      </a:pPr>
                      <a:r>
                        <a:rPr lang="en-US" sz="1100" b="1" dirty="0">
                          <a:solidFill>
                            <a:srgbClr val="FFFFFF"/>
                          </a:solidFill>
                        </a:rPr>
                        <a:t>값</a:t>
                      </a:r>
                      <a:endParaRPr lang="en-US" sz="1100" dirty="0"/>
                    </a:p>
                  </a:txBody>
                  <a:tcPr marL="91440" marR="91440" marT="18288" marB="18288" anchor="ctr">
                    <a:lnL w="0" cap="flat" cmpd="sng" algn="ctr">
                      <a:noFill/>
                    </a:lnL>
                    <a:lnR w="0" cap="flat" cmpd="sng" algn="ctr">
                      <a:noFill/>
                    </a:lnR>
                    <a:lnT w="0" cap="flat" cmpd="sng" algn="ctr">
                      <a:noFill/>
                    </a:lnT>
                    <a:lnB w="0" cap="flat" cmpd="sng" algn="ctr">
                      <a:noFill/>
                    </a:lnB>
                    <a:solidFill>
                      <a:srgbClr val="1E4D3A"/>
                    </a:solidFill>
                  </a:tcPr>
                </a:tc>
              </a:tr>
              <a:tr h="301752">
                <a:tc>
                  <a:txBody>
                    <a:bodyPr/>
                    <a:lstStyle/>
                    <a:p>
                      <a:pPr algn="l" indent="0" marL="0">
                        <a:buNone/>
                      </a:pPr>
                      <a:r>
                        <a:rPr lang="en-US" sz="1100" b="1" dirty="0">
                          <a:solidFill>
                            <a:srgbClr val="1F2421"/>
                          </a:solidFill>
                        </a:rPr>
                        <a:t>목표 시장</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28.7조 원 × 수도권 40% × 채소·나물 15%</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약 1.7조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3년차 거래액</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입점 300곳 × 월 100건 × 15,000원 × 12개월</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54억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중개 수수료</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(54억 원 − 구독 결제액 12.6억 원) × 4%</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약 1.7억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정기구독</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3,000명 × 월 35,000원 × 12개월 × 플랫폼 몫 22%</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약 2.8억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판매자 유료 서비스</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120곳 × 월 29,000원 × 12개월</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약 0.4억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E4D3A"/>
                          </a:solidFill>
                        </a:rPr>
                        <a:t>3년차 매출 (기본)</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l" indent="0" marL="0">
                        <a:buNone/>
                      </a:pPr>
                      <a:r>
                        <a:rPr lang="en-US" sz="1100" dirty="0">
                          <a:solidFill>
                            <a:srgbClr val="1F2421"/>
                          </a:solidFill>
                        </a:rPr>
                        <a:t>위 세 항목 합계</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c>
                  <a:txBody>
                    <a:bodyPr/>
                    <a:lstStyle/>
                    <a:p>
                      <a:pPr algn="r" indent="0" marL="0">
                        <a:buNone/>
                      </a:pPr>
                      <a:r>
                        <a:rPr lang="en-US" sz="1100" b="1" dirty="0">
                          <a:solidFill>
                            <a:srgbClr val="1E4D3A"/>
                          </a:solidFill>
                        </a:rPr>
                        <a:t>약 4.9억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E6F0EA"/>
                    </a:solidFill>
                  </a:tcPr>
                </a:tc>
              </a:tr>
              <a:tr h="301752">
                <a:tc>
                  <a:txBody>
                    <a:bodyPr/>
                    <a:lstStyle/>
                    <a:p>
                      <a:pPr algn="l" indent="0" marL="0">
                        <a:buNone/>
                      </a:pPr>
                      <a:r>
                        <a:rPr lang="en-US" sz="1100" b="1" dirty="0">
                          <a:solidFill>
                            <a:srgbClr val="1F2421"/>
                          </a:solidFill>
                        </a:rPr>
                        <a:t>지자체·제휴 (확장)</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계약 확보 시 추가하는 확장 시나리오 (미검증, 기본 목표에서 제외)</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4A524D"/>
                          </a:solidFill>
                        </a:rPr>
                        <a:t>+3.1억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주문당 수수료 수입</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15,000원 × 4% (변동비 차감 전, 공헌이익 아님)</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600원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r h="301752">
                <a:tc>
                  <a:txBody>
                    <a:bodyPr/>
                    <a:lstStyle/>
                    <a:p>
                      <a:pPr algn="l" indent="0" marL="0">
                        <a:buNone/>
                      </a:pPr>
                      <a:r>
                        <a:rPr lang="en-US" sz="1100" b="1" dirty="0">
                          <a:solidFill>
                            <a:srgbClr val="1F2421"/>
                          </a:solidFill>
                        </a:rPr>
                        <a:t>LLM 호출비 (3년차)</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2F4F2"/>
                    </a:solidFill>
                  </a:tcPr>
                </a:tc>
                <a:tc>
                  <a:txBody>
                    <a:bodyPr/>
                    <a:lstStyle/>
                    <a:p>
                      <a:pPr algn="l" indent="0" marL="0">
                        <a:buNone/>
                      </a:pPr>
                      <a:r>
                        <a:rPr lang="en-US" sz="1100" dirty="0">
                          <a:solidFill>
                            <a:srgbClr val="1F2421"/>
                          </a:solidFill>
                        </a:rPr>
                        <a:t>월 약 5.8만 건 기준, 캐시 적용 / 미적용</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421"/>
                          </a:solidFill>
                        </a:rPr>
                        <a:t>월 약 72만~99만 원</a:t>
                      </a:r>
                      <a:endParaRPr lang="en-US" sz="1100" dirty="0"/>
                    </a:p>
                  </a:txBody>
                  <a:tcPr marL="91440" marR="91440" marT="18288" marB="18288" anchor="ctr">
                    <a:lnL w="0" cap="flat" cmpd="sng" algn="ctr">
                      <a:noFill/>
                    </a:lnL>
                    <a:lnR w="0" cap="flat" cmpd="sng" algn="ctr">
                      <a:noFill/>
                    </a:lnR>
                    <a:lnT w="0" cap="flat" cmpd="sng" algn="ctr">
                      <a:noFill/>
                    </a:lnT>
                    <a:lnB w="9525" cap="flat" cmpd="sng" algn="ctr">
                      <a:solidFill>
                        <a:srgbClr val="D9DED9"/>
                      </a:solidFill>
                      <a:prstDash val="solid"/>
                      <a:round/>
                      <a:headEnd type="none" w="med" len="med"/>
                      <a:tailEnd type="none" w="med" len="med"/>
                    </a:lnB>
                    <a:solidFill>
                      <a:srgbClr val="FFFFFF"/>
                    </a:solidFill>
                  </a:tcPr>
                </a:tc>
              </a:tr>
            </a:tbl>
          </a:graphicData>
        </a:graphic>
      </p:graphicFrame>
      <p:sp>
        <p:nvSpPr>
          <p:cNvPr id="7"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주: LLM 호출비는 Claude API 가격표(2026.10, 1달러=1,400원) 기준 추정이며 재시도·서버·검수 인건비는 별도 / 구독자 3,000명·유료 판매자 120곳은 가정</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3"/>
          <p:cNvSpPr/>
          <p:nvPr>
            <p:ph idx="103" type="body" hasCustomPrompt="1"/>
          </p:nvPr>
        </p:nvSpPr>
        <p:spPr>
          <a:xfrm>
            <a:off x="411480" y="201168"/>
            <a:ext cx="5943600" cy="237744"/>
          </a:xfrm>
          <a:prstGeom prst="rect">
            <a:avLst/>
          </a:prstGeom>
          <a:noFill/>
          <a:ln/>
        </p:spPr>
        <p:txBody>
          <a:bodyPr wrap="square" lIns="0" tIns="0" rIns="0" bIns="0" rtlCol="0" anchor="ctr"/>
          <a:lstStyle/>
          <a:p>
            <a:pPr indent="0" marL="0">
              <a:buNone/>
            </a:pPr>
            <a:r>
              <a:rPr lang="en-US" sz="1100" b="1" dirty="0">
                <a:solidFill>
                  <a:schemeClr val="accent1"/>
                </a:solidFill>
              </a:rPr>
              <a:t>부록</a:t>
            </a:r>
            <a:endParaRPr lang="en-US" sz="1100" dirty="0"/>
          </a:p>
        </p:txBody>
      </p:sp>
      <p:sp>
        <p:nvSpPr>
          <p:cNvPr id="4" name="Text 3"/>
          <p:cNvSpPr/>
          <p:nvPr>
            <p:ph idx="104" type="title" hasCustomPrompt="1"/>
          </p:nvPr>
        </p:nvSpPr>
        <p:spPr>
          <a:xfrm>
            <a:off x="411480" y="438912"/>
            <a:ext cx="8321040" cy="420624"/>
          </a:xfrm>
          <a:prstGeom prst="rect">
            <a:avLst/>
          </a:prstGeom>
          <a:noFill/>
          <a:ln/>
        </p:spPr>
        <p:txBody>
          <a:bodyPr wrap="square" lIns="0" tIns="0" rIns="0" bIns="0" rtlCol="0" anchor="ctr"/>
          <a:lstStyle/>
          <a:p>
            <a:pPr algn="l" indent="0" marL="0">
              <a:buNone/>
            </a:pPr>
            <a:r>
              <a:rPr lang="en-US" sz="2200" b="1" dirty="0">
                <a:solidFill>
                  <a:schemeClr val="tx1"/>
                </a:solidFill>
              </a:rPr>
              <a:t>부록 2. 참고 자료</a:t>
            </a:r>
            <a:endParaRPr lang="en-US" sz="2200" dirty="0"/>
          </a:p>
        </p:txBody>
      </p:sp>
      <p:sp>
        <p:nvSpPr>
          <p:cNvPr id="5" name="Text 3"/>
          <p:cNvSpPr/>
          <p:nvPr>
            <p:ph idx="105" type="body" hasCustomPrompt="1"/>
          </p:nvPr>
        </p:nvSpPr>
        <p:spPr>
          <a:xfrm>
            <a:off x="566928" y="914400"/>
            <a:ext cx="8046720" cy="502920"/>
          </a:xfrm>
          <a:prstGeom prst="rect">
            <a:avLst/>
          </a:prstGeom>
          <a:noFill/>
          <a:ln/>
        </p:spPr>
        <p:txBody>
          <a:bodyPr wrap="square" lIns="0" tIns="0" rIns="0" bIns="0" rtlCol="0" anchor="ctr"/>
          <a:lstStyle/>
          <a:p>
            <a:pPr indent="0" marL="0">
              <a:buNone/>
            </a:pPr>
            <a:r>
              <a:rPr lang="en-US" sz="1300" b="1" dirty="0">
                <a:solidFill>
                  <a:schemeClr val="tx1"/>
                </a:solidFill>
              </a:rPr>
              <a:t>수치는 2026.10 웹 검색 기준 공개 통계·보도이며, 발표 전 원문 확인 권장</a:t>
            </a:r>
            <a:endParaRPr lang="en-US" sz="1300" dirty="0"/>
          </a:p>
        </p:txBody>
      </p:sp>
      <p:sp>
        <p:nvSpPr>
          <p:cNvPr id="6" name="ref head 통계 · 시장 · 연구"/>
          <p:cNvSpPr txBox="1"/>
          <p:nvPr/>
        </p:nvSpPr>
        <p:spPr>
          <a:xfrm>
            <a:off x="411480" y="1536192"/>
            <a:ext cx="4069080" cy="274320"/>
          </a:xfrm>
          <a:prstGeom prst="rect">
            <a:avLst/>
          </a:prstGeom>
          <a:noFill/>
          <a:ln/>
        </p:spPr>
        <p:txBody>
          <a:bodyPr wrap="square" lIns="0" tIns="0" rIns="0" bIns="0" rtlCol="0" anchor="ctr"/>
          <a:lstStyle/>
          <a:p>
            <a:pPr indent="0" marL="0">
              <a:buNone/>
            </a:pPr>
            <a:r>
              <a:rPr lang="en-US" sz="1200" b="1" dirty="0">
                <a:solidFill>
                  <a:schemeClr val="accent1"/>
                </a:solidFill>
              </a:rPr>
              <a:t>통계 · 시장 · 연구</a:t>
            </a:r>
            <a:endParaRPr lang="en-US" sz="1200" dirty="0"/>
          </a:p>
        </p:txBody>
      </p:sp>
      <p:sp>
        <p:nvSpPr>
          <p:cNvPr id="7" name="ref list 통계 · 시장 · 연구"/>
          <p:cNvSpPr txBox="1"/>
          <p:nvPr/>
        </p:nvSpPr>
        <p:spPr>
          <a:xfrm>
            <a:off x="411480" y="1847088"/>
            <a:ext cx="4069080" cy="2697480"/>
          </a:xfrm>
          <a:prstGeom prst="rect">
            <a:avLst/>
          </a:prstGeom>
          <a:noFill/>
          <a:ln/>
        </p:spPr>
        <p:txBody>
          <a:bodyPr wrap="square" lIns="0" tIns="0" rIns="0" bIns="0" rtlCol="0" anchor="t"/>
          <a:lstStyle/>
          <a:p>
            <a:pPr marL="342900" indent="-342900">
              <a:lnSpc>
                <a:spcPct val="112000"/>
              </a:lnSpc>
              <a:spcAft>
                <a:spcPts val="600"/>
              </a:spcAft>
              <a:buSzPct val="100000"/>
              <a:buFont typeface="+mj-lt"/>
              <a:buAutoNum type="arabicPeriod" startAt="1"/>
            </a:pPr>
            <a:r>
              <a:rPr lang="en-US" sz="1050" u="sng" dirty="0">
                <a:solidFill>
                  <a:srgbClr val="1F2421"/>
                </a:solidFill>
                <a:hlinkClick r:id="rId1" invalidUrl="" action="" tgtFrame="" tooltip="https://www.newsis.com/view/NISX20260618_0003673686" history="1" highlightClick="0" endSnd="0">
                  <a:extLst>
                    <a:ext uri="{A12FA001-AC4F-418D-AE19-62706E023703}">
                      <ahyp:hlinkClr xmlns:ahyp="http://schemas.microsoft.com/office/drawing/2018/hyperlinkcolor" val="tx"/>
                    </a:ext>
                  </a:extLst>
                </a:hlinkClick>
              </a:rPr>
              <a:t>국가데이터처, 2025년 하반기 지역별고용조사 맞벌이 가구 현황 (뉴시스 2026.06.18)</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2" invalidUrl="" action="" tgtFrame="" tooltip="https://www.newsis.com/view/NISX20250103_0003020386" history="1" highlightClick="0" endSnd="0">
                  <a:extLst>
                    <a:ext uri="{A12FA001-AC4F-418D-AE19-62706E023703}">
                      <ahyp:hlinkClr xmlns:ahyp="http://schemas.microsoft.com/office/drawing/2018/hyperlinkcolor" val="tx"/>
                    </a:ext>
                  </a:extLst>
                </a:hlinkClick>
              </a:rPr>
              <a:t>소상공인시장진흥공단, 전통시장 실태조사 2023 (뉴시스 2025.01.03)</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3" invalidUrl="" action="" tgtFrame="" tooltip="https://www.index.go.kr/unify/idx-info.do?idxCd=1302" history="1" highlightClick="0" endSnd="0">
                  <a:extLst>
                    <a:ext uri="{A12FA001-AC4F-418D-AE19-62706E023703}">
                      <ahyp:hlinkClr xmlns:ahyp="http://schemas.microsoft.com/office/drawing/2018/hyperlinkcolor" val="tx"/>
                    </a:ext>
                  </a:extLst>
                </a:hlinkClick>
              </a:rPr>
              <a:t>산림청, 2024년 임산물생산조사 (e-나라지표)</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4" invalidUrl="" action="" tgtFrame="" tooltip="https://www.mt.co.kr/tech/2026/03/18/2026031714425925652" history="1" highlightClick="0" endSnd="0">
                  <a:extLst>
                    <a:ext uri="{A12FA001-AC4F-418D-AE19-62706E023703}">
                      <ahyp:hlinkClr xmlns:ahyp="http://schemas.microsoft.com/office/drawing/2018/hyperlinkcolor" val="tx"/>
                    </a:ext>
                  </a:extLst>
                </a:hlinkClick>
              </a:rPr>
              <a:t>머니투데이, 배민 전통시장 장보기 입점 성과 (2026.03.18)</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5" invalidUrl="" action="" tgtFrame="" tooltip="https://koreascience.or.kr/article/JAKO201931765048406.page" history="1" highlightClick="0" endSnd="0">
                  <a:extLst>
                    <a:ext uri="{A12FA001-AC4F-418D-AE19-62706E023703}">
                      <ahyp:hlinkClr xmlns:ahyp="http://schemas.microsoft.com/office/drawing/2018/hyperlinkcolor" val="tx"/>
                    </a:ext>
                  </a:extLst>
                </a:hlinkClick>
              </a:rPr>
              <a:t>정유미(2019), 유아의 나이에 따른 편식 및 식습관 실태, 한국식생활문화학회지 34(5)</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6" invalidUrl="" action="" tgtFrame="" tooltip="https://www.mfds.go.kr/webzine/201504/pdf/main.pdf" history="1" highlightClick="0" endSnd="0">
                  <a:extLst>
                    <a:ext uri="{A12FA001-AC4F-418D-AE19-62706E023703}">
                      <ahyp:hlinkClr xmlns:ahyp="http://schemas.microsoft.com/office/drawing/2018/hyperlinkcolor" val="tx"/>
                    </a:ext>
                  </a:extLst>
                </a:hlinkClick>
              </a:rPr>
              <a:t>식품의약품안전처, 산나물과 독초 구별 안내 (웹진)</a:t>
            </a:r>
            <a:endParaRPr lang="en-US" sz="1050" dirty="0"/>
          </a:p>
          <a:p>
            <a:pPr marL="342900" indent="-342900">
              <a:lnSpc>
                <a:spcPct val="112000"/>
              </a:lnSpc>
              <a:spcAft>
                <a:spcPts val="600"/>
              </a:spcAft>
              <a:buSzPct val="100000"/>
              <a:buFont typeface="+mj-lt"/>
              <a:buAutoNum type="arabicPeriod" startAt="1"/>
            </a:pPr>
            <a:r>
              <a:rPr lang="en-US" sz="1050" u="sng" dirty="0">
                <a:solidFill>
                  <a:srgbClr val="1F2421"/>
                </a:solidFill>
                <a:hlinkClick r:id="rId7" invalidUrl="" action="" tgtFrame="" tooltip="https://hanok.gongju.go.kr/cmm/fms/FileDown.do?atchFileId=FILE_0000127870Uc2bM&amp;fileSn=0" history="1" highlightClick="0" endSnd="0">
                  <a:extLst>
                    <a:ext uri="{A12FA001-AC4F-418D-AE19-62706E023703}">
                      <ahyp:hlinkClr xmlns:ahyp="http://schemas.microsoft.com/office/drawing/2018/hyperlinkcolor" val="tx"/>
                    </a:ext>
                  </a:extLst>
                </a:hlinkClick>
              </a:rPr>
              <a:t>중소벤처기업부 공고 제2026-143호, 예비창업패키지 수정공고</a:t>
            </a:r>
            <a:endParaRPr lang="en-US" sz="1050" dirty="0"/>
          </a:p>
        </p:txBody>
      </p:sp>
      <p:sp>
        <p:nvSpPr>
          <p:cNvPr id="8" name="ref head 경쟁 · 기술 · 자료"/>
          <p:cNvSpPr txBox="1"/>
          <p:nvPr/>
        </p:nvSpPr>
        <p:spPr>
          <a:xfrm>
            <a:off x="4663440" y="1536192"/>
            <a:ext cx="4069080" cy="274320"/>
          </a:xfrm>
          <a:prstGeom prst="rect">
            <a:avLst/>
          </a:prstGeom>
          <a:noFill/>
          <a:ln/>
        </p:spPr>
        <p:txBody>
          <a:bodyPr wrap="square" lIns="0" tIns="0" rIns="0" bIns="0" rtlCol="0" anchor="ctr"/>
          <a:lstStyle/>
          <a:p>
            <a:pPr indent="0" marL="0">
              <a:buNone/>
            </a:pPr>
            <a:r>
              <a:rPr lang="en-US" sz="1200" b="1" dirty="0">
                <a:solidFill>
                  <a:schemeClr val="accent1"/>
                </a:solidFill>
              </a:rPr>
              <a:t>경쟁 · 기술 · 자료</a:t>
            </a:r>
            <a:endParaRPr lang="en-US" sz="1200" dirty="0"/>
          </a:p>
        </p:txBody>
      </p:sp>
      <p:sp>
        <p:nvSpPr>
          <p:cNvPr id="9" name="ref list 경쟁 · 기술 · 자료"/>
          <p:cNvSpPr txBox="1"/>
          <p:nvPr/>
        </p:nvSpPr>
        <p:spPr>
          <a:xfrm>
            <a:off x="4663440" y="1847088"/>
            <a:ext cx="4069080" cy="2697480"/>
          </a:xfrm>
          <a:prstGeom prst="rect">
            <a:avLst/>
          </a:prstGeom>
          <a:noFill/>
          <a:ln/>
        </p:spPr>
        <p:txBody>
          <a:bodyPr wrap="square" lIns="0" tIns="0" rIns="0" bIns="0" rtlCol="0" anchor="t"/>
          <a:lstStyle/>
          <a:p>
            <a:pPr marL="342900" indent="-342900">
              <a:lnSpc>
                <a:spcPct val="112000"/>
              </a:lnSpc>
              <a:spcAft>
                <a:spcPts val="600"/>
              </a:spcAft>
              <a:buSzPct val="100000"/>
              <a:buFont typeface="+mj-lt"/>
              <a:buAutoNum type="arabicPeriod" startAt="8"/>
            </a:pPr>
            <a:r>
              <a:rPr lang="en-US" sz="1050" u="sng" dirty="0">
                <a:solidFill>
                  <a:srgbClr val="1F2421"/>
                </a:solidFill>
                <a:hlinkClick r:id="rId8" invalidUrl="" action="" tgtFrame="" tooltip="https://navercorp.com/media/pressReleasesDetail?seq=34203" history="1" highlightClick="0" endSnd="0">
                  <a:extLst>
                    <a:ext uri="{A12FA001-AC4F-418D-AE19-62706E023703}">
                      <ahyp:hlinkClr xmlns:ahyp="http://schemas.microsoft.com/office/drawing/2018/hyperlinkcolor" val="tx"/>
                    </a:ext>
                  </a:extLst>
                </a:hlinkClick>
              </a:rPr>
              <a:t>네이버, 스마트플레이스 AI 리뷰 관리 · 톡톡 AI FAQ 발표</a:t>
            </a:r>
            <a:endParaRPr lang="en-US" sz="1050" dirty="0"/>
          </a:p>
          <a:p>
            <a:pPr marL="342900" indent="-342900">
              <a:lnSpc>
                <a:spcPct val="112000"/>
              </a:lnSpc>
              <a:spcAft>
                <a:spcPts val="600"/>
              </a:spcAft>
              <a:buSzPct val="100000"/>
              <a:buFont typeface="+mj-lt"/>
              <a:buAutoNum type="arabicPeriod" startAt="8"/>
            </a:pPr>
            <a:r>
              <a:rPr lang="en-US" sz="1050" dirty="0">
                <a:solidFill>
                  <a:srgbClr val="1F2421"/>
                </a:solidFill>
              </a:rPr>
              <a:t>쿠팡 · 컬리 · 어글리어스 · 당근 서비스 소개 (2026.10 확인, 자체 정리)</a:t>
            </a:r>
            <a:endParaRPr lang="en-US" sz="1050" dirty="0"/>
          </a:p>
          <a:p>
            <a:pPr marL="342900" indent="-342900">
              <a:lnSpc>
                <a:spcPct val="112000"/>
              </a:lnSpc>
              <a:spcAft>
                <a:spcPts val="600"/>
              </a:spcAft>
              <a:buSzPct val="100000"/>
              <a:buFont typeface="+mj-lt"/>
              <a:buAutoNum type="arabicPeriod" startAt="8"/>
            </a:pPr>
            <a:r>
              <a:rPr lang="en-US" sz="1050" u="sng" dirty="0">
                <a:solidFill>
                  <a:srgbClr val="1F2421"/>
                </a:solidFill>
                <a:hlinkClick r:id="rId9" invalidUrl="" action="" tgtFrame="" tooltip="https://platform.claude.com/docs/en/about-claude/pricing" history="1" highlightClick="0" endSnd="0">
                  <a:extLst>
                    <a:ext uri="{A12FA001-AC4F-418D-AE19-62706E023703}">
                      <ahyp:hlinkClr xmlns:ahyp="http://schemas.microsoft.com/office/drawing/2018/hyperlinkcolor" val="tx"/>
                    </a:ext>
                  </a:extLst>
                </a:hlinkClick>
              </a:rPr>
              <a:t>Anthropic, Claude API 가격표 (2026.10)</a:t>
            </a:r>
            <a:endParaRPr lang="en-US" sz="1050" dirty="0"/>
          </a:p>
          <a:p>
            <a:pPr marL="342900" indent="-342900">
              <a:lnSpc>
                <a:spcPct val="112000"/>
              </a:lnSpc>
              <a:spcAft>
                <a:spcPts val="600"/>
              </a:spcAft>
              <a:buSzPct val="100000"/>
              <a:buFont typeface="+mj-lt"/>
              <a:buAutoNum type="arabicPeriod" startAt="8"/>
            </a:pPr>
            <a:r>
              <a:rPr lang="en-US" sz="1050" dirty="0">
                <a:solidFill>
                  <a:srgbClr val="1F2421"/>
                </a:solidFill>
              </a:rPr>
              <a:t>앱 화면: 웹 프로토타입 (매장 · 가격 · 수치는 예시 데이터)</a:t>
            </a:r>
            <a:endParaRPr lang="en-US" sz="1050" dirty="0"/>
          </a:p>
          <a:p>
            <a:pPr marL="342900" indent="-342900">
              <a:lnSpc>
                <a:spcPct val="112000"/>
              </a:lnSpc>
              <a:spcAft>
                <a:spcPts val="600"/>
              </a:spcAft>
              <a:buSzPct val="100000"/>
              <a:buFont typeface="+mj-lt"/>
              <a:buAutoNum type="arabicPeriod" startAt="8"/>
            </a:pPr>
            <a:r>
              <a:rPr lang="en-US" sz="1050" u="sng" dirty="0">
                <a:solidFill>
                  <a:srgbClr val="1F2421"/>
                </a:solidFill>
                <a:hlinkClick r:id="rId10" invalidUrl="" action="" tgtFrame="" tooltip="https://github.com/microsoft/fluentui-emoji" history="1" highlightClick="0" endSnd="0">
                  <a:extLst>
                    <a:ext uri="{A12FA001-AC4F-418D-AE19-62706E023703}">
                      <ahyp:hlinkClr xmlns:ahyp="http://schemas.microsoft.com/office/drawing/2018/hyperlinkcolor" val="tx"/>
                    </a:ext>
                  </a:extLst>
                </a:hlinkClick>
              </a:rPr>
              <a:t>아이콘 Microsoft Fluent Emoji (MIT) · 글꼴 Pretendard (OFL)</a:t>
            </a:r>
            <a:endParaRPr lang="en-US" sz="1050" dirty="0"/>
          </a:p>
        </p:txBody>
      </p:sp>
      <p:sp>
        <p:nvSpPr>
          <p:cNvPr id="10" name="source note"/>
          <p:cNvSpPr txBox="1"/>
          <p:nvPr/>
        </p:nvSpPr>
        <p:spPr>
          <a:xfrm>
            <a:off x="411480" y="4572000"/>
            <a:ext cx="5577840" cy="384048"/>
          </a:xfrm>
          <a:prstGeom prst="rect">
            <a:avLst/>
          </a:prstGeom>
          <a:noFill/>
          <a:ln/>
        </p:spPr>
        <p:txBody>
          <a:bodyPr wrap="square" lIns="0" tIns="0" rIns="0" bIns="0" rtlCol="0" anchor="b"/>
          <a:lstStyle/>
          <a:p>
            <a:pPr indent="0" marL="0">
              <a:buNone/>
            </a:pPr>
            <a:r>
              <a:rPr lang="en-US" sz="900" dirty="0">
                <a:solidFill>
                  <a:srgbClr val="7A837D"/>
                </a:solidFill>
              </a:rPr>
              <a:t>밑줄 친 항목은 원문 링크 · 전체 목록과 확인 메모는 04_레퍼런스_나물로.md</a:t>
            </a:r>
            <a:endParaRPr lang="en-US" sz="900" dirty="0"/>
          </a:p>
        </p:txBody>
      </p:sp>
      <p:sp>
        <p:nvSpPr>
          <p:cNvPr id="25" name="Slide Number Placeholder 0"/>
          <p:cNvSpPr>
            <a:spLocks noGrp="1"/>
          </p:cNvSpPr>
          <p:nvPr>
            <p:ph type="sldNum" sz="quarter" idx="4294967295"/>
          </p:nvPr>
        </p:nvSpPr>
        <p:spPr>
          <a:xfrm>
            <a:off x="8366760" y="4773168"/>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37D"/>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Namullo">
  <a:themeElements>
    <a:clrScheme name="Namullo">
      <a:dk1>
        <a:srgbClr val="1F2421"/>
      </a:dk1>
      <a:lt1>
        <a:srgbClr val="FFFFFF"/>
      </a:lt1>
      <a:dk2>
        <a:srgbClr val="1E4D3A"/>
      </a:dk2>
      <a:lt2>
        <a:srgbClr val="F2F4F2"/>
      </a:lt2>
      <a:accent1>
        <a:srgbClr val="1E4D3A"/>
      </a:accent1>
      <a:accent2>
        <a:srgbClr val="3F7F5F"/>
      </a:accent2>
      <a:accent3>
        <a:srgbClr val="B8692B"/>
      </a:accent3>
      <a:accent4>
        <a:srgbClr val="7A837D"/>
      </a:accent4>
      <a:accent5>
        <a:srgbClr val="A8C8B4"/>
      </a:accent5>
      <a:accent6>
        <a:srgbClr val="D9DED9"/>
      </a:accent6>
      <a:hlink>
        <a:srgbClr val="1E4D3A"/>
      </a:hlink>
      <a:folHlink>
        <a:srgbClr val="3F7F5F"/>
      </a:folHlink>
    </a:clrScheme>
    <a:fontScheme name="Namullo">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나물로 창업 아이템 발표</dc:title>
  <dc:subject>PptxGenJS Presentation</dc:subject>
  <dc:creator>나물로</dc:creator>
  <cp:lastModifiedBy>나물로</cp:lastModifiedBy>
  <cp:revision>1</cp:revision>
  <dcterms:created xsi:type="dcterms:W3CDTF">2026-10-30T04:54:41Z</dcterms:created>
  <dcterms:modified xsi:type="dcterms:W3CDTF">2026-10-30T04:54:41Z</dcterms:modified>
</cp:coreProperties>
</file>