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6ff8c700-f2ea-10f2-d33a-f35113e62f31}">
          <p14:sldIdLst>
            <p14:sldId id="256"/>
          </p14:sldIdLst>
        </p14:section>
        <p14:section name="Problem" id="{607353eb-fdba-aeeb-d06d-cd162ed33b11}">
          <p14:sldIdLst>
            <p14:sldId id="257"/>
            <p14:sldId id="258"/>
          </p14:sldIdLst>
        </p14:section>
        <p14:section name="Solution" id="{16b31b5c-d751-2a2a-c583-741e3e861e95}">
          <p14:sldIdLst>
            <p14:sldId id="259"/>
            <p14:sldId id="260"/>
            <p14:sldId id="261"/>
          </p14:sldIdLst>
        </p14:section>
        <p14:section name="Business" id="{b4c7257e-7519-c969-1ddb-ca3c2c56001b}">
          <p14:sldIdLst>
            <p14:sldId id="262"/>
            <p14:sldId id="263"/>
            <p14:sldId id="264"/>
          </p14:sldIdLst>
        </p14:section>
        <p14:section name="Vision" id="{25ee5373-a99d-34a6-2926-f7a5516b38de}">
          <p14:sldIdLst>
            <p14:sldId id="265"/>
            <p14:sldId id="266"/>
          </p14:sldIdLst>
        </p14:section>
        <p14:section name="마무리" id="{0dc9473a-4964-ba9e-8d07-64286d138006}">
          <p14:sldIdLst>
            <p14:sldId id="267"/>
          </p14:sldIdLst>
        </p14:section>
        <p14:section name="부록" id="{c691a922-5fd5-1d5d-5eac-8b44b6a20bd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안녕하세요. 오늘 발표할 창업 아이템은 나물로입니다. 나물로는 레시피에서 고른 나물을 가까운 전통시장 가게에 온라인으로 주문하는 O2O 서비스입니다. AI가 메뉴 추천과 상품 등록을 돕고, 고객은 손질한 나물을 시장에서 찾아가거나 저녁에 배달받습니다. 신발 한 켤레를 사면 한 켤레가 기부되던 탐스처럼 장보기에도 의미를 담고 싶었습니다. 나물로에서 낸 나물값은 그대로 우리 동네 시장 가게의 매출이 됩니다.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[0:40–1:27] 먼저 고객 쪽 문제입니다. 주 고객은 나물을 챙겨 먹고 싶어도 장보기와 손질, 메뉴 고민 때문에 덜 먹게 되는 바쁜 가구입니다. 18세 미만 자녀를 둔 부부 가구의 맞벌이 비율은 작년에 60.4%로 처음 60%를 넘었고, 1인 가구도 전체 가구의 36.6%로 역대 가장 많습니다. 장을 보고 요리할 시간이 부족하고, 무엇을 해 먹을지, 아이가 먹을지도 고민입니다. 나물은 다듬고 데치는 손질이 번거롭고, 시장 나물을 사려 해도 퇴근 후에는 시장에 들르기 어렵습니다.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[1:27–2:20]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상품을 쉽게 올리고 손질 주문을 미리 받을 수 있는 통로가 필요하다고 봤습니다.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[2:20–3:07]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가까운 전통시장의 나물 가게 가운데 한 곳을 고르고, 시장에서 찾아갈지 저녁에 배달받을지 정합니다. 손질이나 데침을 원하면 가게에서 추가 요금을 받고 처리해 줍니다. 주문을 마치면 어느 시장 가게에서 얼마를 샀는지 보여 주고, 그 금액이 그 가게의 매출이 된다는 걸 알 수 있게 합니다. 이렇게 고객의 준비 시간과 시장 가게의 판매 부담을 함께 줄이려고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[3:07–3:58] AI는 세 가지 업무에 적용하려고 합니다. 첫째는 고객용 레시피 추천입니다. 아이 나이나 집에 있는 재료를 입력하면, 근처 시장 가게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발주량 추천과 마감 할인은 판매 데이터가 쌓인 뒤에 도입하겠습니다.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[3:58–4:36] 웹 프로토타입으로 사용 흐름을 보여 드리겠습니다. 맞벌이 부모가 다섯 살 아이와 먹을 순한 반찬을 물으면, 추천 메뉴 세 가지가 나옵니다. 참나물 레시피를 보고 재료를 담은 뒤, 새벽시장 가게에서 손질 옵션을 고르고 저녁 6시 픽업으로 예약합니다. 완료 화면에서는 주문한 시장 가게와 주문금액을 확인하고, 판매자 화면에서는 들어온 주문을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[4:36–5:14] 다음은 시장 규모입니다. 전통시장 전체 매출 28.7조 원에서 수도권 비중 40%와 채소, 나물류 비중 15%를 가정해, 1차 목표 시장을 약 1.7조 원으로 잡았습니다. 수도권과 품목 비중은 공개 통계로 보완하고, 파일럿에서는 참여 점포의 나물 매출과 주문 가능성을 확인하겠습니다. 3년 차 목표 거래액은 입점 매장 300곳이 일반 주문과 명절 예약을 합쳐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[5:14–6:08] 경쟁 서비스를 보면, 쿠팡과 컬리는 전국 배송, 레시피 앱과 유튜브는 콘텐츠, 배민과 네이버는 동네 가게 주문에 강합니다. 나물로는 레시피로 고른 재료를 전통시장 가게에서 바로 사도록 연결하는 데 집중했습니다. 2026년 추석 서울 제수용품 조사에서 채소·임산물류는 전통시장이 대형마트보다 26% 저렴했습니다. 나물로에서는 가게가 등록한 가격과 손질·배달비를 나눠 보여 주고, 주문마다 어느 시장 가게의 매출이 됐는지 표시합니다. 손질과 데침 옵션은 판매자에게는 추가 매출이 되고, 고객에게는 조리 시간을 줄여 줍니다. 큰 플랫폼과 정면으로 경쟁하기보다, 전통시장 가게가 새 주문을 받을 수 있는 나물 전문 채널이 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[6:08–6:53] 수익 모델은 세 가지입니다. 요금은 모두 예정안이고, 파일럿에서 검증할 계획입니다. 기본은 상품과 손질 금액의 4%를 받는 중개 수수료이고, 판매자가 선택하는 월 2만 9천 원의 유료 서비스와 제휴 광고를 더합니다. 배달비에는 별도 이익을 붙이지 않을 계획이라, 매출 목표에서 제외했습니다. 배달비 3,500원은 시험 요금이고, 보도된 일부 배달대행 기본료는 이보다 높아서, 차액은 파일럿 예산 안에서 한도를 정해 부담하겠습니다.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[6:53–7:40]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[7:40–8:25] 3년 차 목표는 거래액 54억 원, 매출 약 2.6억 원입니다. 매출 목표는 주문 수수료와 판매자 유료 서비스로 계산했고, 지자체 사업이나 제휴 매출은 계약을 확보한 뒤 반영하겠습니다. 보수적으로 매장당 월 약 77건으로 잡으면 매출은 약 2.1억 원이고, 숫자는 모두 가정이라 파일럿이 끝나면 실제 데이터로 다시 계산하겠습니다. 확장은 첫 시장에서 재구매와 주문당 운영비를 확인한 뒤, 인접 시장과 제철 농산물 전체로 넓혀 가겠습니다.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[8:25–8:46] 정리하겠습니다. 나물로는 레시피와 AI로 장보기를 쉽게 하고, 그 장보기가 우리 동네 시장 가게의 매출이 되도록 돕는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ytn.co.kr/_ln/0102_202607281324445082" TargetMode="External"/><Relationship Id="rId3" Type="http://schemas.openxmlformats.org/officeDocument/2006/relationships/hyperlink" Target="https://www.newsis.com/view/NISX20250103_0003020386" TargetMode="External"/><Relationship Id="rId4" Type="http://schemas.openxmlformats.org/officeDocument/2006/relationships/hyperlink" Target="https://www.index.go.kr/unify/idx-info.do?idxCd=1302" TargetMode="External"/><Relationship Id="rId5" Type="http://schemas.openxmlformats.org/officeDocument/2006/relationships/hyperlink" Target="https://www.mt.co.kr/tech/2026/03/18/2026031714425925652" TargetMode="External"/><Relationship Id="rId6" Type="http://schemas.openxmlformats.org/officeDocument/2006/relationships/hyperlink" Target="https://koreascience.or.kr/article/JAKO201931765048406.page" TargetMode="External"/><Relationship Id="rId7" Type="http://schemas.openxmlformats.org/officeDocument/2006/relationships/hyperlink" Target="https://www.mfds.go.kr/webzine/201504/pdf/main.pdf" TargetMode="External"/><Relationship Id="rId8" Type="http://schemas.openxmlformats.org/officeDocument/2006/relationships/hyperlink" Target="https://hanok.gongju.go.kr/cmm/fms/FileDown.do?atchFileId=FILE_0000127870Uc2bM&amp;fileSn=0" TargetMode="External"/><Relationship Id="rId9" Type="http://schemas.openxmlformats.org/officeDocument/2006/relationships/hyperlink" Target="https://navercorp.com/media/pressReleasesDetail?seq=34203" TargetMode="External"/><Relationship Id="rId10" Type="http://schemas.openxmlformats.org/officeDocument/2006/relationships/hyperlink" Target="https://biz.newdaily.co.kr/site/data/html/2024/10/07/2024100700114.amp.html" TargetMode="External"/><Relationship Id="rId11" Type="http://schemas.openxmlformats.org/officeDocument/2006/relationships/hyperlink" Target="https://byline.network/2024/01/30_baeminstore" TargetMode="External"/><Relationship Id="rId12" Type="http://schemas.openxmlformats.org/officeDocument/2006/relationships/hyperlink" Target="https://www.insight.co.kr/news/572535" TargetMode="External"/><Relationship Id="rId13" Type="http://schemas.openxmlformats.org/officeDocument/2006/relationships/hyperlink" Target="https://platform.claude.com/docs/en/about-claude/pricing" TargetMode="External"/><Relationship Id="rId14" Type="http://schemas.openxmlformats.org/officeDocument/2006/relationships/hyperlink" Target="https://github.com/microsoft/fluentui-emoji" TargetMode="External"/><Relationship Id="rId15" Type="http://schemas.openxmlformats.org/officeDocument/2006/relationships/slideLayout" Target="../slideLayouts/slideLayout3.xml"/><Relationship Id="rId1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레시피로 고르고 전통시장에서 사는 나물 장보기</a:t>
            </a:r>
            <a:endParaRPr lang="en-US" sz="1700" dirty="0"/>
          </a:p>
        </p:txBody>
      </p:sp>
      <p:sp>
        <p:nvSpPr>
          <p:cNvPr id="6" name="one-liner"/>
          <p:cNvSpPr txBox="1"/>
          <p:nvPr/>
        </p:nvSpPr>
        <p:spPr>
          <a:xfrm>
            <a:off x="548640" y="3154680"/>
            <a:ext cx="5486400" cy="292608"/>
          </a:xfrm>
          <a:prstGeom prst="rect">
            <a:avLst/>
          </a:prstGeom>
          <a:noFill/>
          <a:ln/>
        </p:spPr>
        <p:txBody>
          <a:bodyPr wrap="square" lIns="0" tIns="0" rIns="0" bIns="0" rtlCol="0" anchor="ctr"/>
          <a:lstStyle/>
          <a:p>
            <a:pPr indent="0" marL="0">
              <a:buNone/>
            </a:pPr>
            <a:r>
              <a:rPr lang="en-US" sz="1300" dirty="0">
                <a:solidFill>
                  <a:srgbClr val="C7D6CC"/>
                </a:solidFill>
              </a:rPr>
              <a:t>나물 한 봉지로 지역 상권을 돕는 장보기</a:t>
            </a:r>
            <a:endParaRPr lang="en-US" sz="1300" dirty="0"/>
          </a:p>
        </p:txBody>
      </p:sp>
      <p:sp>
        <p:nvSpPr>
          <p:cNvPr id="7" name="pillar 0"/>
          <p:cNvSpPr/>
          <p:nvPr/>
        </p:nvSpPr>
        <p:spPr>
          <a:xfrm>
            <a:off x="548640" y="3611880"/>
            <a:ext cx="1101852" cy="310896"/>
          </a:xfrm>
          <a:prstGeom prst="roundRect">
            <a:avLst>
              <a:gd name="adj" fmla="val 50000"/>
            </a:avLst>
          </a:prstGeom>
          <a:solidFill>
            <a:srgbClr val="24503D"/>
          </a:solidFill>
          <a:ln w="9525">
            <a:solidFill>
              <a:srgbClr val="3F7F5F"/>
            </a:solidFill>
            <a:prstDash val="solid"/>
          </a:ln>
        </p:spPr>
      </p:sp>
      <p:sp>
        <p:nvSpPr>
          <p:cNvPr id="8" name="pillar text 0"/>
          <p:cNvSpPr txBox="1"/>
          <p:nvPr/>
        </p:nvSpPr>
        <p:spPr>
          <a:xfrm>
            <a:off x="548640"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나물 접근성</a:t>
            </a:r>
            <a:endParaRPr lang="en-US" sz="1150" dirty="0"/>
          </a:p>
        </p:txBody>
      </p:sp>
      <p:sp>
        <p:nvSpPr>
          <p:cNvPr id="9" name="pillar 1"/>
          <p:cNvSpPr/>
          <p:nvPr/>
        </p:nvSpPr>
        <p:spPr>
          <a:xfrm>
            <a:off x="1760220" y="3611880"/>
            <a:ext cx="1307592" cy="310896"/>
          </a:xfrm>
          <a:prstGeom prst="roundRect">
            <a:avLst>
              <a:gd name="adj" fmla="val 50000"/>
            </a:avLst>
          </a:prstGeom>
          <a:solidFill>
            <a:srgbClr val="24503D"/>
          </a:solidFill>
          <a:ln w="9525">
            <a:solidFill>
              <a:srgbClr val="3F7F5F"/>
            </a:solidFill>
            <a:prstDash val="solid"/>
          </a:ln>
        </p:spPr>
      </p:sp>
      <p:sp>
        <p:nvSpPr>
          <p:cNvPr id="10" name="pillar text 1"/>
          <p:cNvSpPr txBox="1"/>
          <p:nvPr/>
        </p:nvSpPr>
        <p:spPr>
          <a:xfrm>
            <a:off x="1760220" y="3611880"/>
            <a:ext cx="1307592" cy="310896"/>
          </a:xfrm>
          <a:prstGeom prst="rect">
            <a:avLst/>
          </a:prstGeom>
          <a:noFill/>
          <a:ln/>
        </p:spPr>
        <p:txBody>
          <a:bodyPr wrap="square" lIns="0" tIns="0" rIns="0" bIns="0" rtlCol="0" anchor="ctr"/>
          <a:lstStyle/>
          <a:p>
            <a:pPr algn="ctr" indent="0" marL="0">
              <a:buNone/>
            </a:pPr>
            <a:r>
              <a:rPr lang="en-US" sz="1150" b="1" dirty="0">
                <a:solidFill>
                  <a:srgbClr val="FFFFFF"/>
                </a:solidFill>
              </a:rPr>
              <a:t>지역 상권 상생</a:t>
            </a:r>
            <a:endParaRPr lang="en-US" sz="1150" dirty="0"/>
          </a:p>
        </p:txBody>
      </p:sp>
      <p:sp>
        <p:nvSpPr>
          <p:cNvPr id="11" name="pillar 2"/>
          <p:cNvSpPr/>
          <p:nvPr/>
        </p:nvSpPr>
        <p:spPr>
          <a:xfrm>
            <a:off x="3177540" y="3611880"/>
            <a:ext cx="832104" cy="310896"/>
          </a:xfrm>
          <a:prstGeom prst="roundRect">
            <a:avLst>
              <a:gd name="adj" fmla="val 50000"/>
            </a:avLst>
          </a:prstGeom>
          <a:solidFill>
            <a:srgbClr val="24503D"/>
          </a:solidFill>
          <a:ln w="9525">
            <a:solidFill>
              <a:srgbClr val="3F7F5F"/>
            </a:solidFill>
            <a:prstDash val="solid"/>
          </a:ln>
        </p:spPr>
      </p:sp>
      <p:sp>
        <p:nvSpPr>
          <p:cNvPr id="12" name="pillar text 2"/>
          <p:cNvSpPr txBox="1"/>
          <p:nvPr/>
        </p:nvSpPr>
        <p:spPr>
          <a:xfrm>
            <a:off x="3177540" y="3611880"/>
            <a:ext cx="832104" cy="310896"/>
          </a:xfrm>
          <a:prstGeom prst="rect">
            <a:avLst/>
          </a:prstGeom>
          <a:noFill/>
          <a:ln/>
        </p:spPr>
        <p:txBody>
          <a:bodyPr wrap="square" lIns="0" tIns="0" rIns="0" bIns="0" rtlCol="0" anchor="ctr"/>
          <a:lstStyle/>
          <a:p>
            <a:pPr algn="ctr" indent="0" marL="0">
              <a:buNone/>
            </a:pPr>
            <a:r>
              <a:rPr lang="en-US" sz="1150" b="1" dirty="0">
                <a:solidFill>
                  <a:srgbClr val="FFFFFF"/>
                </a:solidFill>
              </a:rPr>
              <a:t>AI 기반</a:t>
            </a:r>
            <a:endParaRPr lang="en-US" sz="1150" dirty="0"/>
          </a:p>
        </p:txBody>
      </p:sp>
      <p:sp>
        <p:nvSpPr>
          <p:cNvPr id="13" name="pillar 3"/>
          <p:cNvSpPr/>
          <p:nvPr/>
        </p:nvSpPr>
        <p:spPr>
          <a:xfrm>
            <a:off x="4119372" y="3611880"/>
            <a:ext cx="1101852" cy="310896"/>
          </a:xfrm>
          <a:prstGeom prst="roundRect">
            <a:avLst>
              <a:gd name="adj" fmla="val 50000"/>
            </a:avLst>
          </a:prstGeom>
          <a:solidFill>
            <a:srgbClr val="24503D"/>
          </a:solidFill>
          <a:ln w="9525">
            <a:solidFill>
              <a:srgbClr val="3F7F5F"/>
            </a:solidFill>
            <a:prstDash val="solid"/>
          </a:ln>
        </p:spPr>
      </p:sp>
      <p:sp>
        <p:nvSpPr>
          <p:cNvPr id="14" name="pillar text 3"/>
          <p:cNvSpPr txBox="1"/>
          <p:nvPr/>
        </p:nvSpPr>
        <p:spPr>
          <a:xfrm>
            <a:off x="4119372"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레시피 연계</a:t>
            </a:r>
            <a:endParaRPr lang="en-US" sz="1150" dirty="0"/>
          </a:p>
        </p:txBody>
      </p:sp>
      <p:sp>
        <p:nvSpPr>
          <p:cNvPr id="15"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16"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나물을 먹고 싶어도 장보기·손질·메뉴 고민 때문에 덜 먹는 바쁜 가구(맞벌이·1인 가구)가 주 고객</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메뉴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무엇을 해 먹을지, 아이가</a:t>
            </a:r>
            <a:endParaRPr lang="en-US" sz="1200" dirty="0"/>
          </a:p>
          <a:p>
            <a:pPr indent="0" marL="0">
              <a:buNone/>
            </a:pPr>
            <a:r>
              <a:rPr lang="en-US" sz="1200" dirty="0">
                <a:solidFill>
                  <a:srgbClr val="4A524D"/>
                </a:solidFill>
              </a:rPr>
              <a:t>먹을지 정하기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시장 가기 어려움</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시장 나물을 사고 싶어도</a:t>
            </a:r>
            <a:endParaRPr lang="en-US" sz="1200" dirty="0"/>
          </a:p>
          <a:p>
            <a:pPr indent="0" marL="0">
              <a:buNone/>
            </a:pPr>
            <a:r>
              <a:rPr lang="en-US" sz="1200" dirty="0">
                <a:solidFill>
                  <a:srgbClr val="4A524D"/>
                </a:solidFill>
              </a:rPr>
              <a:t>퇴근 후엔 들를 시간이 없음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682496"/>
            <a:ext cx="2514600" cy="402336"/>
          </a:xfrm>
          <a:prstGeom prst="rect">
            <a:avLst/>
          </a:prstGeom>
          <a:noFill/>
          <a:ln/>
        </p:spPr>
        <p:txBody>
          <a:bodyPr wrap="square" lIns="0" tIns="0" rIns="0" bIns="0" rtlCol="0" anchor="ctr"/>
          <a:lstStyle/>
          <a:p>
            <a:pPr indent="0" marL="0">
              <a:buNone/>
            </a:pPr>
            <a:r>
              <a:rPr lang="en-US" sz="1100" dirty="0">
                <a:solidFill>
                  <a:srgbClr val="4A524D"/>
                </a:solidFill>
              </a:rPr>
              <a:t>18세 미만 자녀를 둔 부부 가구</a:t>
            </a:r>
            <a:endParaRPr lang="en-US" sz="1100" dirty="0"/>
          </a:p>
          <a:p>
            <a:pPr indent="0" marL="0">
              <a:buNone/>
            </a:pPr>
            <a:r>
              <a:rPr lang="en-US" sz="1100" dirty="0">
                <a:solidFill>
                  <a:srgbClr val="4A524D"/>
                </a:solidFill>
              </a:rPr>
              <a:t>맞벌이 비율 (2025, 처음 60% 넘음)</a:t>
            </a:r>
            <a:endParaRPr lang="en-US" sz="1100" dirty="0"/>
          </a:p>
        </p:txBody>
      </p:sp>
      <p:sp>
        <p:nvSpPr>
          <p:cNvPr id="24" name="stat value"/>
          <p:cNvSpPr txBox="1"/>
          <p:nvPr/>
        </p:nvSpPr>
        <p:spPr>
          <a:xfrm>
            <a:off x="6108192" y="2084832"/>
            <a:ext cx="2377440" cy="493776"/>
          </a:xfrm>
          <a:prstGeom prst="rect">
            <a:avLst/>
          </a:prstGeom>
          <a:noFill/>
          <a:ln/>
        </p:spPr>
        <p:txBody>
          <a:bodyPr wrap="square" lIns="0" tIns="0" rIns="0" bIns="0" rtlCol="0" anchor="ctr"/>
          <a:lstStyle/>
          <a:p>
            <a:pPr indent="0" marL="0">
              <a:buNone/>
            </a:pPr>
            <a:r>
              <a:rPr lang="en-US" sz="3000" b="1" dirty="0">
                <a:solidFill>
                  <a:srgbClr val="1E4D3A"/>
                </a:solidFill>
              </a:rPr>
              <a:t>60.4%</a:t>
            </a:r>
            <a:endParaRPr lang="en-US" sz="3000" dirty="0"/>
          </a:p>
        </p:txBody>
      </p:sp>
      <p:sp>
        <p:nvSpPr>
          <p:cNvPr id="25" name="stat rule 1"/>
          <p:cNvSpPr/>
          <p:nvPr/>
        </p:nvSpPr>
        <p:spPr>
          <a:xfrm>
            <a:off x="6108192" y="2651760"/>
            <a:ext cx="2441448" cy="0"/>
          </a:xfrm>
          <a:prstGeom prst="line">
            <a:avLst/>
          </a:prstGeom>
          <a:noFill/>
          <a:ln w="9525">
            <a:solidFill>
              <a:srgbClr val="A8C8B4"/>
            </a:solidFill>
            <a:prstDash val="solid"/>
          </a:ln>
        </p:spPr>
      </p:sp>
      <p:sp>
        <p:nvSpPr>
          <p:cNvPr id="26" name="stat label 2"/>
          <p:cNvSpPr txBox="1"/>
          <p:nvPr/>
        </p:nvSpPr>
        <p:spPr>
          <a:xfrm>
            <a:off x="6108192" y="2724912"/>
            <a:ext cx="2514600" cy="402336"/>
          </a:xfrm>
          <a:prstGeom prst="rect">
            <a:avLst/>
          </a:prstGeom>
          <a:noFill/>
          <a:ln/>
        </p:spPr>
        <p:txBody>
          <a:bodyPr wrap="square" lIns="0" tIns="0" rIns="0" bIns="0" rtlCol="0" anchor="ctr"/>
          <a:lstStyle/>
          <a:p>
            <a:pPr indent="0" marL="0">
              <a:buNone/>
            </a:pPr>
            <a:r>
              <a:rPr lang="en-US" sz="1100" dirty="0">
                <a:solidFill>
                  <a:srgbClr val="4A524D"/>
                </a:solidFill>
              </a:rPr>
              <a:t>1인 가구 비중</a:t>
            </a:r>
            <a:endParaRPr lang="en-US" sz="1100" dirty="0"/>
          </a:p>
          <a:p>
            <a:pPr indent="0" marL="0">
              <a:buNone/>
            </a:pPr>
            <a:r>
              <a:rPr lang="en-US" sz="1100" dirty="0">
                <a:solidFill>
                  <a:srgbClr val="4A524D"/>
                </a:solidFill>
              </a:rPr>
              <a:t>(2025, 824만 가구로 역대 최대)</a:t>
            </a:r>
            <a:endParaRPr lang="en-US" sz="1100" dirty="0"/>
          </a:p>
        </p:txBody>
      </p:sp>
      <p:sp>
        <p:nvSpPr>
          <p:cNvPr id="27" name="stat value 2"/>
          <p:cNvSpPr txBox="1"/>
          <p:nvPr/>
        </p:nvSpPr>
        <p:spPr>
          <a:xfrm>
            <a:off x="6108192" y="3127248"/>
            <a:ext cx="2377440" cy="493776"/>
          </a:xfrm>
          <a:prstGeom prst="rect">
            <a:avLst/>
          </a:prstGeom>
          <a:noFill/>
          <a:ln/>
        </p:spPr>
        <p:txBody>
          <a:bodyPr wrap="square" lIns="0" tIns="0" rIns="0" bIns="0" rtlCol="0" anchor="ctr"/>
          <a:lstStyle/>
          <a:p>
            <a:pPr indent="0" marL="0">
              <a:buNone/>
            </a:pPr>
            <a:r>
              <a:rPr lang="en-US" sz="3000" b="1" dirty="0">
                <a:solidFill>
                  <a:srgbClr val="1E4D3A"/>
                </a:solidFill>
              </a:rPr>
              <a:t>36.6%</a:t>
            </a:r>
            <a:endParaRPr lang="en-US" sz="3000" dirty="0"/>
          </a:p>
        </p:txBody>
      </p:sp>
      <p:sp>
        <p:nvSpPr>
          <p:cNvPr id="28" name="stat rule 2"/>
          <p:cNvSpPr/>
          <p:nvPr/>
        </p:nvSpPr>
        <p:spPr>
          <a:xfrm>
            <a:off x="6108192" y="3694176"/>
            <a:ext cx="2441448" cy="0"/>
          </a:xfrm>
          <a:prstGeom prst="line">
            <a:avLst/>
          </a:prstGeom>
          <a:noFill/>
          <a:ln w="9525">
            <a:solidFill>
              <a:srgbClr val="A8C8B4"/>
            </a:solidFill>
            <a:prstDash val="solid"/>
          </a:ln>
        </p:spPr>
      </p:sp>
      <p:sp>
        <p:nvSpPr>
          <p:cNvPr id="29" name="stat research"/>
          <p:cNvSpPr txBox="1"/>
          <p:nvPr/>
        </p:nvSpPr>
        <p:spPr>
          <a:xfrm>
            <a:off x="6108192" y="3767328"/>
            <a:ext cx="2514600" cy="402336"/>
          </a:xfrm>
          <a:prstGeom prst="rect">
            <a:avLst/>
          </a:prstGeom>
          <a:noFill/>
          <a:ln/>
        </p:spPr>
        <p:txBody>
          <a:bodyPr wrap="square" lIns="0" tIns="0" rIns="0" bIns="0" rtlCol="0" anchor="ctr"/>
          <a:lstStyle/>
          <a:p>
            <a:pPr indent="0" marL="0">
              <a:buNone/>
            </a:pPr>
            <a:r>
              <a:rPr lang="en-US" sz="1050" dirty="0">
                <a:solidFill>
                  <a:srgbClr val="1F2421"/>
                </a:solidFill>
              </a:rPr>
              <a:t>대구 유아 86명 조사에서도 반찬류를</a:t>
            </a:r>
            <a:endParaRPr lang="en-US" sz="1050" dirty="0"/>
          </a:p>
          <a:p>
            <a:pPr indent="0" marL="0">
              <a:buNone/>
            </a:pPr>
            <a:r>
              <a:rPr lang="en-US" sz="1050" dirty="0">
                <a:solidFill>
                  <a:srgbClr val="1F2421"/>
                </a:solidFill>
              </a:rPr>
              <a:t>꺼리는 경향 (정유미, 2019)</a:t>
            </a:r>
            <a:endParaRPr lang="en-US" sz="1050" dirty="0"/>
          </a:p>
        </p:txBody>
      </p:sp>
      <p:sp>
        <p:nvSpPr>
          <p:cNvPr id="3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지역별고용조사」(2026.06 보도)·「2025 인구주택총조사」(2026.07 발표),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간단한 상품 등록과 손질·예약 주문</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전통시장 가게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가까운 전통시장 나물 가게 비교, 손질·데침 옵션,</a:t>
            </a:r>
            <a:endParaRPr lang="en-US" sz="1200" dirty="0"/>
          </a:p>
          <a:p>
            <a:pPr indent="0" marL="0">
              <a:buNone/>
            </a:pPr>
            <a:r>
              <a:rPr lang="en-US" sz="1200" dirty="0">
                <a:solidFill>
                  <a:srgbClr val="1F2421"/>
                </a:solidFill>
              </a:rPr>
              <a:t>시장 픽업(무료) 또는 저녁 배달 선택</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시장 가게 주문 내역   </a:t>
            </a:r>
            <a:pPr indent="0" marL="0">
              <a:buNone/>
            </a:pPr>
            <a:r>
              <a:rPr lang="en-US" sz="1200" dirty="0">
                <a:solidFill>
                  <a:srgbClr val="1F2421"/>
                </a:solidFill>
              </a:rPr>
              <a:t>어느 시장 가게에서 얼마를 샀는지 표시</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시장 가게</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시장 가게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새벽시장 가게, 손질 옵션, 18:00 픽업</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레시피에서 고른 나물을 전통시장 가게에 주문하고, 가게별 주문금액을 보여 줌</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시장 가게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지역 상권 상생</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가게가 등록한 가격과 주문 내역을 확인</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전통시장 가게의 나물 전문 주문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가격: 한국소비자단체협의회 2026 추석 조사(서울 90곳), 채소·임산물류는 전통시장이 대형마트보다 26.0% 저렴</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별도 이익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맞벌이·1인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나물 가게</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전통시장 첫 6개월 면제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목표에서 제외 / 차액은 시험 예산으로 지원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a:t>
                      </a:r>
                      <a:endParaRPr lang="en-US" sz="1200" dirty="0"/>
                    </a:p>
                    <a:p>
                      <a:pPr algn="l" indent="0" marL="0">
                        <a:buNone/>
                      </a:pPr>
                      <a:r>
                        <a:rPr lang="en-US" sz="1200" dirty="0">
                          <a:solidFill>
                            <a:srgbClr val="1F2421"/>
                          </a:solidFill>
                        </a:rPr>
                        <a:t>수동 운영, 배달은 단지 한정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지원 최대 20만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시나리오(매장당 월 약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 지역 상권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레시피에서 우리 동네 시장 장보기까지</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맞벌이·1인 가구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거래액 41.4억 원(매장당 월 약 77건) × 4% + 판매자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매출 목표 제외 / 차액 최대 20만 원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요금은 견적으로 확인 (2024.10 일부 업체 5,400~5,800원 인상 예정 보도)</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맞벌이 가구 현황 2025 하반기 (뉴시스)</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ytn.co.kr/_ln/0102_202607281324445082" history="1" highlightClick="0" endSnd="0">
                  <a:extLst>
                    <a:ext uri="{A12FA001-AC4F-418D-AE19-62706E023703}">
                      <ahyp:hlinkClr xmlns:ahyp="http://schemas.microsoft.com/office/drawing/2018/hyperlinkcolor" val="tx"/>
                    </a:ext>
                  </a:extLst>
                </a:hlinkClick>
              </a:rPr>
              <a:t>국가데이터처, 2025 인구주택총조사 1인 가구 (YTN)</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8"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9"/>
            </a:pPr>
            <a:r>
              <a:rPr lang="en-US" sz="1050" u="sng" dirty="0">
                <a:solidFill>
                  <a:srgbClr val="1F2421"/>
                </a:solidFill>
                <a:hlinkClick r:id="rId9"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9"/>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0" invalidUrl="" action="" tgtFrame="" tooltip="https://biz.newdaily.co.kr/site/data/html/2024/10/07/2024100700114.amp.html" history="1" highlightClick="0" endSnd="0">
                  <a:extLst>
                    <a:ext uri="{A12FA001-AC4F-418D-AE19-62706E023703}">
                      <ahyp:hlinkClr xmlns:ahyp="http://schemas.microsoft.com/office/drawing/2018/hyperlinkcolor" val="tx"/>
                    </a:ext>
                  </a:extLst>
                </a:hlinkClick>
              </a:rPr>
              <a:t>뉴데일리, 배달대행 기본료 인상 예정 보도 (2024.10.07)</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1"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2" invalidUrl="" action="" tgtFrame="" tooltip="https://www.insight.co.kr/news/572535" history="1" highlightClick="0" endSnd="0">
                  <a:extLst>
                    <a:ext uri="{A12FA001-AC4F-418D-AE19-62706E023703}">
                      <ahyp:hlinkClr xmlns:ahyp="http://schemas.microsoft.com/office/drawing/2018/hyperlinkcolor" val="tx"/>
                    </a:ext>
                  </a:extLst>
                </a:hlinkClick>
              </a:rPr>
              <a:t>한국소비자단체협의회, 2026 추석 제수용품 조사</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3"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4" invalidUrl="" action="" tgtFrame="" tooltip="https://github.com/microsoft/fluentui-emoji" history="1" highlightClick="0" endSnd="0">
                  <a:extLst>
                    <a:ext uri="{A12FA001-AC4F-418D-AE19-62706E023703}">
                      <ahyp:hlinkClr xmlns:ahyp="http://schemas.microsoft.com/office/drawing/2018/hyperlinkcolor" val="tx"/>
                    </a:ext>
                  </a:extLst>
                </a:hlinkClick>
              </a:rPr>
              <a:t>아이콘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2026-10-30T12:01:52Z</dcterms:created>
  <dcterms:modified xsi:type="dcterms:W3CDTF">2026-10-30T12:01:52Z</dcterms:modified>
</cp:coreProperties>
</file>