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e9915168-beea-ab37-a906-073b344feaa2}">
          <p14:sldIdLst>
            <p14:sldId id="256"/>
          </p14:sldIdLst>
        </p14:section>
        <p14:section name="Problem" id="{bc565920-401d-5137-3939-d70340dec115}">
          <p14:sldIdLst>
            <p14:sldId id="257"/>
            <p14:sldId id="258"/>
          </p14:sldIdLst>
        </p14:section>
        <p14:section name="Solution" id="{196ce7ac-0bad-0d74-d057-d44206719c84}">
          <p14:sldIdLst>
            <p14:sldId id="259"/>
            <p14:sldId id="260"/>
            <p14:sldId id="261"/>
          </p14:sldIdLst>
        </p14:section>
        <p14:section name="Business" id="{436031ff-c2e8-ccee-cc26-47eb3a203ede}">
          <p14:sldIdLst>
            <p14:sldId id="262"/>
            <p14:sldId id="263"/>
            <p14:sldId id="264"/>
          </p14:sldIdLst>
        </p14:section>
        <p14:section name="Vision" id="{7f4f1790-ee19-2053-066a-b861b5162b95}">
          <p14:sldIdLst>
            <p14:sldId id="265"/>
            <p14:sldId id="266"/>
          </p14:sldIdLst>
        </p14:section>
        <p14:section name="마무리" id="{d3f3784f-dbb8-33ab-0cd1-9aeaab07794a}">
          <p14:sldIdLst>
            <p14:sldId id="267"/>
          </p14:sldIdLst>
        </p14:section>
        <p14:section name="부록" id="{17024943-ac61-841b-b3c4-1262bb6cc102}">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[0:00–0:42] 안녕하세요. 오늘 발표할 창업 아이템은 나물로입니다. 나물로는 레시피를 고르면 필요한 나물을 가까운 전통시장 가게에 온라인으로 주문하고, 시장에서 받거나 저녁에 배달받는 O2O 서비스입니다. 나물을 더 쉽게 살 수 있게 하고, 레시피와 장보기를 연결하며, 메뉴 추천과 상품 등록에는 AI를 씁니다. 무엇보다 탐스 신발을 산 사람들이 신발과 함께 기부의 의미를 샀던 것처럼, 나물을 사면서 지역 상권을 돕는다는 걸 느낄 수 있게 하려고 합니다.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[0:42–1:32] 먼저 고객 쪽 문제입니다. 처음에는 전통시장 근처에 살면서 아이를 키우는 맞벌이 가정을 대상으로 생각했습니다. 18세 미만 자녀를 둔 부부 가구 가운데 맞벌이 비율은 작년에 60.4%로, 처음 60%를 넘었습니다. 장을 보고 요리할 시간이 부족하고, 아이가 채소 반찬을 잘 먹지 않아 메뉴 고르기도 어렵습니다. 나물은 다듬고 데치는 손질이 번거롭고, 시장 나물이 싸고 믿을 만해도 퇴근 후에는 시장에 들르기 어렵습니다. 대구 지역 유아 86명을 조사한 연구에서도 반찬류를 꺼리는 경향이 나타났습니다.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[1:32–2:25]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상품을 쉽게 올리고 손질 주문을 미리 받을 수 있는 통로가 필요하다고 봤습니다.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[2:25–3:25]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가까운 전통시장의 나물 가게 가운데 한 곳을 고르고, 시장에서 찾아갈지 저녁에 배달받을지 정합니다. 배달을 고르면 가게에서 상품을 준비하고, 나물로가 배달대행에 배달을 요청합니다. 손질이나 데침을 원하면 가게에서 추가 요금을 받고 처리해 주고, 설 차례 나물처럼 주문이 몰리는 날은 미리 예약을 받습니다. 주문을 마치면 이번 주문으로 어느 시장 가게에 얼마가 돌아갔는지 보여 줘서, 장보기가 지역 상권을 돕는다는 걸 느낄 수 있게 합니다. 이렇게 고객의 준비 시간과 시장 가게의 판매 부담을 함께 줄이려고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[3:25–4:18] AI는 세 가지 업무에 적용하려고 합니다. 첫째는 고객용 레시피 추천입니다. 아이 나이나 집에 있는 재료를 입력하면, 근처 시장 가게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셋째는 발주량 추천과 마감 할인인데, 이 기능은 주문 데이터가 쌓인 뒤에 도입할 계획입니다.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[4:18–4:58] 웹 프로토타입으로 사용 흐름을 보여 드리겠습니다. 맞벌이 부모가 다섯 살 아이와 먹을 순한 반찬을 물으면, 추천 메뉴 세 가지가 나옵니다. 참나물 레시피를 보고 재료를 담은 뒤, 600미터 떨어진 시장 가게에서 손질 옵션을 고릅니다. 받는 방법은 가게 픽업과 저녁 배달 중에 고를 수 있는데, 여기서는 저녁 6시 픽업을 골랐습니다. 판매자 화면에서는 들어온 주문을 확인하고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[4:58–5:36] 다음은 시장 규모입니다. 전통시장 전체 매출 28.7조 원에서 수도권 비중 40%와 채소, 나물류 비중 15%를 가정해, 1차 목표 시장을 약 1.7조 원으로 잡았습니다. 수도권과 품목 비중은 공개 통계로 보완하고, 파일럿에서는 참여 점포의 나물 매출과 주문 가능성을 확인하겠습니다. 3년 차 목표 거래액은 입점 매장 300곳이 일반 주문과 명절 예약을 합쳐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[5:36–6:23] 경쟁 서비스를 보면, 쿠팡과 컬리는 전국 배송, 레시피 앱과 유튜브는 콘텐츠, 배민과 네이버는 동네 가게 주문에 강합니다. 나물로는 레시피로 고른 재료를 전통시장 가게에서 바로 사도록 연결하는 데 집중했습니다. 올해 추석 조사에서 채소와 나물류는 전통시장이 대형마트보다 26% 쌌는데, 나물로는 시장 가격으로 팔고 주문마다 시장에 돌아간 금액을 보여 줍니다. 손질과 데침 옵션은 판매자에게는 추가 매출이 되고, 고객에게는 조리 시간을 줄여 줍니다. 큰 플랫폼과 정면으로 경쟁하기보다, 전통시장 상인과 함께 크는 나물 전문 채널이 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[6:23–7:08] 수익 모델은 세 가지입니다. 요금은 모두 예정안이고, 파일럿에서 검증할 계획입니다. 기본은 상품과 손질 금액의 4%를 받는 중개 수수료이고, 판매자가 선택하는 월 2만 9천 원의 유료 서비스와 제휴 광고를 더합니다. 배달비에는 별도 이익을 붙이지 않을 계획이라, 매출 목표에서 제외했습니다. 배달비 3,500원은 시험 요금이고, 보도된 일부 배달대행 기본료는 이보다 높아서, 차액은 파일럿 예산 안에서 한도를 정해 부담하겠습니다.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[7:08–7:55]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[7:55–8:40] 3년 차 목표는 거래액 54억 원, 매출 약 2.6억 원입니다. 매출 목표는 주문 수수료와 판매자 유료 서비스로 계산했고, 지자체 사업이나 제휴 매출은 계약을 확보한 뒤 반영하겠습니다. 보수적으로 매장당 월 약 77건으로 잡으면 매출은 약 2.1억 원이고, 숫자는 모두 가정이라 파일럿이 끝나면 실제 데이터로 다시 계산하겠습니다. 확장은 첫 시장에서 재구매와 주문당 운영비를 확인한 뒤, 인접 시장과 제철 농산물 전체로 넓혀 가겠습니다.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[8:40–9:02] 정리하겠습니다. 나물로는 레시피와 AI로 나물을 쉽게 고르고, 전통시장에서 사는 장보기가 지역 상권을 돕는 일이 되도록 만드는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newsis.com/view/NISX20250103_0003020386" TargetMode="External"/><Relationship Id="rId3" Type="http://schemas.openxmlformats.org/officeDocument/2006/relationships/hyperlink" Target="https://www.index.go.kr/unify/idx-info.do?idxCd=1302" TargetMode="External"/><Relationship Id="rId4" Type="http://schemas.openxmlformats.org/officeDocument/2006/relationships/hyperlink" Target="https://www.mt.co.kr/tech/2026/03/18/2026031714425925652" TargetMode="External"/><Relationship Id="rId5" Type="http://schemas.openxmlformats.org/officeDocument/2006/relationships/hyperlink" Target="https://koreascience.or.kr/article/JAKO201931765048406.page" TargetMode="External"/><Relationship Id="rId6" Type="http://schemas.openxmlformats.org/officeDocument/2006/relationships/hyperlink" Target="https://www.mfds.go.kr/webzine/201504/pdf/main.pdf" TargetMode="External"/><Relationship Id="rId7" Type="http://schemas.openxmlformats.org/officeDocument/2006/relationships/hyperlink" Target="https://hanok.gongju.go.kr/cmm/fms/FileDown.do?atchFileId=FILE_0000127870Uc2bM&amp;fileSn=0" TargetMode="External"/><Relationship Id="rId8" Type="http://schemas.openxmlformats.org/officeDocument/2006/relationships/hyperlink" Target="https://navercorp.com/media/pressReleasesDetail?seq=34203" TargetMode="External"/><Relationship Id="rId9" Type="http://schemas.openxmlformats.org/officeDocument/2006/relationships/hyperlink" Target="https://biz.newdaily.co.kr/site/data/html/2024/10/07/2024100700114.amp.html" TargetMode="External"/><Relationship Id="rId10" Type="http://schemas.openxmlformats.org/officeDocument/2006/relationships/hyperlink" Target="https://byline.network/2024/01/30_baeminstore" TargetMode="External"/><Relationship Id="rId11" Type="http://schemas.openxmlformats.org/officeDocument/2006/relationships/hyperlink" Target="https://www.insight.co.kr/news/572535" TargetMode="External"/><Relationship Id="rId12" Type="http://schemas.openxmlformats.org/officeDocument/2006/relationships/hyperlink" Target="https://platform.claude.com/docs/en/about-claude/pricing" TargetMode="External"/><Relationship Id="rId13" Type="http://schemas.openxmlformats.org/officeDocument/2006/relationships/hyperlink" Target="https://github.com/microsoft/fluentui-emoji" TargetMode="External"/><Relationship Id="rId14" Type="http://schemas.openxmlformats.org/officeDocument/2006/relationships/slideLayout" Target="../slideLayouts/slideLayout3.xml"/><Relationship Id="rId1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레시피로 고르고 전통시장에서 사는 나물 장보기</a:t>
            </a:r>
            <a:endParaRPr lang="en-US" sz="1700" dirty="0"/>
          </a:p>
        </p:txBody>
      </p:sp>
      <p:sp>
        <p:nvSpPr>
          <p:cNvPr id="6" name="one-liner"/>
          <p:cNvSpPr txBox="1"/>
          <p:nvPr/>
        </p:nvSpPr>
        <p:spPr>
          <a:xfrm>
            <a:off x="548640" y="3154680"/>
            <a:ext cx="5486400" cy="292608"/>
          </a:xfrm>
          <a:prstGeom prst="rect">
            <a:avLst/>
          </a:prstGeom>
          <a:noFill/>
          <a:ln/>
        </p:spPr>
        <p:txBody>
          <a:bodyPr wrap="square" lIns="0" tIns="0" rIns="0" bIns="0" rtlCol="0" anchor="ctr"/>
          <a:lstStyle/>
          <a:p>
            <a:pPr indent="0" marL="0">
              <a:buNone/>
            </a:pPr>
            <a:r>
              <a:rPr lang="en-US" sz="1300" dirty="0">
                <a:solidFill>
                  <a:srgbClr val="C7D6CC"/>
                </a:solidFill>
              </a:rPr>
              <a:t>나물 한 봉지로 지역 상권을 돕는 가치소비 장보기</a:t>
            </a:r>
            <a:endParaRPr lang="en-US" sz="1300" dirty="0"/>
          </a:p>
        </p:txBody>
      </p:sp>
      <p:sp>
        <p:nvSpPr>
          <p:cNvPr id="7" name="pillar 0"/>
          <p:cNvSpPr/>
          <p:nvPr/>
        </p:nvSpPr>
        <p:spPr>
          <a:xfrm>
            <a:off x="548640" y="3611880"/>
            <a:ext cx="1101852" cy="310896"/>
          </a:xfrm>
          <a:prstGeom prst="roundRect">
            <a:avLst>
              <a:gd name="adj" fmla="val 50000"/>
            </a:avLst>
          </a:prstGeom>
          <a:solidFill>
            <a:srgbClr val="24503D"/>
          </a:solidFill>
          <a:ln w="9525">
            <a:solidFill>
              <a:srgbClr val="3F7F5F"/>
            </a:solidFill>
            <a:prstDash val="solid"/>
          </a:ln>
        </p:spPr>
      </p:sp>
      <p:sp>
        <p:nvSpPr>
          <p:cNvPr id="8" name="pillar text 0"/>
          <p:cNvSpPr txBox="1"/>
          <p:nvPr/>
        </p:nvSpPr>
        <p:spPr>
          <a:xfrm>
            <a:off x="548640"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나물 접근성</a:t>
            </a:r>
            <a:endParaRPr lang="en-US" sz="1150" dirty="0"/>
          </a:p>
        </p:txBody>
      </p:sp>
      <p:sp>
        <p:nvSpPr>
          <p:cNvPr id="9" name="pillar 1"/>
          <p:cNvSpPr/>
          <p:nvPr/>
        </p:nvSpPr>
        <p:spPr>
          <a:xfrm>
            <a:off x="1760220" y="3611880"/>
            <a:ext cx="1307592" cy="310896"/>
          </a:xfrm>
          <a:prstGeom prst="roundRect">
            <a:avLst>
              <a:gd name="adj" fmla="val 50000"/>
            </a:avLst>
          </a:prstGeom>
          <a:solidFill>
            <a:srgbClr val="24503D"/>
          </a:solidFill>
          <a:ln w="9525">
            <a:solidFill>
              <a:srgbClr val="3F7F5F"/>
            </a:solidFill>
            <a:prstDash val="solid"/>
          </a:ln>
        </p:spPr>
      </p:sp>
      <p:sp>
        <p:nvSpPr>
          <p:cNvPr id="10" name="pillar text 1"/>
          <p:cNvSpPr txBox="1"/>
          <p:nvPr/>
        </p:nvSpPr>
        <p:spPr>
          <a:xfrm>
            <a:off x="1760220" y="3611880"/>
            <a:ext cx="1307592" cy="310896"/>
          </a:xfrm>
          <a:prstGeom prst="rect">
            <a:avLst/>
          </a:prstGeom>
          <a:noFill/>
          <a:ln/>
        </p:spPr>
        <p:txBody>
          <a:bodyPr wrap="square" lIns="0" tIns="0" rIns="0" bIns="0" rtlCol="0" anchor="ctr"/>
          <a:lstStyle/>
          <a:p>
            <a:pPr algn="ctr" indent="0" marL="0">
              <a:buNone/>
            </a:pPr>
            <a:r>
              <a:rPr lang="en-US" sz="1150" b="1" dirty="0">
                <a:solidFill>
                  <a:srgbClr val="FFFFFF"/>
                </a:solidFill>
              </a:rPr>
              <a:t>지역 상권 상생</a:t>
            </a:r>
            <a:endParaRPr lang="en-US" sz="1150" dirty="0"/>
          </a:p>
        </p:txBody>
      </p:sp>
      <p:sp>
        <p:nvSpPr>
          <p:cNvPr id="11" name="pillar 2"/>
          <p:cNvSpPr/>
          <p:nvPr/>
        </p:nvSpPr>
        <p:spPr>
          <a:xfrm>
            <a:off x="3177540" y="3611880"/>
            <a:ext cx="832104" cy="310896"/>
          </a:xfrm>
          <a:prstGeom prst="roundRect">
            <a:avLst>
              <a:gd name="adj" fmla="val 50000"/>
            </a:avLst>
          </a:prstGeom>
          <a:solidFill>
            <a:srgbClr val="24503D"/>
          </a:solidFill>
          <a:ln w="9525">
            <a:solidFill>
              <a:srgbClr val="3F7F5F"/>
            </a:solidFill>
            <a:prstDash val="solid"/>
          </a:ln>
        </p:spPr>
      </p:sp>
      <p:sp>
        <p:nvSpPr>
          <p:cNvPr id="12" name="pillar text 2"/>
          <p:cNvSpPr txBox="1"/>
          <p:nvPr/>
        </p:nvSpPr>
        <p:spPr>
          <a:xfrm>
            <a:off x="3177540" y="3611880"/>
            <a:ext cx="832104" cy="310896"/>
          </a:xfrm>
          <a:prstGeom prst="rect">
            <a:avLst/>
          </a:prstGeom>
          <a:noFill/>
          <a:ln/>
        </p:spPr>
        <p:txBody>
          <a:bodyPr wrap="square" lIns="0" tIns="0" rIns="0" bIns="0" rtlCol="0" anchor="ctr"/>
          <a:lstStyle/>
          <a:p>
            <a:pPr algn="ctr" indent="0" marL="0">
              <a:buNone/>
            </a:pPr>
            <a:r>
              <a:rPr lang="en-US" sz="1150" b="1" dirty="0">
                <a:solidFill>
                  <a:srgbClr val="FFFFFF"/>
                </a:solidFill>
              </a:rPr>
              <a:t>AI 기반</a:t>
            </a:r>
            <a:endParaRPr lang="en-US" sz="1150" dirty="0"/>
          </a:p>
        </p:txBody>
      </p:sp>
      <p:sp>
        <p:nvSpPr>
          <p:cNvPr id="13" name="pillar 3"/>
          <p:cNvSpPr/>
          <p:nvPr/>
        </p:nvSpPr>
        <p:spPr>
          <a:xfrm>
            <a:off x="4119372" y="3611880"/>
            <a:ext cx="1101852" cy="310896"/>
          </a:xfrm>
          <a:prstGeom prst="roundRect">
            <a:avLst>
              <a:gd name="adj" fmla="val 50000"/>
            </a:avLst>
          </a:prstGeom>
          <a:solidFill>
            <a:srgbClr val="24503D"/>
          </a:solidFill>
          <a:ln w="9525">
            <a:solidFill>
              <a:srgbClr val="3F7F5F"/>
            </a:solidFill>
            <a:prstDash val="solid"/>
          </a:ln>
        </p:spPr>
      </p:sp>
      <p:sp>
        <p:nvSpPr>
          <p:cNvPr id="14" name="pillar text 3"/>
          <p:cNvSpPr txBox="1"/>
          <p:nvPr/>
        </p:nvSpPr>
        <p:spPr>
          <a:xfrm>
            <a:off x="4119372"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레시피 연계</a:t>
            </a:r>
            <a:endParaRPr lang="en-US" sz="1150" dirty="0"/>
          </a:p>
        </p:txBody>
      </p:sp>
      <p:sp>
        <p:nvSpPr>
          <p:cNvPr id="15"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16"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시장 가기 어려움</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시장 나물이 싸고 믿을 만해도</a:t>
            </a:r>
            <a:endParaRPr lang="en-US" sz="1200" dirty="0"/>
          </a:p>
          <a:p>
            <a:pPr indent="0" marL="0">
              <a:buNone/>
            </a:pPr>
            <a:r>
              <a:rPr lang="en-US" sz="1200" dirty="0">
                <a:solidFill>
                  <a:srgbClr val="4A524D"/>
                </a:solidFill>
              </a:rPr>
              <a:t>퇴근 후엔 들를 시간이 없음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대구 지역 유아 86명 조사에서도</a:t>
            </a:r>
            <a:endParaRPr lang="en-US" sz="1150" dirty="0"/>
          </a:p>
          <a:p>
            <a:pPr indent="0" marL="0">
              <a:buNone/>
            </a:pPr>
            <a:r>
              <a:rPr lang="en-US" sz="1150" dirty="0">
                <a:solidFill>
                  <a:srgbClr val="1F2421"/>
                </a:solidFill>
              </a:rPr>
              <a:t>반찬류를 꺼리는 경향 (정유미,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간단한 상품 등록과 손질·예약 주문</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전통시장 가게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가까운 전통시장 나물 가게 비교, 손질·데침 옵션,</a:t>
            </a:r>
            <a:endParaRPr lang="en-US" sz="1200" dirty="0"/>
          </a:p>
          <a:p>
            <a:pPr indent="0" marL="0">
              <a:buNone/>
            </a:pPr>
            <a:r>
              <a:rPr lang="en-US" sz="1200" dirty="0">
                <a:solidFill>
                  <a:srgbClr val="1F2421"/>
                </a:solidFill>
              </a:rPr>
              <a:t>시장 픽업(무료)·저녁 배달 선택, 명절 나물은 예약</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시장 기여 표시   </a:t>
            </a:r>
            <a:pPr indent="0" marL="0">
              <a:buNone/>
            </a:pPr>
            <a:r>
              <a:rPr lang="en-US" sz="1200" dirty="0">
                <a:solidFill>
                  <a:srgbClr val="1F2421"/>
                </a:solidFill>
              </a:rPr>
              <a:t>주문마다 그 시장 가게에 돌아간 금액을 보여 줌</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시장 가게</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시장 가게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새벽시장 가게, 손질 옵션, 18:00 픽업</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레시피로 고른 재료를 전통시장 가게에서 싸고 믿을 수 있게 사고, 그 구매가 지역 상권을 돕게 함</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시장 가게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지역 상권 상생</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시장 시세로 팔고, 시장에 돌아간 금액 표시</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전통시장 상인과 함께 크는 나물 전문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가격: 한국소비자단체협의회 2026 추석 조사(서울 90곳), 채소·임산물류는 전통시장이 대형마트보다 26.0% 저렴</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별도 이익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나물 가게</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전통시장 첫 6개월 면제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목표에서 제외 / 차액은 시험 예산으로 지원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a:t>
                      </a:r>
                      <a:endParaRPr lang="en-US" sz="1200" dirty="0"/>
                    </a:p>
                    <a:p>
                      <a:pPr algn="l" indent="0" marL="0">
                        <a:buNone/>
                      </a:pPr>
                      <a:r>
                        <a:rPr lang="en-US" sz="1200" dirty="0">
                          <a:solidFill>
                            <a:srgbClr val="1F2421"/>
                          </a:solidFill>
                        </a:rPr>
                        <a:t>수동 운영, 배달은 단지 한정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지원 최대 20만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시나리오(매장당 월 약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 지역 상권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나물 한 봉지로 지역 상권을 돕는 장보기</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거래액 41.4억 원(매장당 월 약 77건) × 4% + 판매자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매출 목표 제외 / 차액 최대 20만 원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요금은 견적으로 확인 (2024.10 일부 업체 5,400~5,800원 인상 예정 보도)</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2025년 하반기 지역별고용조사 맞벌이 가구 현황 (뉴시스 2026.06.18)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 2025.01.03)</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8"/>
            </a:pPr>
            <a:r>
              <a:rPr lang="en-US" sz="1050" u="sng" dirty="0">
                <a:solidFill>
                  <a:srgbClr val="1F2421"/>
                </a:solidFill>
                <a:hlinkClick r:id="rId8"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9" invalidUrl="" action="" tgtFrame="" tooltip="https://biz.newdaily.co.kr/site/data/html/2024/10/07/2024100700114.amp.html" history="1" highlightClick="0" endSnd="0">
                  <a:extLst>
                    <a:ext uri="{A12FA001-AC4F-418D-AE19-62706E023703}">
                      <ahyp:hlinkClr xmlns:ahyp="http://schemas.microsoft.com/office/drawing/2018/hyperlinkcolor" val="tx"/>
                    </a:ext>
                  </a:extLst>
                </a:hlinkClick>
              </a:rPr>
              <a:t>뉴데일리, 배달대행 기본료 인상 예정 보도 (2024.10.07)</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0"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1" invalidUrl="" action="" tgtFrame="" tooltip="https://www.insight.co.kr/news/572535" history="1" highlightClick="0" endSnd="0">
                  <a:extLst>
                    <a:ext uri="{A12FA001-AC4F-418D-AE19-62706E023703}">
                      <ahyp:hlinkClr xmlns:ahyp="http://schemas.microsoft.com/office/drawing/2018/hyperlinkcolor" val="tx"/>
                    </a:ext>
                  </a:extLst>
                </a:hlinkClick>
              </a:rPr>
              <a:t>한국소비자단체협의회, 2026 추석 제수용품 조사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2"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3" invalidUrl="" action="" tgtFrame="" tooltip="https://github.com/microsoft/fluentui-emoji" history="1" highlightClick="0" endSnd="0">
                  <a:extLst>
                    <a:ext uri="{A12FA001-AC4F-418D-AE19-62706E023703}">
                      <ahyp:hlinkClr xmlns:ahyp="http://schemas.microsoft.com/office/drawing/2018/hyperlinkcolor" val="tx"/>
                    </a:ext>
                  </a:extLst>
                </a:hlinkClick>
              </a:rPr>
              <a:t>아이콘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2026-10-30T07:46:12Z</dcterms:created>
  <dcterms:modified xsi:type="dcterms:W3CDTF">2026-10-30T07:46:12Z</dcterms:modified>
</cp:coreProperties>
</file>