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6a6b8437-10dd-09e1-5453-bc4dc4a51844}">
          <p14:sldIdLst>
            <p14:sldId id="256"/>
          </p14:sldIdLst>
        </p14:section>
        <p14:section name="Problem" id="{e633d8e0-7c54-6737-6dc9-872339336c90}">
          <p14:sldIdLst>
            <p14:sldId id="257"/>
            <p14:sldId id="258"/>
          </p14:sldIdLst>
        </p14:section>
        <p14:section name="Solution" id="{268d109c-36cc-cabb-c918-b72af1b268e9}">
          <p14:sldIdLst>
            <p14:sldId id="259"/>
            <p14:sldId id="260"/>
            <p14:sldId id="261"/>
          </p14:sldIdLst>
        </p14:section>
        <p14:section name="Business" id="{9237e591-38fe-ce86-f882-958092585acf}">
          <p14:sldIdLst>
            <p14:sldId id="262"/>
            <p14:sldId id="263"/>
            <p14:sldId id="264"/>
          </p14:sldIdLst>
        </p14:section>
        <p14:section name="Vision" id="{584da5df-0959-5f14-944b-1ce95cd793fc}">
          <p14:sldIdLst>
            <p14:sldId id="265"/>
            <p14:sldId id="266"/>
          </p14:sldIdLst>
        </p14:section>
        <p14:section name="마무리" id="{54427b0f-45ed-48f3-0f89-322aa416d78a}">
          <p14:sldIdLst>
            <p14:sldId id="267"/>
          </p14:sldIdLst>
        </p14:section>
        <p14:section name="부록" id="{7444866d-9637-e7fa-580e-3ced9c694bf0}">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안녕하세요. 오늘 발표할 창업 아이템은 나물로입니다. 나물로는 레시피를 고른 뒤 필요한 나물을 동네 가게에 주문하고, 가게에서 찾아가거나 저녁에 배달로 받을 수 있는 서비스입니다. 온라인으로 주문하고 동네 가게에서 받는 방식이라, 흔히 O2O 서비스라고 부릅니다.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[0:27–1:25] 먼저 고객 쪽 문제입니다. 처음에는 전통시장 근처에 살면서 아이를 키우는 맞벌이 가정을 대상으로 생각했습니다. 18세 미만 자녀를 둔 부부 가구 가운데 맞벌이 비율은 작년에 60.4%로, 처음 60%를 넘었습니다. 여섯 시에 퇴근한 부모가 일곱 시 전에 아이 저녁을 차려야 하는 상황을 떠올리시면 됩니다. 장을 보고 요리할 시간이 부족하고, 아이가 채소 반찬을 잘 먹지 않아 메뉴 고르기도 어렵습니다. 나물은 다듬고 데치는 손질이 번거롭고, 마트나 온라인몰은 한 단, 한 봉지 단위라 조금만 사기도 불편합니다. 대구 지역 유아 86명을 조사한 연구에서도 반찬류를 꺼리는 경향이 나타났습니다.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[1:25–2:10]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이 부분은 아직 가설이라서, 시장 상인 인터뷰로 실제 부담을 확인하려고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[2:10–3:08]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반경 3km 안의 전통시장, 로컬푸드 매장, 반찬가게 중 한 곳을 고르고, 가게에서 찾아갈지 저녁에 배달받을지 정합니다. 배달은 배달대행을 연결해 저녁 시간대 주문을 묶어 보내고, 사장님은 포장만 하면 됩니다. 손질이나 데침을 원하면 매장에서 추가 요금을 받고 처리해 주고, 설 차례 나물처럼 주문이 몰리는 날은 미리 예약을 받습니다. 정리하면 고객의 시간 부족은 저녁 배달로, 손질 부담은 손질 옵션으로, 아이 반찬 고민은 메뉴 추천으로 풀고, 판매자는 배달 인력 없이 온라인 주문을 받게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[3:08–4:00] AI는 세 가지 업무에 적용하려고 합니다. 첫째는 고객용 레시피 추천입니다. 아이 나이나 집에 있는 재료를 입력하면, 근처 매장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셋째는 발주량 추천과 마감 할인인데, 이 기능은 주문 데이터가 쌓인 뒤에 도입할 계획입니다. 앞의 두 기능은 시연 화면까지 만들어 두었고, 화면의 응답과 매장, 가격은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[4:00–4:41] 웹 프로토타입으로 사용 흐름을 보여 드리겠습니다. 맞벌이 부모가 다섯 살 아이와 먹을 순한 반찬을 물으면, 추천 메뉴 세 가지가 나옵니다. 참나물 레시피를 보고 재료를 담은 뒤, 600미터 떨어진 시장 가게에서 손질 옵션을 고릅니다. 받는 방법은 가게 픽업과 저녁 배달 중에 고를 수 있는데, 여기서는 저녁 6시 픽업을 골랐습니다. 판매자 화면에서는 들어온 주문을 확인하고 접수합니다. 시연 속 AI 응답과 주문 데이터는 예시이고, 실제 결제와 배달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[4:41–5:23] 다음은 시장 규모입니다. 전통시장 전체 매출 28.7조 원에서 수도권 비중 40%와 채소, 나물류 비중 15%를 가정해, 1차 목표 시장을 약 1.7조 원으로 잡았습니다. 온라인 식품 거래와는 겹치는 부분이 있어서, 전통시장 매출만 기준으로 삼았습니다. 수도권과 품목 비중은 공개 통계로 보완하고, 파일럿에서는 참여 점포의 나물 매출과 주문 가능성을 확인하겠습니다. 3년 차 목표 거래액은 입점 매장 300곳이 한 달에 100건씩, 평균 1만 5천 원 주문을 받는다고 가정해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[5:23–6:01] 경쟁 서비스를 보면, 쿠팡과 컬리는 전국 배송, 레시피 앱과 유튜브는 콘텐츠에 강하고, 배민과 네이버는 동네 가게 주문과 판매자 도구를 갖추고 있습니다. 나물로는 나물 요리를 고른 사람이 필요한 재료를 동네에서 손질까지 받아 살 수 있도록 만드는 데 집중했습니다. 손질과 데침 옵션은 판매자에게는 추가 매출이 되고, 고객에게는 조리 시간을 줄여 줍니다. 큰 플랫폼과 정면으로 경쟁하기보다, 상인들이 함께 쓸 수 있는 나물 전문 판매 채널로 자리 잡는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[6:01–6:53] 수익 모델은 세 가지입니다. 요금은 모두 예정안이고, 파일럿에서 검증할 계획입니다. 기본은 주문 금액의 4% 중개 수수료이고, 판매자가 선택하는 월 2만 9천 원의 유료 서비스와 제휴 광고를 더합니다. 배달비 3,500원은 고객이 내고 배달대행 비용으로 그대로 나가기 때문에 수익으로 잡지 않았습니다. 보도된 배달대행 기본료가 건당 4천 원이 넘어서, 여러 집을 묶어 보내 원가를 맞추는 것이 과제입니다. 정기구독은 나물만으로 매주 받을 이유가 약하고 운영 부담이 커서 빼고, 명절 예약 주문으로 대신했습니다. 판매자 부담은 월 100건 매장 기준 거래액의 약 6%이고, 전통시장 점포는 첫 6개월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[6:53–7:40]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배달 선택률과 배달 한 건당 비용, 주문당 운영 시간을 측정하겠습니다. 결과가 기대에 못 미치면 타깃 고객이나 가격을 바꿔 다시 검증하겠습니다. 2단계는 예비창업패키지 같은 정부 지원사업으로 웹앱을 정식 출시하고 명절 예약을 열며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[7:40–8:22] 3년 차 목표는 거래액 54억 원, 매출 약 2.6억 원입니다. 구독을 빼면서 매출 목표는 줄었지만, 근거가 확인되지 않은 수익에 기대지 않으려고 했습니다. 지자체 사업이나 제휴 매출도 계약을 확보하면 그때 더하겠습니다. 숫자는 모두 가정이라, 파일럿이 끝나면 실제 데이터로 다시 계산하겠습니다. 이후에는 나물에서 제철 농산물 전체로 품목을 넓히고, 산지 직거래와 건조 나물 해외 판매로 확장하려고 합니다.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[8:22–8:44] 정리하겠습니다. 나물로는 바쁜 맞벌이 가정에는 레시피와 동네 매장 픽업, 저녁 배달을, 전통시장 판매자에게는 온라인 판매 채널을 제공하는 서비스입니다. 먼저 시장 한 곳에서 사람들이 실제로 주문하고 다시 찾아오는지 확인해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newsis.com/view/NISX20250103_0003020386" TargetMode="External"/><Relationship Id="rId3" Type="http://schemas.openxmlformats.org/officeDocument/2006/relationships/hyperlink" Target="https://www.index.go.kr/unify/idx-info.do?idxCd=1302" TargetMode="External"/><Relationship Id="rId4" Type="http://schemas.openxmlformats.org/officeDocument/2006/relationships/hyperlink" Target="https://www.mt.co.kr/tech/2026/03/18/2026031714425925652" TargetMode="External"/><Relationship Id="rId5" Type="http://schemas.openxmlformats.org/officeDocument/2006/relationships/hyperlink" Target="https://koreascience.or.kr/article/JAKO201931765048406.page" TargetMode="External"/><Relationship Id="rId6" Type="http://schemas.openxmlformats.org/officeDocument/2006/relationships/hyperlink" Target="https://www.mfds.go.kr/webzine/201504/pdf/main.pdf" TargetMode="External"/><Relationship Id="rId7" Type="http://schemas.openxmlformats.org/officeDocument/2006/relationships/hyperlink" Target="https://hanok.gongju.go.kr/cmm/fms/FileDown.do?atchFileId=FILE_0000127870Uc2bM&amp;fileSn=0" TargetMode="External"/><Relationship Id="rId8" Type="http://schemas.openxmlformats.org/officeDocument/2006/relationships/hyperlink" Target="https://navercorp.com/media/pressReleasesDetail?seq=34203" TargetMode="External"/><Relationship Id="rId9" Type="http://schemas.openxmlformats.org/officeDocument/2006/relationships/hyperlink" Target="https://www.munhwa.com/article/11458547" TargetMode="External"/><Relationship Id="rId10" Type="http://schemas.openxmlformats.org/officeDocument/2006/relationships/hyperlink" Target="https://byline.network/2024/01/30_baeminstore" TargetMode="External"/><Relationship Id="rId11" Type="http://schemas.openxmlformats.org/officeDocument/2006/relationships/hyperlink" Target="https://platform.claude.com/docs/en/about-claude/pricing" TargetMode="External"/><Relationship Id="rId12" Type="http://schemas.openxmlformats.org/officeDocument/2006/relationships/hyperlink" Target="https://github.com/microsoft/fluentui-emoji" TargetMode="External"/><Relationship Id="rId13" Type="http://schemas.openxmlformats.org/officeDocument/2006/relationships/slideLayout" Target="../slideLayouts/slideLayout3.xml"/><Relationship Id="rId1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 기반 동네 나물 주문 플랫폼 (픽업 · 저녁 배달)</a:t>
            </a:r>
            <a:endParaRPr lang="en-US" sz="1700" dirty="0"/>
          </a:p>
        </p:txBody>
      </p:sp>
      <p:sp>
        <p:nvSpPr>
          <p:cNvPr id="6" name="one-liner"/>
          <p:cNvSpPr txBox="1"/>
          <p:nvPr/>
        </p:nvSpPr>
        <p:spPr>
          <a:xfrm>
            <a:off x="548640" y="3200400"/>
            <a:ext cx="5486400" cy="566928"/>
          </a:xfrm>
          <a:prstGeom prst="rect">
            <a:avLst/>
          </a:prstGeom>
          <a:noFill/>
          <a:ln/>
        </p:spPr>
        <p:txBody>
          <a:bodyPr wrap="square" lIns="0" tIns="0" rIns="0" bIns="0" rtlCol="0" anchor="ctr"/>
          <a:lstStyle/>
          <a:p>
            <a:pPr indent="0" marL="0">
              <a:buNone/>
            </a:pPr>
            <a:r>
              <a:rPr lang="en-US" sz="1300" dirty="0">
                <a:solidFill>
                  <a:srgbClr val="C7D6CC"/>
                </a:solidFill>
              </a:rPr>
              <a:t>제철 나물 레시피를 보고 동네 전통시장·로컬푸드 매장에 주문,</a:t>
            </a:r>
            <a:endParaRPr lang="en-US" sz="1300" dirty="0"/>
          </a:p>
          <a:p>
            <a:pPr indent="0" marL="0">
              <a:buNone/>
            </a:pPr>
            <a:r>
              <a:rPr lang="en-US" sz="1300" dirty="0">
                <a:solidFill>
                  <a:srgbClr val="C7D6CC"/>
                </a:solidFill>
              </a:rPr>
              <a:t>가게에서 찾아가거나 저녁에 배달로 받기</a:t>
            </a:r>
            <a:endParaRPr lang="en-US" sz="1300" dirty="0"/>
          </a:p>
        </p:txBody>
      </p:sp>
      <p:sp>
        <p:nvSpPr>
          <p:cNvPr id="7"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8"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1차 타깃은 전통시장 인근 맞벌이 자녀 가구로, 장보기·손질 시간 부족과 아이 반찬 고민이 큼</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아이 반찬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아이가 채소 반찬을 잘 먹지 않아</a:t>
            </a:r>
            <a:endParaRPr lang="en-US" sz="1200" dirty="0"/>
          </a:p>
          <a:p>
            <a:pPr indent="0" marL="0">
              <a:buNone/>
            </a:pPr>
            <a:r>
              <a:rPr lang="en-US" sz="1200" dirty="0">
                <a:solidFill>
                  <a:srgbClr val="4A524D"/>
                </a:solidFill>
              </a:rPr>
              <a:t>메뉴 정하기가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구매 단위</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마트·온라인몰은 한 단·한 봉지</a:t>
            </a:r>
            <a:endParaRPr lang="en-US" sz="1200" dirty="0"/>
          </a:p>
          <a:p>
            <a:pPr indent="0" marL="0">
              <a:buNone/>
            </a:pPr>
            <a:r>
              <a:rPr lang="en-US" sz="1200" dirty="0">
                <a:solidFill>
                  <a:srgbClr val="4A524D"/>
                </a:solidFill>
              </a:rPr>
              <a:t>단위라 양이 많음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719072"/>
            <a:ext cx="2514600" cy="457200"/>
          </a:xfrm>
          <a:prstGeom prst="rect">
            <a:avLst/>
          </a:prstGeom>
          <a:noFill/>
          <a:ln/>
        </p:spPr>
        <p:txBody>
          <a:bodyPr wrap="square" lIns="0" tIns="0" rIns="0" bIns="0" rtlCol="0" anchor="ctr"/>
          <a:lstStyle/>
          <a:p>
            <a:pPr indent="0" marL="0">
              <a:buNone/>
            </a:pPr>
            <a:r>
              <a:rPr lang="en-US" sz="1200" dirty="0">
                <a:solidFill>
                  <a:srgbClr val="4A524D"/>
                </a:solidFill>
              </a:rPr>
              <a:t>18세 미만 자녀를 둔 부부 가구 중</a:t>
            </a:r>
            <a:endParaRPr lang="en-US" sz="1200" dirty="0"/>
          </a:p>
          <a:p>
            <a:pPr indent="0" marL="0">
              <a:buNone/>
            </a:pPr>
            <a:r>
              <a:rPr lang="en-US" sz="1200" dirty="0">
                <a:solidFill>
                  <a:srgbClr val="4A524D"/>
                </a:solidFill>
              </a:rPr>
              <a:t>맞벌이 비율 (2025)</a:t>
            </a:r>
            <a:endParaRPr lang="en-US" sz="1200" dirty="0"/>
          </a:p>
        </p:txBody>
      </p:sp>
      <p:sp>
        <p:nvSpPr>
          <p:cNvPr id="24" name="stat value"/>
          <p:cNvSpPr txBox="1"/>
          <p:nvPr/>
        </p:nvSpPr>
        <p:spPr>
          <a:xfrm>
            <a:off x="6108192" y="2212848"/>
            <a:ext cx="2377440" cy="640080"/>
          </a:xfrm>
          <a:prstGeom prst="rect">
            <a:avLst/>
          </a:prstGeom>
          <a:noFill/>
          <a:ln/>
        </p:spPr>
        <p:txBody>
          <a:bodyPr wrap="square" lIns="0" tIns="0" rIns="0" bIns="0" rtlCol="0" anchor="ctr"/>
          <a:lstStyle/>
          <a:p>
            <a:pPr indent="0" marL="0">
              <a:buNone/>
            </a:pPr>
            <a:r>
              <a:rPr lang="en-US" sz="3800" b="1" dirty="0">
                <a:solidFill>
                  <a:srgbClr val="1E4D3A"/>
                </a:solidFill>
              </a:rPr>
              <a:t>60.4%</a:t>
            </a:r>
            <a:endParaRPr lang="en-US" sz="3800" dirty="0"/>
          </a:p>
        </p:txBody>
      </p:sp>
      <p:sp>
        <p:nvSpPr>
          <p:cNvPr id="25" name="stat sub"/>
          <p:cNvSpPr txBox="1"/>
          <p:nvPr/>
        </p:nvSpPr>
        <p:spPr>
          <a:xfrm>
            <a:off x="6108192" y="2871216"/>
            <a:ext cx="2514600" cy="457200"/>
          </a:xfrm>
          <a:prstGeom prst="rect">
            <a:avLst/>
          </a:prstGeom>
          <a:noFill/>
          <a:ln/>
        </p:spPr>
        <p:txBody>
          <a:bodyPr wrap="square" lIns="0" tIns="0" rIns="0" bIns="0" rtlCol="0" anchor="ctr"/>
          <a:lstStyle/>
          <a:p>
            <a:pPr indent="0" marL="0">
              <a:buNone/>
            </a:pPr>
            <a:r>
              <a:rPr lang="en-US" sz="1150" dirty="0">
                <a:solidFill>
                  <a:srgbClr val="4A524D"/>
                </a:solidFill>
              </a:rPr>
              <a:t>처음으로 60% 넘음</a:t>
            </a:r>
            <a:endParaRPr lang="en-US" sz="1150" dirty="0"/>
          </a:p>
          <a:p>
            <a:pPr indent="0" marL="0">
              <a:buNone/>
            </a:pPr>
            <a:r>
              <a:rPr lang="en-US" sz="1150" dirty="0">
                <a:solidFill>
                  <a:srgbClr val="4A524D"/>
                </a:solidFill>
              </a:rPr>
              <a:t>막내가 6세 이하인 가구 56.5%</a:t>
            </a:r>
            <a:endParaRPr lang="en-US" sz="1150" dirty="0"/>
          </a:p>
        </p:txBody>
      </p:sp>
      <p:sp>
        <p:nvSpPr>
          <p:cNvPr id="26" name="stat rule"/>
          <p:cNvSpPr/>
          <p:nvPr/>
        </p:nvSpPr>
        <p:spPr>
          <a:xfrm>
            <a:off x="6108192" y="3456432"/>
            <a:ext cx="2441448" cy="0"/>
          </a:xfrm>
          <a:prstGeom prst="line">
            <a:avLst/>
          </a:prstGeom>
          <a:noFill/>
          <a:ln w="9525">
            <a:solidFill>
              <a:srgbClr val="A8C8B4"/>
            </a:solidFill>
            <a:prstDash val="solid"/>
          </a:ln>
        </p:spPr>
      </p:sp>
      <p:sp>
        <p:nvSpPr>
          <p:cNvPr id="27" name="stat research"/>
          <p:cNvSpPr txBox="1"/>
          <p:nvPr/>
        </p:nvSpPr>
        <p:spPr>
          <a:xfrm>
            <a:off x="6108192" y="3566160"/>
            <a:ext cx="2514600" cy="457200"/>
          </a:xfrm>
          <a:prstGeom prst="rect">
            <a:avLst/>
          </a:prstGeom>
          <a:noFill/>
          <a:ln/>
        </p:spPr>
        <p:txBody>
          <a:bodyPr wrap="square" lIns="0" tIns="0" rIns="0" bIns="0" rtlCol="0" anchor="ctr"/>
          <a:lstStyle/>
          <a:p>
            <a:pPr indent="0" marL="0">
              <a:buNone/>
            </a:pPr>
            <a:r>
              <a:rPr lang="en-US" sz="1150" dirty="0">
                <a:solidFill>
                  <a:srgbClr val="1F2421"/>
                </a:solidFill>
              </a:rPr>
              <a:t>대구 지역 유아 86명 조사에서도</a:t>
            </a:r>
            <a:endParaRPr lang="en-US" sz="1150" dirty="0"/>
          </a:p>
          <a:p>
            <a:pPr indent="0" marL="0">
              <a:buNone/>
            </a:pPr>
            <a:r>
              <a:rPr lang="en-US" sz="1150" dirty="0">
                <a:solidFill>
                  <a:srgbClr val="1F2421"/>
                </a:solidFill>
              </a:rPr>
              <a:t>반찬류를 꺼리는 경향 (정유미, 2019)</a:t>
            </a:r>
            <a:endParaRPr lang="en-US" sz="1150" dirty="0"/>
          </a:p>
        </p:txBody>
      </p:sp>
      <p:sp>
        <p:nvSpPr>
          <p:cNvPr id="28"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 맞벌이 가구 현황(2026.06 보도),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651760"/>
            <a:ext cx="4526280" cy="0"/>
          </a:xfrm>
          <a:prstGeom prst="line">
            <a:avLst/>
          </a:prstGeom>
          <a:noFill/>
          <a:ln w="9525">
            <a:solidFill>
              <a:srgbClr val="D9DED9"/>
            </a:solidFill>
            <a:prstDash val="solid"/>
          </a:ln>
        </p:spPr>
      </p:sp>
      <p:sp>
        <p:nvSpPr>
          <p:cNvPr id="21" name="badge 2"/>
          <p:cNvSpPr/>
          <p:nvPr/>
        </p:nvSpPr>
        <p:spPr>
          <a:xfrm>
            <a:off x="3794760" y="2807208"/>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8072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779776"/>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3108960"/>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511296"/>
            <a:ext cx="4526280" cy="0"/>
          </a:xfrm>
          <a:prstGeom prst="line">
            <a:avLst/>
          </a:prstGeom>
          <a:noFill/>
          <a:ln w="9525">
            <a:solidFill>
              <a:srgbClr val="D9DED9"/>
            </a:solidFill>
            <a:prstDash val="solid"/>
          </a:ln>
        </p:spPr>
      </p:sp>
      <p:sp>
        <p:nvSpPr>
          <p:cNvPr id="26" name="badge 3"/>
          <p:cNvSpPr/>
          <p:nvPr/>
        </p:nvSpPr>
        <p:spPr>
          <a:xfrm>
            <a:off x="3794760" y="3666744"/>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66674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63931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96849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동네 매장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반경 3km 매장 비교, 손질·데침 옵션 선택,</a:t>
            </a:r>
            <a:endParaRPr lang="en-US" sz="1200" dirty="0"/>
          </a:p>
          <a:p>
            <a:pPr indent="0" marL="0">
              <a:buNone/>
            </a:pPr>
            <a:r>
              <a:rPr lang="en-US" sz="1200" dirty="0">
                <a:solidFill>
                  <a:srgbClr val="1F2421"/>
                </a:solidFill>
              </a:rPr>
              <a:t>가게 픽업(무료) 또는 저녁 묶음배달(배차는 나물로)</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명절·제철 예약   </a:t>
            </a:r>
            <a:pPr indent="0" marL="0">
              <a:buNone/>
            </a:pPr>
            <a:r>
              <a:rPr lang="en-US" sz="1200" dirty="0">
                <a:solidFill>
                  <a:srgbClr val="1F2421"/>
                </a:solidFill>
              </a:rPr>
              <a:t>설 차례 삼색나물 등을 미리 주문하고 받는 날 픽업·배달</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매장</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응답·매장·가격·예측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매장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시장 가게, 손질 옵션, 18:00 픽업 (배달도 가능)</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나물 요리를 고른 고객이 필요한 재료를 동네 매장에서 손질까지 받아 살 수 있게 하는 데 집중</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근처 매장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메시지 상품 등록</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앱이 익숙지 않은 상인도 메시지로 등록</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배민·네이버와 함께 쓰는 나물 전문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네이버 등은 판매자용 AI 도구(리뷰 관리·FAQ)를 이미 제공</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배달비는 고객 부담</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 자녀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배차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 로컬푸드</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828800"/>
                <a:gridCol w="2103120"/>
                <a:gridCol w="438912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주문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일반·예약 주문 공통 · 전통시장 점포는 첫 6개월 0%</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고객 부담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저녁 배달 선택 시 · 배달대행 비용으로 지급, 수익 아님</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 + 수동 운영</a:t>
                      </a:r>
                      <a:endParaRPr lang="en-US" sz="1200" dirty="0"/>
                    </a:p>
                    <a:p>
                      <a:pPr algn="l" indent="0" marL="0">
                        <a:buNone/>
                      </a:pPr>
                      <a:r>
                        <a:rPr lang="en-US" sz="1200" dirty="0">
                          <a:solidFill>
                            <a:srgbClr val="1F2421"/>
                          </a:solidFill>
                        </a:rPr>
                        <a:t>(배달대행 수동 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원(기본 수익원 기준)을 목표로, 품목·산지·해외로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매출(기본) 약 2.6억 원</a:t>
            </a:r>
            <a:endParaRPr lang="en-US" sz="1200" dirty="0"/>
          </a:p>
          <a:p>
            <a:pPr indent="0" marL="0">
              <a:buNone/>
            </a:pPr>
            <a:r>
              <a:rPr lang="en-US" sz="1050" dirty="0">
                <a:solidFill>
                  <a:srgbClr val="1F2421"/>
                </a:solidFill>
              </a:rPr>
              <a:t>수수료 2.2 + 판매자 서비스 0.4 (억 원), 배달비는 제외</a:t>
            </a:r>
            <a:endParaRPr lang="en-US" sz="1200" dirty="0"/>
          </a:p>
          <a:p>
            <a:pPr indent="0" marL="0">
              <a:buNone/>
            </a:pPr>
            <a:r>
              <a:rPr lang="en-US" sz="1050" dirty="0">
                <a:solidFill>
                  <a:srgbClr val="1F2421"/>
                </a:solidFill>
              </a:rPr>
              <a:t>지자체·제휴 사업은 계약 확보 후 추가 (미검증)</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산지 직거래</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산채 농가 → 동네 매장 → 고객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해외 판매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건조 나물 + 레시피 키트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유입 ·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맞벌이 가정에는 동네 매장 픽업·저녁 배달을, 시장 판매자에게는 온라인 판로를 제공</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시장 인근 맞벌이 가정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비교</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92608">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301752">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(일반·예약 주문)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E4D3A"/>
                          </a:solidFill>
                        </a:rPr>
                        <a:t>3년차 매출 (기본)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301752">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배달비 (고객 부담)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배달대행 비용으로 지급, 수익 아님 · 기본료 보도 사례 건당 4,000~4,900원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예정 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추정, 재시도·서버·검수 인건비 별도 / 유료 판매자 120곳·배달비는 가정, 묶음배달로 건당 원가를 배달비 이하로 맞추는 것이 파일럿 과제</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2025년 하반기 지역별고용조사 맞벌이 가구 현황 (뉴시스 2026.06.18)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 2025.01.03)</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8"/>
            </a:pPr>
            <a:r>
              <a:rPr lang="en-US" sz="1050" u="sng" dirty="0">
                <a:solidFill>
                  <a:srgbClr val="1F2421"/>
                </a:solidFill>
                <a:hlinkClick r:id="rId8"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9" invalidUrl="" action="" tgtFrame="" tooltip="https://www.munhwa.com/article/11458547" history="1" highlightClick="0" endSnd="0">
                  <a:extLst>
                    <a:ext uri="{A12FA001-AC4F-418D-AE19-62706E023703}">
                      <ahyp:hlinkClr xmlns:ahyp="http://schemas.microsoft.com/office/drawing/2018/hyperlinkcolor" val="tx"/>
                    </a:ext>
                  </a:extLst>
                </a:hlinkClick>
              </a:rPr>
              <a:t>문화일보, 배달대행 건당 기본료 인상 보도 (2024.10 무렵)</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0"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서비스 (2024.01)</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1"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앱 화면: 웹 프로토타입 (매장 · 가격 · 수치는 예시 데이터)</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2" invalidUrl="" action="" tgtFrame="" tooltip="https://github.com/microsoft/fluentui-emoji" history="1" highlightClick="0" endSnd="0">
                  <a:extLst>
                    <a:ext uri="{A12FA001-AC4F-418D-AE19-62706E023703}">
                      <ahyp:hlinkClr xmlns:ahyp="http://schemas.microsoft.com/office/drawing/2018/hyperlinkcolor" val="tx"/>
                    </a:ext>
                  </a:extLst>
                </a:hlinkClick>
              </a:rPr>
              <a:t>아이콘 Microsoft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2026-10-30T05:17:17Z</dcterms:created>
  <dcterms:modified xsi:type="dcterms:W3CDTF">2026-10-30T05:17:17Z</dcterms:modified>
</cp:coreProperties>
</file>