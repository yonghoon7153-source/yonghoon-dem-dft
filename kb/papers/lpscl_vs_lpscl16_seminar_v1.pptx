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698480" cy="10972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3600" b="1">
                <a:solidFill>
                  <a:srgbClr val="003876"/>
                </a:solidFill>
                <a:latin typeface="맑은 고딕"/>
              </a:rPr>
              <a:t>LPSCl₁.₆가 빠르고 단단한 이유:</a:t>
            </a:r>
          </a:p>
          <a:p>
            <a:pPr algn="ctr"/>
            <a:r>
              <a:rPr sz="3600" b="1">
                <a:solidFill>
                  <a:srgbClr val="003876"/>
                </a:solidFill>
                <a:latin typeface="맑은 고딕"/>
              </a:rPr>
              <a:t>— 전자구조가 아니라 무질서다 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  <a:latin typeface="맑은 고딕"/>
              </a:rPr>
              <a:t>A multi-probe DFT/AIMD comparison of</a:t>
            </a:r>
          </a:p>
          <a:p>
            <a:pPr algn="ctr"/>
            <a:r>
              <a:rPr sz="2000" b="0">
                <a:solidFill>
                  <a:srgbClr val="666666"/>
                </a:solidFill>
                <a:latin typeface="맑은 고딕"/>
              </a:rPr>
              <a:t>Li₆PS₅Cl vs Li₅.₄PS₄.₄Cl₁.₆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3840480"/>
            <a:ext cx="8503920" cy="128016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3840480"/>
            <a:ext cx="40000" cy="1280160"/>
          </a:xfrm>
          <a:prstGeom prst="rect">
            <a:avLst/>
          </a:prstGeom>
          <a:solidFill>
            <a:srgbClr val="003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3977639"/>
            <a:ext cx="81381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003876"/>
                </a:solidFill>
                <a:latin typeface="맑은 고딕"/>
              </a:rPr>
              <a:t>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4343400"/>
            <a:ext cx="813816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맑은 고딕"/>
              </a:rPr>
              <a:t>차이는 "전자구조"가 아니라</a:t>
            </a:r>
          </a:p>
          <a:p>
            <a:pPr algn="l"/>
            <a:r>
              <a:rPr sz="1800" b="1">
                <a:solidFill>
                  <a:srgbClr val="1A1A1A"/>
                </a:solidFill>
                <a:latin typeface="맑은 고딕"/>
              </a:rPr>
              <a:t>Li 공공 + 4d-Cl anti-site 무질서에서 온다.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852160"/>
            <a:ext cx="11247120" cy="1500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맑은 고딕"/>
              </a:rPr>
              <a:t>안용훈 · BML Lab (한양대) · 지도 김광범 교수</a:t>
            </a:r>
          </a:p>
          <a:p>
            <a:pPr algn="ctr"/>
            <a:r>
              <a:rPr sz="1200" b="0">
                <a:solidFill>
                  <a:srgbClr val="666666"/>
                </a:solidFill>
                <a:latin typeface="맑은 고딕"/>
              </a:rPr>
              <a:t>2026년 6월 · Internal Seminar Preview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003876"/>
                </a:solidFill>
                <a:latin typeface="맑은 고딕"/>
              </a:rPr>
              <a:t>2. 비교 대상: 두 argyrodite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0000"/>
          </a:xfrm>
          <a:prstGeom prst="rect">
            <a:avLst/>
          </a:prstGeom>
          <a:solidFill>
            <a:srgbClr val="003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303520" cy="4754880"/>
          </a:xfrm>
          <a:prstGeom prst="rect">
            <a:avLst/>
          </a:prstGeom>
          <a:solidFill>
            <a:srgbClr val="E6EEF7"/>
          </a:solidFill>
          <a:ln w="19050">
            <a:solidFill>
              <a:srgbClr val="0038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50292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200" b="1">
                <a:solidFill>
                  <a:srgbClr val="003876"/>
                </a:solidFill>
                <a:latin typeface="맑은 고딕"/>
              </a:rPr>
              <a:t>LPSCl (comp1)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50292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맑은 고딕"/>
              </a:rPr>
              <a:t>Li₆PS₅Cl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맑은 고딕"/>
              </a:rPr>
              <a:t>cubic F-43m · 4 f.u. · 52 atoms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17520"/>
            <a:ext cx="5029200" cy="2560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맑은 고딕"/>
              </a:rPr>
              <a:t>• ordered Li (vacancy 없음)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맑은 고딕"/>
              </a:rPr>
              <a:t>• Cl 전부 4a 자리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맑은 고딕"/>
              </a:rPr>
              <a:t>• free S²⁻ 4d 자리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맑은 고딕"/>
              </a:rPr>
              <a:t>• 단일 환경 (모든 P, Cl equivalent)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394960"/>
            <a:ext cx="50292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맑은 고딕"/>
              </a:rPr>
              <a:t>V₀ = 1016.62 Å³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280160"/>
            <a:ext cx="5303520" cy="4754880"/>
          </a:xfrm>
          <a:prstGeom prst="rect">
            <a:avLst/>
          </a:prstGeom>
          <a:solidFill>
            <a:srgbClr val="FBE4E7"/>
          </a:solidFill>
          <a:ln w="1905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417320"/>
            <a:ext cx="50292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200" b="1">
                <a:solidFill>
                  <a:srgbClr val="C8102E"/>
                </a:solidFill>
                <a:latin typeface="맑은 고딕"/>
              </a:rPr>
              <a:t>LPSCl₁.₆ (modelc)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874519"/>
            <a:ext cx="50292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맑은 고딕"/>
              </a:rPr>
              <a:t>Li₅.₄PS₄.₄Cl₁.₆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377440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맑은 고딕"/>
              </a:rPr>
              <a:t>rhombohedral R3m · 5 f.u. · 62 atoms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017520"/>
            <a:ext cx="5029200" cy="2560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맑은 고딕"/>
              </a:rPr>
              <a:t>• Li 공공 0.6 / f.u. (vacancy)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맑은 고딕"/>
              </a:rPr>
              <a:t>• Cl 4a + 4d anti-site (AS)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맑은 고딕"/>
              </a:rPr>
              <a:t>• 4d 자리: S²⁻ + Cl 혼합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맑은 고딕"/>
              </a:rPr>
              <a:t>• 두 disorder source 공존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5394960"/>
            <a:ext cx="50292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맑은 고딕"/>
              </a:rPr>
              <a:t>V₀ = 1216.44 Å³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003876"/>
                </a:solidFill>
                <a:latin typeface="맑은 고딕"/>
              </a:rPr>
              <a:t>→ 동일 protocol · 동일 §8 multi-probe로 paired 비교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LPSCl ↔ LPSCl₁.₆ — Paper #1 Preview · Yonghoon Kim · 2026.06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맑은 고딕"/>
              </a:rPr>
              <a:t>2 / 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33895" y="27432"/>
            <a:ext cx="5120640" cy="274320"/>
          </a:xfrm>
          <a:prstGeom prst="roundRect">
            <a:avLst/>
          </a:prstGeom>
          <a:solidFill>
            <a:srgbClr val="FFF19A"/>
          </a:solidFill>
          <a:ln w="12700">
            <a:solidFill>
              <a:srgbClr val="C89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9144" bIns="9144"/>
          <a:lstStyle/>
          <a:p>
            <a:pPr algn="ctr"/>
            <a:r>
              <a:rPr sz="900" b="1">
                <a:solidFill>
                  <a:srgbClr val="664D00"/>
                </a:solidFill>
                <a:latin typeface="맑은 고딕"/>
              </a:rPr>
              <a:t>📎 사진 첨부: 결정구조 VESTA (F-43m vs R3m)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003876"/>
                </a:solidFill>
                <a:latin typeface="맑은 고딕"/>
              </a:rPr>
              <a:t>3. Pipeline: MLIP screen → DFT confirm → multi-probe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0000"/>
          </a:xfrm>
          <a:prstGeom prst="rect">
            <a:avLst/>
          </a:prstGeom>
          <a:solidFill>
            <a:srgbClr val="003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1508760"/>
          </a:xfrm>
          <a:prstGeom prst="rect">
            <a:avLst/>
          </a:prstGeom>
          <a:solidFill>
            <a:srgbClr val="E6EEF7"/>
          </a:solidFill>
          <a:ln w="6350">
            <a:solidFill>
              <a:srgbClr val="0038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7772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003876"/>
                </a:solidFill>
                <a:latin typeface="맑은 고딕"/>
              </a:rPr>
              <a:t>Tier 1 · MLIP screening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325880"/>
            <a:ext cx="1828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hours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515600" cy="1005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• Halogen enumerate (45 configs)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• Li sublattice screen (top-5 × 20)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• 500 K Langevin anneal → champion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• MLIP EOS pre-scan → V₀ 범위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  UMA-s-1p1 (omat)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926080"/>
            <a:ext cx="10698480" cy="1508760"/>
          </a:xfrm>
          <a:prstGeom prst="rect">
            <a:avLst/>
          </a:prstGeom>
          <a:solidFill>
            <a:srgbClr val="CDDCEE"/>
          </a:solidFill>
          <a:ln w="6350">
            <a:solidFill>
              <a:srgbClr val="0038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7772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003876"/>
                </a:solidFill>
                <a:latin typeface="맑은 고딕"/>
              </a:rPr>
              <a:t>Tier 2 · DFT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3017520"/>
            <a:ext cx="1828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3280"/>
            <a:ext cx="10515600" cy="1005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• BM3 EOS 11 volumes (V/V₀ 0.96–1.06)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• V₀ confirmation BFGS, force &lt;5e-3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• k-mesh 수렴 보장 (k×L ≥ 40 Å)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• V₀, B₀ paper-grade (&lt;1 GPa)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  PBE + USPP, ecut 60 / 480 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617720"/>
            <a:ext cx="10698480" cy="1508760"/>
          </a:xfrm>
          <a:prstGeom prst="rect">
            <a:avLst/>
          </a:prstGeom>
          <a:solidFill>
            <a:srgbClr val="A5C4E4"/>
          </a:solidFill>
          <a:ln w="6350">
            <a:solidFill>
              <a:srgbClr val="0038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709160"/>
            <a:ext cx="7772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003876"/>
                </a:solidFill>
                <a:latin typeface="맑은 고딕"/>
              </a:rPr>
              <a:t>Tier 3 · §8 multi-probe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4709160"/>
            <a:ext cx="1828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weeks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74920"/>
            <a:ext cx="10515600" cy="1005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• structure  bonds · Voronoi · BVSE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• electronic DOS · bands · ELF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• bonding    Bader · LOBSTER ICOHP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• transport  AIMD 600/800/1000 K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• mechanical stress-strain Cij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003876"/>
                </a:solidFill>
                <a:latin typeface="맑은 고딕"/>
              </a:rPr>
              <a:t>→ 4500 MLIP configs screened · 1 champion DFT-validated · 13 paper-grade probes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LPSCl ↔ LPSCl₁.₆ — Paper #1 Preview · Yonghoon Kim · 2026.06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맑은 고딕"/>
              </a:rPr>
              <a:t>3 / 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33895" y="27432"/>
            <a:ext cx="5120640" cy="274320"/>
          </a:xfrm>
          <a:prstGeom prst="roundRect">
            <a:avLst/>
          </a:prstGeom>
          <a:solidFill>
            <a:srgbClr val="FFF19A"/>
          </a:solidFill>
          <a:ln w="12700">
            <a:solidFill>
              <a:srgbClr val="C89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9144" bIns="9144"/>
          <a:lstStyle/>
          <a:p>
            <a:pPr algn="ctr"/>
            <a:r>
              <a:rPr sz="900" b="1">
                <a:solidFill>
                  <a:srgbClr val="664D00"/>
                </a:solidFill>
                <a:latin typeface="맑은 고딕"/>
              </a:rPr>
              <a:t>📎 사진 첨부: 3-tier pipeline 모식도 (선택)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003876"/>
                </a:solidFill>
                <a:latin typeface="맑은 고딕"/>
              </a:rPr>
              <a:t>4. Headline — 한 페이지로 보는 두 시스템 (paper-grade)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0000"/>
          </a:xfrm>
          <a:prstGeom prst="rect">
            <a:avLst/>
          </a:prstGeom>
          <a:solidFill>
            <a:srgbClr val="003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280160"/>
          <a:ext cx="108813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429768">
                <a:tc>
                  <a:txBody>
                    <a:bodyPr lIns="54864" rIns="54864" tIns="18288" bIns="18288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LPSCl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LPSCl₁.₆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메시지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</a:tr>
              <a:tr h="429768">
                <a:tc>
                  <a:txBody>
                    <a:bodyPr lIns="54864" rIns="54864" tIns="18288" bIns="18288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밴드갭 (eV)</a:t>
                      </a:r>
                    </a:p>
                  </a:txBody>
                  <a:tcPr>
                    <a:solidFill>
                      <a:srgbClr val="E6EEF7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1.76</a:t>
                      </a:r>
                    </a:p>
                  </a:txBody>
                  <a:tcPr>
                    <a:solidFill>
                      <a:srgbClr val="E6EEF7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1.82</a:t>
                      </a:r>
                    </a:p>
                  </a:txBody>
                  <a:tcPr>
                    <a:solidFill>
                      <a:srgbClr val="E6EEF7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맑은 고딕"/>
                        </a:rPr>
                        <a:t>거의 동일  ★ M1</a:t>
                      </a:r>
                    </a:p>
                  </a:txBody>
                  <a:tcPr>
                    <a:solidFill>
                      <a:srgbClr val="E6EEF7"/>
                    </a:solidFill>
                  </a:tcPr>
                </a:tc>
              </a:tr>
              <a:tr h="429768">
                <a:tc>
                  <a:txBody>
                    <a:bodyPr lIns="54864" rIns="54864" tIns="18288" bIns="18288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AIMD Ea (eV) ⁴ᶠᵘ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0.253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0.224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modelc 낮음 (Cl-rich Ea↓)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lIns="54864" rIns="54864" tIns="18288" bIns="18288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D(600 K) cm²/s</a:t>
                      </a:r>
                    </a:p>
                  </a:txBody>
                  <a:tcPr>
                    <a:solidFill>
                      <a:srgbClr val="E6F4E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3.09e-6</a:t>
                      </a:r>
                    </a:p>
                  </a:txBody>
                  <a:tcPr>
                    <a:solidFill>
                      <a:srgbClr val="E6F4E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7.90e-6</a:t>
                      </a:r>
                    </a:p>
                  </a:txBody>
                  <a:tcPr>
                    <a:solidFill>
                      <a:srgbClr val="E6F4E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맑은 고딕"/>
                        </a:rPr>
                        <a:t>modelc 2.5× 빠름  ★ M2</a:t>
                      </a:r>
                    </a:p>
                  </a:txBody>
                  <a:tcPr>
                    <a:solidFill>
                      <a:srgbClr val="E6F4E6"/>
                    </a:solidFill>
                  </a:tcPr>
                </a:tc>
              </a:tr>
              <a:tr h="429768">
                <a:tc>
                  <a:txBody>
                    <a:bodyPr lIns="54864" rIns="54864" tIns="18288" bIns="18288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D₀ prefactor</a:t>
                      </a:r>
                    </a:p>
                  </a:txBody>
                  <a:tcPr>
                    <a:solidFill>
                      <a:srgbClr val="E6F4E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4.11e-4</a:t>
                      </a:r>
                    </a:p>
                  </a:txBody>
                  <a:tcPr>
                    <a:solidFill>
                      <a:srgbClr val="E6F4E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5.8e-4</a:t>
                      </a:r>
                    </a:p>
                  </a:txBody>
                  <a:tcPr>
                    <a:solidFill>
                      <a:srgbClr val="E6F4E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맑은 고딕"/>
                        </a:rPr>
                        <a:t>modelc 1.4× — vacancy carrier</a:t>
                      </a:r>
                    </a:p>
                  </a:txBody>
                  <a:tcPr>
                    <a:solidFill>
                      <a:srgbClr val="E6F4E6"/>
                    </a:solidFill>
                  </a:tcPr>
                </a:tc>
              </a:tr>
              <a:tr h="429768">
                <a:tc>
                  <a:txBody>
                    <a:bodyPr lIns="54864" rIns="54864" tIns="18288" bIns="18288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ICOHP Li–Cl (eV)</a:t>
                      </a:r>
                    </a:p>
                  </a:txBody>
                  <a:tcPr>
                    <a:solidFill>
                      <a:srgbClr val="FDF0E0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−1.86</a:t>
                      </a:r>
                    </a:p>
                  </a:txBody>
                  <a:tcPr>
                    <a:solidFill>
                      <a:srgbClr val="FDF0E0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−2.10</a:t>
                      </a:r>
                    </a:p>
                  </a:txBody>
                  <a:tcPr>
                    <a:solidFill>
                      <a:srgbClr val="FDF0E0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맑은 고딕"/>
                        </a:rPr>
                        <a:t>+13% 강화  ★ M3</a:t>
                      </a:r>
                    </a:p>
                  </a:txBody>
                  <a:tcPr>
                    <a:solidFill>
                      <a:srgbClr val="FDF0E0"/>
                    </a:solidFill>
                  </a:tcPr>
                </a:tc>
              </a:tr>
              <a:tr h="429768">
                <a:tc>
                  <a:txBody>
                    <a:bodyPr lIns="54864" rIns="54864" tIns="18288" bIns="18288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Bader Li (e)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+0.874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+0.882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거의 동일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lIns="54864" rIns="54864" tIns="18288" bIns="18288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E_VRH relaxed-ion (GPa)</a:t>
                      </a:r>
                    </a:p>
                  </a:txBody>
                  <a:tcPr>
                    <a:solidFill>
                      <a:srgbClr val="FBE4E7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22.06</a:t>
                      </a:r>
                    </a:p>
                  </a:txBody>
                  <a:tcPr>
                    <a:solidFill>
                      <a:srgbClr val="FBE4E7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27.66</a:t>
                      </a:r>
                    </a:p>
                  </a:txBody>
                  <a:tcPr>
                    <a:solidFill>
                      <a:srgbClr val="FBE4E7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맑은 고딕"/>
                        </a:rPr>
                        <a:t>+25.4% 단단  ★ M4</a:t>
                      </a:r>
                    </a:p>
                  </a:txBody>
                  <a:tcPr>
                    <a:solidFill>
                      <a:srgbClr val="FBE4E7"/>
                    </a:solidFill>
                  </a:tcPr>
                </a:tc>
              </a:tr>
              <a:tr h="429768">
                <a:tc>
                  <a:txBody>
                    <a:bodyPr lIns="54864" rIns="54864" tIns="18288" bIns="18288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B₀ (BM-EOS, GPa)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26.23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21.71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hydrostatic 반대 (vacancy soft)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lIns="54864" rIns="54864" tIns="18288" bIns="18288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Zener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1.14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1.44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비등방성 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003876"/>
                </a:solidFill>
                <a:latin typeface="맑은 고딕"/>
              </a:rPr>
              <a:t>→ 4 messages = 전자구조 둔감 · σ는 dual mechanism · ionic glue 강화 · vacancy paradox 해소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900" b="0">
                <a:solidFill>
                  <a:srgbClr val="666666"/>
                </a:solidFill>
                <a:latin typeface="맑은 고딕"/>
              </a:rPr>
              <a:t>⁴ᶠᵘ comp1 4 f.u. natural cubic (2026-06-11 갱신) — Schlem 2020 LPSCl 0.25 eV EXACT 매칭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LPSCl ↔ LPSCl₁.₆ — Paper #1 Preview · Yonghoon Kim · 2026.06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맑은 고딕"/>
              </a:rPr>
              <a:t>4 / 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33895" y="27432"/>
            <a:ext cx="5120640" cy="274320"/>
          </a:xfrm>
          <a:prstGeom prst="roundRect">
            <a:avLst/>
          </a:prstGeom>
          <a:solidFill>
            <a:srgbClr val="FFF19A"/>
          </a:solidFill>
          <a:ln w="12700">
            <a:solidFill>
              <a:srgbClr val="C89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9144" bIns="9144"/>
          <a:lstStyle/>
          <a:p>
            <a:pPr algn="ctr"/>
            <a:r>
              <a:rPr sz="900" b="1">
                <a:solidFill>
                  <a:srgbClr val="664D00"/>
                </a:solidFill>
                <a:latin typeface="맑은 고딕"/>
              </a:rPr>
              <a:t>📎 사진 첨부: 4-message at-a-glance figure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003876"/>
                </a:solidFill>
                <a:latin typeface="맑은 고딕"/>
              </a:rPr>
              <a:t>5. M1: 전자구조는 두 시스템에서 거의 동일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0000"/>
          </a:xfrm>
          <a:prstGeom prst="rect">
            <a:avLst/>
          </a:prstGeom>
          <a:solidFill>
            <a:srgbClr val="003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486400" cy="4114800"/>
          </a:xfrm>
          <a:prstGeom prst="rect">
            <a:avLst/>
          </a:prstGeom>
          <a:solidFill>
            <a:srgbClr val="E8E8E8"/>
          </a:solidFill>
          <a:ln w="63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54864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400" b="0">
                <a:solidFill>
                  <a:srgbClr val="666666"/>
                </a:solidFill>
                <a:latin typeface="맑은 고딕"/>
              </a:rPr>
              <a:t>[ DOS overlay plot ]</a:t>
            </a:r>
          </a:p>
          <a:p>
            <a:pPr algn="ctr"/>
            <a:r>
              <a:rPr sz="1400" b="0">
                <a:solidFill>
                  <a:srgbClr val="666666"/>
                </a:solidFill>
                <a:latin typeface="맑은 고딕"/>
              </a:rPr>
              <a:t>(comp1 파랑 / modelc 빨강)</a:t>
            </a:r>
          </a:p>
          <a:p>
            <a:pPr algn="ctr"/>
            <a:r>
              <a:rPr sz="1400" b="0">
                <a:solidFill>
                  <a:srgbClr val="666666"/>
                </a:solidFill>
                <a:latin typeface="맑은 고딕"/>
              </a:rPr>
              <a:t>E − EF 기준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26480" y="1280160"/>
          <a:ext cx="56692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411480"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LPSCl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LPSCl₁.₆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</a:tr>
              <a:tr h="411480"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gap (eV)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1.76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1.82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Δgap (eV)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+0.06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EF (eV)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2.82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2.45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VBM peak (eV)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1.64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1.84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CBM peak (eV)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5.44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5.72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VBM character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S 3p 91% + Li p 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S 3p 92% + Li p 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CBM character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S p + P s + Li 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동일 패턴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26480" y="4709160"/>
            <a:ext cx="566928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맑은 고딕"/>
              </a:rPr>
              <a:t>• 갭 차이 Δ = 0.06 eV (작음)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맑은 고딕"/>
              </a:rPr>
              <a:t>• VBM/CBM 궤도 character 거의 동일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맑은 고딕"/>
              </a:rPr>
              <a:t>• 작은 차이로는 σ 3× · E 25% 못 설명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6400"/>
            <a:ext cx="1124712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</a:rPr>
              <a:t>※ modelc EF(2.45) &lt; VBM(2.72): 국소 defect-band 0.74 states</a:t>
            </a:r>
          </a:p>
          <a:p>
            <a:pPr algn="l"/>
            <a:r>
              <a:rPr sz="1000" b="0">
                <a:solidFill>
                  <a:srgbClr val="666666"/>
                </a:solidFill>
                <a:latin typeface="맑은 고딕"/>
              </a:rPr>
              <a:t>  (comp1 동일 구간 0.037, 20× 적음) — vacancy + 4d-Cl AS의 전자적 흔적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LPSCl ↔ LPSCl₁.₆ — Paper #1 Preview · Yonghoon Kim · 2026.06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맑은 고딕"/>
              </a:rPr>
              <a:t>5 / 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33895" y="27432"/>
            <a:ext cx="5120640" cy="274320"/>
          </a:xfrm>
          <a:prstGeom prst="roundRect">
            <a:avLst/>
          </a:prstGeom>
          <a:solidFill>
            <a:srgbClr val="FFF19A"/>
          </a:solidFill>
          <a:ln w="12700">
            <a:solidFill>
              <a:srgbClr val="C89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9144" bIns="9144"/>
          <a:lstStyle/>
          <a:p>
            <a:pPr algn="ctr"/>
            <a:r>
              <a:rPr sz="900" b="1">
                <a:solidFill>
                  <a:srgbClr val="664D00"/>
                </a:solidFill>
                <a:latin typeface="맑은 고딕"/>
              </a:rPr>
              <a:t>📎 사진 첨부: PDOS overlay (comp1 vs modelc)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003876"/>
                </a:solidFill>
                <a:latin typeface="맑은 고딕"/>
              </a:rPr>
              <a:t>6. M2: σ 차이 = barrier ↓ + prefactor ↑ 둘 다 작용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0000"/>
          </a:xfrm>
          <a:prstGeom prst="rect">
            <a:avLst/>
          </a:prstGeom>
          <a:solidFill>
            <a:srgbClr val="003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029200" cy="4114800"/>
          </a:xfrm>
          <a:prstGeom prst="rect">
            <a:avLst/>
          </a:prstGeom>
          <a:solidFill>
            <a:srgbClr val="E8E8E8"/>
          </a:solidFill>
          <a:ln w="63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50292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400" b="0">
                <a:solidFill>
                  <a:srgbClr val="666666"/>
                </a:solidFill>
                <a:latin typeface="맑은 고딕"/>
              </a:rPr>
              <a:t>[ Arrhenius plot ]</a:t>
            </a:r>
          </a:p>
          <a:p>
            <a:pPr algn="ctr"/>
            <a:r>
              <a:rPr sz="1400" b="0">
                <a:solidFill>
                  <a:srgbClr val="666666"/>
                </a:solidFill>
                <a:latin typeface="맑은 고딕"/>
              </a:rPr>
              <a:t>ln D vs 1000/T</a:t>
            </a:r>
          </a:p>
          <a:p>
            <a:pPr algn="ctr"/>
            <a:r>
              <a:rPr sz="1400" b="0">
                <a:solidFill>
                  <a:srgbClr val="666666"/>
                </a:solidFill>
                <a:latin typeface="맑은 고딕"/>
              </a:rPr>
              <a:t>(comp1 vs modelc, 3 points)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760720" y="1280160"/>
          <a:ext cx="61264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2160"/>
                <a:gridCol w="2042160"/>
                <a:gridCol w="2042160"/>
              </a:tblGrid>
              <a:tr h="457200"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T (K)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LPSCl 4fu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LPSCl₁.₆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</a:tr>
              <a:tr h="457200"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3.09e-6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7.90e-6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1.03e-5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2.05e-5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1000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2.20e-5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4.55e-5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맑은 고딕"/>
                        </a:rPr>
                        <a:t>Ea (eV) ★</a:t>
                      </a:r>
                    </a:p>
                  </a:txBody>
                  <a:tcPr>
                    <a:solidFill>
                      <a:srgbClr val="E6F4E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0.253</a:t>
                      </a:r>
                    </a:p>
                  </a:txBody>
                  <a:tcPr>
                    <a:solidFill>
                      <a:srgbClr val="E6F4E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맑은 고딕"/>
                        </a:rPr>
                        <a:t>0.224</a:t>
                      </a:r>
                    </a:p>
                  </a:txBody>
                  <a:tcPr>
                    <a:solidFill>
                      <a:srgbClr val="E6F4E6"/>
                    </a:solidFill>
                  </a:tcPr>
                </a:tc>
              </a:tr>
              <a:tr h="457200"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D₀ (cm²/s)</a:t>
                      </a:r>
                    </a:p>
                  </a:txBody>
                  <a:tcPr>
                    <a:solidFill>
                      <a:srgbClr val="E6F4E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4.11e-4</a:t>
                      </a:r>
                    </a:p>
                  </a:txBody>
                  <a:tcPr>
                    <a:solidFill>
                      <a:srgbClr val="E6F4E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맑은 고딕"/>
                        </a:rPr>
                        <a:t>5.8e-4</a:t>
                      </a:r>
                    </a:p>
                  </a:txBody>
                  <a:tcPr>
                    <a:solidFill>
                      <a:srgbClr val="E6F4E6"/>
                    </a:solidFill>
                  </a:tcPr>
                </a:tc>
              </a:tr>
              <a:tr h="457200"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R²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0.9998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0.992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Schlem 2020 exp.</a:t>
                      </a:r>
                    </a:p>
                  </a:txBody>
                  <a:tcPr>
                    <a:solidFill>
                      <a:srgbClr val="E6EEF7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0.25 ✓</a:t>
                      </a:r>
                    </a:p>
                  </a:txBody>
                  <a:tcPr>
                    <a:solidFill>
                      <a:srgbClr val="E6EEF7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맑은 고딕"/>
                        </a:rPr>
                        <a:t>0.22 ✓</a:t>
                      </a:r>
                    </a:p>
                  </a:txBody>
                  <a:tcPr>
                    <a:solidFill>
                      <a:srgbClr val="E6EEF7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486400"/>
            <a:ext cx="11430000" cy="914400"/>
          </a:xfrm>
          <a:prstGeom prst="rect">
            <a:avLst/>
          </a:prstGeom>
          <a:solidFill>
            <a:srgbClr val="E6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532120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003876"/>
                </a:solidFill>
                <a:latin typeface="맑은 고딕"/>
              </a:rPr>
              <a:t>σ(modelc) / σ(comp1) = 2.5× at 600 K  =  Ea 효과 1.75×  ×  D₀ 효과 1.41×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맑은 고딕"/>
              </a:rPr>
              <a:t>→ Cl-rich가 lower Ea (Minafra direction) + higher D₀ (vacancy carrier) 둘 다 작용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LPSCl ↔ LPSCl₁.₆ — Paper #1 Preview · Yonghoon Kim · 2026.06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맑은 고딕"/>
              </a:rPr>
              <a:t>6 / 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33895" y="27432"/>
            <a:ext cx="5120640" cy="274320"/>
          </a:xfrm>
          <a:prstGeom prst="roundRect">
            <a:avLst/>
          </a:prstGeom>
          <a:solidFill>
            <a:srgbClr val="FFF19A"/>
          </a:solidFill>
          <a:ln w="12700">
            <a:solidFill>
              <a:srgbClr val="C89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9144" bIns="9144"/>
          <a:lstStyle/>
          <a:p>
            <a:pPr algn="ctr"/>
            <a:r>
              <a:rPr sz="900" b="1">
                <a:solidFill>
                  <a:srgbClr val="664D00"/>
                </a:solidFill>
                <a:latin typeface="맑은 고딕"/>
              </a:rPr>
              <a:t>📎 사진 첨부: σ(T) Arrhenius plot (3점 paired)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003876"/>
                </a:solidFill>
                <a:latin typeface="맑은 고딕"/>
              </a:rPr>
              <a:t>6a. 왜 carrier가 이기는가 — 두 효과의 경쟁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0000"/>
          </a:xfrm>
          <a:prstGeom prst="rect">
            <a:avLst/>
          </a:prstGeom>
          <a:solidFill>
            <a:srgbClr val="003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029200" cy="3657600"/>
          </a:xfrm>
          <a:prstGeom prst="rect">
            <a:avLst/>
          </a:prstGeom>
          <a:solidFill>
            <a:srgbClr val="E6EEF7"/>
          </a:solidFill>
          <a:ln w="12700">
            <a:solidFill>
              <a:srgbClr val="0038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47548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003876"/>
                </a:solidFill>
                <a:latin typeface="맑은 고딕"/>
              </a:rPr>
              <a:t>LPSCl (ordered)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4754880" cy="2468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맑은 고딕"/>
              </a:rPr>
              <a:t>● ● ● ● ● ●  ← Li 가득 참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맑은 고딕"/>
              </a:rPr>
              <a:t/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맑은 고딕"/>
              </a:rPr>
              <a:t>Li hopping 위해서는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맑은 고딕"/>
              </a:rPr>
              <a:t>옆자리 비기를 '대기'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맑은 고딕"/>
              </a:rPr>
              <a:t/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맑은 고딕"/>
              </a:rPr>
              <a:t>→ carrier 부족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280160"/>
            <a:ext cx="5029200" cy="3657600"/>
          </a:xfrm>
          <a:prstGeom prst="rect">
            <a:avLst/>
          </a:prstGeom>
          <a:solidFill>
            <a:srgbClr val="FBE4E7"/>
          </a:solidFill>
          <a:ln w="1270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417320"/>
            <a:ext cx="47548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C8102E"/>
                </a:solidFill>
                <a:latin typeface="맑은 고딕"/>
              </a:rPr>
              <a:t>LPSCl₁.₆ (vacancy + AS)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920240"/>
            <a:ext cx="4754880" cy="2468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맑은 고딕"/>
              </a:rPr>
              <a:t>● ● ○ ● ● ○  ← 공공 ○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맑은 고딕"/>
              </a:rPr>
              <a:t/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맑은 고딕"/>
              </a:rPr>
              <a:t>빈자리 항상 근처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맑은 고딕"/>
              </a:rPr>
              <a:t>→ 즉시 hopping 가능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맑은 고딕"/>
              </a:rPr>
              <a:t/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맑은 고딕"/>
              </a:rPr>
              <a:t>→ ~8× 많은 path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212080"/>
            <a:ext cx="10698480" cy="914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349240"/>
            <a:ext cx="106984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800" b="1">
                <a:solidFill>
                  <a:srgbClr val="003876"/>
                </a:solidFill>
                <a:latin typeface="맑은 고딕"/>
              </a:rPr>
              <a:t>D = D₀ · exp(−Ea/kT)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맑은 고딕"/>
              </a:rPr>
              <a:t>↑ 1.4× (vacancy carrier)        ↑ 1.75× at 600K (Cl-rich barrier ↓)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LPSCl ↔ LPSCl₁.₆ — Paper #1 Preview · Yonghoon Kim · 2026.06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맑은 고딕"/>
              </a:rPr>
              <a:t>7 / 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33895" y="27432"/>
            <a:ext cx="5120640" cy="274320"/>
          </a:xfrm>
          <a:prstGeom prst="roundRect">
            <a:avLst/>
          </a:prstGeom>
          <a:solidFill>
            <a:srgbClr val="FFF19A"/>
          </a:solidFill>
          <a:ln w="12700">
            <a:solidFill>
              <a:srgbClr val="C89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9144" bIns="9144"/>
          <a:lstStyle/>
          <a:p>
            <a:pPr algn="ctr"/>
            <a:r>
              <a:rPr sz="900" b="1">
                <a:solidFill>
                  <a:srgbClr val="664D00"/>
                </a:solidFill>
                <a:latin typeface="맑은 고딕"/>
              </a:rPr>
              <a:t>📎 사진 첨부: D₀ vs Eₐ 산점도 / prefactor 막대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003876"/>
                </a:solidFill>
                <a:latin typeface="맑은 고딕"/>
              </a:rPr>
              <a:t>6b. Disorder Ensemble — matched-d에서 Ea 동일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0000"/>
          </a:xfrm>
          <a:prstGeom prst="rect">
            <a:avLst/>
          </a:prstGeom>
          <a:solidFill>
            <a:srgbClr val="003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6984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502920">
                <a:tc>
                  <a:txBody>
                    <a:bodyPr lIns="54864" rIns="54864" tIns="18288" bIns="18288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Ea (eV)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LPSCl (4 f.u.)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LPSCl₁.₆ (5 f.u.)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</a:tr>
              <a:tr h="502920">
                <a:tc>
                  <a:txBody>
                    <a:bodyPr lIns="54864" rIns="54864" tIns="18288" bIns="18288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clean (d=0)</a:t>
                      </a:r>
                    </a:p>
                  </a:txBody>
                  <a:tcPr>
                    <a:solidFill>
                      <a:srgbClr val="E6EEF7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맑은 고딕"/>
                        </a:rPr>
                        <a:t>0.253 (★ Schlem)</a:t>
                      </a:r>
                    </a:p>
                  </a:txBody>
                  <a:tcPr>
                    <a:solidFill>
                      <a:srgbClr val="E6EEF7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맑은 고딕"/>
                        </a:rPr>
                        <a:t>0.224 (★ Schlem)</a:t>
                      </a:r>
                    </a:p>
                  </a:txBody>
                  <a:tcPr>
                    <a:solidFill>
                      <a:srgbClr val="E6EEF7"/>
                    </a:solidFill>
                  </a:tcPr>
                </a:tc>
              </a:tr>
              <a:tr h="502920">
                <a:tc>
                  <a:txBody>
                    <a:bodyPr lIns="54864" rIns="54864" tIns="18288" bIns="18288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disordered (d≈0.4–0.5, n=3)</a:t>
                      </a:r>
                    </a:p>
                  </a:txBody>
                  <a:tcPr>
                    <a:solidFill>
                      <a:srgbClr val="E6F4E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0.177 ± 0.027</a:t>
                      </a:r>
                    </a:p>
                  </a:txBody>
                  <a:tcPr>
                    <a:solidFill>
                      <a:srgbClr val="E6F4E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맑은 고딕"/>
                        </a:rPr>
                        <a:t>0.173 ± 0.039</a:t>
                      </a:r>
                    </a:p>
                  </a:txBody>
                  <a:tcPr>
                    <a:solidFill>
                      <a:srgbClr val="E6F4E6"/>
                    </a:solidFill>
                  </a:tcPr>
                </a:tc>
              </a:tr>
              <a:tr h="502920">
                <a:tc>
                  <a:txBody>
                    <a:bodyPr lIns="54864" rIns="54864" tIns="18288" bIns="18288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← matched disorder Ea 동일 (Δ4 meV)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657600"/>
            <a:ext cx="10698480" cy="2286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맑은 고딕"/>
              </a:rPr>
              <a:t>• 4 f.u. clean (Schlem 정확 매칭) → Cl-rich가 본질적으로 lower Ea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맑은 고딕"/>
              </a:rPr>
              <a:t>• matched disorder에서 두 시스템 Ea 동일 (~0.18 eV)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맑은 고딕"/>
              </a:rPr>
              <a:t>• 추가 disorder 주입 시 Ea가 더 떨어짐 (Minafra/Kraft mechanism 확인)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맑은 고딕"/>
              </a:rPr>
              <a:t>• σ 3× 차이의 출처: D₀ (vacancy carrier) + Ea (disorder-induced 평탄화)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</a:rPr>
              <a:t>※ d=0.0 ordered LPSCl는 실험·우리 모두 disorder 일부 포함 (ball-milled),</a:t>
            </a:r>
          </a:p>
          <a:p>
            <a:pPr algn="l"/>
            <a:r>
              <a:rPr sz="1000" b="0">
                <a:solidFill>
                  <a:srgbClr val="666666"/>
                </a:solidFill>
                <a:latin typeface="맑은 고딕"/>
              </a:rPr>
              <a:t>  pure ordered limit (1.17 eV)는 kinetically inaccessible artifact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LPSCl ↔ LPSCl₁.₆ — Paper #1 Preview · Yonghoon Kim · 2026.06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맑은 고딕"/>
              </a:rPr>
              <a:t>8 / 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33895" y="27432"/>
            <a:ext cx="5120640" cy="274320"/>
          </a:xfrm>
          <a:prstGeom prst="roundRect">
            <a:avLst/>
          </a:prstGeom>
          <a:solidFill>
            <a:srgbClr val="FFF19A"/>
          </a:solidFill>
          <a:ln w="12700">
            <a:solidFill>
              <a:srgbClr val="C89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9144" bIns="9144"/>
          <a:lstStyle/>
          <a:p>
            <a:pPr algn="ctr"/>
            <a:r>
              <a:rPr sz="900" b="1">
                <a:solidFill>
                  <a:srgbClr val="664D00"/>
                </a:solidFill>
                <a:latin typeface="맑은 고딕"/>
              </a:rPr>
              <a:t>📎 사진 첨부: Disorder ensemble Eₐ 분포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003876"/>
                </a:solidFill>
                <a:latin typeface="맑은 고딕"/>
              </a:rPr>
              <a:t>6c. 저온 특성 — modelc wins at ALL T, no trade-off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0000"/>
          </a:xfrm>
          <a:prstGeom prst="rect">
            <a:avLst/>
          </a:prstGeom>
          <a:solidFill>
            <a:srgbClr val="003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69848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422910"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T (K)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Ea contrib.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D₀ contrib.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σ_ratio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</a:tr>
              <a:tr h="422910"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1000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1.40×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1.41×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1.97×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측정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1.51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1.41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2.12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측정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600</a:t>
                      </a:r>
                    </a:p>
                  </a:txBody>
                  <a:tcPr>
                    <a:solidFill>
                      <a:srgbClr val="E6F4E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1.75</a:t>
                      </a:r>
                    </a:p>
                  </a:txBody>
                  <a:tcPr>
                    <a:solidFill>
                      <a:srgbClr val="E6F4E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1.41</a:t>
                      </a:r>
                    </a:p>
                  </a:txBody>
                  <a:tcPr>
                    <a:solidFill>
                      <a:srgbClr val="E6F4E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2.47</a:t>
                      </a:r>
                    </a:p>
                  </a:txBody>
                  <a:tcPr>
                    <a:solidFill>
                      <a:srgbClr val="E6F4E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맑은 고딕"/>
                        </a:rPr>
                        <a:t>측정값 2.5× ✓</a:t>
                      </a:r>
                    </a:p>
                  </a:txBody>
                  <a:tcPr>
                    <a:solidFill>
                      <a:srgbClr val="E6F4E6"/>
                    </a:solidFill>
                  </a:tcPr>
                </a:tc>
              </a:tr>
              <a:tr h="422910"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1.97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1.41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2.78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외삽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2.36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1.41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3.33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외삽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300 (RT)</a:t>
                      </a:r>
                    </a:p>
                  </a:txBody>
                  <a:tcPr>
                    <a:solidFill>
                      <a:srgbClr val="FBE4E7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3.07</a:t>
                      </a:r>
                    </a:p>
                  </a:txBody>
                  <a:tcPr>
                    <a:solidFill>
                      <a:srgbClr val="FBE4E7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1.41</a:t>
                      </a:r>
                    </a:p>
                  </a:txBody>
                  <a:tcPr>
                    <a:solidFill>
                      <a:srgbClr val="FBE4E7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맑은 고딕"/>
                        </a:rPr>
                        <a:t>4.33  ★</a:t>
                      </a:r>
                    </a:p>
                  </a:txBody>
                  <a:tcPr>
                    <a:solidFill>
                      <a:srgbClr val="FBE4E7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맑은 고딕"/>
                        </a:rPr>
                        <a:t>외삽 (Zuo 2.4× cf)</a:t>
                      </a:r>
                    </a:p>
                  </a:txBody>
                  <a:tcPr>
                    <a:solidFill>
                      <a:srgbClr val="FBE4E7"/>
                    </a:solidFill>
                  </a:tcPr>
                </a:tc>
              </a:tr>
              <a:tr h="422910"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4.94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1.41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6.96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외삽 (불확실)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846320"/>
            <a:ext cx="10698480" cy="1371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• T_cross 없음 — Ea와 D₀ 둘 다 modelc 우세 같은 방향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• 저온일수록 σ ratio ↑ (Arrhenius)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• Zuo 2023 RT 측정 2.4× ↔ 우리 외삽 4.3× — 자릿수 정합 ±30%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• 'vacancy 양날' framing (v2 5fu 기반) 무효 — Cl-rich 저온도 우위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LPSCl ↔ LPSCl₁.₆ — Paper #1 Preview · Yonghoon Kim · 2026.06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맑은 고딕"/>
              </a:rPr>
              <a:t>9 / 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33895" y="27432"/>
            <a:ext cx="5120640" cy="274320"/>
          </a:xfrm>
          <a:prstGeom prst="roundRect">
            <a:avLst/>
          </a:prstGeom>
          <a:solidFill>
            <a:srgbClr val="FFF19A"/>
          </a:solidFill>
          <a:ln w="12700">
            <a:solidFill>
              <a:srgbClr val="C89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9144" bIns="9144"/>
          <a:lstStyle/>
          <a:p>
            <a:pPr algn="ctr"/>
            <a:r>
              <a:rPr sz="900" b="1">
                <a:solidFill>
                  <a:srgbClr val="664D00"/>
                </a:solidFill>
                <a:latin typeface="맑은 고딕"/>
              </a:rPr>
              <a:t>📎 사진 첨부: σ(T) 저온 외삽 plot (300 K)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003876"/>
                </a:solidFill>
                <a:latin typeface="맑은 고딕"/>
              </a:rPr>
              <a:t>7. M3: Li–anion ionic glue가 LPSCl₁.₆에서 강해진다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0000"/>
          </a:xfrm>
          <a:prstGeom prst="rect">
            <a:avLst/>
          </a:prstGeom>
          <a:solidFill>
            <a:srgbClr val="003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57607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80"/>
                <a:gridCol w="1440180"/>
                <a:gridCol w="1440180"/>
                <a:gridCol w="1440180"/>
              </a:tblGrid>
              <a:tr h="420624"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결합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LPSCl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LPSCl₁.₆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Δ%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</a:tr>
              <a:tr h="420624"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P–S (PS₄ covalent)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−5.94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−6.00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+1% 불변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맑은 고딕"/>
                        </a:rPr>
                        <a:t>Li–Cl  ★</a:t>
                      </a:r>
                    </a:p>
                  </a:txBody>
                  <a:tcPr>
                    <a:solidFill>
                      <a:srgbClr val="FDF0E0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−1.86</a:t>
                      </a:r>
                    </a:p>
                  </a:txBody>
                  <a:tcPr>
                    <a:solidFill>
                      <a:srgbClr val="FDF0E0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−2.10</a:t>
                      </a:r>
                    </a:p>
                  </a:txBody>
                  <a:tcPr>
                    <a:solidFill>
                      <a:srgbClr val="FDF0E0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맑은 고딕"/>
                        </a:rPr>
                        <a:t>+13%</a:t>
                      </a:r>
                    </a:p>
                  </a:txBody>
                  <a:tcPr>
                    <a:solidFill>
                      <a:srgbClr val="FDF0E0"/>
                    </a:solidFill>
                  </a:tcPr>
                </a:tc>
              </a:tr>
              <a:tr h="420624"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맑은 고딕"/>
                        </a:rPr>
                        <a:t>Li–S  ★</a:t>
                      </a:r>
                    </a:p>
                  </a:txBody>
                  <a:tcPr>
                    <a:solidFill>
                      <a:srgbClr val="FDF0E0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−1.59</a:t>
                      </a:r>
                    </a:p>
                  </a:txBody>
                  <a:tcPr>
                    <a:solidFill>
                      <a:srgbClr val="FDF0E0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−1.72</a:t>
                      </a:r>
                    </a:p>
                  </a:txBody>
                  <a:tcPr>
                    <a:solidFill>
                      <a:srgbClr val="FDF0E0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맑은 고딕"/>
                        </a:rPr>
                        <a:t>+8%</a:t>
                      </a:r>
                    </a:p>
                  </a:txBody>
                  <a:tcPr>
                    <a:solidFill>
                      <a:srgbClr val="FDF0E0"/>
                    </a:solidFill>
                  </a:tcPr>
                </a:tc>
              </a:tr>
              <a:tr h="420624"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S–S (cage)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−0.11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−0.11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~0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92240" y="1280160"/>
          <a:ext cx="52120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737360"/>
                <a:gridCol w="1737360"/>
              </a:tblGrid>
              <a:tr h="525780">
                <a:tc>
                  <a:txBody>
                    <a:bodyPr lIns="54864" rIns="54864" tIns="18288" bIns="18288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Li–Cl 분해 단계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per-bond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범위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</a:tr>
              <a:tr h="525780"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comp1 baseline (전부 4a)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−1.855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Cl 전부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modelc 4a (+vacancy)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−2.026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Cl 90% (+9.2%)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modelc 4d AS (+anti-site)</a:t>
                      </a:r>
                    </a:p>
                  </a:txBody>
                  <a:tcPr>
                    <a:solidFill>
                      <a:srgbClr val="FDF0E0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−2.836  ★</a:t>
                      </a:r>
                    </a:p>
                  </a:txBody>
                  <a:tcPr>
                    <a:solidFill>
                      <a:srgbClr val="FDF0E0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Cl 10% (+40%)</a:t>
                      </a:r>
                    </a:p>
                  </a:txBody>
                  <a:tcPr>
                    <a:solidFill>
                      <a:srgbClr val="FDF0E0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3657600"/>
            <a:ext cx="11155680" cy="1280160"/>
          </a:xfrm>
          <a:prstGeom prst="rect">
            <a:avLst/>
          </a:prstGeom>
          <a:solidFill>
            <a:srgbClr val="FD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703320"/>
            <a:ext cx="111556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003876"/>
                </a:solidFill>
                <a:latin typeface="맑은 고딕"/>
              </a:rPr>
              <a:t>+13% 평균 Li–Cl 강화 기여도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1115568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맑은 고딕"/>
              </a:rPr>
              <a:t>• Vacancy field: 69% — Cl 90%에 균일 적용 (+9.2%/bond)</a:t>
            </a:r>
          </a:p>
          <a:p>
            <a:pPr algn="ctr"/>
            <a:r>
              <a:rPr sz="1300" b="0">
                <a:solidFill>
                  <a:srgbClr val="1A1A1A"/>
                </a:solidFill>
                <a:latin typeface="맑은 고딕"/>
              </a:rPr>
              <a:t>• 4d-Cl Anti-site: 31% — Cl 10%에만 intense (+40%/bond)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212080"/>
            <a:ext cx="1115568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• Cl 치환은 결합 '강화' (약화 아님)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• Bader · LOBSTER · Wilkening 세 독립 probe 합의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LPSCl ↔ LPSCl₁.₆ — Paper #1 Preview · Yonghoon Kim · 2026.06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맑은 고딕"/>
              </a:rPr>
              <a:t>10 / 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33895" y="27432"/>
            <a:ext cx="5120640" cy="274320"/>
          </a:xfrm>
          <a:prstGeom prst="roundRect">
            <a:avLst/>
          </a:prstGeom>
          <a:solidFill>
            <a:srgbClr val="FFF19A"/>
          </a:solidFill>
          <a:ln w="12700">
            <a:solidFill>
              <a:srgbClr val="C89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9144" bIns="9144"/>
          <a:lstStyle/>
          <a:p>
            <a:pPr algn="ctr"/>
            <a:r>
              <a:rPr sz="900" b="1">
                <a:solidFill>
                  <a:srgbClr val="664D00"/>
                </a:solidFill>
                <a:latin typeface="맑은 고딕"/>
              </a:rPr>
              <a:t>📎 사진 첨부: Li–anion ionic glue 막대/모식도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003876"/>
                </a:solidFill>
                <a:latin typeface="맑은 고딕"/>
              </a:rPr>
              <a:t>8. M4: clamped 동일, relaxed-ion +25% — vacancy paradox 해소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0000"/>
          </a:xfrm>
          <a:prstGeom prst="rect">
            <a:avLst/>
          </a:prstGeom>
          <a:solidFill>
            <a:srgbClr val="003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111556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457200">
                <a:tc>
                  <a:txBody>
                    <a:bodyPr lIns="54864" rIns="54864" tIns="18288" bIns="18288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E_VRH (GPa)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LPSCl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LPSCl₁.₆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Δ%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실험 (Kim 2025)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</a:tr>
              <a:tr h="457200">
                <a:tc>
                  <a:txBody>
                    <a:bodyPr lIns="54864" rIns="54864" tIns="18288" bIns="18288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clamped-ion (frozen)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52.31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52.30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0% — paradox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54864" rIns="54864" tIns="18288" bIns="18288"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맑은 고딕"/>
                        </a:rPr>
                        <a:t>★ relaxed-ion (Born screening)</a:t>
                      </a:r>
                    </a:p>
                  </a:txBody>
                  <a:tcPr>
                    <a:solidFill>
                      <a:srgbClr val="FBE4E7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22.06</a:t>
                      </a:r>
                    </a:p>
                  </a:txBody>
                  <a:tcPr>
                    <a:solidFill>
                      <a:srgbClr val="FBE4E7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27.66</a:t>
                      </a:r>
                    </a:p>
                  </a:txBody>
                  <a:tcPr>
                    <a:solidFill>
                      <a:srgbClr val="FBE4E7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+25%</a:t>
                      </a:r>
                    </a:p>
                  </a:txBody>
                  <a:tcPr>
                    <a:solidFill>
                      <a:srgbClr val="FBE4E7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맑은 고딕"/>
                        </a:rPr>
                        <a:t>✓ ~23</a:t>
                      </a:r>
                    </a:p>
                  </a:txBody>
                  <a:tcPr>
                    <a:solidFill>
                      <a:srgbClr val="FBE4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834640"/>
          <a:ext cx="64008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  <a:gridCol w="1600200"/>
              </a:tblGrid>
              <a:tr h="411480">
                <a:tc>
                  <a:txBody>
                    <a:bodyPr lIns="54864" rIns="54864" tIns="18288" bIns="18288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modulus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LPSCl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LPSCl₁.₆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Δ%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</a:tr>
              <a:tr h="411480"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B_VRH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25.5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23.4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−8% (vacancy soft)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54864" rIns="54864" tIns="18288" bIns="18288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G_VRH  ★</a:t>
                      </a:r>
                    </a:p>
                  </a:txBody>
                  <a:tcPr>
                    <a:solidFill>
                      <a:srgbClr val="FBE4E7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8.1</a:t>
                      </a:r>
                    </a:p>
                  </a:txBody>
                  <a:tcPr>
                    <a:solidFill>
                      <a:srgbClr val="FBE4E7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10.6</a:t>
                      </a:r>
                    </a:p>
                  </a:txBody>
                  <a:tcPr>
                    <a:solidFill>
                      <a:srgbClr val="FBE4E7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+30% (shear stiff)</a:t>
                      </a:r>
                    </a:p>
                  </a:txBody>
                  <a:tcPr>
                    <a:solidFill>
                      <a:srgbClr val="FBE4E7"/>
                    </a:solidFill>
                  </a:tcPr>
                </a:tc>
              </a:tr>
              <a:tr h="411480"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E_VRH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22.06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27.66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+25%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ν (Poisson)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0.36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0.30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비등방화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Zener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1.14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1.44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+26%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132320" y="2834640"/>
            <a:ext cx="4572000" cy="246888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69480" y="2926080"/>
            <a:ext cx="43891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003876"/>
                </a:solidFill>
                <a:latin typeface="맑은 고딕"/>
              </a:rPr>
              <a:t>M1 ↔ M3 ↔ M4 인과 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3291840"/>
            <a:ext cx="4389120" cy="1920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맑은 고딕"/>
              </a:rPr>
              <a:t>• PS₄ = rigid blocks (M1, 불변)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맑은 고딕"/>
              </a:rPr>
              <a:t>• Li–anion = mortar (M3 +13%)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맑은 고딕"/>
              </a:rPr>
              <a:t>• 강한 mortar → block sliding 어려움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맑은 고딕"/>
              </a:rPr>
              <a:t>  → shear stiff (G +30%)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맑은 고딕"/>
              </a:rPr>
              <a:t>• Hydrostatic은 vacancy void로 soft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맑은 고딕"/>
              </a:rPr>
              <a:t>  → B −8%, but G ↑ dominant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맑은 고딕"/>
              </a:rPr>
              <a:t>• E_VRH = 9BG/(3B+G) → +25%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486400"/>
            <a:ext cx="1115568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</a:rPr>
              <a:t>※ B_VRH 23.4 ≈ B₀(BM-EOS) 21.7 — 두 독립 방법 cross-check (±3%)</a:t>
            </a:r>
          </a:p>
          <a:p>
            <a:pPr algn="l"/>
            <a:r>
              <a:rPr sz="1000" b="0">
                <a:solidFill>
                  <a:srgbClr val="666666"/>
                </a:solidFill>
                <a:latin typeface="맑은 고딕"/>
              </a:rPr>
              <a:t>※ Kim ACS Mater. Lett. 2025 UPE 측정과 동일 방향 (Cl ↑ → E ↑) 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LPSCl ↔ LPSCl₁.₆ — Paper #1 Preview · Yonghoon Kim · 2026.06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맑은 고딕"/>
              </a:rPr>
              <a:t>11 / 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33895" y="27432"/>
            <a:ext cx="5120640" cy="274320"/>
          </a:xfrm>
          <a:prstGeom prst="roundRect">
            <a:avLst/>
          </a:prstGeom>
          <a:solidFill>
            <a:srgbClr val="FFF19A"/>
          </a:solidFill>
          <a:ln w="12700">
            <a:solidFill>
              <a:srgbClr val="C89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9144" bIns="9144"/>
          <a:lstStyle/>
          <a:p>
            <a:pPr algn="ctr"/>
            <a:r>
              <a:rPr sz="900" b="1">
                <a:solidFill>
                  <a:srgbClr val="664D00"/>
                </a:solidFill>
                <a:latin typeface="맑은 고딕"/>
              </a:rPr>
              <a:t>📎 사진 첨부: B·G·E clamped vs relaxed 막대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003876"/>
                </a:solidFill>
                <a:latin typeface="맑은 고딕"/>
              </a:rPr>
              <a:t>8a. 어디서 +30% shear? — C44 +72% (4d-Cl shear lock-in)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0000"/>
          </a:xfrm>
          <a:prstGeom prst="rect">
            <a:avLst/>
          </a:prstGeom>
          <a:solidFill>
            <a:srgbClr val="003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59436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  <a:gridCol w="1485900"/>
                <a:gridCol w="1485900"/>
              </a:tblGrid>
              <a:tr h="441960"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Cij (GPa, relaxed-ion)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LPSCl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LPSCl₁.₆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Δ%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</a:tr>
              <a:tr h="441960"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C11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37.7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37.0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−2%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C12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20.4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16.8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−18%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맑은 고딕"/>
                        </a:rPr>
                        <a:t>C44 (shear) ★</a:t>
                      </a:r>
                    </a:p>
                  </a:txBody>
                  <a:tcPr>
                    <a:solidFill>
                      <a:srgbClr val="FBE4E7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8.0</a:t>
                      </a:r>
                    </a:p>
                  </a:txBody>
                  <a:tcPr>
                    <a:solidFill>
                      <a:srgbClr val="FBE4E7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13.7</a:t>
                      </a:r>
                    </a:p>
                  </a:txBody>
                  <a:tcPr>
                    <a:solidFill>
                      <a:srgbClr val="FBE4E7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맑은 고딕"/>
                        </a:rPr>
                        <a:t>+72% !</a:t>
                      </a:r>
                    </a:p>
                  </a:txBody>
                  <a:tcPr>
                    <a:solidFill>
                      <a:srgbClr val="FBE4E7"/>
                    </a:solidFill>
                  </a:tcPr>
                </a:tc>
              </a:tr>
              <a:tr h="441960"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Zener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1.14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1.44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+26%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ν (Poisson)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0.36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0.30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−17%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675120" y="1280160"/>
            <a:ext cx="5029200" cy="265176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0" y="1371600"/>
            <a:ext cx="48463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003876"/>
                </a:solidFill>
                <a:latin typeface="맑은 고딕"/>
              </a:rPr>
              <a:t>[ 4d-Cl shear pin cartoon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783080"/>
            <a:ext cx="4846320" cy="21031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맑은 고딕"/>
              </a:rPr>
              <a:t>comp1: Li 평면 슬라이드 자유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맑은 고딕"/>
              </a:rPr>
              <a:t>modelc: 4d-Cl 짧고 강한 결합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맑은 고딕"/>
              </a:rPr>
              <a:t>       (2.45 Å, ICOHP −2.84)이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맑은 고딕"/>
              </a:rPr>
              <a:t>       특정 shear 방향 pin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맑은 고딕"/>
              </a:rPr>
              <a:t/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맑은 고딕"/>
              </a:rPr>
              <a:t>Hydrostatic은 모든 결합 균등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맑은 고딕"/>
              </a:rPr>
              <a:t>압축 → pin 효과 안 켜짐 → B soft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06240"/>
            <a:ext cx="11155680" cy="1280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• C44 +72% — VRH-평균 G +30%의 거의 모든 출처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• C12 −18% — 추가 shear 자유도 감소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• 4d-Cl AS (M3 ICOHP −2.84) 가 shear 방향 변형 선택적 lock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• 등방 압축(C11 ~불변)엔 거의 영향 없음 → B₀ soft (vacancy void)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LPSCl ↔ LPSCl₁.₆ — Paper #1 Preview · Yonghoon Kim · 2026.06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맑은 고딕"/>
              </a:rPr>
              <a:t>12 / 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33895" y="27432"/>
            <a:ext cx="5120640" cy="274320"/>
          </a:xfrm>
          <a:prstGeom prst="roundRect">
            <a:avLst/>
          </a:prstGeom>
          <a:solidFill>
            <a:srgbClr val="FFF19A"/>
          </a:solidFill>
          <a:ln w="12700">
            <a:solidFill>
              <a:srgbClr val="C89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9144" bIns="9144"/>
          <a:lstStyle/>
          <a:p>
            <a:pPr algn="ctr"/>
            <a:r>
              <a:rPr sz="900" b="1">
                <a:solidFill>
                  <a:srgbClr val="664D00"/>
                </a:solidFill>
                <a:latin typeface="맑은 고딕"/>
              </a:rPr>
              <a:t>📎 사진 첨부: Cij component bar (C44 강조)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003876"/>
                </a:solidFill>
                <a:latin typeface="맑은 고딕"/>
              </a:rPr>
              <a:t>8b. M4 4 cross-check — paper-grade 정확도 보증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0000"/>
          </a:xfrm>
          <a:prstGeom prst="rect">
            <a:avLst/>
          </a:prstGeom>
          <a:solidFill>
            <a:srgbClr val="003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3385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3840480"/>
                <a:gridCol w="2286000"/>
                <a:gridCol w="2286000"/>
                <a:gridCol w="2377440"/>
              </a:tblGrid>
              <a:tr h="822960"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#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Cross-check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LPSCl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LPSCl₁.₆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결론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</a:tr>
              <a:tr h="822960"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B_VRH (stress-strain)
vs B₀ (BM-EOS)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25.5
26.23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23.4
21.71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±10% 일치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E_VRH (0K relaxed)
vs Kim 2025 UPE / 자체 AFM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22.06
~12 GPa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27.66
14.9 GPa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방향 일치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E_VRH (600 K MLIP snapshot)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29.1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32.9 (+13%)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0K와 동일 방향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LOBSTER charge spilling
k×L (paper-grade ≥40 Å)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1.46%
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1.16%
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&lt;5% / 수렴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577840"/>
            <a:ext cx="1133856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003876"/>
                </a:solidFill>
                <a:latin typeface="맑은 고딕"/>
              </a:rPr>
              <a:t>→ 4 독립 cross-check 모두 정합 — relaxed-ion +25% 결론 robust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LPSCl ↔ LPSCl₁.₆ — Paper #1 Preview · Yonghoon Kim · 2026.06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맑은 고딕"/>
              </a:rPr>
              <a:t>13 / 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33895" y="27432"/>
            <a:ext cx="5120640" cy="274320"/>
          </a:xfrm>
          <a:prstGeom prst="roundRect">
            <a:avLst/>
          </a:prstGeom>
          <a:solidFill>
            <a:srgbClr val="FFF19A"/>
          </a:solidFill>
          <a:ln w="12700">
            <a:solidFill>
              <a:srgbClr val="C89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9144" bIns="9144"/>
          <a:lstStyle/>
          <a:p>
            <a:pPr algn="ctr"/>
            <a:r>
              <a:rPr sz="900" b="1">
                <a:solidFill>
                  <a:srgbClr val="664D00"/>
                </a:solidFill>
                <a:latin typeface="맑은 고딕"/>
              </a:rPr>
              <a:t>📎 사진 첨부: M4 cross-check 수렴 그림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003876"/>
                </a:solidFill>
                <a:latin typeface="맑은 고딕"/>
              </a:rPr>
              <a:t>9. PS₄ covalent backbone — 두 시스템에서 사실상 동일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0000"/>
          </a:xfrm>
          <a:prstGeom prst="rect">
            <a:avLst/>
          </a:prstGeom>
          <a:solidFill>
            <a:srgbClr val="003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280160"/>
          <a:ext cx="10881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457200"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Probe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LPSCl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LPSCl₁.₆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Δ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</a:tr>
              <a:tr h="457200"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P–S 길이 (Å, mean)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2.073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2.064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−0.5%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P–S σ (Å, 분산)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0.036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0.011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modelc ↓ 더 균질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P 배위수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0% (완벽 보존)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ICOHP P–S (eV/bond)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−5.94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−6.00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+1.0%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ELF P–S bridge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0.946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0.944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Δ 0.002 (~0)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Bader P (e)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+4.69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+4.43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basin shape 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Li–S(4d) universal anchor</a:t>
                      </a:r>
                    </a:p>
                  </a:txBody>
                  <a:tcPr>
                    <a:solidFill>
                      <a:srgbClr val="E6EEF7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−2.57</a:t>
                      </a:r>
                    </a:p>
                  </a:txBody>
                  <a:tcPr>
                    <a:solidFill>
                      <a:srgbClr val="E6EEF7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−2.52</a:t>
                      </a:r>
                    </a:p>
                  </a:txBody>
                  <a:tcPr>
                    <a:solidFill>
                      <a:srgbClr val="E6EEF7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맑은 고딕"/>
                        </a:rPr>
                        <a:t>−2% (universal)</a:t>
                      </a:r>
                    </a:p>
                  </a:txBody>
                  <a:tcPr>
                    <a:solidFill>
                      <a:srgbClr val="E6EE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120640"/>
            <a:ext cx="10881360" cy="10972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• PS₄ 결합 길이 · ICOHP · ELF · 배위수 — 5 probe 모두 차이 +1% 이내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• free S²⁻ 주위 Li 결합도 universal anchor (Δ2%)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• 모든 조성 변화는 ionic sublattice 안에서만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63640"/>
            <a:ext cx="1088136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003876"/>
                </a:solidFill>
                <a:latin typeface="맑은 고딕"/>
              </a:rPr>
              <a:t>→ argyrodite의 PS₄³⁻ 단위 = chemistry-independent rigid block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LPSCl ↔ LPSCl₁.₆ — Paper #1 Preview · Yonghoon Kim · 2026.06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맑은 고딕"/>
              </a:rPr>
              <a:t>14 / 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33895" y="27432"/>
            <a:ext cx="5120640" cy="274320"/>
          </a:xfrm>
          <a:prstGeom prst="roundRect">
            <a:avLst/>
          </a:prstGeom>
          <a:solidFill>
            <a:srgbClr val="FFF19A"/>
          </a:solidFill>
          <a:ln w="12700">
            <a:solidFill>
              <a:srgbClr val="C89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9144" bIns="9144"/>
          <a:lstStyle/>
          <a:p>
            <a:pPr algn="ctr"/>
            <a:r>
              <a:rPr sz="900" b="1">
                <a:solidFill>
                  <a:srgbClr val="664D00"/>
                </a:solidFill>
                <a:latin typeface="맑은 고딕"/>
              </a:rPr>
              <a:t>📎 사진 첨부: PS₄ 결합 히스토그램 overlay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003876"/>
                </a:solidFill>
                <a:latin typeface="맑은 고딕"/>
              </a:rPr>
              <a:t>10. Li–Cl 평균 짧아짐 — 출처는 4d anti-site (per-bond vs per-anion)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0000"/>
          </a:xfrm>
          <a:prstGeom prst="rect">
            <a:avLst/>
          </a:prstGeom>
          <a:solidFill>
            <a:srgbClr val="003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6400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  <a:gridCol w="1600200"/>
              </a:tblGrid>
              <a:tr h="402336">
                <a:tc>
                  <a:txBody>
                    <a:bodyPr lIns="54864" rIns="54864" tIns="18288" bIns="18288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결합 (Å)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LPSCl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LPSCl₁.₆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Δ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</a:tr>
              <a:tr h="402336"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P–S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2.073 ± 0.036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2.064 ± 0.011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−0.5% (불변)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Li–S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2.461 ± 0.106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2.465 ± 0.094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+0.2% (동일)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lIns="54864" rIns="54864" tIns="18288" bIns="18288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★ Li–Cl</a:t>
                      </a:r>
                    </a:p>
                  </a:txBody>
                  <a:tcPr>
                    <a:solidFill>
                      <a:srgbClr val="FBE4E7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2.607 ± 0.129</a:t>
                      </a:r>
                    </a:p>
                  </a:txBody>
                  <a:tcPr>
                    <a:solidFill>
                      <a:srgbClr val="FBE4E7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2.532 ± 0.119</a:t>
                      </a:r>
                    </a:p>
                  </a:txBody>
                  <a:tcPr>
                    <a:solidFill>
                      <a:srgbClr val="FBE4E7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−3% 짧아짐 ↓</a:t>
                      </a:r>
                    </a:p>
                  </a:txBody>
                  <a:tcPr>
                    <a:solidFill>
                      <a:srgbClr val="FBE4E7"/>
                    </a:solidFill>
                  </a:tcPr>
                </a:tc>
              </a:tr>
              <a:tr h="402336"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S–S (cage)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3.595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3.519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−2%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040880" y="1188720"/>
            <a:ext cx="4754880" cy="201168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0" y="1234440"/>
            <a:ext cx="4572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003876"/>
                </a:solidFill>
                <a:latin typeface="맑은 고딕"/>
              </a:rPr>
              <a:t>Per-site (Li–Cl)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600200"/>
            <a:ext cx="4572000" cy="1554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맑은 고딕"/>
              </a:rPr>
              <a:t>Li–Cl (4a 정상): 2.59 Å (−1%)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맑은 고딕"/>
              </a:rPr>
              <a:t>Li–Cl (4d AS):   2.45 Å (★ 0.14 Å 짧음)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맑은 고딕"/>
              </a:rPr>
              <a:t/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맑은 고딕"/>
              </a:rPr>
              <a:t>Voronoi V(Cl):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맑은 고딕"/>
              </a:rPr>
              <a:t>  22.06 → 20.31 Å³ (−1.7)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383280"/>
          <a:ext cx="113385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  <a:gridCol w="2834640"/>
                <a:gridCol w="2834640"/>
              </a:tblGrid>
              <a:tr h="609600">
                <a:tc>
                  <a:txBody>
                    <a:bodyPr lIns="54864" rIns="54864" tIns="18288" bIns="18288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측정 단위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Li–S (4d free)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Li–Cl (4d AS)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결과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</a:tr>
              <a:tr h="609600"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per-bond ICOHP (eV)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−2.57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−2.84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Cl 약간 ↑ (LOBSTER overlap)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per-anion total (eV)
= per-bond × coord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−2.57 × 6 = −15.4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−2.84 × 4 = −11.3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S²⁻ 36% ↑ (Coulomb 회복)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394960"/>
            <a:ext cx="1133856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맑은 고딕"/>
              </a:rPr>
              <a:t>• Per-bond: LOBSTER가 covalent overlap 우세 측정 → Cl 약간 우세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맑은 고딕"/>
              </a:rPr>
              <a:t>• Per-anion total: S²⁻ q² × coord(6 vs 4) → Coulomb 직관 회복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맑은 고딕"/>
              </a:rPr>
              <a:t>• 4d cage 자체가 짧은 Li 거리 (격자 기하) — ionic radius 단독으로 못 설명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LPSCl ↔ LPSCl₁.₆ — Paper #1 Preview · Yonghoon Kim · 2026.06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맑은 고딕"/>
              </a:rPr>
              <a:t>15 / 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33895" y="27432"/>
            <a:ext cx="5120640" cy="274320"/>
          </a:xfrm>
          <a:prstGeom prst="roundRect">
            <a:avLst/>
          </a:prstGeom>
          <a:solidFill>
            <a:srgbClr val="FFF19A"/>
          </a:solidFill>
          <a:ln w="12700">
            <a:solidFill>
              <a:srgbClr val="C89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9144" bIns="9144"/>
          <a:lstStyle/>
          <a:p>
            <a:pPr algn="ctr"/>
            <a:r>
              <a:rPr sz="900" b="1">
                <a:solidFill>
                  <a:srgbClr val="664D00"/>
                </a:solidFill>
                <a:latin typeface="맑은 고딕"/>
              </a:rPr>
              <a:t>📎 사진 첨부: Li–Cl per-bond 히스토그램 (4a/4d)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003876"/>
                </a:solidFill>
                <a:latin typeface="맑은 고딕"/>
              </a:rPr>
              <a:t>11. Voronoi 4-Sublattice — Disorder가 어느 sublattice에 들어가나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0000"/>
          </a:xfrm>
          <a:prstGeom prst="rect">
            <a:avLst/>
          </a:prstGeom>
          <a:solidFill>
            <a:srgbClr val="003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3385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712"/>
                <a:gridCol w="2267712"/>
                <a:gridCol w="2267712"/>
                <a:gridCol w="2267712"/>
                <a:gridCol w="2267712"/>
              </a:tblGrid>
              <a:tr h="475488"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원자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comp1 std (Å³)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modelc std (Å³)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변화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역할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</a:tr>
              <a:tr h="475488"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P (PS₄ framework)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0.37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+0.37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framework 거의 불변 (M1)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Cl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0.74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+0.74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4a + 4d 두 군집 분기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맑은 고딕"/>
                        </a:rPr>
                        <a:t>★ Li</a:t>
                      </a:r>
                    </a:p>
                  </a:txBody>
                  <a:tcPr>
                    <a:solidFill>
                      <a:srgbClr val="FBE4E7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0.21</a:t>
                      </a:r>
                    </a:p>
                  </a:txBody>
                  <a:tcPr>
                    <a:solidFill>
                      <a:srgbClr val="FBE4E7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1.15</a:t>
                      </a:r>
                    </a:p>
                  </a:txBody>
                  <a:tcPr>
                    <a:solidFill>
                      <a:srgbClr val="FBE4E7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×5.5 ↑</a:t>
                      </a:r>
                    </a:p>
                  </a:txBody>
                  <a:tcPr>
                    <a:solidFill>
                      <a:srgbClr val="FBE4E7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맑은 고딕"/>
                        </a:rPr>
                        <a:t>disorder fingerprint #1</a:t>
                      </a:r>
                    </a:p>
                  </a:txBody>
                  <a:tcPr>
                    <a:solidFill>
                      <a:srgbClr val="FBE4E7"/>
                    </a:solidFill>
                  </a:tcPr>
                </a:tc>
              </a:tr>
              <a:tr h="475488"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맑은 고딕"/>
                        </a:rPr>
                        <a:t>★ S</a:t>
                      </a:r>
                    </a:p>
                  </a:txBody>
                  <a:tcPr>
                    <a:solidFill>
                      <a:srgbClr val="FBE4E7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3.41</a:t>
                      </a:r>
                    </a:p>
                  </a:txBody>
                  <a:tcPr>
                    <a:solidFill>
                      <a:srgbClr val="FBE4E7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2.05</a:t>
                      </a:r>
                    </a:p>
                  </a:txBody>
                  <a:tcPr>
                    <a:solidFill>
                      <a:srgbClr val="FBE4E7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−40% ↓</a:t>
                      </a:r>
                    </a:p>
                  </a:txBody>
                  <a:tcPr>
                    <a:solidFill>
                      <a:srgbClr val="FBE4E7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맑은 고딕"/>
                        </a:rPr>
                        <a:t>역설적 균질화</a:t>
                      </a:r>
                    </a:p>
                  </a:txBody>
                  <a:tcPr>
                    <a:solidFill>
                      <a:srgbClr val="FBE4E7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3840480"/>
            <a:ext cx="11338560" cy="18288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111556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003876"/>
                </a:solidFill>
                <a:latin typeface="맑은 고딕"/>
              </a:rPr>
              <a:t>4 sublattice 응답 해석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97680"/>
            <a:ext cx="11155680" cy="1280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• P  → PS₄ framework 거의 안 흔들림 (M1 backbone 일관)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• Cl → 4a (정상) + 4d AS 두 환경 분기 (M3 ICOHP per-site)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• Li → ×5.5 흔들림 — vacancy + anti-site 인접 재배치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• S  → 오히려 균질화 — anti-site Cl이 PS₄-S vs free-S²⁻ split 메움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760720"/>
            <a:ext cx="1133856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003876"/>
                </a:solidFill>
                <a:latin typeface="맑은 고딕"/>
              </a:rPr>
              <a:t>→ 3 독립 probe 수렴 (Voronoi + BVSE bimodal + LOBSTER ICOHP +13%)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LPSCl ↔ LPSCl₁.₆ — Paper #1 Preview · Yonghoon Kim · 2026.06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맑은 고딕"/>
              </a:rPr>
              <a:t>16 / 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33895" y="27432"/>
            <a:ext cx="5120640" cy="274320"/>
          </a:xfrm>
          <a:prstGeom prst="roundRect">
            <a:avLst/>
          </a:prstGeom>
          <a:solidFill>
            <a:srgbClr val="FFF19A"/>
          </a:solidFill>
          <a:ln w="12700">
            <a:solidFill>
              <a:srgbClr val="C89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9144" bIns="9144"/>
          <a:lstStyle/>
          <a:p>
            <a:pPr algn="ctr"/>
            <a:r>
              <a:rPr sz="900" b="1">
                <a:solidFill>
                  <a:srgbClr val="664D00"/>
                </a:solidFill>
                <a:latin typeface="맑은 고딕"/>
              </a:rPr>
              <a:t>📎 사진 첨부: Voronoi 4-sublattice 모식도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003876"/>
                </a:solidFill>
                <a:latin typeface="맑은 고딕"/>
              </a:rPr>
              <a:t>12. BVSE Bimodal Split — Li 환경 둘로 갈라짐 (paired 5×5×5)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0000"/>
          </a:xfrm>
          <a:prstGeom prst="rect">
            <a:avLst/>
          </a:prstGeom>
          <a:solidFill>
            <a:srgbClr val="003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80160"/>
          <a:ext cx="115214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  <a:gridCol w="1920240"/>
                <a:gridCol w="1920240"/>
              </a:tblGrid>
              <a:tr h="502920"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시스템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Group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n_Li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비율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BVS peak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환경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</a:tr>
              <a:tr h="502920"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comp1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uniform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3000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1.60–1.64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F-43m ordered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modelc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low-BVS (A)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1074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39.8%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1.60–1.64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comp1-like, AS 멀리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맑은 고딕"/>
                        </a:rPr>
                        <a:t>modelc ★</a:t>
                      </a:r>
                    </a:p>
                  </a:txBody>
                  <a:tcPr>
                    <a:solidFill>
                      <a:srgbClr val="FDF0E0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high-BVS (B)</a:t>
                      </a:r>
                    </a:p>
                  </a:txBody>
                  <a:tcPr>
                    <a:solidFill>
                      <a:srgbClr val="FDF0E0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1626</a:t>
                      </a:r>
                    </a:p>
                  </a:txBody>
                  <a:tcPr>
                    <a:solidFill>
                      <a:srgbClr val="FDF0E0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60.2%</a:t>
                      </a:r>
                    </a:p>
                  </a:txBody>
                  <a:tcPr>
                    <a:solidFill>
                      <a:srgbClr val="FDF0E0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1.83–1.89</a:t>
                      </a:r>
                    </a:p>
                  </a:txBody>
                  <a:tcPr>
                    <a:solidFill>
                      <a:srgbClr val="FDF0E0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맑은 고딕"/>
                        </a:rPr>
                        <a:t>AS Cl 인접, +15%</a:t>
                      </a:r>
                    </a:p>
                  </a:txBody>
                  <a:tcPr>
                    <a:solidFill>
                      <a:srgbClr val="FDF0E0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65760" y="3474720"/>
            <a:ext cx="11521440" cy="201168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566160"/>
            <a:ext cx="111556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003876"/>
                </a:solidFill>
                <a:latin typeface="맑은 고딕"/>
              </a:rPr>
              <a:t>정량 cross-validation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11155680" cy="1463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• 1626 high-BVS Li / 300 AS Cl  =  5.4 Li per AS (Li–Cl coord 4-6 정합)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• 60.2% 비율 = 5.4 × 300 / 2700 (math 정확)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• BVSE +15% shift  ↔  LOBSTER ICOHP +40% per-bond (slide 7)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    같은 anti-site 효과를 두 독립 probe가 다른 정량으로 측정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669280"/>
            <a:ext cx="1152144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</a:rPr>
              <a:t>※ 37.5% AS = cubic 5×5×5 stoichiometric necessity (Cl ≥ 1.6/fu, 4a 500개 full)</a:t>
            </a:r>
          </a:p>
          <a:p>
            <a:pPr algn="l"/>
            <a:r>
              <a:rPr sz="1000" b="0">
                <a:solidFill>
                  <a:srgbClr val="666666"/>
                </a:solidFill>
                <a:latin typeface="맑은 고딕"/>
              </a:rPr>
              <a:t>  실험 25–50% 범위 내 — 'over-disordered' 아님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LPSCl ↔ LPSCl₁.₆ — Paper #1 Preview · Yonghoon Kim · 2026.06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맑은 고딕"/>
              </a:rPr>
              <a:t>17 / 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33895" y="27432"/>
            <a:ext cx="5120640" cy="274320"/>
          </a:xfrm>
          <a:prstGeom prst="roundRect">
            <a:avLst/>
          </a:prstGeom>
          <a:solidFill>
            <a:srgbClr val="FFF19A"/>
          </a:solidFill>
          <a:ln w="12700">
            <a:solidFill>
              <a:srgbClr val="C89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9144" bIns="9144"/>
          <a:lstStyle/>
          <a:p>
            <a:pPr algn="ctr"/>
            <a:r>
              <a:rPr sz="900" b="1">
                <a:solidFill>
                  <a:srgbClr val="664D00"/>
                </a:solidFill>
                <a:latin typeface="맑은 고딕"/>
              </a:rPr>
              <a:t>📎 사진 첨부: BVSE bimodal 분포 / pathway 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003876"/>
                </a:solidFill>
                <a:latin typeface="맑은 고딕"/>
              </a:rPr>
              <a:t>13. ELF — Covalent backbone vs Ionic glue 시각화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0000"/>
          </a:xfrm>
          <a:prstGeom prst="rect">
            <a:avLst/>
          </a:prstGeom>
          <a:solidFill>
            <a:srgbClr val="003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486400" cy="3200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54864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맑은 고딕"/>
              </a:rPr>
              <a:t>[ ELF 2D slice — comp1 ]</a:t>
            </a:r>
          </a:p>
          <a:p>
            <a:pPr algn="ctr"/>
            <a:r>
              <a:rPr sz="1300" b="0">
                <a:solidFill>
                  <a:srgbClr val="666666"/>
                </a:solidFill>
                <a:latin typeface="맑은 고딕"/>
              </a:rPr>
              <a:t>PS₄ 적색 maxima (0.95)</a:t>
            </a:r>
          </a:p>
          <a:p>
            <a:pPr algn="ctr"/>
            <a:r>
              <a:rPr sz="1300" b="0">
                <a:solidFill>
                  <a:srgbClr val="666666"/>
                </a:solidFill>
                <a:latin typeface="맑은 고딕"/>
              </a:rPr>
              <a:t>Li 청색 depletion (&lt;0.1)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280160"/>
            <a:ext cx="5486400" cy="3200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2377440"/>
            <a:ext cx="54864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맑은 고딕"/>
              </a:rPr>
              <a:t>[ ELF 2D slice — modelc ]</a:t>
            </a:r>
          </a:p>
          <a:p>
            <a:pPr algn="ctr"/>
            <a:r>
              <a:rPr sz="1300" b="0">
                <a:solidFill>
                  <a:srgbClr val="666666"/>
                </a:solidFill>
                <a:latin typeface="맑은 고딕"/>
              </a:rPr>
              <a:t>동일 패턴 (PS₄ 0.94)</a:t>
            </a:r>
          </a:p>
          <a:p>
            <a:pPr algn="ctr"/>
            <a:r>
              <a:rPr sz="1300" b="0">
                <a:solidFill>
                  <a:srgbClr val="666666"/>
                </a:solidFill>
                <a:latin typeface="맑은 고딕"/>
              </a:rPr>
              <a:t>4d-Cl AS 추가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4617720"/>
          <a:ext cx="1133856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  <a:gridCol w="2834640"/>
                <a:gridCol w="2834640"/>
              </a:tblGrid>
              <a:tr h="354330"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Probe location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LPSCl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LPSCl₁.₆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의미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</a:tr>
              <a:tr h="354330"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P–S bond midpoint</a:t>
                      </a:r>
                    </a:p>
                  </a:txBody>
                  <a:tcPr>
                    <a:solidFill>
                      <a:srgbClr val="E6EEF7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0.946</a:t>
                      </a:r>
                    </a:p>
                  </a:txBody>
                  <a:tcPr>
                    <a:solidFill>
                      <a:srgbClr val="E6EEF7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0.944</a:t>
                      </a:r>
                    </a:p>
                  </a:txBody>
                  <a:tcPr>
                    <a:solidFill>
                      <a:srgbClr val="E6EEF7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맑은 고딕"/>
                        </a:rPr>
                        <a:t>covalent 동일 ★</a:t>
                      </a:r>
                    </a:p>
                  </a:txBody>
                  <a:tcPr>
                    <a:solidFill>
                      <a:srgbClr val="E6EEF7"/>
                    </a:solidFill>
                  </a:tcPr>
                </a:tc>
              </a:tr>
              <a:tr h="354330"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Li basin floor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0.072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0.065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ionic depletion 강함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Li → nearest anion line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0.07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0.04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modelc 더 ionic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108192"/>
            <a:ext cx="1133856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003876"/>
                </a:solidFill>
                <a:latin typeface="맑은 고딕"/>
              </a:rPr>
              <a:t>→ PDOS + LOBSTER + ELF 세 독립 probe — 같은 그림 (covalent + ionic 공존)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LPSCl ↔ LPSCl₁.₆ — Paper #1 Preview · Yonghoon Kim · 2026.06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맑은 고딕"/>
              </a:rPr>
              <a:t>18 / 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33895" y="27432"/>
            <a:ext cx="5120640" cy="274320"/>
          </a:xfrm>
          <a:prstGeom prst="roundRect">
            <a:avLst/>
          </a:prstGeom>
          <a:solidFill>
            <a:srgbClr val="FFF19A"/>
          </a:solidFill>
          <a:ln w="12700">
            <a:solidFill>
              <a:srgbClr val="C89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9144" bIns="9144"/>
          <a:lstStyle/>
          <a:p>
            <a:pPr algn="ctr"/>
            <a:r>
              <a:rPr sz="900" b="1">
                <a:solidFill>
                  <a:srgbClr val="664D00"/>
                </a:solidFill>
                <a:latin typeface="맑은 고딕"/>
              </a:rPr>
              <a:t>📎 사진 첨부: ELF isosurface (covalent+ionic)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003876"/>
                </a:solidFill>
                <a:latin typeface="맑은 고딕"/>
              </a:rPr>
              <a:t>14. k-mesh Audit + LOBSTER spilling + AIMD window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0000"/>
          </a:xfrm>
          <a:prstGeom prst="rect">
            <a:avLst/>
          </a:prstGeom>
          <a:solidFill>
            <a:srgbClr val="003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338560" cy="1828800"/>
          </a:xfrm>
          <a:prstGeom prst="rect">
            <a:avLst/>
          </a:prstGeom>
          <a:solidFill>
            <a:srgbClr val="FBE4E7"/>
          </a:solidFill>
          <a:ln w="635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C8102E"/>
                </a:solidFill>
                <a:latin typeface="맑은 고딕"/>
              </a:rPr>
              <a:t>comp1 k-mesh incident &amp; recovery — 정직한 referee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972800" cy="1280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초기:  k = 2×2×1, k×L = 10 Å  →  gap 1.50 eV (artifact)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발견:  Δgap (modelc 1.82) = 0.32 eV — '조성 효과'로 잘못 해석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복구:  k = 4×4×4, k×L = 40 Å  →  gap 1.76 eV (paper-grade)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결과:  Δgap = 0.06 eV (M1 확정), structure RMS 0.003 Å (electronic만 오염)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383280"/>
          <a:ext cx="1133856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9520"/>
                <a:gridCol w="3779520"/>
                <a:gridCol w="3779520"/>
              </a:tblGrid>
              <a:tr h="350520">
                <a:tc>
                  <a:txBody>
                    <a:bodyPr lIns="54864" rIns="54864" tIns="18288" bIns="18288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Property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k-sens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대응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</a:tr>
              <a:tr h="350520"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B₀ (BM-EOS)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robust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재계산 불필요 (volume curvature systematic cancel)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Gap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k = 4×4×4 / 6×6×3 재계산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Elastic Cij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재계산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DOS shape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재계산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ICOHP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robust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Δ &lt; 0.006 eV (local probe)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577840"/>
            <a:ext cx="1133856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맑은 고딕"/>
              </a:rPr>
              <a:t>LOBSTER spilling: comp1 1.46% / modelc 1.16% (paper &lt;5% ✓)</a:t>
            </a:r>
          </a:p>
          <a:p>
            <a:pPr algn="l"/>
            <a:r>
              <a:rPr sz="1100" b="0">
                <a:solidFill>
                  <a:srgbClr val="666666"/>
                </a:solidFill>
                <a:latin typeface="맑은 고딕"/>
              </a:rPr>
              <a:t>AIMD window: [2, 50] ps 양쪽 동일 protocol, R² 0.999/0.992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LPSCl ↔ LPSCl₁.₆ — Paper #1 Preview · Yonghoon Kim · 2026.06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맑은 고딕"/>
              </a:rPr>
              <a:t>19 / 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33895" y="27432"/>
            <a:ext cx="5120640" cy="274320"/>
          </a:xfrm>
          <a:prstGeom prst="roundRect">
            <a:avLst/>
          </a:prstGeom>
          <a:solidFill>
            <a:srgbClr val="FFF19A"/>
          </a:solidFill>
          <a:ln w="12700">
            <a:solidFill>
              <a:srgbClr val="C89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9144" bIns="9144"/>
          <a:lstStyle/>
          <a:p>
            <a:pPr algn="ctr"/>
            <a:r>
              <a:rPr sz="900" b="1">
                <a:solidFill>
                  <a:srgbClr val="664D00"/>
                </a:solidFill>
                <a:latin typeface="맑은 고딕"/>
              </a:rPr>
              <a:t>📎 사진 첨부: k-mesh / spilling / AIMD 수렴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003876"/>
                </a:solidFill>
                <a:latin typeface="맑은 고딕"/>
              </a:rPr>
              <a:t>16. Summary — 불변 ↔ 변화의 깔끔한 분리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0000"/>
          </a:xfrm>
          <a:prstGeom prst="rect">
            <a:avLst/>
          </a:prstGeom>
          <a:solidFill>
            <a:srgbClr val="003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486400" cy="4297680"/>
          </a:xfrm>
          <a:prstGeom prst="rect">
            <a:avLst/>
          </a:prstGeom>
          <a:solidFill>
            <a:srgbClr val="E6EEF7"/>
          </a:solidFill>
          <a:ln w="12700">
            <a:solidFill>
              <a:srgbClr val="0038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3035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003876"/>
                </a:solidFill>
                <a:latin typeface="맑은 고딕"/>
              </a:rPr>
              <a:t>불변 (조성 둔감)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5212080" cy="3657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• PS₄ covalent backbone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  P–S length, ICOHP, ELF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/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• Band gap (Δ 0.06 eV)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  VBM/CBM character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/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• Li–S(4d) universal anchor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  (Δ 2%)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/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• Per-anion Coulomb 직관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  (S²⁻ 우세)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188720"/>
            <a:ext cx="5486400" cy="4297680"/>
          </a:xfrm>
          <a:prstGeom prst="rect">
            <a:avLst/>
          </a:prstGeom>
          <a:solidFill>
            <a:srgbClr val="FBE4E7"/>
          </a:solidFill>
          <a:ln w="1270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280160"/>
            <a:ext cx="53035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C8102E"/>
                </a:solidFill>
                <a:latin typeface="맑은 고딕"/>
              </a:rPr>
              <a:t>변화 (조성 민감)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5212080" cy="3657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• Li transport: Ea ↓ + D₀ ↑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  σ × 2.5–4.3 (T 의존)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/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• Li–anion ionic glue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  ICOHP +13% (Cl), +8% (S)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/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• Shear modulus G (+30%)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  C44 +72%, Zener A 1.14→1.44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/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• 4d-Cl anti-site (새 결합 family)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  ICOHP −2.84 eV (+40%/bond)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623560"/>
            <a:ext cx="11338560" cy="77724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5669280"/>
            <a:ext cx="113385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003876"/>
                </a:solidFill>
                <a:latin typeface="맑은 고딕"/>
              </a:rPr>
              <a:t>"전자구조가 아니라 구조적 무질서 (Li 공공 + 4d-Cl anti-site)에서 온다"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3385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맑은 고딕"/>
              </a:rPr>
              <a:t>→ covalent skeleton 유지 + ionic ligament 재배치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LPSCl ↔ LPSCl₁.₆ — Paper #1 Preview · Yonghoon Kim · 2026.06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맑은 고딕"/>
              </a:rPr>
              <a:t>20 / 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003876"/>
                </a:solidFill>
                <a:latin typeface="맑은 고딕"/>
              </a:rPr>
              <a:t>17. 3-Probe Convergence — Anti-site Cl 효과 같은 그림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0000"/>
          </a:xfrm>
          <a:prstGeom prst="rect">
            <a:avLst/>
          </a:prstGeom>
          <a:solidFill>
            <a:srgbClr val="003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3385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  <a:gridCol w="2834640"/>
                <a:gridCol w="2834640"/>
              </a:tblGrid>
              <a:tr h="685800"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Probe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정량 결과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측정 대상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Slide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</a:tr>
              <a:tr h="685800"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Voronoi V std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Cl 0 → 0.74 Å³
Li 0.21 → 1.15 (×5.5)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Site disorder (geometric)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BVSE bimodal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+15% shift (60.2% Li)
1.62 → 1.85 BVS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Li 이동 환경 (path)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LOBSTER ICOHP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+40% per-bond (4d AS)
−2.03 → −2.84 eV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Li-Cl 결합 강도 (chemistry)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4206240"/>
            <a:ext cx="11338560" cy="1828800"/>
          </a:xfrm>
          <a:prstGeom prst="rect">
            <a:avLst/>
          </a:prstGeom>
          <a:solidFill>
            <a:srgbClr val="FD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297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003876"/>
                </a:solidFill>
                <a:latin typeface="맑은 고딕"/>
              </a:rPr>
              <a:t>Quantitative cross-consistency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709160"/>
            <a:ext cx="10972800" cy="1280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• 1626 high-BVS Li / 300 AS Cl = 5.4 Li/AS  ↔  Li–Cl coord (4-6) 정합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• BVSE 60.2% group = 5.4 × 300 / 2700 (math 정확)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• Δ(BVS) +15% vs Δ(ICOHP) +40% — 다른 measure same anchor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113385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003876"/>
                </a:solidFill>
                <a:latin typeface="맑은 고딕"/>
              </a:rPr>
              <a:t>→ 단일 method artifact 아닌 robust 물리 현상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LPSCl ↔ LPSCl₁.₆ — Paper #1 Preview · Yonghoon Kim · 2026.06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맑은 고딕"/>
              </a:rPr>
              <a:t>21 / 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33895" y="27432"/>
            <a:ext cx="5120640" cy="274320"/>
          </a:xfrm>
          <a:prstGeom prst="roundRect">
            <a:avLst/>
          </a:prstGeom>
          <a:solidFill>
            <a:srgbClr val="FFF19A"/>
          </a:solidFill>
          <a:ln w="12700">
            <a:solidFill>
              <a:srgbClr val="C89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9144" bIns="9144"/>
          <a:lstStyle/>
          <a:p>
            <a:pPr algn="ctr"/>
            <a:r>
              <a:rPr sz="900" b="1">
                <a:solidFill>
                  <a:srgbClr val="664D00"/>
                </a:solidFill>
                <a:latin typeface="맑은 고딕"/>
              </a:rPr>
              <a:t>📎 사진 첨부: 3-probe 수렴 schematic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003876"/>
                </a:solidFill>
                <a:latin typeface="맑은 고딕"/>
              </a:rPr>
              <a:t>18. Oxidation — 'Cl-rich 더 안정?' 축을 지정해야 답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0000"/>
          </a:xfrm>
          <a:prstGeom prst="rect">
            <a:avLst/>
          </a:prstGeom>
          <a:solidFill>
            <a:srgbClr val="003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3385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  <a:gridCol w="2834640"/>
                <a:gridCol w="2834640"/>
              </a:tblGrid>
              <a:tr h="822960"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Axis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의미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comp1 vs modelc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Reference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</a:tr>
              <a:tr h="822960"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0-pressure intrinsic
bulk redox onset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DRAW ~2.14 V
(S²⁻ limited)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우리 + Gil 2022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맑은 고딕"/>
                        </a:rPr>
                        <a:t>2 ★</a:t>
                      </a:r>
                    </a:p>
                  </a:txBody>
                  <a:tcPr>
                    <a:solidFill>
                      <a:srgbClr val="E6F4E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Mechanically constrained
(K_eff &gt; 0)</a:t>
                      </a:r>
                    </a:p>
                  </a:txBody>
                  <a:tcPr>
                    <a:solidFill>
                      <a:srgbClr val="E6F4E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Cl-rich WINS
window 0.80–4.30 V</a:t>
                      </a:r>
                    </a:p>
                  </a:txBody>
                  <a:tcPr>
                    <a:solidFill>
                      <a:srgbClr val="E6F4E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맑은 고딕"/>
                        </a:rPr>
                        <a:t>Gil-González ESM 2022</a:t>
                      </a:r>
                    </a:p>
                  </a:txBody>
                  <a:tcPr>
                    <a:solidFill>
                      <a:srgbClr val="E6F4E6"/>
                    </a:solidFill>
                  </a:tcPr>
                </a:tc>
              </a:tr>
              <a:tr h="822960"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맑은 고딕"/>
                        </a:rPr>
                        <a:t>3 ★</a:t>
                      </a:r>
                    </a:p>
                  </a:txBody>
                  <a:tcPr>
                    <a:solidFill>
                      <a:srgbClr val="E6F4E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Cathode interface cycling
(R_int, CE)</a:t>
                      </a:r>
                    </a:p>
                  </a:txBody>
                  <a:tcPr>
                    <a:solidFill>
                      <a:srgbClr val="E6F4E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Cl-rich WINS
8.9 vs 13.2 Ω·h^-0.5</a:t>
                      </a:r>
                    </a:p>
                  </a:txBody>
                  <a:tcPr>
                    <a:solidFill>
                      <a:srgbClr val="E6F4E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맑은 고딕"/>
                        </a:rPr>
                        <a:t>Zuo Angew 2023</a:t>
                      </a:r>
                    </a:p>
                  </a:txBody>
                  <a:tcPr>
                    <a:solidFill>
                      <a:srgbClr val="E6F4E6"/>
                    </a:solidFill>
                  </a:tcPr>
                </a:tc>
              </a:tr>
              <a:tr h="822960"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4 ✗</a:t>
                      </a:r>
                    </a:p>
                  </a:txBody>
                  <a:tcPr>
                    <a:solidFill>
                      <a:srgbClr val="FBE4E7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Thermal / calendar aging
(shelf life 90°C)</a:t>
                      </a:r>
                    </a:p>
                  </a:txBody>
                  <a:tcPr>
                    <a:solidFill>
                      <a:srgbClr val="FBE4E7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Cl-rich LOSES
48% vs 68% (5d)</a:t>
                      </a:r>
                    </a:p>
                  </a:txBody>
                  <a:tcPr>
                    <a:solidFill>
                      <a:srgbClr val="FBE4E7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맑은 고딕"/>
                        </a:rPr>
                        <a:t>Wu Nano En 2026</a:t>
                      </a:r>
                    </a:p>
                  </a:txBody>
                  <a:tcPr>
                    <a:solidFill>
                      <a:srgbClr val="FBE4E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532120"/>
            <a:ext cx="1133856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003876"/>
                </a:solidFill>
                <a:latin typeface="맑은 고딕"/>
              </a:rPr>
              <a:t>→ modelc σ 향상이 oxidation penalty 없이 옴 (axis 1–3 neutral or favorable)</a:t>
            </a:r>
          </a:p>
          <a:p>
            <a:pPr algn="ctr"/>
            <a:r>
              <a:rPr sz="1200" b="1">
                <a:solidFill>
                  <a:srgbClr val="003876"/>
                </a:solidFill>
                <a:latin typeface="맑은 고딕"/>
              </a:rPr>
              <a:t>   비용은 thermal shelf life (axis 4) — paper #2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LPSCl ↔ LPSCl₁.₆ — Paper #1 Preview · Yonghoon Kim · 2026.06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맑은 고딕"/>
              </a:rPr>
              <a:t>22 / 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33895" y="27432"/>
            <a:ext cx="5120640" cy="274320"/>
          </a:xfrm>
          <a:prstGeom prst="roundRect">
            <a:avLst/>
          </a:prstGeom>
          <a:solidFill>
            <a:srgbClr val="FFF19A"/>
          </a:solidFill>
          <a:ln w="12700">
            <a:solidFill>
              <a:srgbClr val="C89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9144" bIns="9144"/>
          <a:lstStyle/>
          <a:p>
            <a:pPr algn="ctr"/>
            <a:r>
              <a:rPr sz="900" b="1">
                <a:solidFill>
                  <a:srgbClr val="664D00"/>
                </a:solidFill>
                <a:latin typeface="맑은 고딕"/>
              </a:rPr>
              <a:t>📎 사진 첨부: Oxidation 4-axis radar/grid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003876"/>
                </a:solidFill>
                <a:latin typeface="맑은 고딕"/>
              </a:rPr>
              <a:t>19. Constrained ESW Cl-scan + 분해반응 — Axis 1–3 정량 backing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0000"/>
          </a:xfrm>
          <a:prstGeom prst="rect">
            <a:avLst/>
          </a:prstGeom>
          <a:solidFill>
            <a:srgbClr val="003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3385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  <a:gridCol w="1889760"/>
                <a:gridCol w="1889760"/>
                <a:gridCol w="1889760"/>
              </a:tblGrid>
              <a:tr h="457200"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K_eff (GPa)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Cl 0.5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Cl 1.0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Cl 1.5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Cl 1.6 (modelc)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Cl 2.0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</a:tr>
              <a:tr h="457200"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2.40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2.40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2.40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2.40 (flat)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2.40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3.20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3.40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3.80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4.05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3.50 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20</a:t>
                      </a:r>
                    </a:p>
                  </a:txBody>
                  <a:tcPr>
                    <a:solidFill>
                      <a:srgbClr val="E6F4E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3.70</a:t>
                      </a:r>
                    </a:p>
                  </a:txBody>
                  <a:tcPr>
                    <a:solidFill>
                      <a:srgbClr val="E6F4E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4.10</a:t>
                      </a:r>
                    </a:p>
                  </a:txBody>
                  <a:tcPr>
                    <a:solidFill>
                      <a:srgbClr val="E6F4E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4.20</a:t>
                      </a:r>
                    </a:p>
                  </a:txBody>
                  <a:tcPr>
                    <a:solidFill>
                      <a:srgbClr val="E6F4E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맑은 고딕"/>
                        </a:rPr>
                        <a:t>4.30 ★★</a:t>
                      </a:r>
                    </a:p>
                  </a:txBody>
                  <a:tcPr>
                    <a:solidFill>
                      <a:srgbClr val="E6F4E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맑은 고딕"/>
                        </a:rPr>
                        <a:t>3.60 ↓↓</a:t>
                      </a:r>
                    </a:p>
                  </a:txBody>
                  <a:tcPr>
                    <a:solidFill>
                      <a:srgbClr val="E6F4E6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3291840"/>
            <a:ext cx="11338560" cy="201168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003876"/>
                </a:solidFill>
                <a:latin typeface="맑은 고딕"/>
              </a:rPr>
              <a:t>분해반응 비교 (oxidation onset 2.14 V)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03320"/>
            <a:ext cx="10972800" cy="1554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comp1:   Li₆PS₅Cl  →  Li₃PS₄ + 0.25 LiS₄ + LiCl + 1.75 Li ↑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modelc:  Li₅.₄PS₄.₄Cl₁.₆  →  Li₃PS₄ + 0.1 LiS₄ + 1.6 LiCl + 0.7 Li ↑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/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modelc: +1.6× LiCl (더 inert) · −2.3× Li 방출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→ Zuo 2023 Eq(1)/(2) 정량 cross-validation 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6400"/>
            <a:ext cx="1133856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003876"/>
                </a:solidFill>
                <a:latin typeface="맑은 고딕"/>
              </a:rPr>
              <a:t>→ Cl-rich가 axis 1–3에서 우세하다는 결과를 우리 직접 계산이 정량 backing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LPSCl ↔ LPSCl₁.₆ — Paper #1 Preview · Yonghoon Kim · 2026.06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맑은 고딕"/>
              </a:rPr>
              <a:t>23 / 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33895" y="27432"/>
            <a:ext cx="5120640" cy="274320"/>
          </a:xfrm>
          <a:prstGeom prst="roundRect">
            <a:avLst/>
          </a:prstGeom>
          <a:solidFill>
            <a:srgbClr val="FFF19A"/>
          </a:solidFill>
          <a:ln w="12700">
            <a:solidFill>
              <a:srgbClr val="C89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9144" bIns="9144"/>
          <a:lstStyle/>
          <a:p>
            <a:pPr algn="ctr"/>
            <a:r>
              <a:rPr sz="900" b="1">
                <a:solidFill>
                  <a:srgbClr val="664D00"/>
                </a:solidFill>
                <a:latin typeface="맑은 고딕"/>
              </a:rPr>
              <a:t>📎 사진 첨부: ESW Cl-scan + 분해반응 ΔG 막대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003876"/>
                </a:solidFill>
                <a:latin typeface="맑은 고딕"/>
              </a:rPr>
              <a:t>20. 4가지 Literature Tension — 모두 해소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0000"/>
          </a:xfrm>
          <a:prstGeom prst="rect">
            <a:avLst/>
          </a:prstGeom>
          <a:solidFill>
            <a:srgbClr val="003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80160"/>
          <a:ext cx="116128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4023360"/>
                <a:gridCol w="3657600"/>
                <a:gridCol w="3383280"/>
              </a:tblGrid>
              <a:tr h="859536">
                <a:tc>
                  <a:txBody>
                    <a:bodyPr lIns="54864" rIns="54864" tIns="18288" bIns="18288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#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Tension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우리 결과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해소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</a:tr>
              <a:tr h="859536"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Oxidation: Cl-rich 더 안정?
(lit consensus: yes)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0-pressure DRAW
(slide 18 axis 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4-axis framework
(slide 18–19)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Ea-vs-prefactor mechanism
(Minafra: disorder→Ea↓)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comp1 4fu Ea &gt; modelc
Minafra direction 정합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Schlem 정확 매칭
(slide 6 v3)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Elastic vacancy paradox
(Kim 2025: Cl → E up)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clamped: 52 vs 52 (동일)
relaxed: +25% (Kim 매칭)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Relaxed-ion 정확한
method (slide 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Band gap absolute
(PBE PAW lit ~2.3)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PBE/USPP 1.76 vs lit 2.3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Method offset 양쪽
동일, Δgap robust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5760720"/>
            <a:ext cx="1161288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003876"/>
                </a:solidFill>
                <a:latin typeface="맑은 고딕"/>
              </a:rPr>
              <a:t>→ 4 tension 모두 'artifact 아닌 method/축 분리'로 해소</a:t>
            </a:r>
          </a:p>
          <a:p>
            <a:pPr algn="ctr"/>
            <a:r>
              <a:rPr sz="1200" b="0">
                <a:solidFill>
                  <a:srgbClr val="003876"/>
                </a:solidFill>
                <a:latin typeface="맑은 고딕"/>
              </a:rPr>
              <a:t>   paper의 nuanced honesty 핵심 슬라이드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LPSCl ↔ LPSCl₁.₆ — Paper #1 Preview · Yonghoon Kim · 2026.06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맑은 고딕"/>
              </a:rPr>
              <a:t>24 /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003876"/>
                </a:solidFill>
                <a:latin typeface="맑은 고딕"/>
              </a:rPr>
              <a:t>21. 모든 Caveat 한 페이지 — 정직한 method limitation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0000"/>
          </a:xfrm>
          <a:prstGeom prst="rect">
            <a:avLst/>
          </a:prstGeom>
          <a:solidFill>
            <a:srgbClr val="003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3385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5120640"/>
                <a:gridCol w="5669280"/>
              </a:tblGrid>
              <a:tr h="429768">
                <a:tc>
                  <a:txBody>
                    <a:bodyPr lIns="54864" rIns="54864" tIns="18288" bIns="18288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#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Caveat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우리 대응</a:t>
                      </a:r>
                    </a:p>
                  </a:txBody>
                  <a:tcPr>
                    <a:solidFill>
                      <a:srgbClr val="003876"/>
                    </a:solidFill>
                  </a:tcPr>
                </a:tc>
              </a:tr>
              <a:tr h="429768"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UMA MLIP σ overshoot ~3–5×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σ ratio만 사용 (절대 σ 인용 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Haven ratio = 1 가정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σ_NE는 upper bound로 표기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3-pt Arrhenius 300K 외삽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정성적 trend만, 정량 단정 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k-mesh convergence 필요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k×L ≥ 40 Å 양쪽 보장 (slide 14)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LOBSTER charge spilling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1.16% / 1.46% (&lt;5% paper 기준)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5 f.u. cell / n=3 configs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ΔEa &lt; 0.05 eV 해상도 못 잡음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USPP gap 0.4 eV underestimate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method offset 명시, Δgap robust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0-pressure ESW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K_eff axis 분리 (slide 18–19)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Random anti-site disorder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 tIns="18288" bIns="18288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맑은 고딕"/>
                        </a:rPr>
                        <a:t>실험 charge-coupled placement 다를 가능성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760720"/>
            <a:ext cx="1133856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003876"/>
                </a:solidFill>
                <a:latin typeface="맑은 고딕"/>
              </a:rPr>
              <a:t>→ 어떤 caveat도 4 메시지 자체를 흔들지 못함</a:t>
            </a:r>
          </a:p>
          <a:p>
            <a:pPr algn="ctr"/>
            <a:r>
              <a:rPr sz="1200" b="0">
                <a:solidFill>
                  <a:srgbClr val="003876"/>
                </a:solidFill>
                <a:latin typeface="맑은 고딕"/>
              </a:rPr>
              <a:t>   trend / ratio / mechanism은 robust (same-protocol paired comparison의 힘)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LPSCl ↔ LPSCl₁.₆ — Paper #1 Preview · Yonghoon Kim · 2026.06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맑은 고딕"/>
              </a:rPr>
              <a:t>25 / 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003876"/>
                </a:solidFill>
                <a:latin typeface="맑은 고딕"/>
              </a:rPr>
              <a:t>22. Trade-offs &amp; Outlook — Paper #2 Doping Strategy로의 다리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20000"/>
          </a:xfrm>
          <a:prstGeom prst="rect">
            <a:avLst/>
          </a:prstGeom>
          <a:solidFill>
            <a:srgbClr val="0038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338560" cy="2194560"/>
          </a:xfrm>
          <a:prstGeom prst="rect">
            <a:avLst/>
          </a:prstGeom>
          <a:solidFill>
            <a:srgbClr val="FBE4E7"/>
          </a:solidFill>
          <a:ln w="1270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C8102E"/>
                </a:solidFill>
                <a:latin typeface="맑은 고딕"/>
              </a:rPr>
              <a:t>4 Trade-offs of LPSCl₁.₆ (idle/storage 영역만)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737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맑은 고딕"/>
              </a:rPr>
              <a:t>1. Thermal calendar shelf life — Wu 2026: 90°C 5일, L6 68% &gt; L55 48% &gt; L53(Cl1.7) 35%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맑은 고딕"/>
              </a:rPr>
              <a:t>2. Moisture sensitivity — Cl⁻ + H₂O → LiOH·LiCl + H₂S (Strauss, Kraft)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맑은 고딕"/>
              </a:rPr>
              <a:t>3. Synthesis window — Cl ≥ 1.7 phase-pure 어려움 (Adeli, Yu, Wu)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맑은 고딕"/>
              </a:rPr>
              <a:t>4. Mechanical anisotropy — Zener A 1.14 → 1.44 (mild but cycling fatigue 가능)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맑은 고딕"/>
              </a:rPr>
              <a:t/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맑은 고딕"/>
              </a:rPr>
              <a:t>Common cause: 4d-Cl anti-site disorder (M3-M4의 source가 동시에 trade-off의 source)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20440"/>
            <a:ext cx="1133856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003876"/>
                </a:solidFill>
                <a:latin typeface="맑은 고딕"/>
              </a:rPr>
              <a:t>↓  Paper #2 Strategy  ↓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840480"/>
            <a:ext cx="11338560" cy="2194560"/>
          </a:xfrm>
          <a:prstGeom prst="rect">
            <a:avLst/>
          </a:prstGeom>
          <a:solidFill>
            <a:srgbClr val="E6EEF7"/>
          </a:solidFill>
          <a:ln w="12700">
            <a:solidFill>
              <a:srgbClr val="0038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8862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003876"/>
                </a:solidFill>
                <a:latin typeface="맑은 고딕"/>
              </a:rPr>
              <a:t>Mitigation via Oxide Doping (X₂O_y → SE)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51960"/>
            <a:ext cx="10972800" cy="1737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맑은 고딕"/>
              </a:rPr>
              <a:t>Hypothesis: O²⁻ PS₄ 부분 치환 또는 4d 자리 점유 → O–Li 강한 결합, Cl/O mixed sublattice, LiCl 2차상 차단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맑은 고딕"/>
              </a:rPr>
              <a:t/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맑은 고딕"/>
              </a:rPr>
              <a:t>Active 후보 (14 dopant × 3 conc cascade screening):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맑은 고딕"/>
              </a:rPr>
              <a:t>  ★ Sc₂O₃   — cascade strongest (de_post = −0.974, E_VRH 18.7 GPa)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맑은 고딕"/>
              </a:rPr>
              <a:t>  ★ B₂O₃    — thermal stabilizer, anneal+EOS 진행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맑은 고딕"/>
              </a:rPr>
              <a:t>  ★ Nd₂O₃   — DFT-relaxed run5 완료, EOS+post 대기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맑은 고딕"/>
              </a:rPr>
              <a:t>  • Al₂O₃ cluster · MnO/CoO 부드러움 후보 (41 champions verified)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172200"/>
            <a:ext cx="1133856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003876"/>
                </a:solidFill>
                <a:latin typeface="맑은 고딕"/>
              </a:rPr>
              <a:t>"구조적 무질서의 양면성을 이해했으니, 이제 그 무질서를 'design'할 수 있다"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LPSCl ↔ LPSCl₁.₆ — Paper #1 Preview · Yonghoon Kim · 2026.06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맑은 고딕"/>
              </a:rPr>
              <a:t>26 / 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33895" y="27432"/>
            <a:ext cx="5120640" cy="274320"/>
          </a:xfrm>
          <a:prstGeom prst="roundRect">
            <a:avLst/>
          </a:prstGeom>
          <a:solidFill>
            <a:srgbClr val="FFF19A"/>
          </a:solidFill>
          <a:ln w="12700">
            <a:solidFill>
              <a:srgbClr val="C89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9144" bIns="9144"/>
          <a:lstStyle/>
          <a:p>
            <a:pPr algn="ctr"/>
            <a:r>
              <a:rPr sz="900" b="1">
                <a:solidFill>
                  <a:srgbClr val="664D00"/>
                </a:solidFill>
                <a:latin typeface="맑은 고딕"/>
              </a:rPr>
              <a:t>📎 사진 첨부: Trade-off 4축 + 도핑 roadmap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