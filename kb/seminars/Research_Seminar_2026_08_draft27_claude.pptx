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발표의 중심은 특정 도펀트 하나가 아닙니다. LPSCl 을 개선하려고 여러 치환 후보를 계산했을 때, 무엇을 믿고 무엇을 탈락시킬지 결정하는 cascade 를 설명드립니다. 최종 산출물은 승자 선언이 아니라, 다음 DFT 와 실험이 갈 수 있는 짧고 방어 가능한 후보 목록입니다.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Argyrodite LPSCl 은 이온전도성과 가공성이 좋지만 산화, 계면, 접촉·기계 문제를 동시에 만족하지 못합니다. 왼쪽은 Sundar 논문의 coating 개요인데, coating 자체가 우리 lattice substitution 과 같다는 게 아니라 - 하나의 처방도 Li, LPSCl, 양극의 서로 다른 계면을 동시에 통과해야 한다는 문제를 보여줍니다. 무엇을 택해도 여러 물성이 함께 바뀌므로 단일 지표가 아니라 cascade 가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도펀트 종류만 바뀌는 게 아니라, 같은 화합물도 배치와 라벨이 달라지면 다른 구조가 됩니다. 현재 funnel 의 x 해석과 canonical CSV 의 concentration=0.25 가 충돌하므로 x002/x005/x010 은 campaign label 이라고만 부릅니다. 273 도 화합물 수가 아니라 91종에 세 label 을 붙인 run slot 수입니다. 실험 한 점에 걸리는 시간이 크기 때문에, 비싼 검증 전에 실패 가능성이 큰 방향부터 줄이는 절차가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Cascade 는 계산을 많이 돌리는 방법이 아니라 비용 배치 전략입니다. 싼 단계에서 넓게 비교하고, 물리 게이트로 위험한 후보를 제거한 뒤, 비싼 DFT 와 실험을 남은 후보에 집중합니다. 각 단계가 무엇을 판정할 수 있는지 한계를 먼저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273은 run slot 수입니다. versioned canonical table 은 2026-06-25 스냅샷으로 oxide 37 + fluoride 10, 47종의 141개 record 만 담습니다 - 141 = 47 x 3 은 champions.csv 로 재검산했습니다. 나머지 44종은 물리 탈락이 아니라 개별 실패 manifest 가 없는 미분류입니다(유일 문서화: As2S3 x3, n_structures=0). 그래서 273에서 47로 걸러냈다는 발견 서사는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탐색 대상을 이름으로 보여드립니다. 전이금속 23, 주족 9, 알칼리토 6, 란타나이드 6, 알칼리 3 - 산화물 37과 불화물 10의 versioned snapshot 입니다. 진하게 표시한 11종이 사후 G4 감사까지 남은 후보고, 단검 표시 두 종만 targeted DFT 로 더 들어갔습니다. 이 장은 명단이지 순위가 아닙니다. 자세한 축별 값은 부록 heatmap 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1에서 UMA 와 저비용 프록시로 넓게 보고, Tier 2에서 필요한 후보만 matched DFT 로 확인합니다. Tier 3는 질문별 후처리와 실험입니다. 모든 조성이 같은 고비용 계산을 받는 게 아니라, tier 안에서 프로토콜을 고정하고 선택된 후보만 올립니다. 현재 DFT 검증은 두 후보라는 범위를 계속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LPSCl 과 Cl-rich 비교는 cascade 의 결과가 아니라 축 선택의 선행 사례입니다. fixed-occupation gap 차이는 0.033 eV 로 작지만, Cl-rich 구조에는 Li 공공과 4d-Cl anti-site 가 생깁니다. 그래서 구조 안정성, Li 경로, 무질서, 기계 축을 우선 기술자로 잡았습니다. comp1 에는 인용 가능한 멀티시드 Ea 가 없어 두 계의 barrier 비교는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G1은 host 대비 구조 안정, G2는 창 붕괴, G3는 host 대비 산화 onset, G4는 BVSE 기하 프록시 두 컷, G5는 로스터 중앙값 순위입니다. G1은 47종 전부 통과라 현재 풀에서 gate power 가 없고, G2의 네 탈락은 전부 G3에도 걸립니다. G4의 blocking 0.6은 anchor 없는 heuristic 이고, G5는 ranking-only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기본 결과는 weighted score 이고, 이 hard-gate funnel 은 문헌 기준을 투영한 사후 분석 뷰입니다. 47에서 47, 43, 25, 11로 줄고, G5의 1은 median 정렬 결과라 winner 로 부르지 않습니다. 방어 가능한 보고는 G4 통과 11종과 각 게이트 한계를 함께 제시하는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G1이 아무 후보도 제거하지 못한 것은 모든 후보가 훌륭하다는 뜻이 아니라, 출발 풀이 안정 후보 위주로 큐레이션됐다는 뜻입니다. G2에서 탈락한 late-TM 4종은 G3에도 모두 탈락해 unique kill 이 0입니다. 게이트가 독립 정보를 주는지 감사하는 것 자체가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산화 onset 을 host 위로 올린 여섯 후보 - B2O3, Cr2O3, Ga2O3, In2O3, Sc2O3, Y2O3 - 가 모두 같은 G4 정적 경로 heuristic 에서 멈췄습니다. 이건 데이터셋 수준의 trade-off 이고 M-O 결합이 Li blocking 을 일으킨다는 인과 증명은 아닙니다. BVSE 는 conductivity 가 아닙니다. 다만 한 후보의 약점과 다른 후보의 강점을 조합해 볼 이유는 충분히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가중점수는 측정 물리량이 아니라 의사결정 함수입니다. 그래서 G1-G4 의 11종 안에서 mean relative energy 와 BVSE proxy 만 놓은 conditional Pareto 를 같이 봅니다. 비지배 4종은 winner 가 아니고 축을 바꾸면 집합도 바뀝니다. 11종은 host onset 2.14 V 에 묶여 산화축 내부 순위가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47종 스냅샷에 질문을 바꿔 던질 수 있습니다. 고전압 양극 쪽이면 산화 onset 과 창 - 저희 계산입니다. 공기 취급이면 문헌 가수분해 proxy 와 정성 등급인데 커버리지가 35/47이고 나머지 12종은 모름이지 불안정이 아닙니다. 비용·무게는 정성 tier 와 질량 proxy, 농도 내성은 세 label 사이 BVS 변화입니다. 축마다 증거 수준이 달라서 화면마다 tag 를 붙였고, 서술 축 단독으로는 어떤 후보도 탈락시키지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그 질문-축 지도를 후보 단위로 접으면 이 팔각형이 됩니다. WO3 는 연질 쪽이 크지만 비용 축이 약하고, B2O3 는 산화 쪽이 큰데 Li 경로만 움푹 들어가 있습니다 - 아까 본 트레이드오프가 도형으로 반복됩니다. Cr2O3 와 HfO2 는 서로 반대쪽이 큰데 이 둘을 겹친 그림이 co-doping 절에 나옵니다. 축은 전부 47종 내 상대 percentile 이고, 공기 축은 편향 검증이 끝날 때까지 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게이트의 120개 순열을 모두 시험했습니다. 게이트가 정적 boolean 조건이라 최종 교집합은 순서와 무관했습니다. 대신 중간 생존자 수와 어느 게이트가 탈락시킨 것으로 보이는지는 달라집니다. waterfall 모양은 결과라기보다 설명 순서입니다.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프로토콜 안의 통과·탈락과 상대순위, 산화-수송 trade-off, 순서 불변성은 현재 데이터로 지지됩니다. UMA 절대값, BVSE 를 전도도로 환산한 값, 축퇴군 내부 순위, G5 단일 승자는 지지되지 않습니다. 계면 반응과 전자 절연은 아직 완전한 게이트로 들어오지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파이프라인은 처음부터 완성된 규칙이 아니었습니다. 단일시드 전도도 비교, 확산영역 밖 MSD 피팅, DOS threshold gap 을 철회했고, 공기 정성 축은 문헌 대조에서 아홉 건이 전부 한 방향으로 어긋나 서술 등급으로 강등했습니다. 실패한 주장이 실행 가능한 게이트가 됐습니다 - 감사는 파이프라인의 일부입니다.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47종 상대 스크린, G1-G4 통과 11종, 심층 DFT 2건은 한 줄의 funnel 이 아닙니다. 특히 B2O3 는 G4 탈락 후보지만 trade-off 검증을 위해 DFT 로 본 사례라 11종의 부분집합처럼 그리면 틀립니다. 비싼 계산은 게이트 경계, 모델 불일치, Pareto 가치, 새로운 화학을 대표하는 후보에 선택적으로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을 둘로 나눠야 합니다. UMA 는 에너지와 힘을 대신하는 MLIP 라 같은 규약으로 넓게 볼 수 있게 해 줍니다. 공동치환 모델은 47개 단일 도펀트 점수를 1,081개 조합에 이식한 가설 생성기입니다. 실제 라벨이 없고 dopant 를 통째로 빼면 R2 가 음수라 discovery predictor 가 아닙니다. 오른쪽 레이더처럼 Cr2O3 와 HfO2 는 서로 반대쪽이 커서 상보성 가설은 그림으로 서지만, 두 champion 의 문헌-유추 자리가 겹칠 수 있어(Cr3+ Li_24g, Hf4+ 양쪽성) site 경쟁이 1차 리스크입니다.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단계는 게이트를 ML 로 없애는 게 아니라, 비싼 계산을 어디에 쓸지 정하는 폐루프입니다. 물리 gate 와 모델을 분리하고, 새 DFT label 을 DB 와 모델로 돌려보냅니다. 상위 예측만 반복하지 않고 불확실하거나 새로운 화학도 선택하며, 게이트 경계는 DFT 로 확인합니다. 최종 판단은 물리 게이트와 실험이 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기호 정의 방어용입니다. 모든 숫자에 method tag 를 붙이고 서로 다른 protocol 절대값을 한 축에 섞지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method-to-claim 계약입니다. screen 값과 DFT case study 를 같은 coverage 처럼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후보별 전 축 backup 입니다. percentile 은 표시용 상대 비교고 universal score 는 없습니다. missing 은 제외·flag 처리했습니다.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질문에는 숫자보다 범위를 먼저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와 후속 예측 모델의 역할을 분리해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기억으로 인용하지 않고 정본 파일로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Seminar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gated MLIP-to-DFT screening cascade for LPSCl modification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curated substitutions to auditable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Yonghoon 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28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of Materials Science &amp; Engineering, Hanyang University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(E-mail : yonghoon71@hanyang.ac.kr)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5577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MLIP screening · physical gates · targeted validation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repair must survive several sulfide interfaces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repair must survive several sulfide interfaces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pic>
        <p:nvPicPr>
          <p:cNvPr id="11" name="Image 0" descr="/tmp/claude-0/-home-user-Yonghoon-DEM-DFT/82ea256b-12bc-5a75-994e-7718d79c71ba/scratchpad/media/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4206240" cy="3108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46908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schematic; coating ≠ lattice substitution (Sundar et al., Adv. Sci. 2025, Fig. 1)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120640" y="1600200"/>
            <a:ext cx="3474720" cy="822960"/>
          </a:xfrm>
          <a:prstGeom prst="roundRect">
            <a:avLst>
              <a:gd name="adj" fmla="val 7778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257800" y="16733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Oxidation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S-derived states limit the cathode side.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120640" y="2560320"/>
            <a:ext cx="3474720" cy="822960"/>
          </a:xfrm>
          <a:prstGeom prst="roundRect">
            <a:avLst>
              <a:gd name="adj" fmla="val 7778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57800" y="263347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coating meets Li, LPSCl, and cathode chemistries.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120640" y="3520440"/>
            <a:ext cx="3474720" cy="822960"/>
          </a:xfrm>
          <a:prstGeom prst="roundRect">
            <a:avLst>
              <a:gd name="adj" fmla="val 7778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57800" y="35935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&amp; mechanics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and particle contact change the response.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4846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single repair knob — and no single screening metric.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48640" y="5257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Coating     Substitution     Composite    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design record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Substitution turns one material into hundreds of decisions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155448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62763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Dopant chemistry
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element or compound?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395728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761488" y="155448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52928" y="162763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label
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x002 / x005 / x010; actual x unresolved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17136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82896" y="155448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74336" y="162763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
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defects placed?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638544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004304" y="155448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95744" y="162763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properties
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· transport · mechanics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37160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
</a:t>
            </a:r>
            <a:endParaRPr lang="en-US" sz="3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compounds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3063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74904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endParaRPr lang="en-US" sz="3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labels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54406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612648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
</a:t>
            </a:r>
            <a:endParaRPr lang="en-US" sz="3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run slots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548640" y="5806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labels alone do not predict the effect.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cascade_v23_champions.csv · x labels are nominal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architecture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cascade spends precision only where it matters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14400" y="1508760"/>
            <a:ext cx="6035040" cy="822960"/>
          </a:xfrm>
          <a:prstGeom prst="roundRect">
            <a:avLst>
              <a:gd name="adj" fmla="val 7778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CURATE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108960" y="16184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 priors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and database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417320" y="2468880"/>
            <a:ext cx="6035040" cy="822960"/>
          </a:xfrm>
          <a:prstGeom prst="roundRect">
            <a:avLst>
              <a:gd name="adj" fmla="val 7778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00200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SCREEN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611880" y="25786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Same-protocol MLIP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low-cost proxies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920240" y="3429000"/>
            <a:ext cx="6035040" cy="822960"/>
          </a:xfrm>
          <a:prstGeom prst="roundRect">
            <a:avLst>
              <a:gd name="adj" fmla="val 7778"/>
            </a:avLst>
          </a:prstGeom>
          <a:solidFill>
            <a:srgbClr val="FFF4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0312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GATE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114800" y="35387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physically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candidates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423160" y="4389120"/>
            <a:ext cx="6035040" cy="822960"/>
          </a:xfrm>
          <a:prstGeom prst="roundRect">
            <a:avLst>
              <a:gd name="adj" fmla="val 7778"/>
            </a:avLst>
          </a:prstGeom>
          <a:solidFill>
            <a:srgbClr val="E5F2E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06040" y="4617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VALIDATE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617720" y="44988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DFT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experiment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292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count ↓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31520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precision ↑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5486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 narrows experiments; it does not replace them.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provenance · versioned lineage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9" name="Image 0" descr="/tmp/claude-0/-home-user-Yonghoon-DEM-DFT/82ea256b-12bc-5a75-994e-7718d79c71ba/scratchpad/media/imag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43000"/>
            <a:ext cx="7863840" cy="4343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5513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× 3 attempted slots → versioned 47-species snapshot (attrition is provenance, not physics)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cascade_seminar_pool_attrition_273_to_47.csv · champions.csv (141 rows)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47-species snapshot, by chemical family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actually explored — a cast list, not a ranking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417320"/>
            <a:ext cx="3017520" cy="3291840"/>
          </a:xfrm>
          <a:prstGeom prst="roundRect">
            <a:avLst>
              <a:gd name="adj" fmla="val 2121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147218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metal (23)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58368" y="1691640"/>
            <a:ext cx="279806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Ag₂O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Cr₂O₃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Cu₂O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Fe₂O₃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HfO₂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MnO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Nb₂O₅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NiO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Sc₂O₃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ScF₃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Ta₂O₅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TiF₄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TiO₂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V₂O₅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Y₂O₃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YF₃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ZnO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ZrF₄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ZrO₂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03320" y="1417320"/>
            <a:ext cx="48920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13048" y="1472184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group (9)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813048" y="1691640"/>
            <a:ext cx="4672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Al₂O₃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B₂O₃†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Ga₂O₃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GeO₂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In₂O₃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Sb₂O₅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SiO₂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SnO₂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703320" y="260604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13048" y="266090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Alkaline earth (6)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813048" y="2880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CaF₂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MgF₂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MgO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17920" y="260604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27648" y="266090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Lanthanide (6)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327648" y="288036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Gd₂O₃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La₂O₃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Nd₂O₃†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NdF₃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Sm₂O₃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703320" y="365760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13048" y="37124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Alkali (3)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813048" y="3931920"/>
            <a:ext cx="21579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Li₂O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</a:t>
            </a:r>
            <a:pPr indent="0" marL="0"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Na₂O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217920" y="3657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</a:t>
            </a:r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retained through the post-hoc G4 audit (11)    </a:t>
            </a:r>
            <a:pPr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†</a:t>
            </a:r>
            <a:pPr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targeted deep-DFT case study (2)    37 oxides + 10 fluorides, versioned 2026-06-25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48640" y="5074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curated snapshot to explore — membership here is not a gate result.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cascade_seminar_scorecard_47.csv (dopant · group · pass_G1_G4 · dft_deep)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protocol within each tier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validation, and interpretation are different jobs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1645920"/>
            <a:ext cx="1920240" cy="1828800"/>
          </a:xfrm>
          <a:prstGeom prst="roundRect">
            <a:avLst>
              <a:gd name="adj" fmla="val 3500"/>
            </a:avLst>
          </a:prstGeom>
          <a:solidFill>
            <a:srgbClr val="F2F2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7830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 </a:t>
            </a:r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INPUT
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· concentration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· provenance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578608" y="2560320"/>
            <a:ext cx="182880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761488" y="1645920"/>
            <a:ext cx="1920240" cy="1828800"/>
          </a:xfrm>
          <a:prstGeom prst="roundRect">
            <a:avLst>
              <a:gd name="adj" fmla="val 3500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71216" y="17830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 </a:t>
            </a:r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SCREEN
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relaxation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BVSE and derived axes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00016" y="2560320"/>
            <a:ext cx="182880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882896" y="1645920"/>
            <a:ext cx="1920240" cy="1828800"/>
          </a:xfrm>
          <a:prstGeom prst="roundRect">
            <a:avLst>
              <a:gd name="adj" fmla="val 3500"/>
            </a:avLst>
          </a:prstGeom>
          <a:solidFill>
            <a:srgbClr val="FFF4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92624" y="17830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 </a:t>
            </a:r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DFT
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candidates only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· force · electronics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21424" y="2560320"/>
            <a:ext cx="182880" cy="0"/>
          </a:xfrm>
          <a:prstGeom prst="line">
            <a:avLst/>
          </a:prstGeom>
          <a:noFill/>
          <a:ln w="2222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004304" y="1645920"/>
            <a:ext cx="1920240" cy="1828800"/>
          </a:xfrm>
          <a:prstGeom prst="roundRect">
            <a:avLst>
              <a:gd name="adj" fmla="val 3500"/>
            </a:avLst>
          </a:prstGeom>
          <a:solidFill>
            <a:srgbClr val="E5F2E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14032" y="178308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 </a:t>
            </a:r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
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purity · sigma(T)</a:t>
            </a:r>
            <a:endParaRPr lang="en-US" sz="13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· processing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tag + source file + status travel with every value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scope: 47 relative screens; targeted DFT validation covers 2 candidates.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registry · same-protocol values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LPSCl taught us which descriptors to watch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1600200"/>
            <a:ext cx="2560320" cy="1920240"/>
          </a:xfrm>
          <a:prstGeom prst="roundRect">
            <a:avLst>
              <a:gd name="adj" fmla="val 3333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737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guard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 = 2.066 vs 2.099 eV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= 0.033 eV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Fixed-occupation eigenvalues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1600200"/>
            <a:ext cx="2560320" cy="1920240"/>
          </a:xfrm>
          <a:prstGeom prst="roundRect">
            <a:avLst>
              <a:gd name="adj" fmla="val 3333"/>
            </a:avLst>
          </a:prstGeom>
          <a:solidFill>
            <a:srgbClr val="FFF4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0440" y="1737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contrast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vacancies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4d-Cl anti-sites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Disorder, not a new chemistry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1600200"/>
            <a:ext cx="2560320" cy="1920240"/>
          </a:xfrm>
          <a:prstGeom prst="roundRect">
            <a:avLst>
              <a:gd name="adj" fmla="val 3333"/>
            </a:avLst>
          </a:prstGeom>
          <a:solidFill>
            <a:srgbClr val="E5F2E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373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evidence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Cl-rich modelc: Ea = 0.197 ± 0.032 eV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3-seed, 600/800/1000 K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citable comp1 Ea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descriptors first; electronics remain a guardrail.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values are canonical; lineage-specific fixed-occ run files remain provenance-open.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electronic.json · canonical_registry.json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physical · G5 ranking-only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gates ask five different questions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1600200"/>
            <a:ext cx="1481328" cy="210312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737360"/>
            <a:ext cx="1280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
</a:t>
            </a:r>
            <a:endParaRPr lang="en-US" sz="15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
</a:t>
            </a:r>
            <a:endParaRPr lang="en-US" sz="15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stable than host?
</a:t>
            </a:r>
            <a:endParaRPr lang="en-US" sz="1500" dirty="0"/>
          </a:p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ΔE &lt; 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276856" y="1600200"/>
            <a:ext cx="1481328" cy="210312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86584" y="1737360"/>
            <a:ext cx="1280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
</a:t>
            </a:r>
            <a:endParaRPr lang="en-US" sz="15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
</a:t>
            </a:r>
            <a:endParaRPr lang="en-US" sz="15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ESW collapse?
</a:t>
            </a:r>
            <a:endParaRPr lang="en-US" sz="1500" dirty="0"/>
          </a:p>
          <a:p>
            <a:pPr indent="0" marL="0">
              <a:buNone/>
            </a:pPr>
            <a:r>
              <a:rPr lang="en-US" sz="8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≥ 0.05 V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913632" y="1600200"/>
            <a:ext cx="1481328" cy="210312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1737360"/>
            <a:ext cx="1280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
</a:t>
            </a:r>
            <a:endParaRPr lang="en-US" sz="15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Oxidation
</a:t>
            </a:r>
            <a:endParaRPr lang="en-US" sz="15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Worse than host onset?
</a:t>
            </a:r>
            <a:endParaRPr lang="en-US" sz="1500" dirty="0"/>
          </a:p>
          <a:p>
            <a:pPr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 ≥ 2.14 V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550408" y="1600200"/>
            <a:ext cx="1481328" cy="210312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0136" y="1737360"/>
            <a:ext cx="1280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
</a:t>
            </a:r>
            <a:endParaRPr lang="en-US" sz="15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pathway
</a:t>
            </a:r>
            <a:endParaRPr lang="en-US" sz="15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pathway retained?
</a:t>
            </a:r>
            <a:endParaRPr lang="en-US" sz="1500" dirty="0"/>
          </a:p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&gt; 0.3 AND blocking &lt; 0.6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187184" y="1600200"/>
            <a:ext cx="1481328" cy="210312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96912" y="1737360"/>
            <a:ext cx="1280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G5*
</a:t>
            </a:r>
            <a:endParaRPr lang="en-US" sz="15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Mechanics
</a:t>
            </a:r>
            <a:endParaRPr lang="en-US" sz="150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survivors rank?
</a:t>
            </a:r>
            <a:endParaRPr lang="en-US" sz="1500" dirty="0"/>
          </a:p>
          <a:p>
            <a:pPr indent="0" marL="0">
              <a:buNone/>
            </a:pPr>
            <a:r>
              <a:rPr lang="en-US" sz="8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 medians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is also heuristic: blocking &lt; 0.6 has no host/literature anchor.  G5 is roster-relative ranking.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cascade_screening_funnel.json (gates)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literature-mapped gate 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auditable hard-gate view stops at 11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DATA-COMPLETE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423160" y="1463040"/>
            <a:ext cx="5669280" cy="502920"/>
          </a:xfrm>
          <a:prstGeom prst="roundRect">
            <a:avLst>
              <a:gd name="adj" fmla="val 9091"/>
            </a:avLst>
          </a:prstGeom>
          <a:solidFill>
            <a:srgbClr val="1F4E79"/>
          </a:solidFill>
          <a:ln/>
        </p:spPr>
      </p:sp>
      <p:sp>
        <p:nvSpPr>
          <p:cNvPr id="13" name="Text 10"/>
          <p:cNvSpPr/>
          <p:nvPr/>
        </p:nvSpPr>
        <p:spPr>
          <a:xfrm>
            <a:off x="7452360" y="1536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 STRUCTURE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423160" y="2176272"/>
            <a:ext cx="5669280" cy="502920"/>
          </a:xfrm>
          <a:prstGeom prst="roundRect">
            <a:avLst>
              <a:gd name="adj" fmla="val 9091"/>
            </a:avLst>
          </a:prstGeom>
          <a:solidFill>
            <a:srgbClr val="0F5298"/>
          </a:solidFill>
          <a:ln/>
        </p:spPr>
      </p:sp>
      <p:sp>
        <p:nvSpPr>
          <p:cNvPr id="16" name="Text 13"/>
          <p:cNvSpPr/>
          <p:nvPr/>
        </p:nvSpPr>
        <p:spPr>
          <a:xfrm>
            <a:off x="7452360" y="22494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 WINDOW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423160" y="2889504"/>
            <a:ext cx="5186788" cy="502920"/>
          </a:xfrm>
          <a:prstGeom prst="roundRect">
            <a:avLst>
              <a:gd name="adj" fmla="val 9091"/>
            </a:avLst>
          </a:prstGeom>
          <a:solidFill>
            <a:srgbClr val="4A7EBB"/>
          </a:solidFill>
          <a:ln/>
        </p:spPr>
      </p:sp>
      <p:sp>
        <p:nvSpPr>
          <p:cNvPr id="19" name="Text 16"/>
          <p:cNvSpPr/>
          <p:nvPr/>
        </p:nvSpPr>
        <p:spPr>
          <a:xfrm>
            <a:off x="6969868" y="29626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3712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 OXIDATION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423160" y="3602736"/>
            <a:ext cx="3015574" cy="502920"/>
          </a:xfrm>
          <a:prstGeom prst="roundRect">
            <a:avLst>
              <a:gd name="adj" fmla="val 9091"/>
            </a:avLst>
          </a:prstGeom>
          <a:solidFill>
            <a:srgbClr val="B26A00"/>
          </a:solidFill>
          <a:ln/>
        </p:spPr>
      </p:sp>
      <p:sp>
        <p:nvSpPr>
          <p:cNvPr id="22" name="Text 19"/>
          <p:cNvSpPr/>
          <p:nvPr/>
        </p:nvSpPr>
        <p:spPr>
          <a:xfrm>
            <a:off x="4798654" y="3675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8640" y="4425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 LI TRANSPORT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423160" y="4315968"/>
            <a:ext cx="1326853" cy="502920"/>
          </a:xfrm>
          <a:prstGeom prst="roundRect">
            <a:avLst>
              <a:gd name="adj" fmla="val 9091"/>
            </a:avLst>
          </a:prstGeom>
          <a:solidFill>
            <a:srgbClr val="2E7D32"/>
          </a:solidFill>
          <a:ln/>
        </p:spPr>
      </p:sp>
      <p:sp>
        <p:nvSpPr>
          <p:cNvPr id="25" name="Text 22"/>
          <p:cNvSpPr/>
          <p:nvPr/>
        </p:nvSpPr>
        <p:spPr>
          <a:xfrm>
            <a:off x="3109933" y="4389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108960" y="5120640"/>
            <a:ext cx="2926080" cy="457200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08960" y="51755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 mechanical ranking → 1*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5715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This funnel is a post-hoc analysis view. G4 is heuristic; G5 is ranking-only.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cascade_screening_funnel.json (waterfall)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kill · unique kill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gates reveal more about the pool than the candidates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645920"/>
            <a:ext cx="3657600" cy="2926080"/>
          </a:xfrm>
          <a:prstGeom prst="roundRect">
            <a:avLst>
              <a:gd name="adj" fmla="val 2188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G1: 47 / 47 pass
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VACUOUS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selection pressure in the curated pool.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does not prove universal stability.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645920"/>
            <a:ext cx="3657600" cy="2926080"/>
          </a:xfrm>
          <a:prstGeom prst="roundRect">
            <a:avLst>
              <a:gd name="adj" fmla="val 2188"/>
            </a:avLst>
          </a:prstGeom>
          <a:solidFill>
            <a:srgbClr val="FFF4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192024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G2: unique kill = 0
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
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window-collapse failures (CoO, Fe₂O₃, MnO, NiO) also fail G3.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Late-TM chemistry drives both.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5029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records. Change the interpretation.  Gate auditing is itself a scientific result.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cascade_seminar_scorecard_47.csv (first_stop)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47-species snapshot · static pathway audit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pic>
        <p:nvPicPr>
          <p:cNvPr id="9" name="Image 0" descr="/tmp/claude-0/-home-user-Yonghoon-DEM-DFT/82ea256b-12bc-5a75-994e-7718d79c71ba/scratchpad/media/image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97280"/>
            <a:ext cx="7863840" cy="4206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53309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oxidation-raising candidates stop at the same static pathway heuristic — a dataset-level trade-off, not causal proof of M–O blocking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cascade_seminar_oxidation_transport_47.csv (6/6 verified)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Pareto view within post-hoc G1–G4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pic>
        <p:nvPicPr>
          <p:cNvPr id="9" name="Image 0" descr="/tmp/claude-0/-home-user-Yonghoon-DEM-DFT/82ea256b-12bc-5a75-994e-7718d79c71ba/scratchpad/media/image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097280"/>
            <a:ext cx="7863840" cy="4206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53309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Non-dominated set within the 11-member shortlist — axis-dependent, not a winner list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cascade_seminar_pareto_47.csv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snapshot, different deployment questions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answer inherits a different evidence level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201168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question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Axes consulted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level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handling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High-voltage cathode side?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oxidation onset · ESW window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OURS-CALC (MP grand-potential)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Survives ambient handling?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ΔG_hyd (lit., binary-sulfide proxy) · HSAB tier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 (35/47) · CURATED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unknown — excluded, never zero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 and light at scale?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tier · formula mass per 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CURATED (2026 tier) · STATIC-PROXY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qualitative — never $/kg or Wh/kg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 to doping level?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BVS proxy drift across 3 campaign labels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STATIC-PROXY (nominal labels)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labels ≠ resolved 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4892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axis alone rejects a candidate; descriptive axes never gate.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cascade_v23_themes.json (dG_hyd_MS_lit 35/47 · cost_tier · mass_per_cation · bvs_slope)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profiles across eight axes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trade — they do not add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pic>
        <p:nvPicPr>
          <p:cNvPr id="11" name="Image 0" descr="/home/user/Yonghoon-DEM-DFT/docs/figures/cascade/cascade_radar_6pa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234440"/>
            <a:ext cx="7589520" cy="4343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56052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Within-pool favorable percentiles (descriptive ranking, not absolute properties) — air axes excluded (provisional); BVSE/blocking are static proxies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cascade_radar_axes_origin.csv · fig_cascade_radar.py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5! = 120 gate orders enumerated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order changes the story, not the terminal intersection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737360"/>
            <a:ext cx="7680960" cy="914400"/>
          </a:xfrm>
          <a:prstGeom prst="roundRect">
            <a:avLst>
              <a:gd name="adj" fmla="val 7000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→ G2 → G3 → G4 → G5      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→ 47 → 43 → 25 → 11 → 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2834640"/>
            <a:ext cx="7680960" cy="91440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→ G3 → G2 → G5 → G4      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→ 47 → 25 → 25 → 7 →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/ 120</a:t>
            </a:r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gate permutations tested — terminal set invariant; intermediate attribution order-dependent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48640" y="4937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waterfall shape and “who killed what” remain order-dependent.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cascade_pipeline_guide.md (permutation audit)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Method-matched claims only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strength must match the method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645920"/>
            <a:ext cx="3657600" cy="3017520"/>
          </a:xfrm>
          <a:prstGeom prst="roundRect">
            <a:avLst>
              <a:gd name="adj" fmla="val 2121"/>
            </a:avLst>
          </a:prstGeom>
          <a:solidFill>
            <a:srgbClr val="E5F2E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8745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Gate pass / fail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Same-protocol relative ranking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Oxidation–transport trade-off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Gate-order invariance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1645920"/>
            <a:ext cx="3657600" cy="3017520"/>
          </a:xfrm>
          <a:prstGeom prst="roundRect">
            <a:avLst>
              <a:gd name="adj" fmla="val 2121"/>
            </a:avLst>
          </a:prstGeom>
          <a:solidFill>
            <a:srgbClr val="FDECEA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18745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SUPPORTED
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UMA absolute energies / moduli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BVSE-derived conductivity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Ranking inside degenerate groups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A unique G5 winner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5029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as full gates: interface reaction + electronic insulation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ledger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made the cascade more credible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600200"/>
            <a:ext cx="7680960" cy="777240"/>
          </a:xfrm>
          <a:prstGeom prst="roundRect">
            <a:avLst>
              <a:gd name="adj" fmla="val 8235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Single-seed 1.33× conductivity   →   </a:t>
            </a:r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Multi-seed verdict only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532888"/>
            <a:ext cx="7680960" cy="777240"/>
          </a:xfrm>
          <a:prstGeom prst="roundRect">
            <a:avLst>
              <a:gd name="adj" fmla="val 8235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7157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MSD fit outside diffusion   →   </a:t>
            </a:r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∈ [0.8, 1.2] gate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3465576"/>
            <a:ext cx="7680960" cy="777240"/>
          </a:xfrm>
          <a:prstGeom prst="roundRect">
            <a:avLst>
              <a:gd name="adj" fmla="val 8235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64845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DOS-threshold band gap   →   </a:t>
            </a:r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Fixed-occ eigenvalues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4398264"/>
            <a:ext cx="7680960" cy="777240"/>
          </a:xfrm>
          <a:prstGeom prst="roundRect">
            <a:avLst>
              <a:gd name="adj" fmla="val 8235"/>
            </a:avLst>
          </a:prstGeom>
          <a:solidFill>
            <a:srgbClr val="FFF4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45811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air_hsab qualitative tier   →   </a:t>
            </a:r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[Zhu20] cross-check: 9/35 off, all one direction → axis demoted to CURATED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5532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claims became executable gates — the audit is part of the pipeline.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canonical_registry.json · cascade_air_axis_lit_vs_tier.csv (26/9/12)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deep-DFT coverage: 2 / 47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coverage counts — not a linear funnel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1737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
</a:t>
            </a:r>
            <a:endParaRPr lang="en-US" sz="4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data-complete relative screens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566160" y="1737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
</a:t>
            </a:r>
            <a:endParaRPr lang="en-US" sz="4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post-hoc G1–G4 survivors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309360" y="1737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endParaRPr lang="en-US" sz="4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deep-DFT cases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E2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COVERAGE RECORDS  ·  B₂O₃ is not inside the G4 survivor set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1520" y="3794760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886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when
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Near a gate boundary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heads disagree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Pareto value is high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Chemistry is under-sampled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54880" y="3794760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3886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validation contract
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structure, cell, constraint, k-mesh, reference, and magnetic protocol.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only inside one protocol lineage.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5440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47-candidate result is a relative screen — not 47 DFT confirmations.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screen + co-doping hypothesis model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is already here — but it is not yet a discovery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160020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691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MLIP
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and force surrogate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configuration search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Same-protocol relative screen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E5F2E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926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cascade
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pass / fail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structure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Shortlist for expensive validation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06908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FFF4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1605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Co-doping ML v2
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scores → 1,081 pair hypotheses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explicit pair structures / targets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 / L2DO R² &lt; 0</a:t>
            </a:r>
            <a:endParaRPr lang="en-US" sz="1050" dirty="0"/>
          </a:p>
        </p:txBody>
      </p:sp>
      <p:pic>
        <p:nvPicPr>
          <p:cNvPr id="17" name="Image 0" descr="/home/user/Yonghoon-DEM-DFT/docs/figures/cascade/cascade_radar_pair_CrH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1371600"/>
            <a:ext cx="3657600" cy="3749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92040" y="5148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End-member profiles only — the pair itself is uncomputed (site competition unresolved)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48640" y="5577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role: cost reduction + hypothesis ordering, not discovery certification.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codoping_ml_v2_meta.json · cascade_radar_axes_origin.csv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0" y="3108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Sendek 2017 · GNoME 2023 · Kim 2025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cascade learns where to calculate next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31520" y="173736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F2F2F2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8470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SPACE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dopant × x × configuration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0" y="173736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D9E1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18470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 FAST SCREEN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+ BVSE + gate risk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173736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FFF4E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18470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 DFT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validation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91840" y="329184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E5F2E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29000" y="34015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DATABASE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provenance-tagged records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852160" y="329184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F2F2F2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4015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gain + uncertainty + diversity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1520" y="3291840"/>
            <a:ext cx="2286000" cy="1005840"/>
          </a:xfrm>
          <a:prstGeom prst="roundRect">
            <a:avLst>
              <a:gd name="adj" fmla="val 6364"/>
            </a:avLst>
          </a:prstGeom>
          <a:solidFill>
            <a:srgbClr val="E5F2E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34015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 EXPERIMENT
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· sigma(T) · stability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EXPLOIT: predicted Pareto gain     EXPLORE: uncertainty / new chemistry     VALIDATE: gate boundary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8640" y="5212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chooses what to calculate next; physics and experiments decide what is true.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cascade_ml_integration_guide.md · litdb (Sendek · Kim digests held)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 and symbol conventions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Symbol / term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 rule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Doped − host relative energy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engine, cell, composition convention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Grand-potential oxidation onset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 vs Li; ties at 2.14 V remain unresolved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Vox − Vred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Collapse gate only; not kinetic stability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transport_norm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BVSE geometric proxy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call it D or conductivity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log(MSD) / d log(t)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0.8–1.2 required for diffusive verdict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Arrhenius activation energy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temperatures, window, seeds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calculated / incomplete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 zero and not a failure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matrix and allowed claims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228600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/ method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output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Allowed claim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not claim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MLIP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E, forces, relaxation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Same-protocol candidate ordering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Absolute thermodynamics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BVSE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pathway geometry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Pathway retention 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or conductivity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MLIP-MD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MSD, D(T), 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Multiseed verdict at 600/800/1000 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Single-seed ratio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Matched energy/electronic response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Selected candidate validation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47/47 DFT coverage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 / experiment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values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Directional cross-check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 with internal absolutes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47-species scorecard heatmap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pic>
        <p:nvPicPr>
          <p:cNvPr id="10" name="Image 0" descr="/tmp/claude-0/-home-user-Yonghoon-DEM-DFT/82ea256b-12bc-5a75-994e-7718d79c71ba/scratchpad/media/image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25880"/>
            <a:ext cx="7680960" cy="4572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59253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Per-axis favorable percentiles + first-stop gate — no composite score, no winner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572000" y="61996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cascade_seminar_scorecard_47.csv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Q&amp;A — cascade and evidence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Defense answer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47 a high-throughput discovery funnel?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 It is a human-curated, host-specific composition-family scan.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happened to the other 44 of 91?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Absent from the versioned canonical snapshot; absence is not physical rejection.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keep vacuous or redundant gates?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Auditability. Their selection pressure is reported and may change with a new pool.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conclude at 11 instead of one?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 is roster-median ranking. G4 defines the defensible physical survivor set.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BVSE failure prove low conductivity?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 It flags pathway risk; multiseed MD or experiment is required.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is the air axis not a gate?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 proxy covers 35/47 (12 unknown ≠ unstable) and our qualitative tier failed a one-directional bias check — it stays descriptive.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Q&amp;A — validation and 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Defense answer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all 47 candidates DFT-validated?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 Current DFT coverage is 2/47; the rest are relative screens.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47 rows train a discovery model?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 general model. They can seed gate-specific surrogates and active learning.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not trust LOOCV R² = 0.9998?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target score is constructed from the same inputs; independent dopant splits collapse.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not choose only the predicted top candidate?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Winner's curse. Acquisition must include uncertainty and chemical diversity.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can the model be called predictive?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real co-doped labels, group-CV, and a prospective validation round.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33272"/>
            <a:ext cx="109728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9326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sources held in the repository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HANYANG UNIVERSITY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91840" y="6446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Materials Lab.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667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840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docs/cascade_pipeline_guide.md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Canonical narrative, gates, trust limits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db/properties/cascade_screening_funnel.json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Waterfall, gate outcomes, permutations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db/properties/cascade_seminar_scorecard_47.csv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47-candidate axes + first-stop + deep-DFT flags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db/properties/cascade_v23_champions.csv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 champion records (47 × 3 labels)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db/properties/cascade_v23_themes.json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design axes incl. air / cost / mass / dose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db/properties/cascade_air_axis_lit_vs_tier.csv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[Zhu20] cross-check: 26 agree · 9 off · 12 absent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db/properties/cascade_radar_axes_origin.csv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Eight-axis favorable percentiles (radar)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db/properties/codoping_ml_v2_meta.json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validation limits (LODO/L2DO)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db/properties/canonical_registry.json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Canonical values and provenance flags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2026-08-10T21:19:17Z</dcterms:created>
  <dcterms:modified xsi:type="dcterms:W3CDTF">2026-08-10T21:19:17Z</dcterms:modified>
</cp:coreProperties>
</file>