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d13065193d94e11" /><Relationship Type="http://schemas.openxmlformats.org/officeDocument/2006/relationships/extended-properties" Target="/docProps/app.xml" Id="R642d59da3e524ad9" /><Relationship Type="http://schemas.openxmlformats.org/officeDocument/2006/relationships/officeDocument" Target="/ppt/presentation.xml" Id="R8b2abe30f35f4854" /></Relationships>
</file>

<file path=ppt/presentation.xml><?xml version="1.0" encoding="utf-8"?>
<p:presentation xmlns:p="http://schemas.openxmlformats.org/presentationml/2006/main">
  <p:sldMasterIdLst>
    <p:sldMasterId xmlns:r="http://schemas.openxmlformats.org/officeDocument/2006/relationships" id="2147483648" r:id="Rd6a887a1b1344787"/>
  </p:sldMasterIdLst>
  <p:notesMasterIdLst>
    <p:notesMasterId xmlns:r="http://schemas.openxmlformats.org/officeDocument/2006/relationships" r:id="R8a536ea2d4c940a2"/>
  </p:notesMasterIdLst>
  <p:sldIdLst>
    <p:sldId xmlns:r="http://schemas.openxmlformats.org/officeDocument/2006/relationships" id="256" r:id="R873ae08f54654026"/>
    <p:sldId xmlns:r="http://schemas.openxmlformats.org/officeDocument/2006/relationships" id="257" r:id="R3020b9ee2a3d4eb5"/>
    <p:sldId xmlns:r="http://schemas.openxmlformats.org/officeDocument/2006/relationships" id="258" r:id="R1ee0b9b109e94e3a"/>
    <p:sldId xmlns:r="http://schemas.openxmlformats.org/officeDocument/2006/relationships" id="259" r:id="R6ec6a3e6967c4375"/>
    <p:sldId xmlns:r="http://schemas.openxmlformats.org/officeDocument/2006/relationships" id="260" r:id="R995d5fede005438f"/>
    <p:sldId xmlns:r="http://schemas.openxmlformats.org/officeDocument/2006/relationships" id="261" r:id="Rc508356270324c75"/>
    <p:sldId xmlns:r="http://schemas.openxmlformats.org/officeDocument/2006/relationships" id="262" r:id="R596f95f2d91d4e7a"/>
    <p:sldId xmlns:r="http://schemas.openxmlformats.org/officeDocument/2006/relationships" id="263" r:id="R2a7ac5ed025e4acd"/>
    <p:sldId xmlns:r="http://schemas.openxmlformats.org/officeDocument/2006/relationships" id="264" r:id="R44518ca770894ef9"/>
    <p:sldId xmlns:r="http://schemas.openxmlformats.org/officeDocument/2006/relationships" id="265" r:id="Rc12e5165ec4446f1"/>
    <p:sldId xmlns:r="http://schemas.openxmlformats.org/officeDocument/2006/relationships" id="266" r:id="Rf618574ba2814a73"/>
    <p:sldId xmlns:r="http://schemas.openxmlformats.org/officeDocument/2006/relationships" id="267" r:id="R9edd406c216649a5"/>
    <p:sldId xmlns:r="http://schemas.openxmlformats.org/officeDocument/2006/relationships" id="268" r:id="R49185152f55340b7"/>
    <p:sldId xmlns:r="http://schemas.openxmlformats.org/officeDocument/2006/relationships" id="269" r:id="R9cd9988d9e08466b"/>
    <p:sldId xmlns:r="http://schemas.openxmlformats.org/officeDocument/2006/relationships" id="270" r:id="R347042d9777e43af"/>
    <p:sldId xmlns:r="http://schemas.openxmlformats.org/officeDocument/2006/relationships" id="271" r:id="Rb1d5794c9dde4688"/>
    <p:sldId xmlns:r="http://schemas.openxmlformats.org/officeDocument/2006/relationships" id="272" r:id="R81110fd9b5fc4583"/>
    <p:sldId xmlns:r="http://schemas.openxmlformats.org/officeDocument/2006/relationships" id="273" r:id="R4cfd8fcc32b648f0"/>
    <p:sldId xmlns:r="http://schemas.openxmlformats.org/officeDocument/2006/relationships" id="274" r:id="R331e344fe22042af"/>
    <p:sldId xmlns:r="http://schemas.openxmlformats.org/officeDocument/2006/relationships" id="275" r:id="Ra3a54b1f613f40c0"/>
    <p:sldId xmlns:r="http://schemas.openxmlformats.org/officeDocument/2006/relationships" id="276" r:id="Rebb465149d0e479f"/>
    <p:sldId xmlns:r="http://schemas.openxmlformats.org/officeDocument/2006/relationships" id="277" r:id="R2bd1f057a0734515"/>
    <p:sldId xmlns:r="http://schemas.openxmlformats.org/officeDocument/2006/relationships" id="278" r:id="Rc34c0742413f441d"/>
    <p:sldId xmlns:r="http://schemas.openxmlformats.org/officeDocument/2006/relationships" id="279" r:id="Rc5fbb2f9edad4f0a"/>
    <p:sldId xmlns:r="http://schemas.openxmlformats.org/officeDocument/2006/relationships" id="280" r:id="R90ecc8099252473a"/>
    <p:sldId xmlns:r="http://schemas.openxmlformats.org/officeDocument/2006/relationships" id="281" r:id="Rc21005f85982483f"/>
    <p:sldId xmlns:r="http://schemas.openxmlformats.org/officeDocument/2006/relationships" id="282" r:id="Ra2e4df3edfcf4daf"/>
    <p:sldId xmlns:r="http://schemas.openxmlformats.org/officeDocument/2006/relationships" id="283" r:id="R80b9e38a40be434b"/>
  </p:sldIdLst>
  <p:sldSz cx="9144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2337b80bd0444f6c" /><Relationship Type="http://schemas.openxmlformats.org/officeDocument/2006/relationships/slideMaster" Target="/ppt/slideMasters/slideMaster1.xml" Id="Rd6a887a1b1344787" /><Relationship Type="http://schemas.openxmlformats.org/officeDocument/2006/relationships/notesMaster" Target="/ppt/notesMasters/notesMaster1.xml" Id="R8a536ea2d4c940a2" /><Relationship Type="http://schemas.openxmlformats.org/officeDocument/2006/relationships/presProps" Target="/ppt/presProps.xml" Id="R3e4bfb3b3d044992" /><Relationship Type="http://schemas.openxmlformats.org/officeDocument/2006/relationships/viewProps" Target="/ppt/viewProps.xml" Id="Rc82bce6c142d45b9" /><Relationship Type="http://schemas.openxmlformats.org/officeDocument/2006/relationships/tableStyles" Target="/ppt/tableStyles.xml" Id="R6b082f5d00a34921" /><Relationship Type="http://schemas.openxmlformats.org/officeDocument/2006/relationships/slide" Target="/ppt/slides/slide1.xml" Id="R873ae08f54654026" /><Relationship Type="http://schemas.openxmlformats.org/officeDocument/2006/relationships/slide" Target="/ppt/slides/slide2.xml" Id="R3020b9ee2a3d4eb5" /><Relationship Type="http://schemas.openxmlformats.org/officeDocument/2006/relationships/slide" Target="/ppt/slides/slide3.xml" Id="R1ee0b9b109e94e3a" /><Relationship Type="http://schemas.openxmlformats.org/officeDocument/2006/relationships/slide" Target="/ppt/slides/slide4.xml" Id="R6ec6a3e6967c4375" /><Relationship Type="http://schemas.openxmlformats.org/officeDocument/2006/relationships/slide" Target="/ppt/slides/slide5.xml" Id="R995d5fede005438f" /><Relationship Type="http://schemas.openxmlformats.org/officeDocument/2006/relationships/slide" Target="/ppt/slides/slide6.xml" Id="Rc508356270324c75" /><Relationship Type="http://schemas.openxmlformats.org/officeDocument/2006/relationships/slide" Target="/ppt/slides/slide7.xml" Id="R596f95f2d91d4e7a" /><Relationship Type="http://schemas.openxmlformats.org/officeDocument/2006/relationships/slide" Target="/ppt/slides/slide8.xml" Id="R2a7ac5ed025e4acd" /><Relationship Type="http://schemas.openxmlformats.org/officeDocument/2006/relationships/slide" Target="/ppt/slides/slide9.xml" Id="R44518ca770894ef9" /><Relationship Type="http://schemas.openxmlformats.org/officeDocument/2006/relationships/slide" Target="/ppt/slides/slide10.xml" Id="Rc12e5165ec4446f1" /><Relationship Type="http://schemas.openxmlformats.org/officeDocument/2006/relationships/slide" Target="/ppt/slides/slide11.xml" Id="Rf618574ba2814a73" /><Relationship Type="http://schemas.openxmlformats.org/officeDocument/2006/relationships/slide" Target="/ppt/slides/slide12.xml" Id="R9edd406c216649a5" /><Relationship Type="http://schemas.openxmlformats.org/officeDocument/2006/relationships/slide" Target="/ppt/slides/slide13.xml" Id="R49185152f55340b7" /><Relationship Type="http://schemas.openxmlformats.org/officeDocument/2006/relationships/slide" Target="/ppt/slides/slide14.xml" Id="R9cd9988d9e08466b" /><Relationship Type="http://schemas.openxmlformats.org/officeDocument/2006/relationships/slide" Target="/ppt/slides/slide15.xml" Id="R347042d9777e43af" /><Relationship Type="http://schemas.openxmlformats.org/officeDocument/2006/relationships/slide" Target="/ppt/slides/slide16.xml" Id="Rb1d5794c9dde4688" /><Relationship Type="http://schemas.openxmlformats.org/officeDocument/2006/relationships/slide" Target="/ppt/slides/slide17.xml" Id="R81110fd9b5fc4583" /><Relationship Type="http://schemas.openxmlformats.org/officeDocument/2006/relationships/slide" Target="/ppt/slides/slide18.xml" Id="R4cfd8fcc32b648f0" /><Relationship Type="http://schemas.openxmlformats.org/officeDocument/2006/relationships/slide" Target="/ppt/slides/slide19.xml" Id="R331e344fe22042af" /><Relationship Type="http://schemas.openxmlformats.org/officeDocument/2006/relationships/slide" Target="/ppt/slides/slide20.xml" Id="Ra3a54b1f613f40c0" /><Relationship Type="http://schemas.openxmlformats.org/officeDocument/2006/relationships/slide" Target="/ppt/slides/slide21.xml" Id="Rebb465149d0e479f" /><Relationship Type="http://schemas.openxmlformats.org/officeDocument/2006/relationships/slide" Target="/ppt/slides/slide22.xml" Id="R2bd1f057a0734515" /><Relationship Type="http://schemas.openxmlformats.org/officeDocument/2006/relationships/slide" Target="/ppt/slides/slide23.xml" Id="Rc34c0742413f441d" /><Relationship Type="http://schemas.openxmlformats.org/officeDocument/2006/relationships/slide" Target="/ppt/slides/slide24.xml" Id="Rc5fbb2f9edad4f0a" /><Relationship Type="http://schemas.openxmlformats.org/officeDocument/2006/relationships/slide" Target="/ppt/slides/slide25.xml" Id="R90ecc8099252473a" /><Relationship Type="http://schemas.openxmlformats.org/officeDocument/2006/relationships/slide" Target="/ppt/slides/slide26.xml" Id="Rc21005f85982483f" /><Relationship Type="http://schemas.openxmlformats.org/officeDocument/2006/relationships/slide" Target="/ppt/slides/slide27.xml" Id="Ra2e4df3edfcf4daf" /><Relationship Type="http://schemas.openxmlformats.org/officeDocument/2006/relationships/slide" Target="/ppt/slides/slide28.xml" Id="R80b9e38a40be434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fe13d3508e8439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6b7545b4299450d" /><Relationship Type="http://schemas.openxmlformats.org/officeDocument/2006/relationships/notesMaster" Target="/ppt/notesMasters/notesMaster1.xml" Id="Reaad96b2b0114581" /></Relationships>
</file>

<file path=ppt/notesSlides/_rels/notesSlide2.xml.rels>&#65279;<?xml version="1.0" encoding="utf-8"?><Relationships xmlns="http://schemas.openxmlformats.org/package/2006/relationships"><Relationship Type="http://schemas.openxmlformats.org/officeDocument/2006/relationships/slide" Target="/ppt/slides/slide2.xml" Id="Rb348b11aa38148cd" /><Relationship Type="http://schemas.openxmlformats.org/officeDocument/2006/relationships/notesMaster" Target="/ppt/notesMasters/notesMaster1.xml" Id="Rbfe7c2683e024df6" /></Relationships>
</file>

<file path=ppt/notesSlides/_rels/notesSlide3.xml.rels>&#65279;<?xml version="1.0" encoding="utf-8"?><Relationships xmlns="http://schemas.openxmlformats.org/package/2006/relationships"><Relationship Type="http://schemas.openxmlformats.org/officeDocument/2006/relationships/slide" Target="/ppt/slides/slide3.xml" Id="R07382e541ca04467" /><Relationship Type="http://schemas.openxmlformats.org/officeDocument/2006/relationships/notesMaster" Target="/ppt/notesMasters/notesMaster1.xml" Id="R6cc1b918acd04033" /></Relationships>
</file>

<file path=ppt/notesSlides/_rels/notesSlide4.xml.rels>&#65279;<?xml version="1.0" encoding="utf-8"?><Relationships xmlns="http://schemas.openxmlformats.org/package/2006/relationships"><Relationship Type="http://schemas.openxmlformats.org/officeDocument/2006/relationships/slide" Target="/ppt/slides/slide4.xml" Id="R6482fa86f3d64f84" /><Relationship Type="http://schemas.openxmlformats.org/officeDocument/2006/relationships/notesMaster" Target="/ppt/notesMasters/notesMaster1.xml" Id="Rf672c89f3d044ab3" /></Relationships>
</file>

<file path=ppt/notesSlides/_rels/notesSlide5.xml.rels>&#65279;<?xml version="1.0" encoding="utf-8"?><Relationships xmlns="http://schemas.openxmlformats.org/package/2006/relationships"><Relationship Type="http://schemas.openxmlformats.org/officeDocument/2006/relationships/slide" Target="/ppt/slides/slide5.xml" Id="R4f80654f37464d10" /><Relationship Type="http://schemas.openxmlformats.org/officeDocument/2006/relationships/notesMaster" Target="/ppt/notesMasters/notesMaster1.xml" Id="R5d30d148b8fd4c3b" /></Relationships>
</file>

<file path=ppt/notesSlides/_rels/notesSlide6.xml.rels>&#65279;<?xml version="1.0" encoding="utf-8"?><Relationships xmlns="http://schemas.openxmlformats.org/package/2006/relationships"><Relationship Type="http://schemas.openxmlformats.org/officeDocument/2006/relationships/slide" Target="/ppt/slides/slide6.xml" Id="R8e71d4d8e2624427" /><Relationship Type="http://schemas.openxmlformats.org/officeDocument/2006/relationships/notesMaster" Target="/ppt/notesMasters/notesMaster1.xml" Id="R88af3f3419624e08" /></Relationships>
</file>

<file path=ppt/notesSlides/_rels/notesSlide7.xml.rels>&#65279;<?xml version="1.0" encoding="utf-8"?><Relationships xmlns="http://schemas.openxmlformats.org/package/2006/relationships"><Relationship Type="http://schemas.openxmlformats.org/officeDocument/2006/relationships/slide" Target="/ppt/slides/slide7.xml" Id="R07d62043678242e4" /><Relationship Type="http://schemas.openxmlformats.org/officeDocument/2006/relationships/notesMaster" Target="/ppt/notesMasters/notesMaster1.xml" Id="R4383227750eb4ab5" /></Relationships>
</file>

<file path=ppt/notesSlides/_rels/notesSlide8.xml.rels>&#65279;<?xml version="1.0" encoding="utf-8"?><Relationships xmlns="http://schemas.openxmlformats.org/package/2006/relationships"><Relationship Type="http://schemas.openxmlformats.org/officeDocument/2006/relationships/slide" Target="/ppt/slides/slide8.xml" Id="R242979058f0e482a" /><Relationship Type="http://schemas.openxmlformats.org/officeDocument/2006/relationships/notesMaster" Target="/ppt/notesMasters/notesMaster1.xml" Id="Rf1129b03dd044cd1" /></Relationships>
</file>

<file path=ppt/notesSlides/_rels/notesSlide9.xml.rels>&#65279;<?xml version="1.0" encoding="utf-8"?><Relationships xmlns="http://schemas.openxmlformats.org/package/2006/relationships"><Relationship Type="http://schemas.openxmlformats.org/officeDocument/2006/relationships/slide" Target="/ppt/slides/slide9.xml" Id="R4c3e475d7c7d4796" /><Relationship Type="http://schemas.openxmlformats.org/officeDocument/2006/relationships/notesMaster" Target="/ppt/notesMasters/notesMaster1.xml" Id="Ra64c2134ee7f490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6a6a642bd664932" /><Relationship Type="http://schemas.openxmlformats.org/officeDocument/2006/relationships/notesMaster" Target="/ppt/notesMasters/notesMaster1.xml" Id="R5b99a4aeecac4e3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c3db0267ac24ec2" /><Relationship Type="http://schemas.openxmlformats.org/officeDocument/2006/relationships/notesMaster" Target="/ppt/notesMasters/notesMaster1.xml" Id="R963c088ba16b4ed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2acb26d55d34647" /><Relationship Type="http://schemas.openxmlformats.org/officeDocument/2006/relationships/notesMaster" Target="/ppt/notesMasters/notesMaster1.xml" Id="R79bb860e5c67456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cba309302cd4683" /><Relationship Type="http://schemas.openxmlformats.org/officeDocument/2006/relationships/notesMaster" Target="/ppt/notesMasters/notesMaster1.xml" Id="R4fbd4377d493481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ebaada49f384506" /><Relationship Type="http://schemas.openxmlformats.org/officeDocument/2006/relationships/notesMaster" Target="/ppt/notesMasters/notesMaster1.xml" Id="R3549d96234da457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a946886e8bd44cf" /><Relationship Type="http://schemas.openxmlformats.org/officeDocument/2006/relationships/notesMaster" Target="/ppt/notesMasters/notesMaster1.xml" Id="Rb60602befd1c401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8de22f5687c4be5" /><Relationship Type="http://schemas.openxmlformats.org/officeDocument/2006/relationships/notesMaster" Target="/ppt/notesMasters/notesMaster1.xml" Id="Re4fc38500187426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6ee10bfc29c4938" /><Relationship Type="http://schemas.openxmlformats.org/officeDocument/2006/relationships/notesMaster" Target="/ppt/notesMasters/notesMaster1.xml" Id="R682ba87c0239453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37c8dca39ed4ee6" /><Relationship Type="http://schemas.openxmlformats.org/officeDocument/2006/relationships/notesMaster" Target="/ppt/notesMasters/notesMaster1.xml" Id="R114c4a2ba0734678"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bf53278ab0c48a2" /><Relationship Type="http://schemas.openxmlformats.org/officeDocument/2006/relationships/notesMaster" Target="/ppt/notesMasters/notesMaster1.xml" Id="R11c460f019264a7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d65c3deddac40a8" /><Relationship Type="http://schemas.openxmlformats.org/officeDocument/2006/relationships/notesMaster" Target="/ppt/notesMasters/notesMaster1.xml" Id="Ra82559866c1e41b3"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abf8bc3719242a6" /><Relationship Type="http://schemas.openxmlformats.org/officeDocument/2006/relationships/notesMaster" Target="/ppt/notesMasters/notesMaster1.xml" Id="Re7ad4fb9460243a2"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2d094d650b442ef" /><Relationship Type="http://schemas.openxmlformats.org/officeDocument/2006/relationships/notesMaster" Target="/ppt/notesMasters/notesMaster1.xml" Id="Rce45b899b09e487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c903a74128f46f7" /><Relationship Type="http://schemas.openxmlformats.org/officeDocument/2006/relationships/notesMaster" Target="/ppt/notesMasters/notesMaster1.xml" Id="R937cadc94e3146fa"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1f3ca4f3759247c2" /><Relationship Type="http://schemas.openxmlformats.org/officeDocument/2006/relationships/notesMaster" Target="/ppt/notesMasters/notesMaster1.xml" Id="Rc0454945f32b480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074f5df0ca4436a" /><Relationship Type="http://schemas.openxmlformats.org/officeDocument/2006/relationships/notesMaster" Target="/ppt/notesMasters/notesMaster1.xml" Id="Rc2bc72c72fdc4a2c"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4578551588e41a0" /><Relationship Type="http://schemas.openxmlformats.org/officeDocument/2006/relationships/notesMaster" Target="/ppt/notesMasters/notesMaster1.xml" Id="R526c7a6b66644f1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18430aeb5f8e4d11" /><Relationship Type="http://schemas.openxmlformats.org/officeDocument/2006/relationships/notesMaster" Target="/ppt/notesMasters/notesMaster1.xml" Id="R20f9b2febec3459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0160ae34685949cb" /><Relationship Type="http://schemas.openxmlformats.org/officeDocument/2006/relationships/notesMaster" Target="/ppt/notesMasters/notesMaster1.xml" Id="R097ad9833063447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오늘 발표는 특정 첨가제를 하나 골랐다는 이야기가 아니에요. LPSCl 치환 후보를 빠르게 줄이면서도 어떤 문장까지 허용되는지 계산 단계마다 제한하는 cascade를 보여드릴게요. 핵심 결과는 후보 하나보다, 버전이 고정된 47종 스냅샷과 11종 비교 집합, 그리고 다음 계산을 고르는 규칙이에요.</a:t>
            </a:r>
            <a:endParaRPr/>
          </a:p>
          <a:p xmlns:a="http://schemas.openxmlformats.org/drawingml/2006/main">
            <a:r>
              <a:t/>
            </a:r>
            <a:endParaRPr/>
          </a:p>
          <a:p xmlns:a="http://schemas.openxmlformats.org/drawingml/2006/main">
            <a:r>
              <a:t>[Sources]</a:t>
            </a:r>
            <a:endParaRPr/>
          </a:p>
          <a:p xmlns:a="http://schemas.openxmlformats.org/drawingml/2006/main">
            <a:r>
              <a:t>- docs/cascade_pipeline_guide.md</a:t>
            </a:r>
            <a:endParaRPr/>
          </a:p>
          <a:p xmlns:a="http://schemas.openxmlformats.org/drawingml/2006/main">
            <a:r>
              <a:t>- kb/seminars/cascade_seminar_2026_08_spec.md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LPSCl은 전도도만 좋으면 끝나는 재료가 아니에요. 산화 안정성, Li·전해질·양극 계면, 접촉과 공정성이 동시에 걸려 있어요. 그래서 coating, 치환, 복합화, 공정 제어 중 어느 하나만으로 모든 문제를 해결하기 어렵고, 후보를 여러 축으로 동시에 보는 구조가 필요해요.</a:t>
            </a:r>
            <a:endParaRPr/>
          </a:p>
          <a:p xmlns:a="http://schemas.openxmlformats.org/drawingml/2006/main">
            <a:r>
              <a:t/>
            </a:r>
            <a:endParaRPr/>
          </a:p>
          <a:p xmlns:a="http://schemas.openxmlformats.org/drawingml/2006/main">
            <a:r>
              <a:t>[Sources]</a:t>
            </a:r>
            <a:endParaRPr/>
          </a:p>
          <a:p xmlns:a="http://schemas.openxmlformats.org/drawingml/2006/main">
            <a:r>
              <a:t>- litdb/papers/sundar2025_oxide_coating_screening_lpscl.md</a:t>
            </a:r>
            <a:endParaRPr/>
          </a:p>
          <a:p xmlns:a="http://schemas.openxmlformats.org/drawingml/2006/main">
            <a:r>
              <a:t>- litdb/figures/sundar2025_oxide_coating_screening_lpscl/figures.json</a:t>
            </a:r>
            <a:endParaRPr/>
          </a:p>
          <a:p xmlns:a="http://schemas.openxmlformats.org/drawingml/2006/main">
            <a:r>
              <a:t>- docs/cascade_pipeline_guide.md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여기서 273은 후보 물질 수가 아니에요. 수동으로 고른 91종에 x002, x005, x010이라는 세 campaign label을 붙인 273개 실행 슬롯이에요. 실제 조성 x는 아직 provenance가 닫히지 않았기 때문에, 이 라벨을 2·5·10%로 번역하지 않아요.</a:t>
            </a:r>
            <a:endParaRPr/>
          </a:p>
          <a:p xmlns:a="http://schemas.openxmlformats.org/drawingml/2006/main">
            <a:r>
              <a:t/>
            </a:r>
            <a:endParaRPr/>
          </a:p>
          <a:p xmlns:a="http://schemas.openxmlformats.org/drawingml/2006/main">
            <a:r>
              <a:t>[Sources]</a:t>
            </a:r>
            <a:endParaRPr/>
          </a:p>
          <a:p xmlns:a="http://schemas.openxmlformats.org/drawingml/2006/main">
            <a:r>
              <a:t>- db/properties/cascade_seminar_pool_attrition_273_to_47.csv</a:t>
            </a:r>
            <a:endParaRPr/>
          </a:p>
          <a:p xmlns:a="http://schemas.openxmlformats.org/drawingml/2006/main">
            <a:r>
              <a:t>- docs/reviews/cascade_db_ml_readiness_audit_2026_08_10.md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Cascade는 계산을 많이 하는 방법이라기보다 비용을 배치하는 방법이에요. 문헌과 DB에서 후보를 만들고, UMA와 정적 proxy로 넓게 훑고, 물리 gate로 위험한 해석을 막은 뒤, 선택된 후보에만 DFT와 실험을 써요. 각 단계의 값에는 method, source, status가 같이 따라가야 해요.</a:t>
            </a:r>
            <a:endParaRPr/>
          </a:p>
          <a:p xmlns:a="http://schemas.openxmlformats.org/drawingml/2006/main">
            <a:r>
              <a:t/>
            </a:r>
            <a:endParaRPr/>
          </a:p>
          <a:p xmlns:a="http://schemas.openxmlformats.org/drawingml/2006/main">
            <a:r>
              <a:t>[Sources]</a:t>
            </a:r>
            <a:endParaRPr/>
          </a:p>
          <a:p xmlns:a="http://schemas.openxmlformats.org/drawingml/2006/main">
            <a:r>
              <a:t>- docs/cascade_pipeline_guide.md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273에서 물리 gate를 거쳐 47이 된 게 아니에요. 2026년 6월 25일에 versioned table로 들어온 건 oxide 37종과 fluoride 10종, 모두 141개 기록이에요. 나머지 44종은 canonical table에 들어오지 않았고, 전종별 실패 manifest가 없으므로 탈락이나 실패로 부르지 않아요. Post-hoc gate audit는 오른쪽의 47종에서 시작해요.</a:t>
            </a:r>
            <a:endParaRPr/>
          </a:p>
          <a:p xmlns:a="http://schemas.openxmlformats.org/drawingml/2006/main">
            <a:r>
              <a:t/>
            </a:r>
            <a:endParaRPr/>
          </a:p>
          <a:p xmlns:a="http://schemas.openxmlformats.org/drawingml/2006/main">
            <a:r>
              <a:t>[Sources]</a:t>
            </a:r>
            <a:endParaRPr/>
          </a:p>
          <a:p xmlns:a="http://schemas.openxmlformats.org/drawingml/2006/main">
            <a:r>
              <a:t>- db/properties/cascade_seminar_pool_attrition_273_to_47.csv</a:t>
            </a:r>
            <a:endParaRPr/>
          </a:p>
          <a:p xmlns:a="http://schemas.openxmlformats.org/drawingml/2006/main">
            <a:r>
              <a:t>- docs/reviews/cascade_db_ml_readiness_audit_2026_08_10.md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장은 순위표가 아니라 실제로 canonical snapshot에 들어온 47종 전체 명단이에요. 굵은 글씨는 post-hoc G1–G4 endpoint에 남은 11종이고, 십자가 표시는 targeted deep-DFT case 두 종이에요. 명단에 있다는 사실과 gate를 통과했다는 사실을 분리해서 보시면 돼요.</a:t>
            </a:r>
            <a:endParaRPr/>
          </a:p>
          <a:p xmlns:a="http://schemas.openxmlformats.org/drawingml/2006/main">
            <a:r>
              <a:t/>
            </a:r>
            <a:endParaRPr/>
          </a:p>
          <a:p xmlns:a="http://schemas.openxmlformats.org/drawingml/2006/main">
            <a:r>
              <a:t>[Sources]</a:t>
            </a:r>
            <a:endParaRPr/>
          </a:p>
          <a:p xmlns:a="http://schemas.openxmlformats.org/drawingml/2006/main">
            <a:r>
              <a:t>- db/properties/cascade_seminar_scorecard_47.csv</a:t>
            </a:r>
            <a:endParaRPr/>
          </a:p>
          <a:p xmlns:a="http://schemas.openxmlformats.org/drawingml/2006/main">
            <a:r>
              <a:t>- db/properties/cascade_v23_ranked.csv</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같은 숫자라도 계산 층위가 다르면 주장 강도가 달라져요. UMA는 같은 프로토콜 안의 상대적인 구조·에너지 탐색, BVSE는 정적 경로 geometry, DFT는 선택 후보의 matched validation, 실험은 최종 거동 확인에 써요. 위층의 결과를 아래층의 절대 물성처럼 말하지 않는 게 첫 번째 방어선이에요.</a:t>
            </a:r>
            <a:endParaRPr/>
          </a:p>
          <a:p xmlns:a="http://schemas.openxmlformats.org/drawingml/2006/main">
            <a:r>
              <a:t/>
            </a:r>
            <a:endParaRPr/>
          </a:p>
          <a:p xmlns:a="http://schemas.openxmlformats.org/drawingml/2006/main">
            <a:r>
              <a:t>[Sources]</a:t>
            </a:r>
            <a:endParaRPr/>
          </a:p>
          <a:p xmlns:a="http://schemas.openxmlformats.org/drawingml/2006/main">
            <a:r>
              <a:t>- docs/cascade_pipeline_guide.md</a:t>
            </a:r>
            <a:endParaRPr/>
          </a:p>
          <a:p xmlns:a="http://schemas.openxmlformats.org/drawingml/2006/main">
            <a:r>
              <a:t>- kb/methodology/terminology_register.md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Webapp에는 산화, 환원, 전자 절연, 경로, 기계, 공기 안정성, 비용과 질량 등 14개 관점이 있어요. 하지만 이 축들은 계산·문헌·큐레이션이 섞여 있으므로 한 점수로 합쳐 winner를 만들지 않아요. 각 질문 안에서만 같은 축을 묶고, missing은 0점이 아니라 제외와 표시로 다뤄요.</a:t>
            </a:r>
            <a:endParaRPr/>
          </a:p>
          <a:p xmlns:a="http://schemas.openxmlformats.org/drawingml/2006/main">
            <a:r>
              <a:t/>
            </a:r>
            <a:endParaRPr/>
          </a:p>
          <a:p xmlns:a="http://schemas.openxmlformats.org/drawingml/2006/main">
            <a:r>
              <a:t>[Sources]</a:t>
            </a:r>
            <a:endParaRPr/>
          </a:p>
          <a:p xmlns:a="http://schemas.openxmlformats.org/drawingml/2006/main">
            <a:r>
              <a:t>- db/properties/cascade_v23_themes.json</a:t>
            </a:r>
            <a:endParaRPr/>
          </a:p>
          <a:p xmlns:a="http://schemas.openxmlformats.org/drawingml/2006/main">
            <a:r>
              <a:t>- webapp/templates/cascade.html</a:t>
            </a:r>
            <a:endParaRPr/>
          </a:p>
          <a:p xmlns:a="http://schemas.openxmlformats.org/drawingml/2006/main">
            <a:r>
              <a:t>- docs/cascade_pipeline_guide.md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G1은 host 대비 상대 안정성, G2는 window collapse, G3는 host oxidation onset, G4는 정적 Li-path proxy를 봐요. G4는 transport_norm과 blocking 두 조건을 함께 쓰지만 둘 다 heuristic이고, 특히 blocking 0.60에는 host나 문헌 anchor가 없어요. G5는 11종 안의 roster-relative mechanics ranking일 뿐 hard gate가 아니에요.</a:t>
            </a:r>
            <a:endParaRPr/>
          </a:p>
          <a:p xmlns:a="http://schemas.openxmlformats.org/drawingml/2006/main">
            <a:r>
              <a:t/>
            </a:r>
            <a:endParaRPr/>
          </a:p>
          <a:p xmlns:a="http://schemas.openxmlformats.org/drawingml/2006/main">
            <a:r>
              <a:t>[Sources]</a:t>
            </a:r>
            <a:endParaRPr/>
          </a:p>
          <a:p xmlns:a="http://schemas.openxmlformats.org/drawingml/2006/main">
            <a:r>
              <a:t>- db/properties/cascade_screening_funnel.json</a:t>
            </a:r>
            <a:endParaRPr/>
          </a:p>
          <a:p xmlns:a="http://schemas.openxmlformats.org/drawingml/2006/main">
            <a:r>
              <a:t>- docs/cascade_pipeline_guide.md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47종에서 G1은 아무도 제거하지 않고, G2와 G3를 거치면 25종, G4까지 적용하면 11종이 남아요. 이 11종을 비교용 endpoint로 보고하고, G5의 1종은 별표가 붙은 선호 정렬로만 남겨요. 이 funnel 자체가 문헌 기준을 뒤에서 매핑한 post-hoc audit라는 점도 같이 표시해요.</a:t>
            </a:r>
            <a:endParaRPr/>
          </a:p>
          <a:p xmlns:a="http://schemas.openxmlformats.org/drawingml/2006/main">
            <a:r>
              <a:t/>
            </a:r>
            <a:endParaRPr/>
          </a:p>
          <a:p xmlns:a="http://schemas.openxmlformats.org/drawingml/2006/main">
            <a:r>
              <a:t>[Sources]</a:t>
            </a:r>
            <a:endParaRPr/>
          </a:p>
          <a:p xmlns:a="http://schemas.openxmlformats.org/drawingml/2006/main">
            <a:r>
              <a:t>- db/properties/cascade_screening_funnel.json</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G1은 47종 모두 통과해서 이 pool에서는 선택 압력이 없어요. G2가 단독으로 잡는 네 종은 전부 G3에서도 탈락하므로 unique kill은 0이에요. 이걸 숨기지 않고 gate가 vacuous 또는 redundant였다고 보고하면, 다음 버전에서 threshold와 데이터 수집을 어디서 바꿔야 하는지 알 수 있어요.</a:t>
            </a:r>
            <a:endParaRPr/>
          </a:p>
          <a:p xmlns:a="http://schemas.openxmlformats.org/drawingml/2006/main">
            <a:r>
              <a:t/>
            </a:r>
            <a:endParaRPr/>
          </a:p>
          <a:p xmlns:a="http://schemas.openxmlformats.org/drawingml/2006/main">
            <a:r>
              <a:t>[Sources]</a:t>
            </a:r>
            <a:endParaRPr/>
          </a:p>
          <a:p xmlns:a="http://schemas.openxmlformats.org/drawingml/2006/main">
            <a:r>
              <a:t>- db/properties/cascade_screening_funnel.json</a:t>
            </a:r>
            <a:endParaRPr/>
          </a:p>
          <a:p xmlns:a="http://schemas.openxmlformats.org/drawingml/2006/main">
            <a:r>
              <a:t>- docs/cascade_pipeline_guide.md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Oxidation onset을 올리는 여섯 후보가 이 스냅샷에서는 모두 G4의 정적 pathway heuristic에서 멈춰요. 이건 dataset-level trade-off이지, M–O 결합이 Li blocking을 원인적으로 만든다는 증명은 아니에요. 따라서 보완성이 있는 후보를 co-doping 가설로 넘길 수는 있지만 자동으로 좋은 조합이라고 부르지는 않아요.</a:t>
            </a:r>
            <a:endParaRPr/>
          </a:p>
          <a:p xmlns:a="http://schemas.openxmlformats.org/drawingml/2006/main">
            <a:r>
              <a:t/>
            </a:r>
            <a:endParaRPr/>
          </a:p>
          <a:p xmlns:a="http://schemas.openxmlformats.org/drawingml/2006/main">
            <a:r>
              <a:t>[Sources]</a:t>
            </a:r>
            <a:endParaRPr/>
          </a:p>
          <a:p xmlns:a="http://schemas.openxmlformats.org/drawingml/2006/main">
            <a:r>
              <a:t>- db/properties/cascade_seminar_oxidation_transport_47.csv</a:t>
            </a:r>
            <a:endParaRPr/>
          </a:p>
          <a:p xmlns:a="http://schemas.openxmlformats.org/drawingml/2006/main">
            <a:r>
              <a:t>- db/properties/cascade_screening_funnel.json</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AND gate 하나만 따라가면 한 축이 강하고 다른 축이 약한 후보를 일찍 버릴 수 있어요. 그래서 11종 안에서도 축별로 non-dominated 후보를 따로 보여줘요. 이 Pareto 집합은 질문에 따라 달라지는 후보군이고, winner list가 아니에요.</a:t>
            </a:r>
            <a:endParaRPr/>
          </a:p>
          <a:p xmlns:a="http://schemas.openxmlformats.org/drawingml/2006/main">
            <a:r>
              <a:t/>
            </a:r>
            <a:endParaRPr/>
          </a:p>
          <a:p xmlns:a="http://schemas.openxmlformats.org/drawingml/2006/main">
            <a:r>
              <a:t>[Sources]</a:t>
            </a:r>
            <a:endParaRPr/>
          </a:p>
          <a:p xmlns:a="http://schemas.openxmlformats.org/drawingml/2006/main">
            <a:r>
              <a:t>- db/properties/cascade_seminar_pareto_47.csv</a:t>
            </a:r>
            <a:endParaRPr/>
          </a:p>
          <a:p xmlns:a="http://schemas.openxmlformats.org/drawingml/2006/main">
            <a:r>
              <a:t>- db/properties/cascade_seminar_scorecard_47.csv</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어떤 후보가 좋은지는 어디에 쓰려는지에 따라 달라져요. 고전압 양극 쪽은 산화 onset과 window, 수분 대응은 T11 정적 반응축과 Zhu 문헌 proxy·HSAB, 대량 적용은 qualitative cost tier와 질량을 봐요. 이 축들은 추가 gate가 아니라 후속 실험과 계산 우선순위를 정하는 descriptive evidence예요.</a:t>
            </a:r>
            <a:endParaRPr/>
          </a:p>
          <a:p xmlns:a="http://schemas.openxmlformats.org/drawingml/2006/main">
            <a:r>
              <a:t/>
            </a:r>
            <a:endParaRPr/>
          </a:p>
          <a:p xmlns:a="http://schemas.openxmlformats.org/drawingml/2006/main">
            <a:r>
              <a:t>[Sources]</a:t>
            </a:r>
            <a:endParaRPr/>
          </a:p>
          <a:p xmlns:a="http://schemas.openxmlformats.org/drawingml/2006/main">
            <a:r>
              <a:t>- db/properties/cascade_v23_themes.json</a:t>
            </a:r>
            <a:endParaRPr/>
          </a:p>
          <a:p xmlns:a="http://schemas.openxmlformats.org/drawingml/2006/main">
            <a:r>
              <a:t>- db/properties/cascade_air_axis_lit_vs_tier.csv</a:t>
            </a:r>
            <a:endParaRPr/>
          </a:p>
          <a:p xmlns:a="http://schemas.openxmlformats.org/drawingml/2006/main">
            <a:r>
              <a:t>- db/properties/cascade_seminar_scorecard_47.csv</a:t>
            </a:r>
            <a:endParaRPr/>
          </a:p>
          <a:p xmlns:a="http://schemas.openxmlformats.org/drawingml/2006/main">
            <a:r>
              <a:t>- litdb/papers/zhu2020_air_stable_se_design_principles.md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LiF는 정적 interface 축에서 안정적으로 보이지만 kinetics나 coating lifetime까지 말할 수는 없어요. MgO와 CaO는 비용·질량 측면이 좋지만 H2S나 LPSCl 반응축에서 서로 다른 부담이 보여요. Cu2O는 문헌 수분 proxy는 좋아도 G3와 interface 축이 불리해요. 결국 한 후보의 장점은 적용 조건과 함께 읽어야 해요.</a:t>
            </a:r>
            <a:endParaRPr/>
          </a:p>
          <a:p xmlns:a="http://schemas.openxmlformats.org/drawingml/2006/main">
            <a:r>
              <a:t/>
            </a:r>
            <a:endParaRPr/>
          </a:p>
          <a:p xmlns:a="http://schemas.openxmlformats.org/drawingml/2006/main">
            <a:r>
              <a:t>[Sources]</a:t>
            </a:r>
            <a:endParaRPr/>
          </a:p>
          <a:p xmlns:a="http://schemas.openxmlformats.org/drawingml/2006/main">
            <a:r>
              <a:t>- db/properties/cascade_stability_axes.csv</a:t>
            </a:r>
            <a:endParaRPr/>
          </a:p>
          <a:p xmlns:a="http://schemas.openxmlformats.org/drawingml/2006/main">
            <a:r>
              <a:t>- db/properties/cascade_v23_themes.json</a:t>
            </a:r>
            <a:endParaRPr/>
          </a:p>
          <a:p xmlns:a="http://schemas.openxmlformats.org/drawingml/2006/main">
            <a:r>
              <a:t>- db/properties/cascade_seminar_scorecard_47.csv</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5개 gate의 120개 순서를 전부 바꿔도 최종 Boolean intersection은 같았어요. 하지만 중간 숫자와 어떤 gate가 누구를 죽였는지는 달라져요. 그리고 순서 불변성이 threshold 자체를 물리적으로 검증해 주는 건 아니므로, 보고 endpoint는 여전히 heuristic G4까지의 11종으로 제한해요.</a:t>
            </a:r>
            <a:endParaRPr/>
          </a:p>
          <a:p xmlns:a="http://schemas.openxmlformats.org/drawingml/2006/main">
            <a:r>
              <a:t/>
            </a:r>
            <a:endParaRPr/>
          </a:p>
          <a:p xmlns:a="http://schemas.openxmlformats.org/drawingml/2006/main">
            <a:r>
              <a:t>[Sources]</a:t>
            </a:r>
            <a:endParaRPr/>
          </a:p>
          <a:p xmlns:a="http://schemas.openxmlformats.org/drawingml/2006/main">
            <a:r>
              <a:t>- db/properties/cascade_screening_funnel.json</a:t>
            </a:r>
            <a:endParaRPr/>
          </a:p>
          <a:p xmlns:a="http://schemas.openxmlformats.org/drawingml/2006/main">
            <a:r>
              <a:t>- docs/cascade_pipeline_guide.md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지지되는 건 gate pass·fail, 같은 프로토콜 안의 상대 비교, trade-off, gate-order audit예요. 반대로 UMA 절대 열역학, BVSE conductivity, degenerate group 내부 순위, G5 winner는 지지하지 않아요. Full gate로 아직 비어 있는 건 interface reaction, electronic insulation, 그리고 실제 doped-LPSCl moisture response예요.</a:t>
            </a:r>
            <a:endParaRPr/>
          </a:p>
          <a:p xmlns:a="http://schemas.openxmlformats.org/drawingml/2006/main">
            <a:r>
              <a:t/>
            </a:r>
            <a:endParaRPr/>
          </a:p>
          <a:p xmlns:a="http://schemas.openxmlformats.org/drawingml/2006/main">
            <a:r>
              <a:t>[Sources]</a:t>
            </a:r>
            <a:endParaRPr/>
          </a:p>
          <a:p xmlns:a="http://schemas.openxmlformats.org/drawingml/2006/main">
            <a:r>
              <a:t>- docs/cascade_pipeline_guide.md</a:t>
            </a:r>
            <a:endParaRPr/>
          </a:p>
          <a:p xmlns:a="http://schemas.openxmlformats.org/drawingml/2006/main">
            <a:r>
              <a:t>- docs/reviews/cascade_db_ml_readiness_audit_2026_08_10.md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단일시드 1.33배 전도도는 멀티시드 판정으로, 비확산 MSD fit은 beta gate로, DOS threshold gap은 fixed-occupation eigenvalue로 바꿨어요. 공기 안정성의 raw HSAB grade는 Zhu 문헌축과 비교해 한 방향 bias가 보여 non-gating curated 축으로만 남겼어요. 실패한 주장을 숨긴 게 아니라 rule과 exclusion으로 바꾼 게 이 pipeline의 신뢰성 부분이에요.</a:t>
            </a:r>
            <a:endParaRPr/>
          </a:p>
          <a:p xmlns:a="http://schemas.openxmlformats.org/drawingml/2006/main">
            <a:r>
              <a:t/>
            </a:r>
            <a:endParaRPr/>
          </a:p>
          <a:p xmlns:a="http://schemas.openxmlformats.org/drawingml/2006/main">
            <a:r>
              <a:t>[Sources]</a:t>
            </a:r>
            <a:endParaRPr/>
          </a:p>
          <a:p xmlns:a="http://schemas.openxmlformats.org/drawingml/2006/main">
            <a:r>
              <a:t>- db/properties/canonical_registry.json</a:t>
            </a:r>
            <a:endParaRPr/>
          </a:p>
          <a:p xmlns:a="http://schemas.openxmlformats.org/drawingml/2006/main">
            <a:r>
              <a:t>- db/properties/b2o3_vs_lpscl16_conductivity.csv</a:t>
            </a:r>
            <a:endParaRPr/>
          </a:p>
          <a:p xmlns:a="http://schemas.openxmlformats.org/drawingml/2006/main">
            <a:r>
              <a:t>- db/properties/cascade_air_axis_lit_vs_tier.csv</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47은 relative screen 수, 11은 post-hoc G1–G4 endpoint, 2는 targeted deep-DFT case 수예요. 이 세 숫자는 순차 funnel이 아니고, DFT 두 건도 11종에서 뽑힌 validation set이 아니에요. B2O3는 G4, Nd2O3는 G3에서 멈추므로 direct comparison을 하려면 앞으로 동일 구조·셀·k-mesh·reference·자기 프로토콜을 맞춰야 해요.</a:t>
            </a:r>
            <a:endParaRPr/>
          </a:p>
          <a:p xmlns:a="http://schemas.openxmlformats.org/drawingml/2006/main">
            <a:r>
              <a:t/>
            </a:r>
            <a:endParaRPr/>
          </a:p>
          <a:p xmlns:a="http://schemas.openxmlformats.org/drawingml/2006/main">
            <a:r>
              <a:t>[Sources]</a:t>
            </a:r>
            <a:endParaRPr/>
          </a:p>
          <a:p xmlns:a="http://schemas.openxmlformats.org/drawingml/2006/main">
            <a:r>
              <a:t>- db/properties/cascade_seminar_scorecard_47.csv</a:t>
            </a:r>
            <a:endParaRPr/>
          </a:p>
          <a:p xmlns:a="http://schemas.openxmlformats.org/drawingml/2006/main">
            <a:r>
              <a:t>- db/properties/electronic.json</a:t>
            </a:r>
            <a:endParaRPr/>
          </a:p>
          <a:p xmlns:a="http://schemas.openxmlformats.org/drawingml/2006/main">
            <a:r>
              <a:t>- webapp/data.py</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Cr2O3–HfO2는 v1 heuristic에서는 1위였지만 v2 ML에서는 8위예요. +0.360 V도 explicit pair 계산값이 아니라 두 single-dopant endpoint로 만든 proxy gain이에요. 두 single-dopant champion이 모두 Li_24g라 site competition도 열려 있고, pair structure·DFT·실험 label은 아직 0개예요. 그래서 현재 역할은 hypothesis ordering이에요.</a:t>
            </a:r>
            <a:endParaRPr/>
          </a:p>
          <a:p xmlns:a="http://schemas.openxmlformats.org/drawingml/2006/main">
            <a:r>
              <a:t/>
            </a:r>
            <a:endParaRPr/>
          </a:p>
          <a:p xmlns:a="http://schemas.openxmlformats.org/drawingml/2006/main">
            <a:r>
              <a:t>[Sources]</a:t>
            </a:r>
            <a:endParaRPr/>
          </a:p>
          <a:p xmlns:a="http://schemas.openxmlformats.org/drawingml/2006/main">
            <a:r>
              <a:t>- db/properties/cascade_v23_synergy_pairs.csv</a:t>
            </a:r>
            <a:endParaRPr/>
          </a:p>
          <a:p xmlns:a="http://schemas.openxmlformats.org/drawingml/2006/main">
            <a:r>
              <a:t>- db/properties/codoping_ml_v2.csv</a:t>
            </a:r>
            <a:endParaRPr/>
          </a:p>
          <a:p xmlns:a="http://schemas.openxmlformats.org/drawingml/2006/main">
            <a:r>
              <a:t>- db/properties/codoping_ml_v2_meta.json</a:t>
            </a:r>
            <a:endParaRPr/>
          </a:p>
          <a:p xmlns:a="http://schemas.openxmlformats.org/drawingml/2006/main">
            <a:r>
              <a:t>- docs/cascade_ml_integration_guide.md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다음 단계의 ML은 47개 평균값만으로 winner를 예측하는 모델이 아니에요. 불확실성, Pareto gain, chemistry diversity, gate boundary를 합쳐 다음 explicit configuration을 고르는 acquisition model이에요. 계산과 실험이 새 label을 만들고, versioned DB가 다시 proposal로 돌아오는 closed loop를 목표로 해요.</a:t>
            </a:r>
            <a:endParaRPr/>
          </a:p>
          <a:p xmlns:a="http://schemas.openxmlformats.org/drawingml/2006/main">
            <a:r>
              <a:t/>
            </a:r>
            <a:endParaRPr/>
          </a:p>
          <a:p xmlns:a="http://schemas.openxmlformats.org/drawingml/2006/main">
            <a:r>
              <a:t>[Sources]</a:t>
            </a:r>
            <a:endParaRPr/>
          </a:p>
          <a:p xmlns:a="http://schemas.openxmlformats.org/drawingml/2006/main">
            <a:r>
              <a:t>- docs/cascade_ml_integration_guide.md</a:t>
            </a:r>
            <a:endParaRPr/>
          </a:p>
          <a:p xmlns:a="http://schemas.openxmlformats.org/drawingml/2006/main">
            <a:r>
              <a:t>- litdb/papers/sendek2017_ml_screening_12k_conductors.md</a:t>
            </a:r>
            <a:endParaRPr/>
          </a:p>
          <a:p xmlns:a="http://schemas.openxmlformats.org/drawingml/2006/main">
            <a:r>
              <a:t>- litdb/papers/kim2025_conductive_agent_se_coating_cathode.md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질문이 나오면 우선 단위를 맞춰야 해요. transport_norm은 conductivity가 아니고, DeltaG_hyd 문헌축은 same-cation binary sulfide proxy예요. x002·x005·x010은 실제 농도가 아니라 campaign label이고, cost tier는 시세가 아닌 qualitative cation tier에 fluoride surcharge가 붙은 값이에요.</a:t>
            </a:r>
            <a:endParaRPr/>
          </a:p>
          <a:p xmlns:a="http://schemas.openxmlformats.org/drawingml/2006/main">
            <a:r>
              <a:t/>
            </a:r>
            <a:endParaRPr/>
          </a:p>
          <a:p xmlns:a="http://schemas.openxmlformats.org/drawingml/2006/main">
            <a:r>
              <a:t>[Sources]</a:t>
            </a:r>
            <a:endParaRPr/>
          </a:p>
          <a:p xmlns:a="http://schemas.openxmlformats.org/drawingml/2006/main">
            <a:r>
              <a:t>- kb/methodology/terminology_register.md</a:t>
            </a:r>
            <a:endParaRPr/>
          </a:p>
          <a:p xmlns:a="http://schemas.openxmlformats.org/drawingml/2006/main">
            <a:r>
              <a:t>- db/properties/cascade_v23_themes.json</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표는 방법별로 무엇을 말해도 되는지 방어하는 장이에요. MLIP-MD는 canonical temperature와 MSD window에서 beta-gated multiseed Ea까지만, DFT는 matched protocol의 선택 후보 검증까지만 말해요. 외부 문헌값은 방향성 cross-check이고 내부 절대값과 섞지 않아요.</a:t>
            </a:r>
            <a:endParaRPr/>
          </a:p>
          <a:p xmlns:a="http://schemas.openxmlformats.org/drawingml/2006/main">
            <a:r>
              <a:t/>
            </a:r>
            <a:endParaRPr/>
          </a:p>
          <a:p xmlns:a="http://schemas.openxmlformats.org/drawingml/2006/main">
            <a:r>
              <a:t>[Sources]</a:t>
            </a:r>
            <a:endParaRPr/>
          </a:p>
          <a:p xmlns:a="http://schemas.openxmlformats.org/drawingml/2006/main">
            <a:r>
              <a:t>- docs/cascade_pipeline_guide.md</a:t>
            </a:r>
            <a:endParaRPr/>
          </a:p>
          <a:p xmlns:a="http://schemas.openxmlformats.org/drawingml/2006/main">
            <a:r>
              <a:t>- AGENTS.md</a:t>
            </a:r>
            <a:endParaRPr/>
          </a:p>
          <a:p xmlns:a="http://schemas.openxmlformats.org/drawingml/2006/main">
            <a:r>
              <a:t>- db/properties/electronic.json</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후보를 한 번에 물어보면 이 heatmap을 보여주면 돼요. 색은 pool 내부의 favorable percentile이고, 오른쪽은 first-stop gate예요. 절대 물성이나 하나의 composite score가 아니므로 색이 진하다고 winner라고 부르지 않아요.</a:t>
            </a:r>
            <a:endParaRPr/>
          </a:p>
          <a:p xmlns:a="http://schemas.openxmlformats.org/drawingml/2006/main">
            <a:r>
              <a:t/>
            </a:r>
            <a:endParaRPr/>
          </a:p>
          <a:p xmlns:a="http://schemas.openxmlformats.org/drawingml/2006/main">
            <a:r>
              <a:t>[Sources]</a:t>
            </a:r>
            <a:endParaRPr/>
          </a:p>
          <a:p xmlns:a="http://schemas.openxmlformats.org/drawingml/2006/main">
            <a:r>
              <a:t>- db/properties/cascade_seminar_scorecard_47.csv</a:t>
            </a:r>
            <a:endParaRPr/>
          </a:p>
          <a:p xmlns:a="http://schemas.openxmlformats.org/drawingml/2006/main">
            <a:r>
              <a:t>- docs/figures/cascade/cascade_seminar_scorecard_47.png</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장은 provenance와 gate 해석에 대한 짧은 답을 모아둔 backup이에요. 가장 중요한 답은 47이 273의 물리적 survivor가 아니라는 것, G4가 heuristic이라는 것, BVSE failure가 낮은 conductivity를 증명하지 않는다는 것이에요. 질문이 길어지면 관련 본문 장으로 돌아가면 돼요.</a:t>
            </a:r>
            <a:endParaRPr/>
          </a:p>
          <a:p xmlns:a="http://schemas.openxmlformats.org/drawingml/2006/main">
            <a:r>
              <a:t/>
            </a:r>
            <a:endParaRPr/>
          </a:p>
          <a:p xmlns:a="http://schemas.openxmlformats.org/drawingml/2006/main">
            <a:r>
              <a:t>[Sources]</a:t>
            </a:r>
            <a:endParaRPr/>
          </a:p>
          <a:p xmlns:a="http://schemas.openxmlformats.org/drawingml/2006/main">
            <a:r>
              <a:t>- docs/reviews/cascade_db_ml_readiness_audit_2026_08_10.md</a:t>
            </a:r>
            <a:endParaRPr/>
          </a:p>
          <a:p xmlns:a="http://schemas.openxmlformats.org/drawingml/2006/main">
            <a:r>
              <a:t>- db/properties/cascade_screening_funnel.json</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DFT coverage는 2/47이고, 47개 dopant 평균값은 일반적인 discovery model을 학습시키기에는 부족해요. Stage 1의 높은 LOOCV는 구성한 score를 복원한 결과이고, 별도의 pair model은 LODO와 L2DO에서 음수예요. 실제 co-doped 구조와 prospective holdout이 생긴 뒤에야 predictive라고 부를 수 있어요.</a:t>
            </a:r>
            <a:endParaRPr/>
          </a:p>
          <a:p xmlns:a="http://schemas.openxmlformats.org/drawingml/2006/main">
            <a:r>
              <a:t/>
            </a:r>
            <a:endParaRPr/>
          </a:p>
          <a:p xmlns:a="http://schemas.openxmlformats.org/drawingml/2006/main">
            <a:r>
              <a:t>[Sources]</a:t>
            </a:r>
            <a:endParaRPr/>
          </a:p>
          <a:p xmlns:a="http://schemas.openxmlformats.org/drawingml/2006/main">
            <a:r>
              <a:t>- db/properties/codoping_ml_v2_meta.json</a:t>
            </a:r>
            <a:endParaRPr/>
          </a:p>
          <a:p xmlns:a="http://schemas.openxmlformats.org/drawingml/2006/main">
            <a:r>
              <a:t>- docs/cascade_ml_integration_guide.md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장에는 발표 숫자를 다시 만들 때 직접 여는 정본 데이터 파일만 모았어요. 특히 attrition, gate funnel, scorecard, stability axes, co-doping v1·v2를 분리해 두었어요. 재현되지 않는 radar source는 최종본에서 제거했어요.</a:t>
            </a:r>
            <a:endParaRPr/>
          </a:p>
          <a:p xmlns:a="http://schemas.openxmlformats.org/drawingml/2006/main">
            <a:r>
              <a:t/>
            </a:r>
            <a:endParaRPr/>
          </a:p>
          <a:p xmlns:a="http://schemas.openxmlformats.org/drawingml/2006/main">
            <a:r>
              <a:t>[Sources]</a:t>
            </a:r>
            <a:endParaRPr/>
          </a:p>
          <a:p xmlns:a="http://schemas.openxmlformats.org/drawingml/2006/main">
            <a:r>
              <a:t>- db/properties/</a:t>
            </a:r>
            <a:endParaRPr/>
          </a:p>
          <a:p xmlns:a="http://schemas.openxmlformats.org/drawingml/2006/main">
            <a:r>
              <a:t>- docs/cascade_pipeline_guide.md</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마지막 장은 수치보다 해석 규칙과 문헌 역할을 추적하는 파일들이에요. Pipeline guide, ML guide, DB readiness audit, terminology register, 그리고 local litdb digest를 기준으로 문장을 방어해요. 발표 후 수정이 생기면 이 원장과 speaker notes의 Sources 블록을 같이 갱신하면 돼요.</a:t>
            </a:r>
            <a:endParaRPr/>
          </a:p>
          <a:p xmlns:a="http://schemas.openxmlformats.org/drawingml/2006/main">
            <a:r>
              <a:t/>
            </a:r>
            <a:endParaRPr/>
          </a:p>
          <a:p xmlns:a="http://schemas.openxmlformats.org/drawingml/2006/main">
            <a:r>
              <a:t>[Sources]</a:t>
            </a:r>
            <a:endParaRPr/>
          </a:p>
          <a:p xmlns:a="http://schemas.openxmlformats.org/drawingml/2006/main">
            <a:r>
              <a:t>- docs/</a:t>
            </a:r>
            <a:endParaRPr/>
          </a:p>
          <a:p xmlns:a="http://schemas.openxmlformats.org/drawingml/2006/main">
            <a:r>
              <a:t>- kb/methodology/terminology_register.md</a:t>
            </a:r>
            <a:endParaRPr/>
          </a:p>
          <a:p xmlns:a="http://schemas.openxmlformats.org/drawingml/2006/main">
            <a:r>
              <a:t>- litdb/papers/</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748c2a64f44440c"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eb2511480114d47" /><Relationship Type="http://schemas.openxmlformats.org/officeDocument/2006/relationships/slideLayout" Target="/ppt/slideLayouts/slideLayout1.xml" Id="Rc414b358f80d4851"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414b358f80d4851"/>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9b9b1010f22424c" /><Relationship Type="http://schemas.openxmlformats.org/officeDocument/2006/relationships/notesSlide" Target="/ppt/notesSlides/notesSlide1.xml" Id="R111674abe76e483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efface0c1b84d36" /><Relationship Type="http://schemas.openxmlformats.org/officeDocument/2006/relationships/image" Target="/ppt/media/image.png" Id="R39f02258389549ad" /><Relationship Type="http://schemas.openxmlformats.org/officeDocument/2006/relationships/notesSlide" Target="/ppt/notesSlides/notesSlide2.xml" Id="R4f05fcd0dc85484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9bf1c0d69134a28" /><Relationship Type="http://schemas.openxmlformats.org/officeDocument/2006/relationships/notesSlide" Target="/ppt/notesSlides/notesSlide3.xml" Id="R8cc8cc38c4df41a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d55b8ff5af84fb2" /><Relationship Type="http://schemas.openxmlformats.org/officeDocument/2006/relationships/notesSlide" Target="/ppt/notesSlides/notesSlide4.xml" Id="R4ee78874f179486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4626cd6b39d4687" /><Relationship Type="http://schemas.openxmlformats.org/officeDocument/2006/relationships/image" Target="/ppt/media/image2.png" Id="Rd2779ef46fcc4c9d" /><Relationship Type="http://schemas.openxmlformats.org/officeDocument/2006/relationships/notesSlide" Target="/ppt/notesSlides/notesSlide5.xml" Id="R072343750458447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1ab0bb95c974e89" /><Relationship Type="http://schemas.openxmlformats.org/officeDocument/2006/relationships/notesSlide" Target="/ppt/notesSlides/notesSlide6.xml" Id="Reb280cb552cb4e2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01bb1142a194f78" /><Relationship Type="http://schemas.openxmlformats.org/officeDocument/2006/relationships/notesSlide" Target="/ppt/notesSlides/notesSlide7.xml" Id="Rcfd3ef4229ef4d7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b8b7311c8f647b5" /><Relationship Type="http://schemas.openxmlformats.org/officeDocument/2006/relationships/notesSlide" Target="/ppt/notesSlides/notesSlide8.xml" Id="Rb34a57c5e63f4ee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89a8267810e4246" /><Relationship Type="http://schemas.openxmlformats.org/officeDocument/2006/relationships/notesSlide" Target="/ppt/notesSlides/notesSlide9.xml" Id="Rdfc6050643dc4c7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71c0a75530b446e" /><Relationship Type="http://schemas.openxmlformats.org/officeDocument/2006/relationships/notesSlide" Target="/ppt/notesSlides/notesSlide10.xml" Id="Rb5e6cd060cba4d1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4f6eae68beb24cb5" /><Relationship Type="http://schemas.openxmlformats.org/officeDocument/2006/relationships/notesSlide" Target="/ppt/notesSlides/notesSlide11.xml" Id="R0df39fe6e28f4db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2101e770bf04027" /><Relationship Type="http://schemas.openxmlformats.org/officeDocument/2006/relationships/image" Target="/ppt/media/image3.png" Id="Rcb1a26a3178f400c" /><Relationship Type="http://schemas.openxmlformats.org/officeDocument/2006/relationships/notesSlide" Target="/ppt/notesSlides/notesSlide12.xml" Id="Rda7b2f9b355b428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b4e1e9108644289" /><Relationship Type="http://schemas.openxmlformats.org/officeDocument/2006/relationships/image" Target="/ppt/media/image4.png" Id="Rcaba1eb4f69f4caf" /><Relationship Type="http://schemas.openxmlformats.org/officeDocument/2006/relationships/notesSlide" Target="/ppt/notesSlides/notesSlide13.xml" Id="Rd441ec8911574ce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b64daa819f6480a" /><Relationship Type="http://schemas.openxmlformats.org/officeDocument/2006/relationships/notesSlide" Target="/ppt/notesSlides/notesSlide14.xml" Id="Rb7a9b395a3ce4f9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9ecbcdf558b3446b" /><Relationship Type="http://schemas.openxmlformats.org/officeDocument/2006/relationships/notesSlide" Target="/ppt/notesSlides/notesSlide15.xml" Id="Ra6b66492c4564e5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2a926b25aef4c02" /><Relationship Type="http://schemas.openxmlformats.org/officeDocument/2006/relationships/notesSlide" Target="/ppt/notesSlides/notesSlide16.xml" Id="R30ac13e259b4461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0c02f640f5149a2" /><Relationship Type="http://schemas.openxmlformats.org/officeDocument/2006/relationships/notesSlide" Target="/ppt/notesSlides/notesSlide17.xml" Id="R9af846ab0786465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b4c6a5d557b4b37" /><Relationship Type="http://schemas.openxmlformats.org/officeDocument/2006/relationships/notesSlide" Target="/ppt/notesSlides/notesSlide18.xml" Id="Re9f30e6bc19042e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e0abd1ceab64288" /><Relationship Type="http://schemas.openxmlformats.org/officeDocument/2006/relationships/notesSlide" Target="/ppt/notesSlides/notesSlide19.xml" Id="Rda3e1a431ae5428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0a6be84d8744f2f" /><Relationship Type="http://schemas.openxmlformats.org/officeDocument/2006/relationships/notesSlide" Target="/ppt/notesSlides/notesSlide20.xml" Id="R193cc66cbe044de0"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b4a7723ee72414d" /><Relationship Type="http://schemas.openxmlformats.org/officeDocument/2006/relationships/notesSlide" Target="/ppt/notesSlides/notesSlide21.xml" Id="R4edfc85abd49467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8ad3a578b03441b" /><Relationship Type="http://schemas.openxmlformats.org/officeDocument/2006/relationships/notesSlide" Target="/ppt/notesSlides/notesSlide22.xml" Id="Ra87b2ee7ed9b482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39d162dfb1a64829" /><Relationship Type="http://schemas.openxmlformats.org/officeDocument/2006/relationships/notesSlide" Target="/ppt/notesSlides/notesSlide23.xml" Id="R94275ceb29a1402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d8f07b88d3f4621" /><Relationship Type="http://schemas.openxmlformats.org/officeDocument/2006/relationships/image" Target="/ppt/media/image5.png" Id="R0fe11878b66f488d" /><Relationship Type="http://schemas.openxmlformats.org/officeDocument/2006/relationships/notesSlide" Target="/ppt/notesSlides/notesSlide24.xml" Id="Rc1517aa3324745c3"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2a3ac98b4c14ac4" /><Relationship Type="http://schemas.openxmlformats.org/officeDocument/2006/relationships/notesSlide" Target="/ppt/notesSlides/notesSlide25.xml" Id="Rca50718348374e1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6645bd62c25b43a1" /><Relationship Type="http://schemas.openxmlformats.org/officeDocument/2006/relationships/notesSlide" Target="/ppt/notesSlides/notesSlide26.xml" Id="Re9d77e6eb43942e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cc62718889144c36" /><Relationship Type="http://schemas.openxmlformats.org/officeDocument/2006/relationships/notesSlide" Target="/ppt/notesSlides/notesSlide27.xml" Id="R5c79fcc7bde040aa"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5022c8867f9d49fa" /><Relationship Type="http://schemas.openxmlformats.org/officeDocument/2006/relationships/notesSlide" Target="/ppt/notesSlides/notesSlide28.xml" Id="Rdc59a23b934f4c31"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7245FB6-1168-4D74-AAFF-FDFA270D7A8F}"/>
              </a:ext>
            </a:extLst>
          </p:cNvPr>
          <p:cNvSpPr>
            <a:spLocks xmlns:a="http://schemas.openxmlformats.org/drawingml/2006/main" noGrp="1"/>
          </p:cNvSpPr>
          <p:nvPr/>
        </p:nvSpPr>
        <p:spPr>
          <a:xfrm xmlns:a="http://schemas.openxmlformats.org/drawingml/2006/main">
            <a:off x="548640" y="457200"/>
            <a:ext cx="2743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a:solidFill>
                  <a:srgbClr val="7F7F7F"/>
                </a:solidFill>
                <a:latin typeface="Arial"/>
                <a:ea typeface="Arial"/>
                <a:cs typeface="Arial"/>
              </a:rPr>
              <a:t>August 2026</a:t>
            </a:r>
            <a:endParaRPr sz="1100"/>
          </a:p>
        </p:txBody>
      </p:sp>
      <p:sp>
        <p:nvSpPr>
          <p:cNvPr id="3" name="Text 1">
            <a:extLst xmlns:a="http://schemas.openxmlformats.org/drawingml/2006/main">
              <a:ext uri="{FF2B5EF4-FFF2-40B4-BE49-F238E27FC236}">
                <a16:creationId xmlns:a16="http://schemas.microsoft.com/office/drawing/2014/main" id="{C4D93E8F-5999-4A5B-B438-523331CCCCFC}"/>
              </a:ext>
            </a:extLst>
          </p:cNvPr>
          <p:cNvSpPr>
            <a:spLocks xmlns:a="http://schemas.openxmlformats.org/drawingml/2006/main" noGrp="1"/>
          </p:cNvSpPr>
          <p:nvPr/>
        </p:nvSpPr>
        <p:spPr>
          <a:xfrm xmlns:a="http://schemas.openxmlformats.org/drawingml/2006/main">
            <a:off x="548640" y="1371600"/>
            <a:ext cx="804672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200" b="1">
                <a:solidFill>
                  <a:srgbClr val="1F4E79"/>
                </a:solidFill>
                <a:latin typeface="Arial"/>
                <a:ea typeface="Arial"/>
                <a:cs typeface="Arial"/>
              </a:rPr>
              <a:t>Research Seminar</a:t>
            </a:r>
            <a:endParaRPr sz="3200"/>
          </a:p>
        </p:txBody>
      </p:sp>
      <p:sp>
        <p:nvSpPr>
          <p:cNvPr id="4" name="Text 2">
            <a:extLst xmlns:a="http://schemas.openxmlformats.org/drawingml/2006/main">
              <a:ext uri="{FF2B5EF4-FFF2-40B4-BE49-F238E27FC236}">
                <a16:creationId xmlns:a16="http://schemas.microsoft.com/office/drawing/2014/main" id="{24BF6280-6F85-4DDF-A7B8-756D6CB2FDED}"/>
              </a:ext>
            </a:extLst>
          </p:cNvPr>
          <p:cNvSpPr>
            <a:spLocks xmlns:a="http://schemas.openxmlformats.org/drawingml/2006/main" noGrp="1"/>
          </p:cNvSpPr>
          <p:nvPr/>
        </p:nvSpPr>
        <p:spPr>
          <a:xfrm xmlns:a="http://schemas.openxmlformats.org/drawingml/2006/main">
            <a:off x="548640" y="2468880"/>
            <a:ext cx="804672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100" b="1">
                <a:solidFill>
                  <a:srgbClr val="262626"/>
                </a:solidFill>
                <a:latin typeface="Arial"/>
                <a:ea typeface="Arial"/>
                <a:cs typeface="Arial"/>
              </a:rPr>
              <a:t>A gated MLIP-to-DFT screening cascade for LPSCl modification</a:t>
            </a:r>
            <a:endParaRPr sz="2100"/>
          </a:p>
        </p:txBody>
      </p:sp>
      <p:sp>
        <p:nvSpPr>
          <p:cNvPr id="5" name="Text 3">
            <a:extLst xmlns:a="http://schemas.openxmlformats.org/drawingml/2006/main">
              <a:ext uri="{FF2B5EF4-FFF2-40B4-BE49-F238E27FC236}">
                <a16:creationId xmlns:a16="http://schemas.microsoft.com/office/drawing/2014/main" id="{47F34A0F-E607-453F-800D-8E55DEA5BD77}"/>
              </a:ext>
            </a:extLst>
          </p:cNvPr>
          <p:cNvSpPr>
            <a:spLocks xmlns:a="http://schemas.openxmlformats.org/drawingml/2006/main" noGrp="1"/>
          </p:cNvSpPr>
          <p:nvPr/>
        </p:nvSpPr>
        <p:spPr>
          <a:xfrm xmlns:a="http://schemas.openxmlformats.org/drawingml/2006/main">
            <a:off x="548640" y="3291840"/>
            <a:ext cx="80467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i="1">
                <a:solidFill>
                  <a:srgbClr val="7F7F7F"/>
                </a:solidFill>
                <a:latin typeface="Arial"/>
                <a:ea typeface="Arial"/>
                <a:cs typeface="Arial"/>
              </a:rPr>
              <a:t>From curated substitutions to auditable decisions</a:t>
            </a:r>
            <a:endParaRPr sz="1300"/>
          </a:p>
        </p:txBody>
      </p:sp>
      <p:sp>
        <p:nvSpPr>
          <p:cNvPr id="6" name="Text 4">
            <a:extLst xmlns:a="http://schemas.openxmlformats.org/drawingml/2006/main">
              <a:ext uri="{FF2B5EF4-FFF2-40B4-BE49-F238E27FC236}">
                <a16:creationId xmlns:a16="http://schemas.microsoft.com/office/drawing/2014/main" id="{79217BA3-4FD2-4701-9E93-EB4BB6A4BD7B}"/>
              </a:ext>
            </a:extLst>
          </p:cNvPr>
          <p:cNvSpPr>
            <a:spLocks xmlns:a="http://schemas.openxmlformats.org/drawingml/2006/main" noGrp="1"/>
          </p:cNvSpPr>
          <p:nvPr/>
        </p:nvSpPr>
        <p:spPr>
          <a:xfrm xmlns:a="http://schemas.openxmlformats.org/drawingml/2006/main">
            <a:off x="548640" y="4480560"/>
            <a:ext cx="80467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Yonghoon An</a:t>
            </a:r>
            <a:endParaRPr sz="1400"/>
          </a:p>
        </p:txBody>
      </p:sp>
      <p:sp>
        <p:nvSpPr>
          <p:cNvPr id="7" name="Text 5">
            <a:extLst xmlns:a="http://schemas.openxmlformats.org/drawingml/2006/main">
              <a:ext uri="{FF2B5EF4-FFF2-40B4-BE49-F238E27FC236}">
                <a16:creationId xmlns:a16="http://schemas.microsoft.com/office/drawing/2014/main" id="{71E0DF79-61E9-4F4D-90AF-DD943A242989}"/>
              </a:ext>
            </a:extLst>
          </p:cNvPr>
          <p:cNvSpPr>
            <a:spLocks xmlns:a="http://schemas.openxmlformats.org/drawingml/2006/main" noGrp="1"/>
          </p:cNvSpPr>
          <p:nvPr/>
        </p:nvSpPr>
        <p:spPr>
          <a:xfrm xmlns:a="http://schemas.openxmlformats.org/drawingml/2006/main">
            <a:off x="548640" y="4828032"/>
            <a:ext cx="80467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7F7F7F"/>
                </a:solidFill>
                <a:latin typeface="Arial"/>
                <a:ea typeface="Arial"/>
                <a:cs typeface="Arial"/>
              </a:rPr>
              <a:t>Division of Materials Science &amp; Engineering, Hanyang University</a:t>
            </a:r>
            <a:endParaRPr sz="1050"/>
          </a:p>
          <a:p xmlns:a="http://schemas.openxmlformats.org/drawingml/2006/main">
            <a:pPr marL="0" indent="0">
              <a:buNone/>
            </a:pPr>
            <a:r>
              <a:rPr sz="1050">
                <a:solidFill>
                  <a:srgbClr val="7F7F7F"/>
                </a:solidFill>
                <a:latin typeface="Arial"/>
                <a:ea typeface="Arial"/>
                <a:cs typeface="Arial"/>
              </a:rPr>
              <a:t>(E-mail : yonghoon71@hanyang.ac.kr)</a:t>
            </a:r>
            <a:endParaRPr sz="1050"/>
          </a:p>
        </p:txBody>
      </p:sp>
      <p:sp>
        <p:nvSpPr>
          <p:cNvPr id="8" name="Text 6">
            <a:extLst xmlns:a="http://schemas.openxmlformats.org/drawingml/2006/main">
              <a:ext uri="{FF2B5EF4-FFF2-40B4-BE49-F238E27FC236}">
                <a16:creationId xmlns:a16="http://schemas.microsoft.com/office/drawing/2014/main" id="{C4E2360E-9336-4035-B6F6-6BB8CAFE6728}"/>
              </a:ext>
            </a:extLst>
          </p:cNvPr>
          <p:cNvSpPr>
            <a:spLocks xmlns:a="http://schemas.openxmlformats.org/drawingml/2006/main" noGrp="1"/>
          </p:cNvSpPr>
          <p:nvPr/>
        </p:nvSpPr>
        <p:spPr>
          <a:xfrm xmlns:a="http://schemas.openxmlformats.org/drawingml/2006/main">
            <a:off x="548640" y="5577840"/>
            <a:ext cx="8046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a:solidFill>
                  <a:srgbClr val="1F4E79"/>
                </a:solidFill>
                <a:latin typeface="Arial"/>
                <a:ea typeface="Arial"/>
                <a:cs typeface="Arial"/>
              </a:rPr>
              <a:t>MLIP screening · physical gates · targeted validation</a:t>
            </a:r>
            <a:endParaRPr sz="1050"/>
          </a:p>
        </p:txBody>
      </p:sp>
      <p:sp>
        <p:nvSpPr>
          <p:cNvPr id="9" name="Text 7">
            <a:extLst xmlns:a="http://schemas.openxmlformats.org/drawingml/2006/main">
              <a:ext uri="{FF2B5EF4-FFF2-40B4-BE49-F238E27FC236}">
                <a16:creationId xmlns:a16="http://schemas.microsoft.com/office/drawing/2014/main" id="{BC50CE29-2FD1-45C7-84C6-9690E65F547B}"/>
              </a:ext>
            </a:extLst>
          </p:cNvPr>
          <p:cNvSpPr>
            <a:spLocks xmlns:a="http://schemas.openxmlformats.org/drawingml/2006/main" noGrp="1"/>
          </p:cNvSpPr>
          <p:nvPr/>
        </p:nvSpPr>
        <p:spPr>
          <a:xfrm xmlns:a="http://schemas.openxmlformats.org/drawingml/2006/main">
            <a:off x="548640" y="6355080"/>
            <a:ext cx="2743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1F4E79"/>
                </a:solidFill>
                <a:latin typeface="Arial"/>
                <a:ea typeface="Arial"/>
                <a:cs typeface="Arial"/>
              </a:rPr>
              <a:t>HANYANG UNIVERSITY</a:t>
            </a:r>
            <a:endParaRPr sz="950"/>
          </a:p>
        </p:txBody>
      </p:sp>
    </p:spTree>
    <p:extLst>
      <p:ext uri="{BB962C8B-B14F-4D97-AF65-F5344CB8AC3E}">
        <p14:creationId xmlns:p14="http://schemas.microsoft.com/office/powerpoint/2010/main" val="176524132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616D163-86A5-4906-8F60-13349F5CD33D}"/>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Context</a:t>
            </a:r>
            <a:endParaRPr sz="2800"/>
          </a:p>
        </p:txBody>
      </p:sp>
      <p:sp>
        <p:nvSpPr>
          <p:cNvPr id="3" name="Text 1">
            <a:extLst xmlns:a="http://schemas.openxmlformats.org/drawingml/2006/main">
              <a:ext uri="{FF2B5EF4-FFF2-40B4-BE49-F238E27FC236}">
                <a16:creationId xmlns:a16="http://schemas.microsoft.com/office/drawing/2014/main" id="{F0A0585F-5389-456B-B8C5-4158F97C74ED}"/>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i="1">
                <a:solidFill>
                  <a:srgbClr val="7F7F7F"/>
                </a:solidFill>
                <a:latin typeface="Arial"/>
                <a:ea typeface="Arial"/>
                <a:cs typeface="Arial"/>
              </a:rPr>
              <a:t>LPSCl modification problem</a:t>
            </a:r>
            <a:endParaRPr sz="900"/>
          </a:p>
        </p:txBody>
      </p:sp>
      <p:sp>
        <p:nvSpPr>
          <p:cNvPr id="4" name="Shape 2">
            <a:extLst xmlns:a="http://schemas.openxmlformats.org/drawingml/2006/main">
              <a:ext uri="{FF2B5EF4-FFF2-40B4-BE49-F238E27FC236}">
                <a16:creationId xmlns:a16="http://schemas.microsoft.com/office/drawing/2014/main" id="{80069698-B93C-4FC9-B512-42D8C59DAF92}"/>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5" name="Shape 3">
            <a:extLst xmlns:a="http://schemas.openxmlformats.org/drawingml/2006/main">
              <a:ext uri="{FF2B5EF4-FFF2-40B4-BE49-F238E27FC236}">
                <a16:creationId xmlns:a16="http://schemas.microsoft.com/office/drawing/2014/main" id="{06290F54-B7A3-495B-B955-4BD2AED3CC21}"/>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65100B61-1ABB-4C8F-B90B-5A92FA9C4CE2}"/>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One repair must survive several sulfide interfaces</a:t>
            </a:r>
            <a:endParaRPr sz="1400"/>
          </a:p>
        </p:txBody>
      </p:sp>
      <p:sp>
        <p:nvSpPr>
          <p:cNvPr id="7" name="Text 5">
            <a:extLst xmlns:a="http://schemas.openxmlformats.org/drawingml/2006/main">
              <a:ext uri="{FF2B5EF4-FFF2-40B4-BE49-F238E27FC236}">
                <a16:creationId xmlns:a16="http://schemas.microsoft.com/office/drawing/2014/main" id="{A0026C13-68CE-43E8-AE41-3F3788405B07}"/>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4AEFDF7A-1909-462E-8E3A-D61FDE8B9B95}"/>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0B35A85E-C3FC-4BCE-9622-BBAEF583BB1A}"/>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a:t>
            </a:r>
            <a:endParaRPr sz="900"/>
          </a:p>
        </p:txBody>
      </p:sp>
      <p:pic>
        <p:nvPicPr>
          <p:cNvPr id="30" name="Image 0"/>
          <p:cNvPicPr>
            <a:picLocks xmlns:a="http://schemas.openxmlformats.org/drawingml/2006/main" noChangeAspect="1"/>
          </p:cNvPicPr>
          <p:nvPr/>
        </p:nvPicPr>
        <p:blipFill>
          <a:blip xmlns:r="http://schemas.openxmlformats.org/officeDocument/2006/relationships" xmlns:a="http://schemas.openxmlformats.org/drawingml/2006/main" r:embed="R39f02258389549ad"/>
          <a:srcRect xmlns:a="http://schemas.openxmlformats.org/drawingml/2006/main" l="0" t="0" r="0" b="0"/>
          <a:stretch xmlns:a="http://schemas.openxmlformats.org/drawingml/2006/main"/>
        </p:blipFill>
        <p:spPr>
          <a:xfrm xmlns:a="http://schemas.openxmlformats.org/drawingml/2006/main">
            <a:off x="640080" y="1554480"/>
            <a:ext cx="4206240" cy="3108960"/>
          </a:xfrm>
          <a:prstGeom xmlns:a="http://schemas.openxmlformats.org/drawingml/2006/main" prst="rect">
            <a:avLst/>
          </a:prstGeom>
        </p:spPr>
      </p:pic>
      <p:sp>
        <p:nvSpPr>
          <p:cNvPr id="12" name="Text 8">
            <a:extLst xmlns:a="http://schemas.openxmlformats.org/drawingml/2006/main">
              <a:ext uri="{FF2B5EF4-FFF2-40B4-BE49-F238E27FC236}">
                <a16:creationId xmlns:a16="http://schemas.microsoft.com/office/drawing/2014/main" id="{3E37DDAB-4A1E-4DD0-ABC7-7287778CA620}"/>
              </a:ext>
            </a:extLst>
          </p:cNvPr>
          <p:cNvSpPr>
            <a:spLocks xmlns:a="http://schemas.openxmlformats.org/drawingml/2006/main" noGrp="1"/>
          </p:cNvSpPr>
          <p:nvPr/>
        </p:nvSpPr>
        <p:spPr>
          <a:xfrm xmlns:a="http://schemas.openxmlformats.org/drawingml/2006/main">
            <a:off x="640080" y="4690872"/>
            <a:ext cx="42062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i="1">
                <a:solidFill>
                  <a:srgbClr val="7F7F7F"/>
                </a:solidFill>
                <a:latin typeface="Arial"/>
                <a:ea typeface="Arial"/>
                <a:cs typeface="Arial"/>
              </a:rPr>
              <a:t>Literature schematic; coating ≠ lattice substitution (Sundar et al., Adv. Sci. 2025, Fig. 1)</a:t>
            </a:r>
            <a:endParaRPr sz="850"/>
          </a:p>
        </p:txBody>
      </p:sp>
      <p:sp>
        <p:nvSpPr>
          <p:cNvPr id="13" name="Shape 9">
            <a:extLst xmlns:a="http://schemas.openxmlformats.org/drawingml/2006/main">
              <a:ext uri="{FF2B5EF4-FFF2-40B4-BE49-F238E27FC236}">
                <a16:creationId xmlns:a16="http://schemas.microsoft.com/office/drawing/2014/main" id="{9AB3725A-CFD9-4753-AF89-CA7591C9235D}"/>
              </a:ext>
            </a:extLst>
          </p:cNvPr>
          <p:cNvSpPr>
            <a:spLocks xmlns:a="http://schemas.openxmlformats.org/drawingml/2006/main" noGrp="1"/>
          </p:cNvSpPr>
          <p:nvPr/>
        </p:nvSpPr>
        <p:spPr>
          <a:xfrm xmlns:a="http://schemas.openxmlformats.org/drawingml/2006/main">
            <a:off x="5120640" y="1600200"/>
            <a:ext cx="3474720" cy="822960"/>
          </a:xfrm>
          <a:prstGeom xmlns:a="http://schemas.openxmlformats.org/drawingml/2006/main" prst="roundRect">
            <a:avLst>
              <a:gd name="adj" fmla="val 7778"/>
            </a:avLst>
          </a:prstGeom>
          <a:solidFill xmlns:a="http://schemas.openxmlformats.org/drawingml/2006/main">
            <a:srgbClr val="F2F2F2"/>
          </a:solidFill>
          <a:ln xmlns:a="http://schemas.openxmlformats.org/drawingml/2006/main" w="12700">
            <a:solidFill>
              <a:srgbClr val="BFBFBF"/>
            </a:solidFill>
            <a:prstDash val="solid"/>
          </a:ln>
        </p:spPr>
      </p:sp>
      <p:sp>
        <p:nvSpPr>
          <p:cNvPr id="14" name="Text 10">
            <a:extLst xmlns:a="http://schemas.openxmlformats.org/drawingml/2006/main">
              <a:ext uri="{FF2B5EF4-FFF2-40B4-BE49-F238E27FC236}">
                <a16:creationId xmlns:a16="http://schemas.microsoft.com/office/drawing/2014/main" id="{36098ACE-AB45-4FC8-87B0-2285142AD988}"/>
              </a:ext>
            </a:extLst>
          </p:cNvPr>
          <p:cNvSpPr>
            <a:spLocks xmlns:a="http://schemas.openxmlformats.org/drawingml/2006/main" noGrp="1"/>
          </p:cNvSpPr>
          <p:nvPr/>
        </p:nvSpPr>
        <p:spPr>
          <a:xfrm xmlns:a="http://schemas.openxmlformats.org/drawingml/2006/main">
            <a:off x="5257800" y="1673352"/>
            <a:ext cx="32004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F4E79"/>
                </a:solidFill>
                <a:latin typeface="Arial"/>
                <a:ea typeface="Arial"/>
                <a:cs typeface="Arial"/>
              </a:rPr>
              <a:t>Oxidation
</a:t>
            </a:r>
            <a:endParaRPr sz="1100"/>
          </a:p>
          <a:p xmlns:a="http://schemas.openxmlformats.org/drawingml/2006/main">
            <a:pPr marL="0" indent="0">
              <a:buNone/>
            </a:pPr>
            <a:r>
              <a:rPr sz="950">
                <a:solidFill>
                  <a:srgbClr val="262626"/>
                </a:solidFill>
                <a:latin typeface="Arial"/>
                <a:ea typeface="Arial"/>
                <a:cs typeface="Arial"/>
              </a:rPr>
              <a:t>S-derived states limit the cathode side.</a:t>
            </a:r>
            <a:endParaRPr sz="1100"/>
          </a:p>
        </p:txBody>
      </p:sp>
      <p:sp>
        <p:nvSpPr>
          <p:cNvPr id="15" name="Shape 11">
            <a:extLst xmlns:a="http://schemas.openxmlformats.org/drawingml/2006/main">
              <a:ext uri="{FF2B5EF4-FFF2-40B4-BE49-F238E27FC236}">
                <a16:creationId xmlns:a16="http://schemas.microsoft.com/office/drawing/2014/main" id="{08FDD468-CC81-45F6-9673-D588748D676A}"/>
              </a:ext>
            </a:extLst>
          </p:cNvPr>
          <p:cNvSpPr>
            <a:spLocks xmlns:a="http://schemas.openxmlformats.org/drawingml/2006/main" noGrp="1"/>
          </p:cNvSpPr>
          <p:nvPr/>
        </p:nvSpPr>
        <p:spPr>
          <a:xfrm xmlns:a="http://schemas.openxmlformats.org/drawingml/2006/main">
            <a:off x="5120640" y="2560320"/>
            <a:ext cx="3474720" cy="822960"/>
          </a:xfrm>
          <a:prstGeom xmlns:a="http://schemas.openxmlformats.org/drawingml/2006/main" prst="roundRect">
            <a:avLst>
              <a:gd name="adj" fmla="val 7778"/>
            </a:avLst>
          </a:prstGeom>
          <a:solidFill xmlns:a="http://schemas.openxmlformats.org/drawingml/2006/main">
            <a:srgbClr val="F2F2F2"/>
          </a:solidFill>
          <a:ln xmlns:a="http://schemas.openxmlformats.org/drawingml/2006/main" w="12700">
            <a:solidFill>
              <a:srgbClr val="BFBFBF"/>
            </a:solidFill>
            <a:prstDash val="solid"/>
          </a:ln>
        </p:spPr>
      </p:sp>
      <p:sp>
        <p:nvSpPr>
          <p:cNvPr id="16" name="Text 12">
            <a:extLst xmlns:a="http://schemas.openxmlformats.org/drawingml/2006/main">
              <a:ext uri="{FF2B5EF4-FFF2-40B4-BE49-F238E27FC236}">
                <a16:creationId xmlns:a16="http://schemas.microsoft.com/office/drawing/2014/main" id="{C5AA161C-0F55-43A5-B9AD-F94A8BD38328}"/>
              </a:ext>
            </a:extLst>
          </p:cNvPr>
          <p:cNvSpPr>
            <a:spLocks xmlns:a="http://schemas.openxmlformats.org/drawingml/2006/main" noGrp="1"/>
          </p:cNvSpPr>
          <p:nvPr/>
        </p:nvSpPr>
        <p:spPr>
          <a:xfrm xmlns:a="http://schemas.openxmlformats.org/drawingml/2006/main">
            <a:off x="5257800" y="2633472"/>
            <a:ext cx="32004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F4E79"/>
                </a:solidFill>
                <a:latin typeface="Arial"/>
                <a:ea typeface="Arial"/>
                <a:cs typeface="Arial"/>
              </a:rPr>
              <a:t>Interface
</a:t>
            </a:r>
            <a:endParaRPr sz="1100"/>
          </a:p>
          <a:p xmlns:a="http://schemas.openxmlformats.org/drawingml/2006/main">
            <a:pPr marL="0" indent="0">
              <a:buNone/>
            </a:pPr>
            <a:r>
              <a:rPr sz="950">
                <a:solidFill>
                  <a:srgbClr val="262626"/>
                </a:solidFill>
                <a:latin typeface="Arial"/>
                <a:ea typeface="Arial"/>
                <a:cs typeface="Arial"/>
              </a:rPr>
              <a:t>One coating meets Li, LPSCl, and cathode chemistries.</a:t>
            </a:r>
            <a:endParaRPr sz="1100"/>
          </a:p>
        </p:txBody>
      </p:sp>
      <p:sp>
        <p:nvSpPr>
          <p:cNvPr id="17" name="Shape 13">
            <a:extLst xmlns:a="http://schemas.openxmlformats.org/drawingml/2006/main">
              <a:ext uri="{FF2B5EF4-FFF2-40B4-BE49-F238E27FC236}">
                <a16:creationId xmlns:a16="http://schemas.microsoft.com/office/drawing/2014/main" id="{3AE0561A-93FF-4386-B8C0-6F35D62FED43}"/>
              </a:ext>
            </a:extLst>
          </p:cNvPr>
          <p:cNvSpPr>
            <a:spLocks xmlns:a="http://schemas.openxmlformats.org/drawingml/2006/main" noGrp="1"/>
          </p:cNvSpPr>
          <p:nvPr/>
        </p:nvSpPr>
        <p:spPr>
          <a:xfrm xmlns:a="http://schemas.openxmlformats.org/drawingml/2006/main">
            <a:off x="5120640" y="3520440"/>
            <a:ext cx="3474720" cy="822960"/>
          </a:xfrm>
          <a:prstGeom xmlns:a="http://schemas.openxmlformats.org/drawingml/2006/main" prst="roundRect">
            <a:avLst>
              <a:gd name="adj" fmla="val 7778"/>
            </a:avLst>
          </a:prstGeom>
          <a:solidFill xmlns:a="http://schemas.openxmlformats.org/drawingml/2006/main">
            <a:srgbClr val="F2F2F2"/>
          </a:solidFill>
          <a:ln xmlns:a="http://schemas.openxmlformats.org/drawingml/2006/main" w="12700">
            <a:solidFill>
              <a:srgbClr val="BFBFBF"/>
            </a:solidFill>
            <a:prstDash val="solid"/>
          </a:ln>
        </p:spPr>
      </p:sp>
      <p:sp>
        <p:nvSpPr>
          <p:cNvPr id="18" name="Text 14">
            <a:extLst xmlns:a="http://schemas.openxmlformats.org/drawingml/2006/main">
              <a:ext uri="{FF2B5EF4-FFF2-40B4-BE49-F238E27FC236}">
                <a16:creationId xmlns:a16="http://schemas.microsoft.com/office/drawing/2014/main" id="{A00CDB8E-29BF-4AFC-96F4-EC77D576BF3A}"/>
              </a:ext>
            </a:extLst>
          </p:cNvPr>
          <p:cNvSpPr>
            <a:spLocks xmlns:a="http://schemas.openxmlformats.org/drawingml/2006/main" noGrp="1"/>
          </p:cNvSpPr>
          <p:nvPr/>
        </p:nvSpPr>
        <p:spPr>
          <a:xfrm xmlns:a="http://schemas.openxmlformats.org/drawingml/2006/main">
            <a:off x="5257800" y="3593592"/>
            <a:ext cx="32004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F4E79"/>
                </a:solidFill>
                <a:latin typeface="Arial"/>
                <a:ea typeface="Arial"/>
                <a:cs typeface="Arial"/>
              </a:rPr>
              <a:t>Contact &amp; mechanics
</a:t>
            </a:r>
            <a:endParaRPr sz="1100"/>
          </a:p>
          <a:p xmlns:a="http://schemas.openxmlformats.org/drawingml/2006/main">
            <a:pPr marL="0" indent="0">
              <a:buNone/>
            </a:pPr>
            <a:r>
              <a:rPr sz="950">
                <a:solidFill>
                  <a:srgbClr val="262626"/>
                </a:solidFill>
                <a:latin typeface="Arial"/>
                <a:ea typeface="Arial"/>
                <a:cs typeface="Arial"/>
              </a:rPr>
              <a:t>Pressure and particle contact change the response.</a:t>
            </a:r>
            <a:endParaRPr sz="1100"/>
          </a:p>
        </p:txBody>
      </p:sp>
      <p:sp>
        <p:nvSpPr>
          <p:cNvPr id="19" name="Text 15">
            <a:extLst xmlns:a="http://schemas.openxmlformats.org/drawingml/2006/main">
              <a:ext uri="{FF2B5EF4-FFF2-40B4-BE49-F238E27FC236}">
                <a16:creationId xmlns:a16="http://schemas.microsoft.com/office/drawing/2014/main" id="{6A07093A-7D13-420F-8C6B-254CE8AEF6E2}"/>
              </a:ext>
            </a:extLst>
          </p:cNvPr>
          <p:cNvSpPr>
            <a:spLocks xmlns:a="http://schemas.openxmlformats.org/drawingml/2006/main" noGrp="1"/>
          </p:cNvSpPr>
          <p:nvPr/>
        </p:nvSpPr>
        <p:spPr>
          <a:xfrm xmlns:a="http://schemas.openxmlformats.org/drawingml/2006/main">
            <a:off x="548640" y="484632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There is no single repair knob — and no single screening metric.</a:t>
            </a:r>
            <a:endParaRPr sz="1250"/>
          </a:p>
        </p:txBody>
      </p:sp>
      <p:sp>
        <p:nvSpPr>
          <p:cNvPr id="20" name="Text 16">
            <a:extLst xmlns:a="http://schemas.openxmlformats.org/drawingml/2006/main">
              <a:ext uri="{FF2B5EF4-FFF2-40B4-BE49-F238E27FC236}">
                <a16:creationId xmlns:a16="http://schemas.microsoft.com/office/drawing/2014/main" id="{9CED1C40-DBCF-4551-AB4F-DB3A2CE200F1}"/>
              </a:ext>
            </a:extLst>
          </p:cNvPr>
          <p:cNvSpPr>
            <a:spLocks xmlns:a="http://schemas.openxmlformats.org/drawingml/2006/main" noGrp="1"/>
          </p:cNvSpPr>
          <p:nvPr/>
        </p:nvSpPr>
        <p:spPr>
          <a:xfrm xmlns:a="http://schemas.openxmlformats.org/drawingml/2006/main">
            <a:off x="548640" y="5257800"/>
            <a:ext cx="8046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7F7F7F"/>
                </a:solidFill>
                <a:latin typeface="Arial"/>
                <a:ea typeface="Arial"/>
                <a:cs typeface="Arial"/>
              </a:rPr>
              <a:t>Coating     Substitution     Composite     Processing</a:t>
            </a:r>
            <a:endParaRPr sz="1000"/>
          </a:p>
        </p:txBody>
      </p:sp>
    </p:spTree>
    <p:extLst>
      <p:ext uri="{BB962C8B-B14F-4D97-AF65-F5344CB8AC3E}">
        <p14:creationId xmlns:p14="http://schemas.microsoft.com/office/powerpoint/2010/main" val="79106766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D64536B-14AD-4933-AFC5-07EE5CE277C2}"/>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Motivation</a:t>
            </a:r>
            <a:endParaRPr sz="2800"/>
          </a:p>
        </p:txBody>
      </p:sp>
      <p:sp>
        <p:nvSpPr>
          <p:cNvPr id="3" name="Text 1">
            <a:extLst xmlns:a="http://schemas.openxmlformats.org/drawingml/2006/main">
              <a:ext uri="{FF2B5EF4-FFF2-40B4-BE49-F238E27FC236}">
                <a16:creationId xmlns:a16="http://schemas.microsoft.com/office/drawing/2014/main" id="{BA523F5F-F000-444B-B1A2-9AB53B9D0FFB}"/>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Campaign design record</a:t>
            </a:r>
            <a:endParaRPr sz="900"/>
          </a:p>
        </p:txBody>
      </p:sp>
      <p:sp>
        <p:nvSpPr>
          <p:cNvPr id="4" name="Shape 2">
            <a:extLst xmlns:a="http://schemas.openxmlformats.org/drawingml/2006/main">
              <a:ext uri="{FF2B5EF4-FFF2-40B4-BE49-F238E27FC236}">
                <a16:creationId xmlns:a16="http://schemas.microsoft.com/office/drawing/2014/main" id="{A24CE66E-413E-4338-A472-E65E9362E396}"/>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5" name="Shape 3">
            <a:extLst xmlns:a="http://schemas.openxmlformats.org/drawingml/2006/main">
              <a:ext uri="{FF2B5EF4-FFF2-40B4-BE49-F238E27FC236}">
                <a16:creationId xmlns:a16="http://schemas.microsoft.com/office/drawing/2014/main" id="{48D987ED-9BF8-4561-9061-34D578ACEF9F}"/>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B96E0ED2-014B-4D1D-871F-C034E1E788CD}"/>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Substitution turns one material into hundreds of decisions</a:t>
            </a:r>
            <a:endParaRPr sz="1400"/>
          </a:p>
        </p:txBody>
      </p:sp>
      <p:sp>
        <p:nvSpPr>
          <p:cNvPr id="7" name="Text 5">
            <a:extLst xmlns:a="http://schemas.openxmlformats.org/drawingml/2006/main">
              <a:ext uri="{FF2B5EF4-FFF2-40B4-BE49-F238E27FC236}">
                <a16:creationId xmlns:a16="http://schemas.microsoft.com/office/drawing/2014/main" id="{70DF479A-79ED-4EEF-A198-E4D37AB54E0F}"/>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DC1BD698-94E9-4F34-820B-BF9532824789}"/>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13A28F49-5826-42CB-8138-FF4175B4787D}"/>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3</a:t>
            </a:r>
            <a:endParaRPr sz="900"/>
          </a:p>
        </p:txBody>
      </p:sp>
      <p:sp>
        <p:nvSpPr>
          <p:cNvPr id="11" name="Shape 8">
            <a:extLst xmlns:a="http://schemas.openxmlformats.org/drawingml/2006/main">
              <a:ext uri="{FF2B5EF4-FFF2-40B4-BE49-F238E27FC236}">
                <a16:creationId xmlns:a16="http://schemas.microsoft.com/office/drawing/2014/main" id="{99432639-0EF8-4107-967D-8134778FEFF1}"/>
              </a:ext>
            </a:extLst>
          </p:cNvPr>
          <p:cNvSpPr>
            <a:spLocks xmlns:a="http://schemas.openxmlformats.org/drawingml/2006/main" noGrp="1"/>
          </p:cNvSpPr>
          <p:nvPr/>
        </p:nvSpPr>
        <p:spPr>
          <a:xfrm xmlns:a="http://schemas.openxmlformats.org/drawingml/2006/main">
            <a:off x="640080" y="1554480"/>
            <a:ext cx="1920240" cy="1051560"/>
          </a:xfrm>
          <a:prstGeom xmlns:a="http://schemas.openxmlformats.org/drawingml/2006/main" prst="roundRect">
            <a:avLst>
              <a:gd name="adj" fmla="val 6087"/>
            </a:avLst>
          </a:prstGeom>
          <a:solidFill xmlns:a="http://schemas.openxmlformats.org/drawingml/2006/main">
            <a:srgbClr val="D9E1F2"/>
          </a:solidFill>
          <a:ln xmlns:a="http://schemas.openxmlformats.org/drawingml/2006/main" w="12700">
            <a:solidFill>
              <a:srgbClr val="1F4E79"/>
            </a:solidFill>
            <a:prstDash val="solid"/>
          </a:ln>
        </p:spPr>
      </p:sp>
      <p:sp>
        <p:nvSpPr>
          <p:cNvPr id="12" name="Text 9">
            <a:extLst xmlns:a="http://schemas.openxmlformats.org/drawingml/2006/main">
              <a:ext uri="{FF2B5EF4-FFF2-40B4-BE49-F238E27FC236}">
                <a16:creationId xmlns:a16="http://schemas.microsoft.com/office/drawing/2014/main" id="{2528172D-BBC6-4ED2-9399-EB590F55BA2D}"/>
              </a:ext>
            </a:extLst>
          </p:cNvPr>
          <p:cNvSpPr>
            <a:spLocks xmlns:a="http://schemas.openxmlformats.org/drawingml/2006/main" noGrp="1"/>
          </p:cNvSpPr>
          <p:nvPr/>
        </p:nvSpPr>
        <p:spPr>
          <a:xfrm xmlns:a="http://schemas.openxmlformats.org/drawingml/2006/main">
            <a:off x="731520" y="1627632"/>
            <a:ext cx="17373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4E79"/>
                </a:solidFill>
                <a:latin typeface="Arial"/>
                <a:ea typeface="Arial"/>
                <a:cs typeface="Arial"/>
              </a:rPr>
              <a:t>Dopant chemistry
</a:t>
            </a:r>
            <a:endParaRPr sz="1050"/>
          </a:p>
          <a:p xmlns:a="http://schemas.openxmlformats.org/drawingml/2006/main">
            <a:pPr marL="0" indent="0">
              <a:buNone/>
            </a:pPr>
            <a:r>
              <a:rPr sz="850">
                <a:solidFill>
                  <a:srgbClr val="262626"/>
                </a:solidFill>
                <a:latin typeface="Arial"/>
                <a:ea typeface="Arial"/>
                <a:cs typeface="Arial"/>
              </a:rPr>
              <a:t>Which element or compound?</a:t>
            </a:r>
            <a:endParaRPr sz="1050"/>
          </a:p>
        </p:txBody>
      </p:sp>
      <p:sp>
        <p:nvSpPr>
          <p:cNvPr id="13" name="Text 10">
            <a:extLst xmlns:a="http://schemas.openxmlformats.org/drawingml/2006/main">
              <a:ext uri="{FF2B5EF4-FFF2-40B4-BE49-F238E27FC236}">
                <a16:creationId xmlns:a16="http://schemas.microsoft.com/office/drawing/2014/main" id="{5F7E6D7B-ABF7-4D1E-A5AA-AF7B683BCEFA}"/>
              </a:ext>
            </a:extLst>
          </p:cNvPr>
          <p:cNvSpPr>
            <a:spLocks xmlns:a="http://schemas.openxmlformats.org/drawingml/2006/main" noGrp="1"/>
          </p:cNvSpPr>
          <p:nvPr/>
        </p:nvSpPr>
        <p:spPr>
          <a:xfrm xmlns:a="http://schemas.openxmlformats.org/drawingml/2006/main">
            <a:off x="2395728" y="1874520"/>
            <a:ext cx="274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7F7F7F"/>
                </a:solidFill>
                <a:latin typeface="Arial"/>
                <a:ea typeface="Arial"/>
                <a:cs typeface="Arial"/>
              </a:rPr>
              <a:t>×</a:t>
            </a:r>
            <a:endParaRPr sz="1600"/>
          </a:p>
        </p:txBody>
      </p:sp>
      <p:sp>
        <p:nvSpPr>
          <p:cNvPr id="14" name="Shape 11">
            <a:extLst xmlns:a="http://schemas.openxmlformats.org/drawingml/2006/main">
              <a:ext uri="{FF2B5EF4-FFF2-40B4-BE49-F238E27FC236}">
                <a16:creationId xmlns:a16="http://schemas.microsoft.com/office/drawing/2014/main" id="{6E20E008-E98B-44B2-B222-25E77F088C35}"/>
              </a:ext>
            </a:extLst>
          </p:cNvPr>
          <p:cNvSpPr>
            <a:spLocks xmlns:a="http://schemas.openxmlformats.org/drawingml/2006/main" noGrp="1"/>
          </p:cNvSpPr>
          <p:nvPr/>
        </p:nvSpPr>
        <p:spPr>
          <a:xfrm xmlns:a="http://schemas.openxmlformats.org/drawingml/2006/main">
            <a:off x="2761488" y="1554480"/>
            <a:ext cx="1920240" cy="1051560"/>
          </a:xfrm>
          <a:prstGeom xmlns:a="http://schemas.openxmlformats.org/drawingml/2006/main" prst="roundRect">
            <a:avLst>
              <a:gd name="adj" fmla="val 6087"/>
            </a:avLst>
          </a:prstGeom>
          <a:solidFill xmlns:a="http://schemas.openxmlformats.org/drawingml/2006/main">
            <a:srgbClr val="D9E1F2"/>
          </a:solidFill>
          <a:ln xmlns:a="http://schemas.openxmlformats.org/drawingml/2006/main" w="12700">
            <a:solidFill>
              <a:srgbClr val="1F4E79"/>
            </a:solidFill>
            <a:prstDash val="solid"/>
          </a:ln>
        </p:spPr>
      </p:sp>
      <p:sp>
        <p:nvSpPr>
          <p:cNvPr id="15" name="Text 12">
            <a:extLst xmlns:a="http://schemas.openxmlformats.org/drawingml/2006/main">
              <a:ext uri="{FF2B5EF4-FFF2-40B4-BE49-F238E27FC236}">
                <a16:creationId xmlns:a16="http://schemas.microsoft.com/office/drawing/2014/main" id="{61083997-6092-48DE-919F-9C9C49E3A577}"/>
              </a:ext>
            </a:extLst>
          </p:cNvPr>
          <p:cNvSpPr>
            <a:spLocks xmlns:a="http://schemas.openxmlformats.org/drawingml/2006/main" noGrp="1"/>
          </p:cNvSpPr>
          <p:nvPr/>
        </p:nvSpPr>
        <p:spPr>
          <a:xfrm xmlns:a="http://schemas.openxmlformats.org/drawingml/2006/main">
            <a:off x="2852928" y="1627632"/>
            <a:ext cx="17373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4E79"/>
                </a:solidFill>
                <a:latin typeface="Arial"/>
                <a:ea typeface="Arial"/>
                <a:cs typeface="Arial"/>
              </a:rPr>
              <a:t>Campaign label
</a:t>
            </a:r>
            <a:endParaRPr sz="1050"/>
          </a:p>
          <a:p xmlns:a="http://schemas.openxmlformats.org/drawingml/2006/main">
            <a:pPr marL="0" indent="0">
              <a:buNone/>
            </a:pPr>
            <a:r>
              <a:rPr sz="850">
                <a:solidFill>
                  <a:srgbClr val="262626"/>
                </a:solidFill>
                <a:latin typeface="Arial"/>
                <a:ea typeface="Arial"/>
                <a:cs typeface="Arial"/>
              </a:rPr>
              <a:t>x002 / x005 / x010; actual x unresolved</a:t>
            </a:r>
            <a:endParaRPr sz="1050"/>
          </a:p>
        </p:txBody>
      </p:sp>
      <p:sp>
        <p:nvSpPr>
          <p:cNvPr id="16" name="Text 13">
            <a:extLst xmlns:a="http://schemas.openxmlformats.org/drawingml/2006/main">
              <a:ext uri="{FF2B5EF4-FFF2-40B4-BE49-F238E27FC236}">
                <a16:creationId xmlns:a16="http://schemas.microsoft.com/office/drawing/2014/main" id="{B2109BA5-DC8B-4264-8231-78BA2F55C0B1}"/>
              </a:ext>
            </a:extLst>
          </p:cNvPr>
          <p:cNvSpPr>
            <a:spLocks xmlns:a="http://schemas.openxmlformats.org/drawingml/2006/main" noGrp="1"/>
          </p:cNvSpPr>
          <p:nvPr/>
        </p:nvSpPr>
        <p:spPr>
          <a:xfrm xmlns:a="http://schemas.openxmlformats.org/drawingml/2006/main">
            <a:off x="4517136" y="1874520"/>
            <a:ext cx="274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7F7F7F"/>
                </a:solidFill>
                <a:latin typeface="Arial"/>
                <a:ea typeface="Arial"/>
                <a:cs typeface="Arial"/>
              </a:rPr>
              <a:t>×</a:t>
            </a:r>
            <a:endParaRPr sz="1600"/>
          </a:p>
        </p:txBody>
      </p:sp>
      <p:sp>
        <p:nvSpPr>
          <p:cNvPr id="17" name="Shape 14">
            <a:extLst xmlns:a="http://schemas.openxmlformats.org/drawingml/2006/main">
              <a:ext uri="{FF2B5EF4-FFF2-40B4-BE49-F238E27FC236}">
                <a16:creationId xmlns:a16="http://schemas.microsoft.com/office/drawing/2014/main" id="{607AF61A-4991-4F2B-9BE5-8449EFA1A365}"/>
              </a:ext>
            </a:extLst>
          </p:cNvPr>
          <p:cNvSpPr>
            <a:spLocks xmlns:a="http://schemas.openxmlformats.org/drawingml/2006/main" noGrp="1"/>
          </p:cNvSpPr>
          <p:nvPr/>
        </p:nvSpPr>
        <p:spPr>
          <a:xfrm xmlns:a="http://schemas.openxmlformats.org/drawingml/2006/main">
            <a:off x="4882896" y="1554480"/>
            <a:ext cx="1920240" cy="1051560"/>
          </a:xfrm>
          <a:prstGeom xmlns:a="http://schemas.openxmlformats.org/drawingml/2006/main" prst="roundRect">
            <a:avLst>
              <a:gd name="adj" fmla="val 6087"/>
            </a:avLst>
          </a:prstGeom>
          <a:solidFill xmlns:a="http://schemas.openxmlformats.org/drawingml/2006/main">
            <a:srgbClr val="D9E1F2"/>
          </a:solidFill>
          <a:ln xmlns:a="http://schemas.openxmlformats.org/drawingml/2006/main" w="12700">
            <a:solidFill>
              <a:srgbClr val="1F4E79"/>
            </a:solidFill>
            <a:prstDash val="solid"/>
          </a:ln>
        </p:spPr>
      </p:sp>
      <p:sp>
        <p:nvSpPr>
          <p:cNvPr id="18" name="Text 15">
            <a:extLst xmlns:a="http://schemas.openxmlformats.org/drawingml/2006/main">
              <a:ext uri="{FF2B5EF4-FFF2-40B4-BE49-F238E27FC236}">
                <a16:creationId xmlns:a16="http://schemas.microsoft.com/office/drawing/2014/main" id="{3841EF17-4411-4D64-829A-6879C186DD87}"/>
              </a:ext>
            </a:extLst>
          </p:cNvPr>
          <p:cNvSpPr>
            <a:spLocks xmlns:a="http://schemas.openxmlformats.org/drawingml/2006/main" noGrp="1"/>
          </p:cNvSpPr>
          <p:nvPr/>
        </p:nvSpPr>
        <p:spPr>
          <a:xfrm xmlns:a="http://schemas.openxmlformats.org/drawingml/2006/main">
            <a:off x="4974336" y="1627632"/>
            <a:ext cx="17373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4E79"/>
                </a:solidFill>
                <a:latin typeface="Arial"/>
                <a:ea typeface="Arial"/>
                <a:cs typeface="Arial"/>
              </a:rPr>
              <a:t>Configuration
</a:t>
            </a:r>
            <a:endParaRPr sz="1050"/>
          </a:p>
          <a:p xmlns:a="http://schemas.openxmlformats.org/drawingml/2006/main">
            <a:pPr marL="0" indent="0">
              <a:buNone/>
            </a:pPr>
            <a:r>
              <a:rPr sz="850">
                <a:solidFill>
                  <a:srgbClr val="262626"/>
                </a:solidFill>
                <a:latin typeface="Arial"/>
                <a:ea typeface="Arial"/>
                <a:cs typeface="Arial"/>
              </a:rPr>
              <a:t>Where are defects placed?</a:t>
            </a:r>
            <a:endParaRPr sz="1050"/>
          </a:p>
        </p:txBody>
      </p:sp>
      <p:sp>
        <p:nvSpPr>
          <p:cNvPr id="19" name="Text 16">
            <a:extLst xmlns:a="http://schemas.openxmlformats.org/drawingml/2006/main">
              <a:ext uri="{FF2B5EF4-FFF2-40B4-BE49-F238E27FC236}">
                <a16:creationId xmlns:a16="http://schemas.microsoft.com/office/drawing/2014/main" id="{11D881ED-2C44-4A58-9847-1F607A880F08}"/>
              </a:ext>
            </a:extLst>
          </p:cNvPr>
          <p:cNvSpPr>
            <a:spLocks xmlns:a="http://schemas.openxmlformats.org/drawingml/2006/main" noGrp="1"/>
          </p:cNvSpPr>
          <p:nvPr/>
        </p:nvSpPr>
        <p:spPr>
          <a:xfrm xmlns:a="http://schemas.openxmlformats.org/drawingml/2006/main">
            <a:off x="6638544" y="1874520"/>
            <a:ext cx="274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7F7F7F"/>
                </a:solidFill>
                <a:latin typeface="Arial"/>
                <a:ea typeface="Arial"/>
                <a:cs typeface="Arial"/>
              </a:rPr>
              <a:t>×</a:t>
            </a:r>
            <a:endParaRPr sz="1600"/>
          </a:p>
        </p:txBody>
      </p:sp>
      <p:sp>
        <p:nvSpPr>
          <p:cNvPr id="20" name="Shape 17">
            <a:extLst xmlns:a="http://schemas.openxmlformats.org/drawingml/2006/main">
              <a:ext uri="{FF2B5EF4-FFF2-40B4-BE49-F238E27FC236}">
                <a16:creationId xmlns:a16="http://schemas.microsoft.com/office/drawing/2014/main" id="{005D7217-E2C3-4A06-ABE6-E36A13F38D5B}"/>
              </a:ext>
            </a:extLst>
          </p:cNvPr>
          <p:cNvSpPr>
            <a:spLocks xmlns:a="http://schemas.openxmlformats.org/drawingml/2006/main" noGrp="1"/>
          </p:cNvSpPr>
          <p:nvPr/>
        </p:nvSpPr>
        <p:spPr>
          <a:xfrm xmlns:a="http://schemas.openxmlformats.org/drawingml/2006/main">
            <a:off x="7004304" y="1554480"/>
            <a:ext cx="1920240" cy="1051560"/>
          </a:xfrm>
          <a:prstGeom xmlns:a="http://schemas.openxmlformats.org/drawingml/2006/main" prst="roundRect">
            <a:avLst>
              <a:gd name="adj" fmla="val 6087"/>
            </a:avLst>
          </a:prstGeom>
          <a:solidFill xmlns:a="http://schemas.openxmlformats.org/drawingml/2006/main">
            <a:srgbClr val="D9E1F2"/>
          </a:solidFill>
          <a:ln xmlns:a="http://schemas.openxmlformats.org/drawingml/2006/main" w="12700">
            <a:solidFill>
              <a:srgbClr val="1F4E79"/>
            </a:solidFill>
            <a:prstDash val="solid"/>
          </a:ln>
        </p:spPr>
      </p:sp>
      <p:sp>
        <p:nvSpPr>
          <p:cNvPr id="21" name="Text 18">
            <a:extLst xmlns:a="http://schemas.openxmlformats.org/drawingml/2006/main">
              <a:ext uri="{FF2B5EF4-FFF2-40B4-BE49-F238E27FC236}">
                <a16:creationId xmlns:a16="http://schemas.microsoft.com/office/drawing/2014/main" id="{75B0A9EA-3168-43D7-9E42-81A68F7FC2F5}"/>
              </a:ext>
            </a:extLst>
          </p:cNvPr>
          <p:cNvSpPr>
            <a:spLocks xmlns:a="http://schemas.openxmlformats.org/drawingml/2006/main" noGrp="1"/>
          </p:cNvSpPr>
          <p:nvPr/>
        </p:nvSpPr>
        <p:spPr>
          <a:xfrm xmlns:a="http://schemas.openxmlformats.org/drawingml/2006/main">
            <a:off x="7095744" y="1627632"/>
            <a:ext cx="17373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4E79"/>
                </a:solidFill>
                <a:latin typeface="Arial"/>
                <a:ea typeface="Arial"/>
                <a:cs typeface="Arial"/>
              </a:rPr>
              <a:t>Target properties
</a:t>
            </a:r>
            <a:endParaRPr sz="1050"/>
          </a:p>
          <a:p xmlns:a="http://schemas.openxmlformats.org/drawingml/2006/main">
            <a:pPr marL="0" indent="0">
              <a:buNone/>
            </a:pPr>
            <a:r>
              <a:rPr sz="850">
                <a:solidFill>
                  <a:srgbClr val="262626"/>
                </a:solidFill>
                <a:latin typeface="Arial"/>
                <a:ea typeface="Arial"/>
                <a:cs typeface="Arial"/>
              </a:rPr>
              <a:t>Stability · transport · mechanics</a:t>
            </a:r>
            <a:endParaRPr sz="1050"/>
          </a:p>
        </p:txBody>
      </p:sp>
      <p:sp>
        <p:nvSpPr>
          <p:cNvPr id="22" name="Text 19">
            <a:extLst xmlns:a="http://schemas.openxmlformats.org/drawingml/2006/main">
              <a:ext uri="{FF2B5EF4-FFF2-40B4-BE49-F238E27FC236}">
                <a16:creationId xmlns:a16="http://schemas.microsoft.com/office/drawing/2014/main" id="{7A54B8B5-C722-4BF6-8843-F7DE9DFA6D5B}"/>
              </a:ext>
            </a:extLst>
          </p:cNvPr>
          <p:cNvSpPr>
            <a:spLocks xmlns:a="http://schemas.openxmlformats.org/drawingml/2006/main" noGrp="1"/>
          </p:cNvSpPr>
          <p:nvPr/>
        </p:nvSpPr>
        <p:spPr>
          <a:xfrm xmlns:a="http://schemas.openxmlformats.org/drawingml/2006/main">
            <a:off x="1371600" y="3108960"/>
            <a:ext cx="20116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1F4E79"/>
                </a:solidFill>
                <a:latin typeface="Arial"/>
                <a:ea typeface="Arial"/>
                <a:cs typeface="Arial"/>
              </a:rPr>
              <a:t>91
</a:t>
            </a:r>
            <a:endParaRPr sz="3000"/>
          </a:p>
          <a:p xmlns:a="http://schemas.openxmlformats.org/drawingml/2006/main">
            <a:pPr marL="0" indent="0" algn="ctr">
              <a:buNone/>
            </a:pPr>
            <a:r>
              <a:rPr sz="1000">
                <a:solidFill>
                  <a:srgbClr val="7F7F7F"/>
                </a:solidFill>
                <a:latin typeface="Arial"/>
                <a:ea typeface="Arial"/>
                <a:cs typeface="Arial"/>
              </a:rPr>
              <a:t>curated compounds</a:t>
            </a:r>
            <a:endParaRPr sz="3000"/>
          </a:p>
        </p:txBody>
      </p:sp>
      <p:sp>
        <p:nvSpPr>
          <p:cNvPr id="23" name="Text 20">
            <a:extLst xmlns:a="http://schemas.openxmlformats.org/drawingml/2006/main">
              <a:ext uri="{FF2B5EF4-FFF2-40B4-BE49-F238E27FC236}">
                <a16:creationId xmlns:a16="http://schemas.microsoft.com/office/drawing/2014/main" id="{AEF5C30D-18B9-4AF5-A32F-A641BBAEF39A}"/>
              </a:ext>
            </a:extLst>
          </p:cNvPr>
          <p:cNvSpPr>
            <a:spLocks xmlns:a="http://schemas.openxmlformats.org/drawingml/2006/main" noGrp="1"/>
          </p:cNvSpPr>
          <p:nvPr/>
        </p:nvSpPr>
        <p:spPr>
          <a:xfrm xmlns:a="http://schemas.openxmlformats.org/drawingml/2006/main">
            <a:off x="3063240" y="324612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7F7F7F"/>
                </a:solidFill>
                <a:latin typeface="Arial"/>
                <a:ea typeface="Arial"/>
                <a:cs typeface="Arial"/>
              </a:rPr>
              <a:t>×</a:t>
            </a:r>
            <a:endParaRPr sz="2000"/>
          </a:p>
        </p:txBody>
      </p:sp>
      <p:sp>
        <p:nvSpPr>
          <p:cNvPr id="24" name="Text 21">
            <a:extLst xmlns:a="http://schemas.openxmlformats.org/drawingml/2006/main">
              <a:ext uri="{FF2B5EF4-FFF2-40B4-BE49-F238E27FC236}">
                <a16:creationId xmlns:a16="http://schemas.microsoft.com/office/drawing/2014/main" id="{EA1C6655-1CEC-4E5D-A05D-E83D2D1500EE}"/>
              </a:ext>
            </a:extLst>
          </p:cNvPr>
          <p:cNvSpPr>
            <a:spLocks xmlns:a="http://schemas.openxmlformats.org/drawingml/2006/main" noGrp="1"/>
          </p:cNvSpPr>
          <p:nvPr/>
        </p:nvSpPr>
        <p:spPr>
          <a:xfrm xmlns:a="http://schemas.openxmlformats.org/drawingml/2006/main">
            <a:off x="3749040" y="3108960"/>
            <a:ext cx="20116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1F4E79"/>
                </a:solidFill>
                <a:latin typeface="Arial"/>
                <a:ea typeface="Arial"/>
                <a:cs typeface="Arial"/>
              </a:rPr>
              <a:t>3
</a:t>
            </a:r>
            <a:endParaRPr sz="3000"/>
          </a:p>
          <a:p xmlns:a="http://schemas.openxmlformats.org/drawingml/2006/main">
            <a:pPr marL="0" indent="0" algn="ctr">
              <a:buNone/>
            </a:pPr>
            <a:r>
              <a:rPr sz="1000">
                <a:solidFill>
                  <a:srgbClr val="7F7F7F"/>
                </a:solidFill>
                <a:latin typeface="Arial"/>
                <a:ea typeface="Arial"/>
                <a:cs typeface="Arial"/>
              </a:rPr>
              <a:t>campaign labels</a:t>
            </a:r>
            <a:endParaRPr sz="3000"/>
          </a:p>
        </p:txBody>
      </p:sp>
      <p:sp>
        <p:nvSpPr>
          <p:cNvPr id="25" name="Text 22">
            <a:extLst xmlns:a="http://schemas.openxmlformats.org/drawingml/2006/main">
              <a:ext uri="{FF2B5EF4-FFF2-40B4-BE49-F238E27FC236}">
                <a16:creationId xmlns:a16="http://schemas.microsoft.com/office/drawing/2014/main" id="{D7E37EEC-EACA-4924-BF8C-D600B44A78EB}"/>
              </a:ext>
            </a:extLst>
          </p:cNvPr>
          <p:cNvSpPr>
            <a:spLocks xmlns:a="http://schemas.openxmlformats.org/drawingml/2006/main" noGrp="1"/>
          </p:cNvSpPr>
          <p:nvPr/>
        </p:nvSpPr>
        <p:spPr>
          <a:xfrm xmlns:a="http://schemas.openxmlformats.org/drawingml/2006/main">
            <a:off x="5440680" y="3246120"/>
            <a:ext cx="457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000" b="1">
                <a:solidFill>
                  <a:srgbClr val="7F7F7F"/>
                </a:solidFill>
                <a:latin typeface="Arial"/>
                <a:ea typeface="Arial"/>
                <a:cs typeface="Arial"/>
              </a:rPr>
              <a:t>=</a:t>
            </a:r>
            <a:endParaRPr sz="2000"/>
          </a:p>
        </p:txBody>
      </p:sp>
      <p:sp>
        <p:nvSpPr>
          <p:cNvPr id="26" name="Text 23">
            <a:extLst xmlns:a="http://schemas.openxmlformats.org/drawingml/2006/main">
              <a:ext uri="{FF2B5EF4-FFF2-40B4-BE49-F238E27FC236}">
                <a16:creationId xmlns:a16="http://schemas.microsoft.com/office/drawing/2014/main" id="{0DC9B62E-3173-46DD-8F54-0D1D6EDBF64F}"/>
              </a:ext>
            </a:extLst>
          </p:cNvPr>
          <p:cNvSpPr>
            <a:spLocks xmlns:a="http://schemas.openxmlformats.org/drawingml/2006/main" noGrp="1"/>
          </p:cNvSpPr>
          <p:nvPr/>
        </p:nvSpPr>
        <p:spPr>
          <a:xfrm xmlns:a="http://schemas.openxmlformats.org/drawingml/2006/main">
            <a:off x="6126480" y="3108960"/>
            <a:ext cx="20116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000" b="1">
                <a:solidFill>
                  <a:srgbClr val="1F4E79"/>
                </a:solidFill>
                <a:latin typeface="Arial"/>
                <a:ea typeface="Arial"/>
                <a:cs typeface="Arial"/>
              </a:rPr>
              <a:t>273
</a:t>
            </a:r>
            <a:endParaRPr sz="3000"/>
          </a:p>
          <a:p xmlns:a="http://schemas.openxmlformats.org/drawingml/2006/main">
            <a:pPr marL="0" indent="0" algn="ctr">
              <a:buNone/>
            </a:pPr>
            <a:r>
              <a:rPr sz="1000">
                <a:solidFill>
                  <a:srgbClr val="7F7F7F"/>
                </a:solidFill>
                <a:latin typeface="Arial"/>
                <a:ea typeface="Arial"/>
                <a:cs typeface="Arial"/>
              </a:rPr>
              <a:t>campaign run slots</a:t>
            </a:r>
            <a:endParaRPr sz="3000"/>
          </a:p>
        </p:txBody>
      </p:sp>
      <p:sp>
        <p:nvSpPr>
          <p:cNvPr id="27" name="Text 24">
            <a:extLst xmlns:a="http://schemas.openxmlformats.org/drawingml/2006/main">
              <a:ext uri="{FF2B5EF4-FFF2-40B4-BE49-F238E27FC236}">
                <a16:creationId xmlns:a16="http://schemas.microsoft.com/office/drawing/2014/main" id="{B93B872A-B0B7-4DF4-9846-22940A58B018}"/>
              </a:ext>
            </a:extLst>
          </p:cNvPr>
          <p:cNvSpPr>
            <a:spLocks xmlns:a="http://schemas.openxmlformats.org/drawingml/2006/main" noGrp="1"/>
          </p:cNvSpPr>
          <p:nvPr/>
        </p:nvSpPr>
        <p:spPr>
          <a:xfrm xmlns:a="http://schemas.openxmlformats.org/drawingml/2006/main">
            <a:off x="548640" y="580644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Element labels alone do not predict the effect.</a:t>
            </a:r>
            <a:endParaRPr sz="1250"/>
          </a:p>
        </p:txBody>
      </p:sp>
      <p:sp>
        <p:nvSpPr>
          <p:cNvPr id="28" name="Text 25">
            <a:extLst xmlns:a="http://schemas.openxmlformats.org/drawingml/2006/main">
              <a:ext uri="{FF2B5EF4-FFF2-40B4-BE49-F238E27FC236}">
                <a16:creationId xmlns:a16="http://schemas.microsoft.com/office/drawing/2014/main" id="{BF3C45F8-274D-4BF8-AD4E-2A2F776EDFDC}"/>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cascade_seminar_pool_attrition_273_to_47.csv · nominal campaign labels</a:t>
            </a:r>
            <a:endParaRPr sz="750"/>
          </a:p>
        </p:txBody>
      </p:sp>
    </p:spTree>
    <p:extLst>
      <p:ext uri="{BB962C8B-B14F-4D97-AF65-F5344CB8AC3E}">
        <p14:creationId xmlns:p14="http://schemas.microsoft.com/office/powerpoint/2010/main" val="41344095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F3CF449-9863-48AF-947B-8D6042F59E84}"/>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Cascade</a:t>
            </a:r>
            <a:endParaRPr sz="2800"/>
          </a:p>
        </p:txBody>
      </p:sp>
      <p:sp>
        <p:nvSpPr>
          <p:cNvPr id="3" name="Text 1">
            <a:extLst xmlns:a="http://schemas.openxmlformats.org/drawingml/2006/main">
              <a:ext uri="{FF2B5EF4-FFF2-40B4-BE49-F238E27FC236}">
                <a16:creationId xmlns:a16="http://schemas.microsoft.com/office/drawing/2014/main" id="{02282056-D440-4D9E-B7D4-F71B6CFFC0D8}"/>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Decision architecture</a:t>
            </a:r>
            <a:endParaRPr sz="900"/>
          </a:p>
        </p:txBody>
      </p:sp>
      <p:sp>
        <p:nvSpPr>
          <p:cNvPr id="4" name="Shape 2">
            <a:extLst xmlns:a="http://schemas.openxmlformats.org/drawingml/2006/main">
              <a:ext uri="{FF2B5EF4-FFF2-40B4-BE49-F238E27FC236}">
                <a16:creationId xmlns:a16="http://schemas.microsoft.com/office/drawing/2014/main" id="{DF530593-B14F-4065-8E8F-AD73ADE969AA}"/>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5" name="Shape 3">
            <a:extLst xmlns:a="http://schemas.openxmlformats.org/drawingml/2006/main">
              <a:ext uri="{FF2B5EF4-FFF2-40B4-BE49-F238E27FC236}">
                <a16:creationId xmlns:a16="http://schemas.microsoft.com/office/drawing/2014/main" id="{276EE3CF-B0B4-4BC3-8C8E-BC708810980F}"/>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DB0027D6-2C77-4A0A-A7FC-B0699DDEBEC6}"/>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A cascade spends precision only where it matters</a:t>
            </a:r>
            <a:endParaRPr sz="1400"/>
          </a:p>
        </p:txBody>
      </p:sp>
      <p:sp>
        <p:nvSpPr>
          <p:cNvPr id="7" name="Text 5">
            <a:extLst xmlns:a="http://schemas.openxmlformats.org/drawingml/2006/main">
              <a:ext uri="{FF2B5EF4-FFF2-40B4-BE49-F238E27FC236}">
                <a16:creationId xmlns:a16="http://schemas.microsoft.com/office/drawing/2014/main" id="{B9DC03C2-4478-4735-9512-47922EFC11F5}"/>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2C0D4973-F9A9-4C4B-9535-908EC1EE1CC1}"/>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1AD92424-59BD-4CA4-8983-176A7D1CB8EA}"/>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4</a:t>
            </a:r>
            <a:endParaRPr sz="900"/>
          </a:p>
        </p:txBody>
      </p:sp>
      <p:sp>
        <p:nvSpPr>
          <p:cNvPr id="11" name="Shape 8">
            <a:extLst xmlns:a="http://schemas.openxmlformats.org/drawingml/2006/main">
              <a:ext uri="{FF2B5EF4-FFF2-40B4-BE49-F238E27FC236}">
                <a16:creationId xmlns:a16="http://schemas.microsoft.com/office/drawing/2014/main" id="{AE674553-883A-4F60-8F4A-A605E2359902}"/>
              </a:ext>
            </a:extLst>
          </p:cNvPr>
          <p:cNvSpPr>
            <a:spLocks xmlns:a="http://schemas.openxmlformats.org/drawingml/2006/main" noGrp="1"/>
          </p:cNvSpPr>
          <p:nvPr/>
        </p:nvSpPr>
        <p:spPr>
          <a:xfrm xmlns:a="http://schemas.openxmlformats.org/drawingml/2006/main">
            <a:off x="914400" y="1508760"/>
            <a:ext cx="6035040" cy="822960"/>
          </a:xfrm>
          <a:prstGeom xmlns:a="http://schemas.openxmlformats.org/drawingml/2006/main" prst="roundRect">
            <a:avLst>
              <a:gd name="adj" fmla="val 7778"/>
            </a:avLst>
          </a:prstGeom>
          <a:solidFill xmlns:a="http://schemas.openxmlformats.org/drawingml/2006/main">
            <a:srgbClr val="D9E1F2"/>
          </a:solidFill>
          <a:ln xmlns:a="http://schemas.openxmlformats.org/drawingml/2006/main" w="12700">
            <a:solidFill>
              <a:srgbClr val="1F4E79"/>
            </a:solidFill>
            <a:prstDash val="solid"/>
          </a:ln>
        </p:spPr>
      </p:sp>
      <p:sp>
        <p:nvSpPr>
          <p:cNvPr id="12" name="Text 9">
            <a:extLst xmlns:a="http://schemas.openxmlformats.org/drawingml/2006/main">
              <a:ext uri="{FF2B5EF4-FFF2-40B4-BE49-F238E27FC236}">
                <a16:creationId xmlns:a16="http://schemas.microsoft.com/office/drawing/2014/main" id="{4F71CF82-111B-4C67-A145-F5D104273B2E}"/>
              </a:ext>
            </a:extLst>
          </p:cNvPr>
          <p:cNvSpPr>
            <a:spLocks xmlns:a="http://schemas.openxmlformats.org/drawingml/2006/main" noGrp="1"/>
          </p:cNvSpPr>
          <p:nvPr/>
        </p:nvSpPr>
        <p:spPr>
          <a:xfrm xmlns:a="http://schemas.openxmlformats.org/drawingml/2006/main">
            <a:off x="1097280" y="1737360"/>
            <a:ext cx="1463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F4E79"/>
                </a:solidFill>
                <a:latin typeface="Arial"/>
                <a:ea typeface="Arial"/>
                <a:cs typeface="Arial"/>
              </a:rPr>
              <a:t>1  CURATE</a:t>
            </a:r>
            <a:endParaRPr sz="1150"/>
          </a:p>
        </p:txBody>
      </p:sp>
      <p:sp>
        <p:nvSpPr>
          <p:cNvPr id="13" name="Text 10">
            <a:extLst xmlns:a="http://schemas.openxmlformats.org/drawingml/2006/main">
              <a:ext uri="{FF2B5EF4-FFF2-40B4-BE49-F238E27FC236}">
                <a16:creationId xmlns:a16="http://schemas.microsoft.com/office/drawing/2014/main" id="{C9F31CAA-9F0A-478D-8BA3-3149E58D1418}"/>
              </a:ext>
            </a:extLst>
          </p:cNvPr>
          <p:cNvSpPr>
            <a:spLocks xmlns:a="http://schemas.openxmlformats.org/drawingml/2006/main" noGrp="1"/>
          </p:cNvSpPr>
          <p:nvPr/>
        </p:nvSpPr>
        <p:spPr>
          <a:xfrm xmlns:a="http://schemas.openxmlformats.org/drawingml/2006/main">
            <a:off x="3108960" y="1618488"/>
            <a:ext cx="3657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262626"/>
                </a:solidFill>
                <a:latin typeface="Arial"/>
                <a:ea typeface="Arial"/>
                <a:cs typeface="Arial"/>
              </a:rPr>
              <a:t>Chemical priors</a:t>
            </a:r>
            <a:endParaRPr sz="950"/>
          </a:p>
          <a:p xmlns:a="http://schemas.openxmlformats.org/drawingml/2006/main">
            <a:pPr marL="0" indent="0" algn="ctr">
              <a:buNone/>
            </a:pPr>
            <a:r>
              <a:rPr sz="950">
                <a:solidFill>
                  <a:srgbClr val="262626"/>
                </a:solidFill>
                <a:latin typeface="Arial"/>
                <a:ea typeface="Arial"/>
                <a:cs typeface="Arial"/>
              </a:rPr>
              <a:t>Literature and database</a:t>
            </a:r>
            <a:endParaRPr sz="950"/>
          </a:p>
        </p:txBody>
      </p:sp>
      <p:sp>
        <p:nvSpPr>
          <p:cNvPr id="14" name="Shape 11">
            <a:extLst xmlns:a="http://schemas.openxmlformats.org/drawingml/2006/main">
              <a:ext uri="{FF2B5EF4-FFF2-40B4-BE49-F238E27FC236}">
                <a16:creationId xmlns:a16="http://schemas.microsoft.com/office/drawing/2014/main" id="{C230B301-BC32-4248-909A-B95343444656}"/>
              </a:ext>
            </a:extLst>
          </p:cNvPr>
          <p:cNvSpPr>
            <a:spLocks xmlns:a="http://schemas.openxmlformats.org/drawingml/2006/main" noGrp="1"/>
          </p:cNvSpPr>
          <p:nvPr/>
        </p:nvSpPr>
        <p:spPr>
          <a:xfrm xmlns:a="http://schemas.openxmlformats.org/drawingml/2006/main">
            <a:off x="1417320" y="2468880"/>
            <a:ext cx="6035040" cy="822960"/>
          </a:xfrm>
          <a:prstGeom xmlns:a="http://schemas.openxmlformats.org/drawingml/2006/main" prst="roundRect">
            <a:avLst>
              <a:gd name="adj" fmla="val 7778"/>
            </a:avLst>
          </a:prstGeom>
          <a:solidFill xmlns:a="http://schemas.openxmlformats.org/drawingml/2006/main">
            <a:srgbClr val="D9E1F2"/>
          </a:solidFill>
          <a:ln xmlns:a="http://schemas.openxmlformats.org/drawingml/2006/main" w="12700">
            <a:solidFill>
              <a:srgbClr val="1F4E79"/>
            </a:solidFill>
            <a:prstDash val="solid"/>
          </a:ln>
        </p:spPr>
      </p:sp>
      <p:sp>
        <p:nvSpPr>
          <p:cNvPr id="15" name="Text 12">
            <a:extLst xmlns:a="http://schemas.openxmlformats.org/drawingml/2006/main">
              <a:ext uri="{FF2B5EF4-FFF2-40B4-BE49-F238E27FC236}">
                <a16:creationId xmlns:a16="http://schemas.microsoft.com/office/drawing/2014/main" id="{B72A3805-A679-4F00-841F-8DFACC8041DB}"/>
              </a:ext>
            </a:extLst>
          </p:cNvPr>
          <p:cNvSpPr>
            <a:spLocks xmlns:a="http://schemas.openxmlformats.org/drawingml/2006/main" noGrp="1"/>
          </p:cNvSpPr>
          <p:nvPr/>
        </p:nvSpPr>
        <p:spPr>
          <a:xfrm xmlns:a="http://schemas.openxmlformats.org/drawingml/2006/main">
            <a:off x="1600200" y="2697480"/>
            <a:ext cx="1463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1F4E79"/>
                </a:solidFill>
                <a:latin typeface="Arial"/>
                <a:ea typeface="Arial"/>
                <a:cs typeface="Arial"/>
              </a:rPr>
              <a:t>2  SCREEN</a:t>
            </a:r>
            <a:endParaRPr sz="1150"/>
          </a:p>
        </p:txBody>
      </p:sp>
      <p:sp>
        <p:nvSpPr>
          <p:cNvPr id="16" name="Text 13">
            <a:extLst xmlns:a="http://schemas.openxmlformats.org/drawingml/2006/main">
              <a:ext uri="{FF2B5EF4-FFF2-40B4-BE49-F238E27FC236}">
                <a16:creationId xmlns:a16="http://schemas.microsoft.com/office/drawing/2014/main" id="{2F40484E-FA00-4E93-8723-0EA5ED7983B9}"/>
              </a:ext>
            </a:extLst>
          </p:cNvPr>
          <p:cNvSpPr>
            <a:spLocks xmlns:a="http://schemas.openxmlformats.org/drawingml/2006/main" noGrp="1"/>
          </p:cNvSpPr>
          <p:nvPr/>
        </p:nvSpPr>
        <p:spPr>
          <a:xfrm xmlns:a="http://schemas.openxmlformats.org/drawingml/2006/main">
            <a:off x="3611880" y="2578608"/>
            <a:ext cx="3657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262626"/>
                </a:solidFill>
                <a:latin typeface="Arial"/>
                <a:ea typeface="Arial"/>
                <a:cs typeface="Arial"/>
              </a:rPr>
              <a:t>Same-protocol MLIP</a:t>
            </a:r>
            <a:endParaRPr sz="950"/>
          </a:p>
          <a:p xmlns:a="http://schemas.openxmlformats.org/drawingml/2006/main">
            <a:pPr marL="0" indent="0" algn="ctr">
              <a:buNone/>
            </a:pPr>
            <a:r>
              <a:rPr sz="950">
                <a:solidFill>
                  <a:srgbClr val="262626"/>
                </a:solidFill>
                <a:latin typeface="Arial"/>
                <a:ea typeface="Arial"/>
                <a:cs typeface="Arial"/>
              </a:rPr>
              <a:t>and low-cost proxies</a:t>
            </a:r>
            <a:endParaRPr sz="950"/>
          </a:p>
        </p:txBody>
      </p:sp>
      <p:sp>
        <p:nvSpPr>
          <p:cNvPr id="17" name="Shape 14">
            <a:extLst xmlns:a="http://schemas.openxmlformats.org/drawingml/2006/main">
              <a:ext uri="{FF2B5EF4-FFF2-40B4-BE49-F238E27FC236}">
                <a16:creationId xmlns:a16="http://schemas.microsoft.com/office/drawing/2014/main" id="{F5F0BD56-E3C9-4F36-A9C1-8E7EE865386A}"/>
              </a:ext>
            </a:extLst>
          </p:cNvPr>
          <p:cNvSpPr>
            <a:spLocks xmlns:a="http://schemas.openxmlformats.org/drawingml/2006/main" noGrp="1"/>
          </p:cNvSpPr>
          <p:nvPr/>
        </p:nvSpPr>
        <p:spPr>
          <a:xfrm xmlns:a="http://schemas.openxmlformats.org/drawingml/2006/main">
            <a:off x="1920240" y="3429000"/>
            <a:ext cx="6035040" cy="822960"/>
          </a:xfrm>
          <a:prstGeom xmlns:a="http://schemas.openxmlformats.org/drawingml/2006/main" prst="roundRect">
            <a:avLst>
              <a:gd name="adj" fmla="val 7778"/>
            </a:avLst>
          </a:prstGeom>
          <a:solidFill xmlns:a="http://schemas.openxmlformats.org/drawingml/2006/main">
            <a:srgbClr val="FFF4E0"/>
          </a:solidFill>
          <a:ln xmlns:a="http://schemas.openxmlformats.org/drawingml/2006/main" w="12700">
            <a:solidFill>
              <a:srgbClr val="B26A00"/>
            </a:solidFill>
            <a:prstDash val="solid"/>
          </a:ln>
        </p:spPr>
      </p:sp>
      <p:sp>
        <p:nvSpPr>
          <p:cNvPr id="18" name="Text 15">
            <a:extLst xmlns:a="http://schemas.openxmlformats.org/drawingml/2006/main">
              <a:ext uri="{FF2B5EF4-FFF2-40B4-BE49-F238E27FC236}">
                <a16:creationId xmlns:a16="http://schemas.microsoft.com/office/drawing/2014/main" id="{BA49494F-6872-46EA-A864-4BDB16BE6A36}"/>
              </a:ext>
            </a:extLst>
          </p:cNvPr>
          <p:cNvSpPr>
            <a:spLocks xmlns:a="http://schemas.openxmlformats.org/drawingml/2006/main" noGrp="1"/>
          </p:cNvSpPr>
          <p:nvPr/>
        </p:nvSpPr>
        <p:spPr>
          <a:xfrm xmlns:a="http://schemas.openxmlformats.org/drawingml/2006/main">
            <a:off x="2103120" y="3657600"/>
            <a:ext cx="1463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B26A00"/>
                </a:solidFill>
                <a:latin typeface="Arial"/>
                <a:ea typeface="Arial"/>
                <a:cs typeface="Arial"/>
              </a:rPr>
              <a:t>3  GATE</a:t>
            </a:r>
            <a:endParaRPr sz="1150"/>
          </a:p>
        </p:txBody>
      </p:sp>
      <p:sp>
        <p:nvSpPr>
          <p:cNvPr id="19" name="Text 16">
            <a:extLst xmlns:a="http://schemas.openxmlformats.org/drawingml/2006/main">
              <a:ext uri="{FF2B5EF4-FFF2-40B4-BE49-F238E27FC236}">
                <a16:creationId xmlns:a16="http://schemas.microsoft.com/office/drawing/2014/main" id="{AF178B50-B07B-4B75-85F3-6BAEACAD5E41}"/>
              </a:ext>
            </a:extLst>
          </p:cNvPr>
          <p:cNvSpPr>
            <a:spLocks xmlns:a="http://schemas.openxmlformats.org/drawingml/2006/main" noGrp="1"/>
          </p:cNvSpPr>
          <p:nvPr/>
        </p:nvSpPr>
        <p:spPr>
          <a:xfrm xmlns:a="http://schemas.openxmlformats.org/drawingml/2006/main">
            <a:off x="4114800" y="3538728"/>
            <a:ext cx="3657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262626"/>
                </a:solidFill>
                <a:latin typeface="Arial"/>
                <a:ea typeface="Arial"/>
                <a:cs typeface="Arial"/>
              </a:rPr>
              <a:t>Reject physically</a:t>
            </a:r>
            <a:endParaRPr sz="950"/>
          </a:p>
          <a:p xmlns:a="http://schemas.openxmlformats.org/drawingml/2006/main">
            <a:pPr marL="0" indent="0" algn="ctr">
              <a:buNone/>
            </a:pPr>
            <a:r>
              <a:rPr sz="950">
                <a:solidFill>
                  <a:srgbClr val="262626"/>
                </a:solidFill>
                <a:latin typeface="Arial"/>
                <a:ea typeface="Arial"/>
                <a:cs typeface="Arial"/>
              </a:rPr>
              <a:t>unsafe candidates</a:t>
            </a:r>
            <a:endParaRPr sz="950"/>
          </a:p>
        </p:txBody>
      </p:sp>
      <p:sp>
        <p:nvSpPr>
          <p:cNvPr id="20" name="Shape 17">
            <a:extLst xmlns:a="http://schemas.openxmlformats.org/drawingml/2006/main">
              <a:ext uri="{FF2B5EF4-FFF2-40B4-BE49-F238E27FC236}">
                <a16:creationId xmlns:a16="http://schemas.microsoft.com/office/drawing/2014/main" id="{E34E7CD7-8E13-4A9F-9260-22BA71FC4F71}"/>
              </a:ext>
            </a:extLst>
          </p:cNvPr>
          <p:cNvSpPr>
            <a:spLocks xmlns:a="http://schemas.openxmlformats.org/drawingml/2006/main" noGrp="1"/>
          </p:cNvSpPr>
          <p:nvPr/>
        </p:nvSpPr>
        <p:spPr>
          <a:xfrm xmlns:a="http://schemas.openxmlformats.org/drawingml/2006/main">
            <a:off x="2423160" y="4389120"/>
            <a:ext cx="6035040" cy="822960"/>
          </a:xfrm>
          <a:prstGeom xmlns:a="http://schemas.openxmlformats.org/drawingml/2006/main" prst="roundRect">
            <a:avLst>
              <a:gd name="adj" fmla="val 7778"/>
            </a:avLst>
          </a:prstGeom>
          <a:solidFill xmlns:a="http://schemas.openxmlformats.org/drawingml/2006/main">
            <a:srgbClr val="E5F2E6"/>
          </a:solidFill>
          <a:ln xmlns:a="http://schemas.openxmlformats.org/drawingml/2006/main" w="12700">
            <a:solidFill>
              <a:srgbClr val="2E7D32"/>
            </a:solidFill>
            <a:prstDash val="solid"/>
          </a:ln>
        </p:spPr>
      </p:sp>
      <p:sp>
        <p:nvSpPr>
          <p:cNvPr id="21" name="Text 18">
            <a:extLst xmlns:a="http://schemas.openxmlformats.org/drawingml/2006/main">
              <a:ext uri="{FF2B5EF4-FFF2-40B4-BE49-F238E27FC236}">
                <a16:creationId xmlns:a16="http://schemas.microsoft.com/office/drawing/2014/main" id="{44A26592-AF79-4C31-B668-04110C3EED93}"/>
              </a:ext>
            </a:extLst>
          </p:cNvPr>
          <p:cNvSpPr>
            <a:spLocks xmlns:a="http://schemas.openxmlformats.org/drawingml/2006/main" noGrp="1"/>
          </p:cNvSpPr>
          <p:nvPr/>
        </p:nvSpPr>
        <p:spPr>
          <a:xfrm xmlns:a="http://schemas.openxmlformats.org/drawingml/2006/main">
            <a:off x="2606040" y="4617720"/>
            <a:ext cx="14630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E7D32"/>
                </a:solidFill>
                <a:latin typeface="Arial"/>
                <a:ea typeface="Arial"/>
                <a:cs typeface="Arial"/>
              </a:rPr>
              <a:t>4  VALIDATE</a:t>
            </a:r>
            <a:endParaRPr sz="1150"/>
          </a:p>
        </p:txBody>
      </p:sp>
      <p:sp>
        <p:nvSpPr>
          <p:cNvPr id="22" name="Text 19">
            <a:extLst xmlns:a="http://schemas.openxmlformats.org/drawingml/2006/main">
              <a:ext uri="{FF2B5EF4-FFF2-40B4-BE49-F238E27FC236}">
                <a16:creationId xmlns:a16="http://schemas.microsoft.com/office/drawing/2014/main" id="{71829581-36BE-497F-ADDE-AE15048B360A}"/>
              </a:ext>
            </a:extLst>
          </p:cNvPr>
          <p:cNvSpPr>
            <a:spLocks xmlns:a="http://schemas.openxmlformats.org/drawingml/2006/main" noGrp="1"/>
          </p:cNvSpPr>
          <p:nvPr/>
        </p:nvSpPr>
        <p:spPr>
          <a:xfrm xmlns:a="http://schemas.openxmlformats.org/drawingml/2006/main">
            <a:off x="4617720" y="4498848"/>
            <a:ext cx="365760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262626"/>
                </a:solidFill>
                <a:latin typeface="Arial"/>
                <a:ea typeface="Arial"/>
                <a:cs typeface="Arial"/>
              </a:rPr>
              <a:t>Targeted DFT</a:t>
            </a:r>
            <a:endParaRPr sz="950"/>
          </a:p>
          <a:p xmlns:a="http://schemas.openxmlformats.org/drawingml/2006/main">
            <a:pPr marL="0" indent="0" algn="ctr">
              <a:buNone/>
            </a:pPr>
            <a:r>
              <a:rPr sz="950">
                <a:solidFill>
                  <a:srgbClr val="262626"/>
                </a:solidFill>
                <a:latin typeface="Arial"/>
                <a:ea typeface="Arial"/>
                <a:cs typeface="Arial"/>
              </a:rPr>
              <a:t>and experiment</a:t>
            </a:r>
            <a:endParaRPr sz="950"/>
          </a:p>
        </p:txBody>
      </p:sp>
      <p:sp>
        <p:nvSpPr>
          <p:cNvPr id="23" name="Text 20">
            <a:extLst xmlns:a="http://schemas.openxmlformats.org/drawingml/2006/main">
              <a:ext uri="{FF2B5EF4-FFF2-40B4-BE49-F238E27FC236}">
                <a16:creationId xmlns:a16="http://schemas.microsoft.com/office/drawing/2014/main" id="{C1B39F3F-D14C-4F88-A993-761A1D444B74}"/>
              </a:ext>
            </a:extLst>
          </p:cNvPr>
          <p:cNvSpPr>
            <a:spLocks xmlns:a="http://schemas.openxmlformats.org/drawingml/2006/main" noGrp="1"/>
          </p:cNvSpPr>
          <p:nvPr/>
        </p:nvSpPr>
        <p:spPr>
          <a:xfrm xmlns:a="http://schemas.openxmlformats.org/drawingml/2006/main">
            <a:off x="502920" y="2011680"/>
            <a:ext cx="1463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7F7F7F"/>
                </a:solidFill>
                <a:latin typeface="Arial"/>
                <a:ea typeface="Arial"/>
                <a:cs typeface="Arial"/>
              </a:rPr>
              <a:t>Candidate count ↓</a:t>
            </a:r>
            <a:endParaRPr sz="1000"/>
          </a:p>
        </p:txBody>
      </p:sp>
      <p:sp>
        <p:nvSpPr>
          <p:cNvPr id="24" name="Text 21">
            <a:extLst xmlns:a="http://schemas.openxmlformats.org/drawingml/2006/main">
              <a:ext uri="{FF2B5EF4-FFF2-40B4-BE49-F238E27FC236}">
                <a16:creationId xmlns:a16="http://schemas.microsoft.com/office/drawing/2014/main" id="{6F487DDC-97DA-4A80-911F-2D92BAAC1995}"/>
              </a:ext>
            </a:extLst>
          </p:cNvPr>
          <p:cNvSpPr>
            <a:spLocks xmlns:a="http://schemas.openxmlformats.org/drawingml/2006/main" noGrp="1"/>
          </p:cNvSpPr>
          <p:nvPr/>
        </p:nvSpPr>
        <p:spPr>
          <a:xfrm xmlns:a="http://schemas.openxmlformats.org/drawingml/2006/main">
            <a:off x="7315200" y="4023360"/>
            <a:ext cx="14630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7F7F7F"/>
                </a:solidFill>
                <a:latin typeface="Arial"/>
                <a:ea typeface="Arial"/>
                <a:cs typeface="Arial"/>
              </a:rPr>
              <a:t>Cost and precision ↑</a:t>
            </a:r>
            <a:endParaRPr sz="1000"/>
          </a:p>
        </p:txBody>
      </p:sp>
      <p:sp>
        <p:nvSpPr>
          <p:cNvPr id="25" name="Text 22">
            <a:extLst xmlns:a="http://schemas.openxmlformats.org/drawingml/2006/main">
              <a:ext uri="{FF2B5EF4-FFF2-40B4-BE49-F238E27FC236}">
                <a16:creationId xmlns:a16="http://schemas.microsoft.com/office/drawing/2014/main" id="{227E5D1C-DD43-4D95-9CC9-AE36665294FA}"/>
              </a:ext>
            </a:extLst>
          </p:cNvPr>
          <p:cNvSpPr>
            <a:spLocks xmlns:a="http://schemas.openxmlformats.org/drawingml/2006/main" noGrp="1"/>
          </p:cNvSpPr>
          <p:nvPr/>
        </p:nvSpPr>
        <p:spPr>
          <a:xfrm xmlns:a="http://schemas.openxmlformats.org/drawingml/2006/main">
            <a:off x="548640" y="548640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Computation narrows experiments; it does not replace them.</a:t>
            </a:r>
            <a:endParaRPr sz="1250"/>
          </a:p>
        </p:txBody>
      </p:sp>
    </p:spTree>
    <p:extLst>
      <p:ext uri="{BB962C8B-B14F-4D97-AF65-F5344CB8AC3E}">
        <p14:creationId xmlns:p14="http://schemas.microsoft.com/office/powerpoint/2010/main" val="141251834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FA0EB969-5665-429B-A1CC-356FDC488484}"/>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Cascade</a:t>
            </a:r>
            <a:endParaRPr sz="2800"/>
          </a:p>
        </p:txBody>
      </p:sp>
      <p:sp>
        <p:nvSpPr>
          <p:cNvPr id="3" name="Text 1">
            <a:extLst xmlns:a="http://schemas.openxmlformats.org/drawingml/2006/main">
              <a:ext uri="{FF2B5EF4-FFF2-40B4-BE49-F238E27FC236}">
                <a16:creationId xmlns:a16="http://schemas.microsoft.com/office/drawing/2014/main" id="{06E17B6C-25EF-4850-9E3C-C3BFFC71D92C}"/>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Pool provenance · versioned lineage</a:t>
            </a:r>
            <a:endParaRPr sz="900"/>
          </a:p>
        </p:txBody>
      </p:sp>
      <p:sp>
        <p:nvSpPr>
          <p:cNvPr id="4" name="Shape 2">
            <a:extLst xmlns:a="http://schemas.openxmlformats.org/drawingml/2006/main">
              <a:ext uri="{FF2B5EF4-FFF2-40B4-BE49-F238E27FC236}">
                <a16:creationId xmlns:a16="http://schemas.microsoft.com/office/drawing/2014/main" id="{FE0A4F51-6229-4832-A612-7238118AA85C}"/>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5" name="Text 3">
            <a:extLst xmlns:a="http://schemas.openxmlformats.org/drawingml/2006/main">
              <a:ext uri="{FF2B5EF4-FFF2-40B4-BE49-F238E27FC236}">
                <a16:creationId xmlns:a16="http://schemas.microsoft.com/office/drawing/2014/main" id="{B3DD79A6-7B57-4554-8F3F-34A3D98C3336}"/>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6" name="Text 4">
            <a:extLst xmlns:a="http://schemas.openxmlformats.org/drawingml/2006/main">
              <a:ext uri="{FF2B5EF4-FFF2-40B4-BE49-F238E27FC236}">
                <a16:creationId xmlns:a16="http://schemas.microsoft.com/office/drawing/2014/main" id="{EA6F51EB-A548-4D3E-A559-2144E70C9F56}"/>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7" name="Text 5">
            <a:extLst xmlns:a="http://schemas.openxmlformats.org/drawingml/2006/main">
              <a:ext uri="{FF2B5EF4-FFF2-40B4-BE49-F238E27FC236}">
                <a16:creationId xmlns:a16="http://schemas.microsoft.com/office/drawing/2014/main" id="{19B96FDF-5C66-4670-8A07-F8FCA6A47AFB}"/>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5</a:t>
            </a:r>
            <a:endParaRPr sz="900"/>
          </a:p>
        </p:txBody>
      </p:sp>
      <p:pic>
        <p:nvPicPr>
          <p:cNvPr id="19" name="Image 0"/>
          <p:cNvPicPr>
            <a:picLocks xmlns:a="http://schemas.openxmlformats.org/drawingml/2006/main" noChangeAspect="1"/>
          </p:cNvPicPr>
          <p:nvPr/>
        </p:nvPicPr>
        <p:blipFill>
          <a:blip xmlns:r="http://schemas.openxmlformats.org/officeDocument/2006/relationships" xmlns:a="http://schemas.openxmlformats.org/drawingml/2006/main" r:embed="Rd2779ef46fcc4c9d"/>
          <a:srcRect xmlns:a="http://schemas.openxmlformats.org/drawingml/2006/main" l="0" t="0" r="0" b="0"/>
          <a:stretch xmlns:a="http://schemas.openxmlformats.org/drawingml/2006/main"/>
        </p:blipFill>
        <p:spPr>
          <a:xfrm xmlns:a="http://schemas.openxmlformats.org/drawingml/2006/main">
            <a:off x="640080" y="1143000"/>
            <a:ext cx="7863840" cy="4343400"/>
          </a:xfrm>
          <a:prstGeom xmlns:a="http://schemas.openxmlformats.org/drawingml/2006/main" prst="rect">
            <a:avLst/>
          </a:prstGeom>
        </p:spPr>
      </p:pic>
      <p:sp>
        <p:nvSpPr>
          <p:cNvPr id="10" name="Text 6">
            <a:extLst xmlns:a="http://schemas.openxmlformats.org/drawingml/2006/main">
              <a:ext uri="{FF2B5EF4-FFF2-40B4-BE49-F238E27FC236}">
                <a16:creationId xmlns:a16="http://schemas.microsoft.com/office/drawing/2014/main" id="{F01D4959-9C6D-4089-BDFF-73BCD25B8753}"/>
              </a:ext>
            </a:extLst>
          </p:cNvPr>
          <p:cNvSpPr>
            <a:spLocks xmlns:a="http://schemas.openxmlformats.org/drawingml/2006/main" noGrp="1"/>
          </p:cNvSpPr>
          <p:nvPr/>
        </p:nvSpPr>
        <p:spPr>
          <a:xfrm xmlns:a="http://schemas.openxmlformats.org/drawingml/2006/main">
            <a:off x="640080" y="5513832"/>
            <a:ext cx="7863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63" i="1">
                <a:solidFill>
                  <a:srgbClr val="7F7F7F"/>
                </a:solidFill>
                <a:latin typeface="Arial"/>
                <a:ea typeface="Arial"/>
                <a:cs typeface="Arial"/>
              </a:rPr>
              <a:t>Roster: 91 species × 3 nominal labels = 273 attempted slots  |  Snapshot: 47 species × 3 = 141 ingested records</a:t>
            </a:r>
            <a:endParaRPr sz="850"/>
          </a:p>
        </p:txBody>
      </p:sp>
      <p:sp>
        <p:nvSpPr>
          <p:cNvPr id="11" name="Text 7">
            <a:extLst xmlns:a="http://schemas.openxmlformats.org/drawingml/2006/main">
              <a:ext uri="{FF2B5EF4-FFF2-40B4-BE49-F238E27FC236}">
                <a16:creationId xmlns:a16="http://schemas.microsoft.com/office/drawing/2014/main" id="{0CCD103C-784C-4F69-8D49-9E649B71813B}"/>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cascade_seminar_pool_attrition_273_to_47.csv · DB readiness audit</a:t>
            </a:r>
            <a:endParaRPr sz="750"/>
          </a:p>
        </p:txBody>
      </p:sp>
    </p:spTree>
    <p:extLst>
      <p:ext uri="{BB962C8B-B14F-4D97-AF65-F5344CB8AC3E}">
        <p14:creationId xmlns:p14="http://schemas.microsoft.com/office/powerpoint/2010/main" val="6949876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303368B-E29E-4345-8905-0F9B6308B676}"/>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Cascade</a:t>
            </a:r>
            <a:endParaRPr sz="2800"/>
          </a:p>
        </p:txBody>
      </p:sp>
      <p:sp>
        <p:nvSpPr>
          <p:cNvPr id="3" name="Text 1">
            <a:extLst xmlns:a="http://schemas.openxmlformats.org/drawingml/2006/main">
              <a:ext uri="{FF2B5EF4-FFF2-40B4-BE49-F238E27FC236}">
                <a16:creationId xmlns:a16="http://schemas.microsoft.com/office/drawing/2014/main" id="{67D524F5-EC49-4697-801C-ACE14F11767D}"/>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The 47-species snapshot, by chemical family</a:t>
            </a:r>
            <a:endParaRPr sz="900"/>
          </a:p>
        </p:txBody>
      </p:sp>
      <p:sp>
        <p:nvSpPr>
          <p:cNvPr id="4" name="Shape 2">
            <a:extLst xmlns:a="http://schemas.openxmlformats.org/drawingml/2006/main">
              <a:ext uri="{FF2B5EF4-FFF2-40B4-BE49-F238E27FC236}">
                <a16:creationId xmlns:a16="http://schemas.microsoft.com/office/drawing/2014/main" id="{0212635A-A287-4059-B2C4-1DF6A8919A61}"/>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5" name="Shape 3">
            <a:extLst xmlns:a="http://schemas.openxmlformats.org/drawingml/2006/main">
              <a:ext uri="{FF2B5EF4-FFF2-40B4-BE49-F238E27FC236}">
                <a16:creationId xmlns:a16="http://schemas.microsoft.com/office/drawing/2014/main" id="{9C7D9980-80A7-471A-B076-136A5F716C1B}"/>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38D5D0FE-8F91-46EE-85EB-BD7E84F0A0D4}"/>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What we actually explored — a cast list, not a ranking</a:t>
            </a:r>
            <a:endParaRPr sz="1400"/>
          </a:p>
        </p:txBody>
      </p:sp>
      <p:sp>
        <p:nvSpPr>
          <p:cNvPr id="7" name="Text 5">
            <a:extLst xmlns:a="http://schemas.openxmlformats.org/drawingml/2006/main">
              <a:ext uri="{FF2B5EF4-FFF2-40B4-BE49-F238E27FC236}">
                <a16:creationId xmlns:a16="http://schemas.microsoft.com/office/drawing/2014/main" id="{17E74900-45B7-4B5B-A174-4FCDA176F978}"/>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487F3A67-BB6B-4071-9822-9E59D5E72715}"/>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4B2AF754-1419-4B42-962A-9912CBF9F181}"/>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6</a:t>
            </a:r>
            <a:endParaRPr sz="900"/>
          </a:p>
        </p:txBody>
      </p:sp>
      <p:sp>
        <p:nvSpPr>
          <p:cNvPr id="11" name="Shape 8">
            <a:extLst xmlns:a="http://schemas.openxmlformats.org/drawingml/2006/main">
              <a:ext uri="{FF2B5EF4-FFF2-40B4-BE49-F238E27FC236}">
                <a16:creationId xmlns:a16="http://schemas.microsoft.com/office/drawing/2014/main" id="{3196525C-4111-44E3-97DE-DE3D35BD97FB}"/>
              </a:ext>
            </a:extLst>
          </p:cNvPr>
          <p:cNvSpPr>
            <a:spLocks xmlns:a="http://schemas.openxmlformats.org/drawingml/2006/main" noGrp="1"/>
          </p:cNvSpPr>
          <p:nvPr/>
        </p:nvSpPr>
        <p:spPr>
          <a:xfrm xmlns:a="http://schemas.openxmlformats.org/drawingml/2006/main">
            <a:off x="548640" y="1417320"/>
            <a:ext cx="8046720" cy="1171575"/>
          </a:xfrm>
          <a:prstGeom xmlns:a="http://schemas.openxmlformats.org/drawingml/2006/main" prst="roundRect">
            <a:avLst>
              <a:gd name="adj" fmla="val 2121"/>
            </a:avLst>
          </a:prstGeom>
          <a:solidFill xmlns:a="http://schemas.openxmlformats.org/drawingml/2006/main">
            <a:srgbClr val="D9E1F2"/>
          </a:solidFill>
          <a:ln xmlns:a="http://schemas.openxmlformats.org/drawingml/2006/main" w="12700">
            <a:solidFill>
              <a:srgbClr val="1F4E79"/>
            </a:solidFill>
            <a:prstDash val="solid"/>
          </a:ln>
        </p:spPr>
      </p:sp>
      <p:sp>
        <p:nvSpPr>
          <p:cNvPr id="12" name="Text 9">
            <a:extLst xmlns:a="http://schemas.openxmlformats.org/drawingml/2006/main">
              <a:ext uri="{FF2B5EF4-FFF2-40B4-BE49-F238E27FC236}">
                <a16:creationId xmlns:a16="http://schemas.microsoft.com/office/drawing/2014/main" id="{0843D4C6-9AE9-4502-9B8F-1C7E191349F5}"/>
              </a:ext>
            </a:extLst>
          </p:cNvPr>
          <p:cNvSpPr>
            <a:spLocks xmlns:a="http://schemas.openxmlformats.org/drawingml/2006/main" noGrp="1"/>
          </p:cNvSpPr>
          <p:nvPr/>
        </p:nvSpPr>
        <p:spPr>
          <a:xfrm xmlns:a="http://schemas.openxmlformats.org/drawingml/2006/main">
            <a:off x="658368" y="1472184"/>
            <a:ext cx="78105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7F7F7F"/>
                </a:solidFill>
                <a:latin typeface="Arial"/>
                <a:ea typeface="Arial"/>
                <a:cs typeface="Arial"/>
              </a:rPr>
              <a:t>Transition metal (23)</a:t>
            </a:r>
            <a:endParaRPr sz="950"/>
          </a:p>
        </p:txBody>
      </p:sp>
      <p:sp>
        <p:nvSpPr>
          <p:cNvPr id="13" name="Text 10">
            <a:extLst xmlns:a="http://schemas.openxmlformats.org/drawingml/2006/main">
              <a:ext uri="{FF2B5EF4-FFF2-40B4-BE49-F238E27FC236}">
                <a16:creationId xmlns:a16="http://schemas.microsoft.com/office/drawing/2014/main" id="{16002A7F-DBA2-40C5-962E-0E4A423647B9}"/>
              </a:ext>
            </a:extLst>
          </p:cNvPr>
          <p:cNvSpPr>
            <a:spLocks xmlns:a="http://schemas.openxmlformats.org/drawingml/2006/main" noGrp="1"/>
          </p:cNvSpPr>
          <p:nvPr/>
        </p:nvSpPr>
        <p:spPr>
          <a:xfrm xmlns:a="http://schemas.openxmlformats.org/drawingml/2006/main">
            <a:off x="658368" y="1704975"/>
            <a:ext cx="7810500" cy="7620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38" b="1">
                <a:solidFill>
                  <a:srgbClr val="1F4E79"/>
                </a:solidFill>
                <a:latin typeface="Arial"/>
                <a:ea typeface="Arial"/>
                <a:cs typeface="Arial"/>
              </a:rPr>
              <a:t>Ag₂O</a:t>
            </a:r>
            <a:r>
              <a:rPr sz="1238">
                <a:solidFill>
                  <a:srgbClr val="BFBFBF"/>
                </a:solidFill>
                <a:latin typeface="Arial"/>
                <a:ea typeface="Arial"/>
                <a:cs typeface="Arial"/>
              </a:rPr>
              <a:t>  ·  </a:t>
            </a:r>
            <a:r>
              <a:rPr sz="1238">
                <a:solidFill>
                  <a:srgbClr val="262626"/>
                </a:solidFill>
                <a:latin typeface="Arial"/>
                <a:ea typeface="Arial"/>
                <a:cs typeface="Arial"/>
              </a:rPr>
              <a:t>CoO</a:t>
            </a:r>
            <a:r>
              <a:rPr sz="1238">
                <a:solidFill>
                  <a:srgbClr val="BFBFBF"/>
                </a:solidFill>
                <a:latin typeface="Arial"/>
                <a:ea typeface="Arial"/>
                <a:cs typeface="Arial"/>
              </a:rPr>
              <a:t>  ·  </a:t>
            </a:r>
            <a:r>
              <a:rPr sz="1238">
                <a:solidFill>
                  <a:srgbClr val="262626"/>
                </a:solidFill>
                <a:latin typeface="Arial"/>
                <a:ea typeface="Arial"/>
                <a:cs typeface="Arial"/>
              </a:rPr>
              <a:t>Cr₂O₃</a:t>
            </a:r>
            <a:r>
              <a:rPr sz="1238">
                <a:solidFill>
                  <a:srgbClr val="BFBFBF"/>
                </a:solidFill>
                <a:latin typeface="Arial"/>
                <a:ea typeface="Arial"/>
                <a:cs typeface="Arial"/>
              </a:rPr>
              <a:t>  ·  </a:t>
            </a:r>
            <a:r>
              <a:rPr sz="1238">
                <a:solidFill>
                  <a:srgbClr val="262626"/>
                </a:solidFill>
                <a:latin typeface="Arial"/>
                <a:ea typeface="Arial"/>
                <a:cs typeface="Arial"/>
              </a:rPr>
              <a:t>CrO₃</a:t>
            </a:r>
            <a:r>
              <a:rPr sz="1238">
                <a:solidFill>
                  <a:srgbClr val="BFBFBF"/>
                </a:solidFill>
                <a:latin typeface="Arial"/>
                <a:ea typeface="Arial"/>
                <a:cs typeface="Arial"/>
              </a:rPr>
              <a:t>  ·  </a:t>
            </a:r>
            <a:r>
              <a:rPr sz="1238">
                <a:solidFill>
                  <a:srgbClr val="262626"/>
                </a:solidFill>
                <a:latin typeface="Arial"/>
                <a:ea typeface="Arial"/>
                <a:cs typeface="Arial"/>
              </a:rPr>
              <a:t>Cu₂O</a:t>
            </a:r>
            <a:r>
              <a:rPr sz="1238">
                <a:solidFill>
                  <a:srgbClr val="BFBFBF"/>
                </a:solidFill>
                <a:latin typeface="Arial"/>
                <a:ea typeface="Arial"/>
                <a:cs typeface="Arial"/>
              </a:rPr>
              <a:t>  ·  </a:t>
            </a:r>
            <a:r>
              <a:rPr sz="1238">
                <a:solidFill>
                  <a:srgbClr val="262626"/>
                </a:solidFill>
                <a:latin typeface="Arial"/>
                <a:ea typeface="Arial"/>
                <a:cs typeface="Arial"/>
              </a:rPr>
              <a:t>Fe₂O₃</a:t>
            </a:r>
            <a:r>
              <a:rPr sz="1238">
                <a:solidFill>
                  <a:srgbClr val="BFBFBF"/>
                </a:solidFill>
                <a:latin typeface="Arial"/>
                <a:ea typeface="Arial"/>
                <a:cs typeface="Arial"/>
              </a:rPr>
              <a:t>  ·  </a:t>
            </a:r>
            <a:r>
              <a:rPr sz="1238">
                <a:solidFill>
                  <a:srgbClr val="262626"/>
                </a:solidFill>
                <a:latin typeface="Arial"/>
                <a:ea typeface="Arial"/>
                <a:cs typeface="Arial"/>
              </a:rPr>
              <a:t>HfO₂</a:t>
            </a:r>
            <a:r>
              <a:rPr sz="1238">
                <a:solidFill>
                  <a:srgbClr val="BFBFBF"/>
                </a:solidFill>
                <a:latin typeface="Arial"/>
                <a:ea typeface="Arial"/>
                <a:cs typeface="Arial"/>
              </a:rPr>
              <a:t>  ·  </a:t>
            </a:r>
            <a:r>
              <a:rPr sz="1238">
                <a:solidFill>
                  <a:srgbClr val="262626"/>
                </a:solidFill>
                <a:latin typeface="Arial"/>
                <a:ea typeface="Arial"/>
                <a:cs typeface="Arial"/>
              </a:rPr>
              <a:t>MnO</a:t>
            </a:r>
            <a:r>
              <a:rPr sz="1238">
                <a:solidFill>
                  <a:srgbClr val="BFBFBF"/>
                </a:solidFill>
                <a:latin typeface="Arial"/>
                <a:ea typeface="Arial"/>
                <a:cs typeface="Arial"/>
              </a:rPr>
              <a:t>  ·  </a:t>
            </a:r>
            <a:r>
              <a:rPr sz="1238">
                <a:solidFill>
                  <a:srgbClr val="262626"/>
                </a:solidFill>
                <a:latin typeface="Arial"/>
                <a:ea typeface="Arial"/>
                <a:cs typeface="Arial"/>
              </a:rPr>
              <a:t>MoO₃</a:t>
            </a:r>
            <a:r>
              <a:rPr sz="1238">
                <a:solidFill>
                  <a:srgbClr val="BFBFBF"/>
                </a:solidFill>
                <a:latin typeface="Arial"/>
                <a:ea typeface="Arial"/>
                <a:cs typeface="Arial"/>
              </a:rPr>
              <a:t>  ·  </a:t>
            </a:r>
            <a:r>
              <a:rPr sz="1238">
                <a:solidFill>
                  <a:srgbClr val="262626"/>
                </a:solidFill>
                <a:latin typeface="Arial"/>
                <a:ea typeface="Arial"/>
                <a:cs typeface="Arial"/>
              </a:rPr>
              <a:t>Nb₂O₅</a:t>
            </a:r>
            <a:r>
              <a:rPr sz="1238">
                <a:solidFill>
                  <a:srgbClr val="BFBFBF"/>
                </a:solidFill>
                <a:latin typeface="Arial"/>
                <a:ea typeface="Arial"/>
                <a:cs typeface="Arial"/>
              </a:rPr>
              <a:t>  ·  </a:t>
            </a:r>
            <a:r>
              <a:rPr sz="1238">
                <a:solidFill>
                  <a:srgbClr val="262626"/>
                </a:solidFill>
                <a:latin typeface="Arial"/>
                <a:ea typeface="Arial"/>
                <a:cs typeface="Arial"/>
              </a:rPr>
              <a:t>NiO</a:t>
            </a:r>
            <a:r>
              <a:rPr sz="1238">
                <a:solidFill>
                  <a:srgbClr val="BFBFBF"/>
                </a:solidFill>
                <a:latin typeface="Arial"/>
                <a:ea typeface="Arial"/>
                <a:cs typeface="Arial"/>
              </a:rPr>
              <a:t>  ·  </a:t>
            </a:r>
            <a:r>
              <a:rPr sz="1238">
                <a:solidFill>
                  <a:srgbClr val="262626"/>
                </a:solidFill>
                <a:latin typeface="Arial"/>
                <a:ea typeface="Arial"/>
                <a:cs typeface="Arial"/>
              </a:rPr>
              <a:t>Sc₂O₃</a:t>
            </a:r>
            <a:r>
              <a:rPr sz="1238">
                <a:solidFill>
                  <a:srgbClr val="BFBFBF"/>
                </a:solidFill>
                <a:latin typeface="Arial"/>
                <a:ea typeface="Arial"/>
                <a:cs typeface="Arial"/>
              </a:rPr>
              <a:t>  ·  </a:t>
            </a:r>
            <a:r>
              <a:rPr sz="1238">
                <a:solidFill>
                  <a:srgbClr val="262626"/>
                </a:solidFill>
                <a:latin typeface="Arial"/>
                <a:ea typeface="Arial"/>
                <a:cs typeface="Arial"/>
              </a:rPr>
              <a:t>ScF₃</a:t>
            </a:r>
            <a:r>
              <a:rPr sz="1238">
                <a:solidFill>
                  <a:srgbClr val="BFBFBF"/>
                </a:solidFill>
                <a:latin typeface="Arial"/>
                <a:ea typeface="Arial"/>
                <a:cs typeface="Arial"/>
              </a:rPr>
              <a:t>  ·  </a:t>
            </a:r>
            <a:r>
              <a:rPr sz="1238">
                <a:solidFill>
                  <a:srgbClr val="262626"/>
                </a:solidFill>
                <a:latin typeface="Arial"/>
                <a:ea typeface="Arial"/>
                <a:cs typeface="Arial"/>
              </a:rPr>
              <a:t>Ta₂O₅</a:t>
            </a:r>
            <a:r>
              <a:rPr sz="1238">
                <a:solidFill>
                  <a:srgbClr val="BFBFBF"/>
                </a:solidFill>
                <a:latin typeface="Arial"/>
                <a:ea typeface="Arial"/>
                <a:cs typeface="Arial"/>
              </a:rPr>
              <a:t>  ·  </a:t>
            </a:r>
            <a:r>
              <a:rPr sz="1238">
                <a:solidFill>
                  <a:srgbClr val="262626"/>
                </a:solidFill>
                <a:latin typeface="Arial"/>
                <a:ea typeface="Arial"/>
                <a:cs typeface="Arial"/>
              </a:rPr>
              <a:t>TiF₄</a:t>
            </a:r>
            <a:r>
              <a:rPr sz="1238">
                <a:solidFill>
                  <a:srgbClr val="BFBFBF"/>
                </a:solidFill>
                <a:latin typeface="Arial"/>
                <a:ea typeface="Arial"/>
                <a:cs typeface="Arial"/>
              </a:rPr>
              <a:t>  ·  </a:t>
            </a:r>
            <a:r>
              <a:rPr sz="1238">
                <a:solidFill>
                  <a:srgbClr val="262626"/>
                </a:solidFill>
                <a:latin typeface="Arial"/>
                <a:ea typeface="Arial"/>
                <a:cs typeface="Arial"/>
              </a:rPr>
              <a:t>TiO₂</a:t>
            </a:r>
            <a:r>
              <a:rPr sz="1238">
                <a:solidFill>
                  <a:srgbClr val="BFBFBF"/>
                </a:solidFill>
                <a:latin typeface="Arial"/>
                <a:ea typeface="Arial"/>
                <a:cs typeface="Arial"/>
              </a:rPr>
              <a:t>  ·  </a:t>
            </a:r>
            <a:r>
              <a:rPr sz="1238">
                <a:solidFill>
                  <a:srgbClr val="262626"/>
                </a:solidFill>
                <a:latin typeface="Arial"/>
                <a:ea typeface="Arial"/>
                <a:cs typeface="Arial"/>
              </a:rPr>
              <a:t>V₂O₅</a:t>
            </a:r>
            <a:r>
              <a:rPr sz="1238">
                <a:solidFill>
                  <a:srgbClr val="BFBFBF"/>
                </a:solidFill>
                <a:latin typeface="Arial"/>
                <a:ea typeface="Arial"/>
                <a:cs typeface="Arial"/>
              </a:rPr>
              <a:t>  ·  </a:t>
            </a:r>
            <a:r>
              <a:rPr sz="1238" b="1">
                <a:solidFill>
                  <a:srgbClr val="1F4E79"/>
                </a:solidFill>
                <a:latin typeface="Arial"/>
                <a:ea typeface="Arial"/>
                <a:cs typeface="Arial"/>
              </a:rPr>
              <a:t>WO₃</a:t>
            </a:r>
            <a:r>
              <a:rPr sz="1238">
                <a:solidFill>
                  <a:srgbClr val="BFBFBF"/>
                </a:solidFill>
                <a:latin typeface="Arial"/>
                <a:ea typeface="Arial"/>
                <a:cs typeface="Arial"/>
              </a:rPr>
              <a:t>  ·  </a:t>
            </a:r>
            <a:r>
              <a:rPr sz="1238">
                <a:solidFill>
                  <a:srgbClr val="262626"/>
                </a:solidFill>
                <a:latin typeface="Arial"/>
                <a:ea typeface="Arial"/>
                <a:cs typeface="Arial"/>
              </a:rPr>
              <a:t>Y₂O₃</a:t>
            </a:r>
            <a:r>
              <a:rPr sz="1238">
                <a:solidFill>
                  <a:srgbClr val="BFBFBF"/>
                </a:solidFill>
                <a:latin typeface="Arial"/>
                <a:ea typeface="Arial"/>
                <a:cs typeface="Arial"/>
              </a:rPr>
              <a:t>  ·  </a:t>
            </a:r>
            <a:r>
              <a:rPr sz="1238">
                <a:solidFill>
                  <a:srgbClr val="262626"/>
                </a:solidFill>
                <a:latin typeface="Arial"/>
                <a:ea typeface="Arial"/>
                <a:cs typeface="Arial"/>
              </a:rPr>
              <a:t>YF₃</a:t>
            </a:r>
            <a:r>
              <a:rPr sz="1238">
                <a:solidFill>
                  <a:srgbClr val="BFBFBF"/>
                </a:solidFill>
                <a:latin typeface="Arial"/>
                <a:ea typeface="Arial"/>
                <a:cs typeface="Arial"/>
              </a:rPr>
              <a:t>  ·  </a:t>
            </a:r>
            <a:r>
              <a:rPr sz="1238" b="1">
                <a:solidFill>
                  <a:srgbClr val="1F4E79"/>
                </a:solidFill>
                <a:latin typeface="Arial"/>
                <a:ea typeface="Arial"/>
                <a:cs typeface="Arial"/>
              </a:rPr>
              <a:t>ZnO</a:t>
            </a:r>
            <a:r>
              <a:rPr sz="1238">
                <a:solidFill>
                  <a:srgbClr val="BFBFBF"/>
                </a:solidFill>
                <a:latin typeface="Arial"/>
                <a:ea typeface="Arial"/>
                <a:cs typeface="Arial"/>
              </a:rPr>
              <a:t>  ·  </a:t>
            </a:r>
            <a:r>
              <a:rPr sz="1238">
                <a:solidFill>
                  <a:srgbClr val="262626"/>
                </a:solidFill>
                <a:latin typeface="Arial"/>
                <a:ea typeface="Arial"/>
                <a:cs typeface="Arial"/>
              </a:rPr>
              <a:t>ZrF₄</a:t>
            </a:r>
            <a:r>
              <a:rPr sz="1238">
                <a:solidFill>
                  <a:srgbClr val="BFBFBF"/>
                </a:solidFill>
                <a:latin typeface="Arial"/>
                <a:ea typeface="Arial"/>
                <a:cs typeface="Arial"/>
              </a:rPr>
              <a:t>  ·  </a:t>
            </a:r>
            <a:r>
              <a:rPr sz="1238">
                <a:solidFill>
                  <a:srgbClr val="262626"/>
                </a:solidFill>
                <a:latin typeface="Arial"/>
                <a:ea typeface="Arial"/>
                <a:cs typeface="Arial"/>
              </a:rPr>
              <a:t>ZrO₂</a:t>
            </a:r>
            <a:endParaRPr sz="950"/>
          </a:p>
        </p:txBody>
      </p:sp>
      <p:sp>
        <p:nvSpPr>
          <p:cNvPr id="14" name="Shape 11">
            <a:extLst xmlns:a="http://schemas.openxmlformats.org/drawingml/2006/main">
              <a:ext uri="{FF2B5EF4-FFF2-40B4-BE49-F238E27FC236}">
                <a16:creationId xmlns:a16="http://schemas.microsoft.com/office/drawing/2014/main" id="{AE13A1A3-1CCF-43C6-97DA-A90FFF72ADB6}"/>
              </a:ext>
            </a:extLst>
          </p:cNvPr>
          <p:cNvSpPr>
            <a:spLocks xmlns:a="http://schemas.openxmlformats.org/drawingml/2006/main" noGrp="1"/>
          </p:cNvSpPr>
          <p:nvPr/>
        </p:nvSpPr>
        <p:spPr>
          <a:xfrm xmlns:a="http://schemas.openxmlformats.org/drawingml/2006/main">
            <a:off x="548640" y="2724150"/>
            <a:ext cx="3924300" cy="914400"/>
          </a:xfrm>
          <a:prstGeom xmlns:a="http://schemas.openxmlformats.org/drawingml/2006/main" prst="roundRect">
            <a:avLst>
              <a:gd name="adj" fmla="val 6087"/>
            </a:avLst>
          </a:prstGeom>
          <a:solidFill xmlns:a="http://schemas.openxmlformats.org/drawingml/2006/main">
            <a:srgbClr val="FFFFFF"/>
          </a:solidFill>
          <a:ln xmlns:a="http://schemas.openxmlformats.org/drawingml/2006/main" w="12700">
            <a:solidFill>
              <a:srgbClr val="1F4E79"/>
            </a:solidFill>
            <a:prstDash val="solid"/>
          </a:ln>
        </p:spPr>
      </p:sp>
      <p:sp>
        <p:nvSpPr>
          <p:cNvPr id="15" name="Text 12">
            <a:extLst xmlns:a="http://schemas.openxmlformats.org/drawingml/2006/main">
              <a:ext uri="{FF2B5EF4-FFF2-40B4-BE49-F238E27FC236}">
                <a16:creationId xmlns:a16="http://schemas.microsoft.com/office/drawing/2014/main" id="{90B20789-BE5F-4CF9-A43C-CC6F2DF73E8F}"/>
              </a:ext>
            </a:extLst>
          </p:cNvPr>
          <p:cNvSpPr>
            <a:spLocks xmlns:a="http://schemas.openxmlformats.org/drawingml/2006/main" noGrp="1"/>
          </p:cNvSpPr>
          <p:nvPr/>
        </p:nvSpPr>
        <p:spPr>
          <a:xfrm xmlns:a="http://schemas.openxmlformats.org/drawingml/2006/main">
            <a:off x="658368" y="2771775"/>
            <a:ext cx="36957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7F7F7F"/>
                </a:solidFill>
                <a:latin typeface="Arial"/>
                <a:ea typeface="Arial"/>
                <a:cs typeface="Arial"/>
              </a:rPr>
              <a:t>Main group (9)</a:t>
            </a:r>
            <a:endParaRPr sz="950"/>
          </a:p>
        </p:txBody>
      </p:sp>
      <p:sp>
        <p:nvSpPr>
          <p:cNvPr id="16" name="Text 13">
            <a:extLst xmlns:a="http://schemas.openxmlformats.org/drawingml/2006/main">
              <a:ext uri="{FF2B5EF4-FFF2-40B4-BE49-F238E27FC236}">
                <a16:creationId xmlns:a16="http://schemas.microsoft.com/office/drawing/2014/main" id="{FEC4D570-9ABE-42FA-B6F3-A8F78C9B5379}"/>
              </a:ext>
            </a:extLst>
          </p:cNvPr>
          <p:cNvSpPr>
            <a:spLocks xmlns:a="http://schemas.openxmlformats.org/drawingml/2006/main" noGrp="1"/>
          </p:cNvSpPr>
          <p:nvPr/>
        </p:nvSpPr>
        <p:spPr>
          <a:xfrm xmlns:a="http://schemas.openxmlformats.org/drawingml/2006/main">
            <a:off x="658368" y="2990850"/>
            <a:ext cx="3695700" cy="571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63">
                <a:solidFill>
                  <a:srgbClr val="262626"/>
                </a:solidFill>
                <a:latin typeface="Arial"/>
                <a:ea typeface="Arial"/>
                <a:cs typeface="Arial"/>
              </a:rPr>
              <a:t>Al₂O₃</a:t>
            </a:r>
            <a:r>
              <a:rPr sz="1163">
                <a:solidFill>
                  <a:srgbClr val="BFBFBF"/>
                </a:solidFill>
                <a:latin typeface="Arial"/>
                <a:ea typeface="Arial"/>
                <a:cs typeface="Arial"/>
              </a:rPr>
              <a:t>  ·  </a:t>
            </a:r>
            <a:r>
              <a:rPr sz="1163">
                <a:solidFill>
                  <a:srgbClr val="262626"/>
                </a:solidFill>
                <a:latin typeface="Arial"/>
                <a:ea typeface="Arial"/>
                <a:cs typeface="Arial"/>
              </a:rPr>
              <a:t>AlF₃</a:t>
            </a:r>
            <a:r>
              <a:rPr sz="1163">
                <a:solidFill>
                  <a:srgbClr val="BFBFBF"/>
                </a:solidFill>
                <a:latin typeface="Arial"/>
                <a:ea typeface="Arial"/>
                <a:cs typeface="Arial"/>
              </a:rPr>
              <a:t>  ·  </a:t>
            </a:r>
            <a:r>
              <a:rPr sz="1163">
                <a:solidFill>
                  <a:srgbClr val="262626"/>
                </a:solidFill>
                <a:latin typeface="Arial"/>
                <a:ea typeface="Arial"/>
                <a:cs typeface="Arial"/>
              </a:rPr>
              <a:t>B₂O₃†</a:t>
            </a:r>
            <a:r>
              <a:rPr sz="1163">
                <a:solidFill>
                  <a:srgbClr val="BFBFBF"/>
                </a:solidFill>
                <a:latin typeface="Arial"/>
                <a:ea typeface="Arial"/>
                <a:cs typeface="Arial"/>
              </a:rPr>
              <a:t>  ·  </a:t>
            </a:r>
            <a:r>
              <a:rPr sz="1163">
                <a:solidFill>
                  <a:srgbClr val="262626"/>
                </a:solidFill>
                <a:latin typeface="Arial"/>
                <a:ea typeface="Arial"/>
                <a:cs typeface="Arial"/>
              </a:rPr>
              <a:t>Ga₂O₃</a:t>
            </a:r>
            <a:r>
              <a:rPr sz="1163">
                <a:solidFill>
                  <a:srgbClr val="BFBFBF"/>
                </a:solidFill>
                <a:latin typeface="Arial"/>
                <a:ea typeface="Arial"/>
                <a:cs typeface="Arial"/>
              </a:rPr>
              <a:t>  ·  </a:t>
            </a:r>
            <a:r>
              <a:rPr sz="1163">
                <a:solidFill>
                  <a:srgbClr val="262626"/>
                </a:solidFill>
                <a:latin typeface="Arial"/>
                <a:ea typeface="Arial"/>
                <a:cs typeface="Arial"/>
              </a:rPr>
              <a:t>GeO₂</a:t>
            </a:r>
            <a:r>
              <a:rPr sz="1163">
                <a:solidFill>
                  <a:srgbClr val="BFBFBF"/>
                </a:solidFill>
                <a:latin typeface="Arial"/>
                <a:ea typeface="Arial"/>
                <a:cs typeface="Arial"/>
              </a:rPr>
              <a:t>  ·  </a:t>
            </a:r>
            <a:r>
              <a:rPr sz="1163">
                <a:solidFill>
                  <a:srgbClr val="262626"/>
                </a:solidFill>
                <a:latin typeface="Arial"/>
                <a:ea typeface="Arial"/>
                <a:cs typeface="Arial"/>
              </a:rPr>
              <a:t>In₂O₃</a:t>
            </a:r>
            <a:r>
              <a:rPr sz="1163">
                <a:solidFill>
                  <a:srgbClr val="BFBFBF"/>
                </a:solidFill>
                <a:latin typeface="Arial"/>
                <a:ea typeface="Arial"/>
                <a:cs typeface="Arial"/>
              </a:rPr>
              <a:t>  ·  </a:t>
            </a:r>
            <a:r>
              <a:rPr sz="1163">
                <a:solidFill>
                  <a:srgbClr val="262626"/>
                </a:solidFill>
                <a:latin typeface="Arial"/>
                <a:ea typeface="Arial"/>
                <a:cs typeface="Arial"/>
              </a:rPr>
              <a:t>Sb₂O₅</a:t>
            </a:r>
            <a:r>
              <a:rPr sz="1163">
                <a:solidFill>
                  <a:srgbClr val="BFBFBF"/>
                </a:solidFill>
                <a:latin typeface="Arial"/>
                <a:ea typeface="Arial"/>
                <a:cs typeface="Arial"/>
              </a:rPr>
              <a:t>  ·  </a:t>
            </a:r>
            <a:r>
              <a:rPr sz="1163" b="1">
                <a:solidFill>
                  <a:srgbClr val="1F4E79"/>
                </a:solidFill>
                <a:latin typeface="Arial"/>
                <a:ea typeface="Arial"/>
                <a:cs typeface="Arial"/>
              </a:rPr>
              <a:t>SiO₂</a:t>
            </a:r>
            <a:r>
              <a:rPr sz="1163">
                <a:solidFill>
                  <a:srgbClr val="BFBFBF"/>
                </a:solidFill>
                <a:latin typeface="Arial"/>
                <a:ea typeface="Arial"/>
                <a:cs typeface="Arial"/>
              </a:rPr>
              <a:t>  ·  </a:t>
            </a:r>
            <a:r>
              <a:rPr sz="1163" b="1">
                <a:solidFill>
                  <a:srgbClr val="1F4E79"/>
                </a:solidFill>
                <a:latin typeface="Arial"/>
                <a:ea typeface="Arial"/>
                <a:cs typeface="Arial"/>
              </a:rPr>
              <a:t>SnO₂</a:t>
            </a:r>
            <a:endParaRPr sz="950"/>
          </a:p>
        </p:txBody>
      </p:sp>
      <p:sp>
        <p:nvSpPr>
          <p:cNvPr id="17" name="Shape 14">
            <a:extLst xmlns:a="http://schemas.openxmlformats.org/drawingml/2006/main">
              <a:ext uri="{FF2B5EF4-FFF2-40B4-BE49-F238E27FC236}">
                <a16:creationId xmlns:a16="http://schemas.microsoft.com/office/drawing/2014/main" id="{C5AB7344-AB2E-4247-A9B5-2EDEDB5B401B}"/>
              </a:ext>
            </a:extLst>
          </p:cNvPr>
          <p:cNvSpPr>
            <a:spLocks xmlns:a="http://schemas.openxmlformats.org/drawingml/2006/main" noGrp="1"/>
          </p:cNvSpPr>
          <p:nvPr/>
        </p:nvSpPr>
        <p:spPr>
          <a:xfrm xmlns:a="http://schemas.openxmlformats.org/drawingml/2006/main">
            <a:off x="4657725" y="2724150"/>
            <a:ext cx="3933825" cy="914400"/>
          </a:xfrm>
          <a:prstGeom xmlns:a="http://schemas.openxmlformats.org/drawingml/2006/main" prst="roundRect">
            <a:avLst>
              <a:gd name="adj" fmla="val 7000"/>
            </a:avLst>
          </a:prstGeom>
          <a:solidFill xmlns:a="http://schemas.openxmlformats.org/drawingml/2006/main">
            <a:srgbClr val="FFFFFF"/>
          </a:solidFill>
          <a:ln xmlns:a="http://schemas.openxmlformats.org/drawingml/2006/main" w="12700">
            <a:solidFill>
              <a:srgbClr val="1F4E79"/>
            </a:solidFill>
            <a:prstDash val="solid"/>
          </a:ln>
        </p:spPr>
      </p:sp>
      <p:sp>
        <p:nvSpPr>
          <p:cNvPr id="18" name="Text 15">
            <a:extLst xmlns:a="http://schemas.openxmlformats.org/drawingml/2006/main">
              <a:ext uri="{FF2B5EF4-FFF2-40B4-BE49-F238E27FC236}">
                <a16:creationId xmlns:a16="http://schemas.microsoft.com/office/drawing/2014/main" id="{44AA3F26-546E-49B6-8C26-3F19BC809180}"/>
              </a:ext>
            </a:extLst>
          </p:cNvPr>
          <p:cNvSpPr>
            <a:spLocks xmlns:a="http://schemas.openxmlformats.org/drawingml/2006/main" noGrp="1"/>
          </p:cNvSpPr>
          <p:nvPr/>
        </p:nvSpPr>
        <p:spPr>
          <a:xfrm xmlns:a="http://schemas.openxmlformats.org/drawingml/2006/main">
            <a:off x="4767263" y="2771775"/>
            <a:ext cx="371475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7F7F7F"/>
                </a:solidFill>
                <a:latin typeface="Arial"/>
                <a:ea typeface="Arial"/>
                <a:cs typeface="Arial"/>
              </a:rPr>
              <a:t>Alkaline earth (6)</a:t>
            </a:r>
            <a:endParaRPr sz="950"/>
          </a:p>
        </p:txBody>
      </p:sp>
      <p:sp>
        <p:nvSpPr>
          <p:cNvPr id="19" name="Text 16">
            <a:extLst xmlns:a="http://schemas.openxmlformats.org/drawingml/2006/main">
              <a:ext uri="{FF2B5EF4-FFF2-40B4-BE49-F238E27FC236}">
                <a16:creationId xmlns:a16="http://schemas.microsoft.com/office/drawing/2014/main" id="{BCECD7E8-9FE1-4FD7-8EFF-9A5B5DF04AC9}"/>
              </a:ext>
            </a:extLst>
          </p:cNvPr>
          <p:cNvSpPr>
            <a:spLocks xmlns:a="http://schemas.openxmlformats.org/drawingml/2006/main" noGrp="1"/>
          </p:cNvSpPr>
          <p:nvPr/>
        </p:nvSpPr>
        <p:spPr>
          <a:xfrm xmlns:a="http://schemas.openxmlformats.org/drawingml/2006/main">
            <a:off x="4767263" y="2990850"/>
            <a:ext cx="3714750" cy="5715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63">
                <a:solidFill>
                  <a:srgbClr val="262626"/>
                </a:solidFill>
                <a:latin typeface="Arial"/>
                <a:ea typeface="Arial"/>
                <a:cs typeface="Arial"/>
              </a:rPr>
              <a:t>BaO</a:t>
            </a:r>
            <a:r>
              <a:rPr sz="1163">
                <a:solidFill>
                  <a:srgbClr val="BFBFBF"/>
                </a:solidFill>
                <a:latin typeface="Arial"/>
                <a:ea typeface="Arial"/>
                <a:cs typeface="Arial"/>
              </a:rPr>
              <a:t>  ·  </a:t>
            </a:r>
            <a:r>
              <a:rPr sz="1163" b="1">
                <a:solidFill>
                  <a:srgbClr val="1F4E79"/>
                </a:solidFill>
                <a:latin typeface="Arial"/>
                <a:ea typeface="Arial"/>
                <a:cs typeface="Arial"/>
              </a:rPr>
              <a:t>CaF₂</a:t>
            </a:r>
            <a:r>
              <a:rPr sz="1163">
                <a:solidFill>
                  <a:srgbClr val="BFBFBF"/>
                </a:solidFill>
                <a:latin typeface="Arial"/>
                <a:ea typeface="Arial"/>
                <a:cs typeface="Arial"/>
              </a:rPr>
              <a:t>  ·  </a:t>
            </a:r>
            <a:r>
              <a:rPr sz="1163" b="1">
                <a:solidFill>
                  <a:srgbClr val="1F4E79"/>
                </a:solidFill>
                <a:latin typeface="Arial"/>
                <a:ea typeface="Arial"/>
                <a:cs typeface="Arial"/>
              </a:rPr>
              <a:t>CaO</a:t>
            </a:r>
            <a:r>
              <a:rPr sz="1163">
                <a:solidFill>
                  <a:srgbClr val="BFBFBF"/>
                </a:solidFill>
                <a:latin typeface="Arial"/>
                <a:ea typeface="Arial"/>
                <a:cs typeface="Arial"/>
              </a:rPr>
              <a:t>  ·  </a:t>
            </a:r>
            <a:r>
              <a:rPr sz="1163" b="1">
                <a:solidFill>
                  <a:srgbClr val="1F4E79"/>
                </a:solidFill>
                <a:latin typeface="Arial"/>
                <a:ea typeface="Arial"/>
                <a:cs typeface="Arial"/>
              </a:rPr>
              <a:t>MgF₂</a:t>
            </a:r>
            <a:r>
              <a:rPr sz="1163">
                <a:solidFill>
                  <a:srgbClr val="BFBFBF"/>
                </a:solidFill>
                <a:latin typeface="Arial"/>
                <a:ea typeface="Arial"/>
                <a:cs typeface="Arial"/>
              </a:rPr>
              <a:t>  ·  </a:t>
            </a:r>
            <a:r>
              <a:rPr sz="1163" b="1">
                <a:solidFill>
                  <a:srgbClr val="1F4E79"/>
                </a:solidFill>
                <a:latin typeface="Arial"/>
                <a:ea typeface="Arial"/>
                <a:cs typeface="Arial"/>
              </a:rPr>
              <a:t>MgO</a:t>
            </a:r>
            <a:r>
              <a:rPr sz="1163">
                <a:solidFill>
                  <a:srgbClr val="BFBFBF"/>
                </a:solidFill>
                <a:latin typeface="Arial"/>
                <a:ea typeface="Arial"/>
                <a:cs typeface="Arial"/>
              </a:rPr>
              <a:t>  ·  </a:t>
            </a:r>
            <a:r>
              <a:rPr sz="1163">
                <a:solidFill>
                  <a:srgbClr val="262626"/>
                </a:solidFill>
                <a:latin typeface="Arial"/>
                <a:ea typeface="Arial"/>
                <a:cs typeface="Arial"/>
              </a:rPr>
              <a:t>SrO</a:t>
            </a:r>
            <a:endParaRPr sz="950"/>
          </a:p>
        </p:txBody>
      </p:sp>
      <p:sp>
        <p:nvSpPr>
          <p:cNvPr id="20" name="Shape 17">
            <a:extLst xmlns:a="http://schemas.openxmlformats.org/drawingml/2006/main">
              <a:ext uri="{FF2B5EF4-FFF2-40B4-BE49-F238E27FC236}">
                <a16:creationId xmlns:a16="http://schemas.microsoft.com/office/drawing/2014/main" id="{148790A9-41C8-4BE5-8154-EABE6B49C979}"/>
              </a:ext>
            </a:extLst>
          </p:cNvPr>
          <p:cNvSpPr>
            <a:spLocks xmlns:a="http://schemas.openxmlformats.org/drawingml/2006/main" noGrp="1"/>
          </p:cNvSpPr>
          <p:nvPr/>
        </p:nvSpPr>
        <p:spPr>
          <a:xfrm xmlns:a="http://schemas.openxmlformats.org/drawingml/2006/main">
            <a:off x="548640" y="3790950"/>
            <a:ext cx="2619375" cy="819150"/>
          </a:xfrm>
          <a:prstGeom xmlns:a="http://schemas.openxmlformats.org/drawingml/2006/main" prst="roundRect">
            <a:avLst>
              <a:gd name="adj" fmla="val 7000"/>
            </a:avLst>
          </a:prstGeom>
          <a:solidFill xmlns:a="http://schemas.openxmlformats.org/drawingml/2006/main">
            <a:srgbClr val="FFFFFF"/>
          </a:solidFill>
          <a:ln xmlns:a="http://schemas.openxmlformats.org/drawingml/2006/main" w="12700">
            <a:solidFill>
              <a:srgbClr val="1F4E79"/>
            </a:solidFill>
            <a:prstDash val="solid"/>
          </a:ln>
        </p:spPr>
      </p:sp>
      <p:sp>
        <p:nvSpPr>
          <p:cNvPr id="21" name="Text 18">
            <a:extLst xmlns:a="http://schemas.openxmlformats.org/drawingml/2006/main">
              <a:ext uri="{FF2B5EF4-FFF2-40B4-BE49-F238E27FC236}">
                <a16:creationId xmlns:a16="http://schemas.microsoft.com/office/drawing/2014/main" id="{BB0E1DAE-0106-4CFD-8D92-31848AF0CEE8}"/>
              </a:ext>
            </a:extLst>
          </p:cNvPr>
          <p:cNvSpPr>
            <a:spLocks xmlns:a="http://schemas.openxmlformats.org/drawingml/2006/main" noGrp="1"/>
          </p:cNvSpPr>
          <p:nvPr/>
        </p:nvSpPr>
        <p:spPr>
          <a:xfrm xmlns:a="http://schemas.openxmlformats.org/drawingml/2006/main">
            <a:off x="658368" y="3848100"/>
            <a:ext cx="238125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7F7F7F"/>
                </a:solidFill>
                <a:latin typeface="Arial"/>
                <a:ea typeface="Arial"/>
                <a:cs typeface="Arial"/>
              </a:rPr>
              <a:t>Lanthanide (6)</a:t>
            </a:r>
            <a:endParaRPr sz="950"/>
          </a:p>
        </p:txBody>
      </p:sp>
      <p:sp>
        <p:nvSpPr>
          <p:cNvPr id="22" name="Text 19">
            <a:extLst xmlns:a="http://schemas.openxmlformats.org/drawingml/2006/main">
              <a:ext uri="{FF2B5EF4-FFF2-40B4-BE49-F238E27FC236}">
                <a16:creationId xmlns:a16="http://schemas.microsoft.com/office/drawing/2014/main" id="{893F9CFD-8F53-4152-9436-53B78B707401}"/>
              </a:ext>
            </a:extLst>
          </p:cNvPr>
          <p:cNvSpPr>
            <a:spLocks xmlns:a="http://schemas.openxmlformats.org/drawingml/2006/main" noGrp="1"/>
          </p:cNvSpPr>
          <p:nvPr/>
        </p:nvSpPr>
        <p:spPr>
          <a:xfrm xmlns:a="http://schemas.openxmlformats.org/drawingml/2006/main">
            <a:off x="658368" y="4057650"/>
            <a:ext cx="238125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88">
                <a:solidFill>
                  <a:srgbClr val="262626"/>
                </a:solidFill>
                <a:latin typeface="Arial"/>
                <a:ea typeface="Arial"/>
                <a:cs typeface="Arial"/>
              </a:rPr>
              <a:t>Gd₂O₃</a:t>
            </a:r>
            <a:r>
              <a:rPr sz="1088">
                <a:solidFill>
                  <a:srgbClr val="BFBFBF"/>
                </a:solidFill>
                <a:latin typeface="Arial"/>
                <a:ea typeface="Arial"/>
                <a:cs typeface="Arial"/>
              </a:rPr>
              <a:t>  ·  </a:t>
            </a:r>
            <a:r>
              <a:rPr sz="1088">
                <a:solidFill>
                  <a:srgbClr val="262626"/>
                </a:solidFill>
                <a:latin typeface="Arial"/>
                <a:ea typeface="Arial"/>
                <a:cs typeface="Arial"/>
              </a:rPr>
              <a:t>La₂O₃</a:t>
            </a:r>
            <a:r>
              <a:rPr sz="1088">
                <a:solidFill>
                  <a:srgbClr val="BFBFBF"/>
                </a:solidFill>
                <a:latin typeface="Arial"/>
                <a:ea typeface="Arial"/>
                <a:cs typeface="Arial"/>
              </a:rPr>
              <a:t>  ·  </a:t>
            </a:r>
            <a:r>
              <a:rPr sz="1088">
                <a:solidFill>
                  <a:srgbClr val="262626"/>
                </a:solidFill>
                <a:latin typeface="Arial"/>
                <a:ea typeface="Arial"/>
                <a:cs typeface="Arial"/>
              </a:rPr>
              <a:t>LaF₃</a:t>
            </a:r>
            <a:r>
              <a:rPr sz="1088">
                <a:solidFill>
                  <a:srgbClr val="BFBFBF"/>
                </a:solidFill>
                <a:latin typeface="Arial"/>
                <a:ea typeface="Arial"/>
                <a:cs typeface="Arial"/>
              </a:rPr>
              <a:t>  ·  </a:t>
            </a:r>
            <a:r>
              <a:rPr sz="1088">
                <a:solidFill>
                  <a:srgbClr val="262626"/>
                </a:solidFill>
                <a:latin typeface="Arial"/>
                <a:ea typeface="Arial"/>
                <a:cs typeface="Arial"/>
              </a:rPr>
              <a:t>Nd₂O₃†</a:t>
            </a:r>
            <a:r>
              <a:rPr sz="1088">
                <a:solidFill>
                  <a:srgbClr val="BFBFBF"/>
                </a:solidFill>
                <a:latin typeface="Arial"/>
                <a:ea typeface="Arial"/>
                <a:cs typeface="Arial"/>
              </a:rPr>
              <a:t>  ·  </a:t>
            </a:r>
            <a:r>
              <a:rPr sz="1088">
                <a:solidFill>
                  <a:srgbClr val="262626"/>
                </a:solidFill>
                <a:latin typeface="Arial"/>
                <a:ea typeface="Arial"/>
                <a:cs typeface="Arial"/>
              </a:rPr>
              <a:t>NdF₃</a:t>
            </a:r>
            <a:r>
              <a:rPr sz="1088">
                <a:solidFill>
                  <a:srgbClr val="BFBFBF"/>
                </a:solidFill>
                <a:latin typeface="Arial"/>
                <a:ea typeface="Arial"/>
                <a:cs typeface="Arial"/>
              </a:rPr>
              <a:t>  ·  </a:t>
            </a:r>
            <a:r>
              <a:rPr sz="1088">
                <a:solidFill>
                  <a:srgbClr val="262626"/>
                </a:solidFill>
                <a:latin typeface="Arial"/>
                <a:ea typeface="Arial"/>
                <a:cs typeface="Arial"/>
              </a:rPr>
              <a:t>Sm₂O₃</a:t>
            </a:r>
            <a:endParaRPr sz="950"/>
          </a:p>
        </p:txBody>
      </p:sp>
      <p:sp>
        <p:nvSpPr>
          <p:cNvPr id="23" name="Shape 20">
            <a:extLst xmlns:a="http://schemas.openxmlformats.org/drawingml/2006/main">
              <a:ext uri="{FF2B5EF4-FFF2-40B4-BE49-F238E27FC236}">
                <a16:creationId xmlns:a16="http://schemas.microsoft.com/office/drawing/2014/main" id="{7D7ED40A-F7DB-4D2C-AC36-76ACCB5B8C48}"/>
              </a:ext>
            </a:extLst>
          </p:cNvPr>
          <p:cNvSpPr>
            <a:spLocks xmlns:a="http://schemas.openxmlformats.org/drawingml/2006/main" noGrp="1"/>
          </p:cNvSpPr>
          <p:nvPr/>
        </p:nvSpPr>
        <p:spPr>
          <a:xfrm xmlns:a="http://schemas.openxmlformats.org/drawingml/2006/main">
            <a:off x="3314700" y="3790950"/>
            <a:ext cx="2105025" cy="819150"/>
          </a:xfrm>
          <a:prstGeom xmlns:a="http://schemas.openxmlformats.org/drawingml/2006/main" prst="roundRect">
            <a:avLst>
              <a:gd name="adj" fmla="val 8235"/>
            </a:avLst>
          </a:prstGeom>
          <a:solidFill xmlns:a="http://schemas.openxmlformats.org/drawingml/2006/main">
            <a:srgbClr val="FFFFFF"/>
          </a:solidFill>
          <a:ln xmlns:a="http://schemas.openxmlformats.org/drawingml/2006/main" w="12700">
            <a:solidFill>
              <a:srgbClr val="1F4E79"/>
            </a:solidFill>
            <a:prstDash val="solid"/>
          </a:ln>
        </p:spPr>
      </p:sp>
      <p:sp>
        <p:nvSpPr>
          <p:cNvPr id="24" name="Text 21">
            <a:extLst xmlns:a="http://schemas.openxmlformats.org/drawingml/2006/main">
              <a:ext uri="{FF2B5EF4-FFF2-40B4-BE49-F238E27FC236}">
                <a16:creationId xmlns:a16="http://schemas.microsoft.com/office/drawing/2014/main" id="{17C41A35-8887-4FED-8321-5A7F376F8D11}"/>
              </a:ext>
            </a:extLst>
          </p:cNvPr>
          <p:cNvSpPr>
            <a:spLocks xmlns:a="http://schemas.openxmlformats.org/drawingml/2006/main" noGrp="1"/>
          </p:cNvSpPr>
          <p:nvPr/>
        </p:nvSpPr>
        <p:spPr>
          <a:xfrm xmlns:a="http://schemas.openxmlformats.org/drawingml/2006/main">
            <a:off x="3429000" y="3848100"/>
            <a:ext cx="186690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7F7F7F"/>
                </a:solidFill>
                <a:latin typeface="Arial"/>
                <a:ea typeface="Arial"/>
                <a:cs typeface="Arial"/>
              </a:rPr>
              <a:t>Alkali (3)</a:t>
            </a:r>
            <a:endParaRPr sz="950"/>
          </a:p>
        </p:txBody>
      </p:sp>
      <p:sp>
        <p:nvSpPr>
          <p:cNvPr id="25" name="Text 22">
            <a:extLst xmlns:a="http://schemas.openxmlformats.org/drawingml/2006/main">
              <a:ext uri="{FF2B5EF4-FFF2-40B4-BE49-F238E27FC236}">
                <a16:creationId xmlns:a16="http://schemas.microsoft.com/office/drawing/2014/main" id="{B43457AD-90B2-4A28-9FAC-BBE615560520}"/>
              </a:ext>
            </a:extLst>
          </p:cNvPr>
          <p:cNvSpPr>
            <a:spLocks xmlns:a="http://schemas.openxmlformats.org/drawingml/2006/main" noGrp="1"/>
          </p:cNvSpPr>
          <p:nvPr/>
        </p:nvSpPr>
        <p:spPr>
          <a:xfrm xmlns:a="http://schemas.openxmlformats.org/drawingml/2006/main">
            <a:off x="3429000" y="4057650"/>
            <a:ext cx="18669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63" b="1">
                <a:solidFill>
                  <a:srgbClr val="1F4E79"/>
                </a:solidFill>
                <a:latin typeface="Arial"/>
                <a:ea typeface="Arial"/>
                <a:cs typeface="Arial"/>
              </a:rPr>
              <a:t>Li₂O</a:t>
            </a:r>
            <a:r>
              <a:rPr sz="1163">
                <a:solidFill>
                  <a:srgbClr val="BFBFBF"/>
                </a:solidFill>
                <a:latin typeface="Arial"/>
                <a:ea typeface="Arial"/>
                <a:cs typeface="Arial"/>
              </a:rPr>
              <a:t>  ·  </a:t>
            </a:r>
            <a:r>
              <a:rPr sz="1163" b="1">
                <a:solidFill>
                  <a:srgbClr val="1F4E79"/>
                </a:solidFill>
                <a:latin typeface="Arial"/>
                <a:ea typeface="Arial"/>
                <a:cs typeface="Arial"/>
              </a:rPr>
              <a:t>LiF</a:t>
            </a:r>
            <a:r>
              <a:rPr sz="1163">
                <a:solidFill>
                  <a:srgbClr val="BFBFBF"/>
                </a:solidFill>
                <a:latin typeface="Arial"/>
                <a:ea typeface="Arial"/>
                <a:cs typeface="Arial"/>
              </a:rPr>
              <a:t>  ·  </a:t>
            </a:r>
            <a:r>
              <a:rPr sz="1163">
                <a:solidFill>
                  <a:srgbClr val="262626"/>
                </a:solidFill>
                <a:latin typeface="Arial"/>
                <a:ea typeface="Arial"/>
                <a:cs typeface="Arial"/>
              </a:rPr>
              <a:t>Na₂O</a:t>
            </a:r>
            <a:endParaRPr sz="950"/>
          </a:p>
        </p:txBody>
      </p:sp>
      <p:sp>
        <p:nvSpPr>
          <p:cNvPr id="26" name="Text 23">
            <a:extLst xmlns:a="http://schemas.openxmlformats.org/drawingml/2006/main">
              <a:ext uri="{FF2B5EF4-FFF2-40B4-BE49-F238E27FC236}">
                <a16:creationId xmlns:a16="http://schemas.microsoft.com/office/drawing/2014/main" id="{E2A79FAF-A22B-4695-B911-789001D2F222}"/>
              </a:ext>
            </a:extLst>
          </p:cNvPr>
          <p:cNvSpPr>
            <a:spLocks xmlns:a="http://schemas.openxmlformats.org/drawingml/2006/main" noGrp="1"/>
          </p:cNvSpPr>
          <p:nvPr/>
        </p:nvSpPr>
        <p:spPr>
          <a:xfrm xmlns:a="http://schemas.openxmlformats.org/drawingml/2006/main">
            <a:off x="5581650" y="3790950"/>
            <a:ext cx="3009900" cy="81915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13" b="1">
                <a:solidFill>
                  <a:srgbClr val="1F4E79"/>
                </a:solidFill>
                <a:latin typeface="Arial"/>
                <a:ea typeface="Arial"/>
                <a:cs typeface="Arial"/>
              </a:rPr>
              <a:t>bold</a:t>
            </a:r>
            <a:r>
              <a:rPr sz="1013">
                <a:solidFill>
                  <a:srgbClr val="7F7F7F"/>
                </a:solidFill>
                <a:latin typeface="Arial"/>
                <a:ea typeface="Arial"/>
                <a:cs typeface="Arial"/>
              </a:rPr>
              <a:t> = retained through the post-hoc G4 audit (11)    </a:t>
            </a:r>
            <a:r>
              <a:rPr sz="1013" b="1">
                <a:solidFill>
                  <a:srgbClr val="262626"/>
                </a:solidFill>
                <a:latin typeface="Arial"/>
                <a:ea typeface="Arial"/>
                <a:cs typeface="Arial"/>
              </a:rPr>
              <a:t>†</a:t>
            </a:r>
            <a:r>
              <a:rPr sz="1013">
                <a:solidFill>
                  <a:srgbClr val="7F7F7F"/>
                </a:solidFill>
                <a:latin typeface="Arial"/>
                <a:ea typeface="Arial"/>
                <a:cs typeface="Arial"/>
              </a:rPr>
              <a:t> = targeted deep-DFT case study (2)    37 oxides + 10 fluorides, versioned 2026-06-25</a:t>
            </a:r>
            <a:endParaRPr sz="900"/>
          </a:p>
        </p:txBody>
      </p:sp>
      <p:sp>
        <p:nvSpPr>
          <p:cNvPr id="27" name="Text 24">
            <a:extLst xmlns:a="http://schemas.openxmlformats.org/drawingml/2006/main">
              <a:ext uri="{FF2B5EF4-FFF2-40B4-BE49-F238E27FC236}">
                <a16:creationId xmlns:a16="http://schemas.microsoft.com/office/drawing/2014/main" id="{B36B4988-D788-4C25-8F9B-37C337FA1759}"/>
              </a:ext>
            </a:extLst>
          </p:cNvPr>
          <p:cNvSpPr>
            <a:spLocks xmlns:a="http://schemas.openxmlformats.org/drawingml/2006/main" noGrp="1"/>
          </p:cNvSpPr>
          <p:nvPr/>
        </p:nvSpPr>
        <p:spPr>
          <a:xfrm xmlns:a="http://schemas.openxmlformats.org/drawingml/2006/main">
            <a:off x="548640" y="485775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A curated snapshot to explore — membership here is not a gate result.</a:t>
            </a:r>
            <a:endParaRPr sz="1250"/>
          </a:p>
        </p:txBody>
      </p:sp>
      <p:sp>
        <p:nvSpPr>
          <p:cNvPr id="28" name="Text 25">
            <a:extLst xmlns:a="http://schemas.openxmlformats.org/drawingml/2006/main">
              <a:ext uri="{FF2B5EF4-FFF2-40B4-BE49-F238E27FC236}">
                <a16:creationId xmlns:a16="http://schemas.microsoft.com/office/drawing/2014/main" id="{99927416-8831-44E3-B8BA-7BE352D93B47}"/>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cascade_seminar_scorecard_47.csv · cascade_v23_ranked.csv</a:t>
            </a:r>
            <a:endParaRPr sz="750"/>
          </a:p>
        </p:txBody>
      </p:sp>
    </p:spTree>
    <p:extLst>
      <p:ext uri="{BB962C8B-B14F-4D97-AF65-F5344CB8AC3E}">
        <p14:creationId xmlns:p14="http://schemas.microsoft.com/office/powerpoint/2010/main" val="89198637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EC746F5-2F01-4808-A695-F38D87406703}"/>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Pipeline</a:t>
            </a:r>
            <a:endParaRPr sz="2800"/>
          </a:p>
        </p:txBody>
      </p:sp>
      <p:sp>
        <p:nvSpPr>
          <p:cNvPr id="3" name="Text 1">
            <a:extLst xmlns:a="http://schemas.openxmlformats.org/drawingml/2006/main">
              <a:ext uri="{FF2B5EF4-FFF2-40B4-BE49-F238E27FC236}">
                <a16:creationId xmlns:a16="http://schemas.microsoft.com/office/drawing/2014/main" id="{A20AC99F-FEC6-47F2-9025-D73DC74BBFBD}"/>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Same protocol within each tier</a:t>
            </a:r>
            <a:endParaRPr sz="900"/>
          </a:p>
        </p:txBody>
      </p:sp>
      <p:sp>
        <p:nvSpPr>
          <p:cNvPr id="4" name="Shape 2">
            <a:extLst xmlns:a="http://schemas.openxmlformats.org/drawingml/2006/main">
              <a:ext uri="{FF2B5EF4-FFF2-40B4-BE49-F238E27FC236}">
                <a16:creationId xmlns:a16="http://schemas.microsoft.com/office/drawing/2014/main" id="{91B7FBBE-B372-4172-9EB3-6AB5F720CB3B}"/>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5" name="Shape 3">
            <a:extLst xmlns:a="http://schemas.openxmlformats.org/drawingml/2006/main">
              <a:ext uri="{FF2B5EF4-FFF2-40B4-BE49-F238E27FC236}">
                <a16:creationId xmlns:a16="http://schemas.microsoft.com/office/drawing/2014/main" id="{6204D3ED-1D64-4591-9B76-CD6D72FB1D06}"/>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35DAE349-057A-4922-98E7-E963C1D7B694}"/>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Search, validation, and interpretation are different jobs</a:t>
            </a:r>
            <a:endParaRPr sz="1400"/>
          </a:p>
        </p:txBody>
      </p:sp>
      <p:sp>
        <p:nvSpPr>
          <p:cNvPr id="7" name="Text 5">
            <a:extLst xmlns:a="http://schemas.openxmlformats.org/drawingml/2006/main">
              <a:ext uri="{FF2B5EF4-FFF2-40B4-BE49-F238E27FC236}">
                <a16:creationId xmlns:a16="http://schemas.microsoft.com/office/drawing/2014/main" id="{AFC85589-3CA1-4793-88A9-31D929186B12}"/>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1D0A5755-315F-487B-B253-624721BBDC9C}"/>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E09D2F29-9417-4F4F-82BF-8E912469B85E}"/>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7</a:t>
            </a:r>
            <a:endParaRPr sz="900"/>
          </a:p>
        </p:txBody>
      </p:sp>
      <p:sp>
        <p:nvSpPr>
          <p:cNvPr id="11" name="Shape 8">
            <a:extLst xmlns:a="http://schemas.openxmlformats.org/drawingml/2006/main">
              <a:ext uri="{FF2B5EF4-FFF2-40B4-BE49-F238E27FC236}">
                <a16:creationId xmlns:a16="http://schemas.microsoft.com/office/drawing/2014/main" id="{1A7822A7-2BB8-4BE0-A7D3-F2382F511F71}"/>
              </a:ext>
            </a:extLst>
          </p:cNvPr>
          <p:cNvSpPr>
            <a:spLocks xmlns:a="http://schemas.openxmlformats.org/drawingml/2006/main" noGrp="1"/>
          </p:cNvSpPr>
          <p:nvPr/>
        </p:nvSpPr>
        <p:spPr>
          <a:xfrm xmlns:a="http://schemas.openxmlformats.org/drawingml/2006/main">
            <a:off x="640080" y="1645920"/>
            <a:ext cx="1920240" cy="1828800"/>
          </a:xfrm>
          <a:prstGeom xmlns:a="http://schemas.openxmlformats.org/drawingml/2006/main" prst="roundRect">
            <a:avLst>
              <a:gd name="adj" fmla="val 3500"/>
            </a:avLst>
          </a:prstGeom>
          <a:solidFill xmlns:a="http://schemas.openxmlformats.org/drawingml/2006/main">
            <a:srgbClr val="F2F2F2"/>
          </a:solidFill>
          <a:ln xmlns:a="http://schemas.openxmlformats.org/drawingml/2006/main" w="12700">
            <a:solidFill>
              <a:srgbClr val="1F4E79"/>
            </a:solidFill>
            <a:prstDash val="solid"/>
          </a:ln>
        </p:spPr>
      </p:sp>
      <p:sp>
        <p:nvSpPr>
          <p:cNvPr id="12" name="Text 9">
            <a:extLst xmlns:a="http://schemas.openxmlformats.org/drawingml/2006/main">
              <a:ext uri="{FF2B5EF4-FFF2-40B4-BE49-F238E27FC236}">
                <a16:creationId xmlns:a16="http://schemas.microsoft.com/office/drawing/2014/main" id="{B6AB3A90-3CD2-4F6D-B822-1BEA60134A21}"/>
              </a:ext>
            </a:extLst>
          </p:cNvPr>
          <p:cNvSpPr>
            <a:spLocks xmlns:a="http://schemas.openxmlformats.org/drawingml/2006/main" noGrp="1"/>
          </p:cNvSpPr>
          <p:nvPr/>
        </p:nvSpPr>
        <p:spPr>
          <a:xfrm xmlns:a="http://schemas.openxmlformats.org/drawingml/2006/main">
            <a:off x="749808" y="1783080"/>
            <a:ext cx="173736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7F7F7F"/>
                </a:solidFill>
                <a:latin typeface="Arial"/>
                <a:ea typeface="Arial"/>
                <a:cs typeface="Arial"/>
              </a:rPr>
              <a:t>L0  </a:t>
            </a:r>
            <a:r>
              <a:rPr sz="1000" b="1">
                <a:solidFill>
                  <a:srgbClr val="1F4E79"/>
                </a:solidFill>
                <a:latin typeface="Arial"/>
                <a:ea typeface="Arial"/>
                <a:cs typeface="Arial"/>
              </a:rPr>
              <a:t>CURATED INPUT
</a:t>
            </a:r>
            <a:endParaRPr sz="1300"/>
          </a:p>
          <a:p xmlns:a="http://schemas.openxmlformats.org/drawingml/2006/main">
            <a:pPr marL="0" indent="0">
              <a:buNone/>
            </a:pPr>
            <a:r>
              <a:rPr sz="850">
                <a:solidFill>
                  <a:srgbClr val="262626"/>
                </a:solidFill>
                <a:latin typeface="Arial"/>
                <a:ea typeface="Arial"/>
                <a:cs typeface="Arial"/>
              </a:rPr>
              <a:t>Composition · concentration</a:t>
            </a:r>
            <a:endParaRPr sz="1300"/>
          </a:p>
          <a:p xmlns:a="http://schemas.openxmlformats.org/drawingml/2006/main">
            <a:pPr marL="0" indent="0">
              <a:buNone/>
            </a:pPr>
            <a:r>
              <a:rPr sz="850">
                <a:solidFill>
                  <a:srgbClr val="262626"/>
                </a:solidFill>
                <a:latin typeface="Arial"/>
                <a:ea typeface="Arial"/>
                <a:cs typeface="Arial"/>
              </a:rPr>
              <a:t>configuration · provenance</a:t>
            </a:r>
            <a:endParaRPr sz="1300"/>
          </a:p>
        </p:txBody>
      </p:sp>
      <p:sp>
        <p:nvSpPr>
          <p:cNvPr id="13" name="Shape 10">
            <a:extLst xmlns:a="http://schemas.openxmlformats.org/drawingml/2006/main">
              <a:ext uri="{FF2B5EF4-FFF2-40B4-BE49-F238E27FC236}">
                <a16:creationId xmlns:a16="http://schemas.microsoft.com/office/drawing/2014/main" id="{1BD78D74-7443-4A64-98F5-3353F682261C}"/>
              </a:ext>
            </a:extLst>
          </p:cNvPr>
          <p:cNvSpPr>
            <a:spLocks xmlns:a="http://schemas.openxmlformats.org/drawingml/2006/main" noGrp="1"/>
          </p:cNvSpPr>
          <p:nvPr/>
        </p:nvSpPr>
        <p:spPr>
          <a:xfrm xmlns:a="http://schemas.openxmlformats.org/drawingml/2006/main">
            <a:off x="2578608" y="2560320"/>
            <a:ext cx="182880" cy="0"/>
          </a:xfrm>
          <a:prstGeom xmlns:a="http://schemas.openxmlformats.org/drawingml/2006/main" prst="line">
            <a:avLst/>
          </a:prstGeom>
          <a:noFill xmlns:a="http://schemas.openxmlformats.org/drawingml/2006/main"/>
          <a:ln xmlns:a="http://schemas.openxmlformats.org/drawingml/2006/main" w="22225">
            <a:solidFill>
              <a:srgbClr val="7F7F7F"/>
            </a:solidFill>
            <a:prstDash val="solid"/>
            <a:tailEnd type="triangle"/>
          </a:ln>
        </p:spPr>
      </p:sp>
      <p:sp>
        <p:nvSpPr>
          <p:cNvPr id="14" name="Shape 11">
            <a:extLst xmlns:a="http://schemas.openxmlformats.org/drawingml/2006/main">
              <a:ext uri="{FF2B5EF4-FFF2-40B4-BE49-F238E27FC236}">
                <a16:creationId xmlns:a16="http://schemas.microsoft.com/office/drawing/2014/main" id="{E9C53EBA-07AF-4376-8D43-AE25649D5372}"/>
              </a:ext>
            </a:extLst>
          </p:cNvPr>
          <p:cNvSpPr>
            <a:spLocks xmlns:a="http://schemas.openxmlformats.org/drawingml/2006/main" noGrp="1"/>
          </p:cNvSpPr>
          <p:nvPr/>
        </p:nvSpPr>
        <p:spPr>
          <a:xfrm xmlns:a="http://schemas.openxmlformats.org/drawingml/2006/main">
            <a:off x="2761488" y="1645920"/>
            <a:ext cx="1920240" cy="1828800"/>
          </a:xfrm>
          <a:prstGeom xmlns:a="http://schemas.openxmlformats.org/drawingml/2006/main" prst="roundRect">
            <a:avLst>
              <a:gd name="adj" fmla="val 3500"/>
            </a:avLst>
          </a:prstGeom>
          <a:solidFill xmlns:a="http://schemas.openxmlformats.org/drawingml/2006/main">
            <a:srgbClr val="D9E1F2"/>
          </a:solidFill>
          <a:ln xmlns:a="http://schemas.openxmlformats.org/drawingml/2006/main" w="12700">
            <a:solidFill>
              <a:srgbClr val="1F4E79"/>
            </a:solidFill>
            <a:prstDash val="solid"/>
          </a:ln>
        </p:spPr>
      </p:sp>
      <p:sp>
        <p:nvSpPr>
          <p:cNvPr id="15" name="Text 12">
            <a:extLst xmlns:a="http://schemas.openxmlformats.org/drawingml/2006/main">
              <a:ext uri="{FF2B5EF4-FFF2-40B4-BE49-F238E27FC236}">
                <a16:creationId xmlns:a16="http://schemas.microsoft.com/office/drawing/2014/main" id="{9B44533F-6EA7-4503-B0B9-C2E28802670B}"/>
              </a:ext>
            </a:extLst>
          </p:cNvPr>
          <p:cNvSpPr>
            <a:spLocks xmlns:a="http://schemas.openxmlformats.org/drawingml/2006/main" noGrp="1"/>
          </p:cNvSpPr>
          <p:nvPr/>
        </p:nvSpPr>
        <p:spPr>
          <a:xfrm xmlns:a="http://schemas.openxmlformats.org/drawingml/2006/main">
            <a:off x="2871216" y="1783080"/>
            <a:ext cx="173736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7F7F7F"/>
                </a:solidFill>
                <a:latin typeface="Arial"/>
                <a:ea typeface="Arial"/>
                <a:cs typeface="Arial"/>
              </a:rPr>
              <a:t>L1  </a:t>
            </a:r>
            <a:r>
              <a:rPr sz="1000" b="1">
                <a:solidFill>
                  <a:srgbClr val="1F4E79"/>
                </a:solidFill>
                <a:latin typeface="Arial"/>
                <a:ea typeface="Arial"/>
                <a:cs typeface="Arial"/>
              </a:rPr>
              <a:t>LOW-COST SCREEN
</a:t>
            </a:r>
            <a:endParaRPr sz="1300"/>
          </a:p>
          <a:p xmlns:a="http://schemas.openxmlformats.org/drawingml/2006/main">
            <a:pPr marL="0" indent="0">
              <a:buNone/>
            </a:pPr>
            <a:r>
              <a:rPr sz="850">
                <a:solidFill>
                  <a:srgbClr val="262626"/>
                </a:solidFill>
                <a:latin typeface="Arial"/>
                <a:ea typeface="Arial"/>
                <a:cs typeface="Arial"/>
              </a:rPr>
              <a:t>UMA relaxation</a:t>
            </a:r>
            <a:endParaRPr sz="1300"/>
          </a:p>
          <a:p xmlns:a="http://schemas.openxmlformats.org/drawingml/2006/main">
            <a:pPr marL="0" indent="0">
              <a:buNone/>
            </a:pPr>
            <a:r>
              <a:rPr sz="850">
                <a:solidFill>
                  <a:srgbClr val="262626"/>
                </a:solidFill>
                <a:latin typeface="Arial"/>
                <a:ea typeface="Arial"/>
                <a:cs typeface="Arial"/>
              </a:rPr>
              <a:t>BVSE and derived axes</a:t>
            </a:r>
            <a:endParaRPr sz="1300"/>
          </a:p>
        </p:txBody>
      </p:sp>
      <p:sp>
        <p:nvSpPr>
          <p:cNvPr id="16" name="Shape 13">
            <a:extLst xmlns:a="http://schemas.openxmlformats.org/drawingml/2006/main">
              <a:ext uri="{FF2B5EF4-FFF2-40B4-BE49-F238E27FC236}">
                <a16:creationId xmlns:a16="http://schemas.microsoft.com/office/drawing/2014/main" id="{2849A620-4906-4377-898B-DBC4C9CEB14D}"/>
              </a:ext>
            </a:extLst>
          </p:cNvPr>
          <p:cNvSpPr>
            <a:spLocks xmlns:a="http://schemas.openxmlformats.org/drawingml/2006/main" noGrp="1"/>
          </p:cNvSpPr>
          <p:nvPr/>
        </p:nvSpPr>
        <p:spPr>
          <a:xfrm xmlns:a="http://schemas.openxmlformats.org/drawingml/2006/main">
            <a:off x="4700016" y="2560320"/>
            <a:ext cx="182880" cy="0"/>
          </a:xfrm>
          <a:prstGeom xmlns:a="http://schemas.openxmlformats.org/drawingml/2006/main" prst="line">
            <a:avLst/>
          </a:prstGeom>
          <a:noFill xmlns:a="http://schemas.openxmlformats.org/drawingml/2006/main"/>
          <a:ln xmlns:a="http://schemas.openxmlformats.org/drawingml/2006/main" w="22225">
            <a:solidFill>
              <a:srgbClr val="7F7F7F"/>
            </a:solidFill>
            <a:prstDash val="solid"/>
            <a:tailEnd type="triangle"/>
          </a:ln>
        </p:spPr>
      </p:sp>
      <p:sp>
        <p:nvSpPr>
          <p:cNvPr id="17" name="Shape 14">
            <a:extLst xmlns:a="http://schemas.openxmlformats.org/drawingml/2006/main">
              <a:ext uri="{FF2B5EF4-FFF2-40B4-BE49-F238E27FC236}">
                <a16:creationId xmlns:a16="http://schemas.microsoft.com/office/drawing/2014/main" id="{3B5DBF8A-A669-4F93-871B-F93497E2FDFF}"/>
              </a:ext>
            </a:extLst>
          </p:cNvPr>
          <p:cNvSpPr>
            <a:spLocks xmlns:a="http://schemas.openxmlformats.org/drawingml/2006/main" noGrp="1"/>
          </p:cNvSpPr>
          <p:nvPr/>
        </p:nvSpPr>
        <p:spPr>
          <a:xfrm xmlns:a="http://schemas.openxmlformats.org/drawingml/2006/main">
            <a:off x="4882896" y="1645920"/>
            <a:ext cx="1920240" cy="1828800"/>
          </a:xfrm>
          <a:prstGeom xmlns:a="http://schemas.openxmlformats.org/drawingml/2006/main" prst="roundRect">
            <a:avLst>
              <a:gd name="adj" fmla="val 3500"/>
            </a:avLst>
          </a:prstGeom>
          <a:solidFill xmlns:a="http://schemas.openxmlformats.org/drawingml/2006/main">
            <a:srgbClr val="FFF4E0"/>
          </a:solidFill>
          <a:ln xmlns:a="http://schemas.openxmlformats.org/drawingml/2006/main" w="12700">
            <a:solidFill>
              <a:srgbClr val="B26A00"/>
            </a:solidFill>
            <a:prstDash val="solid"/>
          </a:ln>
        </p:spPr>
      </p:sp>
      <p:sp>
        <p:nvSpPr>
          <p:cNvPr id="18" name="Text 15">
            <a:extLst xmlns:a="http://schemas.openxmlformats.org/drawingml/2006/main">
              <a:ext uri="{FF2B5EF4-FFF2-40B4-BE49-F238E27FC236}">
                <a16:creationId xmlns:a16="http://schemas.microsoft.com/office/drawing/2014/main" id="{46D465AC-56B5-41E7-AB76-57D5252AA3B6}"/>
              </a:ext>
            </a:extLst>
          </p:cNvPr>
          <p:cNvSpPr>
            <a:spLocks xmlns:a="http://schemas.openxmlformats.org/drawingml/2006/main" noGrp="1"/>
          </p:cNvSpPr>
          <p:nvPr/>
        </p:nvSpPr>
        <p:spPr>
          <a:xfrm xmlns:a="http://schemas.openxmlformats.org/drawingml/2006/main">
            <a:off x="4992624" y="1783080"/>
            <a:ext cx="173736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7F7F7F"/>
                </a:solidFill>
                <a:latin typeface="Arial"/>
                <a:ea typeface="Arial"/>
                <a:cs typeface="Arial"/>
              </a:rPr>
              <a:t>L2  </a:t>
            </a:r>
            <a:r>
              <a:rPr sz="1000" b="1">
                <a:solidFill>
                  <a:srgbClr val="1F4E79"/>
                </a:solidFill>
                <a:latin typeface="Arial"/>
                <a:ea typeface="Arial"/>
                <a:cs typeface="Arial"/>
              </a:rPr>
              <a:t>MATCHED DFT
</a:t>
            </a:r>
            <a:endParaRPr sz="1300"/>
          </a:p>
          <a:p xmlns:a="http://schemas.openxmlformats.org/drawingml/2006/main">
            <a:pPr marL="0" indent="0">
              <a:buNone/>
            </a:pPr>
            <a:r>
              <a:rPr sz="850">
                <a:solidFill>
                  <a:srgbClr val="262626"/>
                </a:solidFill>
                <a:latin typeface="Arial"/>
                <a:ea typeface="Arial"/>
                <a:cs typeface="Arial"/>
              </a:rPr>
              <a:t>Selected candidates only</a:t>
            </a:r>
            <a:endParaRPr sz="1300"/>
          </a:p>
          <a:p xmlns:a="http://schemas.openxmlformats.org/drawingml/2006/main">
            <a:pPr marL="0" indent="0">
              <a:buNone/>
            </a:pPr>
            <a:r>
              <a:rPr sz="850">
                <a:solidFill>
                  <a:srgbClr val="262626"/>
                </a:solidFill>
                <a:latin typeface="Arial"/>
                <a:ea typeface="Arial"/>
                <a:cs typeface="Arial"/>
              </a:rPr>
              <a:t>energy · force · electronics</a:t>
            </a:r>
            <a:endParaRPr sz="1300"/>
          </a:p>
        </p:txBody>
      </p:sp>
      <p:sp>
        <p:nvSpPr>
          <p:cNvPr id="19" name="Shape 16">
            <a:extLst xmlns:a="http://schemas.openxmlformats.org/drawingml/2006/main">
              <a:ext uri="{FF2B5EF4-FFF2-40B4-BE49-F238E27FC236}">
                <a16:creationId xmlns:a16="http://schemas.microsoft.com/office/drawing/2014/main" id="{46E4797F-2B9B-4BD4-B1CB-597DCCD7783A}"/>
              </a:ext>
            </a:extLst>
          </p:cNvPr>
          <p:cNvSpPr>
            <a:spLocks xmlns:a="http://schemas.openxmlformats.org/drawingml/2006/main" noGrp="1"/>
          </p:cNvSpPr>
          <p:nvPr/>
        </p:nvSpPr>
        <p:spPr>
          <a:xfrm xmlns:a="http://schemas.openxmlformats.org/drawingml/2006/main">
            <a:off x="6821424" y="2560320"/>
            <a:ext cx="182880" cy="0"/>
          </a:xfrm>
          <a:prstGeom xmlns:a="http://schemas.openxmlformats.org/drawingml/2006/main" prst="line">
            <a:avLst/>
          </a:prstGeom>
          <a:noFill xmlns:a="http://schemas.openxmlformats.org/drawingml/2006/main"/>
          <a:ln xmlns:a="http://schemas.openxmlformats.org/drawingml/2006/main" w="22225">
            <a:solidFill>
              <a:srgbClr val="7F7F7F"/>
            </a:solidFill>
            <a:prstDash val="solid"/>
            <a:tailEnd type="triangle"/>
          </a:ln>
        </p:spPr>
      </p:sp>
      <p:sp>
        <p:nvSpPr>
          <p:cNvPr id="20" name="Shape 17">
            <a:extLst xmlns:a="http://schemas.openxmlformats.org/drawingml/2006/main">
              <a:ext uri="{FF2B5EF4-FFF2-40B4-BE49-F238E27FC236}">
                <a16:creationId xmlns:a16="http://schemas.microsoft.com/office/drawing/2014/main" id="{70B2D9F7-2E69-4E1E-8D70-D1A2D4BCC089}"/>
              </a:ext>
            </a:extLst>
          </p:cNvPr>
          <p:cNvSpPr>
            <a:spLocks xmlns:a="http://schemas.openxmlformats.org/drawingml/2006/main" noGrp="1"/>
          </p:cNvSpPr>
          <p:nvPr/>
        </p:nvSpPr>
        <p:spPr>
          <a:xfrm xmlns:a="http://schemas.openxmlformats.org/drawingml/2006/main">
            <a:off x="7004304" y="1645920"/>
            <a:ext cx="1920240" cy="1828800"/>
          </a:xfrm>
          <a:prstGeom xmlns:a="http://schemas.openxmlformats.org/drawingml/2006/main" prst="roundRect">
            <a:avLst>
              <a:gd name="adj" fmla="val 3500"/>
            </a:avLst>
          </a:prstGeom>
          <a:solidFill xmlns:a="http://schemas.openxmlformats.org/drawingml/2006/main">
            <a:srgbClr val="E5F2E6"/>
          </a:solidFill>
          <a:ln xmlns:a="http://schemas.openxmlformats.org/drawingml/2006/main" w="12700">
            <a:solidFill>
              <a:srgbClr val="2E7D32"/>
            </a:solidFill>
            <a:prstDash val="solid"/>
          </a:ln>
        </p:spPr>
      </p:sp>
      <p:sp>
        <p:nvSpPr>
          <p:cNvPr id="21" name="Text 18">
            <a:extLst xmlns:a="http://schemas.openxmlformats.org/drawingml/2006/main">
              <a:ext uri="{FF2B5EF4-FFF2-40B4-BE49-F238E27FC236}">
                <a16:creationId xmlns:a16="http://schemas.microsoft.com/office/drawing/2014/main" id="{E576009A-2788-40BB-B1B9-9E251233F17B}"/>
              </a:ext>
            </a:extLst>
          </p:cNvPr>
          <p:cNvSpPr>
            <a:spLocks xmlns:a="http://schemas.openxmlformats.org/drawingml/2006/main" noGrp="1"/>
          </p:cNvSpPr>
          <p:nvPr/>
        </p:nvSpPr>
        <p:spPr>
          <a:xfrm xmlns:a="http://schemas.openxmlformats.org/drawingml/2006/main">
            <a:off x="7114032" y="1783080"/>
            <a:ext cx="173736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7F7F7F"/>
                </a:solidFill>
                <a:latin typeface="Arial"/>
                <a:ea typeface="Arial"/>
                <a:cs typeface="Arial"/>
              </a:rPr>
              <a:t>L3  </a:t>
            </a:r>
            <a:r>
              <a:rPr sz="1000" b="1">
                <a:solidFill>
                  <a:srgbClr val="1F4E79"/>
                </a:solidFill>
                <a:latin typeface="Arial"/>
                <a:ea typeface="Arial"/>
                <a:cs typeface="Arial"/>
              </a:rPr>
              <a:t>EXPERIMENT
</a:t>
            </a:r>
            <a:endParaRPr sz="1300"/>
          </a:p>
          <a:p xmlns:a="http://schemas.openxmlformats.org/drawingml/2006/main">
            <a:pPr marL="0" indent="0">
              <a:buNone/>
            </a:pPr>
            <a:r>
              <a:rPr sz="850">
                <a:solidFill>
                  <a:srgbClr val="262626"/>
                </a:solidFill>
                <a:latin typeface="Arial"/>
                <a:ea typeface="Arial"/>
                <a:cs typeface="Arial"/>
              </a:rPr>
              <a:t>Phase purity · sigma(T)</a:t>
            </a:r>
            <a:endParaRPr sz="1300"/>
          </a:p>
          <a:p xmlns:a="http://schemas.openxmlformats.org/drawingml/2006/main">
            <a:pPr marL="0" indent="0">
              <a:buNone/>
            </a:pPr>
            <a:r>
              <a:rPr sz="850">
                <a:solidFill>
                  <a:srgbClr val="262626"/>
                </a:solidFill>
                <a:latin typeface="Arial"/>
                <a:ea typeface="Arial"/>
                <a:cs typeface="Arial"/>
              </a:rPr>
              <a:t>stability · processing</a:t>
            </a:r>
            <a:endParaRPr sz="1300"/>
          </a:p>
        </p:txBody>
      </p:sp>
      <p:sp>
        <p:nvSpPr>
          <p:cNvPr id="22" name="Text 19">
            <a:extLst xmlns:a="http://schemas.openxmlformats.org/drawingml/2006/main">
              <a:ext uri="{FF2B5EF4-FFF2-40B4-BE49-F238E27FC236}">
                <a16:creationId xmlns:a16="http://schemas.microsoft.com/office/drawing/2014/main" id="{129BE964-3D98-443A-BD90-1174DF6BB0EF}"/>
              </a:ext>
            </a:extLst>
          </p:cNvPr>
          <p:cNvSpPr>
            <a:spLocks xmlns:a="http://schemas.openxmlformats.org/drawingml/2006/main" noGrp="1"/>
          </p:cNvSpPr>
          <p:nvPr/>
        </p:nvSpPr>
        <p:spPr>
          <a:xfrm xmlns:a="http://schemas.openxmlformats.org/drawingml/2006/main">
            <a:off x="548640" y="3931920"/>
            <a:ext cx="8046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262626"/>
                </a:solidFill>
                <a:latin typeface="Arial"/>
                <a:ea typeface="Arial"/>
                <a:cs typeface="Arial"/>
              </a:rPr>
              <a:t>Protocol tag + source file + status travel with every value</a:t>
            </a:r>
            <a:endParaRPr sz="1100"/>
          </a:p>
        </p:txBody>
      </p:sp>
      <p:sp>
        <p:nvSpPr>
          <p:cNvPr id="23" name="Text 20">
            <a:extLst xmlns:a="http://schemas.openxmlformats.org/drawingml/2006/main">
              <a:ext uri="{FF2B5EF4-FFF2-40B4-BE49-F238E27FC236}">
                <a16:creationId xmlns:a16="http://schemas.microsoft.com/office/drawing/2014/main" id="{5A0083C0-A7D4-4988-8A0A-4A8504EE94AA}"/>
              </a:ext>
            </a:extLst>
          </p:cNvPr>
          <p:cNvSpPr>
            <a:spLocks xmlns:a="http://schemas.openxmlformats.org/drawingml/2006/main" noGrp="1"/>
          </p:cNvSpPr>
          <p:nvPr/>
        </p:nvSpPr>
        <p:spPr>
          <a:xfrm xmlns:a="http://schemas.openxmlformats.org/drawingml/2006/main">
            <a:off x="548640" y="457200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Current scope: 47 relative screens; targeted DFT validation covers 2 candidates.</a:t>
            </a:r>
            <a:endParaRPr sz="1250"/>
          </a:p>
        </p:txBody>
      </p:sp>
    </p:spTree>
    <p:extLst>
      <p:ext uri="{BB962C8B-B14F-4D97-AF65-F5344CB8AC3E}">
        <p14:creationId xmlns:p14="http://schemas.microsoft.com/office/powerpoint/2010/main" val="192440589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5CB7363-0DD0-4765-AC4B-3557A3F706A4}"/>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Evidence</a:t>
            </a:r>
            <a:endParaRPr sz="2800"/>
          </a:p>
        </p:txBody>
      </p:sp>
      <p:sp>
        <p:nvSpPr>
          <p:cNvPr id="3" name="Text 1">
            <a:extLst xmlns:a="http://schemas.openxmlformats.org/drawingml/2006/main">
              <a:ext uri="{FF2B5EF4-FFF2-40B4-BE49-F238E27FC236}">
                <a16:creationId xmlns:a16="http://schemas.microsoft.com/office/drawing/2014/main" id="{70A7488B-6DC4-40BE-BF79-BADDA2E37051}"/>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Canonical registry · same-protocol values</a:t>
            </a:r>
            <a:endParaRPr sz="900"/>
          </a:p>
        </p:txBody>
      </p:sp>
      <p:sp>
        <p:nvSpPr>
          <p:cNvPr id="4" name="Shape 2">
            <a:extLst xmlns:a="http://schemas.openxmlformats.org/drawingml/2006/main">
              <a:ext uri="{FF2B5EF4-FFF2-40B4-BE49-F238E27FC236}">
                <a16:creationId xmlns:a16="http://schemas.microsoft.com/office/drawing/2014/main" id="{9A52888B-85C2-4FB5-9339-9ACFC60F23B0}"/>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5" name="Shape 3">
            <a:extLst xmlns:a="http://schemas.openxmlformats.org/drawingml/2006/main">
              <a:ext uri="{FF2B5EF4-FFF2-40B4-BE49-F238E27FC236}">
                <a16:creationId xmlns:a16="http://schemas.microsoft.com/office/drawing/2014/main" id="{36E980F4-D656-4FA9-9B21-C0635C3A2D4B}"/>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9C062EA5-70A9-4ADC-9ACF-B9F1C9858F4A}"/>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LPSCl taught us which descriptors to watch</a:t>
            </a:r>
            <a:endParaRPr sz="1400"/>
          </a:p>
        </p:txBody>
      </p:sp>
      <p:sp>
        <p:nvSpPr>
          <p:cNvPr id="7" name="Text 5">
            <a:extLst xmlns:a="http://schemas.openxmlformats.org/drawingml/2006/main">
              <a:ext uri="{FF2B5EF4-FFF2-40B4-BE49-F238E27FC236}">
                <a16:creationId xmlns:a16="http://schemas.microsoft.com/office/drawing/2014/main" id="{154786A3-B3DC-4B72-8EBC-BAF89B83F493}"/>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54B499B4-F1D1-401C-82B9-D0392DC82017}"/>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CC68B0BA-DEBC-4200-AA35-998A32677C3D}"/>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8</a:t>
            </a:r>
            <a:endParaRPr sz="900"/>
          </a:p>
        </p:txBody>
      </p:sp>
      <p:sp>
        <p:nvSpPr>
          <p:cNvPr id="11" name="Shape 8">
            <a:extLst xmlns:a="http://schemas.openxmlformats.org/drawingml/2006/main">
              <a:ext uri="{FF2B5EF4-FFF2-40B4-BE49-F238E27FC236}">
                <a16:creationId xmlns:a16="http://schemas.microsoft.com/office/drawing/2014/main" id="{0A401796-DE31-4D4F-B95C-82C0F42EECF9}"/>
              </a:ext>
            </a:extLst>
          </p:cNvPr>
          <p:cNvSpPr>
            <a:spLocks xmlns:a="http://schemas.openxmlformats.org/drawingml/2006/main" noGrp="1"/>
          </p:cNvSpPr>
          <p:nvPr/>
        </p:nvSpPr>
        <p:spPr>
          <a:xfrm xmlns:a="http://schemas.openxmlformats.org/drawingml/2006/main">
            <a:off x="640080" y="1600200"/>
            <a:ext cx="2560320" cy="1920240"/>
          </a:xfrm>
          <a:prstGeom xmlns:a="http://schemas.openxmlformats.org/drawingml/2006/main" prst="roundRect">
            <a:avLst>
              <a:gd name="adj" fmla="val 3333"/>
            </a:avLst>
          </a:prstGeom>
          <a:solidFill xmlns:a="http://schemas.openxmlformats.org/drawingml/2006/main">
            <a:srgbClr val="D9E1F2"/>
          </a:solidFill>
          <a:ln xmlns:a="http://schemas.openxmlformats.org/drawingml/2006/main" w="12700">
            <a:solidFill>
              <a:srgbClr val="1F4E79"/>
            </a:solidFill>
            <a:prstDash val="solid"/>
          </a:ln>
        </p:spPr>
      </p:sp>
      <p:sp>
        <p:nvSpPr>
          <p:cNvPr id="12" name="Text 9">
            <a:extLst xmlns:a="http://schemas.openxmlformats.org/drawingml/2006/main">
              <a:ext uri="{FF2B5EF4-FFF2-40B4-BE49-F238E27FC236}">
                <a16:creationId xmlns:a16="http://schemas.microsoft.com/office/drawing/2014/main" id="{1520594F-5A47-4013-BFE5-CCCDBB1DBDB4}"/>
              </a:ext>
            </a:extLst>
          </p:cNvPr>
          <p:cNvSpPr>
            <a:spLocks xmlns:a="http://schemas.openxmlformats.org/drawingml/2006/main" noGrp="1"/>
          </p:cNvSpPr>
          <p:nvPr/>
        </p:nvSpPr>
        <p:spPr>
          <a:xfrm xmlns:a="http://schemas.openxmlformats.org/drawingml/2006/main">
            <a:off x="777240" y="1737360"/>
            <a:ext cx="228600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1F4E79"/>
                </a:solidFill>
                <a:latin typeface="Arial"/>
                <a:ea typeface="Arial"/>
                <a:cs typeface="Arial"/>
              </a:rPr>
              <a:t>Electronic guard
</a:t>
            </a:r>
            <a:endParaRPr sz="1100"/>
          </a:p>
          <a:p xmlns:a="http://schemas.openxmlformats.org/drawingml/2006/main">
            <a:pPr marL="0" indent="0">
              <a:buNone/>
            </a:pPr>
            <a:r>
              <a:rPr sz="950">
                <a:solidFill>
                  <a:srgbClr val="262626"/>
                </a:solidFill>
                <a:latin typeface="Arial"/>
                <a:ea typeface="Arial"/>
                <a:cs typeface="Arial"/>
              </a:rPr>
              <a:t>Eg = 2.066 vs 2.099 eV</a:t>
            </a:r>
            <a:endParaRPr sz="1100"/>
          </a:p>
          <a:p xmlns:a="http://schemas.openxmlformats.org/drawingml/2006/main">
            <a:pPr marL="0" indent="0">
              <a:buNone/>
            </a:pPr>
            <a:r>
              <a:rPr sz="950">
                <a:solidFill>
                  <a:srgbClr val="262626"/>
                </a:solidFill>
                <a:latin typeface="Arial"/>
                <a:ea typeface="Arial"/>
                <a:cs typeface="Arial"/>
              </a:rPr>
              <a:t>Δ = 0.033 eV</a:t>
            </a:r>
            <a:endParaRPr sz="1100"/>
          </a:p>
          <a:p xmlns:a="http://schemas.openxmlformats.org/drawingml/2006/main">
            <a:pPr marL="0" indent="0">
              <a:buNone/>
            </a:pPr>
            <a:r>
              <a:rPr sz="950">
                <a:solidFill>
                  <a:srgbClr val="262626"/>
                </a:solidFill>
                <a:latin typeface="Arial"/>
                <a:ea typeface="Arial"/>
                <a:cs typeface="Arial"/>
              </a:rPr>
              <a:t>Fixed-occupation eigenvalues</a:t>
            </a:r>
            <a:endParaRPr sz="1100"/>
          </a:p>
        </p:txBody>
      </p:sp>
      <p:sp>
        <p:nvSpPr>
          <p:cNvPr id="13" name="Shape 10">
            <a:extLst xmlns:a="http://schemas.openxmlformats.org/drawingml/2006/main">
              <a:ext uri="{FF2B5EF4-FFF2-40B4-BE49-F238E27FC236}">
                <a16:creationId xmlns:a16="http://schemas.microsoft.com/office/drawing/2014/main" id="{1D6E5E90-A0B9-45B5-8476-57CC0EFCD4ED}"/>
              </a:ext>
            </a:extLst>
          </p:cNvPr>
          <p:cNvSpPr>
            <a:spLocks xmlns:a="http://schemas.openxmlformats.org/drawingml/2006/main" noGrp="1"/>
          </p:cNvSpPr>
          <p:nvPr/>
        </p:nvSpPr>
        <p:spPr>
          <a:xfrm xmlns:a="http://schemas.openxmlformats.org/drawingml/2006/main">
            <a:off x="3383280" y="1600200"/>
            <a:ext cx="2560320" cy="1920240"/>
          </a:xfrm>
          <a:prstGeom xmlns:a="http://schemas.openxmlformats.org/drawingml/2006/main" prst="roundRect">
            <a:avLst>
              <a:gd name="adj" fmla="val 3333"/>
            </a:avLst>
          </a:prstGeom>
          <a:solidFill xmlns:a="http://schemas.openxmlformats.org/drawingml/2006/main">
            <a:srgbClr val="FFF4E0"/>
          </a:solidFill>
          <a:ln xmlns:a="http://schemas.openxmlformats.org/drawingml/2006/main" w="12700">
            <a:solidFill>
              <a:srgbClr val="B26A00"/>
            </a:solidFill>
            <a:prstDash val="solid"/>
          </a:ln>
        </p:spPr>
      </p:sp>
      <p:sp>
        <p:nvSpPr>
          <p:cNvPr id="14" name="Text 11">
            <a:extLst xmlns:a="http://schemas.openxmlformats.org/drawingml/2006/main">
              <a:ext uri="{FF2B5EF4-FFF2-40B4-BE49-F238E27FC236}">
                <a16:creationId xmlns:a16="http://schemas.microsoft.com/office/drawing/2014/main" id="{C5702300-802B-42EC-952E-1CE6BCAC2B8A}"/>
              </a:ext>
            </a:extLst>
          </p:cNvPr>
          <p:cNvSpPr>
            <a:spLocks xmlns:a="http://schemas.openxmlformats.org/drawingml/2006/main" noGrp="1"/>
          </p:cNvSpPr>
          <p:nvPr/>
        </p:nvSpPr>
        <p:spPr>
          <a:xfrm xmlns:a="http://schemas.openxmlformats.org/drawingml/2006/main">
            <a:off x="3520440" y="1737360"/>
            <a:ext cx="228600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B26A00"/>
                </a:solidFill>
                <a:latin typeface="Arial"/>
                <a:ea typeface="Arial"/>
                <a:cs typeface="Arial"/>
              </a:rPr>
              <a:t>Structural contrast
</a:t>
            </a:r>
            <a:endParaRPr sz="1100"/>
          </a:p>
          <a:p xmlns:a="http://schemas.openxmlformats.org/drawingml/2006/main">
            <a:pPr marL="0" indent="0">
              <a:buNone/>
            </a:pPr>
            <a:r>
              <a:rPr sz="950">
                <a:solidFill>
                  <a:srgbClr val="262626"/>
                </a:solidFill>
                <a:latin typeface="Arial"/>
                <a:ea typeface="Arial"/>
                <a:cs typeface="Arial"/>
              </a:rPr>
              <a:t>Li vacancies</a:t>
            </a:r>
            <a:endParaRPr sz="1100"/>
          </a:p>
          <a:p xmlns:a="http://schemas.openxmlformats.org/drawingml/2006/main">
            <a:pPr marL="0" indent="0">
              <a:buNone/>
            </a:pPr>
            <a:r>
              <a:rPr sz="950">
                <a:solidFill>
                  <a:srgbClr val="262626"/>
                </a:solidFill>
                <a:latin typeface="Arial"/>
                <a:ea typeface="Arial"/>
                <a:cs typeface="Arial"/>
              </a:rPr>
              <a:t>4d-Cl anti-sites</a:t>
            </a:r>
            <a:endParaRPr sz="1100"/>
          </a:p>
          <a:p xmlns:a="http://schemas.openxmlformats.org/drawingml/2006/main">
            <a:pPr marL="0" indent="0">
              <a:buNone/>
            </a:pPr>
            <a:r>
              <a:rPr sz="950">
                <a:solidFill>
                  <a:srgbClr val="262626"/>
                </a:solidFill>
                <a:latin typeface="Arial"/>
                <a:ea typeface="Arial"/>
                <a:cs typeface="Arial"/>
              </a:rPr>
              <a:t>Disorder, not a new chemistry</a:t>
            </a:r>
            <a:endParaRPr sz="1100"/>
          </a:p>
        </p:txBody>
      </p:sp>
      <p:sp>
        <p:nvSpPr>
          <p:cNvPr id="15" name="Shape 12">
            <a:extLst xmlns:a="http://schemas.openxmlformats.org/drawingml/2006/main">
              <a:ext uri="{FF2B5EF4-FFF2-40B4-BE49-F238E27FC236}">
                <a16:creationId xmlns:a16="http://schemas.microsoft.com/office/drawing/2014/main" id="{D5F8F2D5-7667-4A0A-9E67-7FB89A01B454}"/>
              </a:ext>
            </a:extLst>
          </p:cNvPr>
          <p:cNvSpPr>
            <a:spLocks xmlns:a="http://schemas.openxmlformats.org/drawingml/2006/main" noGrp="1"/>
          </p:cNvSpPr>
          <p:nvPr/>
        </p:nvSpPr>
        <p:spPr>
          <a:xfrm xmlns:a="http://schemas.openxmlformats.org/drawingml/2006/main">
            <a:off x="6126480" y="1600200"/>
            <a:ext cx="2560320" cy="1920240"/>
          </a:xfrm>
          <a:prstGeom xmlns:a="http://schemas.openxmlformats.org/drawingml/2006/main" prst="roundRect">
            <a:avLst>
              <a:gd name="adj" fmla="val 3333"/>
            </a:avLst>
          </a:prstGeom>
          <a:solidFill xmlns:a="http://schemas.openxmlformats.org/drawingml/2006/main">
            <a:srgbClr val="E5F2E6"/>
          </a:solidFill>
          <a:ln xmlns:a="http://schemas.openxmlformats.org/drawingml/2006/main" w="12700">
            <a:solidFill>
              <a:srgbClr val="2E7D32"/>
            </a:solidFill>
            <a:prstDash val="solid"/>
          </a:ln>
        </p:spPr>
      </p:sp>
      <p:sp>
        <p:nvSpPr>
          <p:cNvPr id="16" name="Text 13">
            <a:extLst xmlns:a="http://schemas.openxmlformats.org/drawingml/2006/main">
              <a:ext uri="{FF2B5EF4-FFF2-40B4-BE49-F238E27FC236}">
                <a16:creationId xmlns:a16="http://schemas.microsoft.com/office/drawing/2014/main" id="{95FCED15-7F7C-433C-ABFA-F6D0DB1929EB}"/>
              </a:ext>
            </a:extLst>
          </p:cNvPr>
          <p:cNvSpPr>
            <a:spLocks xmlns:a="http://schemas.openxmlformats.org/drawingml/2006/main" noGrp="1"/>
          </p:cNvSpPr>
          <p:nvPr/>
        </p:nvSpPr>
        <p:spPr>
          <a:xfrm xmlns:a="http://schemas.openxmlformats.org/drawingml/2006/main">
            <a:off x="6263640" y="1737360"/>
            <a:ext cx="2286000" cy="16459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b="1">
                <a:solidFill>
                  <a:srgbClr val="2E7D32"/>
                </a:solidFill>
                <a:latin typeface="Arial"/>
                <a:ea typeface="Arial"/>
                <a:cs typeface="Arial"/>
              </a:rPr>
              <a:t>Transport evidence
</a:t>
            </a:r>
            <a:endParaRPr sz="1100"/>
          </a:p>
          <a:p xmlns:a="http://schemas.openxmlformats.org/drawingml/2006/main">
            <a:pPr marL="0" indent="0">
              <a:buNone/>
            </a:pPr>
            <a:r>
              <a:rPr sz="950">
                <a:solidFill>
                  <a:srgbClr val="262626"/>
                </a:solidFill>
                <a:latin typeface="Arial"/>
                <a:ea typeface="Arial"/>
                <a:cs typeface="Arial"/>
              </a:rPr>
              <a:t>Cl-rich modelc: Ea = 0.197 ± 0.032 eV</a:t>
            </a:r>
            <a:endParaRPr sz="1100"/>
          </a:p>
          <a:p xmlns:a="http://schemas.openxmlformats.org/drawingml/2006/main">
            <a:pPr marL="0" indent="0">
              <a:buNone/>
            </a:pPr>
            <a:r>
              <a:rPr sz="950">
                <a:solidFill>
                  <a:srgbClr val="262626"/>
                </a:solidFill>
                <a:latin typeface="Arial"/>
                <a:ea typeface="Arial"/>
                <a:cs typeface="Arial"/>
              </a:rPr>
              <a:t>3-seed, 600/800/1000 K</a:t>
            </a:r>
            <a:endParaRPr sz="1100"/>
          </a:p>
          <a:p xmlns:a="http://schemas.openxmlformats.org/drawingml/2006/main">
            <a:pPr marL="0" indent="0">
              <a:buNone/>
            </a:pPr>
            <a:r>
              <a:rPr sz="950">
                <a:solidFill>
                  <a:srgbClr val="262626"/>
                </a:solidFill>
                <a:latin typeface="Arial"/>
                <a:ea typeface="Arial"/>
                <a:cs typeface="Arial"/>
              </a:rPr>
              <a:t>No citable comp1 Ea</a:t>
            </a:r>
            <a:endParaRPr sz="1100"/>
          </a:p>
        </p:txBody>
      </p:sp>
      <p:sp>
        <p:nvSpPr>
          <p:cNvPr id="17" name="Text 14">
            <a:extLst xmlns:a="http://schemas.openxmlformats.org/drawingml/2006/main">
              <a:ext uri="{FF2B5EF4-FFF2-40B4-BE49-F238E27FC236}">
                <a16:creationId xmlns:a16="http://schemas.microsoft.com/office/drawing/2014/main" id="{244000AE-380B-4F21-ADB9-416579485792}"/>
              </a:ext>
            </a:extLst>
          </p:cNvPr>
          <p:cNvSpPr>
            <a:spLocks xmlns:a="http://schemas.openxmlformats.org/drawingml/2006/main" noGrp="1"/>
          </p:cNvSpPr>
          <p:nvPr/>
        </p:nvSpPr>
        <p:spPr>
          <a:xfrm xmlns:a="http://schemas.openxmlformats.org/drawingml/2006/main">
            <a:off x="548640" y="3886200"/>
            <a:ext cx="8046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b="1">
                <a:solidFill>
                  <a:srgbClr val="262626"/>
                </a:solidFill>
                <a:latin typeface="Arial"/>
                <a:ea typeface="Arial"/>
                <a:cs typeface="Arial"/>
              </a:rPr>
              <a:t>Structural descriptors first; electronics remain a guardrail.</a:t>
            </a:r>
            <a:endParaRPr sz="1150"/>
          </a:p>
        </p:txBody>
      </p:sp>
      <p:sp>
        <p:nvSpPr>
          <p:cNvPr id="18" name="Text 15">
            <a:extLst xmlns:a="http://schemas.openxmlformats.org/drawingml/2006/main">
              <a:ext uri="{FF2B5EF4-FFF2-40B4-BE49-F238E27FC236}">
                <a16:creationId xmlns:a16="http://schemas.microsoft.com/office/drawing/2014/main" id="{AF1165C6-8BC8-466D-A4EC-929160D0B8A7}"/>
              </a:ext>
            </a:extLst>
          </p:cNvPr>
          <p:cNvSpPr>
            <a:spLocks xmlns:a="http://schemas.openxmlformats.org/drawingml/2006/main" noGrp="1"/>
          </p:cNvSpPr>
          <p:nvPr/>
        </p:nvSpPr>
        <p:spPr>
          <a:xfrm xmlns:a="http://schemas.openxmlformats.org/drawingml/2006/main">
            <a:off x="548640" y="434340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Gap values are canonical; lineage-specific fixed-occ run files remain provenance-open.</a:t>
            </a:r>
            <a:endParaRPr sz="1250"/>
          </a:p>
        </p:txBody>
      </p:sp>
      <p:sp>
        <p:nvSpPr>
          <p:cNvPr id="19" name="Text 16">
            <a:extLst xmlns:a="http://schemas.openxmlformats.org/drawingml/2006/main">
              <a:ext uri="{FF2B5EF4-FFF2-40B4-BE49-F238E27FC236}">
                <a16:creationId xmlns:a16="http://schemas.microsoft.com/office/drawing/2014/main" id="{BFFF30E3-DEFE-45D1-8891-E53A98888B95}"/>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electronic.json · canonical_registry.json</a:t>
            </a:r>
            <a:endParaRPr sz="750"/>
          </a:p>
        </p:txBody>
      </p:sp>
    </p:spTree>
    <p:extLst>
      <p:ext uri="{BB962C8B-B14F-4D97-AF65-F5344CB8AC3E}">
        <p14:creationId xmlns:p14="http://schemas.microsoft.com/office/powerpoint/2010/main" val="489916341"/>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73C9059-E2F3-49F4-BEF9-39EC6D30675E}"/>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Cascade</a:t>
            </a:r>
            <a:endParaRPr sz="2800"/>
          </a:p>
        </p:txBody>
      </p:sp>
      <p:sp>
        <p:nvSpPr>
          <p:cNvPr id="3" name="Text 1">
            <a:extLst xmlns:a="http://schemas.openxmlformats.org/drawingml/2006/main">
              <a:ext uri="{FF2B5EF4-FFF2-40B4-BE49-F238E27FC236}">
                <a16:creationId xmlns:a16="http://schemas.microsoft.com/office/drawing/2014/main" id="{E240238B-0FD9-4B5C-81E3-327F533286F1}"/>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G1-G4 physical · G5 ranking-only</a:t>
            </a:r>
            <a:endParaRPr sz="900"/>
          </a:p>
        </p:txBody>
      </p:sp>
      <p:sp>
        <p:nvSpPr>
          <p:cNvPr id="4" name="Shape 2">
            <a:extLst xmlns:a="http://schemas.openxmlformats.org/drawingml/2006/main">
              <a:ext uri="{FF2B5EF4-FFF2-40B4-BE49-F238E27FC236}">
                <a16:creationId xmlns:a16="http://schemas.microsoft.com/office/drawing/2014/main" id="{25056C7B-9D2B-4FEC-9B92-D3ECFCDBE348}"/>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5" name="Shape 3">
            <a:extLst xmlns:a="http://schemas.openxmlformats.org/drawingml/2006/main">
              <a:ext uri="{FF2B5EF4-FFF2-40B4-BE49-F238E27FC236}">
                <a16:creationId xmlns:a16="http://schemas.microsoft.com/office/drawing/2014/main" id="{90F255B6-94BB-4049-AB66-44B99DE43791}"/>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0FBD935F-FA04-45FB-B79D-8E051E5ACD25}"/>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Five gates ask five different questions</a:t>
            </a:r>
            <a:endParaRPr sz="1400"/>
          </a:p>
        </p:txBody>
      </p:sp>
      <p:sp>
        <p:nvSpPr>
          <p:cNvPr id="7" name="Text 5">
            <a:extLst xmlns:a="http://schemas.openxmlformats.org/drawingml/2006/main">
              <a:ext uri="{FF2B5EF4-FFF2-40B4-BE49-F238E27FC236}">
                <a16:creationId xmlns:a16="http://schemas.microsoft.com/office/drawing/2014/main" id="{8FF8BD84-EF75-43A7-957E-9A2C89D38B8F}"/>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5A02A619-FAAC-426D-88D2-A28B615B18FB}"/>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97C43AB9-EE60-47F7-9629-AD85590C4457}"/>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9</a:t>
            </a:r>
            <a:endParaRPr sz="900"/>
          </a:p>
        </p:txBody>
      </p:sp>
      <p:sp>
        <p:nvSpPr>
          <p:cNvPr id="11" name="Shape 8">
            <a:extLst xmlns:a="http://schemas.openxmlformats.org/drawingml/2006/main">
              <a:ext uri="{FF2B5EF4-FFF2-40B4-BE49-F238E27FC236}">
                <a16:creationId xmlns:a16="http://schemas.microsoft.com/office/drawing/2014/main" id="{68345826-65A7-4833-A82E-08BC9F84B4D9}"/>
              </a:ext>
            </a:extLst>
          </p:cNvPr>
          <p:cNvSpPr>
            <a:spLocks xmlns:a="http://schemas.openxmlformats.org/drawingml/2006/main" noGrp="1"/>
          </p:cNvSpPr>
          <p:nvPr/>
        </p:nvSpPr>
        <p:spPr>
          <a:xfrm xmlns:a="http://schemas.openxmlformats.org/drawingml/2006/main">
            <a:off x="640080" y="1600200"/>
            <a:ext cx="1481328" cy="2103120"/>
          </a:xfrm>
          <a:prstGeom xmlns:a="http://schemas.openxmlformats.org/drawingml/2006/main" prst="roundRect">
            <a:avLst>
              <a:gd name="adj" fmla="val 4321"/>
            </a:avLst>
          </a:prstGeom>
          <a:solidFill xmlns:a="http://schemas.openxmlformats.org/drawingml/2006/main">
            <a:srgbClr val="FFFFFF"/>
          </a:solidFill>
          <a:ln xmlns:a="http://schemas.openxmlformats.org/drawingml/2006/main" w="12700">
            <a:solidFill>
              <a:srgbClr val="1F4E79"/>
            </a:solidFill>
            <a:prstDash val="solid"/>
          </a:ln>
        </p:spPr>
      </p:sp>
      <p:sp>
        <p:nvSpPr>
          <p:cNvPr id="12" name="Text 9">
            <a:extLst xmlns:a="http://schemas.openxmlformats.org/drawingml/2006/main">
              <a:ext uri="{FF2B5EF4-FFF2-40B4-BE49-F238E27FC236}">
                <a16:creationId xmlns:a16="http://schemas.microsoft.com/office/drawing/2014/main" id="{F17D42B0-A49F-4010-A498-B2C7AC2A052D}"/>
              </a:ext>
            </a:extLst>
          </p:cNvPr>
          <p:cNvSpPr>
            <a:spLocks xmlns:a="http://schemas.openxmlformats.org/drawingml/2006/main" noGrp="1"/>
          </p:cNvSpPr>
          <p:nvPr/>
        </p:nvSpPr>
        <p:spPr>
          <a:xfrm xmlns:a="http://schemas.openxmlformats.org/drawingml/2006/main">
            <a:off x="749808" y="1737360"/>
            <a:ext cx="1280160" cy="1874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63" b="1">
                <a:solidFill>
                  <a:srgbClr val="1F4E79"/>
                </a:solidFill>
                <a:latin typeface="Arial"/>
                <a:ea typeface="Arial"/>
                <a:cs typeface="Arial"/>
              </a:rPr>
              <a:t>G1</a:t>
            </a:r>
            <a:endParaRPr sz="1500"/>
          </a:p>
          <a:p xmlns:a="http://schemas.openxmlformats.org/drawingml/2006/main">
            <a:pPr marL="0" indent="0">
              <a:buNone/>
            </a:pPr>
            <a:r>
              <a:rPr sz="1000" b="1">
                <a:solidFill>
                  <a:srgbClr val="262626"/>
                </a:solidFill>
                <a:latin typeface="Arial"/>
                <a:ea typeface="Arial"/>
                <a:cs typeface="Arial"/>
              </a:rPr>
              <a:t/>
            </a:r>
            <a:endParaRPr sz="1500"/>
          </a:p>
          <a:p xmlns:a="http://schemas.openxmlformats.org/drawingml/2006/main">
            <a:pPr marL="0" indent="0">
              <a:buNone/>
            </a:pPr>
            <a:r>
              <a:rPr sz="1163">
                <a:solidFill>
                  <a:srgbClr val="262626"/>
                </a:solidFill>
                <a:latin typeface="Arial"/>
                <a:ea typeface="Arial"/>
                <a:cs typeface="Arial"/>
              </a:rPr>
              <a:t>Structure</a:t>
            </a:r>
            <a:endParaRPr sz="1500"/>
          </a:p>
          <a:p xmlns:a="http://schemas.openxmlformats.org/drawingml/2006/main">
            <a:pPr marL="0" indent="0">
              <a:buNone/>
            </a:pPr>
            <a:r>
              <a:rPr sz="850" b="1">
                <a:solidFill>
                  <a:srgbClr val="1F4E79"/>
                </a:solidFill>
                <a:latin typeface="Arial"/>
                <a:ea typeface="Arial"/>
                <a:cs typeface="Arial"/>
              </a:rPr>
              <a:t/>
            </a:r>
            <a:endParaRPr sz="1500"/>
          </a:p>
          <a:p xmlns:a="http://schemas.openxmlformats.org/drawingml/2006/main">
            <a:pPr marL="0" indent="0">
              <a:buNone/>
            </a:pPr>
            <a:r>
              <a:rPr sz="1163" b="1">
                <a:solidFill>
                  <a:srgbClr val="1F4E79"/>
                </a:solidFill>
                <a:latin typeface="Arial"/>
                <a:ea typeface="Arial"/>
                <a:cs typeface="Arial"/>
              </a:rPr>
              <a:t>Lower UMA-relative score than host?</a:t>
            </a:r>
            <a:endParaRPr sz="1500"/>
          </a:p>
          <a:p xmlns:a="http://schemas.openxmlformats.org/drawingml/2006/main">
            <a:pPr marL="0" indent="0">
              <a:buNone/>
            </a:pPr>
            <a:r>
              <a:rPr sz="850" b="1">
                <a:solidFill>
                  <a:srgbClr val="1F4E79"/>
                </a:solidFill>
                <a:latin typeface="Arial"/>
                <a:ea typeface="Arial"/>
                <a:cs typeface="Arial"/>
              </a:rPr>
              <a:t/>
            </a:r>
            <a:endParaRPr sz="1500"/>
          </a:p>
          <a:p xmlns:a="http://schemas.openxmlformats.org/drawingml/2006/main">
            <a:pPr marL="0" indent="0">
              <a:buNone/>
            </a:pPr>
            <a:r>
              <a:rPr sz="1163" b="1">
                <a:solidFill>
                  <a:srgbClr val="1F4E79"/>
                </a:solidFill>
                <a:latin typeface="Arial"/>
                <a:ea typeface="Arial"/>
                <a:cs typeface="Arial"/>
              </a:rPr>
              <a:t>mean ΔE &lt; 0</a:t>
            </a:r>
            <a:endParaRPr sz="1500"/>
          </a:p>
        </p:txBody>
      </p:sp>
      <p:sp>
        <p:nvSpPr>
          <p:cNvPr id="13" name="Shape 10">
            <a:extLst xmlns:a="http://schemas.openxmlformats.org/drawingml/2006/main">
              <a:ext uri="{FF2B5EF4-FFF2-40B4-BE49-F238E27FC236}">
                <a16:creationId xmlns:a16="http://schemas.microsoft.com/office/drawing/2014/main" id="{47C51294-B71C-41CC-9E90-3FA5AC168C40}"/>
              </a:ext>
            </a:extLst>
          </p:cNvPr>
          <p:cNvSpPr>
            <a:spLocks xmlns:a="http://schemas.openxmlformats.org/drawingml/2006/main" noGrp="1"/>
          </p:cNvSpPr>
          <p:nvPr/>
        </p:nvSpPr>
        <p:spPr>
          <a:xfrm xmlns:a="http://schemas.openxmlformats.org/drawingml/2006/main">
            <a:off x="2276856" y="1600200"/>
            <a:ext cx="1481328" cy="2103120"/>
          </a:xfrm>
          <a:prstGeom xmlns:a="http://schemas.openxmlformats.org/drawingml/2006/main" prst="roundRect">
            <a:avLst>
              <a:gd name="adj" fmla="val 4321"/>
            </a:avLst>
          </a:prstGeom>
          <a:solidFill xmlns:a="http://schemas.openxmlformats.org/drawingml/2006/main">
            <a:srgbClr val="FFFFFF"/>
          </a:solidFill>
          <a:ln xmlns:a="http://schemas.openxmlformats.org/drawingml/2006/main" w="12700">
            <a:solidFill>
              <a:srgbClr val="0070C0"/>
            </a:solidFill>
            <a:prstDash val="solid"/>
          </a:ln>
        </p:spPr>
      </p:sp>
      <p:sp>
        <p:nvSpPr>
          <p:cNvPr id="14" name="Text 11">
            <a:extLst xmlns:a="http://schemas.openxmlformats.org/drawingml/2006/main">
              <a:ext uri="{FF2B5EF4-FFF2-40B4-BE49-F238E27FC236}">
                <a16:creationId xmlns:a16="http://schemas.microsoft.com/office/drawing/2014/main" id="{DA85911A-9BA8-460A-B606-B16F60A23E3D}"/>
              </a:ext>
            </a:extLst>
          </p:cNvPr>
          <p:cNvSpPr>
            <a:spLocks xmlns:a="http://schemas.openxmlformats.org/drawingml/2006/main" noGrp="1"/>
          </p:cNvSpPr>
          <p:nvPr/>
        </p:nvSpPr>
        <p:spPr>
          <a:xfrm xmlns:a="http://schemas.openxmlformats.org/drawingml/2006/main">
            <a:off x="2386584" y="1737360"/>
            <a:ext cx="1280160" cy="1874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0070C0"/>
                </a:solidFill>
                <a:latin typeface="Arial"/>
                <a:ea typeface="Arial"/>
                <a:cs typeface="Arial"/>
              </a:rPr>
              <a:t>G2
</a:t>
            </a:r>
            <a:endParaRPr sz="1500"/>
          </a:p>
          <a:p xmlns:a="http://schemas.openxmlformats.org/drawingml/2006/main">
            <a:pPr marL="0" indent="0">
              <a:buNone/>
            </a:pPr>
            <a:r>
              <a:rPr sz="1000" b="1">
                <a:solidFill>
                  <a:srgbClr val="262626"/>
                </a:solidFill>
                <a:latin typeface="Arial"/>
                <a:ea typeface="Arial"/>
                <a:cs typeface="Arial"/>
              </a:rPr>
              <a:t>Window
</a:t>
            </a:r>
            <a:endParaRPr sz="1500"/>
          </a:p>
          <a:p xmlns:a="http://schemas.openxmlformats.org/drawingml/2006/main">
            <a:pPr marL="0" indent="0">
              <a:buNone/>
            </a:pPr>
            <a:r>
              <a:rPr sz="850">
                <a:solidFill>
                  <a:srgbClr val="262626"/>
                </a:solidFill>
                <a:latin typeface="Arial"/>
                <a:ea typeface="Arial"/>
                <a:cs typeface="Arial"/>
              </a:rPr>
              <a:t>Does the ESW collapse?
</a:t>
            </a:r>
            <a:endParaRPr sz="1500"/>
          </a:p>
          <a:p xmlns:a="http://schemas.openxmlformats.org/drawingml/2006/main">
            <a:pPr marL="0" indent="0">
              <a:buNone/>
            </a:pPr>
            <a:r>
              <a:rPr sz="850" b="1">
                <a:solidFill>
                  <a:srgbClr val="0070C0"/>
                </a:solidFill>
                <a:latin typeface="Arial"/>
                <a:ea typeface="Arial"/>
                <a:cs typeface="Arial"/>
              </a:rPr>
              <a:t>window ≥ 0.05 V</a:t>
            </a:r>
            <a:endParaRPr sz="1500"/>
          </a:p>
        </p:txBody>
      </p:sp>
      <p:sp>
        <p:nvSpPr>
          <p:cNvPr id="15" name="Shape 12">
            <a:extLst xmlns:a="http://schemas.openxmlformats.org/drawingml/2006/main">
              <a:ext uri="{FF2B5EF4-FFF2-40B4-BE49-F238E27FC236}">
                <a16:creationId xmlns:a16="http://schemas.microsoft.com/office/drawing/2014/main" id="{88387770-715D-4B9E-9D1D-70AABD0B9AFD}"/>
              </a:ext>
            </a:extLst>
          </p:cNvPr>
          <p:cNvSpPr>
            <a:spLocks xmlns:a="http://schemas.openxmlformats.org/drawingml/2006/main" noGrp="1"/>
          </p:cNvSpPr>
          <p:nvPr/>
        </p:nvSpPr>
        <p:spPr>
          <a:xfrm xmlns:a="http://schemas.openxmlformats.org/drawingml/2006/main">
            <a:off x="3913632" y="1600200"/>
            <a:ext cx="1481328" cy="2103120"/>
          </a:xfrm>
          <a:prstGeom xmlns:a="http://schemas.openxmlformats.org/drawingml/2006/main" prst="roundRect">
            <a:avLst>
              <a:gd name="adj" fmla="val 4321"/>
            </a:avLst>
          </a:prstGeom>
          <a:solidFill xmlns:a="http://schemas.openxmlformats.org/drawingml/2006/main">
            <a:srgbClr val="FFFFFF"/>
          </a:solidFill>
          <a:ln xmlns:a="http://schemas.openxmlformats.org/drawingml/2006/main" w="12700">
            <a:solidFill>
              <a:srgbClr val="B26A00"/>
            </a:solidFill>
            <a:prstDash val="solid"/>
          </a:ln>
        </p:spPr>
      </p:sp>
      <p:sp>
        <p:nvSpPr>
          <p:cNvPr id="16" name="Text 13">
            <a:extLst xmlns:a="http://schemas.openxmlformats.org/drawingml/2006/main">
              <a:ext uri="{FF2B5EF4-FFF2-40B4-BE49-F238E27FC236}">
                <a16:creationId xmlns:a16="http://schemas.microsoft.com/office/drawing/2014/main" id="{720F714F-0E45-4AD0-9EBC-6D26E50C2630}"/>
              </a:ext>
            </a:extLst>
          </p:cNvPr>
          <p:cNvSpPr>
            <a:spLocks xmlns:a="http://schemas.openxmlformats.org/drawingml/2006/main" noGrp="1"/>
          </p:cNvSpPr>
          <p:nvPr/>
        </p:nvSpPr>
        <p:spPr>
          <a:xfrm xmlns:a="http://schemas.openxmlformats.org/drawingml/2006/main">
            <a:off x="4023360" y="1737360"/>
            <a:ext cx="1280160" cy="1874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B26A00"/>
                </a:solidFill>
                <a:latin typeface="Arial"/>
                <a:ea typeface="Arial"/>
                <a:cs typeface="Arial"/>
              </a:rPr>
              <a:t>G3
</a:t>
            </a:r>
            <a:endParaRPr sz="1500"/>
          </a:p>
          <a:p xmlns:a="http://schemas.openxmlformats.org/drawingml/2006/main">
            <a:pPr marL="0" indent="0">
              <a:buNone/>
            </a:pPr>
            <a:r>
              <a:rPr sz="1000" b="1">
                <a:solidFill>
                  <a:srgbClr val="262626"/>
                </a:solidFill>
                <a:latin typeface="Arial"/>
                <a:ea typeface="Arial"/>
                <a:cs typeface="Arial"/>
              </a:rPr>
              <a:t>Oxidation
</a:t>
            </a:r>
            <a:endParaRPr sz="1500"/>
          </a:p>
          <a:p xmlns:a="http://schemas.openxmlformats.org/drawingml/2006/main">
            <a:pPr marL="0" indent="0">
              <a:buNone/>
            </a:pPr>
            <a:r>
              <a:rPr sz="850">
                <a:solidFill>
                  <a:srgbClr val="262626"/>
                </a:solidFill>
                <a:latin typeface="Arial"/>
                <a:ea typeface="Arial"/>
                <a:cs typeface="Arial"/>
              </a:rPr>
              <a:t>Worse than host onset?
</a:t>
            </a:r>
            <a:endParaRPr sz="1500"/>
          </a:p>
          <a:p xmlns:a="http://schemas.openxmlformats.org/drawingml/2006/main">
            <a:pPr marL="0" indent="0">
              <a:buNone/>
            </a:pPr>
            <a:r>
              <a:rPr sz="850" b="1">
                <a:solidFill>
                  <a:srgbClr val="B26A00"/>
                </a:solidFill>
                <a:latin typeface="Arial"/>
                <a:ea typeface="Arial"/>
                <a:cs typeface="Arial"/>
              </a:rPr>
              <a:t>Vox ≥ 2.14 V</a:t>
            </a:r>
            <a:endParaRPr sz="1500"/>
          </a:p>
        </p:txBody>
      </p:sp>
      <p:sp>
        <p:nvSpPr>
          <p:cNvPr id="17" name="Shape 14">
            <a:extLst xmlns:a="http://schemas.openxmlformats.org/drawingml/2006/main">
              <a:ext uri="{FF2B5EF4-FFF2-40B4-BE49-F238E27FC236}">
                <a16:creationId xmlns:a16="http://schemas.microsoft.com/office/drawing/2014/main" id="{878DD61E-A50C-4B72-A285-33BA04F9A0C1}"/>
              </a:ext>
            </a:extLst>
          </p:cNvPr>
          <p:cNvSpPr>
            <a:spLocks xmlns:a="http://schemas.openxmlformats.org/drawingml/2006/main" noGrp="1"/>
          </p:cNvSpPr>
          <p:nvPr/>
        </p:nvSpPr>
        <p:spPr>
          <a:xfrm xmlns:a="http://schemas.openxmlformats.org/drawingml/2006/main">
            <a:off x="5550408" y="1600200"/>
            <a:ext cx="1481328" cy="2103120"/>
          </a:xfrm>
          <a:prstGeom xmlns:a="http://schemas.openxmlformats.org/drawingml/2006/main" prst="roundRect">
            <a:avLst>
              <a:gd name="adj" fmla="val 4321"/>
            </a:avLst>
          </a:prstGeom>
          <a:solidFill xmlns:a="http://schemas.openxmlformats.org/drawingml/2006/main">
            <a:srgbClr val="FFFFFF"/>
          </a:solidFill>
          <a:ln xmlns:a="http://schemas.openxmlformats.org/drawingml/2006/main" w="12700">
            <a:solidFill>
              <a:srgbClr val="2E7D32"/>
            </a:solidFill>
            <a:prstDash val="solid"/>
          </a:ln>
        </p:spPr>
      </p:sp>
      <p:sp>
        <p:nvSpPr>
          <p:cNvPr id="18" name="Text 15">
            <a:extLst xmlns:a="http://schemas.openxmlformats.org/drawingml/2006/main">
              <a:ext uri="{FF2B5EF4-FFF2-40B4-BE49-F238E27FC236}">
                <a16:creationId xmlns:a16="http://schemas.microsoft.com/office/drawing/2014/main" id="{8F697DAC-987C-42FE-8DA4-A8A31F12D7B5}"/>
              </a:ext>
            </a:extLst>
          </p:cNvPr>
          <p:cNvSpPr>
            <a:spLocks xmlns:a="http://schemas.openxmlformats.org/drawingml/2006/main" noGrp="1"/>
          </p:cNvSpPr>
          <p:nvPr/>
        </p:nvSpPr>
        <p:spPr>
          <a:xfrm xmlns:a="http://schemas.openxmlformats.org/drawingml/2006/main">
            <a:off x="5660136" y="1737360"/>
            <a:ext cx="1280160" cy="1874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88" b="1">
                <a:solidFill>
                  <a:srgbClr val="2E7D32"/>
                </a:solidFill>
                <a:latin typeface="Arial"/>
                <a:ea typeface="Arial"/>
                <a:cs typeface="Arial"/>
              </a:rPr>
              <a:t>G4</a:t>
            </a:r>
            <a:endParaRPr sz="1500"/>
          </a:p>
          <a:p xmlns:a="http://schemas.openxmlformats.org/drawingml/2006/main">
            <a:pPr marL="0" indent="0">
              <a:buNone/>
            </a:pPr>
            <a:r>
              <a:rPr sz="1000" b="1">
                <a:solidFill>
                  <a:srgbClr val="262626"/>
                </a:solidFill>
                <a:latin typeface="Arial"/>
                <a:ea typeface="Arial"/>
                <a:cs typeface="Arial"/>
              </a:rPr>
              <a:t/>
            </a:r>
            <a:endParaRPr sz="1500"/>
          </a:p>
          <a:p xmlns:a="http://schemas.openxmlformats.org/drawingml/2006/main">
            <a:pPr marL="0" indent="0">
              <a:buNone/>
            </a:pPr>
            <a:r>
              <a:rPr sz="1088">
                <a:solidFill>
                  <a:srgbClr val="262626"/>
                </a:solidFill>
                <a:latin typeface="Arial"/>
                <a:ea typeface="Arial"/>
                <a:cs typeface="Arial"/>
              </a:rPr>
              <a:t>Li pathway</a:t>
            </a:r>
            <a:endParaRPr sz="1500"/>
          </a:p>
          <a:p xmlns:a="http://schemas.openxmlformats.org/drawingml/2006/main">
            <a:pPr marL="0" indent="0">
              <a:buNone/>
            </a:pPr>
            <a:r>
              <a:rPr sz="850" b="1">
                <a:solidFill>
                  <a:srgbClr val="2E7D32"/>
                </a:solidFill>
                <a:latin typeface="Arial"/>
                <a:ea typeface="Arial"/>
                <a:cs typeface="Arial"/>
              </a:rPr>
              <a:t/>
            </a:r>
            <a:endParaRPr sz="1500"/>
          </a:p>
          <a:p xmlns:a="http://schemas.openxmlformats.org/drawingml/2006/main">
            <a:pPr marL="0" indent="0">
              <a:buNone/>
            </a:pPr>
            <a:r>
              <a:rPr sz="1088" b="1">
                <a:solidFill>
                  <a:srgbClr val="2E7D32"/>
                </a:solidFill>
                <a:latin typeface="Arial"/>
                <a:ea typeface="Arial"/>
                <a:cs typeface="Arial"/>
              </a:rPr>
              <a:t>Is the static pathway retained?</a:t>
            </a:r>
            <a:endParaRPr sz="1500"/>
          </a:p>
          <a:p xmlns:a="http://schemas.openxmlformats.org/drawingml/2006/main">
            <a:pPr marL="0" indent="0">
              <a:buNone/>
            </a:pPr>
            <a:r>
              <a:rPr sz="850" b="1">
                <a:solidFill>
                  <a:srgbClr val="2E7D32"/>
                </a:solidFill>
                <a:latin typeface="Arial"/>
                <a:ea typeface="Arial"/>
                <a:cs typeface="Arial"/>
              </a:rPr>
              <a:t/>
            </a:r>
            <a:endParaRPr sz="1500"/>
          </a:p>
          <a:p xmlns:a="http://schemas.openxmlformats.org/drawingml/2006/main">
            <a:pPr marL="0" indent="0">
              <a:buNone/>
            </a:pPr>
            <a:r>
              <a:rPr sz="1088" b="1">
                <a:solidFill>
                  <a:srgbClr val="2E7D32"/>
                </a:solidFill>
                <a:latin typeface="Arial"/>
                <a:ea typeface="Arial"/>
                <a:cs typeface="Arial"/>
              </a:rPr>
              <a:t>transport_norm &gt; 0.30</a:t>
            </a:r>
            <a:endParaRPr sz="1500"/>
          </a:p>
          <a:p xmlns:a="http://schemas.openxmlformats.org/drawingml/2006/main">
            <a:pPr marL="0" indent="0">
              <a:buNone/>
            </a:pPr>
            <a:r>
              <a:rPr sz="1088" b="1">
                <a:solidFill>
                  <a:srgbClr val="2E7D32"/>
                </a:solidFill>
                <a:latin typeface="Arial"/>
                <a:ea typeface="Arial"/>
                <a:cs typeface="Arial"/>
              </a:rPr>
              <a:t>AND blocking &lt; 0.60</a:t>
            </a:r>
            <a:endParaRPr sz="1500"/>
          </a:p>
        </p:txBody>
      </p:sp>
      <p:sp>
        <p:nvSpPr>
          <p:cNvPr id="19" name="Shape 16">
            <a:extLst xmlns:a="http://schemas.openxmlformats.org/drawingml/2006/main">
              <a:ext uri="{FF2B5EF4-FFF2-40B4-BE49-F238E27FC236}">
                <a16:creationId xmlns:a16="http://schemas.microsoft.com/office/drawing/2014/main" id="{EDA659B7-8065-4339-9DF5-08000D3E0980}"/>
              </a:ext>
            </a:extLst>
          </p:cNvPr>
          <p:cNvSpPr>
            <a:spLocks xmlns:a="http://schemas.openxmlformats.org/drawingml/2006/main" noGrp="1"/>
          </p:cNvSpPr>
          <p:nvPr/>
        </p:nvSpPr>
        <p:spPr>
          <a:xfrm xmlns:a="http://schemas.openxmlformats.org/drawingml/2006/main">
            <a:off x="7187184" y="1600200"/>
            <a:ext cx="1481328" cy="2103120"/>
          </a:xfrm>
          <a:prstGeom xmlns:a="http://schemas.openxmlformats.org/drawingml/2006/main" prst="roundRect">
            <a:avLst>
              <a:gd name="adj" fmla="val 4321"/>
            </a:avLst>
          </a:prstGeom>
          <a:solidFill xmlns:a="http://schemas.openxmlformats.org/drawingml/2006/main">
            <a:srgbClr val="FFFFFF"/>
          </a:solidFill>
          <a:ln xmlns:a="http://schemas.openxmlformats.org/drawingml/2006/main" w="12700">
            <a:solidFill>
              <a:srgbClr val="7F7F7F"/>
            </a:solidFill>
            <a:prstDash val="solid"/>
          </a:ln>
        </p:spPr>
      </p:sp>
      <p:sp>
        <p:nvSpPr>
          <p:cNvPr id="20" name="Text 17">
            <a:extLst xmlns:a="http://schemas.openxmlformats.org/drawingml/2006/main">
              <a:ext uri="{FF2B5EF4-FFF2-40B4-BE49-F238E27FC236}">
                <a16:creationId xmlns:a16="http://schemas.microsoft.com/office/drawing/2014/main" id="{4B36D6DB-1BF6-4165-8959-A678F28283DC}"/>
              </a:ext>
            </a:extLst>
          </p:cNvPr>
          <p:cNvSpPr>
            <a:spLocks xmlns:a="http://schemas.openxmlformats.org/drawingml/2006/main" noGrp="1"/>
          </p:cNvSpPr>
          <p:nvPr/>
        </p:nvSpPr>
        <p:spPr>
          <a:xfrm xmlns:a="http://schemas.openxmlformats.org/drawingml/2006/main">
            <a:off x="7296912" y="1737360"/>
            <a:ext cx="1280160" cy="1874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rgbClr val="7F7F7F"/>
                </a:solidFill>
                <a:latin typeface="Arial"/>
                <a:ea typeface="Arial"/>
                <a:cs typeface="Arial"/>
              </a:rPr>
              <a:t>G5*
</a:t>
            </a:r>
            <a:endParaRPr sz="1500"/>
          </a:p>
          <a:p xmlns:a="http://schemas.openxmlformats.org/drawingml/2006/main">
            <a:pPr marL="0" indent="0">
              <a:buNone/>
            </a:pPr>
            <a:r>
              <a:rPr sz="1000" b="1">
                <a:solidFill>
                  <a:srgbClr val="262626"/>
                </a:solidFill>
                <a:latin typeface="Arial"/>
                <a:ea typeface="Arial"/>
                <a:cs typeface="Arial"/>
              </a:rPr>
              <a:t>Mechanics
</a:t>
            </a:r>
            <a:endParaRPr sz="1500"/>
          </a:p>
          <a:p xmlns:a="http://schemas.openxmlformats.org/drawingml/2006/main">
            <a:pPr marL="0" indent="0">
              <a:buNone/>
            </a:pPr>
            <a:r>
              <a:rPr sz="850">
                <a:solidFill>
                  <a:srgbClr val="262626"/>
                </a:solidFill>
                <a:latin typeface="Arial"/>
                <a:ea typeface="Arial"/>
                <a:cs typeface="Arial"/>
              </a:rPr>
              <a:t>How do survivors rank?
</a:t>
            </a:r>
            <a:endParaRPr sz="1500"/>
          </a:p>
          <a:p xmlns:a="http://schemas.openxmlformats.org/drawingml/2006/main">
            <a:pPr marL="0" indent="0">
              <a:buNone/>
            </a:pPr>
            <a:r>
              <a:rPr sz="850" b="1">
                <a:solidFill>
                  <a:srgbClr val="7F7F7F"/>
                </a:solidFill>
                <a:latin typeface="Arial"/>
                <a:ea typeface="Arial"/>
                <a:cs typeface="Arial"/>
              </a:rPr>
              <a:t>roster medians</a:t>
            </a:r>
            <a:endParaRPr sz="1500"/>
          </a:p>
        </p:txBody>
      </p:sp>
      <p:sp>
        <p:nvSpPr>
          <p:cNvPr id="21" name="Text 18">
            <a:extLst xmlns:a="http://schemas.openxmlformats.org/drawingml/2006/main">
              <a:ext uri="{FF2B5EF4-FFF2-40B4-BE49-F238E27FC236}">
                <a16:creationId xmlns:a16="http://schemas.microsoft.com/office/drawing/2014/main" id="{11625705-1970-432D-B2C3-05D4FA688A35}"/>
              </a:ext>
            </a:extLst>
          </p:cNvPr>
          <p:cNvSpPr>
            <a:spLocks xmlns:a="http://schemas.openxmlformats.org/drawingml/2006/main" noGrp="1"/>
          </p:cNvSpPr>
          <p:nvPr/>
        </p:nvSpPr>
        <p:spPr>
          <a:xfrm xmlns:a="http://schemas.openxmlformats.org/drawingml/2006/main">
            <a:off x="548640" y="411480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G4 is also heuristic: blocking &lt; 0.6 has no host/literature anchor.  G5 is roster-relative ranking.</a:t>
            </a:r>
            <a:endParaRPr sz="1250"/>
          </a:p>
        </p:txBody>
      </p:sp>
      <p:sp>
        <p:nvSpPr>
          <p:cNvPr id="22" name="Text 19">
            <a:extLst xmlns:a="http://schemas.openxmlformats.org/drawingml/2006/main">
              <a:ext uri="{FF2B5EF4-FFF2-40B4-BE49-F238E27FC236}">
                <a16:creationId xmlns:a16="http://schemas.microsoft.com/office/drawing/2014/main" id="{77997AEB-F6D0-40D8-8E30-B2C086457B6A}"/>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cascade_screening_funnel.json (gates)</a:t>
            </a:r>
            <a:endParaRPr sz="750"/>
          </a:p>
        </p:txBody>
      </p:sp>
    </p:spTree>
    <p:extLst>
      <p:ext uri="{BB962C8B-B14F-4D97-AF65-F5344CB8AC3E}">
        <p14:creationId xmlns:p14="http://schemas.microsoft.com/office/powerpoint/2010/main" val="12912558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D4227D4-EB4A-42DD-82AE-9743B4E29B71}"/>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Cascade</a:t>
            </a:r>
            <a:endParaRPr sz="2800"/>
          </a:p>
        </p:txBody>
      </p:sp>
      <p:sp>
        <p:nvSpPr>
          <p:cNvPr id="3" name="Text 1">
            <a:extLst xmlns:a="http://schemas.openxmlformats.org/drawingml/2006/main">
              <a:ext uri="{FF2B5EF4-FFF2-40B4-BE49-F238E27FC236}">
                <a16:creationId xmlns:a16="http://schemas.microsoft.com/office/drawing/2014/main" id="{5376A7CA-AD10-46FF-8F61-7B32C02A161D}"/>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Post-hoc literature-mapped gate view</a:t>
            </a:r>
            <a:endParaRPr sz="900"/>
          </a:p>
        </p:txBody>
      </p:sp>
      <p:sp>
        <p:nvSpPr>
          <p:cNvPr id="4" name="Shape 2">
            <a:extLst xmlns:a="http://schemas.openxmlformats.org/drawingml/2006/main">
              <a:ext uri="{FF2B5EF4-FFF2-40B4-BE49-F238E27FC236}">
                <a16:creationId xmlns:a16="http://schemas.microsoft.com/office/drawing/2014/main" id="{6ACAC994-16EE-4075-94B4-B43439901F5A}"/>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5" name="Shape 3">
            <a:extLst xmlns:a="http://schemas.openxmlformats.org/drawingml/2006/main">
              <a:ext uri="{FF2B5EF4-FFF2-40B4-BE49-F238E27FC236}">
                <a16:creationId xmlns:a16="http://schemas.microsoft.com/office/drawing/2014/main" id="{60D5983C-7975-4EE9-86E6-CE4CD6E058BD}"/>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CDCD5495-465E-48FF-B14A-B0E5D895BFE1}"/>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The auditable hard-gate view stops at 11</a:t>
            </a:r>
            <a:endParaRPr sz="1400"/>
          </a:p>
        </p:txBody>
      </p:sp>
      <p:sp>
        <p:nvSpPr>
          <p:cNvPr id="7" name="Text 5">
            <a:extLst xmlns:a="http://schemas.openxmlformats.org/drawingml/2006/main">
              <a:ext uri="{FF2B5EF4-FFF2-40B4-BE49-F238E27FC236}">
                <a16:creationId xmlns:a16="http://schemas.microsoft.com/office/drawing/2014/main" id="{213FC5EE-D362-443E-A148-0751391E0820}"/>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0E319F64-922A-4044-9D6D-247931D7F67D}"/>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7CA40E97-EAB4-41AE-9BAD-CA2132A5B19B}"/>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10</a:t>
            </a:r>
            <a:endParaRPr sz="900"/>
          </a:p>
        </p:txBody>
      </p:sp>
      <p:sp>
        <p:nvSpPr>
          <p:cNvPr id="11" name="Text 8">
            <a:extLst xmlns:a="http://schemas.openxmlformats.org/drawingml/2006/main">
              <a:ext uri="{FF2B5EF4-FFF2-40B4-BE49-F238E27FC236}">
                <a16:creationId xmlns:a16="http://schemas.microsoft.com/office/drawing/2014/main" id="{3B9A562C-3884-4F5C-B9D0-8A4D46AA4443}"/>
              </a:ext>
            </a:extLst>
          </p:cNvPr>
          <p:cNvSpPr>
            <a:spLocks xmlns:a="http://schemas.openxmlformats.org/drawingml/2006/main" noGrp="1"/>
          </p:cNvSpPr>
          <p:nvPr/>
        </p:nvSpPr>
        <p:spPr>
          <a:xfrm xmlns:a="http://schemas.openxmlformats.org/drawingml/2006/main">
            <a:off x="548640" y="1572768"/>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b="1">
                <a:solidFill>
                  <a:srgbClr val="7F7F7F"/>
                </a:solidFill>
                <a:latin typeface="Arial"/>
                <a:ea typeface="Arial"/>
                <a:cs typeface="Arial"/>
              </a:rPr>
              <a:t>DATA-COMPLETE</a:t>
            </a:r>
            <a:endParaRPr sz="850"/>
          </a:p>
        </p:txBody>
      </p:sp>
      <p:sp>
        <p:nvSpPr>
          <p:cNvPr id="12" name="Shape 9">
            <a:extLst xmlns:a="http://schemas.openxmlformats.org/drawingml/2006/main">
              <a:ext uri="{FF2B5EF4-FFF2-40B4-BE49-F238E27FC236}">
                <a16:creationId xmlns:a16="http://schemas.microsoft.com/office/drawing/2014/main" id="{ADE92761-B405-4507-B14B-A16ED972D60F}"/>
              </a:ext>
            </a:extLst>
          </p:cNvPr>
          <p:cNvSpPr>
            <a:spLocks xmlns:a="http://schemas.openxmlformats.org/drawingml/2006/main" noGrp="1"/>
          </p:cNvSpPr>
          <p:nvPr/>
        </p:nvSpPr>
        <p:spPr>
          <a:xfrm xmlns:a="http://schemas.openxmlformats.org/drawingml/2006/main">
            <a:off x="2423160" y="1463040"/>
            <a:ext cx="5669280" cy="502920"/>
          </a:xfrm>
          <a:prstGeom xmlns:a="http://schemas.openxmlformats.org/drawingml/2006/main" prst="roundRect">
            <a:avLst>
              <a:gd name="adj" fmla="val 9091"/>
            </a:avLst>
          </a:prstGeom>
          <a:solidFill xmlns:a="http://schemas.openxmlformats.org/drawingml/2006/main">
            <a:srgbClr val="1F4E79"/>
          </a:solidFill>
        </p:spPr>
      </p:sp>
      <p:sp>
        <p:nvSpPr>
          <p:cNvPr id="13" name="Text 10">
            <a:extLst xmlns:a="http://schemas.openxmlformats.org/drawingml/2006/main">
              <a:ext uri="{FF2B5EF4-FFF2-40B4-BE49-F238E27FC236}">
                <a16:creationId xmlns:a16="http://schemas.microsoft.com/office/drawing/2014/main" id="{036B5975-54FD-45D7-81B7-96FD3C463A34}"/>
              </a:ext>
            </a:extLst>
          </p:cNvPr>
          <p:cNvSpPr>
            <a:spLocks xmlns:a="http://schemas.openxmlformats.org/drawingml/2006/main" noGrp="1"/>
          </p:cNvSpPr>
          <p:nvPr/>
        </p:nvSpPr>
        <p:spPr>
          <a:xfrm xmlns:a="http://schemas.openxmlformats.org/drawingml/2006/main">
            <a:off x="7452360" y="1536192"/>
            <a:ext cx="548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400" b="1">
                <a:solidFill>
                  <a:srgbClr val="FFFFFF"/>
                </a:solidFill>
                <a:latin typeface="Arial"/>
                <a:ea typeface="Arial"/>
                <a:cs typeface="Arial"/>
              </a:rPr>
              <a:t>47</a:t>
            </a:r>
            <a:endParaRPr sz="1400"/>
          </a:p>
        </p:txBody>
      </p:sp>
      <p:sp>
        <p:nvSpPr>
          <p:cNvPr id="14" name="Text 11">
            <a:extLst xmlns:a="http://schemas.openxmlformats.org/drawingml/2006/main">
              <a:ext uri="{FF2B5EF4-FFF2-40B4-BE49-F238E27FC236}">
                <a16:creationId xmlns:a16="http://schemas.microsoft.com/office/drawing/2014/main" id="{8103AD87-599F-46F7-9F4E-C7186E4F734D}"/>
              </a:ext>
            </a:extLst>
          </p:cNvPr>
          <p:cNvSpPr>
            <a:spLocks xmlns:a="http://schemas.openxmlformats.org/drawingml/2006/main" noGrp="1"/>
          </p:cNvSpPr>
          <p:nvPr/>
        </p:nvSpPr>
        <p:spPr>
          <a:xfrm xmlns:a="http://schemas.openxmlformats.org/drawingml/2006/main">
            <a:off x="548640" y="2286000"/>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b="1">
                <a:solidFill>
                  <a:srgbClr val="7F7F7F"/>
                </a:solidFill>
                <a:latin typeface="Arial"/>
                <a:ea typeface="Arial"/>
                <a:cs typeface="Arial"/>
              </a:rPr>
              <a:t>G1  STRUCTURE</a:t>
            </a:r>
            <a:endParaRPr sz="850"/>
          </a:p>
        </p:txBody>
      </p:sp>
      <p:sp>
        <p:nvSpPr>
          <p:cNvPr id="15" name="Shape 12">
            <a:extLst xmlns:a="http://schemas.openxmlformats.org/drawingml/2006/main">
              <a:ext uri="{FF2B5EF4-FFF2-40B4-BE49-F238E27FC236}">
                <a16:creationId xmlns:a16="http://schemas.microsoft.com/office/drawing/2014/main" id="{4BB4D79D-09F8-4A4D-9F3F-88987B8708C6}"/>
              </a:ext>
            </a:extLst>
          </p:cNvPr>
          <p:cNvSpPr>
            <a:spLocks xmlns:a="http://schemas.openxmlformats.org/drawingml/2006/main" noGrp="1"/>
          </p:cNvSpPr>
          <p:nvPr/>
        </p:nvSpPr>
        <p:spPr>
          <a:xfrm xmlns:a="http://schemas.openxmlformats.org/drawingml/2006/main">
            <a:off x="2423160" y="2176272"/>
            <a:ext cx="5669280" cy="502920"/>
          </a:xfrm>
          <a:prstGeom xmlns:a="http://schemas.openxmlformats.org/drawingml/2006/main" prst="roundRect">
            <a:avLst>
              <a:gd name="adj" fmla="val 9091"/>
            </a:avLst>
          </a:prstGeom>
          <a:solidFill xmlns:a="http://schemas.openxmlformats.org/drawingml/2006/main">
            <a:srgbClr val="0F5298"/>
          </a:solidFill>
        </p:spPr>
      </p:sp>
      <p:sp>
        <p:nvSpPr>
          <p:cNvPr id="16" name="Text 13">
            <a:extLst xmlns:a="http://schemas.openxmlformats.org/drawingml/2006/main">
              <a:ext uri="{FF2B5EF4-FFF2-40B4-BE49-F238E27FC236}">
                <a16:creationId xmlns:a16="http://schemas.microsoft.com/office/drawing/2014/main" id="{C4152D2E-1032-4088-95F4-12A8E8319C0B}"/>
              </a:ext>
            </a:extLst>
          </p:cNvPr>
          <p:cNvSpPr>
            <a:spLocks xmlns:a="http://schemas.openxmlformats.org/drawingml/2006/main" noGrp="1"/>
          </p:cNvSpPr>
          <p:nvPr/>
        </p:nvSpPr>
        <p:spPr>
          <a:xfrm xmlns:a="http://schemas.openxmlformats.org/drawingml/2006/main">
            <a:off x="7452360" y="2249424"/>
            <a:ext cx="548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400" b="1">
                <a:solidFill>
                  <a:srgbClr val="FFFFFF"/>
                </a:solidFill>
                <a:latin typeface="Arial"/>
                <a:ea typeface="Arial"/>
                <a:cs typeface="Arial"/>
              </a:rPr>
              <a:t>47</a:t>
            </a:r>
            <a:endParaRPr sz="1400"/>
          </a:p>
        </p:txBody>
      </p:sp>
      <p:sp>
        <p:nvSpPr>
          <p:cNvPr id="17" name="Text 14">
            <a:extLst xmlns:a="http://schemas.openxmlformats.org/drawingml/2006/main">
              <a:ext uri="{FF2B5EF4-FFF2-40B4-BE49-F238E27FC236}">
                <a16:creationId xmlns:a16="http://schemas.microsoft.com/office/drawing/2014/main" id="{783FAAEF-1890-42C3-8089-DE61D9E8B21B}"/>
              </a:ext>
            </a:extLst>
          </p:cNvPr>
          <p:cNvSpPr>
            <a:spLocks xmlns:a="http://schemas.openxmlformats.org/drawingml/2006/main" noGrp="1"/>
          </p:cNvSpPr>
          <p:nvPr/>
        </p:nvSpPr>
        <p:spPr>
          <a:xfrm xmlns:a="http://schemas.openxmlformats.org/drawingml/2006/main">
            <a:off x="548640" y="2999232"/>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b="1">
                <a:solidFill>
                  <a:srgbClr val="7F7F7F"/>
                </a:solidFill>
                <a:latin typeface="Arial"/>
                <a:ea typeface="Arial"/>
                <a:cs typeface="Arial"/>
              </a:rPr>
              <a:t>G2  WINDOW</a:t>
            </a:r>
            <a:endParaRPr sz="850"/>
          </a:p>
        </p:txBody>
      </p:sp>
      <p:sp>
        <p:nvSpPr>
          <p:cNvPr id="18" name="Shape 15">
            <a:extLst xmlns:a="http://schemas.openxmlformats.org/drawingml/2006/main">
              <a:ext uri="{FF2B5EF4-FFF2-40B4-BE49-F238E27FC236}">
                <a16:creationId xmlns:a16="http://schemas.microsoft.com/office/drawing/2014/main" id="{4900CFBC-A5ED-4ECA-890D-F4175FC5EAC6}"/>
              </a:ext>
            </a:extLst>
          </p:cNvPr>
          <p:cNvSpPr>
            <a:spLocks xmlns:a="http://schemas.openxmlformats.org/drawingml/2006/main" noGrp="1"/>
          </p:cNvSpPr>
          <p:nvPr/>
        </p:nvSpPr>
        <p:spPr>
          <a:xfrm xmlns:a="http://schemas.openxmlformats.org/drawingml/2006/main">
            <a:off x="2423160" y="2889504"/>
            <a:ext cx="5186788" cy="502920"/>
          </a:xfrm>
          <a:prstGeom xmlns:a="http://schemas.openxmlformats.org/drawingml/2006/main" prst="roundRect">
            <a:avLst>
              <a:gd name="adj" fmla="val 9091"/>
            </a:avLst>
          </a:prstGeom>
          <a:solidFill xmlns:a="http://schemas.openxmlformats.org/drawingml/2006/main">
            <a:srgbClr val="4A7EBB"/>
          </a:solidFill>
        </p:spPr>
      </p:sp>
      <p:sp>
        <p:nvSpPr>
          <p:cNvPr id="19" name="Text 16">
            <a:extLst xmlns:a="http://schemas.openxmlformats.org/drawingml/2006/main">
              <a:ext uri="{FF2B5EF4-FFF2-40B4-BE49-F238E27FC236}">
                <a16:creationId xmlns:a16="http://schemas.microsoft.com/office/drawing/2014/main" id="{9435B86B-CD60-450C-AC1D-449838E8A438}"/>
              </a:ext>
            </a:extLst>
          </p:cNvPr>
          <p:cNvSpPr>
            <a:spLocks xmlns:a="http://schemas.openxmlformats.org/drawingml/2006/main" noGrp="1"/>
          </p:cNvSpPr>
          <p:nvPr/>
        </p:nvSpPr>
        <p:spPr>
          <a:xfrm xmlns:a="http://schemas.openxmlformats.org/drawingml/2006/main">
            <a:off x="6969868" y="2962656"/>
            <a:ext cx="548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400" b="1">
                <a:solidFill>
                  <a:srgbClr val="FFFFFF"/>
                </a:solidFill>
                <a:latin typeface="Arial"/>
                <a:ea typeface="Arial"/>
                <a:cs typeface="Arial"/>
              </a:rPr>
              <a:t>43</a:t>
            </a:r>
            <a:endParaRPr sz="1400"/>
          </a:p>
        </p:txBody>
      </p:sp>
      <p:sp>
        <p:nvSpPr>
          <p:cNvPr id="20" name="Text 17">
            <a:extLst xmlns:a="http://schemas.openxmlformats.org/drawingml/2006/main">
              <a:ext uri="{FF2B5EF4-FFF2-40B4-BE49-F238E27FC236}">
                <a16:creationId xmlns:a16="http://schemas.microsoft.com/office/drawing/2014/main" id="{70A67EC4-AC4A-495D-80CC-0F2B6D4F264B}"/>
              </a:ext>
            </a:extLst>
          </p:cNvPr>
          <p:cNvSpPr>
            <a:spLocks xmlns:a="http://schemas.openxmlformats.org/drawingml/2006/main" noGrp="1"/>
          </p:cNvSpPr>
          <p:nvPr/>
        </p:nvSpPr>
        <p:spPr>
          <a:xfrm xmlns:a="http://schemas.openxmlformats.org/drawingml/2006/main">
            <a:off x="548640" y="3712464"/>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b="1">
                <a:solidFill>
                  <a:srgbClr val="7F7F7F"/>
                </a:solidFill>
                <a:latin typeface="Arial"/>
                <a:ea typeface="Arial"/>
                <a:cs typeface="Arial"/>
              </a:rPr>
              <a:t>G3  OXIDATION</a:t>
            </a:r>
            <a:endParaRPr sz="850"/>
          </a:p>
        </p:txBody>
      </p:sp>
      <p:sp>
        <p:nvSpPr>
          <p:cNvPr id="21" name="Shape 18">
            <a:extLst xmlns:a="http://schemas.openxmlformats.org/drawingml/2006/main">
              <a:ext uri="{FF2B5EF4-FFF2-40B4-BE49-F238E27FC236}">
                <a16:creationId xmlns:a16="http://schemas.microsoft.com/office/drawing/2014/main" id="{21315253-3375-4084-B4A8-FC02A40EA374}"/>
              </a:ext>
            </a:extLst>
          </p:cNvPr>
          <p:cNvSpPr>
            <a:spLocks xmlns:a="http://schemas.openxmlformats.org/drawingml/2006/main" noGrp="1"/>
          </p:cNvSpPr>
          <p:nvPr/>
        </p:nvSpPr>
        <p:spPr>
          <a:xfrm xmlns:a="http://schemas.openxmlformats.org/drawingml/2006/main">
            <a:off x="2423160" y="3602736"/>
            <a:ext cx="3015574" cy="502920"/>
          </a:xfrm>
          <a:prstGeom xmlns:a="http://schemas.openxmlformats.org/drawingml/2006/main" prst="roundRect">
            <a:avLst>
              <a:gd name="adj" fmla="val 9091"/>
            </a:avLst>
          </a:prstGeom>
          <a:solidFill xmlns:a="http://schemas.openxmlformats.org/drawingml/2006/main">
            <a:srgbClr val="B26A00"/>
          </a:solidFill>
        </p:spPr>
      </p:sp>
      <p:sp>
        <p:nvSpPr>
          <p:cNvPr id="22" name="Text 19">
            <a:extLst xmlns:a="http://schemas.openxmlformats.org/drawingml/2006/main">
              <a:ext uri="{FF2B5EF4-FFF2-40B4-BE49-F238E27FC236}">
                <a16:creationId xmlns:a16="http://schemas.microsoft.com/office/drawing/2014/main" id="{93F5AEA6-6D50-47C2-86E8-E48028D73ECA}"/>
              </a:ext>
            </a:extLst>
          </p:cNvPr>
          <p:cNvSpPr>
            <a:spLocks xmlns:a="http://schemas.openxmlformats.org/drawingml/2006/main" noGrp="1"/>
          </p:cNvSpPr>
          <p:nvPr/>
        </p:nvSpPr>
        <p:spPr>
          <a:xfrm xmlns:a="http://schemas.openxmlformats.org/drawingml/2006/main">
            <a:off x="4798654" y="3675888"/>
            <a:ext cx="548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400" b="1">
                <a:solidFill>
                  <a:srgbClr val="FFFFFF"/>
                </a:solidFill>
                <a:latin typeface="Arial"/>
                <a:ea typeface="Arial"/>
                <a:cs typeface="Arial"/>
              </a:rPr>
              <a:t>25</a:t>
            </a:r>
            <a:endParaRPr sz="1400"/>
          </a:p>
        </p:txBody>
      </p:sp>
      <p:sp>
        <p:nvSpPr>
          <p:cNvPr id="23" name="Text 20">
            <a:extLst xmlns:a="http://schemas.openxmlformats.org/drawingml/2006/main">
              <a:ext uri="{FF2B5EF4-FFF2-40B4-BE49-F238E27FC236}">
                <a16:creationId xmlns:a16="http://schemas.microsoft.com/office/drawing/2014/main" id="{C8C9AC1E-756F-441F-8AF3-FD38F4E2D7FA}"/>
              </a:ext>
            </a:extLst>
          </p:cNvPr>
          <p:cNvSpPr>
            <a:spLocks xmlns:a="http://schemas.openxmlformats.org/drawingml/2006/main" noGrp="1"/>
          </p:cNvSpPr>
          <p:nvPr/>
        </p:nvSpPr>
        <p:spPr>
          <a:xfrm xmlns:a="http://schemas.openxmlformats.org/drawingml/2006/main">
            <a:off x="548640" y="4425696"/>
            <a:ext cx="1737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b="1">
                <a:solidFill>
                  <a:srgbClr val="7F7F7F"/>
                </a:solidFill>
                <a:latin typeface="Arial"/>
                <a:ea typeface="Arial"/>
                <a:cs typeface="Arial"/>
              </a:rPr>
              <a:t>G4  LI TRANSPORT</a:t>
            </a:r>
            <a:endParaRPr sz="850"/>
          </a:p>
        </p:txBody>
      </p:sp>
      <p:sp>
        <p:nvSpPr>
          <p:cNvPr id="24" name="Shape 21">
            <a:extLst xmlns:a="http://schemas.openxmlformats.org/drawingml/2006/main">
              <a:ext uri="{FF2B5EF4-FFF2-40B4-BE49-F238E27FC236}">
                <a16:creationId xmlns:a16="http://schemas.microsoft.com/office/drawing/2014/main" id="{D2D7AF26-35BA-495F-BD8C-9E58DB09D5A2}"/>
              </a:ext>
            </a:extLst>
          </p:cNvPr>
          <p:cNvSpPr>
            <a:spLocks xmlns:a="http://schemas.openxmlformats.org/drawingml/2006/main" noGrp="1"/>
          </p:cNvSpPr>
          <p:nvPr/>
        </p:nvSpPr>
        <p:spPr>
          <a:xfrm xmlns:a="http://schemas.openxmlformats.org/drawingml/2006/main">
            <a:off x="2423160" y="4315968"/>
            <a:ext cx="1326853" cy="502920"/>
          </a:xfrm>
          <a:prstGeom xmlns:a="http://schemas.openxmlformats.org/drawingml/2006/main" prst="roundRect">
            <a:avLst>
              <a:gd name="adj" fmla="val 9091"/>
            </a:avLst>
          </a:prstGeom>
          <a:solidFill xmlns:a="http://schemas.openxmlformats.org/drawingml/2006/main">
            <a:srgbClr val="2E7D32"/>
          </a:solidFill>
        </p:spPr>
      </p:sp>
      <p:sp>
        <p:nvSpPr>
          <p:cNvPr id="25" name="Text 22">
            <a:extLst xmlns:a="http://schemas.openxmlformats.org/drawingml/2006/main">
              <a:ext uri="{FF2B5EF4-FFF2-40B4-BE49-F238E27FC236}">
                <a16:creationId xmlns:a16="http://schemas.microsoft.com/office/drawing/2014/main" id="{9EA90ABB-32FA-4BD2-A636-920BE1ABB2FD}"/>
              </a:ext>
            </a:extLst>
          </p:cNvPr>
          <p:cNvSpPr>
            <a:spLocks xmlns:a="http://schemas.openxmlformats.org/drawingml/2006/main" noGrp="1"/>
          </p:cNvSpPr>
          <p:nvPr/>
        </p:nvSpPr>
        <p:spPr>
          <a:xfrm xmlns:a="http://schemas.openxmlformats.org/drawingml/2006/main">
            <a:off x="3109933" y="4389120"/>
            <a:ext cx="5486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400" b="1">
                <a:solidFill>
                  <a:srgbClr val="FFFFFF"/>
                </a:solidFill>
                <a:latin typeface="Arial"/>
                <a:ea typeface="Arial"/>
                <a:cs typeface="Arial"/>
              </a:rPr>
              <a:t>11</a:t>
            </a:r>
            <a:endParaRPr sz="1400"/>
          </a:p>
        </p:txBody>
      </p:sp>
      <p:sp>
        <p:nvSpPr>
          <p:cNvPr id="26" name="Shape 23">
            <a:extLst xmlns:a="http://schemas.openxmlformats.org/drawingml/2006/main">
              <a:ext uri="{FF2B5EF4-FFF2-40B4-BE49-F238E27FC236}">
                <a16:creationId xmlns:a16="http://schemas.microsoft.com/office/drawing/2014/main" id="{83799F44-A396-41FA-9D7D-04F3FB62B8ED}"/>
              </a:ext>
            </a:extLst>
          </p:cNvPr>
          <p:cNvSpPr>
            <a:spLocks xmlns:a="http://schemas.openxmlformats.org/drawingml/2006/main" noGrp="1"/>
          </p:cNvSpPr>
          <p:nvPr/>
        </p:nvSpPr>
        <p:spPr>
          <a:xfrm xmlns:a="http://schemas.openxmlformats.org/drawingml/2006/main">
            <a:off x="3108960" y="5120640"/>
            <a:ext cx="2926080" cy="457200"/>
          </a:xfrm>
          <a:prstGeom xmlns:a="http://schemas.openxmlformats.org/drawingml/2006/main" prst="roundRect">
            <a:avLst>
              <a:gd name="adj" fmla="val 14000"/>
            </a:avLst>
          </a:prstGeom>
          <a:solidFill xmlns:a="http://schemas.openxmlformats.org/drawingml/2006/main">
            <a:srgbClr val="F2F2F2"/>
          </a:solidFill>
          <a:ln xmlns:a="http://schemas.openxmlformats.org/drawingml/2006/main" w="12700">
            <a:solidFill>
              <a:srgbClr val="BFBFBF"/>
            </a:solidFill>
            <a:prstDash val="solid"/>
          </a:ln>
        </p:spPr>
      </p:sp>
      <p:sp>
        <p:nvSpPr>
          <p:cNvPr id="27" name="Text 24">
            <a:extLst xmlns:a="http://schemas.openxmlformats.org/drawingml/2006/main">
              <a:ext uri="{FF2B5EF4-FFF2-40B4-BE49-F238E27FC236}">
                <a16:creationId xmlns:a16="http://schemas.microsoft.com/office/drawing/2014/main" id="{BB109923-ABA3-4971-BE5A-17A0304881D8}"/>
              </a:ext>
            </a:extLst>
          </p:cNvPr>
          <p:cNvSpPr>
            <a:spLocks xmlns:a="http://schemas.openxmlformats.org/drawingml/2006/main" noGrp="1"/>
          </p:cNvSpPr>
          <p:nvPr/>
        </p:nvSpPr>
        <p:spPr>
          <a:xfrm xmlns:a="http://schemas.openxmlformats.org/drawingml/2006/main">
            <a:off x="3108960" y="5175504"/>
            <a:ext cx="29260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7F7F7F"/>
                </a:solidFill>
                <a:latin typeface="Arial"/>
                <a:ea typeface="Arial"/>
                <a:cs typeface="Arial"/>
              </a:rPr>
              <a:t>G5 mechanical ranking → 1*</a:t>
            </a:r>
            <a:endParaRPr sz="1050"/>
          </a:p>
        </p:txBody>
      </p:sp>
      <p:sp>
        <p:nvSpPr>
          <p:cNvPr id="28" name="Text 25">
            <a:extLst xmlns:a="http://schemas.openxmlformats.org/drawingml/2006/main">
              <a:ext uri="{FF2B5EF4-FFF2-40B4-BE49-F238E27FC236}">
                <a16:creationId xmlns:a16="http://schemas.microsoft.com/office/drawing/2014/main" id="{B5886C1D-2DC0-44E9-B3AF-8E98604C5DF2}"/>
              </a:ext>
            </a:extLst>
          </p:cNvPr>
          <p:cNvSpPr>
            <a:spLocks xmlns:a="http://schemas.openxmlformats.org/drawingml/2006/main" noGrp="1"/>
          </p:cNvSpPr>
          <p:nvPr/>
        </p:nvSpPr>
        <p:spPr>
          <a:xfrm xmlns:a="http://schemas.openxmlformats.org/drawingml/2006/main">
            <a:off x="548640" y="571500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 This funnel is a post-hoc analysis view. G4 is heuristic; G5 is ranking-only.</a:t>
            </a:r>
            <a:endParaRPr sz="1250"/>
          </a:p>
        </p:txBody>
      </p:sp>
      <p:sp>
        <p:nvSpPr>
          <p:cNvPr id="29" name="Text 26">
            <a:extLst xmlns:a="http://schemas.openxmlformats.org/drawingml/2006/main">
              <a:ext uri="{FF2B5EF4-FFF2-40B4-BE49-F238E27FC236}">
                <a16:creationId xmlns:a16="http://schemas.microsoft.com/office/drawing/2014/main" id="{69CE4739-B067-4DC3-8AF0-EF5D5B4ACFB3}"/>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cascade_screening_funnel.json (waterfall)</a:t>
            </a:r>
            <a:endParaRPr sz="750"/>
          </a:p>
        </p:txBody>
      </p:sp>
    </p:spTree>
    <p:extLst>
      <p:ext uri="{BB962C8B-B14F-4D97-AF65-F5344CB8AC3E}">
        <p14:creationId xmlns:p14="http://schemas.microsoft.com/office/powerpoint/2010/main" val="115553887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AC281D7-A967-417E-899A-C873C57B9895}"/>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Audit</a:t>
            </a:r>
            <a:endParaRPr sz="2800"/>
          </a:p>
        </p:txBody>
      </p:sp>
      <p:sp>
        <p:nvSpPr>
          <p:cNvPr id="3" name="Text 1">
            <a:extLst xmlns:a="http://schemas.openxmlformats.org/drawingml/2006/main">
              <a:ext uri="{FF2B5EF4-FFF2-40B4-BE49-F238E27FC236}">
                <a16:creationId xmlns:a16="http://schemas.microsoft.com/office/drawing/2014/main" id="{27B14885-0EF4-49D5-822B-F9D319B3B0A5}"/>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Standalone kill · unique kill</a:t>
            </a:r>
            <a:endParaRPr sz="900"/>
          </a:p>
        </p:txBody>
      </p:sp>
      <p:sp>
        <p:nvSpPr>
          <p:cNvPr id="4" name="Shape 2">
            <a:extLst xmlns:a="http://schemas.openxmlformats.org/drawingml/2006/main">
              <a:ext uri="{FF2B5EF4-FFF2-40B4-BE49-F238E27FC236}">
                <a16:creationId xmlns:a16="http://schemas.microsoft.com/office/drawing/2014/main" id="{41D7B760-7797-4F63-BE4E-9534E1A0D9DF}"/>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5" name="Shape 3">
            <a:extLst xmlns:a="http://schemas.openxmlformats.org/drawingml/2006/main">
              <a:ext uri="{FF2B5EF4-FFF2-40B4-BE49-F238E27FC236}">
                <a16:creationId xmlns:a16="http://schemas.microsoft.com/office/drawing/2014/main" id="{6FA29E42-7EA9-43AB-8CD2-8203BF15AE2F}"/>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C4FEE9CD-A927-4F29-8280-01EEAB8DA8B9}"/>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Two gates reveal more about the pool than the candidates</a:t>
            </a:r>
            <a:endParaRPr sz="1400"/>
          </a:p>
        </p:txBody>
      </p:sp>
      <p:sp>
        <p:nvSpPr>
          <p:cNvPr id="7" name="Text 5">
            <a:extLst xmlns:a="http://schemas.openxmlformats.org/drawingml/2006/main">
              <a:ext uri="{FF2B5EF4-FFF2-40B4-BE49-F238E27FC236}">
                <a16:creationId xmlns:a16="http://schemas.microsoft.com/office/drawing/2014/main" id="{C5360CE3-91CC-4AD2-97C1-FAC5F3CC2EF0}"/>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E1829AB9-85D2-48AD-8841-857D7345810A}"/>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07A6371A-9D10-447C-ACF0-BF8B9CB64F44}"/>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11</a:t>
            </a:r>
            <a:endParaRPr sz="900"/>
          </a:p>
        </p:txBody>
      </p:sp>
      <p:sp>
        <p:nvSpPr>
          <p:cNvPr id="11" name="Shape 8">
            <a:extLst xmlns:a="http://schemas.openxmlformats.org/drawingml/2006/main">
              <a:ext uri="{FF2B5EF4-FFF2-40B4-BE49-F238E27FC236}">
                <a16:creationId xmlns:a16="http://schemas.microsoft.com/office/drawing/2014/main" id="{7F18FD07-45B9-421A-8D09-95DFB0542CD8}"/>
              </a:ext>
            </a:extLst>
          </p:cNvPr>
          <p:cNvSpPr>
            <a:spLocks xmlns:a="http://schemas.openxmlformats.org/drawingml/2006/main" noGrp="1"/>
          </p:cNvSpPr>
          <p:nvPr/>
        </p:nvSpPr>
        <p:spPr>
          <a:xfrm xmlns:a="http://schemas.openxmlformats.org/drawingml/2006/main">
            <a:off x="731520" y="1645920"/>
            <a:ext cx="3657600" cy="2926080"/>
          </a:xfrm>
          <a:prstGeom xmlns:a="http://schemas.openxmlformats.org/drawingml/2006/main" prst="roundRect">
            <a:avLst>
              <a:gd name="adj" fmla="val 2188"/>
            </a:avLst>
          </a:prstGeom>
          <a:solidFill xmlns:a="http://schemas.openxmlformats.org/drawingml/2006/main">
            <a:srgbClr val="D9E1F2"/>
          </a:solidFill>
          <a:ln xmlns:a="http://schemas.openxmlformats.org/drawingml/2006/main" w="12700">
            <a:solidFill>
              <a:srgbClr val="1F4E79"/>
            </a:solidFill>
            <a:prstDash val="solid"/>
          </a:ln>
        </p:spPr>
      </p:sp>
      <p:sp>
        <p:nvSpPr>
          <p:cNvPr id="12" name="Text 9">
            <a:extLst xmlns:a="http://schemas.openxmlformats.org/drawingml/2006/main">
              <a:ext uri="{FF2B5EF4-FFF2-40B4-BE49-F238E27FC236}">
                <a16:creationId xmlns:a16="http://schemas.microsoft.com/office/drawing/2014/main" id="{63FDE064-37FF-4784-98C3-18C2C2F81946}"/>
              </a:ext>
            </a:extLst>
          </p:cNvPr>
          <p:cNvSpPr>
            <a:spLocks xmlns:a="http://schemas.openxmlformats.org/drawingml/2006/main" noGrp="1"/>
          </p:cNvSpPr>
          <p:nvPr/>
        </p:nvSpPr>
        <p:spPr>
          <a:xfrm xmlns:a="http://schemas.openxmlformats.org/drawingml/2006/main">
            <a:off x="914400" y="1920240"/>
            <a:ext cx="3291840" cy="2377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1F4E79"/>
                </a:solidFill>
                <a:latin typeface="Arial"/>
                <a:ea typeface="Arial"/>
                <a:cs typeface="Arial"/>
              </a:rPr>
              <a:t>G1: 47 / 47 pass
</a:t>
            </a:r>
            <a:endParaRPr sz="1300"/>
          </a:p>
          <a:p xmlns:a="http://schemas.openxmlformats.org/drawingml/2006/main">
            <a:pPr marL="0" indent="0">
              <a:buNone/>
            </a:pPr>
            <a:r>
              <a:rPr sz="1700" b="1">
                <a:solidFill>
                  <a:srgbClr val="9E2A2B"/>
                </a:solidFill>
                <a:latin typeface="Arial"/>
                <a:ea typeface="Arial"/>
                <a:cs typeface="Arial"/>
              </a:rPr>
              <a:t>VACUOUS
</a:t>
            </a:r>
            <a:endParaRPr sz="1300"/>
          </a:p>
          <a:p xmlns:a="http://schemas.openxmlformats.org/drawingml/2006/main">
            <a:pPr marL="0" indent="0">
              <a:buNone/>
            </a:pPr>
            <a:r>
              <a:rPr sz="1000">
                <a:solidFill>
                  <a:srgbClr val="262626"/>
                </a:solidFill>
                <a:latin typeface="Arial"/>
                <a:ea typeface="Arial"/>
                <a:cs typeface="Arial"/>
              </a:rPr>
              <a:t>No selection pressure in the curated pool.</a:t>
            </a:r>
            <a:endParaRPr sz="1300"/>
          </a:p>
          <a:p xmlns:a="http://schemas.openxmlformats.org/drawingml/2006/main">
            <a:pPr marL="0" indent="0">
              <a:buNone/>
            </a:pPr>
            <a:r>
              <a:rPr sz="1000">
                <a:solidFill>
                  <a:srgbClr val="262626"/>
                </a:solidFill>
                <a:latin typeface="Arial"/>
                <a:ea typeface="Arial"/>
                <a:cs typeface="Arial"/>
              </a:rPr>
              <a:t>This does not prove universal stability.</a:t>
            </a:r>
            <a:endParaRPr sz="1300"/>
          </a:p>
        </p:txBody>
      </p:sp>
      <p:sp>
        <p:nvSpPr>
          <p:cNvPr id="13" name="Shape 10">
            <a:extLst xmlns:a="http://schemas.openxmlformats.org/drawingml/2006/main">
              <a:ext uri="{FF2B5EF4-FFF2-40B4-BE49-F238E27FC236}">
                <a16:creationId xmlns:a16="http://schemas.microsoft.com/office/drawing/2014/main" id="{2ED5832F-BFF2-4AF7-823E-11088978A36D}"/>
              </a:ext>
            </a:extLst>
          </p:cNvPr>
          <p:cNvSpPr>
            <a:spLocks xmlns:a="http://schemas.openxmlformats.org/drawingml/2006/main" noGrp="1"/>
          </p:cNvSpPr>
          <p:nvPr/>
        </p:nvSpPr>
        <p:spPr>
          <a:xfrm xmlns:a="http://schemas.openxmlformats.org/drawingml/2006/main">
            <a:off x="4754880" y="1645920"/>
            <a:ext cx="3657600" cy="2926080"/>
          </a:xfrm>
          <a:prstGeom xmlns:a="http://schemas.openxmlformats.org/drawingml/2006/main" prst="roundRect">
            <a:avLst>
              <a:gd name="adj" fmla="val 2188"/>
            </a:avLst>
          </a:prstGeom>
          <a:solidFill xmlns:a="http://schemas.openxmlformats.org/drawingml/2006/main">
            <a:srgbClr val="FFF4E0"/>
          </a:solidFill>
          <a:ln xmlns:a="http://schemas.openxmlformats.org/drawingml/2006/main" w="12700">
            <a:solidFill>
              <a:srgbClr val="B26A00"/>
            </a:solidFill>
            <a:prstDash val="solid"/>
          </a:ln>
        </p:spPr>
      </p:sp>
      <p:sp>
        <p:nvSpPr>
          <p:cNvPr id="14" name="Text 11">
            <a:extLst xmlns:a="http://schemas.openxmlformats.org/drawingml/2006/main">
              <a:ext uri="{FF2B5EF4-FFF2-40B4-BE49-F238E27FC236}">
                <a16:creationId xmlns:a16="http://schemas.microsoft.com/office/drawing/2014/main" id="{C36E89ED-DD02-4974-B1B9-E8117CE4F805}"/>
              </a:ext>
            </a:extLst>
          </p:cNvPr>
          <p:cNvSpPr>
            <a:spLocks xmlns:a="http://schemas.openxmlformats.org/drawingml/2006/main" noGrp="1"/>
          </p:cNvSpPr>
          <p:nvPr/>
        </p:nvSpPr>
        <p:spPr>
          <a:xfrm xmlns:a="http://schemas.openxmlformats.org/drawingml/2006/main">
            <a:off x="4937760" y="1920240"/>
            <a:ext cx="3291840" cy="2377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25" b="1">
                <a:solidFill>
                  <a:srgbClr val="B26A00"/>
                </a:solidFill>
                <a:latin typeface="Arial"/>
                <a:ea typeface="Arial"/>
                <a:cs typeface="Arial"/>
              </a:rPr>
              <a:t>G2: unique kill = 0</a:t>
            </a:r>
            <a:endParaRPr sz="1300"/>
          </a:p>
          <a:p xmlns:a="http://schemas.openxmlformats.org/drawingml/2006/main">
            <a:pPr marL="0" indent="0">
              <a:buNone/>
            </a:pPr>
            <a:r>
              <a:rPr sz="1700" b="1">
                <a:solidFill>
                  <a:srgbClr val="9E2A2B"/>
                </a:solidFill>
                <a:latin typeface="Arial"/>
                <a:ea typeface="Arial"/>
                <a:cs typeface="Arial"/>
              </a:rPr>
              <a:t/>
            </a:r>
            <a:endParaRPr sz="1300"/>
          </a:p>
          <a:p xmlns:a="http://schemas.openxmlformats.org/drawingml/2006/main">
            <a:pPr marL="0" indent="0">
              <a:buNone/>
            </a:pPr>
            <a:r>
              <a:rPr sz="1125">
                <a:solidFill>
                  <a:srgbClr val="262626"/>
                </a:solidFill>
                <a:latin typeface="Arial"/>
                <a:ea typeface="Arial"/>
                <a:cs typeface="Arial"/>
              </a:rPr>
              <a:t>REDUNDANT</a:t>
            </a:r>
            <a:endParaRPr sz="1300"/>
          </a:p>
          <a:p xmlns:a="http://schemas.openxmlformats.org/drawingml/2006/main">
            <a:pPr marL="0" indent="0">
              <a:buNone/>
            </a:pPr>
            <a:r>
              <a:rPr sz="1000">
                <a:solidFill>
                  <a:srgbClr val="262626"/>
                </a:solidFill>
                <a:latin typeface="Arial"/>
                <a:ea typeface="Arial"/>
                <a:cs typeface="Arial"/>
              </a:rPr>
              <a:t/>
            </a:r>
            <a:endParaRPr sz="1300"/>
          </a:p>
          <a:p xmlns:a="http://schemas.openxmlformats.org/drawingml/2006/main">
            <a:pPr marL="0" indent="0">
              <a:buNone/>
            </a:pPr>
            <a:r>
              <a:rPr sz="1125">
                <a:solidFill>
                  <a:srgbClr val="262626"/>
                </a:solidFill>
                <a:latin typeface="Arial"/>
                <a:ea typeface="Arial"/>
                <a:cs typeface="Arial"/>
              </a:rPr>
              <a:t>Four window-collapse failures (CoO, Fe₂O₃, MnO, NiO) also fail G3.</a:t>
            </a:r>
            <a:endParaRPr sz="1300"/>
          </a:p>
          <a:p xmlns:a="http://schemas.openxmlformats.org/drawingml/2006/main">
            <a:pPr marL="0" indent="0">
              <a:buNone/>
            </a:pPr>
            <a:r>
              <a:rPr sz="1125">
                <a:solidFill>
                  <a:srgbClr val="262626"/>
                </a:solidFill>
                <a:latin typeface="Arial"/>
                <a:ea typeface="Arial"/>
                <a:cs typeface="Arial"/>
              </a:rPr>
              <a:t>The same four late-TM oxides fail both gates.</a:t>
            </a:r>
            <a:endParaRPr sz="1300"/>
          </a:p>
        </p:txBody>
      </p:sp>
      <p:sp>
        <p:nvSpPr>
          <p:cNvPr id="15" name="Text 12">
            <a:extLst xmlns:a="http://schemas.openxmlformats.org/drawingml/2006/main">
              <a:ext uri="{FF2B5EF4-FFF2-40B4-BE49-F238E27FC236}">
                <a16:creationId xmlns:a16="http://schemas.microsoft.com/office/drawing/2014/main" id="{B8D6F603-9819-4140-9897-9651DB3833AF}"/>
              </a:ext>
            </a:extLst>
          </p:cNvPr>
          <p:cNvSpPr>
            <a:spLocks xmlns:a="http://schemas.openxmlformats.org/drawingml/2006/main" noGrp="1"/>
          </p:cNvSpPr>
          <p:nvPr/>
        </p:nvSpPr>
        <p:spPr>
          <a:xfrm xmlns:a="http://schemas.openxmlformats.org/drawingml/2006/main">
            <a:off x="548640" y="502920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Keep the records. Change the interpretation.  Gate auditing is itself a scientific result.</a:t>
            </a:r>
            <a:endParaRPr sz="1250"/>
          </a:p>
        </p:txBody>
      </p:sp>
      <p:sp>
        <p:nvSpPr>
          <p:cNvPr id="16" name="Text 13">
            <a:extLst xmlns:a="http://schemas.openxmlformats.org/drawingml/2006/main">
              <a:ext uri="{FF2B5EF4-FFF2-40B4-BE49-F238E27FC236}">
                <a16:creationId xmlns:a16="http://schemas.microsoft.com/office/drawing/2014/main" id="{ED51A3EB-982E-4CE3-B0DC-254DB4F2DBCD}"/>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cascade_screening_funnel.json (gate_power) · pipeline guide</a:t>
            </a:r>
            <a:endParaRPr sz="750"/>
          </a:p>
        </p:txBody>
      </p:sp>
    </p:spTree>
    <p:extLst>
      <p:ext uri="{BB962C8B-B14F-4D97-AF65-F5344CB8AC3E}">
        <p14:creationId xmlns:p14="http://schemas.microsoft.com/office/powerpoint/2010/main" val="41894597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9B9C20A-691C-4931-B604-03D2D6B6BC39}"/>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Result</a:t>
            </a:r>
            <a:endParaRPr sz="2800"/>
          </a:p>
        </p:txBody>
      </p:sp>
      <p:sp>
        <p:nvSpPr>
          <p:cNvPr id="3" name="Text 1">
            <a:extLst xmlns:a="http://schemas.openxmlformats.org/drawingml/2006/main">
              <a:ext uri="{FF2B5EF4-FFF2-40B4-BE49-F238E27FC236}">
                <a16:creationId xmlns:a16="http://schemas.microsoft.com/office/drawing/2014/main" id="{9AE72996-7D48-4651-ACDC-15E6872771D1}"/>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47-species snapshot · static pathway audit</a:t>
            </a:r>
            <a:endParaRPr sz="900"/>
          </a:p>
        </p:txBody>
      </p:sp>
      <p:sp>
        <p:nvSpPr>
          <p:cNvPr id="4" name="Shape 2">
            <a:extLst xmlns:a="http://schemas.openxmlformats.org/drawingml/2006/main">
              <a:ext uri="{FF2B5EF4-FFF2-40B4-BE49-F238E27FC236}">
                <a16:creationId xmlns:a16="http://schemas.microsoft.com/office/drawing/2014/main" id="{D64B1C87-BF03-4BC4-AC5E-BCC7433E87DF}"/>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5" name="Text 3">
            <a:extLst xmlns:a="http://schemas.openxmlformats.org/drawingml/2006/main">
              <a:ext uri="{FF2B5EF4-FFF2-40B4-BE49-F238E27FC236}">
                <a16:creationId xmlns:a16="http://schemas.microsoft.com/office/drawing/2014/main" id="{CB109894-45BA-4EBA-B499-CC89E7E7D0F4}"/>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6" name="Text 4">
            <a:extLst xmlns:a="http://schemas.openxmlformats.org/drawingml/2006/main">
              <a:ext uri="{FF2B5EF4-FFF2-40B4-BE49-F238E27FC236}">
                <a16:creationId xmlns:a16="http://schemas.microsoft.com/office/drawing/2014/main" id="{32CDE86F-5087-4A24-86D8-8F45FB78E0ED}"/>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7" name="Text 5">
            <a:extLst xmlns:a="http://schemas.openxmlformats.org/drawingml/2006/main">
              <a:ext uri="{FF2B5EF4-FFF2-40B4-BE49-F238E27FC236}">
                <a16:creationId xmlns:a16="http://schemas.microsoft.com/office/drawing/2014/main" id="{A356C05F-D687-433D-B365-365750EF57DB}"/>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12</a:t>
            </a:r>
            <a:endParaRPr sz="900"/>
          </a:p>
        </p:txBody>
      </p:sp>
      <p:pic>
        <p:nvPicPr>
          <p:cNvPr id="19" name="Image 0"/>
          <p:cNvPicPr>
            <a:picLocks xmlns:a="http://schemas.openxmlformats.org/drawingml/2006/main" noChangeAspect="1"/>
          </p:cNvPicPr>
          <p:nvPr/>
        </p:nvPicPr>
        <p:blipFill>
          <a:blip xmlns:r="http://schemas.openxmlformats.org/officeDocument/2006/relationships" xmlns:a="http://schemas.openxmlformats.org/drawingml/2006/main" r:embed="Rcb1a26a3178f400c"/>
          <a:srcRect xmlns:a="http://schemas.openxmlformats.org/drawingml/2006/main" l="0" t="0" r="0" b="0"/>
          <a:stretch xmlns:a="http://schemas.openxmlformats.org/drawingml/2006/main"/>
        </p:blipFill>
        <p:spPr>
          <a:xfrm xmlns:a="http://schemas.openxmlformats.org/drawingml/2006/main">
            <a:off x="640080" y="1097280"/>
            <a:ext cx="7863840" cy="4206240"/>
          </a:xfrm>
          <a:prstGeom xmlns:a="http://schemas.openxmlformats.org/drawingml/2006/main" prst="rect">
            <a:avLst/>
          </a:prstGeom>
        </p:spPr>
      </p:pic>
      <p:sp>
        <p:nvSpPr>
          <p:cNvPr id="10" name="Text 6">
            <a:extLst xmlns:a="http://schemas.openxmlformats.org/drawingml/2006/main">
              <a:ext uri="{FF2B5EF4-FFF2-40B4-BE49-F238E27FC236}">
                <a16:creationId xmlns:a16="http://schemas.microsoft.com/office/drawing/2014/main" id="{F50719EA-22BD-4D58-9A6C-A592AB835824}"/>
              </a:ext>
            </a:extLst>
          </p:cNvPr>
          <p:cNvSpPr>
            <a:spLocks xmlns:a="http://schemas.openxmlformats.org/drawingml/2006/main" noGrp="1"/>
          </p:cNvSpPr>
          <p:nvPr/>
        </p:nvSpPr>
        <p:spPr>
          <a:xfrm xmlns:a="http://schemas.openxmlformats.org/drawingml/2006/main">
            <a:off x="640080" y="5330952"/>
            <a:ext cx="7863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i="1">
                <a:solidFill>
                  <a:srgbClr val="7F7F7F"/>
                </a:solidFill>
                <a:latin typeface="Arial"/>
                <a:ea typeface="Arial"/>
                <a:cs typeface="Arial"/>
              </a:rPr>
              <a:t>All six oxidation-raising candidates stop at the same static pathway heuristic — a dataset-level trade-off, not causal proof of M–O blocking</a:t>
            </a:r>
            <a:endParaRPr sz="850"/>
          </a:p>
        </p:txBody>
      </p:sp>
      <p:sp>
        <p:nvSpPr>
          <p:cNvPr id="11" name="Text 7">
            <a:extLst xmlns:a="http://schemas.openxmlformats.org/drawingml/2006/main">
              <a:ext uri="{FF2B5EF4-FFF2-40B4-BE49-F238E27FC236}">
                <a16:creationId xmlns:a16="http://schemas.microsoft.com/office/drawing/2014/main" id="{03B783F9-3A8D-4BCE-85E7-38120843E580}"/>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cascade_seminar_oxidation_transport_47.csv (6/6 verified)</a:t>
            </a:r>
            <a:endParaRPr sz="750"/>
          </a:p>
        </p:txBody>
      </p:sp>
    </p:spTree>
    <p:extLst>
      <p:ext uri="{BB962C8B-B14F-4D97-AF65-F5344CB8AC3E}">
        <p14:creationId xmlns:p14="http://schemas.microsoft.com/office/powerpoint/2010/main" val="633022962"/>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32B9C52-1BB3-4387-AF1B-E85BB265D983}"/>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Decision model</a:t>
            </a:r>
            <a:endParaRPr sz="2800"/>
          </a:p>
        </p:txBody>
      </p:sp>
      <p:sp>
        <p:nvSpPr>
          <p:cNvPr id="3" name="Text 1">
            <a:extLst xmlns:a="http://schemas.openxmlformats.org/drawingml/2006/main">
              <a:ext uri="{FF2B5EF4-FFF2-40B4-BE49-F238E27FC236}">
                <a16:creationId xmlns:a16="http://schemas.microsoft.com/office/drawing/2014/main" id="{EB9671CE-F727-4643-BA3C-2382C74C9190}"/>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Conditional Pareto view within post-hoc G1–G4</a:t>
            </a:r>
            <a:endParaRPr sz="900"/>
          </a:p>
        </p:txBody>
      </p:sp>
      <p:sp>
        <p:nvSpPr>
          <p:cNvPr id="4" name="Shape 2">
            <a:extLst xmlns:a="http://schemas.openxmlformats.org/drawingml/2006/main">
              <a:ext uri="{FF2B5EF4-FFF2-40B4-BE49-F238E27FC236}">
                <a16:creationId xmlns:a16="http://schemas.microsoft.com/office/drawing/2014/main" id="{F8CE97B9-1620-412C-A583-A83D06059E8F}"/>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5" name="Text 3">
            <a:extLst xmlns:a="http://schemas.openxmlformats.org/drawingml/2006/main">
              <a:ext uri="{FF2B5EF4-FFF2-40B4-BE49-F238E27FC236}">
                <a16:creationId xmlns:a16="http://schemas.microsoft.com/office/drawing/2014/main" id="{EBA9338A-320A-4697-8FBD-ED98B2B292F9}"/>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6" name="Text 4">
            <a:extLst xmlns:a="http://schemas.openxmlformats.org/drawingml/2006/main">
              <a:ext uri="{FF2B5EF4-FFF2-40B4-BE49-F238E27FC236}">
                <a16:creationId xmlns:a16="http://schemas.microsoft.com/office/drawing/2014/main" id="{10AFC671-BECD-4DA2-AFBE-9A5900D134DF}"/>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7" name="Text 5">
            <a:extLst xmlns:a="http://schemas.openxmlformats.org/drawingml/2006/main">
              <a:ext uri="{FF2B5EF4-FFF2-40B4-BE49-F238E27FC236}">
                <a16:creationId xmlns:a16="http://schemas.microsoft.com/office/drawing/2014/main" id="{EFA103DD-36FC-4097-95F0-A00A3382DDF2}"/>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13</a:t>
            </a:r>
            <a:endParaRPr sz="900"/>
          </a:p>
        </p:txBody>
      </p:sp>
      <p:pic>
        <p:nvPicPr>
          <p:cNvPr id="19" name="Image 0"/>
          <p:cNvPicPr>
            <a:picLocks xmlns:a="http://schemas.openxmlformats.org/drawingml/2006/main" noChangeAspect="1"/>
          </p:cNvPicPr>
          <p:nvPr/>
        </p:nvPicPr>
        <p:blipFill>
          <a:blip xmlns:r="http://schemas.openxmlformats.org/officeDocument/2006/relationships" xmlns:a="http://schemas.openxmlformats.org/drawingml/2006/main" r:embed="Rcaba1eb4f69f4caf"/>
          <a:srcRect xmlns:a="http://schemas.openxmlformats.org/drawingml/2006/main" l="0" t="0" r="0" b="0"/>
          <a:stretch xmlns:a="http://schemas.openxmlformats.org/drawingml/2006/main"/>
        </p:blipFill>
        <p:spPr>
          <a:xfrm xmlns:a="http://schemas.openxmlformats.org/drawingml/2006/main">
            <a:off x="640080" y="1097280"/>
            <a:ext cx="7863840" cy="4206240"/>
          </a:xfrm>
          <a:prstGeom xmlns:a="http://schemas.openxmlformats.org/drawingml/2006/main" prst="rect">
            <a:avLst/>
          </a:prstGeom>
        </p:spPr>
      </p:pic>
      <p:sp>
        <p:nvSpPr>
          <p:cNvPr id="10" name="Text 6">
            <a:extLst xmlns:a="http://schemas.openxmlformats.org/drawingml/2006/main">
              <a:ext uri="{FF2B5EF4-FFF2-40B4-BE49-F238E27FC236}">
                <a16:creationId xmlns:a16="http://schemas.microsoft.com/office/drawing/2014/main" id="{4DBDD00B-1A30-411F-8618-4FF830FA557C}"/>
              </a:ext>
            </a:extLst>
          </p:cNvPr>
          <p:cNvSpPr>
            <a:spLocks xmlns:a="http://schemas.openxmlformats.org/drawingml/2006/main" noGrp="1"/>
          </p:cNvSpPr>
          <p:nvPr/>
        </p:nvSpPr>
        <p:spPr>
          <a:xfrm xmlns:a="http://schemas.openxmlformats.org/drawingml/2006/main">
            <a:off x="640080" y="5330952"/>
            <a:ext cx="786384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i="1">
                <a:solidFill>
                  <a:srgbClr val="7F7F7F"/>
                </a:solidFill>
                <a:latin typeface="Arial"/>
                <a:ea typeface="Arial"/>
                <a:cs typeface="Arial"/>
              </a:rPr>
              <a:t>Non-dominated set within the 11-member shortlist — axis-dependent, not a winner list</a:t>
            </a:r>
            <a:endParaRPr sz="850"/>
          </a:p>
        </p:txBody>
      </p:sp>
      <p:sp>
        <p:nvSpPr>
          <p:cNvPr id="11" name="Text 7">
            <a:extLst xmlns:a="http://schemas.openxmlformats.org/drawingml/2006/main">
              <a:ext uri="{FF2B5EF4-FFF2-40B4-BE49-F238E27FC236}">
                <a16:creationId xmlns:a16="http://schemas.microsoft.com/office/drawing/2014/main" id="{8ADC9EBB-CE13-41B5-A3E8-2F4BFC06F9DF}"/>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cascade_seminar_pareto_47.csv</a:t>
            </a:r>
            <a:endParaRPr sz="750"/>
          </a:p>
        </p:txBody>
      </p:sp>
    </p:spTree>
    <p:extLst>
      <p:ext uri="{BB962C8B-B14F-4D97-AF65-F5344CB8AC3E}">
        <p14:creationId xmlns:p14="http://schemas.microsoft.com/office/powerpoint/2010/main" val="16440330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A87800D-5A13-4EA6-B465-DF267A0A5580}"/>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Decision model</a:t>
            </a:r>
            <a:endParaRPr sz="2800"/>
          </a:p>
        </p:txBody>
      </p:sp>
      <p:sp>
        <p:nvSpPr>
          <p:cNvPr id="3" name="Text 1">
            <a:extLst xmlns:a="http://schemas.openxmlformats.org/drawingml/2006/main">
              <a:ext uri="{FF2B5EF4-FFF2-40B4-BE49-F238E27FC236}">
                <a16:creationId xmlns:a16="http://schemas.microsoft.com/office/drawing/2014/main" id="{4256D411-9E7A-4DC6-82F9-4E5CF45012AD}"/>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i="1">
                <a:solidFill>
                  <a:srgbClr val="7F7F7F"/>
                </a:solidFill>
                <a:latin typeface="Arial"/>
                <a:ea typeface="Arial"/>
                <a:cs typeface="Arial"/>
              </a:rPr>
              <a:t>One snapshot, different deployment questions</a:t>
            </a:r>
            <a:endParaRPr sz="900"/>
          </a:p>
        </p:txBody>
      </p:sp>
      <p:sp>
        <p:nvSpPr>
          <p:cNvPr id="4" name="Shape 2">
            <a:extLst xmlns:a="http://schemas.openxmlformats.org/drawingml/2006/main">
              <a:ext uri="{FF2B5EF4-FFF2-40B4-BE49-F238E27FC236}">
                <a16:creationId xmlns:a16="http://schemas.microsoft.com/office/drawing/2014/main" id="{ED2A53B9-7946-4377-AD07-40C10763B716}"/>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5" name="Shape 3">
            <a:extLst xmlns:a="http://schemas.openxmlformats.org/drawingml/2006/main">
              <a:ext uri="{FF2B5EF4-FFF2-40B4-BE49-F238E27FC236}">
                <a16:creationId xmlns:a16="http://schemas.microsoft.com/office/drawing/2014/main" id="{A102A066-869F-4DA8-B506-2ED7A927EA39}"/>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9AB128C8-BC81-43FD-8639-306708AC992E}"/>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2626"/>
                </a:solidFill>
                <a:latin typeface="Arial"/>
                <a:ea typeface="Arial"/>
                <a:cs typeface="Arial"/>
              </a:rPr>
              <a:t>Each question inherits a different evidence level</a:t>
            </a:r>
            <a:endParaRPr sz="1400"/>
          </a:p>
        </p:txBody>
      </p:sp>
      <p:sp>
        <p:nvSpPr>
          <p:cNvPr id="7" name="Text 5">
            <a:extLst xmlns:a="http://schemas.openxmlformats.org/drawingml/2006/main">
              <a:ext uri="{FF2B5EF4-FFF2-40B4-BE49-F238E27FC236}">
                <a16:creationId xmlns:a16="http://schemas.microsoft.com/office/drawing/2014/main" id="{AD497752-B136-4A9C-901F-2EEBB9116463}"/>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598E4131-D6E4-4F5D-AAF3-91D24D2BB249}"/>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3532B610-BDEE-4467-AADE-076483E89706}"/>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14</a:t>
            </a:r>
            <a:endParaRPr sz="900"/>
          </a:p>
        </p:txBody>
      </p:sp>
      <p:graphicFrame>
        <p:nvGraphicFramePr>
          <p:cNvPr id="23" name="Table 0"/>
          <p:cNvGraphicFramePr/>
          <p:nvPr/>
        </p:nvGraphicFramePr>
        <p:xfrm>
          <a:off xmlns:a="http://schemas.openxmlformats.org/drawingml/2006/main" x="548640" y="1554480"/>
          <a:ext xmlns:a="http://schemas.openxmlformats.org/drawingml/2006/main" cx="8046720" cy="914400"/>
        </p:xfrm>
        <a:graphic xmlns:a="http://schemas.openxmlformats.org/drawingml/2006/main">
          <a:graphicData uri="http://schemas.openxmlformats.org/drawingml/2006/table">
            <a:tbl>
              <a:tblPr/>
              <a:tblGrid>
                <a:gridCol w="2103120"/>
                <a:gridCol w="2468880"/>
                <a:gridCol w="2011680"/>
                <a:gridCol w="1463040"/>
              </a:tblGrid>
              <a:tr h="566928">
                <a:tc>
                  <a:txBody>
                    <a:bodyPr wrap="square">
                      <a:normAutofit/>
                    </a:bodyPr>
                    <a:lstStyle/>
                    <a:p>
                      <a:pPr marL="0" indent="0" algn="ctr">
                        <a:buNone/>
                      </a:pPr>
                      <a:r>
                        <a:rPr sz="1088" b="1">
                          <a:solidFill>
                            <a:srgbClr val="FFFFFF"/>
                          </a:solidFill>
                          <a:latin typeface="Arial"/>
                          <a:ea typeface="Arial"/>
                          <a:cs typeface="Arial"/>
                        </a:rPr>
                        <a:t>Deployment question</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88" b="1">
                          <a:solidFill>
                            <a:srgbClr val="FFFFFF"/>
                          </a:solidFill>
                          <a:latin typeface="Arial"/>
                          <a:ea typeface="Arial"/>
                          <a:cs typeface="Arial"/>
                        </a:rPr>
                        <a:t>Axes consulted</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88" b="1">
                          <a:solidFill>
                            <a:srgbClr val="FFFFFF"/>
                          </a:solidFill>
                          <a:latin typeface="Arial"/>
                          <a:ea typeface="Arial"/>
                          <a:cs typeface="Arial"/>
                        </a:rPr>
                        <a:t>Examples to follow up</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88" b="1">
                          <a:solidFill>
                            <a:srgbClr val="FFFFFF"/>
                          </a:solidFill>
                          <a:latin typeface="Arial"/>
                          <a:ea typeface="Arial"/>
                          <a:cs typeface="Arial"/>
                        </a:rPr>
                        <a:t>Evidence / caveat</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r>
              <a:tr h="566928">
                <a:tc>
                  <a:txBody>
                    <a:bodyPr wrap="square">
                      <a:normAutofit/>
                    </a:bodyPr>
                    <a:lstStyle/>
                    <a:p>
                      <a:pPr marL="0" indent="0" algn="l">
                        <a:buNone/>
                      </a:pPr>
                      <a:r>
                        <a:rPr sz="1050" b="0">
                          <a:solidFill>
                            <a:srgbClr val="262626"/>
                          </a:solidFill>
                          <a:latin typeface="Arial"/>
                          <a:ea typeface="Arial"/>
                          <a:cs typeface="Arial"/>
                        </a:rPr>
                        <a:t>High-voltage cathode?</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Vox · ESW window</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B₂O₃ · Cr₂O₃ · Ga₂O₃ · In₂O₃ · Sc₂O₃ · Y₂O₃</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MP-derived grand-potential; dataset trade-off, not causality</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566928">
                <a:tc>
                  <a:txBody>
                    <a:bodyPr wrap="square">
                      <a:normAutofit/>
                    </a:bodyPr>
                    <a:lstStyle/>
                    <a:p>
                      <a:pPr marL="0" indent="0" algn="l">
                        <a:buNone/>
                      </a:pPr>
                      <a:r>
                        <a:rPr sz="1050" b="0">
                          <a:solidFill>
                            <a:srgbClr val="262626"/>
                          </a:solidFill>
                          <a:latin typeface="Arial"/>
                          <a:ea typeface="Arial"/>
                          <a:cs typeface="Arial"/>
                        </a:rPr>
                        <a:t>Moisture response?</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T11 ΔE_H2S · Zhu ΔG_hyd · raw HSAB</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Cu₂O · ZnO · Ag₂O · In₂O₃ · SnO₂</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35/47 literature proxy; not doped-LPSCl air stability</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566928">
                <a:tc>
                  <a:txBody>
                    <a:bodyPr wrap="square">
                      <a:normAutofit/>
                    </a:bodyPr>
                    <a:lstStyle/>
                    <a:p>
                      <a:pPr marL="0" indent="0" algn="l">
                        <a:buNone/>
                      </a:pPr>
                      <a:r>
                        <a:rPr sz="1050" b="0">
                          <a:solidFill>
                            <a:srgbClr val="262626"/>
                          </a:solidFill>
                          <a:latin typeface="Arial"/>
                          <a:ea typeface="Arial"/>
                          <a:cs typeface="Arial"/>
                        </a:rPr>
                        <a:t>Cheap + light?</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cost tier · mass/cation</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Al₂O₃ · CaO · SiO₂ · MgO · MgF₂</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Qualitative tier; never market price or Wh kg⁻¹</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566928">
                <a:tc>
                  <a:txBody>
                    <a:bodyPr wrap="square">
                      <a:normAutofit/>
                    </a:bodyPr>
                    <a:lstStyle/>
                    <a:p>
                      <a:pPr marL="0" indent="0" algn="l">
                        <a:buNone/>
                      </a:pPr>
                      <a:r>
                        <a:rPr sz="1050" b="0">
                          <a:solidFill>
                            <a:srgbClr val="262626"/>
                          </a:solidFill>
                          <a:latin typeface="Arial"/>
                          <a:ea typeface="Arial"/>
                          <a:cs typeface="Arial"/>
                        </a:rPr>
                        <a:t>Stable across labels?</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BVS drift across x002/x005/x010</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CaF₂ · ScF₃ · AlF₃ · HfO₂ · Nd₂O₃</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Nominal labels; actual stoichiometry unresolved</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bl>
          </a:graphicData>
        </a:graphic>
      </p:graphicFrame>
      <p:sp>
        <p:nvSpPr>
          <p:cNvPr id="12" name="Text 8">
            <a:extLst xmlns:a="http://schemas.openxmlformats.org/drawingml/2006/main">
              <a:ext uri="{FF2B5EF4-FFF2-40B4-BE49-F238E27FC236}">
                <a16:creationId xmlns:a16="http://schemas.microsoft.com/office/drawing/2014/main" id="{CB840DBF-28CD-4B45-85B0-72CAE4A7DAD7}"/>
              </a:ext>
            </a:extLst>
          </p:cNvPr>
          <p:cNvSpPr>
            <a:spLocks xmlns:a="http://schemas.openxmlformats.org/drawingml/2006/main" noGrp="1"/>
          </p:cNvSpPr>
          <p:nvPr/>
        </p:nvSpPr>
        <p:spPr>
          <a:xfrm xmlns:a="http://schemas.openxmlformats.org/drawingml/2006/main">
            <a:off x="548640" y="489204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38" b="1">
                <a:solidFill>
                  <a:srgbClr val="1F4E79"/>
                </a:solidFill>
                <a:latin typeface="Arial"/>
                <a:ea typeface="Arial"/>
                <a:cs typeface="Arial"/>
              </a:rPr>
              <a:t>Air, cost, mass, and campaign-label axes are descriptive; none is an additional rejection gate.</a:t>
            </a:r>
            <a:endParaRPr sz="1250"/>
          </a:p>
        </p:txBody>
      </p:sp>
      <p:sp>
        <p:nvSpPr>
          <p:cNvPr id="13" name="Text 9">
            <a:extLst xmlns:a="http://schemas.openxmlformats.org/drawingml/2006/main">
              <a:ext uri="{FF2B5EF4-FFF2-40B4-BE49-F238E27FC236}">
                <a16:creationId xmlns:a16="http://schemas.microsoft.com/office/drawing/2014/main" id="{C93C0A6A-004B-4511-A958-2AC5B75BFFDC}"/>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themes.json · scorecard_47.csv · air_axis_lit_vs_tier.csv</a:t>
            </a:r>
            <a:endParaRPr sz="750"/>
          </a:p>
        </p:txBody>
      </p:sp>
    </p:spTree>
    <p:extLst>
      <p:ext uri="{BB962C8B-B14F-4D97-AF65-F5344CB8AC3E}">
        <p14:creationId xmlns:p14="http://schemas.microsoft.com/office/powerpoint/2010/main" val="106840349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8A87800D-5A13-4EA6-B465-DF267A0A5580}"/>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Decision model</a:t>
            </a:r>
            <a:endParaRPr sz="2800"/>
          </a:p>
        </p:txBody>
      </p:sp>
      <p:sp>
        <p:nvSpPr>
          <p:cNvPr id="3" name="Text 1">
            <a:extLst xmlns:a="http://schemas.openxmlformats.org/drawingml/2006/main">
              <a:ext uri="{FF2B5EF4-FFF2-40B4-BE49-F238E27FC236}">
                <a16:creationId xmlns:a16="http://schemas.microsoft.com/office/drawing/2014/main" id="{4256D411-9E7A-4DC6-82F9-4E5CF45012AD}"/>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i="1">
                <a:solidFill>
                  <a:srgbClr val="7F7F7F"/>
                </a:solidFill>
                <a:latin typeface="Arial"/>
                <a:ea typeface="Arial"/>
                <a:cs typeface="Arial"/>
              </a:rPr>
              <a:t>Four concrete deployment trade-offs</a:t>
            </a:r>
            <a:endParaRPr sz="900"/>
          </a:p>
        </p:txBody>
      </p:sp>
      <p:sp>
        <p:nvSpPr>
          <p:cNvPr id="4" name="Shape 2">
            <a:extLst xmlns:a="http://schemas.openxmlformats.org/drawingml/2006/main">
              <a:ext uri="{FF2B5EF4-FFF2-40B4-BE49-F238E27FC236}">
                <a16:creationId xmlns:a16="http://schemas.microsoft.com/office/drawing/2014/main" id="{ED2A53B9-7946-4377-AD07-40C10763B716}"/>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5" name="Shape 3">
            <a:extLst xmlns:a="http://schemas.openxmlformats.org/drawingml/2006/main">
              <a:ext uri="{FF2B5EF4-FFF2-40B4-BE49-F238E27FC236}">
                <a16:creationId xmlns:a16="http://schemas.microsoft.com/office/drawing/2014/main" id="{A102A066-869F-4DA8-B506-2ED7A927EA39}"/>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9AB128C8-BC81-43FD-8639-306708AC992E}"/>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2626"/>
                </a:solidFill>
                <a:latin typeface="Arial"/>
                <a:ea typeface="Arial"/>
                <a:cs typeface="Arial"/>
              </a:rPr>
              <a:t>The G4 endpoint changes when handling and scale-up axes enter</a:t>
            </a:r>
            <a:endParaRPr sz="1400"/>
          </a:p>
        </p:txBody>
      </p:sp>
      <p:sp>
        <p:nvSpPr>
          <p:cNvPr id="7" name="Text 5">
            <a:extLst xmlns:a="http://schemas.openxmlformats.org/drawingml/2006/main">
              <a:ext uri="{FF2B5EF4-FFF2-40B4-BE49-F238E27FC236}">
                <a16:creationId xmlns:a16="http://schemas.microsoft.com/office/drawing/2014/main" id="{AD497752-B136-4A9C-901F-2EEBB9116463}"/>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598E4131-D6E4-4F5D-AAF3-91D24D2BB249}"/>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3532B610-BDEE-4467-AADE-076483E89706}"/>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15</a:t>
            </a:r>
            <a:endParaRPr sz="900"/>
          </a:p>
        </p:txBody>
      </p:sp>
      <p:graphicFrame>
        <p:nvGraphicFramePr>
          <p:cNvPr id="23" name="Table 0"/>
          <p:cNvGraphicFramePr/>
          <p:nvPr/>
        </p:nvGraphicFramePr>
        <p:xfrm>
          <a:off xmlns:a="http://schemas.openxmlformats.org/drawingml/2006/main" x="548640" y="1554480"/>
          <a:ext xmlns:a="http://schemas.openxmlformats.org/drawingml/2006/main" cx="8046720" cy="914400"/>
        </p:xfrm>
        <a:graphic xmlns:a="http://schemas.openxmlformats.org/drawingml/2006/main">
          <a:graphicData uri="http://schemas.openxmlformats.org/drawingml/2006/table">
            <a:tbl>
              <a:tblPr/>
              <a:tblGrid>
                <a:gridCol w="2103120"/>
                <a:gridCol w="2468880"/>
                <a:gridCol w="2011680"/>
                <a:gridCol w="1463040"/>
              </a:tblGrid>
              <a:tr h="566928">
                <a:tc>
                  <a:txBody>
                    <a:bodyPr wrap="square">
                      <a:normAutofit/>
                    </a:bodyPr>
                    <a:lstStyle/>
                    <a:p>
                      <a:pPr marL="0" indent="0" algn="ctr">
                        <a:buNone/>
                      </a:pPr>
                      <a:r>
                        <a:rPr sz="1088" b="1">
                          <a:solidFill>
                            <a:srgbClr val="FFFFFF"/>
                          </a:solidFill>
                          <a:latin typeface="Arial"/>
                          <a:ea typeface="Arial"/>
                          <a:cs typeface="Arial"/>
                        </a:rPr>
                        <a:t>Candidate</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88" b="1">
                          <a:solidFill>
                            <a:srgbClr val="FFFFFF"/>
                          </a:solidFill>
                          <a:latin typeface="Arial"/>
                          <a:ea typeface="Arial"/>
                          <a:cs typeface="Arial"/>
                        </a:rPr>
                        <a:t>What looks favorable</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88" b="1">
                          <a:solidFill>
                            <a:srgbClr val="FFFFFF"/>
                          </a:solidFill>
                          <a:latin typeface="Arial"/>
                          <a:ea typeface="Arial"/>
                          <a:cs typeface="Arial"/>
                        </a:rPr>
                        <a:t>What changes the decision</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88" b="1">
                          <a:solidFill>
                            <a:srgbClr val="FFFFFF"/>
                          </a:solidFill>
                          <a:latin typeface="Arial"/>
                          <a:ea typeface="Arial"/>
                          <a:cs typeface="Arial"/>
                        </a:rPr>
                        <a:t>Evidence</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r>
              <a:tr h="566928">
                <a:tc>
                  <a:txBody>
                    <a:bodyPr wrap="square">
                      <a:normAutofit/>
                    </a:bodyPr>
                    <a:lstStyle/>
                    <a:p>
                      <a:pPr marL="0" indent="0" algn="l">
                        <a:buNone/>
                      </a:pPr>
                      <a:r>
                        <a:rPr sz="1050" b="0">
                          <a:solidFill>
                            <a:srgbClr val="262626"/>
                          </a:solidFill>
                          <a:latin typeface="Arial"/>
                          <a:ea typeface="Arial"/>
                          <a:cs typeface="Arial"/>
                        </a:rPr>
                        <a:t>LiF</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G4 retained · ΔE_H2S = 0</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No kinetics or coating-lifetime validation</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STATIC / MP-THERMO</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566928">
                <a:tc>
                  <a:txBody>
                    <a:bodyPr wrap="square">
                      <a:normAutofit/>
                    </a:bodyPr>
                    <a:lstStyle/>
                    <a:p>
                      <a:pPr marL="0" indent="0" algn="l">
                        <a:buNone/>
                      </a:pPr>
                      <a:r>
                        <a:rPr sz="1050" b="0">
                          <a:solidFill>
                            <a:srgbClr val="262626"/>
                          </a:solidFill>
                          <a:latin typeface="Arial"/>
                          <a:ea typeface="Arial"/>
                          <a:cs typeface="Arial"/>
                        </a:rPr>
                        <a:t>MgO</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G4 retained · cost tier 1 · light</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ΔE_H2S = −19.2; ΔE_LPSCl = −74.3 meV atom⁻¹</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CURATED / STATIC</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566928">
                <a:tc>
                  <a:txBody>
                    <a:bodyPr wrap="square">
                      <a:normAutofit/>
                    </a:bodyPr>
                    <a:lstStyle/>
                    <a:p>
                      <a:pPr marL="0" indent="0" algn="l">
                        <a:buNone/>
                      </a:pPr>
                      <a:r>
                        <a:rPr sz="1050" b="0">
                          <a:solidFill>
                            <a:srgbClr val="262626"/>
                          </a:solidFill>
                          <a:latin typeface="Arial"/>
                          <a:ea typeface="Arial"/>
                          <a:cs typeface="Arial"/>
                        </a:rPr>
                        <a:t>CaO</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G4 retained · cost tier 1 · light</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ΔE_H2S = −74.3; ΔE_LPSCl = −253.3 meV atom⁻¹</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50" b="0">
                          <a:solidFill>
                            <a:srgbClr val="262626"/>
                          </a:solidFill>
                          <a:latin typeface="Arial"/>
                          <a:ea typeface="Arial"/>
                          <a:cs typeface="Arial"/>
                        </a:rPr>
                        <a:t>CURATED / STATIC</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566928">
                <a:tc>
                  <a:txBody>
                    <a:bodyPr wrap="square">
                      <a:normAutofit/>
                    </a:bodyPr>
                    <a:lstStyle/>
                    <a:p>
                      <a:pPr marL="0" indent="0" algn="l">
                        <a:buNone/>
                      </a:pPr>
                      <a:r>
                        <a:rPr sz="1050" b="0">
                          <a:solidFill>
                            <a:srgbClr val="262626"/>
                          </a:solidFill>
                          <a:latin typeface="Arial"/>
                          <a:ea typeface="Arial"/>
                          <a:cs typeface="Arial"/>
                        </a:rPr>
                        <a:t>Cu₂O</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ΔG_hyd,lit = +1.267 eV H₂O⁻¹</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Stops at G3; ΔE_LPSCl = −340.9 meV atom⁻¹</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50" b="0">
                          <a:solidFill>
                            <a:srgbClr val="262626"/>
                          </a:solidFill>
                          <a:latin typeface="Arial"/>
                          <a:ea typeface="Arial"/>
                          <a:cs typeface="Arial"/>
                        </a:rPr>
                        <a:t>LITERATURE / MP-THERMO</a:t>
                      </a:r>
                      <a:endParaRPr sz="950">
                        <a:latin typeface="Arial"/>
                        <a:ea typeface="Arial"/>
                        <a:cs typeface="Arial"/>
                      </a:endParaRPr>
                    </a:p>
                  </a:txBody>
                  <a:tcPr marL="45720" marR="45720" marT="45720" marB="45720"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bl>
          </a:graphicData>
        </a:graphic>
      </p:graphicFrame>
      <p:sp>
        <p:nvSpPr>
          <p:cNvPr id="12" name="Text 8">
            <a:extLst xmlns:a="http://schemas.openxmlformats.org/drawingml/2006/main">
              <a:ext uri="{FF2B5EF4-FFF2-40B4-BE49-F238E27FC236}">
                <a16:creationId xmlns:a16="http://schemas.microsoft.com/office/drawing/2014/main" id="{CB840DBF-28CD-4B45-85B0-72CAE4A7DAD7}"/>
              </a:ext>
            </a:extLst>
          </p:cNvPr>
          <p:cNvSpPr>
            <a:spLocks xmlns:a="http://schemas.openxmlformats.org/drawingml/2006/main" noGrp="1"/>
          </p:cNvSpPr>
          <p:nvPr/>
        </p:nvSpPr>
        <p:spPr>
          <a:xfrm xmlns:a="http://schemas.openxmlformats.org/drawingml/2006/main">
            <a:off x="548640" y="489204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38" b="1">
                <a:solidFill>
                  <a:srgbClr val="1F4E79"/>
                </a:solidFill>
                <a:latin typeface="Arial"/>
                <a:ea typeface="Arial"/>
                <a:cs typeface="Arial"/>
              </a:rPr>
              <a:t>Triage flags only — not validated coating lifetimes, kinetics, or universal winners.</a:t>
            </a:r>
            <a:endParaRPr sz="1250"/>
          </a:p>
        </p:txBody>
      </p:sp>
      <p:sp>
        <p:nvSpPr>
          <p:cNvPr id="13" name="Text 9">
            <a:extLst xmlns:a="http://schemas.openxmlformats.org/drawingml/2006/main">
              <a:ext uri="{FF2B5EF4-FFF2-40B4-BE49-F238E27FC236}">
                <a16:creationId xmlns:a16="http://schemas.microsoft.com/office/drawing/2014/main" id="{C93C0A6A-004B-4511-A958-2AC5B75BFFDC}"/>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stability_axes.csv · themes.json · scorecard_47.csv</a:t>
            </a:r>
            <a:endParaRPr sz="750"/>
          </a:p>
        </p:txBody>
      </p:sp>
    </p:spTree>
    <p:extLst>
      <p:ext uri="{BB962C8B-B14F-4D97-AF65-F5344CB8AC3E}">
        <p14:creationId xmlns:p14="http://schemas.microsoft.com/office/powerpoint/2010/main" val="1068403495"/>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94B2862-B88D-47A7-97A1-6CE11E7847BD}"/>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Robustness</a:t>
            </a:r>
            <a:endParaRPr sz="2800"/>
          </a:p>
        </p:txBody>
      </p:sp>
      <p:sp>
        <p:nvSpPr>
          <p:cNvPr id="3" name="Text 1">
            <a:extLst xmlns:a="http://schemas.openxmlformats.org/drawingml/2006/main">
              <a:ext uri="{FF2B5EF4-FFF2-40B4-BE49-F238E27FC236}">
                <a16:creationId xmlns:a16="http://schemas.microsoft.com/office/drawing/2014/main" id="{9F9099B3-BB2D-431A-AFC8-8BE3F279CCAC}"/>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All 5! = 120 gate orders enumerated</a:t>
            </a:r>
            <a:endParaRPr sz="900"/>
          </a:p>
        </p:txBody>
      </p:sp>
      <p:sp>
        <p:nvSpPr>
          <p:cNvPr id="4" name="Shape 2">
            <a:extLst xmlns:a="http://schemas.openxmlformats.org/drawingml/2006/main">
              <a:ext uri="{FF2B5EF4-FFF2-40B4-BE49-F238E27FC236}">
                <a16:creationId xmlns:a16="http://schemas.microsoft.com/office/drawing/2014/main" id="{69776153-7F3B-4F2F-A9FB-01BE9A8EA645}"/>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5" name="Shape 3">
            <a:extLst xmlns:a="http://schemas.openxmlformats.org/drawingml/2006/main">
              <a:ext uri="{FF2B5EF4-FFF2-40B4-BE49-F238E27FC236}">
                <a16:creationId xmlns:a16="http://schemas.microsoft.com/office/drawing/2014/main" id="{B7D329D8-2580-4392-8F6C-4805F20A8329}"/>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2718254C-18AA-4DE2-BCFD-5DFA76A40C77}"/>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Gate order changes the story, not the terminal intersection</a:t>
            </a:r>
            <a:endParaRPr sz="1400"/>
          </a:p>
        </p:txBody>
      </p:sp>
      <p:sp>
        <p:nvSpPr>
          <p:cNvPr id="7" name="Text 5">
            <a:extLst xmlns:a="http://schemas.openxmlformats.org/drawingml/2006/main">
              <a:ext uri="{FF2B5EF4-FFF2-40B4-BE49-F238E27FC236}">
                <a16:creationId xmlns:a16="http://schemas.microsoft.com/office/drawing/2014/main" id="{43B91E89-C154-4A18-B97C-EFA3B81E28F1}"/>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0BA01EB0-045E-47C0-B5D6-E5BD3358E8C6}"/>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5B9B7244-628F-4963-9D2F-E7BFD232510D}"/>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16</a:t>
            </a:r>
            <a:endParaRPr sz="900"/>
          </a:p>
        </p:txBody>
      </p:sp>
      <p:sp>
        <p:nvSpPr>
          <p:cNvPr id="11" name="Shape 8">
            <a:extLst xmlns:a="http://schemas.openxmlformats.org/drawingml/2006/main">
              <a:ext uri="{FF2B5EF4-FFF2-40B4-BE49-F238E27FC236}">
                <a16:creationId xmlns:a16="http://schemas.microsoft.com/office/drawing/2014/main" id="{F5FAF300-2EC8-4AD0-A33F-064A8595D23E}"/>
              </a:ext>
            </a:extLst>
          </p:cNvPr>
          <p:cNvSpPr>
            <a:spLocks xmlns:a="http://schemas.openxmlformats.org/drawingml/2006/main" noGrp="1"/>
          </p:cNvSpPr>
          <p:nvPr/>
        </p:nvSpPr>
        <p:spPr>
          <a:xfrm xmlns:a="http://schemas.openxmlformats.org/drawingml/2006/main">
            <a:off x="731520" y="1737360"/>
            <a:ext cx="7680960" cy="914400"/>
          </a:xfrm>
          <a:prstGeom xmlns:a="http://schemas.openxmlformats.org/drawingml/2006/main" prst="roundRect">
            <a:avLst>
              <a:gd name="adj" fmla="val 7000"/>
            </a:avLst>
          </a:prstGeom>
          <a:solidFill xmlns:a="http://schemas.openxmlformats.org/drawingml/2006/main">
            <a:srgbClr val="D9E1F2"/>
          </a:solidFill>
          <a:ln xmlns:a="http://schemas.openxmlformats.org/drawingml/2006/main" w="12700">
            <a:solidFill>
              <a:srgbClr val="1F4E79"/>
            </a:solidFill>
            <a:prstDash val="solid"/>
          </a:ln>
        </p:spPr>
      </p:sp>
      <p:sp>
        <p:nvSpPr>
          <p:cNvPr id="12" name="Text 9">
            <a:extLst xmlns:a="http://schemas.openxmlformats.org/drawingml/2006/main">
              <a:ext uri="{FF2B5EF4-FFF2-40B4-BE49-F238E27FC236}">
                <a16:creationId xmlns:a16="http://schemas.microsoft.com/office/drawing/2014/main" id="{218BFF0A-D9D8-4D5A-ADBC-20103D3DB528}"/>
              </a:ext>
            </a:extLst>
          </p:cNvPr>
          <p:cNvSpPr>
            <a:spLocks xmlns:a="http://schemas.openxmlformats.org/drawingml/2006/main" noGrp="1"/>
          </p:cNvSpPr>
          <p:nvPr/>
        </p:nvSpPr>
        <p:spPr>
          <a:xfrm xmlns:a="http://schemas.openxmlformats.org/drawingml/2006/main">
            <a:off x="914400" y="1965960"/>
            <a:ext cx="7315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1F4E79"/>
                </a:solidFill>
                <a:latin typeface="Arial"/>
                <a:ea typeface="Arial"/>
                <a:cs typeface="Arial"/>
              </a:rPr>
              <a:t>G1 → G2 → G3 → G4 → G5      </a:t>
            </a:r>
            <a:r>
              <a:rPr sz="1200">
                <a:solidFill>
                  <a:srgbClr val="262626"/>
                </a:solidFill>
                <a:latin typeface="Arial"/>
                <a:ea typeface="Arial"/>
                <a:cs typeface="Arial"/>
              </a:rPr>
              <a:t>47 → 47 → 43 → 25 → 11 → 1</a:t>
            </a:r>
            <a:endParaRPr sz="1200"/>
          </a:p>
        </p:txBody>
      </p:sp>
      <p:sp>
        <p:nvSpPr>
          <p:cNvPr id="13" name="Shape 10">
            <a:extLst xmlns:a="http://schemas.openxmlformats.org/drawingml/2006/main">
              <a:ext uri="{FF2B5EF4-FFF2-40B4-BE49-F238E27FC236}">
                <a16:creationId xmlns:a16="http://schemas.microsoft.com/office/drawing/2014/main" id="{DCDC4D16-0B8E-45C1-9594-51C47A53CD8B}"/>
              </a:ext>
            </a:extLst>
          </p:cNvPr>
          <p:cNvSpPr>
            <a:spLocks xmlns:a="http://schemas.openxmlformats.org/drawingml/2006/main" noGrp="1"/>
          </p:cNvSpPr>
          <p:nvPr/>
        </p:nvSpPr>
        <p:spPr>
          <a:xfrm xmlns:a="http://schemas.openxmlformats.org/drawingml/2006/main">
            <a:off x="731520" y="2834640"/>
            <a:ext cx="7680960" cy="914400"/>
          </a:xfrm>
          <a:prstGeom xmlns:a="http://schemas.openxmlformats.org/drawingml/2006/main" prst="roundRect">
            <a:avLst>
              <a:gd name="adj" fmla="val 7000"/>
            </a:avLst>
          </a:prstGeom>
          <a:solidFill xmlns:a="http://schemas.openxmlformats.org/drawingml/2006/main">
            <a:srgbClr val="F2F2F2"/>
          </a:solidFill>
          <a:ln xmlns:a="http://schemas.openxmlformats.org/drawingml/2006/main" w="12700">
            <a:solidFill>
              <a:srgbClr val="BFBFBF"/>
            </a:solidFill>
            <a:prstDash val="solid"/>
          </a:ln>
        </p:spPr>
      </p:sp>
      <p:sp>
        <p:nvSpPr>
          <p:cNvPr id="14" name="Text 11">
            <a:extLst xmlns:a="http://schemas.openxmlformats.org/drawingml/2006/main">
              <a:ext uri="{FF2B5EF4-FFF2-40B4-BE49-F238E27FC236}">
                <a16:creationId xmlns:a16="http://schemas.microsoft.com/office/drawing/2014/main" id="{6EBA6E04-8A9B-483D-8BAB-FA4C123BF31A}"/>
              </a:ext>
            </a:extLst>
          </p:cNvPr>
          <p:cNvSpPr>
            <a:spLocks xmlns:a="http://schemas.openxmlformats.org/drawingml/2006/main" noGrp="1"/>
          </p:cNvSpPr>
          <p:nvPr/>
        </p:nvSpPr>
        <p:spPr>
          <a:xfrm xmlns:a="http://schemas.openxmlformats.org/drawingml/2006/main">
            <a:off x="914400" y="3063240"/>
            <a:ext cx="7315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7F7F7F"/>
                </a:solidFill>
                <a:latin typeface="Arial"/>
                <a:ea typeface="Arial"/>
                <a:cs typeface="Arial"/>
              </a:rPr>
              <a:t>G1 → G3 → G2 → G5 → G4      </a:t>
            </a:r>
            <a:r>
              <a:rPr sz="1200">
                <a:solidFill>
                  <a:srgbClr val="262626"/>
                </a:solidFill>
                <a:latin typeface="Arial"/>
                <a:ea typeface="Arial"/>
                <a:cs typeface="Arial"/>
              </a:rPr>
              <a:t>47 → 47 → 25 → 25 → 7 → 1</a:t>
            </a:r>
            <a:endParaRPr sz="1200"/>
          </a:p>
        </p:txBody>
      </p:sp>
      <p:sp>
        <p:nvSpPr>
          <p:cNvPr id="15" name="Text 12">
            <a:extLst xmlns:a="http://schemas.openxmlformats.org/drawingml/2006/main">
              <a:ext uri="{FF2B5EF4-FFF2-40B4-BE49-F238E27FC236}">
                <a16:creationId xmlns:a16="http://schemas.microsoft.com/office/drawing/2014/main" id="{FA8C518D-FF76-4F18-8AA5-9FEC53F0FF80}"/>
              </a:ext>
            </a:extLst>
          </p:cNvPr>
          <p:cNvSpPr>
            <a:spLocks xmlns:a="http://schemas.openxmlformats.org/drawingml/2006/main" noGrp="1"/>
          </p:cNvSpPr>
          <p:nvPr/>
        </p:nvSpPr>
        <p:spPr>
          <a:xfrm xmlns:a="http://schemas.openxmlformats.org/drawingml/2006/main">
            <a:off x="731520" y="4023360"/>
            <a:ext cx="76809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1F4E79"/>
                </a:solidFill>
                <a:latin typeface="Arial"/>
                <a:ea typeface="Arial"/>
                <a:cs typeface="Arial"/>
              </a:rPr>
              <a:t>120 / 120</a:t>
            </a:r>
            <a:r>
              <a:rPr sz="1100">
                <a:solidFill>
                  <a:srgbClr val="262626"/>
                </a:solidFill>
                <a:latin typeface="Arial"/>
                <a:ea typeface="Arial"/>
                <a:cs typeface="Arial"/>
              </a:rPr>
              <a:t>  gate permutations tested — terminal set invariant; intermediate attribution order-dependent</a:t>
            </a:r>
            <a:endParaRPr sz="2200"/>
          </a:p>
        </p:txBody>
      </p:sp>
      <p:sp>
        <p:nvSpPr>
          <p:cNvPr id="16" name="Text 13">
            <a:extLst xmlns:a="http://schemas.openxmlformats.org/drawingml/2006/main">
              <a:ext uri="{FF2B5EF4-FFF2-40B4-BE49-F238E27FC236}">
                <a16:creationId xmlns:a16="http://schemas.microsoft.com/office/drawing/2014/main" id="{7E0F7D1B-4B95-4150-AE00-24B271B77752}"/>
              </a:ext>
            </a:extLst>
          </p:cNvPr>
          <p:cNvSpPr>
            <a:spLocks xmlns:a="http://schemas.openxmlformats.org/drawingml/2006/main" noGrp="1"/>
          </p:cNvSpPr>
          <p:nvPr/>
        </p:nvSpPr>
        <p:spPr>
          <a:xfrm xmlns:a="http://schemas.openxmlformats.org/drawingml/2006/main">
            <a:off x="548640" y="493776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25" b="1">
                <a:solidFill>
                  <a:srgbClr val="1F4E79"/>
                </a:solidFill>
                <a:latin typeface="Arial"/>
                <a:ea typeface="Arial"/>
                <a:cs typeface="Arial"/>
              </a:rPr>
              <a:t>Order invariance does not validate the thresholds; the reported comparison endpoint remains the 11-member G1–G4 set (G4 heuristic).</a:t>
            </a:r>
            <a:endParaRPr sz="1250"/>
          </a:p>
        </p:txBody>
      </p:sp>
      <p:sp>
        <p:nvSpPr>
          <p:cNvPr id="17" name="Text 14">
            <a:extLst xmlns:a="http://schemas.openxmlformats.org/drawingml/2006/main">
              <a:ext uri="{FF2B5EF4-FFF2-40B4-BE49-F238E27FC236}">
                <a16:creationId xmlns:a16="http://schemas.microsoft.com/office/drawing/2014/main" id="{4C583CC4-CA2A-4004-9B00-54E91E189680}"/>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cascade_pipeline_guide.md (permutation audit)</a:t>
            </a:r>
            <a:endParaRPr sz="750"/>
          </a:p>
        </p:txBody>
      </p:sp>
    </p:spTree>
    <p:extLst>
      <p:ext uri="{BB962C8B-B14F-4D97-AF65-F5344CB8AC3E}">
        <p14:creationId xmlns:p14="http://schemas.microsoft.com/office/powerpoint/2010/main" val="744432114"/>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8B72A80-F8D8-4DA8-B1C8-85A60A2B9E4A}"/>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Trust boundary</a:t>
            </a:r>
            <a:endParaRPr sz="2800"/>
          </a:p>
        </p:txBody>
      </p:sp>
      <p:sp>
        <p:nvSpPr>
          <p:cNvPr id="3" name="Text 1">
            <a:extLst xmlns:a="http://schemas.openxmlformats.org/drawingml/2006/main">
              <a:ext uri="{FF2B5EF4-FFF2-40B4-BE49-F238E27FC236}">
                <a16:creationId xmlns:a16="http://schemas.microsoft.com/office/drawing/2014/main" id="{857FDF86-D5D1-4793-A3EE-CA871CEF4285}"/>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Method-matched claims only</a:t>
            </a:r>
            <a:endParaRPr sz="900"/>
          </a:p>
        </p:txBody>
      </p:sp>
      <p:sp>
        <p:nvSpPr>
          <p:cNvPr id="4" name="Shape 2">
            <a:extLst xmlns:a="http://schemas.openxmlformats.org/drawingml/2006/main">
              <a:ext uri="{FF2B5EF4-FFF2-40B4-BE49-F238E27FC236}">
                <a16:creationId xmlns:a16="http://schemas.microsoft.com/office/drawing/2014/main" id="{E5559586-3E40-467D-B537-4B3749161DC8}"/>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5" name="Shape 3">
            <a:extLst xmlns:a="http://schemas.openxmlformats.org/drawingml/2006/main">
              <a:ext uri="{FF2B5EF4-FFF2-40B4-BE49-F238E27FC236}">
                <a16:creationId xmlns:a16="http://schemas.microsoft.com/office/drawing/2014/main" id="{4B3A5C6C-2AA0-40E0-8744-1AD8917F5702}"/>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F0FD6707-B982-4953-A898-3D0692037D8A}"/>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Claim strength must match the method</a:t>
            </a:r>
            <a:endParaRPr sz="1400"/>
          </a:p>
        </p:txBody>
      </p:sp>
      <p:sp>
        <p:nvSpPr>
          <p:cNvPr id="7" name="Text 5">
            <a:extLst xmlns:a="http://schemas.openxmlformats.org/drawingml/2006/main">
              <a:ext uri="{FF2B5EF4-FFF2-40B4-BE49-F238E27FC236}">
                <a16:creationId xmlns:a16="http://schemas.microsoft.com/office/drawing/2014/main" id="{79A44AC2-F44A-4A19-B810-8CC1F202BD6C}"/>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A5FE06CC-251F-4C63-AA3F-8EA8C44967DC}"/>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4B7E0FDF-5BA5-4960-816C-1DD15272C569}"/>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17</a:t>
            </a:r>
            <a:endParaRPr sz="900"/>
          </a:p>
        </p:txBody>
      </p:sp>
      <p:sp>
        <p:nvSpPr>
          <p:cNvPr id="11" name="Shape 8">
            <a:extLst xmlns:a="http://schemas.openxmlformats.org/drawingml/2006/main">
              <a:ext uri="{FF2B5EF4-FFF2-40B4-BE49-F238E27FC236}">
                <a16:creationId xmlns:a16="http://schemas.microsoft.com/office/drawing/2014/main" id="{C6939D63-24F6-4F10-B14F-ADB66BC9C92C}"/>
              </a:ext>
            </a:extLst>
          </p:cNvPr>
          <p:cNvSpPr>
            <a:spLocks xmlns:a="http://schemas.openxmlformats.org/drawingml/2006/main" noGrp="1"/>
          </p:cNvSpPr>
          <p:nvPr/>
        </p:nvSpPr>
        <p:spPr>
          <a:xfrm xmlns:a="http://schemas.openxmlformats.org/drawingml/2006/main">
            <a:off x="731520" y="1645920"/>
            <a:ext cx="3657600" cy="3017520"/>
          </a:xfrm>
          <a:prstGeom xmlns:a="http://schemas.openxmlformats.org/drawingml/2006/main" prst="roundRect">
            <a:avLst>
              <a:gd name="adj" fmla="val 2121"/>
            </a:avLst>
          </a:prstGeom>
          <a:solidFill xmlns:a="http://schemas.openxmlformats.org/drawingml/2006/main">
            <a:srgbClr val="E5F2E6"/>
          </a:solidFill>
          <a:ln xmlns:a="http://schemas.openxmlformats.org/drawingml/2006/main" w="12700">
            <a:solidFill>
              <a:srgbClr val="2E7D32"/>
            </a:solidFill>
            <a:prstDash val="solid"/>
          </a:ln>
        </p:spPr>
      </p:sp>
      <p:sp>
        <p:nvSpPr>
          <p:cNvPr id="12" name="Text 9">
            <a:extLst xmlns:a="http://schemas.openxmlformats.org/drawingml/2006/main">
              <a:ext uri="{FF2B5EF4-FFF2-40B4-BE49-F238E27FC236}">
                <a16:creationId xmlns:a16="http://schemas.microsoft.com/office/drawing/2014/main" id="{8E7E8310-DD92-4C83-AA6B-FFD0E0928B4E}"/>
              </a:ext>
            </a:extLst>
          </p:cNvPr>
          <p:cNvSpPr>
            <a:spLocks xmlns:a="http://schemas.openxmlformats.org/drawingml/2006/main" noGrp="1"/>
          </p:cNvSpPr>
          <p:nvPr/>
        </p:nvSpPr>
        <p:spPr>
          <a:xfrm xmlns:a="http://schemas.openxmlformats.org/drawingml/2006/main">
            <a:off x="914400" y="1874520"/>
            <a:ext cx="3291840" cy="2560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2E7D32"/>
                </a:solidFill>
                <a:latin typeface="Arial"/>
                <a:ea typeface="Arial"/>
                <a:cs typeface="Arial"/>
              </a:rPr>
              <a:t>SUPPORTED
</a:t>
            </a:r>
            <a:endParaRPr sz="1300"/>
          </a:p>
          <a:p xmlns:a="http://schemas.openxmlformats.org/drawingml/2006/main">
            <a:pPr marL="0" indent="0">
              <a:buNone/>
            </a:pPr>
            <a:r>
              <a:rPr sz="1050">
                <a:solidFill>
                  <a:srgbClr val="262626"/>
                </a:solidFill>
                <a:latin typeface="Arial"/>
                <a:ea typeface="Arial"/>
                <a:cs typeface="Arial"/>
              </a:rPr>
              <a:t>✓ Gate pass / fail</a:t>
            </a:r>
            <a:endParaRPr sz="1300"/>
          </a:p>
          <a:p xmlns:a="http://schemas.openxmlformats.org/drawingml/2006/main">
            <a:pPr marL="0" indent="0">
              <a:buNone/>
            </a:pPr>
            <a:r>
              <a:rPr sz="1050">
                <a:solidFill>
                  <a:srgbClr val="262626"/>
                </a:solidFill>
                <a:latin typeface="Arial"/>
                <a:ea typeface="Arial"/>
                <a:cs typeface="Arial"/>
              </a:rPr>
              <a:t>✓ Same-protocol relative ranking</a:t>
            </a:r>
            <a:endParaRPr sz="1300"/>
          </a:p>
          <a:p xmlns:a="http://schemas.openxmlformats.org/drawingml/2006/main">
            <a:pPr marL="0" indent="0">
              <a:buNone/>
            </a:pPr>
            <a:r>
              <a:rPr sz="1050">
                <a:solidFill>
                  <a:srgbClr val="262626"/>
                </a:solidFill>
                <a:latin typeface="Arial"/>
                <a:ea typeface="Arial"/>
                <a:cs typeface="Arial"/>
              </a:rPr>
              <a:t>✓ Oxidation–transport trade-off</a:t>
            </a:r>
            <a:endParaRPr sz="1300"/>
          </a:p>
          <a:p xmlns:a="http://schemas.openxmlformats.org/drawingml/2006/main">
            <a:pPr marL="0" indent="0">
              <a:buNone/>
            </a:pPr>
            <a:r>
              <a:rPr sz="1050">
                <a:solidFill>
                  <a:srgbClr val="262626"/>
                </a:solidFill>
                <a:latin typeface="Arial"/>
                <a:ea typeface="Arial"/>
                <a:cs typeface="Arial"/>
              </a:rPr>
              <a:t>✓ Gate-order invariance</a:t>
            </a:r>
            <a:endParaRPr sz="1300"/>
          </a:p>
        </p:txBody>
      </p:sp>
      <p:sp>
        <p:nvSpPr>
          <p:cNvPr id="13" name="Shape 10">
            <a:extLst xmlns:a="http://schemas.openxmlformats.org/drawingml/2006/main">
              <a:ext uri="{FF2B5EF4-FFF2-40B4-BE49-F238E27FC236}">
                <a16:creationId xmlns:a16="http://schemas.microsoft.com/office/drawing/2014/main" id="{4D653038-04A8-49D0-A004-7FD214DC29B2}"/>
              </a:ext>
            </a:extLst>
          </p:cNvPr>
          <p:cNvSpPr>
            <a:spLocks xmlns:a="http://schemas.openxmlformats.org/drawingml/2006/main" noGrp="1"/>
          </p:cNvSpPr>
          <p:nvPr/>
        </p:nvSpPr>
        <p:spPr>
          <a:xfrm xmlns:a="http://schemas.openxmlformats.org/drawingml/2006/main">
            <a:off x="4754880" y="1645920"/>
            <a:ext cx="3657600" cy="3017520"/>
          </a:xfrm>
          <a:prstGeom xmlns:a="http://schemas.openxmlformats.org/drawingml/2006/main" prst="roundRect">
            <a:avLst>
              <a:gd name="adj" fmla="val 2121"/>
            </a:avLst>
          </a:prstGeom>
          <a:solidFill xmlns:a="http://schemas.openxmlformats.org/drawingml/2006/main">
            <a:srgbClr val="FDECEA"/>
          </a:solidFill>
          <a:ln xmlns:a="http://schemas.openxmlformats.org/drawingml/2006/main" w="12700">
            <a:solidFill>
              <a:srgbClr val="9E2A2B"/>
            </a:solidFill>
            <a:prstDash val="solid"/>
          </a:ln>
        </p:spPr>
      </p:sp>
      <p:sp>
        <p:nvSpPr>
          <p:cNvPr id="14" name="Text 11">
            <a:extLst xmlns:a="http://schemas.openxmlformats.org/drawingml/2006/main">
              <a:ext uri="{FF2B5EF4-FFF2-40B4-BE49-F238E27FC236}">
                <a16:creationId xmlns:a16="http://schemas.microsoft.com/office/drawing/2014/main" id="{A55F6169-B6FB-43DA-8BCF-F35216B46B83}"/>
              </a:ext>
            </a:extLst>
          </p:cNvPr>
          <p:cNvSpPr>
            <a:spLocks xmlns:a="http://schemas.openxmlformats.org/drawingml/2006/main" noGrp="1"/>
          </p:cNvSpPr>
          <p:nvPr/>
        </p:nvSpPr>
        <p:spPr>
          <a:xfrm xmlns:a="http://schemas.openxmlformats.org/drawingml/2006/main">
            <a:off x="4937760" y="1874520"/>
            <a:ext cx="3291840" cy="2560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b="1">
                <a:solidFill>
                  <a:srgbClr val="9E2A2B"/>
                </a:solidFill>
                <a:latin typeface="Arial"/>
                <a:ea typeface="Arial"/>
                <a:cs typeface="Arial"/>
              </a:rPr>
              <a:t>NOT SUPPORTED
</a:t>
            </a:r>
            <a:endParaRPr sz="1300"/>
          </a:p>
          <a:p xmlns:a="http://schemas.openxmlformats.org/drawingml/2006/main">
            <a:pPr marL="0" indent="0">
              <a:buNone/>
            </a:pPr>
            <a:r>
              <a:rPr sz="1050">
                <a:solidFill>
                  <a:srgbClr val="262626"/>
                </a:solidFill>
                <a:latin typeface="Arial"/>
                <a:ea typeface="Arial"/>
                <a:cs typeface="Arial"/>
              </a:rPr>
              <a:t>× UMA absolute energies / moduli</a:t>
            </a:r>
            <a:endParaRPr sz="1300"/>
          </a:p>
          <a:p xmlns:a="http://schemas.openxmlformats.org/drawingml/2006/main">
            <a:pPr marL="0" indent="0">
              <a:buNone/>
            </a:pPr>
            <a:r>
              <a:rPr sz="1050">
                <a:solidFill>
                  <a:srgbClr val="262626"/>
                </a:solidFill>
                <a:latin typeface="Arial"/>
                <a:ea typeface="Arial"/>
                <a:cs typeface="Arial"/>
              </a:rPr>
              <a:t>× BVSE-derived conductivity</a:t>
            </a:r>
            <a:endParaRPr sz="1300"/>
          </a:p>
          <a:p xmlns:a="http://schemas.openxmlformats.org/drawingml/2006/main">
            <a:pPr marL="0" indent="0">
              <a:buNone/>
            </a:pPr>
            <a:r>
              <a:rPr sz="1050">
                <a:solidFill>
                  <a:srgbClr val="262626"/>
                </a:solidFill>
                <a:latin typeface="Arial"/>
                <a:ea typeface="Arial"/>
                <a:cs typeface="Arial"/>
              </a:rPr>
              <a:t>× Ranking inside degenerate groups</a:t>
            </a:r>
            <a:endParaRPr sz="1300"/>
          </a:p>
          <a:p xmlns:a="http://schemas.openxmlformats.org/drawingml/2006/main">
            <a:pPr marL="0" indent="0">
              <a:buNone/>
            </a:pPr>
            <a:r>
              <a:rPr sz="1050">
                <a:solidFill>
                  <a:srgbClr val="262626"/>
                </a:solidFill>
                <a:latin typeface="Arial"/>
                <a:ea typeface="Arial"/>
                <a:cs typeface="Arial"/>
              </a:rPr>
              <a:t>× A unique G5 winner</a:t>
            </a:r>
            <a:endParaRPr sz="1300"/>
          </a:p>
        </p:txBody>
      </p:sp>
      <p:sp>
        <p:nvSpPr>
          <p:cNvPr id="15" name="Text 12">
            <a:extLst xmlns:a="http://schemas.openxmlformats.org/drawingml/2006/main">
              <a:ext uri="{FF2B5EF4-FFF2-40B4-BE49-F238E27FC236}">
                <a16:creationId xmlns:a16="http://schemas.microsoft.com/office/drawing/2014/main" id="{6C3BB303-86E5-491E-B058-AC2C6B61F7FE}"/>
              </a:ext>
            </a:extLst>
          </p:cNvPr>
          <p:cNvSpPr>
            <a:spLocks xmlns:a="http://schemas.openxmlformats.org/drawingml/2006/main" noGrp="1"/>
          </p:cNvSpPr>
          <p:nvPr/>
        </p:nvSpPr>
        <p:spPr>
          <a:xfrm xmlns:a="http://schemas.openxmlformats.org/drawingml/2006/main">
            <a:off x="548640" y="502920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63" b="1">
                <a:solidFill>
                  <a:srgbClr val="1F4E79"/>
                </a:solidFill>
                <a:latin typeface="Arial"/>
                <a:ea typeface="Arial"/>
                <a:cs typeface="Arial"/>
              </a:rPr>
              <a:t>Still missing as full gates: interface reaction · electronic insulation · doped-LPSCl moisture response</a:t>
            </a:r>
            <a:endParaRPr sz="1250"/>
          </a:p>
        </p:txBody>
      </p:sp>
    </p:spTree>
    <p:extLst>
      <p:ext uri="{BB962C8B-B14F-4D97-AF65-F5344CB8AC3E}">
        <p14:creationId xmlns:p14="http://schemas.microsoft.com/office/powerpoint/2010/main" val="582206516"/>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604DC82-3662-405A-AC6F-08FEE335AECA}"/>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Validation</a:t>
            </a:r>
            <a:endParaRPr sz="2800"/>
          </a:p>
        </p:txBody>
      </p:sp>
      <p:sp>
        <p:nvSpPr>
          <p:cNvPr id="3" name="Text 1">
            <a:extLst xmlns:a="http://schemas.openxmlformats.org/drawingml/2006/main">
              <a:ext uri="{FF2B5EF4-FFF2-40B4-BE49-F238E27FC236}">
                <a16:creationId xmlns:a16="http://schemas.microsoft.com/office/drawing/2014/main" id="{9E63E017-EC5B-4B30-9D13-DD8DF3D891C4}"/>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Retraction ledger</a:t>
            </a:r>
            <a:endParaRPr sz="900"/>
          </a:p>
        </p:txBody>
      </p:sp>
      <p:sp>
        <p:nvSpPr>
          <p:cNvPr id="4" name="Shape 2">
            <a:extLst xmlns:a="http://schemas.openxmlformats.org/drawingml/2006/main">
              <a:ext uri="{FF2B5EF4-FFF2-40B4-BE49-F238E27FC236}">
                <a16:creationId xmlns:a16="http://schemas.microsoft.com/office/drawing/2014/main" id="{D7BBF409-ABE2-4A73-A611-EABA6326A867}"/>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5" name="Shape 3">
            <a:extLst xmlns:a="http://schemas.openxmlformats.org/drawingml/2006/main">
              <a:ext uri="{FF2B5EF4-FFF2-40B4-BE49-F238E27FC236}">
                <a16:creationId xmlns:a16="http://schemas.microsoft.com/office/drawing/2014/main" id="{887BAA76-BEFD-40B1-BCEE-2919C2172E08}"/>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11ABE826-AB4D-498E-8098-D7678EBAC8DD}"/>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Failures made the cascade more credible</a:t>
            </a:r>
            <a:endParaRPr sz="1400"/>
          </a:p>
        </p:txBody>
      </p:sp>
      <p:sp>
        <p:nvSpPr>
          <p:cNvPr id="7" name="Text 5">
            <a:extLst xmlns:a="http://schemas.openxmlformats.org/drawingml/2006/main">
              <a:ext uri="{FF2B5EF4-FFF2-40B4-BE49-F238E27FC236}">
                <a16:creationId xmlns:a16="http://schemas.microsoft.com/office/drawing/2014/main" id="{FAD47E8E-41C7-4CEF-84E1-09773A5C0B11}"/>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061CF26D-BAC6-444A-89D5-87DBE371F677}"/>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4B0D85DA-8827-4A1C-981B-56B5D171503A}"/>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18</a:t>
            </a:r>
            <a:endParaRPr sz="900"/>
          </a:p>
        </p:txBody>
      </p:sp>
      <p:sp>
        <p:nvSpPr>
          <p:cNvPr id="11" name="Shape 8">
            <a:extLst xmlns:a="http://schemas.openxmlformats.org/drawingml/2006/main">
              <a:ext uri="{FF2B5EF4-FFF2-40B4-BE49-F238E27FC236}">
                <a16:creationId xmlns:a16="http://schemas.microsoft.com/office/drawing/2014/main" id="{1222EF5B-959D-464B-92AE-F60D2D62504A}"/>
              </a:ext>
            </a:extLst>
          </p:cNvPr>
          <p:cNvSpPr>
            <a:spLocks xmlns:a="http://schemas.openxmlformats.org/drawingml/2006/main" noGrp="1"/>
          </p:cNvSpPr>
          <p:nvPr/>
        </p:nvSpPr>
        <p:spPr>
          <a:xfrm xmlns:a="http://schemas.openxmlformats.org/drawingml/2006/main">
            <a:off x="731520" y="1600200"/>
            <a:ext cx="7680960" cy="777240"/>
          </a:xfrm>
          <a:prstGeom xmlns:a="http://schemas.openxmlformats.org/drawingml/2006/main" prst="roundRect">
            <a:avLst>
              <a:gd name="adj" fmla="val 8235"/>
            </a:avLst>
          </a:prstGeom>
          <a:solidFill xmlns:a="http://schemas.openxmlformats.org/drawingml/2006/main">
            <a:srgbClr val="F2F2F2"/>
          </a:solidFill>
          <a:ln xmlns:a="http://schemas.openxmlformats.org/drawingml/2006/main" w="12700">
            <a:solidFill>
              <a:srgbClr val="BFBFBF"/>
            </a:solidFill>
            <a:prstDash val="solid"/>
          </a:ln>
        </p:spPr>
      </p:sp>
      <p:sp>
        <p:nvSpPr>
          <p:cNvPr id="12" name="Text 9">
            <a:extLst xmlns:a="http://schemas.openxmlformats.org/drawingml/2006/main">
              <a:ext uri="{FF2B5EF4-FFF2-40B4-BE49-F238E27FC236}">
                <a16:creationId xmlns:a16="http://schemas.microsoft.com/office/drawing/2014/main" id="{A120399D-CF55-4569-8F58-4142A416F66B}"/>
              </a:ext>
            </a:extLst>
          </p:cNvPr>
          <p:cNvSpPr>
            <a:spLocks xmlns:a="http://schemas.openxmlformats.org/drawingml/2006/main" noGrp="1"/>
          </p:cNvSpPr>
          <p:nvPr/>
        </p:nvSpPr>
        <p:spPr>
          <a:xfrm xmlns:a="http://schemas.openxmlformats.org/drawingml/2006/main">
            <a:off x="914400" y="1783080"/>
            <a:ext cx="7315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262626"/>
                </a:solidFill>
                <a:latin typeface="Arial"/>
                <a:ea typeface="Arial"/>
                <a:cs typeface="Arial"/>
              </a:rPr>
              <a:t>Single-seed 1.33× conductivity   →   </a:t>
            </a:r>
            <a:r>
              <a:rPr sz="1050" b="1">
                <a:solidFill>
                  <a:srgbClr val="1F4E79"/>
                </a:solidFill>
                <a:latin typeface="Arial"/>
                <a:ea typeface="Arial"/>
                <a:cs typeface="Arial"/>
              </a:rPr>
              <a:t>Multi-seed verdict only</a:t>
            </a:r>
            <a:endParaRPr sz="1100"/>
          </a:p>
        </p:txBody>
      </p:sp>
      <p:sp>
        <p:nvSpPr>
          <p:cNvPr id="13" name="Shape 10">
            <a:extLst xmlns:a="http://schemas.openxmlformats.org/drawingml/2006/main">
              <a:ext uri="{FF2B5EF4-FFF2-40B4-BE49-F238E27FC236}">
                <a16:creationId xmlns:a16="http://schemas.microsoft.com/office/drawing/2014/main" id="{D4CE6479-0C45-4A54-8C4C-5EB7AF240E39}"/>
              </a:ext>
            </a:extLst>
          </p:cNvPr>
          <p:cNvSpPr>
            <a:spLocks xmlns:a="http://schemas.openxmlformats.org/drawingml/2006/main" noGrp="1"/>
          </p:cNvSpPr>
          <p:nvPr/>
        </p:nvSpPr>
        <p:spPr>
          <a:xfrm xmlns:a="http://schemas.openxmlformats.org/drawingml/2006/main">
            <a:off x="731520" y="2532888"/>
            <a:ext cx="7680960" cy="777240"/>
          </a:xfrm>
          <a:prstGeom xmlns:a="http://schemas.openxmlformats.org/drawingml/2006/main" prst="roundRect">
            <a:avLst>
              <a:gd name="adj" fmla="val 8235"/>
            </a:avLst>
          </a:prstGeom>
          <a:solidFill xmlns:a="http://schemas.openxmlformats.org/drawingml/2006/main">
            <a:srgbClr val="F2F2F2"/>
          </a:solidFill>
          <a:ln xmlns:a="http://schemas.openxmlformats.org/drawingml/2006/main" w="12700">
            <a:solidFill>
              <a:srgbClr val="BFBFBF"/>
            </a:solidFill>
            <a:prstDash val="solid"/>
          </a:ln>
        </p:spPr>
      </p:sp>
      <p:sp>
        <p:nvSpPr>
          <p:cNvPr id="14" name="Text 11">
            <a:extLst xmlns:a="http://schemas.openxmlformats.org/drawingml/2006/main">
              <a:ext uri="{FF2B5EF4-FFF2-40B4-BE49-F238E27FC236}">
                <a16:creationId xmlns:a16="http://schemas.microsoft.com/office/drawing/2014/main" id="{86F5B368-BC57-41EB-BF63-59B2446A253F}"/>
              </a:ext>
            </a:extLst>
          </p:cNvPr>
          <p:cNvSpPr>
            <a:spLocks xmlns:a="http://schemas.openxmlformats.org/drawingml/2006/main" noGrp="1"/>
          </p:cNvSpPr>
          <p:nvPr/>
        </p:nvSpPr>
        <p:spPr>
          <a:xfrm xmlns:a="http://schemas.openxmlformats.org/drawingml/2006/main">
            <a:off x="914400" y="2715768"/>
            <a:ext cx="7315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262626"/>
                </a:solidFill>
                <a:latin typeface="Arial"/>
                <a:ea typeface="Arial"/>
                <a:cs typeface="Arial"/>
              </a:rPr>
              <a:t>MSD fit outside diffusion   →   </a:t>
            </a:r>
            <a:r>
              <a:rPr sz="1050" b="1">
                <a:solidFill>
                  <a:srgbClr val="1F4E79"/>
                </a:solidFill>
                <a:latin typeface="Arial"/>
                <a:ea typeface="Arial"/>
                <a:cs typeface="Arial"/>
              </a:rPr>
              <a:t>β ∈ [0.8, 1.2] gate</a:t>
            </a:r>
            <a:endParaRPr sz="1100"/>
          </a:p>
        </p:txBody>
      </p:sp>
      <p:sp>
        <p:nvSpPr>
          <p:cNvPr id="15" name="Shape 12">
            <a:extLst xmlns:a="http://schemas.openxmlformats.org/drawingml/2006/main">
              <a:ext uri="{FF2B5EF4-FFF2-40B4-BE49-F238E27FC236}">
                <a16:creationId xmlns:a16="http://schemas.microsoft.com/office/drawing/2014/main" id="{5C730588-881B-4A55-829D-AA5DB19BBC26}"/>
              </a:ext>
            </a:extLst>
          </p:cNvPr>
          <p:cNvSpPr>
            <a:spLocks xmlns:a="http://schemas.openxmlformats.org/drawingml/2006/main" noGrp="1"/>
          </p:cNvSpPr>
          <p:nvPr/>
        </p:nvSpPr>
        <p:spPr>
          <a:xfrm xmlns:a="http://schemas.openxmlformats.org/drawingml/2006/main">
            <a:off x="731520" y="3465576"/>
            <a:ext cx="7680960" cy="777240"/>
          </a:xfrm>
          <a:prstGeom xmlns:a="http://schemas.openxmlformats.org/drawingml/2006/main" prst="roundRect">
            <a:avLst>
              <a:gd name="adj" fmla="val 8235"/>
            </a:avLst>
          </a:prstGeom>
          <a:solidFill xmlns:a="http://schemas.openxmlformats.org/drawingml/2006/main">
            <a:srgbClr val="F2F2F2"/>
          </a:solidFill>
          <a:ln xmlns:a="http://schemas.openxmlformats.org/drawingml/2006/main" w="12700">
            <a:solidFill>
              <a:srgbClr val="BFBFBF"/>
            </a:solidFill>
            <a:prstDash val="solid"/>
          </a:ln>
        </p:spPr>
      </p:sp>
      <p:sp>
        <p:nvSpPr>
          <p:cNvPr id="16" name="Text 13">
            <a:extLst xmlns:a="http://schemas.openxmlformats.org/drawingml/2006/main">
              <a:ext uri="{FF2B5EF4-FFF2-40B4-BE49-F238E27FC236}">
                <a16:creationId xmlns:a16="http://schemas.microsoft.com/office/drawing/2014/main" id="{58B4E045-4674-4F09-9A15-7FE64CA9801F}"/>
              </a:ext>
            </a:extLst>
          </p:cNvPr>
          <p:cNvSpPr>
            <a:spLocks xmlns:a="http://schemas.openxmlformats.org/drawingml/2006/main" noGrp="1"/>
          </p:cNvSpPr>
          <p:nvPr/>
        </p:nvSpPr>
        <p:spPr>
          <a:xfrm xmlns:a="http://schemas.openxmlformats.org/drawingml/2006/main">
            <a:off x="914400" y="3648456"/>
            <a:ext cx="7315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262626"/>
                </a:solidFill>
                <a:latin typeface="Arial"/>
                <a:ea typeface="Arial"/>
                <a:cs typeface="Arial"/>
              </a:rPr>
              <a:t>DOS-threshold band gap   →   </a:t>
            </a:r>
            <a:r>
              <a:rPr sz="1050" b="1">
                <a:solidFill>
                  <a:srgbClr val="1F4E79"/>
                </a:solidFill>
                <a:latin typeface="Arial"/>
                <a:ea typeface="Arial"/>
                <a:cs typeface="Arial"/>
              </a:rPr>
              <a:t>Fixed-occ eigenvalues</a:t>
            </a:r>
            <a:endParaRPr sz="1100"/>
          </a:p>
        </p:txBody>
      </p:sp>
      <p:sp>
        <p:nvSpPr>
          <p:cNvPr id="17" name="Shape 14">
            <a:extLst xmlns:a="http://schemas.openxmlformats.org/drawingml/2006/main">
              <a:ext uri="{FF2B5EF4-FFF2-40B4-BE49-F238E27FC236}">
                <a16:creationId xmlns:a16="http://schemas.microsoft.com/office/drawing/2014/main" id="{086B6356-DE57-4349-80A1-141C6ADE7344}"/>
              </a:ext>
            </a:extLst>
          </p:cNvPr>
          <p:cNvSpPr>
            <a:spLocks xmlns:a="http://schemas.openxmlformats.org/drawingml/2006/main" noGrp="1"/>
          </p:cNvSpPr>
          <p:nvPr/>
        </p:nvSpPr>
        <p:spPr>
          <a:xfrm xmlns:a="http://schemas.openxmlformats.org/drawingml/2006/main">
            <a:off x="731520" y="4398264"/>
            <a:ext cx="7680960" cy="777240"/>
          </a:xfrm>
          <a:prstGeom xmlns:a="http://schemas.openxmlformats.org/drawingml/2006/main" prst="roundRect">
            <a:avLst>
              <a:gd name="adj" fmla="val 8235"/>
            </a:avLst>
          </a:prstGeom>
          <a:solidFill xmlns:a="http://schemas.openxmlformats.org/drawingml/2006/main">
            <a:srgbClr val="FFF4E0"/>
          </a:solidFill>
          <a:ln xmlns:a="http://schemas.openxmlformats.org/drawingml/2006/main" w="12700">
            <a:solidFill>
              <a:srgbClr val="B26A00"/>
            </a:solidFill>
            <a:prstDash val="solid"/>
          </a:ln>
        </p:spPr>
      </p:sp>
      <p:sp>
        <p:nvSpPr>
          <p:cNvPr id="18" name="Text 15">
            <a:extLst xmlns:a="http://schemas.openxmlformats.org/drawingml/2006/main">
              <a:ext uri="{FF2B5EF4-FFF2-40B4-BE49-F238E27FC236}">
                <a16:creationId xmlns:a16="http://schemas.microsoft.com/office/drawing/2014/main" id="{1D2F7AA6-67B1-44A6-AF18-7B2EE901BA87}"/>
              </a:ext>
            </a:extLst>
          </p:cNvPr>
          <p:cNvSpPr>
            <a:spLocks xmlns:a="http://schemas.openxmlformats.org/drawingml/2006/main" noGrp="1"/>
          </p:cNvSpPr>
          <p:nvPr/>
        </p:nvSpPr>
        <p:spPr>
          <a:xfrm xmlns:a="http://schemas.openxmlformats.org/drawingml/2006/main">
            <a:off x="914400" y="4581144"/>
            <a:ext cx="7315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25" b="1">
                <a:solidFill>
                  <a:srgbClr val="262626"/>
                </a:solidFill>
                <a:latin typeface="Arial"/>
                <a:ea typeface="Arial"/>
                <a:cs typeface="Arial"/>
              </a:rPr>
              <a:t>raw HSAB grade   →   [Zhu20] cross-check: 9/35 under-rated, one direction   →   retained only as CURATED, non-gating</a:t>
            </a:r>
            <a:endParaRPr sz="1100"/>
          </a:p>
        </p:txBody>
      </p:sp>
      <p:sp>
        <p:nvSpPr>
          <p:cNvPr id="19" name="Text 16">
            <a:extLst xmlns:a="http://schemas.openxmlformats.org/drawingml/2006/main">
              <a:ext uri="{FF2B5EF4-FFF2-40B4-BE49-F238E27FC236}">
                <a16:creationId xmlns:a16="http://schemas.microsoft.com/office/drawing/2014/main" id="{4AA567A9-3123-450F-BF9A-F042057260DF}"/>
              </a:ext>
            </a:extLst>
          </p:cNvPr>
          <p:cNvSpPr>
            <a:spLocks xmlns:a="http://schemas.openxmlformats.org/drawingml/2006/main" noGrp="1"/>
          </p:cNvSpPr>
          <p:nvPr/>
        </p:nvSpPr>
        <p:spPr>
          <a:xfrm xmlns:a="http://schemas.openxmlformats.org/drawingml/2006/main">
            <a:off x="548640" y="553212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38" b="1">
                <a:solidFill>
                  <a:srgbClr val="1F4E79"/>
                </a:solidFill>
                <a:latin typeface="Arial"/>
                <a:ea typeface="Arial"/>
                <a:cs typeface="Arial"/>
              </a:rPr>
              <a:t>Failed claims became explicit validation rules or exclusions — audit is part of the pipeline.</a:t>
            </a:r>
            <a:endParaRPr sz="1250"/>
          </a:p>
        </p:txBody>
      </p:sp>
      <p:sp>
        <p:nvSpPr>
          <p:cNvPr id="20" name="Text 17">
            <a:extLst xmlns:a="http://schemas.openxmlformats.org/drawingml/2006/main">
              <a:ext uri="{FF2B5EF4-FFF2-40B4-BE49-F238E27FC236}">
                <a16:creationId xmlns:a16="http://schemas.microsoft.com/office/drawing/2014/main" id="{49175826-C520-4415-96E6-D4E990ED4E4C}"/>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canonical_registry.json · cascade_air_axis_lit_vs_tier.csv (26/9/12)</a:t>
            </a:r>
            <a:endParaRPr sz="750"/>
          </a:p>
        </p:txBody>
      </p:sp>
    </p:spTree>
    <p:extLst>
      <p:ext uri="{BB962C8B-B14F-4D97-AF65-F5344CB8AC3E}">
        <p14:creationId xmlns:p14="http://schemas.microsoft.com/office/powerpoint/2010/main" val="279845948"/>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A9554979-EC2A-49A0-B3F0-026E6A814676}"/>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Validation</a:t>
            </a:r>
            <a:endParaRPr sz="2800"/>
          </a:p>
        </p:txBody>
      </p:sp>
      <p:sp>
        <p:nvSpPr>
          <p:cNvPr id="3" name="Text 1">
            <a:extLst xmlns:a="http://schemas.openxmlformats.org/drawingml/2006/main">
              <a:ext uri="{FF2B5EF4-FFF2-40B4-BE49-F238E27FC236}">
                <a16:creationId xmlns:a16="http://schemas.microsoft.com/office/drawing/2014/main" id="{A52E3E38-DEB1-43ED-AB08-AD9F27ABD1BB}"/>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Current deep-DFT coverage: 2 / 47</a:t>
            </a:r>
            <a:endParaRPr sz="900"/>
          </a:p>
        </p:txBody>
      </p:sp>
      <p:sp>
        <p:nvSpPr>
          <p:cNvPr id="4" name="Shape 2">
            <a:extLst xmlns:a="http://schemas.openxmlformats.org/drawingml/2006/main">
              <a:ext uri="{FF2B5EF4-FFF2-40B4-BE49-F238E27FC236}">
                <a16:creationId xmlns:a16="http://schemas.microsoft.com/office/drawing/2014/main" id="{1FA66E80-131A-44DE-9C99-A3BD571A12B6}"/>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5" name="Shape 3">
            <a:extLst xmlns:a="http://schemas.openxmlformats.org/drawingml/2006/main">
              <a:ext uri="{FF2B5EF4-FFF2-40B4-BE49-F238E27FC236}">
                <a16:creationId xmlns:a16="http://schemas.microsoft.com/office/drawing/2014/main" id="{12896CC8-173B-444F-99D1-231847A13EF7}"/>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8C6C237E-ECA2-4A17-A978-238D6C04C942}"/>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Three coverage counts — not a linear funnel</a:t>
            </a:r>
            <a:endParaRPr sz="1400"/>
          </a:p>
        </p:txBody>
      </p:sp>
      <p:sp>
        <p:nvSpPr>
          <p:cNvPr id="7" name="Text 5">
            <a:extLst xmlns:a="http://schemas.openxmlformats.org/drawingml/2006/main">
              <a:ext uri="{FF2B5EF4-FFF2-40B4-BE49-F238E27FC236}">
                <a16:creationId xmlns:a16="http://schemas.microsoft.com/office/drawing/2014/main" id="{A8C04483-AC1C-47EE-88A9-E204FE8F8A00}"/>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A2C5E927-74E4-452E-A2C5-FA1249D9FF78}"/>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AEDCCA79-7C01-4598-B59C-3A57C44C3E86}"/>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19</a:t>
            </a:r>
            <a:endParaRPr sz="900"/>
          </a:p>
        </p:txBody>
      </p:sp>
      <p:sp>
        <p:nvSpPr>
          <p:cNvPr id="11" name="Text 8">
            <a:extLst xmlns:a="http://schemas.openxmlformats.org/drawingml/2006/main">
              <a:ext uri="{FF2B5EF4-FFF2-40B4-BE49-F238E27FC236}">
                <a16:creationId xmlns:a16="http://schemas.microsoft.com/office/drawing/2014/main" id="{F44A2E0C-ABD8-49BE-A4F2-7951DCE60CF7}"/>
              </a:ext>
            </a:extLst>
          </p:cNvPr>
          <p:cNvSpPr>
            <a:spLocks xmlns:a="http://schemas.openxmlformats.org/drawingml/2006/main" noGrp="1"/>
          </p:cNvSpPr>
          <p:nvPr/>
        </p:nvSpPr>
        <p:spPr>
          <a:xfrm xmlns:a="http://schemas.openxmlformats.org/drawingml/2006/main">
            <a:off x="822960" y="1737360"/>
            <a:ext cx="256032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4000" b="1">
                <a:solidFill>
                  <a:srgbClr val="1F4E79"/>
                </a:solidFill>
                <a:latin typeface="Arial"/>
                <a:ea typeface="Arial"/>
                <a:cs typeface="Arial"/>
              </a:rPr>
              <a:t>47
</a:t>
            </a:r>
            <a:endParaRPr sz="4000"/>
          </a:p>
          <a:p xmlns:a="http://schemas.openxmlformats.org/drawingml/2006/main">
            <a:pPr marL="0" indent="0" algn="ctr">
              <a:buNone/>
            </a:pPr>
            <a:r>
              <a:rPr sz="1000">
                <a:solidFill>
                  <a:srgbClr val="7F7F7F"/>
                </a:solidFill>
                <a:latin typeface="Arial"/>
                <a:ea typeface="Arial"/>
                <a:cs typeface="Arial"/>
              </a:rPr>
              <a:t>data-complete relative screens</a:t>
            </a:r>
            <a:endParaRPr sz="4000"/>
          </a:p>
        </p:txBody>
      </p:sp>
      <p:sp>
        <p:nvSpPr>
          <p:cNvPr id="12" name="Text 9">
            <a:extLst xmlns:a="http://schemas.openxmlformats.org/drawingml/2006/main">
              <a:ext uri="{FF2B5EF4-FFF2-40B4-BE49-F238E27FC236}">
                <a16:creationId xmlns:a16="http://schemas.microsoft.com/office/drawing/2014/main" id="{03C909C5-ABC0-4A1E-B18F-2A01904C0621}"/>
              </a:ext>
            </a:extLst>
          </p:cNvPr>
          <p:cNvSpPr>
            <a:spLocks xmlns:a="http://schemas.openxmlformats.org/drawingml/2006/main" noGrp="1"/>
          </p:cNvSpPr>
          <p:nvPr/>
        </p:nvSpPr>
        <p:spPr>
          <a:xfrm xmlns:a="http://schemas.openxmlformats.org/drawingml/2006/main">
            <a:off x="3566160" y="1737360"/>
            <a:ext cx="256032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4000" b="1">
                <a:solidFill>
                  <a:srgbClr val="2E7D32"/>
                </a:solidFill>
                <a:latin typeface="Arial"/>
                <a:ea typeface="Arial"/>
                <a:cs typeface="Arial"/>
              </a:rPr>
              <a:t>11
</a:t>
            </a:r>
            <a:endParaRPr sz="4000"/>
          </a:p>
          <a:p xmlns:a="http://schemas.openxmlformats.org/drawingml/2006/main">
            <a:pPr marL="0" indent="0" algn="ctr">
              <a:buNone/>
            </a:pPr>
            <a:r>
              <a:rPr sz="1000">
                <a:solidFill>
                  <a:srgbClr val="7F7F7F"/>
                </a:solidFill>
                <a:latin typeface="Arial"/>
                <a:ea typeface="Arial"/>
                <a:cs typeface="Arial"/>
              </a:rPr>
              <a:t>post-hoc G1–G4 survivors</a:t>
            </a:r>
            <a:endParaRPr sz="4000"/>
          </a:p>
        </p:txBody>
      </p:sp>
      <p:sp>
        <p:nvSpPr>
          <p:cNvPr id="13" name="Text 10">
            <a:extLst xmlns:a="http://schemas.openxmlformats.org/drawingml/2006/main">
              <a:ext uri="{FF2B5EF4-FFF2-40B4-BE49-F238E27FC236}">
                <a16:creationId xmlns:a16="http://schemas.microsoft.com/office/drawing/2014/main" id="{5C923B4E-0A1A-4CF5-A6B5-3E8167A9E46D}"/>
              </a:ext>
            </a:extLst>
          </p:cNvPr>
          <p:cNvSpPr>
            <a:spLocks xmlns:a="http://schemas.openxmlformats.org/drawingml/2006/main" noGrp="1"/>
          </p:cNvSpPr>
          <p:nvPr/>
        </p:nvSpPr>
        <p:spPr>
          <a:xfrm xmlns:a="http://schemas.openxmlformats.org/drawingml/2006/main">
            <a:off x="6309360" y="1737360"/>
            <a:ext cx="2560320"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4000" b="1">
                <a:solidFill>
                  <a:srgbClr val="B26A00"/>
                </a:solidFill>
                <a:latin typeface="Arial"/>
                <a:ea typeface="Arial"/>
                <a:cs typeface="Arial"/>
              </a:rPr>
              <a:t>2
</a:t>
            </a:r>
            <a:endParaRPr sz="4000"/>
          </a:p>
          <a:p xmlns:a="http://schemas.openxmlformats.org/drawingml/2006/main">
            <a:pPr marL="0" indent="0" algn="ctr">
              <a:buNone/>
            </a:pPr>
            <a:r>
              <a:rPr sz="1000">
                <a:solidFill>
                  <a:srgbClr val="7F7F7F"/>
                </a:solidFill>
                <a:latin typeface="Arial"/>
                <a:ea typeface="Arial"/>
                <a:cs typeface="Arial"/>
              </a:rPr>
              <a:t>selected deep-DFT cases</a:t>
            </a:r>
            <a:endParaRPr sz="4000"/>
          </a:p>
        </p:txBody>
      </p:sp>
      <p:sp>
        <p:nvSpPr>
          <p:cNvPr id="14" name="Text 11">
            <a:extLst xmlns:a="http://schemas.openxmlformats.org/drawingml/2006/main">
              <a:ext uri="{FF2B5EF4-FFF2-40B4-BE49-F238E27FC236}">
                <a16:creationId xmlns:a16="http://schemas.microsoft.com/office/drawing/2014/main" id="{FCA12FE8-1CF8-4E25-9963-5E1DCEC2DA1B}"/>
              </a:ext>
            </a:extLst>
          </p:cNvPr>
          <p:cNvSpPr>
            <a:spLocks xmlns:a="http://schemas.openxmlformats.org/drawingml/2006/main" noGrp="1"/>
          </p:cNvSpPr>
          <p:nvPr/>
        </p:nvSpPr>
        <p:spPr>
          <a:xfrm xmlns:a="http://schemas.openxmlformats.org/drawingml/2006/main">
            <a:off x="548640" y="3291840"/>
            <a:ext cx="8046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88" b="1">
                <a:solidFill>
                  <a:srgbClr val="9E2A2B"/>
                </a:solidFill>
                <a:latin typeface="Arial"/>
                <a:ea typeface="Arial"/>
                <a:cs typeface="Arial"/>
              </a:rPr>
              <a:t>PARALLEL COVERAGE RECORDS  ·  Neither DFT case is a G1–G4 survivor: B₂O₃ stops at G4; Nd₂O₃ at G3</a:t>
            </a:r>
            <a:endParaRPr sz="1050"/>
          </a:p>
        </p:txBody>
      </p:sp>
      <p:sp>
        <p:nvSpPr>
          <p:cNvPr id="15" name="Shape 12">
            <a:extLst xmlns:a="http://schemas.openxmlformats.org/drawingml/2006/main">
              <a:ext uri="{FF2B5EF4-FFF2-40B4-BE49-F238E27FC236}">
                <a16:creationId xmlns:a16="http://schemas.microsoft.com/office/drawing/2014/main" id="{3A625EE5-A020-4804-AC7E-C7833E106D0C}"/>
              </a:ext>
            </a:extLst>
          </p:cNvPr>
          <p:cNvSpPr>
            <a:spLocks xmlns:a="http://schemas.openxmlformats.org/drawingml/2006/main" noGrp="1"/>
          </p:cNvSpPr>
          <p:nvPr/>
        </p:nvSpPr>
        <p:spPr>
          <a:xfrm xmlns:a="http://schemas.openxmlformats.org/drawingml/2006/main">
            <a:off x="731520" y="3794760"/>
            <a:ext cx="3657600" cy="1371600"/>
          </a:xfrm>
          <a:prstGeom xmlns:a="http://schemas.openxmlformats.org/drawingml/2006/main" prst="roundRect">
            <a:avLst>
              <a:gd name="adj" fmla="val 4667"/>
            </a:avLst>
          </a:prstGeom>
          <a:solidFill xmlns:a="http://schemas.openxmlformats.org/drawingml/2006/main">
            <a:srgbClr val="F2F2F2"/>
          </a:solidFill>
          <a:ln xmlns:a="http://schemas.openxmlformats.org/drawingml/2006/main" w="12700">
            <a:solidFill>
              <a:srgbClr val="BFBFBF"/>
            </a:solidFill>
            <a:prstDash val="solid"/>
          </a:ln>
        </p:spPr>
      </p:sp>
      <p:sp>
        <p:nvSpPr>
          <p:cNvPr id="16" name="Text 13">
            <a:extLst xmlns:a="http://schemas.openxmlformats.org/drawingml/2006/main">
              <a:ext uri="{FF2B5EF4-FFF2-40B4-BE49-F238E27FC236}">
                <a16:creationId xmlns:a16="http://schemas.microsoft.com/office/drawing/2014/main" id="{C9875EB1-4DBC-4774-88CD-D029747BE763}"/>
              </a:ext>
            </a:extLst>
          </p:cNvPr>
          <p:cNvSpPr>
            <a:spLocks xmlns:a="http://schemas.openxmlformats.org/drawingml/2006/main" noGrp="1"/>
          </p:cNvSpPr>
          <p:nvPr/>
        </p:nvSpPr>
        <p:spPr>
          <a:xfrm xmlns:a="http://schemas.openxmlformats.org/drawingml/2006/main">
            <a:off x="914400" y="3886200"/>
            <a:ext cx="329184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4E79"/>
                </a:solidFill>
                <a:latin typeface="Arial"/>
                <a:ea typeface="Arial"/>
                <a:cs typeface="Arial"/>
              </a:rPr>
              <a:t>Promote when
</a:t>
            </a:r>
            <a:endParaRPr sz="1050"/>
          </a:p>
          <a:p xmlns:a="http://schemas.openxmlformats.org/drawingml/2006/main">
            <a:pPr marL="0" indent="0">
              <a:buNone/>
            </a:pPr>
            <a:r>
              <a:rPr sz="900">
                <a:solidFill>
                  <a:srgbClr val="262626"/>
                </a:solidFill>
                <a:latin typeface="Arial"/>
                <a:ea typeface="Arial"/>
                <a:cs typeface="Arial"/>
              </a:rPr>
              <a:t>• Near a gate boundary</a:t>
            </a:r>
            <a:endParaRPr sz="1050"/>
          </a:p>
          <a:p xmlns:a="http://schemas.openxmlformats.org/drawingml/2006/main">
            <a:pPr marL="0" indent="0">
              <a:buNone/>
            </a:pPr>
            <a:r>
              <a:rPr sz="900">
                <a:solidFill>
                  <a:srgbClr val="262626"/>
                </a:solidFill>
                <a:latin typeface="Arial"/>
                <a:ea typeface="Arial"/>
                <a:cs typeface="Arial"/>
              </a:rPr>
              <a:t>• Model heads disagree</a:t>
            </a:r>
            <a:endParaRPr sz="1050"/>
          </a:p>
          <a:p xmlns:a="http://schemas.openxmlformats.org/drawingml/2006/main">
            <a:pPr marL="0" indent="0">
              <a:buNone/>
            </a:pPr>
            <a:r>
              <a:rPr sz="900">
                <a:solidFill>
                  <a:srgbClr val="262626"/>
                </a:solidFill>
                <a:latin typeface="Arial"/>
                <a:ea typeface="Arial"/>
                <a:cs typeface="Arial"/>
              </a:rPr>
              <a:t>• Pareto value is high</a:t>
            </a:r>
            <a:endParaRPr sz="1050"/>
          </a:p>
          <a:p xmlns:a="http://schemas.openxmlformats.org/drawingml/2006/main">
            <a:pPr marL="0" indent="0">
              <a:buNone/>
            </a:pPr>
            <a:r>
              <a:rPr sz="900">
                <a:solidFill>
                  <a:srgbClr val="262626"/>
                </a:solidFill>
                <a:latin typeface="Arial"/>
                <a:ea typeface="Arial"/>
                <a:cs typeface="Arial"/>
              </a:rPr>
              <a:t>• Chemistry is under-sampled</a:t>
            </a:r>
            <a:endParaRPr sz="1050"/>
          </a:p>
        </p:txBody>
      </p:sp>
      <p:sp>
        <p:nvSpPr>
          <p:cNvPr id="17" name="Shape 14">
            <a:extLst xmlns:a="http://schemas.openxmlformats.org/drawingml/2006/main">
              <a:ext uri="{FF2B5EF4-FFF2-40B4-BE49-F238E27FC236}">
                <a16:creationId xmlns:a16="http://schemas.microsoft.com/office/drawing/2014/main" id="{74E59334-5D47-48F5-9097-BFF29C0CD568}"/>
              </a:ext>
            </a:extLst>
          </p:cNvPr>
          <p:cNvSpPr>
            <a:spLocks xmlns:a="http://schemas.openxmlformats.org/drawingml/2006/main" noGrp="1"/>
          </p:cNvSpPr>
          <p:nvPr/>
        </p:nvSpPr>
        <p:spPr>
          <a:xfrm xmlns:a="http://schemas.openxmlformats.org/drawingml/2006/main">
            <a:off x="4754880" y="3794760"/>
            <a:ext cx="3657600" cy="1371600"/>
          </a:xfrm>
          <a:prstGeom xmlns:a="http://schemas.openxmlformats.org/drawingml/2006/main" prst="roundRect">
            <a:avLst>
              <a:gd name="adj" fmla="val 4667"/>
            </a:avLst>
          </a:prstGeom>
          <a:solidFill xmlns:a="http://schemas.openxmlformats.org/drawingml/2006/main">
            <a:srgbClr val="F2F2F2"/>
          </a:solidFill>
          <a:ln xmlns:a="http://schemas.openxmlformats.org/drawingml/2006/main" w="12700">
            <a:solidFill>
              <a:srgbClr val="BFBFBF"/>
            </a:solidFill>
            <a:prstDash val="solid"/>
          </a:ln>
        </p:spPr>
      </p:sp>
      <p:sp>
        <p:nvSpPr>
          <p:cNvPr id="18" name="Text 15">
            <a:extLst xmlns:a="http://schemas.openxmlformats.org/drawingml/2006/main">
              <a:ext uri="{FF2B5EF4-FFF2-40B4-BE49-F238E27FC236}">
                <a16:creationId xmlns:a16="http://schemas.microsoft.com/office/drawing/2014/main" id="{684FF24B-0E6E-46D0-8B92-845340105E12}"/>
              </a:ext>
            </a:extLst>
          </p:cNvPr>
          <p:cNvSpPr>
            <a:spLocks xmlns:a="http://schemas.openxmlformats.org/drawingml/2006/main" noGrp="1"/>
          </p:cNvSpPr>
          <p:nvPr/>
        </p:nvSpPr>
        <p:spPr>
          <a:xfrm xmlns:a="http://schemas.openxmlformats.org/drawingml/2006/main">
            <a:off x="4937760" y="3886200"/>
            <a:ext cx="3291840"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88" b="1">
                <a:solidFill>
                  <a:srgbClr val="1F4E79"/>
                </a:solidFill>
                <a:latin typeface="Arial"/>
                <a:ea typeface="Arial"/>
                <a:cs typeface="Arial"/>
              </a:rPr>
              <a:t>Required contract for any direct comparison</a:t>
            </a:r>
            <a:endParaRPr sz="1050"/>
          </a:p>
          <a:p xmlns:a="http://schemas.openxmlformats.org/drawingml/2006/main">
            <a:pPr marL="0" indent="0">
              <a:buNone/>
            </a:pPr>
            <a:r>
              <a:rPr sz="900">
                <a:solidFill>
                  <a:srgbClr val="262626"/>
                </a:solidFill>
                <a:latin typeface="Arial"/>
                <a:ea typeface="Arial"/>
                <a:cs typeface="Arial"/>
              </a:rPr>
              <a:t/>
            </a:r>
            <a:endParaRPr sz="1050"/>
          </a:p>
          <a:p xmlns:a="http://schemas.openxmlformats.org/drawingml/2006/main">
            <a:pPr marL="0" indent="0">
              <a:buNone/>
            </a:pPr>
            <a:r>
              <a:rPr sz="1088">
                <a:solidFill>
                  <a:srgbClr val="262626"/>
                </a:solidFill>
                <a:latin typeface="Arial"/>
                <a:ea typeface="Arial"/>
                <a:cs typeface="Arial"/>
              </a:rPr>
              <a:t>Same structure, cell, constraint, k-mesh, reference, and magnetic protocol.</a:t>
            </a:r>
            <a:endParaRPr sz="1050"/>
          </a:p>
          <a:p xmlns:a="http://schemas.openxmlformats.org/drawingml/2006/main">
            <a:pPr marL="0" indent="0">
              <a:buNone/>
            </a:pPr>
            <a:r>
              <a:rPr sz="1088">
                <a:solidFill>
                  <a:srgbClr val="262626"/>
                </a:solidFill>
                <a:latin typeface="Arial"/>
                <a:ea typeface="Arial"/>
                <a:cs typeface="Arial"/>
              </a:rPr>
              <a:t>Compare only inside one protocol lineage.</a:t>
            </a:r>
            <a:endParaRPr sz="1050"/>
          </a:p>
        </p:txBody>
      </p:sp>
      <p:sp>
        <p:nvSpPr>
          <p:cNvPr id="19" name="Text 16">
            <a:extLst xmlns:a="http://schemas.openxmlformats.org/drawingml/2006/main">
              <a:ext uri="{FF2B5EF4-FFF2-40B4-BE49-F238E27FC236}">
                <a16:creationId xmlns:a16="http://schemas.microsoft.com/office/drawing/2014/main" id="{6D7A0633-4D14-408B-93C7-38311605B545}"/>
              </a:ext>
            </a:extLst>
          </p:cNvPr>
          <p:cNvSpPr>
            <a:spLocks xmlns:a="http://schemas.openxmlformats.org/drawingml/2006/main" noGrp="1"/>
          </p:cNvSpPr>
          <p:nvPr/>
        </p:nvSpPr>
        <p:spPr>
          <a:xfrm xmlns:a="http://schemas.openxmlformats.org/drawingml/2006/main">
            <a:off x="548640" y="544068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The 47-candidate result is a relative screen — not 47 DFT confirmations.</a:t>
            </a:r>
            <a:endParaRPr sz="1250"/>
          </a:p>
        </p:txBody>
      </p:sp>
    </p:spTree>
    <p:extLst>
      <p:ext uri="{BB962C8B-B14F-4D97-AF65-F5344CB8AC3E}">
        <p14:creationId xmlns:p14="http://schemas.microsoft.com/office/powerpoint/2010/main" val="847521536"/>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161AB4E-87DF-4946-A5AB-FE57433262A9}"/>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ML roadmap</a:t>
            </a:r>
            <a:endParaRPr sz="2800"/>
          </a:p>
        </p:txBody>
      </p:sp>
      <p:sp>
        <p:nvSpPr>
          <p:cNvPr id="3" name="Text 1">
            <a:extLst xmlns:a="http://schemas.openxmlformats.org/drawingml/2006/main">
              <a:ext uri="{FF2B5EF4-FFF2-40B4-BE49-F238E27FC236}">
                <a16:creationId xmlns:a16="http://schemas.microsoft.com/office/drawing/2014/main" id="{0A90F980-5AC0-4E20-A275-411EFC0E72CE}"/>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i="1">
                <a:solidFill>
                  <a:srgbClr val="7F7F7F"/>
                </a:solidFill>
                <a:latin typeface="Arial"/>
                <a:ea typeface="Arial"/>
                <a:cs typeface="Arial"/>
              </a:rPr>
              <a:t>UMA screen + co-doping hypothesis model</a:t>
            </a:r>
            <a:endParaRPr sz="900"/>
          </a:p>
        </p:txBody>
      </p:sp>
      <p:sp>
        <p:nvSpPr>
          <p:cNvPr id="4" name="Shape 2">
            <a:extLst xmlns:a="http://schemas.openxmlformats.org/drawingml/2006/main">
              <a:ext uri="{FF2B5EF4-FFF2-40B4-BE49-F238E27FC236}">
                <a16:creationId xmlns:a16="http://schemas.microsoft.com/office/drawing/2014/main" id="{7F76A33A-6E9F-49C7-89AF-D6AB10614742}"/>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5" name="Shape 3">
            <a:extLst xmlns:a="http://schemas.openxmlformats.org/drawingml/2006/main">
              <a:ext uri="{FF2B5EF4-FFF2-40B4-BE49-F238E27FC236}">
                <a16:creationId xmlns:a16="http://schemas.microsoft.com/office/drawing/2014/main" id="{B59CB653-510E-4358-A4AC-702B2164D98F}"/>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D90D32AA-2529-4897-B2A9-B979AEBA04F3}"/>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ML is already here — but it is not yet a discovery model</a:t>
            </a:r>
            <a:endParaRPr sz="1400"/>
          </a:p>
        </p:txBody>
      </p:sp>
      <p:sp>
        <p:nvSpPr>
          <p:cNvPr id="7" name="Text 5">
            <a:extLst xmlns:a="http://schemas.openxmlformats.org/drawingml/2006/main">
              <a:ext uri="{FF2B5EF4-FFF2-40B4-BE49-F238E27FC236}">
                <a16:creationId xmlns:a16="http://schemas.microsoft.com/office/drawing/2014/main" id="{D62A74A8-F4F4-49FD-A805-6AB41EA7DA50}"/>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94D2C8A1-5CC2-483B-BA56-8F27CA0A1F7D}"/>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C98AC490-7986-4ADE-8297-AD09EF512D25}"/>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20</a:t>
            </a:r>
            <a:endParaRPr sz="900"/>
          </a:p>
        </p:txBody>
      </p:sp>
      <p:sp>
        <p:nvSpPr>
          <p:cNvPr id="11" name="Shape 8">
            <a:extLst xmlns:a="http://schemas.openxmlformats.org/drawingml/2006/main">
              <a:ext uri="{FF2B5EF4-FFF2-40B4-BE49-F238E27FC236}">
                <a16:creationId xmlns:a16="http://schemas.microsoft.com/office/drawing/2014/main" id="{BF976C37-28DD-4652-BF9E-61A08630E1A0}"/>
              </a:ext>
            </a:extLst>
          </p:cNvPr>
          <p:cNvSpPr>
            <a:spLocks xmlns:a="http://schemas.openxmlformats.org/drawingml/2006/main" noGrp="1"/>
          </p:cNvSpPr>
          <p:nvPr/>
        </p:nvSpPr>
        <p:spPr>
          <a:xfrm xmlns:a="http://schemas.openxmlformats.org/drawingml/2006/main">
            <a:off x="640080" y="1600200"/>
            <a:ext cx="4023360" cy="1097280"/>
          </a:xfrm>
          <a:prstGeom xmlns:a="http://schemas.openxmlformats.org/drawingml/2006/main" prst="roundRect">
            <a:avLst>
              <a:gd name="adj" fmla="val 5833"/>
            </a:avLst>
          </a:prstGeom>
          <a:solidFill xmlns:a="http://schemas.openxmlformats.org/drawingml/2006/main">
            <a:srgbClr val="D9E1F2"/>
          </a:solidFill>
          <a:ln xmlns:a="http://schemas.openxmlformats.org/drawingml/2006/main" w="12700">
            <a:solidFill>
              <a:srgbClr val="1F4E79"/>
            </a:solidFill>
            <a:prstDash val="solid"/>
          </a:ln>
        </p:spPr>
      </p:sp>
      <p:sp>
        <p:nvSpPr>
          <p:cNvPr id="12" name="Text 9">
            <a:extLst xmlns:a="http://schemas.openxmlformats.org/drawingml/2006/main">
              <a:ext uri="{FF2B5EF4-FFF2-40B4-BE49-F238E27FC236}">
                <a16:creationId xmlns:a16="http://schemas.microsoft.com/office/drawing/2014/main" id="{F8200DD0-C384-42E8-8CA3-92CE5DD9DE3D}"/>
              </a:ext>
            </a:extLst>
          </p:cNvPr>
          <p:cNvSpPr>
            <a:spLocks xmlns:a="http://schemas.openxmlformats.org/drawingml/2006/main" noGrp="1"/>
          </p:cNvSpPr>
          <p:nvPr/>
        </p:nvSpPr>
        <p:spPr>
          <a:xfrm xmlns:a="http://schemas.openxmlformats.org/drawingml/2006/main">
            <a:off x="777240" y="1691640"/>
            <a:ext cx="37490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1F4E79"/>
                </a:solidFill>
                <a:latin typeface="Arial"/>
                <a:ea typeface="Arial"/>
                <a:cs typeface="Arial"/>
              </a:rPr>
              <a:t>UMA MLIP
</a:t>
            </a:r>
            <a:endParaRPr sz="1050"/>
          </a:p>
          <a:p xmlns:a="http://schemas.openxmlformats.org/drawingml/2006/main">
            <a:pPr marL="0" indent="0">
              <a:buNone/>
            </a:pPr>
            <a:r>
              <a:rPr sz="850">
                <a:solidFill>
                  <a:srgbClr val="262626"/>
                </a:solidFill>
                <a:latin typeface="Arial"/>
                <a:ea typeface="Arial"/>
                <a:cs typeface="Arial"/>
              </a:rPr>
              <a:t>Energy and force surrogate</a:t>
            </a:r>
            <a:endParaRPr sz="1050"/>
          </a:p>
          <a:p xmlns:a="http://schemas.openxmlformats.org/drawingml/2006/main">
            <a:pPr marL="0" indent="0">
              <a:buNone/>
            </a:pPr>
            <a:r>
              <a:rPr sz="850">
                <a:solidFill>
                  <a:srgbClr val="262626"/>
                </a:solidFill>
                <a:latin typeface="Arial"/>
                <a:ea typeface="Arial"/>
                <a:cs typeface="Arial"/>
              </a:rPr>
              <a:t>Fast configuration search</a:t>
            </a:r>
            <a:endParaRPr sz="1050"/>
          </a:p>
          <a:p xmlns:a="http://schemas.openxmlformats.org/drawingml/2006/main">
            <a:pPr marL="0" indent="0">
              <a:buNone/>
            </a:pPr>
            <a:r>
              <a:rPr sz="850">
                <a:solidFill>
                  <a:srgbClr val="262626"/>
                </a:solidFill>
                <a:latin typeface="Arial"/>
                <a:ea typeface="Arial"/>
                <a:cs typeface="Arial"/>
              </a:rPr>
              <a:t>Same-protocol relative screen</a:t>
            </a:r>
            <a:endParaRPr sz="1050"/>
          </a:p>
        </p:txBody>
      </p:sp>
      <p:sp>
        <p:nvSpPr>
          <p:cNvPr id="13" name="Shape 10">
            <a:extLst xmlns:a="http://schemas.openxmlformats.org/drawingml/2006/main">
              <a:ext uri="{FF2B5EF4-FFF2-40B4-BE49-F238E27FC236}">
                <a16:creationId xmlns:a16="http://schemas.microsoft.com/office/drawing/2014/main" id="{612955EA-3ADE-4B71-8B94-6705E1D5FE0A}"/>
              </a:ext>
            </a:extLst>
          </p:cNvPr>
          <p:cNvSpPr>
            <a:spLocks xmlns:a="http://schemas.openxmlformats.org/drawingml/2006/main" noGrp="1"/>
          </p:cNvSpPr>
          <p:nvPr/>
        </p:nvSpPr>
        <p:spPr>
          <a:xfrm xmlns:a="http://schemas.openxmlformats.org/drawingml/2006/main">
            <a:off x="640080" y="2834640"/>
            <a:ext cx="4023360" cy="1097280"/>
          </a:xfrm>
          <a:prstGeom xmlns:a="http://schemas.openxmlformats.org/drawingml/2006/main" prst="roundRect">
            <a:avLst>
              <a:gd name="adj" fmla="val 5833"/>
            </a:avLst>
          </a:prstGeom>
          <a:solidFill xmlns:a="http://schemas.openxmlformats.org/drawingml/2006/main">
            <a:srgbClr val="E5F2E6"/>
          </a:solidFill>
          <a:ln xmlns:a="http://schemas.openxmlformats.org/drawingml/2006/main" w="12700">
            <a:solidFill>
              <a:srgbClr val="2E7D32"/>
            </a:solidFill>
            <a:prstDash val="solid"/>
          </a:ln>
        </p:spPr>
      </p:sp>
      <p:sp>
        <p:nvSpPr>
          <p:cNvPr id="14" name="Text 11">
            <a:extLst xmlns:a="http://schemas.openxmlformats.org/drawingml/2006/main">
              <a:ext uri="{FF2B5EF4-FFF2-40B4-BE49-F238E27FC236}">
                <a16:creationId xmlns:a16="http://schemas.microsoft.com/office/drawing/2014/main" id="{0BEB3018-DACC-47B6-A936-BEB0A9F6BAE3}"/>
              </a:ext>
            </a:extLst>
          </p:cNvPr>
          <p:cNvSpPr>
            <a:spLocks xmlns:a="http://schemas.openxmlformats.org/drawingml/2006/main" noGrp="1"/>
          </p:cNvSpPr>
          <p:nvPr/>
        </p:nvSpPr>
        <p:spPr>
          <a:xfrm xmlns:a="http://schemas.openxmlformats.org/drawingml/2006/main">
            <a:off x="777240" y="2926080"/>
            <a:ext cx="37490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50" b="1">
                <a:solidFill>
                  <a:srgbClr val="2E7D32"/>
                </a:solidFill>
                <a:latin typeface="Arial"/>
                <a:ea typeface="Arial"/>
                <a:cs typeface="Arial"/>
              </a:rPr>
              <a:t>Physics cascade
</a:t>
            </a:r>
            <a:endParaRPr sz="1050"/>
          </a:p>
          <a:p xmlns:a="http://schemas.openxmlformats.org/drawingml/2006/main">
            <a:pPr marL="0" indent="0">
              <a:buNone/>
            </a:pPr>
            <a:r>
              <a:rPr sz="850">
                <a:solidFill>
                  <a:srgbClr val="262626"/>
                </a:solidFill>
                <a:latin typeface="Arial"/>
                <a:ea typeface="Arial"/>
                <a:cs typeface="Arial"/>
              </a:rPr>
              <a:t>Gate pass / fail</a:t>
            </a:r>
            <a:endParaRPr sz="1050"/>
          </a:p>
          <a:p xmlns:a="http://schemas.openxmlformats.org/drawingml/2006/main">
            <a:pPr marL="0" indent="0">
              <a:buNone/>
            </a:pPr>
            <a:r>
              <a:rPr sz="850">
                <a:solidFill>
                  <a:srgbClr val="262626"/>
                </a:solidFill>
                <a:latin typeface="Arial"/>
                <a:ea typeface="Arial"/>
                <a:cs typeface="Arial"/>
              </a:rPr>
              <a:t>Trade-off structure</a:t>
            </a:r>
            <a:endParaRPr sz="1050"/>
          </a:p>
          <a:p xmlns:a="http://schemas.openxmlformats.org/drawingml/2006/main">
            <a:pPr marL="0" indent="0">
              <a:buNone/>
            </a:pPr>
            <a:r>
              <a:rPr sz="850">
                <a:solidFill>
                  <a:srgbClr val="262626"/>
                </a:solidFill>
                <a:latin typeface="Arial"/>
                <a:ea typeface="Arial"/>
                <a:cs typeface="Arial"/>
              </a:rPr>
              <a:t>Shortlist for expensive validation</a:t>
            </a:r>
            <a:endParaRPr sz="1050"/>
          </a:p>
        </p:txBody>
      </p:sp>
      <p:sp>
        <p:nvSpPr>
          <p:cNvPr id="15" name="Shape 12">
            <a:extLst xmlns:a="http://schemas.openxmlformats.org/drawingml/2006/main">
              <a:ext uri="{FF2B5EF4-FFF2-40B4-BE49-F238E27FC236}">
                <a16:creationId xmlns:a16="http://schemas.microsoft.com/office/drawing/2014/main" id="{8A6F395B-82B0-4CF3-B72D-37301B06F28E}"/>
              </a:ext>
            </a:extLst>
          </p:cNvPr>
          <p:cNvSpPr>
            <a:spLocks xmlns:a="http://schemas.openxmlformats.org/drawingml/2006/main" noGrp="1"/>
          </p:cNvSpPr>
          <p:nvPr/>
        </p:nvSpPr>
        <p:spPr>
          <a:xfrm xmlns:a="http://schemas.openxmlformats.org/drawingml/2006/main">
            <a:off x="640080" y="4069080"/>
            <a:ext cx="4023360" cy="1097280"/>
          </a:xfrm>
          <a:prstGeom xmlns:a="http://schemas.openxmlformats.org/drawingml/2006/main" prst="roundRect">
            <a:avLst>
              <a:gd name="adj" fmla="val 5833"/>
            </a:avLst>
          </a:prstGeom>
          <a:solidFill xmlns:a="http://schemas.openxmlformats.org/drawingml/2006/main">
            <a:srgbClr val="FFF4E0"/>
          </a:solidFill>
          <a:ln xmlns:a="http://schemas.openxmlformats.org/drawingml/2006/main" w="12700">
            <a:solidFill>
              <a:srgbClr val="B26A00"/>
            </a:solidFill>
            <a:prstDash val="solid"/>
          </a:ln>
        </p:spPr>
      </p:sp>
      <p:sp>
        <p:nvSpPr>
          <p:cNvPr id="16" name="Text 13">
            <a:extLst xmlns:a="http://schemas.openxmlformats.org/drawingml/2006/main">
              <a:ext uri="{FF2B5EF4-FFF2-40B4-BE49-F238E27FC236}">
                <a16:creationId xmlns:a16="http://schemas.microsoft.com/office/drawing/2014/main" id="{2394ABE0-B3BC-4E44-B954-784EB82C0553}"/>
              </a:ext>
            </a:extLst>
          </p:cNvPr>
          <p:cNvSpPr>
            <a:spLocks xmlns:a="http://schemas.openxmlformats.org/drawingml/2006/main" noGrp="1"/>
          </p:cNvSpPr>
          <p:nvPr/>
        </p:nvSpPr>
        <p:spPr>
          <a:xfrm xmlns:a="http://schemas.openxmlformats.org/drawingml/2006/main">
            <a:off x="777240" y="4160520"/>
            <a:ext cx="374904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088" b="1">
                <a:solidFill>
                  <a:srgbClr val="B26A00"/>
                </a:solidFill>
                <a:latin typeface="Arial"/>
                <a:ea typeface="Arial"/>
                <a:cs typeface="Arial"/>
              </a:rPr>
              <a:t>Co-doping ML v2</a:t>
            </a:r>
            <a:endParaRPr sz="1050"/>
          </a:p>
          <a:p xmlns:a="http://schemas.openxmlformats.org/drawingml/2006/main">
            <a:pPr marL="0" indent="0">
              <a:buNone/>
            </a:pPr>
            <a:r>
              <a:rPr sz="850">
                <a:solidFill>
                  <a:srgbClr val="262626"/>
                </a:solidFill>
                <a:latin typeface="Arial"/>
                <a:ea typeface="Arial"/>
                <a:cs typeface="Arial"/>
              </a:rPr>
              <a:t/>
            </a:r>
            <a:endParaRPr sz="1050"/>
          </a:p>
          <a:p xmlns:a="http://schemas.openxmlformats.org/drawingml/2006/main">
            <a:pPr marL="0" indent="0">
              <a:buNone/>
            </a:pPr>
            <a:r>
              <a:rPr sz="1088">
                <a:solidFill>
                  <a:srgbClr val="262626"/>
                </a:solidFill>
                <a:latin typeface="Arial"/>
                <a:ea typeface="Arial"/>
                <a:cs typeface="Arial"/>
              </a:rPr>
              <a:t>47 scores → 1,081 pair hypotheses</a:t>
            </a:r>
            <a:endParaRPr sz="1050"/>
          </a:p>
          <a:p xmlns:a="http://schemas.openxmlformats.org/drawingml/2006/main">
            <a:pPr marL="0" indent="0">
              <a:buNone/>
            </a:pPr>
            <a:r>
              <a:rPr sz="1088">
                <a:solidFill>
                  <a:srgbClr val="262626"/>
                </a:solidFill>
                <a:latin typeface="Arial"/>
                <a:ea typeface="Arial"/>
                <a:cs typeface="Arial"/>
              </a:rPr>
              <a:t>0 explicit co-doped structures</a:t>
            </a:r>
            <a:endParaRPr sz="1050"/>
          </a:p>
          <a:p xmlns:a="http://schemas.openxmlformats.org/drawingml/2006/main">
            <a:pPr marL="0" indent="0">
              <a:buNone/>
            </a:pPr>
            <a:r>
              <a:rPr sz="1088">
                <a:solidFill>
                  <a:srgbClr val="262626"/>
                </a:solidFill>
                <a:latin typeface="Arial"/>
                <a:ea typeface="Arial"/>
                <a:cs typeface="Arial"/>
              </a:rPr>
              <a:t>0 DFT/experimental pair labels</a:t>
            </a:r>
            <a:endParaRPr sz="1050"/>
          </a:p>
          <a:p xmlns:a="http://schemas.openxmlformats.org/drawingml/2006/main">
            <a:pPr marL="0" indent="0">
              <a:buNone/>
            </a:pPr>
            <a:r>
              <a:rPr sz="1088">
                <a:solidFill>
                  <a:srgbClr val="262626"/>
                </a:solidFill>
                <a:latin typeface="Arial"/>
                <a:ea typeface="Arial"/>
                <a:cs typeface="Arial"/>
              </a:rPr>
              <a:t>LODO / L2DO R² &lt; 0</a:t>
            </a:r>
            <a:endParaRPr sz="1050"/>
          </a:p>
        </p:txBody>
      </p:sp>
      <p:sp>
        <p:nvSpPr>
          <p:cNvPr id="18" name="Text 14">
            <a:extLst xmlns:a="http://schemas.openxmlformats.org/drawingml/2006/main">
              <a:ext uri="{FF2B5EF4-FFF2-40B4-BE49-F238E27FC236}">
                <a16:creationId xmlns:a16="http://schemas.microsoft.com/office/drawing/2014/main" id="{C1068A3C-AD98-4CB7-8D5B-3A3A4A6C5FCA}"/>
              </a:ext>
            </a:extLst>
          </p:cNvPr>
          <p:cNvSpPr>
            <a:spLocks xmlns:a="http://schemas.openxmlformats.org/drawingml/2006/main" noGrp="1"/>
          </p:cNvSpPr>
          <p:nvPr/>
        </p:nvSpPr>
        <p:spPr>
          <a:xfrm xmlns:a="http://schemas.openxmlformats.org/drawingml/2006/main">
            <a:off x="4892040" y="5148072"/>
            <a:ext cx="36576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63" i="1">
                <a:solidFill>
                  <a:srgbClr val="7F7F7F"/>
                </a:solidFill>
                <a:latin typeface="Arial"/>
                <a:ea typeface="Arial"/>
                <a:cs typeface="Arial"/>
              </a:rPr>
              <a:t>Uncomputed pair: site competition and joint properties remain open.</a:t>
            </a:r>
            <a:endParaRPr sz="850"/>
          </a:p>
        </p:txBody>
      </p:sp>
      <p:sp>
        <p:nvSpPr>
          <p:cNvPr id="19" name="Text 15">
            <a:extLst xmlns:a="http://schemas.openxmlformats.org/drawingml/2006/main">
              <a:ext uri="{FF2B5EF4-FFF2-40B4-BE49-F238E27FC236}">
                <a16:creationId xmlns:a16="http://schemas.microsoft.com/office/drawing/2014/main" id="{A98EE61E-752A-480D-9EE5-32E8641D2061}"/>
              </a:ext>
            </a:extLst>
          </p:cNvPr>
          <p:cNvSpPr>
            <a:spLocks xmlns:a="http://schemas.openxmlformats.org/drawingml/2006/main" noGrp="1"/>
          </p:cNvSpPr>
          <p:nvPr/>
        </p:nvSpPr>
        <p:spPr>
          <a:xfrm xmlns:a="http://schemas.openxmlformats.org/drawingml/2006/main">
            <a:off x="548640" y="557784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Current role: cost reduction + hypothesis ordering, not discovery certification.</a:t>
            </a:r>
            <a:endParaRPr sz="1250"/>
          </a:p>
        </p:txBody>
      </p:sp>
      <p:sp>
        <p:nvSpPr>
          <p:cNvPr id="20" name="Text 16">
            <a:extLst xmlns:a="http://schemas.openxmlformats.org/drawingml/2006/main">
              <a:ext uri="{FF2B5EF4-FFF2-40B4-BE49-F238E27FC236}">
                <a16:creationId xmlns:a16="http://schemas.microsoft.com/office/drawing/2014/main" id="{668AF21B-67DD-45E5-8AA9-64E9C5208E57}"/>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synergy_pairs.csv · codoping_ml_v2.csv · codoping_ml_v2_meta.json</a:t>
            </a:r>
            <a:endParaRPr sz="750"/>
          </a:p>
        </p:txBody>
      </p:sp>
      <p:sp>
        <p:nvSpPr>
          <p:cNvPr id="21" name="pair-panel-title">
            <a:extLst xmlns:a="http://schemas.openxmlformats.org/drawingml/2006/main">
              <a:ext uri="{FF2B5EF4-FFF2-40B4-BE49-F238E27FC236}">
                <a16:creationId xmlns:a16="http://schemas.microsoft.com/office/drawing/2014/main" id="{AF21E09A-E488-4C4F-9AA7-0454F0CAF728}"/>
              </a:ext>
            </a:extLst>
          </p:cNvPr>
          <p:cNvSpPr>
            <a:spLocks xmlns:a="http://schemas.openxmlformats.org/drawingml/2006/main" noGrp="1"/>
          </p:cNvSpPr>
          <p:nvPr/>
        </p:nvSpPr>
        <p:spPr>
          <a:xfrm xmlns:a="http://schemas.openxmlformats.org/drawingml/2006/main">
            <a:off x="4892040" y="1381125"/>
            <a:ext cx="36576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ctr">
              <a:defRPr sz="1350" b="1" i="0">
                <a:solidFill>
                  <a:srgbClr val="1F4E79"/>
                </a:solidFill>
                <a:latin typeface="Arial"/>
                <a:ea typeface="Arial"/>
                <a:cs typeface="Arial"/>
              </a:defRPr>
            </a:pPr>
            <a:r>
              <a:rPr sz="1350" b="1" i="0">
                <a:solidFill>
                  <a:srgbClr val="1F4E79"/>
                </a:solidFill>
                <a:latin typeface="Arial"/>
                <a:ea typeface="Arial"/>
                <a:cs typeface="Arial"/>
              </a:rPr>
              <a:t>Cr₂O₃ ↔ HfO₂ end-member proxy</a:t>
            </a:r>
          </a:p>
        </p:txBody>
      </p:sp>
      <p:sp>
        <p:nvSpPr>
          <p:cNvPr id="22" name="pair-cr-box">
            <a:extLst xmlns:a="http://schemas.openxmlformats.org/drawingml/2006/main">
              <a:ext uri="{FF2B5EF4-FFF2-40B4-BE49-F238E27FC236}">
                <a16:creationId xmlns:a16="http://schemas.microsoft.com/office/drawing/2014/main" id="{D161D8ED-0F77-42B5-B486-F3D422DC5ECF}"/>
              </a:ext>
            </a:extLst>
          </p:cNvPr>
          <p:cNvSpPr>
            <a:spLocks xmlns:a="http://schemas.openxmlformats.org/drawingml/2006/main" noGrp="1"/>
          </p:cNvSpPr>
          <p:nvPr/>
        </p:nvSpPr>
        <p:spPr>
          <a:xfrm xmlns:a="http://schemas.openxmlformats.org/drawingml/2006/main">
            <a:off x="4892040" y="1771650"/>
            <a:ext cx="3657600" cy="1200150"/>
          </a:xfrm>
          <a:prstGeom xmlns:a="http://schemas.openxmlformats.org/drawingml/2006/main" prst="roundRect">
            <a:avLst>
              <a:gd name="adj" fmla="val 6349"/>
            </a:avLst>
          </a:prstGeom>
          <a:solidFill xmlns:a="http://schemas.openxmlformats.org/drawingml/2006/main">
            <a:srgbClr val="FBE9E7"/>
          </a:solidFill>
          <a:ln xmlns:a="http://schemas.openxmlformats.org/drawingml/2006/main" w="9525">
            <a:solidFill>
              <a:srgbClr val="D9E1F2"/>
            </a:solidFill>
            <a:prstDash val="solid"/>
          </a:ln>
        </p:spPr>
      </p:sp>
      <p:sp>
        <p:nvSpPr>
          <p:cNvPr id="23" name="pair-cr-accent">
            <a:extLst xmlns:a="http://schemas.openxmlformats.org/drawingml/2006/main">
              <a:ext uri="{FF2B5EF4-FFF2-40B4-BE49-F238E27FC236}">
                <a16:creationId xmlns:a16="http://schemas.microsoft.com/office/drawing/2014/main" id="{7810006C-24F4-45B0-A2AC-5F4D5C691A08}"/>
              </a:ext>
            </a:extLst>
          </p:cNvPr>
          <p:cNvSpPr>
            <a:spLocks xmlns:a="http://schemas.openxmlformats.org/drawingml/2006/main" noGrp="1"/>
          </p:cNvSpPr>
          <p:nvPr/>
        </p:nvSpPr>
        <p:spPr>
          <a:xfrm xmlns:a="http://schemas.openxmlformats.org/drawingml/2006/main">
            <a:off x="4892040" y="1771650"/>
            <a:ext cx="66675" cy="1200150"/>
          </a:xfrm>
          <a:prstGeom xmlns:a="http://schemas.openxmlformats.org/drawingml/2006/main" prst="rect">
            <a:avLst/>
          </a:prstGeom>
          <a:solidFill xmlns:a="http://schemas.openxmlformats.org/drawingml/2006/main">
            <a:srgbClr val="9E2A2B"/>
          </a:solidFill>
          <a:ln xmlns:a="http://schemas.openxmlformats.org/drawingml/2006/main" w="0">
            <a:solidFill>
              <a:srgbClr val="9E2A2B"/>
            </a:solidFill>
            <a:prstDash val="solid"/>
          </a:ln>
        </p:spPr>
      </p:sp>
      <p:sp>
        <p:nvSpPr>
          <p:cNvPr id="24" name="pair-cr-title">
            <a:extLst xmlns:a="http://schemas.openxmlformats.org/drawingml/2006/main">
              <a:ext uri="{FF2B5EF4-FFF2-40B4-BE49-F238E27FC236}">
                <a16:creationId xmlns:a16="http://schemas.microsoft.com/office/drawing/2014/main" id="{5D2D3CF1-98F1-4574-8086-F9432E45130B}"/>
              </a:ext>
            </a:extLst>
          </p:cNvPr>
          <p:cNvSpPr>
            <a:spLocks xmlns:a="http://schemas.openxmlformats.org/drawingml/2006/main" noGrp="1"/>
          </p:cNvSpPr>
          <p:nvPr/>
        </p:nvSpPr>
        <p:spPr>
          <a:xfrm xmlns:a="http://schemas.openxmlformats.org/drawingml/2006/main">
            <a:off x="5025390" y="18478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38100" rIns="66675" bIns="38100" anchor="ctr">
            <a:normAutofit fontScale="98039"/>
          </a:bodyPr>
          <a:lstStyle xmlns:a="http://schemas.openxmlformats.org/drawingml/2006/main"/>
          <a:p xmlns:a="http://schemas.openxmlformats.org/drawingml/2006/main">
            <a:pPr algn="l">
              <a:defRPr sz="1275" b="1" i="0">
                <a:solidFill>
                  <a:srgbClr val="9E2A2B"/>
                </a:solidFill>
                <a:latin typeface="Arial"/>
                <a:ea typeface="Arial"/>
                <a:cs typeface="Arial"/>
              </a:defRPr>
            </a:pPr>
            <a:r>
              <a:rPr sz="1275" b="1" i="0">
                <a:solidFill>
                  <a:srgbClr val="9E2A2B"/>
                </a:solidFill>
                <a:latin typeface="Arial"/>
                <a:ea typeface="Arial"/>
                <a:cs typeface="Arial"/>
              </a:rPr>
              <a:t>Cr₂O₃</a:t>
            </a:r>
          </a:p>
        </p:txBody>
      </p:sp>
      <p:sp>
        <p:nvSpPr>
          <p:cNvPr id="25" name="pair-cr-body">
            <a:extLst xmlns:a="http://schemas.openxmlformats.org/drawingml/2006/main">
              <a:ext uri="{FF2B5EF4-FFF2-40B4-BE49-F238E27FC236}">
                <a16:creationId xmlns:a16="http://schemas.microsoft.com/office/drawing/2014/main" id="{82C180AB-40B9-4A25-8783-0A79C4A0C37E}"/>
              </a:ext>
            </a:extLst>
          </p:cNvPr>
          <p:cNvSpPr>
            <a:spLocks xmlns:a="http://schemas.openxmlformats.org/drawingml/2006/main" noGrp="1"/>
          </p:cNvSpPr>
          <p:nvPr/>
        </p:nvSpPr>
        <p:spPr>
          <a:xfrm xmlns:a="http://schemas.openxmlformats.org/drawingml/2006/main">
            <a:off x="5025390" y="2143125"/>
            <a:ext cx="342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38100" rIns="66675" bIns="38100" anchor="t">
            <a:normAutofit fontScale="100000"/>
          </a:bodyPr>
          <a:lstStyle xmlns:a="http://schemas.openxmlformats.org/drawingml/2006/main"/>
          <a:p xmlns:a="http://schemas.openxmlformats.org/drawingml/2006/main">
            <a:pPr algn="l">
              <a:defRPr sz="1050" b="0" i="0">
                <a:solidFill>
                  <a:srgbClr val="262626"/>
                </a:solidFill>
                <a:latin typeface="Arial"/>
                <a:ea typeface="Arial"/>
                <a:cs typeface="Arial"/>
              </a:defRPr>
            </a:pPr>
            <a:r>
              <a:rPr sz="1050" b="0" i="0">
                <a:solidFill>
                  <a:srgbClr val="262626"/>
                </a:solidFill>
                <a:latin typeface="Arial"/>
                <a:ea typeface="Arial"/>
                <a:cs typeface="Arial"/>
              </a:rPr>
              <a:t>Vox = 2.356 V</a:t>
            </a:r>
          </a:p>
          <a:p xmlns:a="http://schemas.openxmlformats.org/drawingml/2006/main">
            <a:pPr algn="l">
              <a:defRPr sz="1050" b="0" i="0">
                <a:solidFill>
                  <a:srgbClr val="262626"/>
                </a:solidFill>
                <a:latin typeface="Arial"/>
                <a:ea typeface="Arial"/>
                <a:cs typeface="Arial"/>
              </a:defRPr>
            </a:pPr>
            <a:r>
              <a:rPr sz="1050" b="0" i="0">
                <a:solidFill>
                  <a:srgbClr val="262626"/>
                </a:solidFill>
                <a:latin typeface="Arial"/>
                <a:ea typeface="Arial"/>
                <a:cs typeface="Arial"/>
              </a:rPr>
              <a:t>Oxidation-side end member</a:t>
            </a:r>
          </a:p>
          <a:p xmlns:a="http://schemas.openxmlformats.org/drawingml/2006/main">
            <a:pPr algn="l">
              <a:defRPr sz="1050" b="0" i="0">
                <a:solidFill>
                  <a:srgbClr val="262626"/>
                </a:solidFill>
                <a:latin typeface="Arial"/>
                <a:ea typeface="Arial"/>
                <a:cs typeface="Arial"/>
              </a:defRPr>
            </a:pPr>
            <a:r>
              <a:rPr sz="1050" b="0" i="0">
                <a:solidFill>
                  <a:srgbClr val="262626"/>
                </a:solidFill>
                <a:latin typeface="Arial"/>
                <a:ea typeface="Arial"/>
                <a:cs typeface="Arial"/>
              </a:rPr>
              <a:t>Single-dopant champion site: Li_24g</a:t>
            </a:r>
          </a:p>
        </p:txBody>
      </p:sp>
      <p:sp>
        <p:nvSpPr>
          <p:cNvPr id="26" name="pair-hf-box">
            <a:extLst xmlns:a="http://schemas.openxmlformats.org/drawingml/2006/main">
              <a:ext uri="{FF2B5EF4-FFF2-40B4-BE49-F238E27FC236}">
                <a16:creationId xmlns:a16="http://schemas.microsoft.com/office/drawing/2014/main" id="{A8406B7B-6EFE-4ED0-B93A-6232DF992A7F}"/>
              </a:ext>
            </a:extLst>
          </p:cNvPr>
          <p:cNvSpPr>
            <a:spLocks xmlns:a="http://schemas.openxmlformats.org/drawingml/2006/main" noGrp="1"/>
          </p:cNvSpPr>
          <p:nvPr/>
        </p:nvSpPr>
        <p:spPr>
          <a:xfrm xmlns:a="http://schemas.openxmlformats.org/drawingml/2006/main">
            <a:off x="4892040" y="3105150"/>
            <a:ext cx="3657600" cy="1200150"/>
          </a:xfrm>
          <a:prstGeom xmlns:a="http://schemas.openxmlformats.org/drawingml/2006/main" prst="roundRect">
            <a:avLst>
              <a:gd name="adj" fmla="val 6349"/>
            </a:avLst>
          </a:prstGeom>
          <a:solidFill xmlns:a="http://schemas.openxmlformats.org/drawingml/2006/main">
            <a:srgbClr val="DCE6F1"/>
          </a:solidFill>
          <a:ln xmlns:a="http://schemas.openxmlformats.org/drawingml/2006/main" w="9525">
            <a:solidFill>
              <a:srgbClr val="D9E1F2"/>
            </a:solidFill>
            <a:prstDash val="solid"/>
          </a:ln>
        </p:spPr>
      </p:sp>
      <p:sp>
        <p:nvSpPr>
          <p:cNvPr id="27" name="pair-hf-accent">
            <a:extLst xmlns:a="http://schemas.openxmlformats.org/drawingml/2006/main">
              <a:ext uri="{FF2B5EF4-FFF2-40B4-BE49-F238E27FC236}">
                <a16:creationId xmlns:a16="http://schemas.microsoft.com/office/drawing/2014/main" id="{0C364844-71E3-49D7-9908-758F78AF4498}"/>
              </a:ext>
            </a:extLst>
          </p:cNvPr>
          <p:cNvSpPr>
            <a:spLocks xmlns:a="http://schemas.openxmlformats.org/drawingml/2006/main" noGrp="1"/>
          </p:cNvSpPr>
          <p:nvPr/>
        </p:nvSpPr>
        <p:spPr>
          <a:xfrm xmlns:a="http://schemas.openxmlformats.org/drawingml/2006/main">
            <a:off x="4892040" y="3105150"/>
            <a:ext cx="66675" cy="1200150"/>
          </a:xfrm>
          <a:prstGeom xmlns:a="http://schemas.openxmlformats.org/drawingml/2006/main" prst="rect">
            <a:avLst/>
          </a:prstGeom>
          <a:solidFill xmlns:a="http://schemas.openxmlformats.org/drawingml/2006/main">
            <a:srgbClr val="0070C0"/>
          </a:solidFill>
          <a:ln xmlns:a="http://schemas.openxmlformats.org/drawingml/2006/main" w="0">
            <a:solidFill>
              <a:srgbClr val="0070C0"/>
            </a:solidFill>
            <a:prstDash val="solid"/>
          </a:ln>
        </p:spPr>
      </p:sp>
      <p:sp>
        <p:nvSpPr>
          <p:cNvPr id="28" name="pair-hf-title">
            <a:extLst xmlns:a="http://schemas.openxmlformats.org/drawingml/2006/main">
              <a:ext uri="{FF2B5EF4-FFF2-40B4-BE49-F238E27FC236}">
                <a16:creationId xmlns:a16="http://schemas.microsoft.com/office/drawing/2014/main" id="{59769531-EEF6-488B-8942-6FD621DB2B29}"/>
              </a:ext>
            </a:extLst>
          </p:cNvPr>
          <p:cNvSpPr>
            <a:spLocks xmlns:a="http://schemas.openxmlformats.org/drawingml/2006/main" noGrp="1"/>
          </p:cNvSpPr>
          <p:nvPr/>
        </p:nvSpPr>
        <p:spPr>
          <a:xfrm xmlns:a="http://schemas.openxmlformats.org/drawingml/2006/main">
            <a:off x="5025390" y="31813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38100" rIns="66675" bIns="38100" anchor="ctr">
            <a:normAutofit fontScale="98039"/>
          </a:bodyPr>
          <a:lstStyle xmlns:a="http://schemas.openxmlformats.org/drawingml/2006/main"/>
          <a:p xmlns:a="http://schemas.openxmlformats.org/drawingml/2006/main">
            <a:pPr algn="l">
              <a:defRPr sz="1275" b="1" i="0">
                <a:solidFill>
                  <a:srgbClr val="0070C0"/>
                </a:solidFill>
                <a:latin typeface="Arial"/>
                <a:ea typeface="Arial"/>
                <a:cs typeface="Arial"/>
              </a:defRPr>
            </a:pPr>
            <a:r>
              <a:rPr sz="1275" b="1" i="0">
                <a:solidFill>
                  <a:srgbClr val="0070C0"/>
                </a:solidFill>
                <a:latin typeface="Arial"/>
                <a:ea typeface="Arial"/>
                <a:cs typeface="Arial"/>
              </a:rPr>
              <a:t>HfO₂</a:t>
            </a:r>
          </a:p>
        </p:txBody>
      </p:sp>
      <p:sp>
        <p:nvSpPr>
          <p:cNvPr id="29" name="pair-hf-body">
            <a:extLst xmlns:a="http://schemas.openxmlformats.org/drawingml/2006/main">
              <a:ext uri="{FF2B5EF4-FFF2-40B4-BE49-F238E27FC236}">
                <a16:creationId xmlns:a16="http://schemas.microsoft.com/office/drawing/2014/main" id="{6D4F55FB-99CD-4350-8FC1-F4EDC0DD351D}"/>
              </a:ext>
            </a:extLst>
          </p:cNvPr>
          <p:cNvSpPr>
            <a:spLocks xmlns:a="http://schemas.openxmlformats.org/drawingml/2006/main" noGrp="1"/>
          </p:cNvSpPr>
          <p:nvPr/>
        </p:nvSpPr>
        <p:spPr>
          <a:xfrm xmlns:a="http://schemas.openxmlformats.org/drawingml/2006/main">
            <a:off x="5025390" y="3476625"/>
            <a:ext cx="3429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66675" tIns="38100" rIns="66675" bIns="38100" anchor="t">
            <a:normAutofit fontScale="100000"/>
          </a:bodyPr>
          <a:lstStyle xmlns:a="http://schemas.openxmlformats.org/drawingml/2006/main"/>
          <a:p xmlns:a="http://schemas.openxmlformats.org/drawingml/2006/main">
            <a:pPr algn="l">
              <a:defRPr sz="1050" b="0" i="0">
                <a:solidFill>
                  <a:srgbClr val="262626"/>
                </a:solidFill>
                <a:latin typeface="Arial"/>
                <a:ea typeface="Arial"/>
                <a:cs typeface="Arial"/>
              </a:defRPr>
            </a:pPr>
            <a:r>
              <a:rPr sz="1050" b="0" i="0">
                <a:solidFill>
                  <a:srgbClr val="262626"/>
                </a:solidFill>
                <a:latin typeface="Arial"/>
                <a:ea typeface="Arial"/>
                <a:cs typeface="Arial"/>
              </a:rPr>
              <a:t>Vred = 1.242 V</a:t>
            </a:r>
          </a:p>
          <a:p xmlns:a="http://schemas.openxmlformats.org/drawingml/2006/main">
            <a:pPr algn="l">
              <a:defRPr sz="1050" b="0" i="0">
                <a:solidFill>
                  <a:srgbClr val="262626"/>
                </a:solidFill>
                <a:latin typeface="Arial"/>
                <a:ea typeface="Arial"/>
                <a:cs typeface="Arial"/>
              </a:defRPr>
            </a:pPr>
            <a:r>
              <a:rPr sz="1050" b="0" i="0">
                <a:solidFill>
                  <a:srgbClr val="262626"/>
                </a:solidFill>
                <a:latin typeface="Arial"/>
                <a:ea typeface="Arial"/>
                <a:cs typeface="Arial"/>
              </a:rPr>
              <a:t>Reduction-side / lower-blocking complement</a:t>
            </a:r>
          </a:p>
          <a:p xmlns:a="http://schemas.openxmlformats.org/drawingml/2006/main">
            <a:pPr algn="l">
              <a:defRPr sz="1050" b="0" i="0">
                <a:solidFill>
                  <a:srgbClr val="262626"/>
                </a:solidFill>
                <a:latin typeface="Arial"/>
                <a:ea typeface="Arial"/>
                <a:cs typeface="Arial"/>
              </a:defRPr>
            </a:pPr>
            <a:r>
              <a:rPr sz="1050" b="0" i="0">
                <a:solidFill>
                  <a:srgbClr val="262626"/>
                </a:solidFill>
                <a:latin typeface="Arial"/>
                <a:ea typeface="Arial"/>
                <a:cs typeface="Arial"/>
              </a:rPr>
              <a:t>Single-dopant champion site: Li_24g</a:t>
            </a:r>
          </a:p>
        </p:txBody>
      </p:sp>
      <p:sp>
        <p:nvSpPr>
          <p:cNvPr id="30" name="pair-rank">
            <a:extLst xmlns:a="http://schemas.openxmlformats.org/drawingml/2006/main">
              <a:ext uri="{FF2B5EF4-FFF2-40B4-BE49-F238E27FC236}">
                <a16:creationId xmlns:a16="http://schemas.microsoft.com/office/drawing/2014/main" id="{5D71D029-4529-4CFB-9A30-6BDE98A22DE5}"/>
              </a:ext>
            </a:extLst>
          </p:cNvPr>
          <p:cNvSpPr>
            <a:spLocks xmlns:a="http://schemas.openxmlformats.org/drawingml/2006/main" noGrp="1"/>
          </p:cNvSpPr>
          <p:nvPr/>
        </p:nvSpPr>
        <p:spPr>
          <a:xfrm xmlns:a="http://schemas.openxmlformats.org/drawingml/2006/main">
            <a:off x="5000625" y="4457700"/>
            <a:ext cx="3438525" cy="590550"/>
          </a:xfrm>
          <a:prstGeom xmlns:a="http://schemas.openxmlformats.org/drawingml/2006/main" prst="rect">
            <a:avLst/>
          </a:prstGeom>
          <a:solidFill xmlns:a="http://schemas.openxmlformats.org/drawingml/2006/main">
            <a:srgbClr val="FFF4E0"/>
          </a:solidFill>
          <a:ln xmlns:a="http://schemas.openxmlformats.org/drawingml/2006/main" w="9525">
            <a:solidFill>
              <a:srgbClr val="B26A00"/>
            </a:solidFill>
            <a:prstDash val="solid"/>
          </a:ln>
        </p:spPr>
        <p:txBody>
          <a:bodyPr xmlns:a="http://schemas.openxmlformats.org/drawingml/2006/main" wrap="square" lIns="66675" tIns="38100" rIns="66675" bIns="38100" anchor="ctr">
            <a:normAutofit fontScale="100000"/>
          </a:bodyPr>
          <a:lstStyle xmlns:a="http://schemas.openxmlformats.org/drawingml/2006/main"/>
          <a:p xmlns:a="http://schemas.openxmlformats.org/drawingml/2006/main">
            <a:pPr algn="ctr">
              <a:defRPr sz="1088" b="1" i="0">
                <a:solidFill>
                  <a:srgbClr val="B26A00"/>
                </a:solidFill>
                <a:latin typeface="Arial"/>
                <a:ea typeface="Arial"/>
                <a:cs typeface="Arial"/>
              </a:defRPr>
            </a:pPr>
            <a:r>
              <a:rPr sz="1088" b="1" i="0">
                <a:solidFill>
                  <a:srgbClr val="B26A00"/>
                </a:solidFill>
                <a:latin typeface="Arial"/>
                <a:ea typeface="Arial"/>
                <a:cs typeface="Arial"/>
              </a:rPr>
              <a:t>v1 heuristic #1  →  v2 ML rank #8</a:t>
            </a:r>
          </a:p>
          <a:p xmlns:a="http://schemas.openxmlformats.org/drawingml/2006/main">
            <a:pPr algn="ctr">
              <a:defRPr sz="1088" b="1" i="0">
                <a:solidFill>
                  <a:srgbClr val="B26A00"/>
                </a:solidFill>
                <a:latin typeface="Arial"/>
                <a:ea typeface="Arial"/>
                <a:cs typeface="Arial"/>
              </a:defRPr>
            </a:pPr>
            <a:r>
              <a:rPr sz="1088" b="1" i="0">
                <a:solidFill>
                  <a:srgbClr val="B26A00"/>
                </a:solidFill>
                <a:latin typeface="Arial"/>
                <a:ea typeface="Arial"/>
                <a:cs typeface="Arial"/>
              </a:rPr>
              <a:t>+0.360 V = constructed endpoint proxy, not a pair calculation</a:t>
            </a:r>
          </a:p>
        </p:txBody>
      </p:sp>
    </p:spTree>
    <p:extLst>
      <p:ext uri="{BB962C8B-B14F-4D97-AF65-F5344CB8AC3E}">
        <p14:creationId xmlns:p14="http://schemas.microsoft.com/office/powerpoint/2010/main" val="63070019"/>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4337D91-8E47-4A5B-B42F-55FDDA70D71F}"/>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Outlook</a:t>
            </a:r>
            <a:endParaRPr sz="2800"/>
          </a:p>
        </p:txBody>
      </p:sp>
      <p:sp>
        <p:nvSpPr>
          <p:cNvPr id="3" name="Text 1">
            <a:extLst xmlns:a="http://schemas.openxmlformats.org/drawingml/2006/main">
              <a:ext uri="{FF2B5EF4-FFF2-40B4-BE49-F238E27FC236}">
                <a16:creationId xmlns:a16="http://schemas.microsoft.com/office/drawing/2014/main" id="{5371674A-8475-4178-A4DE-3BD8AF87D6C0}"/>
              </a:ext>
            </a:extLst>
          </p:cNvPr>
          <p:cNvSpPr>
            <a:spLocks xmlns:a="http://schemas.openxmlformats.org/drawingml/2006/main" noGrp="1"/>
          </p:cNvSpPr>
          <p:nvPr/>
        </p:nvSpPr>
        <p:spPr>
          <a:xfrm xmlns:a="http://schemas.openxmlformats.org/drawingml/2006/main">
            <a:off x="4572000" y="310896"/>
            <a:ext cx="40233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850" i="1">
                <a:solidFill>
                  <a:srgbClr val="7F7F7F"/>
                </a:solidFill>
                <a:latin typeface="Arial"/>
                <a:ea typeface="Arial"/>
                <a:cs typeface="Arial"/>
              </a:rPr>
              <a:t>Pattern: Sendek 2017 · Kim 2025 · our acquisition loop</a:t>
            </a:r>
            <a:endParaRPr sz="900"/>
          </a:p>
        </p:txBody>
      </p:sp>
      <p:sp>
        <p:nvSpPr>
          <p:cNvPr id="4" name="Shape 2">
            <a:extLst xmlns:a="http://schemas.openxmlformats.org/drawingml/2006/main">
              <a:ext uri="{FF2B5EF4-FFF2-40B4-BE49-F238E27FC236}">
                <a16:creationId xmlns:a16="http://schemas.microsoft.com/office/drawing/2014/main" id="{6400D3FB-ADD3-4ACC-979F-5F35A9CCA4E2}"/>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5" name="Shape 3">
            <a:extLst xmlns:a="http://schemas.openxmlformats.org/drawingml/2006/main">
              <a:ext uri="{FF2B5EF4-FFF2-40B4-BE49-F238E27FC236}">
                <a16:creationId xmlns:a16="http://schemas.microsoft.com/office/drawing/2014/main" id="{596EB549-DA74-45F9-BC76-9FD3738DB7D7}"/>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sp>
      <p:sp>
        <p:nvSpPr>
          <p:cNvPr id="6" name="Text 4">
            <a:extLst xmlns:a="http://schemas.openxmlformats.org/drawingml/2006/main">
              <a:ext uri="{FF2B5EF4-FFF2-40B4-BE49-F238E27FC236}">
                <a16:creationId xmlns:a16="http://schemas.microsoft.com/office/drawing/2014/main" id="{1D48C786-C1A2-4FF8-8564-646F0DD33CDE}"/>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The next cascade learns where to calculate next</a:t>
            </a:r>
            <a:endParaRPr sz="1400"/>
          </a:p>
        </p:txBody>
      </p:sp>
      <p:sp>
        <p:nvSpPr>
          <p:cNvPr id="7" name="Text 5">
            <a:extLst xmlns:a="http://schemas.openxmlformats.org/drawingml/2006/main">
              <a:ext uri="{FF2B5EF4-FFF2-40B4-BE49-F238E27FC236}">
                <a16:creationId xmlns:a16="http://schemas.microsoft.com/office/drawing/2014/main" id="{3FDB9690-A11A-44BF-A37F-1118CE559DF5}"/>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8" name="Text 6">
            <a:extLst xmlns:a="http://schemas.openxmlformats.org/drawingml/2006/main">
              <a:ext uri="{FF2B5EF4-FFF2-40B4-BE49-F238E27FC236}">
                <a16:creationId xmlns:a16="http://schemas.microsoft.com/office/drawing/2014/main" id="{717CA607-3DFC-4AEF-B8AE-1EEFA0B3C4AB}"/>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9" name="Text 7">
            <a:extLst xmlns:a="http://schemas.openxmlformats.org/drawingml/2006/main">
              <a:ext uri="{FF2B5EF4-FFF2-40B4-BE49-F238E27FC236}">
                <a16:creationId xmlns:a16="http://schemas.microsoft.com/office/drawing/2014/main" id="{4AE480F0-1177-42C6-9319-F1CC06208400}"/>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21</a:t>
            </a:r>
            <a:endParaRPr sz="900"/>
          </a:p>
        </p:txBody>
      </p:sp>
      <p:sp>
        <p:nvSpPr>
          <p:cNvPr id="11" name="Shape 8">
            <a:extLst xmlns:a="http://schemas.openxmlformats.org/drawingml/2006/main">
              <a:ext uri="{FF2B5EF4-FFF2-40B4-BE49-F238E27FC236}">
                <a16:creationId xmlns:a16="http://schemas.microsoft.com/office/drawing/2014/main" id="{0FF68A9A-6040-4C2C-A3FD-E3EB0CCA10F7}"/>
              </a:ext>
            </a:extLst>
          </p:cNvPr>
          <p:cNvSpPr>
            <a:spLocks xmlns:a="http://schemas.openxmlformats.org/drawingml/2006/main" noGrp="1"/>
          </p:cNvSpPr>
          <p:nvPr/>
        </p:nvSpPr>
        <p:spPr>
          <a:xfrm xmlns:a="http://schemas.openxmlformats.org/drawingml/2006/main">
            <a:off x="731520" y="1737360"/>
            <a:ext cx="2286000" cy="1005840"/>
          </a:xfrm>
          <a:prstGeom xmlns:a="http://schemas.openxmlformats.org/drawingml/2006/main" prst="roundRect">
            <a:avLst>
              <a:gd name="adj" fmla="val 6364"/>
            </a:avLst>
          </a:prstGeom>
          <a:solidFill xmlns:a="http://schemas.openxmlformats.org/drawingml/2006/main">
            <a:srgbClr val="F2F2F2"/>
          </a:solidFill>
          <a:ln xmlns:a="http://schemas.openxmlformats.org/drawingml/2006/main" w="12700">
            <a:solidFill>
              <a:srgbClr val="7F7F7F"/>
            </a:solidFill>
            <a:prstDash val="solid"/>
          </a:ln>
        </p:spPr>
      </p:sp>
      <p:sp>
        <p:nvSpPr>
          <p:cNvPr id="12" name="Text 9">
            <a:extLst xmlns:a="http://schemas.openxmlformats.org/drawingml/2006/main">
              <a:ext uri="{FF2B5EF4-FFF2-40B4-BE49-F238E27FC236}">
                <a16:creationId xmlns:a16="http://schemas.microsoft.com/office/drawing/2014/main" id="{10704600-556D-4173-A58C-F077FF130CC1}"/>
              </a:ext>
            </a:extLst>
          </p:cNvPr>
          <p:cNvSpPr>
            <a:spLocks xmlns:a="http://schemas.openxmlformats.org/drawingml/2006/main" noGrp="1"/>
          </p:cNvSpPr>
          <p:nvPr/>
        </p:nvSpPr>
        <p:spPr>
          <a:xfrm xmlns:a="http://schemas.openxmlformats.org/drawingml/2006/main">
            <a:off x="868680" y="1847088"/>
            <a:ext cx="20116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7F7F7F"/>
                </a:solidFill>
                <a:latin typeface="Arial"/>
                <a:ea typeface="Arial"/>
                <a:cs typeface="Arial"/>
              </a:rPr>
              <a:t>CANDIDATE SPACE
</a:t>
            </a:r>
            <a:endParaRPr sz="950"/>
          </a:p>
          <a:p xmlns:a="http://schemas.openxmlformats.org/drawingml/2006/main">
            <a:pPr marL="0" indent="0">
              <a:buNone/>
            </a:pPr>
            <a:r>
              <a:rPr sz="850">
                <a:solidFill>
                  <a:srgbClr val="262626"/>
                </a:solidFill>
                <a:latin typeface="Arial"/>
                <a:ea typeface="Arial"/>
                <a:cs typeface="Arial"/>
              </a:rPr>
              <a:t>dopant × x × configuration</a:t>
            </a:r>
            <a:endParaRPr sz="950"/>
          </a:p>
        </p:txBody>
      </p:sp>
      <p:sp>
        <p:nvSpPr>
          <p:cNvPr id="13" name="Shape 10">
            <a:extLst xmlns:a="http://schemas.openxmlformats.org/drawingml/2006/main">
              <a:ext uri="{FF2B5EF4-FFF2-40B4-BE49-F238E27FC236}">
                <a16:creationId xmlns:a16="http://schemas.microsoft.com/office/drawing/2014/main" id="{68B97AB5-1418-4EE4-A2A0-02A149AAD819}"/>
              </a:ext>
            </a:extLst>
          </p:cNvPr>
          <p:cNvSpPr>
            <a:spLocks xmlns:a="http://schemas.openxmlformats.org/drawingml/2006/main" noGrp="1"/>
          </p:cNvSpPr>
          <p:nvPr/>
        </p:nvSpPr>
        <p:spPr>
          <a:xfrm xmlns:a="http://schemas.openxmlformats.org/drawingml/2006/main">
            <a:off x="3291840" y="1737360"/>
            <a:ext cx="2286000" cy="1005840"/>
          </a:xfrm>
          <a:prstGeom xmlns:a="http://schemas.openxmlformats.org/drawingml/2006/main" prst="roundRect">
            <a:avLst>
              <a:gd name="adj" fmla="val 6364"/>
            </a:avLst>
          </a:prstGeom>
          <a:solidFill xmlns:a="http://schemas.openxmlformats.org/drawingml/2006/main">
            <a:srgbClr val="D9E1F2"/>
          </a:solidFill>
          <a:ln xmlns:a="http://schemas.openxmlformats.org/drawingml/2006/main" w="12700">
            <a:solidFill>
              <a:srgbClr val="1F4E79"/>
            </a:solidFill>
            <a:prstDash val="solid"/>
          </a:ln>
        </p:spPr>
      </p:sp>
      <p:sp>
        <p:nvSpPr>
          <p:cNvPr id="14" name="Text 11">
            <a:extLst xmlns:a="http://schemas.openxmlformats.org/drawingml/2006/main">
              <a:ext uri="{FF2B5EF4-FFF2-40B4-BE49-F238E27FC236}">
                <a16:creationId xmlns:a16="http://schemas.microsoft.com/office/drawing/2014/main" id="{B09B065B-B155-475A-8C01-20A7617DC757}"/>
              </a:ext>
            </a:extLst>
          </p:cNvPr>
          <p:cNvSpPr>
            <a:spLocks xmlns:a="http://schemas.openxmlformats.org/drawingml/2006/main" noGrp="1"/>
          </p:cNvSpPr>
          <p:nvPr/>
        </p:nvSpPr>
        <p:spPr>
          <a:xfrm xmlns:a="http://schemas.openxmlformats.org/drawingml/2006/main">
            <a:off x="3429000" y="1847088"/>
            <a:ext cx="20116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1F4E79"/>
                </a:solidFill>
                <a:latin typeface="Arial"/>
                <a:ea typeface="Arial"/>
                <a:cs typeface="Arial"/>
              </a:rPr>
              <a:t>L1  FAST SCREEN
</a:t>
            </a:r>
            <a:endParaRPr sz="950"/>
          </a:p>
          <a:p xmlns:a="http://schemas.openxmlformats.org/drawingml/2006/main">
            <a:pPr marL="0" indent="0">
              <a:buNone/>
            </a:pPr>
            <a:r>
              <a:rPr sz="850">
                <a:solidFill>
                  <a:srgbClr val="262626"/>
                </a:solidFill>
                <a:latin typeface="Arial"/>
                <a:ea typeface="Arial"/>
                <a:cs typeface="Arial"/>
              </a:rPr>
              <a:t>UMA + BVSE + gate risk</a:t>
            </a:r>
            <a:endParaRPr sz="950"/>
          </a:p>
        </p:txBody>
      </p:sp>
      <p:sp>
        <p:nvSpPr>
          <p:cNvPr id="15" name="Shape 12">
            <a:extLst xmlns:a="http://schemas.openxmlformats.org/drawingml/2006/main">
              <a:ext uri="{FF2B5EF4-FFF2-40B4-BE49-F238E27FC236}">
                <a16:creationId xmlns:a16="http://schemas.microsoft.com/office/drawing/2014/main" id="{E4DAACC7-CA05-4D6C-8EFF-D18E02D023B6}"/>
              </a:ext>
            </a:extLst>
          </p:cNvPr>
          <p:cNvSpPr>
            <a:spLocks xmlns:a="http://schemas.openxmlformats.org/drawingml/2006/main" noGrp="1"/>
          </p:cNvSpPr>
          <p:nvPr/>
        </p:nvSpPr>
        <p:spPr>
          <a:xfrm xmlns:a="http://schemas.openxmlformats.org/drawingml/2006/main">
            <a:off x="5852160" y="1737360"/>
            <a:ext cx="2286000" cy="1005840"/>
          </a:xfrm>
          <a:prstGeom xmlns:a="http://schemas.openxmlformats.org/drawingml/2006/main" prst="roundRect">
            <a:avLst>
              <a:gd name="adj" fmla="val 6364"/>
            </a:avLst>
          </a:prstGeom>
          <a:solidFill xmlns:a="http://schemas.openxmlformats.org/drawingml/2006/main">
            <a:srgbClr val="FFF4E0"/>
          </a:solidFill>
          <a:ln xmlns:a="http://schemas.openxmlformats.org/drawingml/2006/main" w="12700">
            <a:solidFill>
              <a:srgbClr val="B26A00"/>
            </a:solidFill>
            <a:prstDash val="solid"/>
          </a:ln>
        </p:spPr>
      </p:sp>
      <p:sp>
        <p:nvSpPr>
          <p:cNvPr id="16" name="Text 13">
            <a:extLst xmlns:a="http://schemas.openxmlformats.org/drawingml/2006/main">
              <a:ext uri="{FF2B5EF4-FFF2-40B4-BE49-F238E27FC236}">
                <a16:creationId xmlns:a16="http://schemas.microsoft.com/office/drawing/2014/main" id="{DB8C5CE0-C396-4DA7-9A35-B5DC33EDB781}"/>
              </a:ext>
            </a:extLst>
          </p:cNvPr>
          <p:cNvSpPr>
            <a:spLocks xmlns:a="http://schemas.openxmlformats.org/drawingml/2006/main" noGrp="1"/>
          </p:cNvSpPr>
          <p:nvPr/>
        </p:nvSpPr>
        <p:spPr>
          <a:xfrm xmlns:a="http://schemas.openxmlformats.org/drawingml/2006/main">
            <a:off x="5989320" y="1847088"/>
            <a:ext cx="20116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B26A00"/>
                </a:solidFill>
                <a:latin typeface="Arial"/>
                <a:ea typeface="Arial"/>
                <a:cs typeface="Arial"/>
              </a:rPr>
              <a:t>L2  DFT
</a:t>
            </a:r>
            <a:endParaRPr sz="950"/>
          </a:p>
          <a:p xmlns:a="http://schemas.openxmlformats.org/drawingml/2006/main">
            <a:pPr marL="0" indent="0">
              <a:buNone/>
            </a:pPr>
            <a:r>
              <a:rPr sz="850">
                <a:solidFill>
                  <a:srgbClr val="262626"/>
                </a:solidFill>
                <a:latin typeface="Arial"/>
                <a:ea typeface="Arial"/>
                <a:cs typeface="Arial"/>
              </a:rPr>
              <a:t>matched validation</a:t>
            </a:r>
            <a:endParaRPr sz="950"/>
          </a:p>
        </p:txBody>
      </p:sp>
      <p:sp>
        <p:nvSpPr>
          <p:cNvPr id="17" name="Shape 14">
            <a:extLst xmlns:a="http://schemas.openxmlformats.org/drawingml/2006/main">
              <a:ext uri="{FF2B5EF4-FFF2-40B4-BE49-F238E27FC236}">
                <a16:creationId xmlns:a16="http://schemas.microsoft.com/office/drawing/2014/main" id="{094808DC-FCE9-4D36-807C-C44A939093CF}"/>
              </a:ext>
            </a:extLst>
          </p:cNvPr>
          <p:cNvSpPr>
            <a:spLocks xmlns:a="http://schemas.openxmlformats.org/drawingml/2006/main" noGrp="1"/>
          </p:cNvSpPr>
          <p:nvPr/>
        </p:nvSpPr>
        <p:spPr>
          <a:xfrm xmlns:a="http://schemas.openxmlformats.org/drawingml/2006/main">
            <a:off x="3291840" y="3291840"/>
            <a:ext cx="2286000" cy="1005840"/>
          </a:xfrm>
          <a:prstGeom xmlns:a="http://schemas.openxmlformats.org/drawingml/2006/main" prst="roundRect">
            <a:avLst>
              <a:gd name="adj" fmla="val 6364"/>
            </a:avLst>
          </a:prstGeom>
          <a:solidFill xmlns:a="http://schemas.openxmlformats.org/drawingml/2006/main">
            <a:srgbClr val="E5F2E6"/>
          </a:solidFill>
          <a:ln xmlns:a="http://schemas.openxmlformats.org/drawingml/2006/main" w="12700">
            <a:solidFill>
              <a:srgbClr val="2E7D32"/>
            </a:solidFill>
            <a:prstDash val="solid"/>
          </a:ln>
        </p:spPr>
      </p:sp>
      <p:sp>
        <p:nvSpPr>
          <p:cNvPr id="18" name="Text 15">
            <a:extLst xmlns:a="http://schemas.openxmlformats.org/drawingml/2006/main">
              <a:ext uri="{FF2B5EF4-FFF2-40B4-BE49-F238E27FC236}">
                <a16:creationId xmlns:a16="http://schemas.microsoft.com/office/drawing/2014/main" id="{15341A6F-E3CC-4E5B-A9B4-475C56905B70}"/>
              </a:ext>
            </a:extLst>
          </p:cNvPr>
          <p:cNvSpPr>
            <a:spLocks xmlns:a="http://schemas.openxmlformats.org/drawingml/2006/main" noGrp="1"/>
          </p:cNvSpPr>
          <p:nvPr/>
        </p:nvSpPr>
        <p:spPr>
          <a:xfrm xmlns:a="http://schemas.openxmlformats.org/drawingml/2006/main">
            <a:off x="3429000" y="3401568"/>
            <a:ext cx="20116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E7D32"/>
                </a:solidFill>
                <a:latin typeface="Arial"/>
                <a:ea typeface="Arial"/>
                <a:cs typeface="Arial"/>
              </a:rPr>
              <a:t>VERSIONED DATABASE
</a:t>
            </a:r>
            <a:endParaRPr sz="950"/>
          </a:p>
          <a:p xmlns:a="http://schemas.openxmlformats.org/drawingml/2006/main">
            <a:pPr marL="0" indent="0">
              <a:buNone/>
            </a:pPr>
            <a:r>
              <a:rPr sz="850">
                <a:solidFill>
                  <a:srgbClr val="262626"/>
                </a:solidFill>
                <a:latin typeface="Arial"/>
                <a:ea typeface="Arial"/>
                <a:cs typeface="Arial"/>
              </a:rPr>
              <a:t>provenance-tagged records</a:t>
            </a:r>
            <a:endParaRPr sz="950"/>
          </a:p>
        </p:txBody>
      </p:sp>
      <p:sp>
        <p:nvSpPr>
          <p:cNvPr id="19" name="Shape 16">
            <a:extLst xmlns:a="http://schemas.openxmlformats.org/drawingml/2006/main">
              <a:ext uri="{FF2B5EF4-FFF2-40B4-BE49-F238E27FC236}">
                <a16:creationId xmlns:a16="http://schemas.microsoft.com/office/drawing/2014/main" id="{2FD60A70-8257-4508-87D7-8A939E83010E}"/>
              </a:ext>
            </a:extLst>
          </p:cNvPr>
          <p:cNvSpPr>
            <a:spLocks xmlns:a="http://schemas.openxmlformats.org/drawingml/2006/main" noGrp="1"/>
          </p:cNvSpPr>
          <p:nvPr/>
        </p:nvSpPr>
        <p:spPr>
          <a:xfrm xmlns:a="http://schemas.openxmlformats.org/drawingml/2006/main">
            <a:off x="5852160" y="3291840"/>
            <a:ext cx="2286000" cy="1005840"/>
          </a:xfrm>
          <a:prstGeom xmlns:a="http://schemas.openxmlformats.org/drawingml/2006/main" prst="roundRect">
            <a:avLst>
              <a:gd name="adj" fmla="val 6364"/>
            </a:avLst>
          </a:prstGeom>
          <a:solidFill xmlns:a="http://schemas.openxmlformats.org/drawingml/2006/main">
            <a:srgbClr val="F2F2F2"/>
          </a:solidFill>
          <a:ln xmlns:a="http://schemas.openxmlformats.org/drawingml/2006/main" w="12700">
            <a:solidFill>
              <a:srgbClr val="1F4E79"/>
            </a:solidFill>
            <a:prstDash val="solid"/>
          </a:ln>
        </p:spPr>
      </p:sp>
      <p:sp>
        <p:nvSpPr>
          <p:cNvPr id="20" name="Text 17">
            <a:extLst xmlns:a="http://schemas.openxmlformats.org/drawingml/2006/main">
              <a:ext uri="{FF2B5EF4-FFF2-40B4-BE49-F238E27FC236}">
                <a16:creationId xmlns:a16="http://schemas.microsoft.com/office/drawing/2014/main" id="{E12C32CA-A790-45CC-92ED-5F96C446CA1A}"/>
              </a:ext>
            </a:extLst>
          </p:cNvPr>
          <p:cNvSpPr>
            <a:spLocks xmlns:a="http://schemas.openxmlformats.org/drawingml/2006/main" noGrp="1"/>
          </p:cNvSpPr>
          <p:nvPr/>
        </p:nvSpPr>
        <p:spPr>
          <a:xfrm xmlns:a="http://schemas.openxmlformats.org/drawingml/2006/main">
            <a:off x="5989320" y="3401568"/>
            <a:ext cx="20116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1F4E79"/>
                </a:solidFill>
                <a:latin typeface="Arial"/>
                <a:ea typeface="Arial"/>
                <a:cs typeface="Arial"/>
              </a:rPr>
              <a:t>ACQUISITION
</a:t>
            </a:r>
            <a:endParaRPr sz="950"/>
          </a:p>
          <a:p xmlns:a="http://schemas.openxmlformats.org/drawingml/2006/main">
            <a:pPr marL="0" indent="0">
              <a:buNone/>
            </a:pPr>
            <a:r>
              <a:rPr sz="850">
                <a:solidFill>
                  <a:srgbClr val="262626"/>
                </a:solidFill>
                <a:latin typeface="Arial"/>
                <a:ea typeface="Arial"/>
                <a:cs typeface="Arial"/>
              </a:rPr>
              <a:t>Pareto gain + uncertainty + diversity</a:t>
            </a:r>
            <a:endParaRPr sz="950"/>
          </a:p>
        </p:txBody>
      </p:sp>
      <p:sp>
        <p:nvSpPr>
          <p:cNvPr id="21" name="Shape 18">
            <a:extLst xmlns:a="http://schemas.openxmlformats.org/drawingml/2006/main">
              <a:ext uri="{FF2B5EF4-FFF2-40B4-BE49-F238E27FC236}">
                <a16:creationId xmlns:a16="http://schemas.microsoft.com/office/drawing/2014/main" id="{635852B3-6706-4638-A9B1-15235743C287}"/>
              </a:ext>
            </a:extLst>
          </p:cNvPr>
          <p:cNvSpPr>
            <a:spLocks xmlns:a="http://schemas.openxmlformats.org/drawingml/2006/main" noGrp="1"/>
          </p:cNvSpPr>
          <p:nvPr/>
        </p:nvSpPr>
        <p:spPr>
          <a:xfrm xmlns:a="http://schemas.openxmlformats.org/drawingml/2006/main">
            <a:off x="731520" y="3291840"/>
            <a:ext cx="2286000" cy="1005840"/>
          </a:xfrm>
          <a:prstGeom xmlns:a="http://schemas.openxmlformats.org/drawingml/2006/main" prst="roundRect">
            <a:avLst>
              <a:gd name="adj" fmla="val 6364"/>
            </a:avLst>
          </a:prstGeom>
          <a:solidFill xmlns:a="http://schemas.openxmlformats.org/drawingml/2006/main">
            <a:srgbClr val="E5F2E6"/>
          </a:solidFill>
          <a:ln xmlns:a="http://schemas.openxmlformats.org/drawingml/2006/main" w="12700">
            <a:solidFill>
              <a:srgbClr val="2E7D32"/>
            </a:solidFill>
            <a:prstDash val="solid"/>
          </a:ln>
        </p:spPr>
      </p:sp>
      <p:sp>
        <p:nvSpPr>
          <p:cNvPr id="22" name="Text 19">
            <a:extLst xmlns:a="http://schemas.openxmlformats.org/drawingml/2006/main">
              <a:ext uri="{FF2B5EF4-FFF2-40B4-BE49-F238E27FC236}">
                <a16:creationId xmlns:a16="http://schemas.microsoft.com/office/drawing/2014/main" id="{0DF5813A-E782-4C76-8024-7ECA92946E55}"/>
              </a:ext>
            </a:extLst>
          </p:cNvPr>
          <p:cNvSpPr>
            <a:spLocks xmlns:a="http://schemas.openxmlformats.org/drawingml/2006/main" noGrp="1"/>
          </p:cNvSpPr>
          <p:nvPr/>
        </p:nvSpPr>
        <p:spPr>
          <a:xfrm xmlns:a="http://schemas.openxmlformats.org/drawingml/2006/main">
            <a:off x="868680" y="3401568"/>
            <a:ext cx="20116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950" b="1">
                <a:solidFill>
                  <a:srgbClr val="2E7D32"/>
                </a:solidFill>
                <a:latin typeface="Arial"/>
                <a:ea typeface="Arial"/>
                <a:cs typeface="Arial"/>
              </a:rPr>
              <a:t>L3  EXPERIMENT
</a:t>
            </a:r>
            <a:endParaRPr sz="950"/>
          </a:p>
          <a:p xmlns:a="http://schemas.openxmlformats.org/drawingml/2006/main">
            <a:pPr marL="0" indent="0">
              <a:buNone/>
            </a:pPr>
            <a:r>
              <a:rPr sz="850">
                <a:solidFill>
                  <a:srgbClr val="262626"/>
                </a:solidFill>
                <a:latin typeface="Arial"/>
                <a:ea typeface="Arial"/>
                <a:cs typeface="Arial"/>
              </a:rPr>
              <a:t>phase · sigma(T) · stability</a:t>
            </a:r>
            <a:endParaRPr sz="950"/>
          </a:p>
        </p:txBody>
      </p:sp>
      <p:sp>
        <p:nvSpPr>
          <p:cNvPr id="23" name="Text 20">
            <a:extLst xmlns:a="http://schemas.openxmlformats.org/drawingml/2006/main">
              <a:ext uri="{FF2B5EF4-FFF2-40B4-BE49-F238E27FC236}">
                <a16:creationId xmlns:a16="http://schemas.microsoft.com/office/drawing/2014/main" id="{B6C9B806-7D00-492E-B0C0-DC2B8685A994}"/>
              </a:ext>
            </a:extLst>
          </p:cNvPr>
          <p:cNvSpPr>
            <a:spLocks xmlns:a="http://schemas.openxmlformats.org/drawingml/2006/main" noGrp="1"/>
          </p:cNvSpPr>
          <p:nvPr/>
        </p:nvSpPr>
        <p:spPr>
          <a:xfrm xmlns:a="http://schemas.openxmlformats.org/drawingml/2006/main">
            <a:off x="548640" y="4663440"/>
            <a:ext cx="80467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a:solidFill>
                  <a:srgbClr val="7F7F7F"/>
                </a:solidFill>
                <a:latin typeface="Arial"/>
                <a:ea typeface="Arial"/>
                <a:cs typeface="Arial"/>
              </a:rPr>
              <a:t>EXPLOIT: predicted Pareto gain     EXPLORE: uncertainty / new chemistry     VALIDATE: gate boundary</a:t>
            </a:r>
            <a:endParaRPr sz="950"/>
          </a:p>
        </p:txBody>
      </p:sp>
      <p:sp>
        <p:nvSpPr>
          <p:cNvPr id="24" name="Text 21">
            <a:extLst xmlns:a="http://schemas.openxmlformats.org/drawingml/2006/main">
              <a:ext uri="{FF2B5EF4-FFF2-40B4-BE49-F238E27FC236}">
                <a16:creationId xmlns:a16="http://schemas.microsoft.com/office/drawing/2014/main" id="{3FEB6588-997A-4782-AFB1-80C586E43D84}"/>
              </a:ext>
            </a:extLst>
          </p:cNvPr>
          <p:cNvSpPr>
            <a:spLocks xmlns:a="http://schemas.openxmlformats.org/drawingml/2006/main" noGrp="1"/>
          </p:cNvSpPr>
          <p:nvPr/>
        </p:nvSpPr>
        <p:spPr>
          <a:xfrm xmlns:a="http://schemas.openxmlformats.org/drawingml/2006/main">
            <a:off x="548640" y="5212080"/>
            <a:ext cx="80467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1F4E79"/>
                </a:solidFill>
                <a:latin typeface="Arial"/>
                <a:ea typeface="Arial"/>
                <a:cs typeface="Arial"/>
              </a:rPr>
              <a:t>ML chooses what to calculate next; physics and experiments decide what is true.</a:t>
            </a:r>
            <a:endParaRPr sz="1250"/>
          </a:p>
        </p:txBody>
      </p:sp>
      <p:sp>
        <p:nvSpPr>
          <p:cNvPr id="25" name="Text 22">
            <a:extLst xmlns:a="http://schemas.openxmlformats.org/drawingml/2006/main">
              <a:ext uri="{FF2B5EF4-FFF2-40B4-BE49-F238E27FC236}">
                <a16:creationId xmlns:a16="http://schemas.microsoft.com/office/drawing/2014/main" id="{90C245AA-C77C-44B1-81DE-7DC394A6CCEB}"/>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cascade_ml_integration_guide.md · local Sendek and Kim digests</a:t>
            </a:r>
            <a:endParaRPr sz="750"/>
          </a:p>
        </p:txBody>
      </p:sp>
    </p:spTree>
    <p:extLst>
      <p:ext uri="{BB962C8B-B14F-4D97-AF65-F5344CB8AC3E}">
        <p14:creationId xmlns:p14="http://schemas.microsoft.com/office/powerpoint/2010/main" val="596656165"/>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A55FB43-034A-4AE1-AB4C-C5E005886B7A}"/>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Appendix A1</a:t>
            </a:r>
            <a:endParaRPr sz="2800"/>
          </a:p>
        </p:txBody>
      </p:sp>
      <p:sp>
        <p:nvSpPr>
          <p:cNvPr id="3" name="Shape 1">
            <a:extLst xmlns:a="http://schemas.openxmlformats.org/drawingml/2006/main">
              <a:ext uri="{FF2B5EF4-FFF2-40B4-BE49-F238E27FC236}">
                <a16:creationId xmlns:a16="http://schemas.microsoft.com/office/drawing/2014/main" id="{862921EB-729F-4D5B-8706-591849E79451}"/>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4" name="Shape 2">
            <a:extLst xmlns:a="http://schemas.openxmlformats.org/drawingml/2006/main">
              <a:ext uri="{FF2B5EF4-FFF2-40B4-BE49-F238E27FC236}">
                <a16:creationId xmlns:a16="http://schemas.microsoft.com/office/drawing/2014/main" id="{4FDCFD7F-8684-44C7-B1E8-E5E90D0FBB50}"/>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sp>
      <p:sp>
        <p:nvSpPr>
          <p:cNvPr id="5" name="Text 3">
            <a:extLst xmlns:a="http://schemas.openxmlformats.org/drawingml/2006/main">
              <a:ext uri="{FF2B5EF4-FFF2-40B4-BE49-F238E27FC236}">
                <a16:creationId xmlns:a16="http://schemas.microsoft.com/office/drawing/2014/main" id="{D4A491AD-A6B3-4610-B29B-2D54644FC62F}"/>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Terminology and symbol conventions</a:t>
            </a:r>
            <a:endParaRPr sz="1400"/>
          </a:p>
        </p:txBody>
      </p:sp>
      <p:sp>
        <p:nvSpPr>
          <p:cNvPr id="6" name="Text 4">
            <a:extLst xmlns:a="http://schemas.openxmlformats.org/drawingml/2006/main">
              <a:ext uri="{FF2B5EF4-FFF2-40B4-BE49-F238E27FC236}">
                <a16:creationId xmlns:a16="http://schemas.microsoft.com/office/drawing/2014/main" id="{9A7CDF0F-B582-4257-81E7-89F837277A00}"/>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7" name="Text 5">
            <a:extLst xmlns:a="http://schemas.openxmlformats.org/drawingml/2006/main">
              <a:ext uri="{FF2B5EF4-FFF2-40B4-BE49-F238E27FC236}">
                <a16:creationId xmlns:a16="http://schemas.microsoft.com/office/drawing/2014/main" id="{AC1D95EB-C41D-4849-8A26-E37173A5D46C}"/>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8" name="Text 6">
            <a:extLst xmlns:a="http://schemas.openxmlformats.org/drawingml/2006/main">
              <a:ext uri="{FF2B5EF4-FFF2-40B4-BE49-F238E27FC236}">
                <a16:creationId xmlns:a16="http://schemas.microsoft.com/office/drawing/2014/main" id="{88D9B74B-12F9-4613-9C1D-87EA2535A0BF}"/>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22</a:t>
            </a:r>
            <a:endParaRPr sz="900"/>
          </a:p>
        </p:txBody>
      </p:sp>
      <p:graphicFrame>
        <p:nvGraphicFramePr>
          <p:cNvPr id="17" name="Table 0"/>
          <p:cNvGraphicFramePr/>
          <p:nvPr/>
        </p:nvGraphicFramePr>
        <p:xfrm>
          <a:off xmlns:a="http://schemas.openxmlformats.org/drawingml/2006/main" x="548640" y="1463040"/>
          <a:ext xmlns:a="http://schemas.openxmlformats.org/drawingml/2006/main" cx="8046720" cy="914400"/>
        </p:xfrm>
        <a:graphic xmlns:a="http://schemas.openxmlformats.org/drawingml/2006/main">
          <a:graphicData uri="http://schemas.openxmlformats.org/drawingml/2006/table">
            <a:tbl>
              <a:tblPr/>
              <a:tblGrid>
                <a:gridCol w="1645920"/>
                <a:gridCol w="3108960"/>
                <a:gridCol w="3291840"/>
              </a:tblGrid>
              <a:tr h="384048">
                <a:tc>
                  <a:txBody>
                    <a:bodyPr wrap="square">
                      <a:normAutofit/>
                    </a:bodyPr>
                    <a:lstStyle/>
                    <a:p>
                      <a:pPr marL="0" indent="0" algn="ctr">
                        <a:buNone/>
                      </a:pPr>
                      <a:r>
                        <a:rPr sz="1050" b="1">
                          <a:solidFill>
                            <a:srgbClr val="FFFFFF"/>
                          </a:solidFill>
                          <a:latin typeface="Arial"/>
                          <a:ea typeface="Arial"/>
                          <a:cs typeface="Arial"/>
                        </a:rPr>
                        <a:t>Symbol / term</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50" b="1">
                          <a:solidFill>
                            <a:srgbClr val="FFFFFF"/>
                          </a:solidFill>
                          <a:latin typeface="Arial"/>
                          <a:ea typeface="Arial"/>
                          <a:cs typeface="Arial"/>
                        </a:rPr>
                        <a:t>Meaning</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50" b="1">
                          <a:solidFill>
                            <a:srgbClr val="FFFFFF"/>
                          </a:solidFill>
                          <a:latin typeface="Arial"/>
                          <a:ea typeface="Arial"/>
                          <a:cs typeface="Arial"/>
                        </a:rPr>
                        <a:t>Usage rule</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r>
              <a:tr h="384048">
                <a:tc>
                  <a:txBody>
                    <a:bodyPr wrap="square">
                      <a:normAutofit/>
                    </a:bodyPr>
                    <a:lstStyle/>
                    <a:p>
                      <a:pPr marL="0" indent="0" algn="l">
                        <a:buNone/>
                      </a:pPr>
                      <a:r>
                        <a:rPr sz="1013" b="0">
                          <a:solidFill>
                            <a:srgbClr val="262626"/>
                          </a:solidFill>
                          <a:latin typeface="Arial"/>
                          <a:ea typeface="Arial"/>
                          <a:cs typeface="Arial"/>
                        </a:rPr>
                        <a:t>ΔE</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Doped − host relative energy</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Same engine, cell, composition convention</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1013" b="0">
                          <a:solidFill>
                            <a:srgbClr val="262626"/>
                          </a:solidFill>
                          <a:latin typeface="Arial"/>
                          <a:ea typeface="Arial"/>
                          <a:cs typeface="Arial"/>
                        </a:rPr>
                        <a:t>Vox / window</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Grand-potential onset / Vox − Vred</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Tie at 2.14 V remains unresolved; not kinetic stability</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1013" b="0">
                          <a:solidFill>
                            <a:srgbClr val="262626"/>
                          </a:solidFill>
                          <a:latin typeface="Arial"/>
                          <a:ea typeface="Arial"/>
                          <a:cs typeface="Arial"/>
                        </a:rPr>
                        <a:t>transport_norm</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Min–max static BVSE/path proxy</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Never call it D or conductivity</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1013" b="0">
                          <a:solidFill>
                            <a:srgbClr val="262626"/>
                          </a:solidFill>
                          <a:latin typeface="Arial"/>
                          <a:ea typeface="Arial"/>
                          <a:cs typeface="Arial"/>
                        </a:rPr>
                        <a:t>β / Ea</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MSD log-slope / Arrhenius slope</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β-gated, 600/800/1000 K, multiseed verdict</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1013" b="0">
                          <a:solidFill>
                            <a:srgbClr val="262626"/>
                          </a:solidFill>
                          <a:latin typeface="Arial"/>
                          <a:ea typeface="Arial"/>
                          <a:cs typeface="Arial"/>
                        </a:rPr>
                        <a:t>ΔG_hyd,MS,lit</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[Zhu20] same-cation binary-sulfide proxy</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35/47; not doped-LPSCl air stability</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1013" b="0">
                          <a:solidFill>
                            <a:srgbClr val="262626"/>
                          </a:solidFill>
                          <a:latin typeface="Arial"/>
                          <a:ea typeface="Arial"/>
                          <a:cs typeface="Arial"/>
                        </a:rPr>
                        <a:t>x002/x005/x010 · cost tier</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Nominal labels · qualitative cation tier (+0.5 fluoride)</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Not verified x; not market price</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1013" b="0">
                          <a:solidFill>
                            <a:srgbClr val="262626"/>
                          </a:solidFill>
                          <a:latin typeface="Arial"/>
                          <a:ea typeface="Arial"/>
                          <a:cs typeface="Arial"/>
                        </a:rPr>
                        <a:t>missing</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Not calculated / incomplete</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Not zero and not a failure</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bl>
          </a:graphicData>
        </a:graphic>
      </p:graphicFrame>
    </p:spTree>
    <p:extLst>
      <p:ext uri="{BB962C8B-B14F-4D97-AF65-F5344CB8AC3E}">
        <p14:creationId xmlns:p14="http://schemas.microsoft.com/office/powerpoint/2010/main" val="596304647"/>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040C2FEA-31A7-496B-BE5D-E531FB5D35F0}"/>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4" name="Shape 2">
            <a:extLst xmlns:a="http://schemas.openxmlformats.org/drawingml/2006/main">
              <a:ext uri="{FF2B5EF4-FFF2-40B4-BE49-F238E27FC236}">
                <a16:creationId xmlns:a16="http://schemas.microsoft.com/office/drawing/2014/main" id="{C3089C19-71CC-4BF9-A92A-58E7B630FFA3}"/>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sp>
      <p:sp>
        <p:nvSpPr>
          <p:cNvPr id="5" name="Text 3">
            <a:extLst xmlns:a="http://schemas.openxmlformats.org/drawingml/2006/main">
              <a:ext uri="{FF2B5EF4-FFF2-40B4-BE49-F238E27FC236}">
                <a16:creationId xmlns:a16="http://schemas.microsoft.com/office/drawing/2014/main" id="{6714A2B9-DCC2-4729-AD69-085877F2FFB5}"/>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Protocol matrix and allowed claims</a:t>
            </a:r>
            <a:endParaRPr sz="1400"/>
          </a:p>
        </p:txBody>
      </p:sp>
      <p:sp>
        <p:nvSpPr>
          <p:cNvPr id="6" name="Text 4">
            <a:extLst xmlns:a="http://schemas.openxmlformats.org/drawingml/2006/main">
              <a:ext uri="{FF2B5EF4-FFF2-40B4-BE49-F238E27FC236}">
                <a16:creationId xmlns:a16="http://schemas.microsoft.com/office/drawing/2014/main" id="{B41909A4-7310-4E18-BD03-900CB1D0AC70}"/>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7" name="Text 5">
            <a:extLst xmlns:a="http://schemas.openxmlformats.org/drawingml/2006/main">
              <a:ext uri="{FF2B5EF4-FFF2-40B4-BE49-F238E27FC236}">
                <a16:creationId xmlns:a16="http://schemas.microsoft.com/office/drawing/2014/main" id="{3E232F3F-4F0D-49EA-B80B-4F5493AB2A97}"/>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8" name="Text 6">
            <a:extLst xmlns:a="http://schemas.openxmlformats.org/drawingml/2006/main">
              <a:ext uri="{FF2B5EF4-FFF2-40B4-BE49-F238E27FC236}">
                <a16:creationId xmlns:a16="http://schemas.microsoft.com/office/drawing/2014/main" id="{011C4495-AC59-4E09-84F2-36F5E09ADAC8}"/>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23</a:t>
            </a:r>
            <a:endParaRPr sz="900"/>
          </a:p>
        </p:txBody>
      </p:sp>
      <p:graphicFrame>
        <p:nvGraphicFramePr>
          <p:cNvPr id="17" name="Table 0"/>
          <p:cNvGraphicFramePr/>
          <p:nvPr/>
        </p:nvGraphicFramePr>
        <p:xfrm>
          <a:off xmlns:a="http://schemas.openxmlformats.org/drawingml/2006/main" x="548640" y="1463040"/>
          <a:ext xmlns:a="http://schemas.openxmlformats.org/drawingml/2006/main" cx="8046720" cy="914400"/>
        </p:xfrm>
        <a:graphic xmlns:a="http://schemas.openxmlformats.org/drawingml/2006/main">
          <a:graphicData uri="http://schemas.openxmlformats.org/drawingml/2006/table">
            <a:tbl>
              <a:tblPr/>
              <a:tblGrid>
                <a:gridCol w="1554480"/>
                <a:gridCol w="2286000"/>
                <a:gridCol w="2286000"/>
                <a:gridCol w="1920240"/>
              </a:tblGrid>
              <a:tr h="457200">
                <a:tc>
                  <a:txBody>
                    <a:bodyPr wrap="square">
                      <a:normAutofit/>
                    </a:bodyPr>
                    <a:lstStyle/>
                    <a:p>
                      <a:pPr marL="0" indent="0" algn="ctr">
                        <a:buNone/>
                      </a:pPr>
                      <a:r>
                        <a:rPr sz="1050" b="1">
                          <a:solidFill>
                            <a:srgbClr val="FFFFFF"/>
                          </a:solidFill>
                          <a:latin typeface="Arial"/>
                          <a:ea typeface="Arial"/>
                          <a:cs typeface="Arial"/>
                        </a:rPr>
                        <a:t>Tier / method</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50" b="1">
                          <a:solidFill>
                            <a:srgbClr val="FFFFFF"/>
                          </a:solidFill>
                          <a:latin typeface="Arial"/>
                          <a:ea typeface="Arial"/>
                          <a:cs typeface="Arial"/>
                        </a:rPr>
                        <a:t>Primary output</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50" b="1">
                          <a:solidFill>
                            <a:srgbClr val="FFFFFF"/>
                          </a:solidFill>
                          <a:latin typeface="Arial"/>
                          <a:ea typeface="Arial"/>
                          <a:cs typeface="Arial"/>
                        </a:rPr>
                        <a:t>Allowed claim</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50" b="1">
                          <a:solidFill>
                            <a:srgbClr val="FFFFFF"/>
                          </a:solidFill>
                          <a:latin typeface="Arial"/>
                          <a:ea typeface="Arial"/>
                          <a:cs typeface="Arial"/>
                        </a:rPr>
                        <a:t>Do not claim</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r>
              <a:tr h="457200">
                <a:tc>
                  <a:txBody>
                    <a:bodyPr wrap="square">
                      <a:normAutofit/>
                    </a:bodyPr>
                    <a:lstStyle/>
                    <a:p>
                      <a:pPr marL="0" indent="0" algn="l">
                        <a:buNone/>
                      </a:pPr>
                      <a:r>
                        <a:rPr sz="1013" b="0">
                          <a:solidFill>
                            <a:srgbClr val="262626"/>
                          </a:solidFill>
                          <a:latin typeface="Arial"/>
                          <a:ea typeface="Arial"/>
                          <a:cs typeface="Arial"/>
                        </a:rPr>
                        <a:t>UMA MLIP</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Relative E, forces, relaxation</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Same-protocol candidate ordering</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Absolute thermodynamics / charge-state reaction</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457200">
                <a:tc>
                  <a:txBody>
                    <a:bodyPr wrap="square">
                      <a:normAutofit/>
                    </a:bodyPr>
                    <a:lstStyle/>
                    <a:p>
                      <a:pPr marL="0" indent="0" algn="l">
                        <a:buNone/>
                      </a:pPr>
                      <a:r>
                        <a:rPr sz="1013" b="0">
                          <a:solidFill>
                            <a:srgbClr val="262626"/>
                          </a:solidFill>
                          <a:latin typeface="Arial"/>
                          <a:ea typeface="Arial"/>
                          <a:cs typeface="Arial"/>
                        </a:rPr>
                        <a:t>BVSE</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Static pathway geometry</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Pathway-retention risk</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D or conductivity</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457200">
                <a:tc>
                  <a:txBody>
                    <a:bodyPr wrap="square">
                      <a:normAutofit/>
                    </a:bodyPr>
                    <a:lstStyle/>
                    <a:p>
                      <a:pPr marL="0" indent="0" algn="l">
                        <a:buNone/>
                      </a:pPr>
                      <a:r>
                        <a:rPr sz="1013" b="0">
                          <a:solidFill>
                            <a:srgbClr val="262626"/>
                          </a:solidFill>
                          <a:latin typeface="Arial"/>
                          <a:ea typeface="Arial"/>
                          <a:cs typeface="Arial"/>
                        </a:rPr>
                        <a:t>MLIP-MD</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MSD, D(T), Ea</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β-gated multiseed comparison at 600/800/1000 K</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Absolute σ; ungated or single-seed ratios</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457200">
                <a:tc>
                  <a:txBody>
                    <a:bodyPr wrap="square">
                      <a:normAutofit/>
                    </a:bodyPr>
                    <a:lstStyle/>
                    <a:p>
                      <a:pPr marL="0" indent="0" algn="l">
                        <a:buNone/>
                      </a:pPr>
                      <a:r>
                        <a:rPr sz="1013" b="0">
                          <a:solidFill>
                            <a:srgbClr val="262626"/>
                          </a:solidFill>
                          <a:latin typeface="Arial"/>
                          <a:ea typeface="Arial"/>
                          <a:cs typeface="Arial"/>
                        </a:rPr>
                        <a:t>DFT</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Matched energy / electronic response</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Selected candidate validation</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47/47 coverage or cross-protocol ranking</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457200">
                <a:tc>
                  <a:txBody>
                    <a:bodyPr wrap="square">
                      <a:normAutofit/>
                    </a:bodyPr>
                    <a:lstStyle/>
                    <a:p>
                      <a:pPr marL="0" indent="0" algn="l">
                        <a:buNone/>
                      </a:pPr>
                      <a:r>
                        <a:rPr sz="1013" b="0">
                          <a:solidFill>
                            <a:srgbClr val="262626"/>
                          </a:solidFill>
                          <a:latin typeface="Arial"/>
                          <a:ea typeface="Arial"/>
                          <a:cs typeface="Arial"/>
                        </a:rPr>
                        <a:t>Literature / curated</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External proxy / qualitative prior</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Directional follow-up</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Mix with internal absolutes or use as hard gate</a:t>
                      </a:r>
                      <a:endParaRPr sz="95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bl>
          </a:graphicData>
        </a:graphic>
      </p:graphicFrame>
      <p:sp>
        <p:nvSpPr>
          <p:cNvPr id="10" name="final-title-23">
            <a:extLst xmlns:a="http://schemas.openxmlformats.org/drawingml/2006/main">
              <a:ext uri="{FF2B5EF4-FFF2-40B4-BE49-F238E27FC236}">
                <a16:creationId xmlns:a16="http://schemas.microsoft.com/office/drawing/2014/main" id="{FA43B36D-3C0D-4FC3-A11E-A2EDE9F025F2}"/>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600" b="1" i="0">
                <a:solidFill>
                  <a:srgbClr val="1F4E79"/>
                </a:solidFill>
                <a:latin typeface="Arial"/>
                <a:ea typeface="Arial"/>
                <a:cs typeface="Arial"/>
              </a:defRPr>
            </a:pPr>
            <a:r>
              <a:rPr sz="2600" b="1" i="0">
                <a:solidFill>
                  <a:srgbClr val="1F4E79"/>
                </a:solidFill>
                <a:latin typeface="Arial"/>
                <a:ea typeface="Arial"/>
                <a:cs typeface="Arial"/>
              </a:rPr>
              <a:t>Appendix A2</a:t>
            </a:r>
          </a:p>
        </p:txBody>
      </p:sp>
    </p:spTree>
    <p:extLst>
      <p:ext uri="{BB962C8B-B14F-4D97-AF65-F5344CB8AC3E}">
        <p14:creationId xmlns:p14="http://schemas.microsoft.com/office/powerpoint/2010/main" val="338696744"/>
      </p:ext>
    </p:extLst>
  </p:cSld>
</p:sld>
</file>

<file path=ppt/slides/slide2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F7310F9-2557-4085-9137-F5E593536A0D}"/>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Appendix A3</a:t>
            </a:r>
            <a:endParaRPr sz="2800"/>
          </a:p>
        </p:txBody>
      </p:sp>
      <p:sp>
        <p:nvSpPr>
          <p:cNvPr id="3" name="Shape 1">
            <a:extLst xmlns:a="http://schemas.openxmlformats.org/drawingml/2006/main">
              <a:ext uri="{FF2B5EF4-FFF2-40B4-BE49-F238E27FC236}">
                <a16:creationId xmlns:a16="http://schemas.microsoft.com/office/drawing/2014/main" id="{ACD3D80D-AF57-4C7D-80D5-73F8BE8A6B7C}"/>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4" name="Shape 2">
            <a:extLst xmlns:a="http://schemas.openxmlformats.org/drawingml/2006/main">
              <a:ext uri="{FF2B5EF4-FFF2-40B4-BE49-F238E27FC236}">
                <a16:creationId xmlns:a16="http://schemas.microsoft.com/office/drawing/2014/main" id="{CEB16169-8BED-48B7-8A7C-DE82B927A69A}"/>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sp>
      <p:sp>
        <p:nvSpPr>
          <p:cNvPr id="5" name="Text 3">
            <a:extLst xmlns:a="http://schemas.openxmlformats.org/drawingml/2006/main">
              <a:ext uri="{FF2B5EF4-FFF2-40B4-BE49-F238E27FC236}">
                <a16:creationId xmlns:a16="http://schemas.microsoft.com/office/drawing/2014/main" id="{A9A43A32-4C7C-4062-8CD6-A90E2F33C134}"/>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47-species scorecard heatmap</a:t>
            </a:r>
            <a:endParaRPr sz="1400"/>
          </a:p>
        </p:txBody>
      </p:sp>
      <p:sp>
        <p:nvSpPr>
          <p:cNvPr id="6" name="Text 4">
            <a:extLst xmlns:a="http://schemas.openxmlformats.org/drawingml/2006/main">
              <a:ext uri="{FF2B5EF4-FFF2-40B4-BE49-F238E27FC236}">
                <a16:creationId xmlns:a16="http://schemas.microsoft.com/office/drawing/2014/main" id="{4F019564-0DE4-4F35-A484-C647036276F6}"/>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7" name="Text 5">
            <a:extLst xmlns:a="http://schemas.openxmlformats.org/drawingml/2006/main">
              <a:ext uri="{FF2B5EF4-FFF2-40B4-BE49-F238E27FC236}">
                <a16:creationId xmlns:a16="http://schemas.microsoft.com/office/drawing/2014/main" id="{A138EC1B-5A2B-49CE-8F25-93213B37570C}"/>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8" name="Text 6">
            <a:extLst xmlns:a="http://schemas.openxmlformats.org/drawingml/2006/main">
              <a:ext uri="{FF2B5EF4-FFF2-40B4-BE49-F238E27FC236}">
                <a16:creationId xmlns:a16="http://schemas.microsoft.com/office/drawing/2014/main" id="{391BC42A-CC55-4FBF-AFCD-69B730A3DBF6}"/>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24</a:t>
            </a:r>
            <a:endParaRPr sz="900"/>
          </a:p>
        </p:txBody>
      </p:sp>
      <p:pic>
        <p:nvPicPr>
          <p:cNvPr id="21" name="Image 0"/>
          <p:cNvPicPr>
            <a:picLocks xmlns:a="http://schemas.openxmlformats.org/drawingml/2006/main" noChangeAspect="1"/>
          </p:cNvPicPr>
          <p:nvPr/>
        </p:nvPicPr>
        <p:blipFill>
          <a:blip xmlns:r="http://schemas.openxmlformats.org/officeDocument/2006/relationships" xmlns:a="http://schemas.openxmlformats.org/drawingml/2006/main" r:embed="R0fe11878b66f488d"/>
          <a:srcRect xmlns:a="http://schemas.openxmlformats.org/drawingml/2006/main" l="0" t="0" r="0" b="0"/>
          <a:stretch xmlns:a="http://schemas.openxmlformats.org/drawingml/2006/main"/>
        </p:blipFill>
        <p:spPr>
          <a:xfrm xmlns:a="http://schemas.openxmlformats.org/drawingml/2006/main">
            <a:off x="731520" y="1325880"/>
            <a:ext cx="7680960" cy="4572000"/>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354B51B8-83F5-490A-8A7D-29C5F7D52620}"/>
              </a:ext>
            </a:extLst>
          </p:cNvPr>
          <p:cNvSpPr>
            <a:spLocks xmlns:a="http://schemas.openxmlformats.org/drawingml/2006/main" noGrp="1"/>
          </p:cNvSpPr>
          <p:nvPr/>
        </p:nvSpPr>
        <p:spPr>
          <a:xfrm xmlns:a="http://schemas.openxmlformats.org/drawingml/2006/main">
            <a:off x="731520" y="5925312"/>
            <a:ext cx="76809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38" i="1">
                <a:solidFill>
                  <a:srgbClr val="7F7F7F"/>
                </a:solidFill>
                <a:latin typeface="Arial"/>
                <a:ea typeface="Arial"/>
                <a:cs typeface="Arial"/>
              </a:rPr>
              <a:t>Within-pool favorable percentiles + first-stop gate — no universal composite score, no winner</a:t>
            </a:r>
            <a:endParaRPr sz="850"/>
          </a:p>
        </p:txBody>
      </p:sp>
      <p:sp>
        <p:nvSpPr>
          <p:cNvPr id="12" name="Text 8">
            <a:extLst xmlns:a="http://schemas.openxmlformats.org/drawingml/2006/main">
              <a:ext uri="{FF2B5EF4-FFF2-40B4-BE49-F238E27FC236}">
                <a16:creationId xmlns:a16="http://schemas.microsoft.com/office/drawing/2014/main" id="{A6F58CFB-323E-47E0-8536-54EBDCCD8D2E}"/>
              </a:ext>
            </a:extLst>
          </p:cNvPr>
          <p:cNvSpPr>
            <a:spLocks xmlns:a="http://schemas.openxmlformats.org/drawingml/2006/main" noGrp="1"/>
          </p:cNvSpPr>
          <p:nvPr/>
        </p:nvSpPr>
        <p:spPr>
          <a:xfrm xmlns:a="http://schemas.openxmlformats.org/drawingml/2006/main">
            <a:off x="4572000" y="6199632"/>
            <a:ext cx="4023360" cy="2194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750">
                <a:solidFill>
                  <a:srgbClr val="7F7F7F"/>
                </a:solidFill>
                <a:latin typeface="Arial"/>
                <a:ea typeface="Arial"/>
                <a:cs typeface="Arial"/>
              </a:rPr>
              <a:t>Source: cascade_seminar_scorecard_47.csv</a:t>
            </a:r>
            <a:endParaRPr sz="750"/>
          </a:p>
        </p:txBody>
      </p:sp>
    </p:spTree>
    <p:extLst>
      <p:ext uri="{BB962C8B-B14F-4D97-AF65-F5344CB8AC3E}">
        <p14:creationId xmlns:p14="http://schemas.microsoft.com/office/powerpoint/2010/main" val="975382810"/>
      </p:ext>
    </p:extLst>
  </p:cSld>
</p:sld>
</file>

<file path=ppt/slides/slide2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681001B-6D0B-4F3D-98BB-CA16769AD7A1}"/>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Appendix A4</a:t>
            </a:r>
            <a:endParaRPr sz="2800"/>
          </a:p>
        </p:txBody>
      </p:sp>
      <p:sp>
        <p:nvSpPr>
          <p:cNvPr id="3" name="Shape 1">
            <a:extLst xmlns:a="http://schemas.openxmlformats.org/drawingml/2006/main">
              <a:ext uri="{FF2B5EF4-FFF2-40B4-BE49-F238E27FC236}">
                <a16:creationId xmlns:a16="http://schemas.microsoft.com/office/drawing/2014/main" id="{94F32792-CDEE-4A94-A434-C7E3014FEACA}"/>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4" name="Shape 2">
            <a:extLst xmlns:a="http://schemas.openxmlformats.org/drawingml/2006/main">
              <a:ext uri="{FF2B5EF4-FFF2-40B4-BE49-F238E27FC236}">
                <a16:creationId xmlns:a16="http://schemas.microsoft.com/office/drawing/2014/main" id="{3AAB58FD-DFE7-48E7-8E50-77F218C1CE09}"/>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sp>
      <p:sp>
        <p:nvSpPr>
          <p:cNvPr id="5" name="Text 3">
            <a:extLst xmlns:a="http://schemas.openxmlformats.org/drawingml/2006/main">
              <a:ext uri="{FF2B5EF4-FFF2-40B4-BE49-F238E27FC236}">
                <a16:creationId xmlns:a16="http://schemas.microsoft.com/office/drawing/2014/main" id="{5C2A6663-4D7D-4A0A-A314-E85D8709AC04}"/>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Defense Q&amp;A — cascade and evidence</a:t>
            </a:r>
            <a:endParaRPr sz="1400"/>
          </a:p>
        </p:txBody>
      </p:sp>
      <p:sp>
        <p:nvSpPr>
          <p:cNvPr id="6" name="Text 4">
            <a:extLst xmlns:a="http://schemas.openxmlformats.org/drawingml/2006/main">
              <a:ext uri="{FF2B5EF4-FFF2-40B4-BE49-F238E27FC236}">
                <a16:creationId xmlns:a16="http://schemas.microsoft.com/office/drawing/2014/main" id="{CF5AE0DC-E541-42D0-8029-D4F7CE7B1E3D}"/>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7" name="Text 5">
            <a:extLst xmlns:a="http://schemas.openxmlformats.org/drawingml/2006/main">
              <a:ext uri="{FF2B5EF4-FFF2-40B4-BE49-F238E27FC236}">
                <a16:creationId xmlns:a16="http://schemas.microsoft.com/office/drawing/2014/main" id="{9D018F93-D9F9-4DBF-920E-1FF31FEE469A}"/>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8" name="Text 6">
            <a:extLst xmlns:a="http://schemas.openxmlformats.org/drawingml/2006/main">
              <a:ext uri="{FF2B5EF4-FFF2-40B4-BE49-F238E27FC236}">
                <a16:creationId xmlns:a16="http://schemas.microsoft.com/office/drawing/2014/main" id="{442C69D3-E39D-4303-8571-7519C225664B}"/>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25</a:t>
            </a:r>
            <a:endParaRPr sz="900"/>
          </a:p>
        </p:txBody>
      </p:sp>
      <p:graphicFrame>
        <p:nvGraphicFramePr>
          <p:cNvPr id="17" name="Table 0"/>
          <p:cNvGraphicFramePr/>
          <p:nvPr/>
        </p:nvGraphicFramePr>
        <p:xfrm>
          <a:off xmlns:a="http://schemas.openxmlformats.org/drawingml/2006/main" x="548640" y="1463040"/>
          <a:ext xmlns:a="http://schemas.openxmlformats.org/drawingml/2006/main" cx="8046720" cy="914400"/>
        </p:xfrm>
        <a:graphic xmlns:a="http://schemas.openxmlformats.org/drawingml/2006/main">
          <a:graphicData uri="http://schemas.openxmlformats.org/drawingml/2006/table">
            <a:tbl>
              <a:tblPr/>
              <a:tblGrid>
                <a:gridCol w="3291840"/>
                <a:gridCol w="4754880"/>
              </a:tblGrid>
              <a:tr h="502920">
                <a:tc>
                  <a:txBody>
                    <a:bodyPr wrap="square">
                      <a:normAutofit/>
                    </a:bodyPr>
                    <a:lstStyle/>
                    <a:p>
                      <a:pPr marL="0" indent="0" algn="ctr">
                        <a:buNone/>
                      </a:pPr>
                      <a:r>
                        <a:rPr sz="1050" b="1">
                          <a:solidFill>
                            <a:srgbClr val="FFFFFF"/>
                          </a:solidFill>
                          <a:latin typeface="Arial"/>
                          <a:ea typeface="Arial"/>
                          <a:cs typeface="Arial"/>
                        </a:rPr>
                        <a:t>Question</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50" b="1">
                          <a:solidFill>
                            <a:srgbClr val="FFFFFF"/>
                          </a:solidFill>
                          <a:latin typeface="Arial"/>
                          <a:ea typeface="Arial"/>
                          <a:cs typeface="Arial"/>
                        </a:rPr>
                        <a:t>Defense answer</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r>
              <a:tr h="502920">
                <a:tc>
                  <a:txBody>
                    <a:bodyPr wrap="square">
                      <a:normAutofit/>
                    </a:bodyPr>
                    <a:lstStyle/>
                    <a:p>
                      <a:pPr marL="0" indent="0" algn="l">
                        <a:buNone/>
                      </a:pPr>
                      <a:r>
                        <a:rPr sz="1013" b="0">
                          <a:solidFill>
                            <a:srgbClr val="262626"/>
                          </a:solidFill>
                          <a:latin typeface="Arial"/>
                          <a:ea typeface="Arial"/>
                          <a:cs typeface="Arial"/>
                        </a:rPr>
                        <a:t>Is 47 a high-throughput discovery funnel?</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No. It is a human-curated, host-specific O/F snapshot; 273 is a separate run-slot count.</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502920">
                <a:tc>
                  <a:txBody>
                    <a:bodyPr wrap="square">
                      <a:normAutofit/>
                    </a:bodyPr>
                    <a:lstStyle/>
                    <a:p>
                      <a:pPr marL="0" indent="0" algn="l">
                        <a:buNone/>
                      </a:pPr>
                      <a:r>
                        <a:rPr sz="1013" b="0">
                          <a:solidFill>
                            <a:srgbClr val="262626"/>
                          </a:solidFill>
                          <a:latin typeface="Arial"/>
                          <a:ea typeface="Arial"/>
                          <a:cs typeface="Arial"/>
                        </a:rPr>
                        <a:t>What happened to the other 44 of 91?</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They are absent from the versioned table. Without per-species manifests, absence is not physical rejection.</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502920">
                <a:tc>
                  <a:txBody>
                    <a:bodyPr wrap="square">
                      <a:normAutofit/>
                    </a:bodyPr>
                    <a:lstStyle/>
                    <a:p>
                      <a:pPr marL="0" indent="0" algn="l">
                        <a:buNone/>
                      </a:pPr>
                      <a:r>
                        <a:rPr sz="1013" b="0">
                          <a:solidFill>
                            <a:srgbClr val="262626"/>
                          </a:solidFill>
                          <a:latin typeface="Arial"/>
                          <a:ea typeface="Arial"/>
                          <a:cs typeface="Arial"/>
                        </a:rPr>
                        <a:t>Why keep vacuous or redundant gates?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Auditability. We report selection pressure and unique kills; both may change in a new pool.</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502920">
                <a:tc>
                  <a:txBody>
                    <a:bodyPr wrap="square">
                      <a:normAutofit/>
                    </a:bodyPr>
                    <a:lstStyle/>
                    <a:p>
                      <a:pPr marL="0" indent="0" algn="l">
                        <a:buNone/>
                      </a:pPr>
                      <a:r>
                        <a:rPr sz="1013" b="0">
                          <a:solidFill>
                            <a:srgbClr val="262626"/>
                          </a:solidFill>
                          <a:latin typeface="Arial"/>
                          <a:ea typeface="Arial"/>
                          <a:cs typeface="Arial"/>
                        </a:rPr>
                        <a:t>Why report 11 instead of one?</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We compare at the G1–G4 endpoint while marking G4 heuristic. G5 is ranking-only.</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502920">
                <a:tc>
                  <a:txBody>
                    <a:bodyPr wrap="square">
                      <a:normAutofit/>
                    </a:bodyPr>
                    <a:lstStyle/>
                    <a:p>
                      <a:pPr marL="0" indent="0" algn="l">
                        <a:buNone/>
                      </a:pPr>
                      <a:r>
                        <a:rPr sz="1013" b="0">
                          <a:solidFill>
                            <a:srgbClr val="262626"/>
                          </a:solidFill>
                          <a:latin typeface="Arial"/>
                          <a:ea typeface="Arial"/>
                          <a:cs typeface="Arial"/>
                        </a:rPr>
                        <a:t>Does BVSE failure prove low conductivity?</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No. It flags static pathway risk; multiseed MD or experiment is required.</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502920">
                <a:tc>
                  <a:txBody>
                    <a:bodyPr wrap="square">
                      <a:normAutofit/>
                    </a:bodyPr>
                    <a:lstStyle/>
                    <a:p>
                      <a:pPr marL="0" indent="0" algn="l">
                        <a:buNone/>
                      </a:pPr>
                      <a:r>
                        <a:rPr sz="1013" b="0">
                          <a:solidFill>
                            <a:srgbClr val="262626"/>
                          </a:solidFill>
                          <a:latin typeface="Arial"/>
                          <a:ea typeface="Arial"/>
                          <a:cs typeface="Arial"/>
                        </a:rPr>
                        <a:t>Why is air stability not a gate?</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The literature proxy covers 35/47 and raw HSAB is biased; actual doped-LPSCl moisture response is missing.</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bl>
          </a:graphicData>
        </a:graphic>
      </p:graphicFrame>
    </p:spTree>
    <p:extLst>
      <p:ext uri="{BB962C8B-B14F-4D97-AF65-F5344CB8AC3E}">
        <p14:creationId xmlns:p14="http://schemas.microsoft.com/office/powerpoint/2010/main" val="1538293482"/>
      </p:ext>
    </p:extLst>
  </p:cSld>
</p:sld>
</file>

<file path=ppt/slides/slide26.xml><?xml version="1.0" encoding="utf-8"?>
<p:sld xmlns:p="http://schemas.openxmlformats.org/presentationml/2006/main">
  <p:cSld>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8265672A-45D5-4D2E-82AE-46D6A91EBE03}"/>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4" name="Shape 2">
            <a:extLst xmlns:a="http://schemas.openxmlformats.org/drawingml/2006/main">
              <a:ext uri="{FF2B5EF4-FFF2-40B4-BE49-F238E27FC236}">
                <a16:creationId xmlns:a16="http://schemas.microsoft.com/office/drawing/2014/main" id="{76A9F8EB-74B8-4E6F-B62B-B11A1E56BF59}"/>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sp>
      <p:sp>
        <p:nvSpPr>
          <p:cNvPr id="5" name="Text 3">
            <a:extLst xmlns:a="http://schemas.openxmlformats.org/drawingml/2006/main">
              <a:ext uri="{FF2B5EF4-FFF2-40B4-BE49-F238E27FC236}">
                <a16:creationId xmlns:a16="http://schemas.microsoft.com/office/drawing/2014/main" id="{9DE7E4DE-0A38-46A4-AAAF-DC9CB4E091FB}"/>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262626"/>
                </a:solidFill>
                <a:latin typeface="Arial"/>
                <a:ea typeface="Arial"/>
                <a:cs typeface="Arial"/>
              </a:rPr>
              <a:t>Defense Q&amp;A — validation and ML</a:t>
            </a:r>
            <a:endParaRPr sz="1400"/>
          </a:p>
        </p:txBody>
      </p:sp>
      <p:sp>
        <p:nvSpPr>
          <p:cNvPr id="6" name="Text 4">
            <a:extLst xmlns:a="http://schemas.openxmlformats.org/drawingml/2006/main">
              <a:ext uri="{FF2B5EF4-FFF2-40B4-BE49-F238E27FC236}">
                <a16:creationId xmlns:a16="http://schemas.microsoft.com/office/drawing/2014/main" id="{493E8249-E77D-46D7-8FC0-0F4B2F320F76}"/>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7" name="Text 5">
            <a:extLst xmlns:a="http://schemas.openxmlformats.org/drawingml/2006/main">
              <a:ext uri="{FF2B5EF4-FFF2-40B4-BE49-F238E27FC236}">
                <a16:creationId xmlns:a16="http://schemas.microsoft.com/office/drawing/2014/main" id="{B5E7B9FD-55A6-4517-965A-7D3A41C8B88F}"/>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8" name="Text 6">
            <a:extLst xmlns:a="http://schemas.openxmlformats.org/drawingml/2006/main">
              <a:ext uri="{FF2B5EF4-FFF2-40B4-BE49-F238E27FC236}">
                <a16:creationId xmlns:a16="http://schemas.microsoft.com/office/drawing/2014/main" id="{0F725C96-A9D2-4BBB-8ED3-9596E3896161}"/>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26</a:t>
            </a:r>
            <a:endParaRPr sz="900"/>
          </a:p>
        </p:txBody>
      </p:sp>
      <p:graphicFrame>
        <p:nvGraphicFramePr>
          <p:cNvPr id="17" name="Table 0"/>
          <p:cNvGraphicFramePr/>
          <p:nvPr/>
        </p:nvGraphicFramePr>
        <p:xfrm>
          <a:off xmlns:a="http://schemas.openxmlformats.org/drawingml/2006/main" x="548640" y="1463040"/>
          <a:ext xmlns:a="http://schemas.openxmlformats.org/drawingml/2006/main" cx="8046720" cy="914400"/>
        </p:xfrm>
        <a:graphic xmlns:a="http://schemas.openxmlformats.org/drawingml/2006/main">
          <a:graphicData uri="http://schemas.openxmlformats.org/drawingml/2006/table">
            <a:tbl>
              <a:tblPr/>
              <a:tblGrid>
                <a:gridCol w="3291840"/>
                <a:gridCol w="4754880"/>
              </a:tblGrid>
              <a:tr h="502920">
                <a:tc>
                  <a:txBody>
                    <a:bodyPr wrap="square">
                      <a:normAutofit/>
                    </a:bodyPr>
                    <a:lstStyle/>
                    <a:p>
                      <a:pPr marL="0" indent="0" algn="ctr">
                        <a:buNone/>
                      </a:pPr>
                      <a:r>
                        <a:rPr sz="1050" b="1">
                          <a:solidFill>
                            <a:srgbClr val="FFFFFF"/>
                          </a:solidFill>
                          <a:latin typeface="Arial"/>
                          <a:ea typeface="Arial"/>
                          <a:cs typeface="Arial"/>
                        </a:rPr>
                        <a:t>Question</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50" b="1">
                          <a:solidFill>
                            <a:srgbClr val="FFFFFF"/>
                          </a:solidFill>
                          <a:latin typeface="Arial"/>
                          <a:ea typeface="Arial"/>
                          <a:cs typeface="Arial"/>
                        </a:rPr>
                        <a:t>Defense answer</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r>
              <a:tr h="502920">
                <a:tc>
                  <a:txBody>
                    <a:bodyPr wrap="square">
                      <a:normAutofit/>
                    </a:bodyPr>
                    <a:lstStyle/>
                    <a:p>
                      <a:pPr marL="0" indent="0" algn="l">
                        <a:buNone/>
                      </a:pPr>
                      <a:r>
                        <a:rPr sz="1013" b="0">
                          <a:solidFill>
                            <a:srgbClr val="262626"/>
                          </a:solidFill>
                          <a:latin typeface="Arial"/>
                          <a:ea typeface="Arial"/>
                          <a:cs typeface="Arial"/>
                        </a:rPr>
                        <a:t>Are all 47 candidates DFT-validated?</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No. There are two targeted DFT case studies; the rest are relative screens.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502920">
                <a:tc>
                  <a:txBody>
                    <a:bodyPr wrap="square">
                      <a:normAutofit/>
                    </a:bodyPr>
                    <a:lstStyle/>
                    <a:p>
                      <a:pPr marL="0" indent="0" algn="l">
                        <a:buNone/>
                      </a:pPr>
                      <a:r>
                        <a:rPr sz="1013" b="0">
                          <a:solidFill>
                            <a:srgbClr val="262626"/>
                          </a:solidFill>
                          <a:latin typeface="Arial"/>
                          <a:ea typeface="Arial"/>
                          <a:cs typeface="Arial"/>
                        </a:rPr>
                        <a:t>Can 47 rows train a discovery model?</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They define priors and axes. Predictive learning needs configuration-level, protocol-tagged labels.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502920">
                <a:tc>
                  <a:txBody>
                    <a:bodyPr wrap="square">
                      <a:normAutofit/>
                    </a:bodyPr>
                    <a:lstStyle/>
                    <a:p>
                      <a:pPr marL="0" indent="0" algn="l">
                        <a:buNone/>
                      </a:pPr>
                      <a:r>
                        <a:rPr sz="1013" b="0">
                          <a:solidFill>
                            <a:srgbClr val="262626"/>
                          </a:solidFill>
                          <a:latin typeface="Arial"/>
                          <a:ea typeface="Arial"/>
                          <a:cs typeface="Arial"/>
                        </a:rPr>
                        <a:t>Why not trust LOOCV R² = 0.9998?</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Stage 1 reconstructs a score built from the same inputs. Separately, pair LODO = −0.1805 and L2DO = −0.2548.</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502920">
                <a:tc>
                  <a:txBody>
                    <a:bodyPr wrap="square">
                      <a:normAutofit/>
                    </a:bodyPr>
                    <a:lstStyle/>
                    <a:p>
                      <a:pPr marL="0" indent="0" algn="l">
                        <a:buNone/>
                      </a:pPr>
                      <a:r>
                        <a:rPr sz="1013" b="0">
                          <a:solidFill>
                            <a:srgbClr val="262626"/>
                          </a:solidFill>
                          <a:latin typeface="Arial"/>
                          <a:ea typeface="Arial"/>
                          <a:cs typeface="Arial"/>
                        </a:rPr>
                        <a:t>Why not choose only the predicted top pair?</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1013" b="0">
                          <a:solidFill>
                            <a:srgbClr val="262626"/>
                          </a:solidFill>
                          <a:latin typeface="Arial"/>
                          <a:ea typeface="Arial"/>
                          <a:cs typeface="Arial"/>
                        </a:rPr>
                        <a:t>Winner's curse. Acquire uncertainty, chemical diversity, and gate-boundary cases.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502920">
                <a:tc>
                  <a:txBody>
                    <a:bodyPr wrap="square">
                      <a:normAutofit/>
                    </a:bodyPr>
                    <a:lstStyle/>
                    <a:p>
                      <a:pPr marL="0" indent="0" algn="l">
                        <a:buNone/>
                      </a:pPr>
                      <a:r>
                        <a:rPr sz="1013" b="0">
                          <a:solidFill>
                            <a:srgbClr val="262626"/>
                          </a:solidFill>
                          <a:latin typeface="Arial"/>
                          <a:ea typeface="Arial"/>
                          <a:cs typeface="Arial"/>
                        </a:rPr>
                        <a:t>When can the model be called predictive?</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1013" b="0">
                          <a:solidFill>
                            <a:srgbClr val="262626"/>
                          </a:solidFill>
                          <a:latin typeface="Arial"/>
                          <a:ea typeface="Arial"/>
                          <a:cs typeface="Arial"/>
                        </a:rPr>
                        <a:t>After explicit pair structures, real pair labels, grouped CV, and a frozen prospective holdout.</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bl>
          </a:graphicData>
        </a:graphic>
      </p:graphicFrame>
      <p:sp>
        <p:nvSpPr>
          <p:cNvPr id="10" name="final-title-26">
            <a:extLst xmlns:a="http://schemas.openxmlformats.org/drawingml/2006/main">
              <a:ext uri="{FF2B5EF4-FFF2-40B4-BE49-F238E27FC236}">
                <a16:creationId xmlns:a16="http://schemas.microsoft.com/office/drawing/2014/main" id="{960EFF81-F367-452B-B49A-78FB81D0CDC5}"/>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600" b="1" i="0">
                <a:solidFill>
                  <a:srgbClr val="1F4E79"/>
                </a:solidFill>
                <a:latin typeface="Arial"/>
                <a:ea typeface="Arial"/>
                <a:cs typeface="Arial"/>
              </a:defRPr>
            </a:pPr>
            <a:r>
              <a:rPr sz="2600" b="1" i="0">
                <a:solidFill>
                  <a:srgbClr val="1F4E79"/>
                </a:solidFill>
                <a:latin typeface="Arial"/>
                <a:ea typeface="Arial"/>
                <a:cs typeface="Arial"/>
              </a:rPr>
              <a:t>Appendix A5</a:t>
            </a:r>
          </a:p>
        </p:txBody>
      </p:sp>
    </p:spTree>
    <p:extLst>
      <p:ext uri="{BB962C8B-B14F-4D97-AF65-F5344CB8AC3E}">
        <p14:creationId xmlns:p14="http://schemas.microsoft.com/office/powerpoint/2010/main" val="1680830986"/>
      </p:ext>
    </p:extLst>
  </p:cSld>
</p:sld>
</file>

<file path=ppt/slides/slide2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CA42A2B-BB41-44B7-8C97-BB2E0954CEBF}"/>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600" b="1">
                <a:solidFill>
                  <a:srgbClr val="1F4E79"/>
                </a:solidFill>
                <a:latin typeface="Arial"/>
                <a:ea typeface="Arial"/>
                <a:cs typeface="Arial"/>
              </a:rPr>
              <a:t>Appendix A6</a:t>
            </a:r>
            <a:endParaRPr sz="2800"/>
          </a:p>
        </p:txBody>
      </p:sp>
      <p:sp>
        <p:nvSpPr>
          <p:cNvPr id="3" name="Shape 1">
            <a:extLst xmlns:a="http://schemas.openxmlformats.org/drawingml/2006/main">
              <a:ext uri="{FF2B5EF4-FFF2-40B4-BE49-F238E27FC236}">
                <a16:creationId xmlns:a16="http://schemas.microsoft.com/office/drawing/2014/main" id="{7519B69C-8E42-40A5-A23C-E98240727D20}"/>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4" name="Shape 2">
            <a:extLst xmlns:a="http://schemas.openxmlformats.org/drawingml/2006/main">
              <a:ext uri="{FF2B5EF4-FFF2-40B4-BE49-F238E27FC236}">
                <a16:creationId xmlns:a16="http://schemas.microsoft.com/office/drawing/2014/main" id="{9B64AB16-6550-4E4F-BF50-AA6940A1C9A0}"/>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sp>
      <p:sp>
        <p:nvSpPr>
          <p:cNvPr id="5" name="Text 3">
            <a:extLst xmlns:a="http://schemas.openxmlformats.org/drawingml/2006/main">
              <a:ext uri="{FF2B5EF4-FFF2-40B4-BE49-F238E27FC236}">
                <a16:creationId xmlns:a16="http://schemas.microsoft.com/office/drawing/2014/main" id="{CB9547B4-A56A-4A64-9DAE-2F17376DE186}"/>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2626"/>
                </a:solidFill>
                <a:latin typeface="Arial"/>
                <a:ea typeface="Arial"/>
                <a:cs typeface="Arial"/>
              </a:rPr>
              <a:t>Canonical data sources held in the repository</a:t>
            </a:r>
            <a:endParaRPr sz="1400"/>
          </a:p>
        </p:txBody>
      </p:sp>
      <p:sp>
        <p:nvSpPr>
          <p:cNvPr id="6" name="Text 4">
            <a:extLst xmlns:a="http://schemas.openxmlformats.org/drawingml/2006/main">
              <a:ext uri="{FF2B5EF4-FFF2-40B4-BE49-F238E27FC236}">
                <a16:creationId xmlns:a16="http://schemas.microsoft.com/office/drawing/2014/main" id="{EA2A2758-062E-4404-B524-C42C83FC4B8F}"/>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7" name="Text 5">
            <a:extLst xmlns:a="http://schemas.openxmlformats.org/drawingml/2006/main">
              <a:ext uri="{FF2B5EF4-FFF2-40B4-BE49-F238E27FC236}">
                <a16:creationId xmlns:a16="http://schemas.microsoft.com/office/drawing/2014/main" id="{E53ED721-9D4F-4B9C-A3A8-EB102F238DC0}"/>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8" name="Text 6">
            <a:extLst xmlns:a="http://schemas.openxmlformats.org/drawingml/2006/main">
              <a:ext uri="{FF2B5EF4-FFF2-40B4-BE49-F238E27FC236}">
                <a16:creationId xmlns:a16="http://schemas.microsoft.com/office/drawing/2014/main" id="{0E696294-F624-4401-B6B4-06382A38BF6F}"/>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27</a:t>
            </a:r>
            <a:endParaRPr sz="900"/>
          </a:p>
        </p:txBody>
      </p:sp>
      <p:graphicFrame>
        <p:nvGraphicFramePr>
          <p:cNvPr id="17" name="Table 0"/>
          <p:cNvGraphicFramePr/>
          <p:nvPr/>
        </p:nvGraphicFramePr>
        <p:xfrm>
          <a:off xmlns:a="http://schemas.openxmlformats.org/drawingml/2006/main" x="548640" y="1463040"/>
          <a:ext xmlns:a="http://schemas.openxmlformats.org/drawingml/2006/main" cx="8046720" cy="914400"/>
        </p:xfrm>
        <a:graphic xmlns:a="http://schemas.openxmlformats.org/drawingml/2006/main">
          <a:graphicData uri="http://schemas.openxmlformats.org/drawingml/2006/table">
            <a:tbl>
              <a:tblPr/>
              <a:tblGrid>
                <a:gridCol w="4206240"/>
                <a:gridCol w="3840480"/>
              </a:tblGrid>
              <a:tr h="384048">
                <a:tc>
                  <a:txBody>
                    <a:bodyPr wrap="square">
                      <a:normAutofit/>
                    </a:bodyPr>
                    <a:lstStyle/>
                    <a:p>
                      <a:pPr marL="0" indent="0" algn="ctr">
                        <a:buNone/>
                      </a:pPr>
                      <a:r>
                        <a:rPr sz="1013" b="1">
                          <a:solidFill>
                            <a:srgbClr val="FFFFFF"/>
                          </a:solidFill>
                          <a:latin typeface="Arial"/>
                          <a:ea typeface="Arial"/>
                          <a:cs typeface="Arial"/>
                        </a:rPr>
                        <a:t>Source</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13" b="1">
                          <a:solidFill>
                            <a:srgbClr val="FFFFFF"/>
                          </a:solidFill>
                          <a:latin typeface="Arial"/>
                          <a:ea typeface="Arial"/>
                          <a:cs typeface="Arial"/>
                        </a:rPr>
                        <a:t>Role</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r>
              <a:tr h="384048">
                <a:tc>
                  <a:txBody>
                    <a:bodyPr wrap="square">
                      <a:normAutofit/>
                    </a:bodyPr>
                    <a:lstStyle/>
                    <a:p>
                      <a:pPr marL="0" indent="0" algn="l">
                        <a:buNone/>
                      </a:pPr>
                      <a:r>
                        <a:rPr sz="938" b="0">
                          <a:solidFill>
                            <a:srgbClr val="262626"/>
                          </a:solidFill>
                          <a:latin typeface="Arial"/>
                          <a:ea typeface="Arial"/>
                          <a:cs typeface="Arial"/>
                        </a:rPr>
                        <a:t>cascade_seminar_pool_attrition_273_to_47.csv</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938" b="0">
                          <a:solidFill>
                            <a:srgbClr val="262626"/>
                          </a:solidFill>
                          <a:latin typeface="Arial"/>
                          <a:ea typeface="Arial"/>
                          <a:cs typeface="Arial"/>
                        </a:rPr>
                        <a:t>91 × 3 run-slot lineage and 47-species snapshot</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938" b="0">
                          <a:solidFill>
                            <a:srgbClr val="262626"/>
                          </a:solidFill>
                          <a:latin typeface="Arial"/>
                          <a:ea typeface="Arial"/>
                          <a:cs typeface="Arial"/>
                        </a:rPr>
                        <a:t>cascade_screening_funnel.json</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938" b="0">
                          <a:solidFill>
                            <a:srgbClr val="262626"/>
                          </a:solidFill>
                          <a:latin typeface="Arial"/>
                          <a:ea typeface="Arial"/>
                          <a:cs typeface="Arial"/>
                        </a:rPr>
                        <a:t>G1–G5 definitions, waterfall, gate-power, permutations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938" b="0">
                          <a:solidFill>
                            <a:srgbClr val="262626"/>
                          </a:solidFill>
                          <a:latin typeface="Arial"/>
                          <a:ea typeface="Arial"/>
                          <a:cs typeface="Arial"/>
                        </a:rPr>
                        <a:t>cascade_seminar_scorecard_47.csv</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938" b="0">
                          <a:solidFill>
                            <a:srgbClr val="262626"/>
                          </a:solidFill>
                          <a:latin typeface="Arial"/>
                          <a:ea typeface="Arial"/>
                          <a:cs typeface="Arial"/>
                        </a:rPr>
                        <a:t>47 candidates, first-stop, G1–G4 and deep-DFT flags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938" b="0">
                          <a:solidFill>
                            <a:srgbClr val="262626"/>
                          </a:solidFill>
                          <a:latin typeface="Arial"/>
                          <a:ea typeface="Arial"/>
                          <a:cs typeface="Arial"/>
                        </a:rPr>
                        <a:t>cascade_seminar_oxidation_transport_47.csv</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938" b="0">
                          <a:solidFill>
                            <a:srgbClr val="262626"/>
                          </a:solidFill>
                          <a:latin typeface="Arial"/>
                          <a:ea typeface="Arial"/>
                          <a:cs typeface="Arial"/>
                        </a:rPr>
                        <a:t>Oxidation–static-pathway trade-off</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938" b="0">
                          <a:solidFill>
                            <a:srgbClr val="262626"/>
                          </a:solidFill>
                          <a:latin typeface="Arial"/>
                          <a:ea typeface="Arial"/>
                          <a:cs typeface="Arial"/>
                        </a:rPr>
                        <a:t>cascade_seminar_pareto_47.csv</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938" b="0">
                          <a:solidFill>
                            <a:srgbClr val="262626"/>
                          </a:solidFill>
                          <a:latin typeface="Arial"/>
                          <a:ea typeface="Arial"/>
                          <a:cs typeface="Arial"/>
                        </a:rPr>
                        <a:t>Conditional non-dominated set</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938" b="0">
                          <a:solidFill>
                            <a:srgbClr val="262626"/>
                          </a:solidFill>
                          <a:latin typeface="Arial"/>
                          <a:ea typeface="Arial"/>
                          <a:cs typeface="Arial"/>
                        </a:rPr>
                        <a:t>cascade_stability_axes.csv / verdict.json</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938" b="0">
                          <a:solidFill>
                            <a:srgbClr val="262626"/>
                          </a:solidFill>
                          <a:latin typeface="Arial"/>
                          <a:ea typeface="Arial"/>
                          <a:cs typeface="Arial"/>
                        </a:rPr>
                        <a:t>H2S, LPSCl, Li, cathode interface axes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938" b="0">
                          <a:solidFill>
                            <a:srgbClr val="262626"/>
                          </a:solidFill>
                          <a:latin typeface="Arial"/>
                          <a:ea typeface="Arial"/>
                          <a:cs typeface="Arial"/>
                        </a:rPr>
                        <a:t>cascade_v23_themes.json / air_axis_lit_vs_tier.csv</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938" b="0">
                          <a:solidFill>
                            <a:srgbClr val="262626"/>
                          </a:solidFill>
                          <a:latin typeface="Arial"/>
                          <a:ea typeface="Arial"/>
                          <a:cs typeface="Arial"/>
                        </a:rPr>
                        <a:t>Cost, mass, air proxies and missingness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938" b="0">
                          <a:solidFill>
                            <a:srgbClr val="262626"/>
                          </a:solidFill>
                          <a:latin typeface="Arial"/>
                          <a:ea typeface="Arial"/>
                          <a:cs typeface="Arial"/>
                        </a:rPr>
                        <a:t>cascade_v23_synergy_pairs.csv</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938" b="0">
                          <a:solidFill>
                            <a:srgbClr val="262626"/>
                          </a:solidFill>
                          <a:latin typeface="Arial"/>
                          <a:ea typeface="Arial"/>
                          <a:cs typeface="Arial"/>
                        </a:rPr>
                        <a:t>v1 end-member pair heuristic</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938" b="0">
                          <a:solidFill>
                            <a:srgbClr val="262626"/>
                          </a:solidFill>
                          <a:latin typeface="Arial"/>
                          <a:ea typeface="Arial"/>
                          <a:cs typeface="Arial"/>
                        </a:rPr>
                        <a:t>codoping_ml_v2.csv / codoping_ml_v2_meta.json</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938" b="0">
                          <a:solidFill>
                            <a:srgbClr val="262626"/>
                          </a:solidFill>
                          <a:latin typeface="Arial"/>
                          <a:ea typeface="Arial"/>
                          <a:cs typeface="Arial"/>
                        </a:rPr>
                        <a:t>v2 ranks, CV, AD, limitations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bl>
          </a:graphicData>
        </a:graphic>
      </p:graphicFrame>
    </p:spTree>
    <p:extLst>
      <p:ext uri="{BB962C8B-B14F-4D97-AF65-F5344CB8AC3E}">
        <p14:creationId xmlns:p14="http://schemas.microsoft.com/office/powerpoint/2010/main" val="777649955"/>
      </p:ext>
    </p:extLst>
  </p:cSld>
</p:sld>
</file>

<file path=ppt/slides/slide28.xml><?xml version="1.0" encoding="utf-8"?>
<p:sld xmlns:p="http://schemas.openxmlformats.org/presentationml/2006/main">
  <p:cSld>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7519B69C-8E42-40A5-A23C-E98240727D20}"/>
              </a:ext>
            </a:extLst>
          </p:cNvPr>
          <p:cNvSpPr>
            <a:spLocks xmlns:a="http://schemas.openxmlformats.org/drawingml/2006/main" noGrp="1"/>
          </p:cNvSpPr>
          <p:nvPr/>
        </p:nvSpPr>
        <p:spPr>
          <a:xfrm xmlns:a="http://schemas.openxmlformats.org/drawingml/2006/main">
            <a:off x="548640" y="868680"/>
            <a:ext cx="8046720" cy="0"/>
          </a:xfrm>
          <a:prstGeom xmlns:a="http://schemas.openxmlformats.org/drawingml/2006/main" prst="line">
            <a:avLst/>
          </a:prstGeom>
          <a:noFill xmlns:a="http://schemas.openxmlformats.org/drawingml/2006/main"/>
          <a:ln xmlns:a="http://schemas.openxmlformats.org/drawingml/2006/main" w="12700">
            <a:solidFill>
              <a:srgbClr val="BFBFBF"/>
            </a:solidFill>
            <a:prstDash val="solid"/>
          </a:ln>
        </p:spPr>
      </p:sp>
      <p:sp>
        <p:nvSpPr>
          <p:cNvPr id="4" name="Shape 2">
            <a:extLst xmlns:a="http://schemas.openxmlformats.org/drawingml/2006/main">
              <a:ext uri="{FF2B5EF4-FFF2-40B4-BE49-F238E27FC236}">
                <a16:creationId xmlns:a16="http://schemas.microsoft.com/office/drawing/2014/main" id="{9B64AB16-6550-4E4F-BF50-AA6940A1C9A0}"/>
              </a:ext>
            </a:extLst>
          </p:cNvPr>
          <p:cNvSpPr>
            <a:spLocks xmlns:a="http://schemas.openxmlformats.org/drawingml/2006/main" noGrp="1"/>
          </p:cNvSpPr>
          <p:nvPr/>
        </p:nvSpPr>
        <p:spPr>
          <a:xfrm xmlns:a="http://schemas.openxmlformats.org/drawingml/2006/main">
            <a:off x="566928" y="1033272"/>
            <a:ext cx="109728" cy="109728"/>
          </a:xfrm>
          <a:prstGeom xmlns:a="http://schemas.openxmlformats.org/drawingml/2006/main" prst="rect">
            <a:avLst/>
          </a:prstGeom>
          <a:solidFill xmlns:a="http://schemas.openxmlformats.org/drawingml/2006/main">
            <a:srgbClr val="9E2A2B"/>
          </a:solidFill>
        </p:spPr>
      </p:sp>
      <p:sp>
        <p:nvSpPr>
          <p:cNvPr id="5" name="Text 3">
            <a:extLst xmlns:a="http://schemas.openxmlformats.org/drawingml/2006/main">
              <a:ext uri="{FF2B5EF4-FFF2-40B4-BE49-F238E27FC236}">
                <a16:creationId xmlns:a16="http://schemas.microsoft.com/office/drawing/2014/main" id="{CB9547B4-A56A-4A64-9DAE-2F17376DE186}"/>
              </a:ext>
            </a:extLst>
          </p:cNvPr>
          <p:cNvSpPr>
            <a:spLocks xmlns:a="http://schemas.openxmlformats.org/drawingml/2006/main" noGrp="1"/>
          </p:cNvSpPr>
          <p:nvPr/>
        </p:nvSpPr>
        <p:spPr>
          <a:xfrm xmlns:a="http://schemas.openxmlformats.org/drawingml/2006/main">
            <a:off x="804672" y="932688"/>
            <a:ext cx="7772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62626"/>
                </a:solidFill>
                <a:latin typeface="Arial"/>
                <a:ea typeface="Arial"/>
                <a:cs typeface="Arial"/>
              </a:rPr>
              <a:t>Methods, audits, and literature sources</a:t>
            </a:r>
            <a:endParaRPr sz="1400"/>
          </a:p>
        </p:txBody>
      </p:sp>
      <p:sp>
        <p:nvSpPr>
          <p:cNvPr id="6" name="Text 4">
            <a:extLst xmlns:a="http://schemas.openxmlformats.org/drawingml/2006/main">
              <a:ext uri="{FF2B5EF4-FFF2-40B4-BE49-F238E27FC236}">
                <a16:creationId xmlns:a16="http://schemas.microsoft.com/office/drawing/2014/main" id="{EA2A2758-062E-4404-B524-C42C83FC4B8F}"/>
              </a:ext>
            </a:extLst>
          </p:cNvPr>
          <p:cNvSpPr>
            <a:spLocks xmlns:a="http://schemas.openxmlformats.org/drawingml/2006/main" noGrp="1"/>
          </p:cNvSpPr>
          <p:nvPr/>
        </p:nvSpPr>
        <p:spPr>
          <a:xfrm xmlns:a="http://schemas.openxmlformats.org/drawingml/2006/main">
            <a:off x="548640" y="644652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1F4E79"/>
                </a:solidFill>
                <a:latin typeface="Arial"/>
                <a:ea typeface="Arial"/>
                <a:cs typeface="Arial"/>
              </a:rPr>
              <a:t>HANYANG UNIVERSITY</a:t>
            </a:r>
            <a:endParaRPr sz="850"/>
          </a:p>
        </p:txBody>
      </p:sp>
      <p:sp>
        <p:nvSpPr>
          <p:cNvPr id="7" name="Text 5">
            <a:extLst xmlns:a="http://schemas.openxmlformats.org/drawingml/2006/main">
              <a:ext uri="{FF2B5EF4-FFF2-40B4-BE49-F238E27FC236}">
                <a16:creationId xmlns:a16="http://schemas.microsoft.com/office/drawing/2014/main" id="{E53ED721-9D4F-4B9C-A3A8-EB102F238DC0}"/>
              </a:ext>
            </a:extLst>
          </p:cNvPr>
          <p:cNvSpPr>
            <a:spLocks xmlns:a="http://schemas.openxmlformats.org/drawingml/2006/main" noGrp="1"/>
          </p:cNvSpPr>
          <p:nvPr/>
        </p:nvSpPr>
        <p:spPr>
          <a:xfrm xmlns:a="http://schemas.openxmlformats.org/drawingml/2006/main">
            <a:off x="3291840" y="6446520"/>
            <a:ext cx="25603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a:solidFill>
                  <a:srgbClr val="7F7F7F"/>
                </a:solidFill>
                <a:latin typeface="Arial"/>
                <a:ea typeface="Arial"/>
                <a:cs typeface="Arial"/>
              </a:rPr>
              <a:t>Battery Materials Lab.</a:t>
            </a:r>
            <a:endParaRPr sz="850"/>
          </a:p>
        </p:txBody>
      </p:sp>
      <p:sp>
        <p:nvSpPr>
          <p:cNvPr id="8" name="Text 6">
            <a:extLst xmlns:a="http://schemas.openxmlformats.org/drawingml/2006/main">
              <a:ext uri="{FF2B5EF4-FFF2-40B4-BE49-F238E27FC236}">
                <a16:creationId xmlns:a16="http://schemas.microsoft.com/office/drawing/2014/main" id="{0E696294-F624-4401-B6B4-06382A38BF6F}"/>
              </a:ext>
            </a:extLst>
          </p:cNvPr>
          <p:cNvSpPr>
            <a:spLocks xmlns:a="http://schemas.openxmlformats.org/drawingml/2006/main" noGrp="1"/>
          </p:cNvSpPr>
          <p:nvPr/>
        </p:nvSpPr>
        <p:spPr>
          <a:xfrm xmlns:a="http://schemas.openxmlformats.org/drawingml/2006/main">
            <a:off x="8366760" y="6446520"/>
            <a:ext cx="3657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a:solidFill>
                  <a:srgbClr val="7F7F7F"/>
                </a:solidFill>
                <a:latin typeface="Arial"/>
                <a:ea typeface="Arial"/>
                <a:cs typeface="Arial"/>
              </a:rPr>
              <a:t>28</a:t>
            </a:r>
            <a:endParaRPr sz="900"/>
          </a:p>
        </p:txBody>
      </p:sp>
      <p:graphicFrame>
        <p:nvGraphicFramePr>
          <p:cNvPr id="17" name="Table 0"/>
          <p:cNvGraphicFramePr/>
          <p:nvPr/>
        </p:nvGraphicFramePr>
        <p:xfrm>
          <a:off xmlns:a="http://schemas.openxmlformats.org/drawingml/2006/main" x="548640" y="1463040"/>
          <a:ext xmlns:a="http://schemas.openxmlformats.org/drawingml/2006/main" cx="8046720" cy="914400"/>
        </p:xfrm>
        <a:graphic xmlns:a="http://schemas.openxmlformats.org/drawingml/2006/main">
          <a:graphicData uri="http://schemas.openxmlformats.org/drawingml/2006/table">
            <a:tbl>
              <a:tblPr/>
              <a:tblGrid>
                <a:gridCol w="4206240"/>
                <a:gridCol w="3840480"/>
              </a:tblGrid>
              <a:tr h="384048">
                <a:tc>
                  <a:txBody>
                    <a:bodyPr wrap="square">
                      <a:normAutofit/>
                    </a:bodyPr>
                    <a:lstStyle/>
                    <a:p>
                      <a:pPr marL="0" indent="0" algn="ctr">
                        <a:buNone/>
                      </a:pPr>
                      <a:r>
                        <a:rPr sz="1013" b="1">
                          <a:solidFill>
                            <a:srgbClr val="FFFFFF"/>
                          </a:solidFill>
                          <a:latin typeface="Arial"/>
                          <a:ea typeface="Arial"/>
                          <a:cs typeface="Arial"/>
                        </a:rPr>
                        <a:t>Source</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c>
                  <a:txBody>
                    <a:bodyPr wrap="square">
                      <a:normAutofit/>
                    </a:bodyPr>
                    <a:lstStyle/>
                    <a:p>
                      <a:pPr marL="0" indent="0" algn="ctr">
                        <a:buNone/>
                      </a:pPr>
                      <a:r>
                        <a:rPr sz="1013" b="1">
                          <a:solidFill>
                            <a:srgbClr val="FFFFFF"/>
                          </a:solidFill>
                          <a:latin typeface="Arial"/>
                          <a:ea typeface="Arial"/>
                          <a:cs typeface="Arial"/>
                        </a:rPr>
                        <a:t>Role</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1F4E79"/>
                    </a:solidFill>
                  </a:tcPr>
                </a:tc>
              </a:tr>
              <a:tr h="384048">
                <a:tc>
                  <a:txBody>
                    <a:bodyPr wrap="square">
                      <a:normAutofit/>
                    </a:bodyPr>
                    <a:lstStyle/>
                    <a:p>
                      <a:pPr marL="0" indent="0" algn="l">
                        <a:buNone/>
                      </a:pPr>
                      <a:r>
                        <a:rPr sz="938" b="0">
                          <a:solidFill>
                            <a:srgbClr val="262626"/>
                          </a:solidFill>
                          <a:latin typeface="Arial"/>
                          <a:ea typeface="Arial"/>
                          <a:cs typeface="Arial"/>
                        </a:rPr>
                        <a:t>docs/cascade_pipeline_guide.md</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938" b="0">
                          <a:solidFill>
                            <a:srgbClr val="262626"/>
                          </a:solidFill>
                          <a:latin typeface="Arial"/>
                          <a:ea typeface="Arial"/>
                          <a:cs typeface="Arial"/>
                        </a:rPr>
                        <a:t>Canonical pipeline, gates, and trust limits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938" b="0">
                          <a:solidFill>
                            <a:srgbClr val="262626"/>
                          </a:solidFill>
                          <a:latin typeface="Arial"/>
                          <a:ea typeface="Arial"/>
                          <a:cs typeface="Arial"/>
                        </a:rPr>
                        <a:t>docs/cascade_ml_integration_guide.md</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938" b="0">
                          <a:solidFill>
                            <a:srgbClr val="262626"/>
                          </a:solidFill>
                          <a:latin typeface="Arial"/>
                          <a:ea typeface="Arial"/>
                          <a:cs typeface="Arial"/>
                        </a:rPr>
                        <a:t>Configuration labels and acquisition loop</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938" b="0">
                          <a:solidFill>
                            <a:srgbClr val="262626"/>
                          </a:solidFill>
                          <a:latin typeface="Arial"/>
                          <a:ea typeface="Arial"/>
                          <a:cs typeface="Arial"/>
                        </a:rPr>
                        <a:t>docs/reviews/cascade_db_ml_readiness_audit_2026_08_10.md</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938" b="0">
                          <a:solidFill>
                            <a:srgbClr val="262626"/>
                          </a:solidFill>
                          <a:latin typeface="Arial"/>
                          <a:ea typeface="Arial"/>
                          <a:cs typeface="Arial"/>
                        </a:rPr>
                        <a:t>273/47 lineage, duplication, ML readiness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938" b="0">
                          <a:solidFill>
                            <a:srgbClr val="262626"/>
                          </a:solidFill>
                          <a:latin typeface="Arial"/>
                          <a:ea typeface="Arial"/>
                          <a:cs typeface="Arial"/>
                        </a:rPr>
                        <a:t>docs/reviews/cascade_ai_screening_literature_comparison_2026_08_10.md</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938" b="0">
                          <a:solidFill>
                            <a:srgbClr val="262626"/>
                          </a:solidFill>
                          <a:latin typeface="Arial"/>
                          <a:ea typeface="Arial"/>
                          <a:cs typeface="Arial"/>
                        </a:rPr>
                        <a:t>External screening-pipeline comparison</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938" b="0">
                          <a:solidFill>
                            <a:srgbClr val="262626"/>
                          </a:solidFill>
                          <a:latin typeface="Arial"/>
                          <a:ea typeface="Arial"/>
                          <a:cs typeface="Arial"/>
                        </a:rPr>
                        <a:t>kb/methodology/terminology_register.md</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938" b="0">
                          <a:solidFill>
                            <a:srgbClr val="262626"/>
                          </a:solidFill>
                          <a:latin typeface="Arial"/>
                          <a:ea typeface="Arial"/>
                          <a:cs typeface="Arial"/>
                        </a:rPr>
                        <a:t>Terms, status, and claim discipline</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938" b="0">
                          <a:solidFill>
                            <a:srgbClr val="262626"/>
                          </a:solidFill>
                          <a:latin typeface="Arial"/>
                          <a:ea typeface="Arial"/>
                          <a:cs typeface="Arial"/>
                        </a:rPr>
                        <a:t>db/properties/canonical_registry.json / electronic.json</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938" b="0">
                          <a:solidFill>
                            <a:srgbClr val="262626"/>
                          </a:solidFill>
                          <a:latin typeface="Arial"/>
                          <a:ea typeface="Arial"/>
                          <a:cs typeface="Arial"/>
                        </a:rPr>
                        <a:t>Canonical values and provenance flags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938" b="0">
                          <a:solidFill>
                            <a:srgbClr val="262626"/>
                          </a:solidFill>
                          <a:latin typeface="Arial"/>
                          <a:ea typeface="Arial"/>
                          <a:cs typeface="Arial"/>
                        </a:rPr>
                        <a:t>litdb: Sundar 2025 / Zhu 2020</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938" b="0">
                          <a:solidFill>
                            <a:srgbClr val="262626"/>
                          </a:solidFill>
                          <a:latin typeface="Arial"/>
                          <a:ea typeface="Arial"/>
                          <a:cs typeface="Arial"/>
                        </a:rPr>
                        <a:t>LPSCl coating context and hydrolysis proxy</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r h="384048">
                <a:tc>
                  <a:txBody>
                    <a:bodyPr wrap="square">
                      <a:normAutofit/>
                    </a:bodyPr>
                    <a:lstStyle/>
                    <a:p>
                      <a:pPr marL="0" indent="0" algn="l">
                        <a:buNone/>
                      </a:pPr>
                      <a:r>
                        <a:rPr sz="938" b="0">
                          <a:solidFill>
                            <a:srgbClr val="262626"/>
                          </a:solidFill>
                          <a:latin typeface="Arial"/>
                          <a:ea typeface="Arial"/>
                          <a:cs typeface="Arial"/>
                        </a:rPr>
                        <a:t>litdb: Sendek 2017 / Xiao 2019</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c>
                  <a:txBody>
                    <a:bodyPr wrap="square">
                      <a:normAutofit/>
                    </a:bodyPr>
                    <a:lstStyle/>
                    <a:p>
                      <a:pPr marL="0" indent="0" algn="l">
                        <a:buNone/>
                      </a:pPr>
                      <a:r>
                        <a:rPr sz="938" b="0">
                          <a:solidFill>
                            <a:srgbClr val="262626"/>
                          </a:solidFill>
                          <a:latin typeface="Arial"/>
                          <a:ea typeface="Arial"/>
                          <a:cs typeface="Arial"/>
                        </a:rPr>
                        <a:t>ML and physics-funnel precedents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3F7FB"/>
                    </a:solidFill>
                  </a:tcPr>
                </a:tc>
              </a:tr>
              <a:tr h="384048">
                <a:tc>
                  <a:txBody>
                    <a:bodyPr wrap="square">
                      <a:normAutofit/>
                    </a:bodyPr>
                    <a:lstStyle/>
                    <a:p>
                      <a:pPr marL="0" indent="0" algn="l">
                        <a:buNone/>
                      </a:pPr>
                      <a:r>
                        <a:rPr sz="938" b="0">
                          <a:solidFill>
                            <a:srgbClr val="262626"/>
                          </a:solidFill>
                          <a:latin typeface="Arial"/>
                          <a:ea typeface="Arial"/>
                          <a:cs typeface="Arial"/>
                        </a:rPr>
                        <a:t>litdb: Kim 2025 / Kim 2026</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c>
                  <a:txBody>
                    <a:bodyPr wrap="square">
                      <a:normAutofit/>
                    </a:bodyPr>
                    <a:lstStyle/>
                    <a:p>
                      <a:pPr marL="0" indent="0" algn="l">
                        <a:buNone/>
                      </a:pPr>
                      <a:r>
                        <a:rPr sz="938" b="0">
                          <a:solidFill>
                            <a:srgbClr val="262626"/>
                          </a:solidFill>
                          <a:latin typeface="Arial"/>
                          <a:ea typeface="Arial"/>
                          <a:cs typeface="Arial"/>
                        </a:rPr>
                        <a:t>Active-learning and MLIP-screening precedents</a:t>
                      </a:r>
                      <a:endParaRPr sz="900">
                        <a:latin typeface="Arial"/>
                        <a:ea typeface="Arial"/>
                        <a:cs typeface="Arial"/>
                      </a:endParaRPr>
                    </a:p>
                  </a:txBody>
                  <a:tcPr marL="36576" marR="36576" marT="36576" marB="36576" anchor="ctr">
                    <a:lnL w="9525" cmpd="sng">
                      <a:solidFill>
                        <a:srgbClr val="BFBFBF"/>
                      </a:solidFill>
                      <a:prstDash val="solid"/>
                    </a:lnL>
                    <a:lnR w="9525" cmpd="sng">
                      <a:solidFill>
                        <a:srgbClr val="BFBFBF"/>
                      </a:solidFill>
                      <a:prstDash val="solid"/>
                    </a:lnR>
                    <a:lnT w="9525" cmpd="sng">
                      <a:solidFill>
                        <a:srgbClr val="BFBFBF"/>
                      </a:solidFill>
                      <a:prstDash val="solid"/>
                    </a:lnT>
                    <a:lnB w="9525" cmpd="sng">
                      <a:solidFill>
                        <a:srgbClr val="BFBFBF"/>
                      </a:solidFill>
                      <a:prstDash val="solid"/>
                    </a:lnB>
                    <a:solidFill>
                      <a:srgbClr val="FFFFFF"/>
                    </a:solidFill>
                  </a:tcPr>
                </a:tc>
              </a:tr>
            </a:tbl>
          </a:graphicData>
        </a:graphic>
      </p:graphicFrame>
      <p:sp>
        <p:nvSpPr>
          <p:cNvPr id="10" name="final-title-28">
            <a:extLst xmlns:a="http://schemas.openxmlformats.org/drawingml/2006/main">
              <a:ext uri="{FF2B5EF4-FFF2-40B4-BE49-F238E27FC236}">
                <a16:creationId xmlns:a16="http://schemas.microsoft.com/office/drawing/2014/main" id="{11E27441-8CFB-40FE-8288-0EB3B92A9BA4}"/>
              </a:ext>
            </a:extLst>
          </p:cNvPr>
          <p:cNvSpPr>
            <a:spLocks xmlns:a="http://schemas.openxmlformats.org/drawingml/2006/main" noGrp="1"/>
          </p:cNvSpPr>
          <p:nvPr/>
        </p:nvSpPr>
        <p:spPr>
          <a:xfrm xmlns:a="http://schemas.openxmlformats.org/drawingml/2006/main">
            <a:off x="548640" y="256032"/>
            <a:ext cx="5029200" cy="5486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600" b="1" i="0">
                <a:solidFill>
                  <a:srgbClr val="1F4E79"/>
                </a:solidFill>
                <a:latin typeface="Arial"/>
                <a:ea typeface="Arial"/>
                <a:cs typeface="Arial"/>
              </a:defRPr>
            </a:pPr>
            <a:r>
              <a:rPr sz="2600" b="1" i="0">
                <a:solidFill>
                  <a:srgbClr val="1F4E79"/>
                </a:solidFill>
                <a:latin typeface="Arial"/>
                <a:ea typeface="Arial"/>
                <a:cs typeface="Arial"/>
              </a:rPr>
              <a:t>Appendix A7</a:t>
            </a:r>
          </a:p>
        </p:txBody>
      </p:sp>
    </p:spTree>
    <p:extLst>
      <p:ext uri="{BB962C8B-B14F-4D97-AF65-F5344CB8AC3E}">
        <p14:creationId xmlns:p14="http://schemas.microsoft.com/office/powerpoint/2010/main" val="777649955"/>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2026-08-10T21:57:36.8820000Z</dcterms:created>
  <dcterms:modified xsi:type="dcterms:W3CDTF">2026-08-10T21:57:36.8820000Z</dcterms:modified>
</coreProperties>
</file>