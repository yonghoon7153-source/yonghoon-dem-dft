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a08faf0c7543d6" /><Relationship Type="http://schemas.openxmlformats.org/officeDocument/2006/relationships/extended-properties" Target="/docProps/app.xml" Id="Re0a5f5d2f0574645" /><Relationship Type="http://schemas.openxmlformats.org/officeDocument/2006/relationships/officeDocument" Target="/ppt/presentation.xml" Id="R696ea37886b64bab" /></Relationships>
</file>

<file path=ppt/presentation.xml><?xml version="1.0" encoding="utf-8"?>
<p:presentation xmlns:p="http://schemas.openxmlformats.org/presentationml/2006/main">
  <p:sldMasterIdLst>
    <p:sldMasterId xmlns:r="http://schemas.openxmlformats.org/officeDocument/2006/relationships" id="2147483648" r:id="R81a165f6830d4f58"/>
  </p:sldMasterIdLst>
  <p:notesMasterIdLst>
    <p:notesMasterId xmlns:r="http://schemas.openxmlformats.org/officeDocument/2006/relationships" r:id="R22936c53d9404032"/>
  </p:notesMasterIdLst>
  <p:sldIdLst>
    <p:sldId xmlns:r="http://schemas.openxmlformats.org/officeDocument/2006/relationships" id="256" r:id="Reabe425e3d234d69"/>
    <p:sldId xmlns:r="http://schemas.openxmlformats.org/officeDocument/2006/relationships" id="257" r:id="R8c9988b2675544fe"/>
    <p:sldId xmlns:r="http://schemas.openxmlformats.org/officeDocument/2006/relationships" id="258" r:id="Rcedecce026014b30"/>
    <p:sldId xmlns:r="http://schemas.openxmlformats.org/officeDocument/2006/relationships" id="259" r:id="R63bdc1a03c03456e"/>
    <p:sldId xmlns:r="http://schemas.openxmlformats.org/officeDocument/2006/relationships" id="260" r:id="R00f29eb309d04a18"/>
    <p:sldId xmlns:r="http://schemas.openxmlformats.org/officeDocument/2006/relationships" id="261" r:id="R39c20c3a15b341a2"/>
    <p:sldId xmlns:r="http://schemas.openxmlformats.org/officeDocument/2006/relationships" id="262" r:id="R063fc5a3db074ed1"/>
    <p:sldId xmlns:r="http://schemas.openxmlformats.org/officeDocument/2006/relationships" id="263" r:id="R8ad39e9dc1064884"/>
    <p:sldId xmlns:r="http://schemas.openxmlformats.org/officeDocument/2006/relationships" id="264" r:id="R6e4d9b1ddbaa42d0"/>
    <p:sldId xmlns:r="http://schemas.openxmlformats.org/officeDocument/2006/relationships" id="265" r:id="R53a0e201fe7c442e"/>
    <p:sldId xmlns:r="http://schemas.openxmlformats.org/officeDocument/2006/relationships" id="266" r:id="R492594e9d3c94e8c"/>
    <p:sldId xmlns:r="http://schemas.openxmlformats.org/officeDocument/2006/relationships" id="267" r:id="R0ce2263121644d3e"/>
    <p:sldId xmlns:r="http://schemas.openxmlformats.org/officeDocument/2006/relationships" id="268" r:id="R4b42631e1f6049ca"/>
    <p:sldId xmlns:r="http://schemas.openxmlformats.org/officeDocument/2006/relationships" id="269" r:id="R337b0794545742d9"/>
    <p:sldId xmlns:r="http://schemas.openxmlformats.org/officeDocument/2006/relationships" id="270" r:id="Re38802a6cc574b36"/>
    <p:sldId xmlns:r="http://schemas.openxmlformats.org/officeDocument/2006/relationships" id="271" r:id="Rb62c56d489b44a4e"/>
    <p:sldId xmlns:r="http://schemas.openxmlformats.org/officeDocument/2006/relationships" id="272" r:id="Rba0c1587ef5142d9"/>
    <p:sldId xmlns:r="http://schemas.openxmlformats.org/officeDocument/2006/relationships" id="273" r:id="R273c0b539e6b48e1"/>
    <p:sldId xmlns:r="http://schemas.openxmlformats.org/officeDocument/2006/relationships" id="274" r:id="R528c1e90d42947df"/>
    <p:sldId xmlns:r="http://schemas.openxmlformats.org/officeDocument/2006/relationships" id="275" r:id="Raa73159d230041bf"/>
    <p:sldId xmlns:r="http://schemas.openxmlformats.org/officeDocument/2006/relationships" id="276" r:id="R2d8493bb984446e6"/>
    <p:sldId xmlns:r="http://schemas.openxmlformats.org/officeDocument/2006/relationships" id="277" r:id="R092b42cbd2504104"/>
    <p:sldId xmlns:r="http://schemas.openxmlformats.org/officeDocument/2006/relationships" id="278" r:id="R42d788b386d04cd1"/>
    <p:sldId xmlns:r="http://schemas.openxmlformats.org/officeDocument/2006/relationships" id="279" r:id="Rf455df0457e4406c"/>
    <p:sldId xmlns:r="http://schemas.openxmlformats.org/officeDocument/2006/relationships" id="280" r:id="Rfb91a4d93b944e7b"/>
    <p:sldId xmlns:r="http://schemas.openxmlformats.org/officeDocument/2006/relationships" id="281" r:id="R21a234b944a8484f"/>
    <p:sldId xmlns:r="http://schemas.openxmlformats.org/officeDocument/2006/relationships" id="282" r:id="Rd83437f7d4d749ff"/>
    <p:sldId xmlns:r="http://schemas.openxmlformats.org/officeDocument/2006/relationships" id="283" r:id="R7a8cbde08ba14797"/>
    <p:sldId xmlns:r="http://schemas.openxmlformats.org/officeDocument/2006/relationships" id="284" r:id="R86b8a1b7260641f2"/>
    <p:sldId xmlns:r="http://schemas.openxmlformats.org/officeDocument/2006/relationships" id="285" r:id="Rfb62fbe81b094484"/>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f2636bf4fa54c76" /><Relationship Type="http://schemas.openxmlformats.org/officeDocument/2006/relationships/slideMaster" Target="/ppt/slideMasters/slideMaster1.xml" Id="R81a165f6830d4f58" /><Relationship Type="http://schemas.openxmlformats.org/officeDocument/2006/relationships/notesMaster" Target="/ppt/notesMasters/notesMaster1.xml" Id="R22936c53d9404032" /><Relationship Type="http://schemas.openxmlformats.org/officeDocument/2006/relationships/presProps" Target="/ppt/presProps.xml" Id="R654d9a15f98e4b32" /><Relationship Type="http://schemas.openxmlformats.org/officeDocument/2006/relationships/viewProps" Target="/ppt/viewProps.xml" Id="R626ae4afdf9146aa" /><Relationship Type="http://schemas.openxmlformats.org/officeDocument/2006/relationships/tableStyles" Target="/ppt/tableStyles.xml" Id="R01aa899d97184b66" /><Relationship Type="http://schemas.openxmlformats.org/officeDocument/2006/relationships/slide" Target="/ppt/slides/slide1.xml" Id="Reabe425e3d234d69" /><Relationship Type="http://schemas.openxmlformats.org/officeDocument/2006/relationships/slide" Target="/ppt/slides/slide2.xml" Id="R8c9988b2675544fe" /><Relationship Type="http://schemas.openxmlformats.org/officeDocument/2006/relationships/slide" Target="/ppt/slides/slide3.xml" Id="Rcedecce026014b30" /><Relationship Type="http://schemas.openxmlformats.org/officeDocument/2006/relationships/slide" Target="/ppt/slides/slide4.xml" Id="R63bdc1a03c03456e" /><Relationship Type="http://schemas.openxmlformats.org/officeDocument/2006/relationships/slide" Target="/ppt/slides/slide5.xml" Id="R00f29eb309d04a18" /><Relationship Type="http://schemas.openxmlformats.org/officeDocument/2006/relationships/slide" Target="/ppt/slides/slide6.xml" Id="R39c20c3a15b341a2" /><Relationship Type="http://schemas.openxmlformats.org/officeDocument/2006/relationships/slide" Target="/ppt/slides/slide7.xml" Id="R063fc5a3db074ed1" /><Relationship Type="http://schemas.openxmlformats.org/officeDocument/2006/relationships/slide" Target="/ppt/slides/slide8.xml" Id="R8ad39e9dc1064884" /><Relationship Type="http://schemas.openxmlformats.org/officeDocument/2006/relationships/slide" Target="/ppt/slides/slide9.xml" Id="R6e4d9b1ddbaa42d0" /><Relationship Type="http://schemas.openxmlformats.org/officeDocument/2006/relationships/slide" Target="/ppt/slides/slide10.xml" Id="R53a0e201fe7c442e" /><Relationship Type="http://schemas.openxmlformats.org/officeDocument/2006/relationships/slide" Target="/ppt/slides/slide11.xml" Id="R492594e9d3c94e8c" /><Relationship Type="http://schemas.openxmlformats.org/officeDocument/2006/relationships/slide" Target="/ppt/slides/slide12.xml" Id="R0ce2263121644d3e" /><Relationship Type="http://schemas.openxmlformats.org/officeDocument/2006/relationships/slide" Target="/ppt/slides/slide13.xml" Id="R4b42631e1f6049ca" /><Relationship Type="http://schemas.openxmlformats.org/officeDocument/2006/relationships/slide" Target="/ppt/slides/slide14.xml" Id="R337b0794545742d9" /><Relationship Type="http://schemas.openxmlformats.org/officeDocument/2006/relationships/slide" Target="/ppt/slides/slide15.xml" Id="Re38802a6cc574b36" /><Relationship Type="http://schemas.openxmlformats.org/officeDocument/2006/relationships/slide" Target="/ppt/slides/slide16.xml" Id="Rb62c56d489b44a4e" /><Relationship Type="http://schemas.openxmlformats.org/officeDocument/2006/relationships/slide" Target="/ppt/slides/slide17.xml" Id="Rba0c1587ef5142d9" /><Relationship Type="http://schemas.openxmlformats.org/officeDocument/2006/relationships/slide" Target="/ppt/slides/slide18.xml" Id="R273c0b539e6b48e1" /><Relationship Type="http://schemas.openxmlformats.org/officeDocument/2006/relationships/slide" Target="/ppt/slides/slide19.xml" Id="R528c1e90d42947df" /><Relationship Type="http://schemas.openxmlformats.org/officeDocument/2006/relationships/slide" Target="/ppt/slides/slide20.xml" Id="Raa73159d230041bf" /><Relationship Type="http://schemas.openxmlformats.org/officeDocument/2006/relationships/slide" Target="/ppt/slides/slide21.xml" Id="R2d8493bb984446e6" /><Relationship Type="http://schemas.openxmlformats.org/officeDocument/2006/relationships/slide" Target="/ppt/slides/slide22.xml" Id="R092b42cbd2504104" /><Relationship Type="http://schemas.openxmlformats.org/officeDocument/2006/relationships/slide" Target="/ppt/slides/slide23.xml" Id="R42d788b386d04cd1" /><Relationship Type="http://schemas.openxmlformats.org/officeDocument/2006/relationships/slide" Target="/ppt/slides/slide24.xml" Id="Rf455df0457e4406c" /><Relationship Type="http://schemas.openxmlformats.org/officeDocument/2006/relationships/slide" Target="/ppt/slides/slide25.xml" Id="Rfb91a4d93b944e7b" /><Relationship Type="http://schemas.openxmlformats.org/officeDocument/2006/relationships/slide" Target="/ppt/slides/slide26.xml" Id="R21a234b944a8484f" /><Relationship Type="http://schemas.openxmlformats.org/officeDocument/2006/relationships/slide" Target="/ppt/slides/slide27.xml" Id="Rd83437f7d4d749ff" /><Relationship Type="http://schemas.openxmlformats.org/officeDocument/2006/relationships/slide" Target="/ppt/slides/slide28.xml" Id="R7a8cbde08ba14797" /><Relationship Type="http://schemas.openxmlformats.org/officeDocument/2006/relationships/slide" Target="/ppt/slides/slide29.xml" Id="R86b8a1b7260641f2" /><Relationship Type="http://schemas.openxmlformats.org/officeDocument/2006/relationships/slide" Target="/ppt/slides/slide30.xml" Id="Rfb62fbe81b0944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080493079041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2d4d9867e44293" /><Relationship Type="http://schemas.openxmlformats.org/officeDocument/2006/relationships/notesMaster" Target="/ppt/notesMasters/notesMaster1.xml" Id="R60cae2215b684c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6534f0a91c4fb4" /><Relationship Type="http://schemas.openxmlformats.org/officeDocument/2006/relationships/notesMaster" Target="/ppt/notesMasters/notesMaster1.xml" Id="R167762bdc0224f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a29cd51c464d04" /><Relationship Type="http://schemas.openxmlformats.org/officeDocument/2006/relationships/notesMaster" Target="/ppt/notesMasters/notesMaster1.xml" Id="R58c71771a4be45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1ecbf810f4428a" /><Relationship Type="http://schemas.openxmlformats.org/officeDocument/2006/relationships/notesMaster" Target="/ppt/notesMasters/notesMaster1.xml" Id="R3beab93c073d4f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36134223ee46a1" /><Relationship Type="http://schemas.openxmlformats.org/officeDocument/2006/relationships/notesMaster" Target="/ppt/notesMasters/notesMaster1.xml" Id="R30273608dcb541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c5b84cf6314206" /><Relationship Type="http://schemas.openxmlformats.org/officeDocument/2006/relationships/notesMaster" Target="/ppt/notesMasters/notesMaster1.xml" Id="Rebb93a5d0c3642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a1122cda694dc6" /><Relationship Type="http://schemas.openxmlformats.org/officeDocument/2006/relationships/notesMaster" Target="/ppt/notesMasters/notesMaster1.xml" Id="R204f2202241c49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731ec9bf714bba" /><Relationship Type="http://schemas.openxmlformats.org/officeDocument/2006/relationships/notesMaster" Target="/ppt/notesMasters/notesMaster1.xml" Id="R0a0e2207b1d246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7cf536654143fa" /><Relationship Type="http://schemas.openxmlformats.org/officeDocument/2006/relationships/notesMaster" Target="/ppt/notesMasters/notesMaster1.xml" Id="R63b14e6cf62f43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1d9d95c9824a7b" /><Relationship Type="http://schemas.openxmlformats.org/officeDocument/2006/relationships/notesMaster" Target="/ppt/notesMasters/notesMaster1.xml" Id="R2836605e050949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60e18e2964464d" /><Relationship Type="http://schemas.openxmlformats.org/officeDocument/2006/relationships/notesMaster" Target="/ppt/notesMasters/notesMaster1.xml" Id="Rfc34466a59f145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b1995279d84747" /><Relationship Type="http://schemas.openxmlformats.org/officeDocument/2006/relationships/notesMaster" Target="/ppt/notesMasters/notesMaster1.xml" Id="R74630a65235b43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ca662c81e64e33" /><Relationship Type="http://schemas.openxmlformats.org/officeDocument/2006/relationships/notesMaster" Target="/ppt/notesMasters/notesMaster1.xml" Id="Rc7b36bde368048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47faa3efc84cd4" /><Relationship Type="http://schemas.openxmlformats.org/officeDocument/2006/relationships/notesMaster" Target="/ppt/notesMasters/notesMaster1.xml" Id="R01643ef637c849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f3bab24bc540a6" /><Relationship Type="http://schemas.openxmlformats.org/officeDocument/2006/relationships/notesMaster" Target="/ppt/notesMasters/notesMaster1.xml" Id="R8efd83cf3ca442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4bf844bdc8413f" /><Relationship Type="http://schemas.openxmlformats.org/officeDocument/2006/relationships/notesMaster" Target="/ppt/notesMasters/notesMaster1.xml" Id="Rc6e9e16349ac41b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802da06478468c" /><Relationship Type="http://schemas.openxmlformats.org/officeDocument/2006/relationships/notesMaster" Target="/ppt/notesMasters/notesMaster1.xml" Id="Rdde7d94ee71643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a947e58ed24c42" /><Relationship Type="http://schemas.openxmlformats.org/officeDocument/2006/relationships/notesMaster" Target="/ppt/notesMasters/notesMaster1.xml" Id="R4ad1e4a417f04fe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4b1b84a84624c73" /><Relationship Type="http://schemas.openxmlformats.org/officeDocument/2006/relationships/notesMaster" Target="/ppt/notesMasters/notesMaster1.xml" Id="R4a14efdd53e8428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f13e1c0254d47e0" /><Relationship Type="http://schemas.openxmlformats.org/officeDocument/2006/relationships/notesMaster" Target="/ppt/notesMasters/notesMaster1.xml" Id="Rc0b8482dee2e477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6352dce1172400f" /><Relationship Type="http://schemas.openxmlformats.org/officeDocument/2006/relationships/notesMaster" Target="/ppt/notesMasters/notesMaster1.xml" Id="R6eef4bbbf8864ec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6e0881a37e946f8" /><Relationship Type="http://schemas.openxmlformats.org/officeDocument/2006/relationships/notesMaster" Target="/ppt/notesMasters/notesMaster1.xml" Id="R7e53f96cebc149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fa84c613ec482b" /><Relationship Type="http://schemas.openxmlformats.org/officeDocument/2006/relationships/notesMaster" Target="/ppt/notesMasters/notesMaster1.xml" Id="Rf392da291dc34c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71c06dcce12446d" /><Relationship Type="http://schemas.openxmlformats.org/officeDocument/2006/relationships/notesMaster" Target="/ppt/notesMasters/notesMaster1.xml" Id="Rc243d857bd3547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33fcb8039284fb7" /><Relationship Type="http://schemas.openxmlformats.org/officeDocument/2006/relationships/notesMaster" Target="/ppt/notesMasters/notesMaster1.xml" Id="R96c23cacd5594c4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f62855521bb4526" /><Relationship Type="http://schemas.openxmlformats.org/officeDocument/2006/relationships/notesMaster" Target="/ppt/notesMasters/notesMaster1.xml" Id="Rde376189ad5e47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7e7393ca574a78" /><Relationship Type="http://schemas.openxmlformats.org/officeDocument/2006/relationships/notesMaster" Target="/ppt/notesMasters/notesMaster1.xml" Id="R173c3e466d5746f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240dcf8b8a64b1e" /><Relationship Type="http://schemas.openxmlformats.org/officeDocument/2006/relationships/notesMaster" Target="/ppt/notesMasters/notesMaster1.xml" Id="Rc0ff71c3999b441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bd5dd4fa6ec4dfe" /><Relationship Type="http://schemas.openxmlformats.org/officeDocument/2006/relationships/notesMaster" Target="/ppt/notesMasters/notesMaster1.xml" Id="R07aebed4bebe474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9edcc51ea2944da" /><Relationship Type="http://schemas.openxmlformats.org/officeDocument/2006/relationships/notesMaster" Target="/ppt/notesMasters/notesMaster1.xml" Id="R3ef4fb63ee554d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Opening — what changed after verification</a:t>
            </a:r>
            <a:endParaRPr/>
          </a:p>
          <a:p xmlns:a="http://schemas.openxmlformats.org/drawingml/2006/main">
            <a:r>
              <a:t>안녕하세요, 재료공학과 안용훈입니다. 처음 목표는 47개 후보에서 1등을 고르는 거였습니다. 그런데 값을 다시 확인하고 게이트를 감사할수록 더 또렷해진 건 1등이 아니라, 산화 안정성과 Li 경로가 같이 좋아지지 않는다는 제약이었습니다. 오늘은 그 결론까지 어떻게 갔고, 어디까지 믿을 수 있는지 말씀드리겠습니다.</a:t>
            </a:r>
            <a:endParaRPr/>
          </a:p>
          <a:p xmlns:a="http://schemas.openxmlformats.org/drawingml/2006/main">
            <a:r>
              <a:t/>
            </a:r>
            <a:endParaRPr/>
          </a:p>
          <a:p xmlns:a="http://schemas.openxmlformats.org/drawingml/2006/main">
            <a:r>
              <a:t>Transition: 먼저 왜 한 개의 점수로는 이 문제를 풀기 어려운지부터 보겠습니다.</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db/properties/cascade_seminar_scorecard_47.csv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One modification meets several interfaces</a:t>
            </a:r>
            <a:endParaRPr/>
          </a:p>
          <a:p xmlns:a="http://schemas.openxmlformats.org/drawingml/2006/main">
            <a:r>
              <a:t>LPSCl을 고칠 때 상대는 한 군데가 아닙니다. Li 쪽, 전해질 내부, 양극 쪽 계면에서 요구하는 조건이 서로 다르고, 접촉과 압력까지 영향을 줍니다. 왼쪽 coating 그림은 치환과 coating이 같다는 뜻이 아니라, 하나의 처방이 여러 계면을 지나야 한다는 문제 구조를 보여주는 예입니다. 그래서 단일 점수보다 먼저 필요한 건 질문의 순서입니다.</a:t>
            </a:r>
            <a:endParaRPr/>
          </a:p>
          <a:p xmlns:a="http://schemas.openxmlformats.org/drawingml/2006/main">
            <a:r>
              <a:t/>
            </a:r>
            <a:endParaRPr/>
          </a:p>
          <a:p xmlns:a="http://schemas.openxmlformats.org/drawingml/2006/main">
            <a:r>
              <a:t>Transition: 그 질문이 실제 캠페인에서는 얼마나 커지는지 보겠습니다.</a:t>
            </a:r>
            <a:endParaRPr/>
          </a:p>
          <a:p xmlns:a="http://schemas.openxmlformats.org/drawingml/2006/main">
            <a:r>
              <a:t>[Sources]</a:t>
            </a:r>
            <a:endParaRPr/>
          </a:p>
          <a:p xmlns:a="http://schemas.openxmlformats.org/drawingml/2006/main">
            <a:r>
              <a:t>- litdb/figures/sundar2025*/figures.json</a:t>
            </a:r>
            <a:endParaRPr/>
          </a:p>
          <a:p xmlns:a="http://schemas.openxmlformats.org/drawingml/2006/main">
            <a:r>
              <a:t>- litdb Sundar 2025 Fig. 1 crop (inspected)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273 is a run-slot count</a:t>
            </a:r>
            <a:endParaRPr/>
          </a:p>
          <a:p xmlns:a="http://schemas.openxmlformats.org/drawingml/2006/main">
            <a:r>
              <a:t>후보 화합물은 91종이었고, 각 후보를 세 개의 campaign label로 돌려서 실행 슬롯은 273개였습니다. 여기서 chemistry, configuration, target property는 후보 수를 더 곱한 숫자가 아니라 의사결정 차원입니다. 또 x002, x005, x010은 실제 농도로 환산한 값이 아니라 명목 라벨입니다. 이 구분을 먼저 해야 뒤의 숫자를 과장하지 않게 됩니다.</a:t>
            </a:r>
            <a:endParaRPr/>
          </a:p>
          <a:p xmlns:a="http://schemas.openxmlformats.org/drawingml/2006/main">
            <a:r>
              <a:t/>
            </a:r>
            <a:endParaRPr/>
          </a:p>
          <a:p xmlns:a="http://schemas.openxmlformats.org/drawingml/2006/main">
            <a:r>
              <a:t>Transition: 이 많은 조합에 비싼 계산을 똑같이 쓸 수는 없습니다.</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 cascade is a cost-allocation rule</a:t>
            </a:r>
            <a:endParaRPr/>
          </a:p>
          <a:p xmlns:a="http://schemas.openxmlformats.org/drawingml/2006/main">
            <a:r>
              <a:t>Cascade의 핵심은 계산량이 아니라 비용 배치입니다. 싼 모델로 넓게 보고, 물리 게이트로 위험한 후보를 찾고, 비싼 DFT와 실험은 경계나 불일치에 씁니다. Xiao의 coating screen과 Kahle의 pinball-to-FPMD 흐름도 규모와 재료는 다르지만 같은 원칙을 씁니다. 값싼 모델은 최종값을 대신하지 않고, 정밀 계산의 순서를 정합니다.</a:t>
            </a:r>
            <a:endParaRPr/>
          </a:p>
          <a:p xmlns:a="http://schemas.openxmlformats.org/drawingml/2006/main">
            <a:r>
              <a:t/>
            </a:r>
            <a:endParaRPr/>
          </a:p>
          <a:p xmlns:a="http://schemas.openxmlformats.org/drawingml/2006/main">
            <a:r>
              <a:t>Transition: 다만 우리 데이터의 출발점은 273개 생존 경쟁이 아닙니다.</a:t>
            </a:r>
            <a:endParaRPr/>
          </a:p>
          <a:p xmlns:a="http://schemas.openxmlformats.org/drawingml/2006/main">
            <a:r>
              <a:t>[Sources]</a:t>
            </a:r>
            <a:endParaRPr/>
          </a:p>
          <a:p xmlns:a="http://schemas.openxmlformats.org/drawingml/2006/main">
            <a:r>
              <a:t>- Xiao et al., Joule 2019, DOI 10.1016/j.joule.2019.02.006</a:t>
            </a:r>
            <a:endParaRPr/>
          </a:p>
          <a:p xmlns:a="http://schemas.openxmlformats.org/drawingml/2006/main">
            <a:r>
              <a:t>- Kahle et al., Energy Environ. Sci. 2020, DOI 10.1039/c9ee02457c</a:t>
            </a:r>
            <a:endParaRPr/>
          </a:p>
          <a:p xmlns:a="http://schemas.openxmlformats.org/drawingml/2006/main">
            <a:r>
              <a:t>- litdb figure crops inspected: Xiao Figs. 1/2/7; Kahle Figs. 1/15/17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The 47 are a versioned O/F snapshot</a:t>
            </a:r>
            <a:endParaRPr/>
          </a:p>
          <a:p xmlns:a="http://schemas.openxmlformats.org/drawingml/2006/main">
            <a:r>
              <a:t>원자료를 따라가면 2026년 6월 25일 표에 들어온 건 산화물 37종과 불화물 10종, 모두 47종입니다. 세 라벨을 합치면 141개 기록입니다. 나머지 44종은 탈락 이유가 남아 있지 않아 미분류입니다. 따라서 273에서 47이 살아남았다고 말하지 않고, 이후 분석이 시작되는 versioned O/F snapshot이라고 부르겠습니다.</a:t>
            </a:r>
            <a:endParaRPr/>
          </a:p>
          <a:p xmlns:a="http://schemas.openxmlformats.org/drawingml/2006/main">
            <a:r>
              <a:t/>
            </a:r>
            <a:endParaRPr/>
          </a:p>
          <a:p xmlns:a="http://schemas.openxmlformats.org/drawingml/2006/main">
            <a:r>
              <a:t>Transition: 이 47종은 같은 저비용 규약으로 비교하고, 일부만 다음 층으로 올렸습니다.</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docs/figures/cascade/cascade_seminar_pool_attrition_273_to_47.png</a:t>
            </a:r>
            <a:endParaRPr/>
          </a:p>
          <a:p xmlns:a="http://schemas.openxmlformats.org/drawingml/2006/main">
            <a:r>
              <a:t>- docs/reviews/cascade_db_ml_readiness_audit_2026_08_10.md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Different tiers answer different questions</a:t>
            </a:r>
            <a:endParaRPr/>
          </a:p>
          <a:p xmlns:a="http://schemas.openxmlformats.org/drawingml/2006/main">
            <a:r>
              <a:t>L0는 사람이 고른 조성과 provenance, L1은 UMA와 저비용 프록시, L2는 선택된 후보의 matched DFT, L3는 실험입니다. 중요한 건 값마다 프로토콜과 출처가 같이 움직인다는 점입니다. 47종은 같은 규약 안의 상대 screen이고, deep DFT는 두 건뿐입니다. 둘을 같은 정확도의 표처럼 섞지 않습니다.</a:t>
            </a:r>
            <a:endParaRPr/>
          </a:p>
          <a:p xmlns:a="http://schemas.openxmlformats.org/drawingml/2006/main">
            <a:r>
              <a:t/>
            </a:r>
            <a:endParaRPr/>
          </a:p>
          <a:p xmlns:a="http://schemas.openxmlformats.org/drawingml/2006/main">
            <a:r>
              <a:t>Transition: 그럼 저비용 screen에서 무엇을 볼지, host 비교에서 배운 기준을 보겠습니다.</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db/properties/canonical_registry.json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Host evidence sets the descriptor priorities</a:t>
            </a:r>
            <a:endParaRPr/>
          </a:p>
          <a:p xmlns:a="http://schemas.openxmlformats.org/drawingml/2006/main">
            <a:r>
              <a:t>같은 프로토콜에서 comp1과 Cl-rich model을 비교했을 때 band gap은 2.066과 2.099 eV로 의미 있게 갈리지 않았습니다. 반면 Li vacancy와 anti-site disorder는 구조 쪽에서 분명했습니다. 그래서 전자구조는 가드레일로 두고, 구조와 Li 경로를 우선 축으로 잡았습니다. 여기서 gap은 fixed-occupation 고유값만 쓰고, DOS 문턱값은 쓰지 않습니다.</a:t>
            </a:r>
            <a:endParaRPr/>
          </a:p>
          <a:p xmlns:a="http://schemas.openxmlformats.org/drawingml/2006/main">
            <a:r>
              <a:t/>
            </a:r>
            <a:endParaRPr/>
          </a:p>
          <a:p xmlns:a="http://schemas.openxmlformats.org/drawingml/2006/main">
            <a:r>
              <a:t>Transition: 이 축들을 다섯 질문으로 나눈 게 다음 게이트입니다.</a:t>
            </a:r>
            <a:endParaRPr/>
          </a:p>
          <a:p xmlns:a="http://schemas.openxmlformats.org/drawingml/2006/main">
            <a:r>
              <a:t>[Sources]</a:t>
            </a:r>
            <a:endParaRPr/>
          </a:p>
          <a:p xmlns:a="http://schemas.openxmlformats.org/drawingml/2006/main">
            <a:r>
              <a:t>- db/properties/electronic.json</a:t>
            </a:r>
            <a:endParaRPr/>
          </a:p>
          <a:p xmlns:a="http://schemas.openxmlformats.org/drawingml/2006/main">
            <a:r>
              <a:t>- db/properties/canonical_registry.json</a:t>
            </a:r>
            <a:endParaRPr/>
          </a:p>
          <a:p xmlns:a="http://schemas.openxmlformats.org/drawingml/2006/main">
            <a:r>
              <a:t>- AGENTS.md band-gap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Five gates, five questions</a:t>
            </a:r>
            <a:endParaRPr/>
          </a:p>
          <a:p xmlns:a="http://schemas.openxmlformats.org/drawingml/2006/main">
            <a:r>
              <a:t>G1은 구조 안정성, G2는 electrochemical window, G3는 산화 onset, G4는 정적 Li pathway, G5는 역학 순위입니다. 여기서 G4의 blocking 0.60은 working heuristic이고, G5는 물리 탈락 게이트가 아니라 roster-relative ranking입니다. 따라서 오늘 비교 endpoint는 G1부터 G4까지입니다.</a:t>
            </a:r>
            <a:endParaRPr/>
          </a:p>
          <a:p xmlns:a="http://schemas.openxmlformats.org/drawingml/2006/main">
            <a:r>
              <a:t/>
            </a:r>
            <a:endParaRPr/>
          </a:p>
          <a:p xmlns:a="http://schemas.openxmlformats.org/drawingml/2006/main">
            <a:r>
              <a:t>Transition: 이 규칙을 47종 snapshot에 적용하면 숫자는 이렇게 줄어듭니다.</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 auditable endpoint is 11</a:t>
            </a:r>
            <a:endParaRPr/>
          </a:p>
          <a:p xmlns:a="http://schemas.openxmlformats.org/drawingml/2006/main">
            <a:r>
              <a:t>47종에서 window를 지나 43, oxidation을 지나 25, 정적 Li pathway까지 11종이 남습니다. G5를 적용하면 하나가 보이지만, 그 한 종은 임계값을 바꾸면 쉽게 바뀌는 순위 결과입니다. 그래서 물리 게이트의 보고 지점은 11종이고, 이 waterfall은 문헌 기준을 사후에 투영한 audit view입니다.</a:t>
            </a:r>
            <a:endParaRPr/>
          </a:p>
          <a:p xmlns:a="http://schemas.openxmlformats.org/drawingml/2006/main">
            <a:r>
              <a:t/>
            </a:r>
            <a:endParaRPr/>
          </a:p>
          <a:p xmlns:a="http://schemas.openxmlformats.org/drawingml/2006/main">
            <a:r>
              <a:t>Transition: 그런데 이 숫자보다 먼저 봐야 할 건 게이트가 실제로 일을 했는가입니다.</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docs/figures/cascade/cascade_seminar_scorecard_47.png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 G1 selects nobody; G2 adds no unique exclusion</a:t>
            </a:r>
            <a:endParaRPr/>
          </a:p>
          <a:p xmlns:a="http://schemas.openxmlformats.org/drawingml/2006/main">
            <a:r>
              <a:t>G1은 47종이 전부 통과합니다. 이건 보편적 안정성을 증명한 게 아니라, 안정한 후보를 먼저 고른 큐레이션 흔적입니다. G2에서 빠진 네 종은 G3에서도 모두 빠져 unique kill이 0입니다. 후보만 평가한 게 아니라, 게이트의 선택 압력과 중복도 같이 기록했습니다.</a:t>
            </a:r>
            <a:endParaRPr/>
          </a:p>
          <a:p xmlns:a="http://schemas.openxmlformats.org/drawingml/2006/main">
            <a:r>
              <a:t/>
            </a:r>
            <a:endParaRPr/>
          </a:p>
          <a:p xmlns:a="http://schemas.openxmlformats.org/drawingml/2006/main">
            <a:r>
              <a:t>Transition: 그 감사를 통과하고도 남은 가장 강한 패턴이 다음 장입니다.</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All six oxidation gains stop at the Li-path gate</a:t>
            </a:r>
            <a:endParaRPr/>
          </a:p>
          <a:p xmlns:a="http://schemas.openxmlformats.org/drawingml/2006/main">
            <a:r>
              <a:t>Host보다 산화 onset이 오른 후보는 여섯입니다. 그런데 여섯 모두 G4에서 멈춥니다. 한 후보의 예외가 아니라 이 snapshot에서 반복되는 trade-off입니다. 다만 G4는 BVSE 기반 정적 pathway risk라서 전도도도 아니고, M–O 결합이 원인이라는 증명도 아닙니다. 지금 말할 수 있는 건 산화 개선 후보 전부가 별도의 경로 위험을 동반했다는 것까지입니다.</a:t>
            </a:r>
            <a:endParaRPr/>
          </a:p>
          <a:p xmlns:a="http://schemas.openxmlformats.org/drawingml/2006/main">
            <a:r>
              <a:t/>
            </a:r>
            <a:endParaRPr/>
          </a:p>
          <a:p xmlns:a="http://schemas.openxmlformats.org/drawingml/2006/main">
            <a:r>
              <a:t>Transition: 이 제약 방향이 황화물 문헌에서도 보이는지 확인했습니다.</a:t>
            </a:r>
            <a:endParaRPr/>
          </a:p>
          <a:p xmlns:a="http://schemas.openxmlformats.org/drawingml/2006/main">
            <a:r>
              <a:t>[Sources]</a:t>
            </a:r>
            <a:endParaRPr/>
          </a:p>
          <a:p xmlns:a="http://schemas.openxmlformats.org/drawingml/2006/main">
            <a:r>
              <a:t>- db/properties/cascade_seminar_oxidation_transport_47.csv</a:t>
            </a:r>
            <a:endParaRPr/>
          </a:p>
          <a:p xmlns:a="http://schemas.openxmlformats.org/drawingml/2006/main">
            <a:r>
              <a:t>- docs/figures/cascade/cascade_seminar_oxidation_transport_47.png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Related sulfide work points to the same difficulty</a:t>
            </a:r>
          </a:p>
          <a:p xmlns:a="http://schemas.openxmlformats.org/drawingml/2006/main">
            <a:r>
              <a:t>Banik, Zeier, Mo의 2022년 연구는 HAXPES, pDOS와 COHP, grand-potential, stepwise CV를 함께 써서 sulfide framework 안의 치환으로 산화 onset을 크게 움직이기 어렵다는 제약을 보여줍니다. 우리 쪽은 oxide와 fluoride unit을 더하는 다른 조성축이라 독립 재현이라고 부를 수는 없습니다. 다만 우리 screen에서도 산화가 오른 후보가 모두 별도 pathway risk를 가진다는 방향성은 맞닿아 있습니다.</a:t>
            </a:r>
          </a:p>
          <a:p xmlns:a="http://schemas.openxmlformats.org/drawingml/2006/main">
            <a:r>
              <a:t/>
            </a:r>
          </a:p>
          <a:p xmlns:a="http://schemas.openxmlformats.org/drawingml/2006/main">
            <a:r>
              <a:t>Transition: 그리고 두 번째 trade-off는 물리 게이트가 아니라 값 검증에서 나왔습니다.</a:t>
            </a:r>
          </a:p>
          <a:p xmlns:a="http://schemas.openxmlformats.org/drawingml/2006/main">
            <a:r>
              <a:t>[Sources]</a:t>
            </a:r>
          </a:p>
          <a:p xmlns:a="http://schemas.openxmlformats.org/drawingml/2006/main">
            <a:r>
              <a:t>- Banik et al. 2022 local litdb copy</a:t>
            </a:r>
          </a:p>
          <a:p xmlns:a="http://schemas.openxmlformats.org/drawingml/2006/main">
            <a:r>
              <a:t>- litdb Banik Figs. 3 and 4 crops inspected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One corrected value changed the conclusion</a:t>
            </a:r>
          </a:p>
          <a:p xmlns:a="http://schemas.openxmlformats.org/drawingml/2006/main">
            <a:r>
              <a:t>Sc2O3의 E_VRH가 한 파일에는 18.7 GPa로 적혀 있었는데, raw output은 42.082 GPa였습니다. 교정 뒤에는 가장 연한 후보에서 18위로 내려갔고, 형성에너지 1위만 남았습니다. 숫자 한 자리 수정이 아니라 '한 후보가 두 축을 모두 이긴다'는 해석이 사라진 겁니다. 이후에는 교차파일 값과 raw output을 함께 확인하는 규칙으로 바꿨습니다.</a:t>
            </a:r>
          </a:p>
          <a:p xmlns:a="http://schemas.openxmlformats.org/drawingml/2006/main">
            <a:r>
              <a:t/>
            </a:r>
          </a:p>
          <a:p xmlns:a="http://schemas.openxmlformats.org/drawingml/2006/main">
            <a:r>
              <a:t>Transition: 그래서 최종 선택도 단일 점수 대신 조건부 Pareto로 읽습니다.</a:t>
            </a:r>
          </a:p>
          <a:p xmlns:a="http://schemas.openxmlformats.org/drawingml/2006/main">
            <a:r>
              <a:t>[Sources]</a:t>
            </a:r>
          </a:p>
          <a:p xmlns:a="http://schemas.openxmlformats.org/drawingml/2006/main">
            <a:r>
              <a:t>- db/properties/doping_cascade_verified.json</a:t>
            </a:r>
          </a:p>
          <a:p xmlns:a="http://schemas.openxmlformats.org/drawingml/2006/main">
            <a:r>
              <a:t>- gabia FINAL_RANKING.json raw rows</a:t>
            </a:r>
          </a:p>
          <a:p xmlns:a="http://schemas.openxmlformats.org/drawingml/2006/main">
            <a:r>
              <a:t>- cross-file audit 2026-08-13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Four conditional trade-off options remain</a:t>
            </a:r>
            <a:endParaRPr/>
          </a:p>
          <a:p xmlns:a="http://schemas.openxmlformats.org/drawingml/2006/main">
            <a:r>
              <a:t>G1부터 G4까지 남은 11종에서 mean relative energy와 transport proxy 두 축만 보면 WO3, SiO2, CaF2, CaO 네 종이 non-dominated입니다. 이것은 webapp의 legacy 3D Pareto 네 종과 다른 집합입니다. 축과 모수가 다르기 때문에 숫자 4만 보고 섞으면 안 됩니다. 이 네 종도 winner가 아니라 다음 질문을 나눠 가진 후보입니다.</a:t>
            </a:r>
            <a:endParaRPr/>
          </a:p>
          <a:p xmlns:a="http://schemas.openxmlformats.org/drawingml/2006/main">
            <a:r>
              <a:t/>
            </a:r>
            <a:endParaRPr/>
          </a:p>
          <a:p xmlns:a="http://schemas.openxmlformats.org/drawingml/2006/main">
            <a:r>
              <a:t>Transition: 후보를 실제로 고를 때는 적용 질문을 하나 더 붙여야 합니다.</a:t>
            </a:r>
            <a:endParaRPr/>
          </a:p>
          <a:p xmlns:a="http://schemas.openxmlformats.org/drawingml/2006/main">
            <a:r>
              <a:t>[Sources]</a:t>
            </a:r>
            <a:endParaRPr/>
          </a:p>
          <a:p xmlns:a="http://schemas.openxmlformats.org/drawingml/2006/main">
            <a:r>
              <a:t>- db/properties/cascade_seminar_pareto_47.csv</a:t>
            </a:r>
            <a:endParaRPr/>
          </a:p>
          <a:p xmlns:a="http://schemas.openxmlformats.org/drawingml/2006/main">
            <a:r>
              <a:t>- docs/figures/cascade/cascade_seminar_pareto_47.png</a:t>
            </a:r>
            <a:endParaRPr/>
          </a:p>
          <a:p xmlns:a="http://schemas.openxmlformats.org/drawingml/2006/main">
            <a:r>
              <a:t>- webapp/data.py legacy Pareto audit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The answer changes with the deployment question</a:t>
            </a:r>
            <a:endParaRPr/>
          </a:p>
          <a:p xmlns:a="http://schemas.openxmlformats.org/drawingml/2006/main">
            <a:r>
              <a:t>LiF는 정적 계면 안정성 쪽이 강하고, MgO와 CaO는 비용과 질량이 유리합니다. Cu2O는 문헌 수분 proxy가 좋지만 oxidation과 LPSCl interface 쪽에서는 불리합니다. 같은 후보도 어느 계면과 공정을 우선하는지에 따라 다음 실험이 달라집니다. 이 표는 수명이나 kinetics를 확정하는 표가 아니라 후속 질문을 고르는 표입니다.</a:t>
            </a:r>
            <a:endParaRPr/>
          </a:p>
          <a:p xmlns:a="http://schemas.openxmlformats.org/drawingml/2006/main">
            <a:r>
              <a:t/>
            </a:r>
            <a:endParaRPr/>
          </a:p>
          <a:p xmlns:a="http://schemas.openxmlformats.org/drawingml/2006/main">
            <a:r>
              <a:t>Transition: 여기까지의 주장을 어디까지 허용할지 경계를 명시했습니다.</a:t>
            </a:r>
            <a:endParaRPr/>
          </a:p>
          <a:p xmlns:a="http://schemas.openxmlformats.org/drawingml/2006/main">
            <a:r>
              <a:t>[Sources]</a:t>
            </a:r>
            <a:endParaRPr/>
          </a:p>
          <a:p xmlns:a="http://schemas.openxmlformats.org/drawingml/2006/main">
            <a:r>
              <a:t>- db/properties/cascade_stability_axes.csv</a:t>
            </a:r>
            <a:endParaRPr/>
          </a:p>
          <a:p xmlns:a="http://schemas.openxmlformats.org/drawingml/2006/main">
            <a:r>
              <a:t>- db/properties/cascade_v23_themes.json</a:t>
            </a:r>
            <a:endParaRPr/>
          </a:p>
          <a:p xmlns:a="http://schemas.openxmlformats.org/drawingml/2006/main">
            <a:r>
              <a:t>- db/properties/cascade_seminar_scorecard_47.csv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Claim strength follows method strength</a:t>
            </a:r>
            <a:endParaRPr/>
          </a:p>
          <a:p xmlns:a="http://schemas.openxmlformats.org/drawingml/2006/main">
            <a:r>
              <a:t>게이트 통과와 같은 규약 안의 상대 비교는 말할 수 있습니다. UMA 절대 에너지, BVSE-derived conductivity, 축퇴군 안의 세밀한 순위는 말하지 않습니다. 또 G4 threshold sensitivity는 아직 닫히지 않았습니다. 120개 gate order의 최종 교집합이 같은 건 AND gate의 성질이라 본문 근거로 과장하지 않고 부록 audit로만 남겼습니다.</a:t>
            </a:r>
            <a:endParaRPr/>
          </a:p>
          <a:p xmlns:a="http://schemas.openxmlformats.org/drawingml/2006/main">
            <a:r>
              <a:t/>
            </a:r>
            <a:endParaRPr/>
          </a:p>
          <a:p xmlns:a="http://schemas.openxmlformats.org/drawingml/2006/main">
            <a:r>
              <a:t>Transition: 검증 범위도 같은 방식으로 분리해서 읽습니다.</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kb/methodology/terminology_register.md</a:t>
            </a:r>
            <a:endParaRPr/>
          </a:p>
          <a:p xmlns:a="http://schemas.openxmlformats.org/drawingml/2006/main">
            <a:r>
              <a:t>- db/properties/cascade_screening_funnel.json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47, 11, and 2 are parallel coverage counts</a:t>
            </a:r>
            <a:endParaRPr/>
          </a:p>
          <a:p xmlns:a="http://schemas.openxmlformats.org/drawingml/2006/main">
            <a:r>
              <a:t>47은 상대 screen, 11은 post-hoc G1–G4 endpoint, 2는 targeted deep-DFT case입니다. 이 셋은 47에서 11, 다시 2로 내려가는 선형 funnel이 아닙니다. B2O3와 Nd2O3는 11종 생존자 검증셋이 아니라, 서로 다른 실패 경계를 확인하려고 고른 case study입니다.</a:t>
            </a:r>
            <a:endParaRPr/>
          </a:p>
          <a:p xmlns:a="http://schemas.openxmlformats.org/drawingml/2006/main">
            <a:r>
              <a:t/>
            </a:r>
            <a:endParaRPr/>
          </a:p>
          <a:p xmlns:a="http://schemas.openxmlformats.org/drawingml/2006/main">
            <a:r>
              <a:t>Transition: 이제 ML이 이 구조에서 실제로 하는 일을 나누어 보겠습니다.</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webapp/data.py cascade loader audit</a:t>
            </a:r>
            <a:endParaRPr/>
          </a:p>
          <a:p xmlns:a="http://schemas.openxmlformats.org/drawingml/2006/main">
            <a:r>
              <a:t>- docs/cascade_ml_integration_guide.md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ML saves cost; it does not certify discovery</a:t>
            </a:r>
            <a:endParaRPr/>
          </a:p>
          <a:p xmlns:a="http://schemas.openxmlformats.org/drawingml/2006/main">
            <a:r>
              <a:t>UMA는 이미 에너지와 힘을 빠르게 계산하는 엔진입니다. 반면 co-doping v2는 47개 단일 후보를 1,081개 pair hypothesis로 정렬하지만, explicit pair structure와 DFT·실험 pair label은 아직 0개입니다. 도펀트를 통째로 빼는 검증에서는 R2가 음수입니다. Sendek과 Kahle의 사례처럼 싼 모델의 역할은 비싼 계산을 고르는 것이지, 그 자체로 물성을 확정하는 게 아닙니다.</a:t>
            </a:r>
            <a:endParaRPr/>
          </a:p>
          <a:p xmlns:a="http://schemas.openxmlformats.org/drawingml/2006/main">
            <a:r>
              <a:t/>
            </a:r>
            <a:endParaRPr/>
          </a:p>
          <a:p xmlns:a="http://schemas.openxmlformats.org/drawingml/2006/main">
            <a:r>
              <a:t>Transition: 그래서 다음 단계는 더 큰 모델이 아니라 실제 pair label을 얻는 일입니다.</a:t>
            </a:r>
            <a:endParaRPr/>
          </a:p>
          <a:p xmlns:a="http://schemas.openxmlformats.org/drawingml/2006/main">
            <a:r>
              <a:t>[Sources]</a:t>
            </a:r>
            <a:endParaRPr/>
          </a:p>
          <a:p xmlns:a="http://schemas.openxmlformats.org/drawingml/2006/main">
            <a:r>
              <a:t>- db/properties/codoping_ml_v2.csv</a:t>
            </a:r>
            <a:endParaRPr/>
          </a:p>
          <a:p xmlns:a="http://schemas.openxmlformats.org/drawingml/2006/main">
            <a:r>
              <a:t>- db/properties/codoping_ml_v2_meta.json</a:t>
            </a:r>
            <a:endParaRPr/>
          </a:p>
          <a:p xmlns:a="http://schemas.openxmlformats.org/drawingml/2006/main">
            <a:r>
              <a:t>- Sendek et al., DOI 10.1039/c6ee02697d</a:t>
            </a:r>
            <a:endParaRPr/>
          </a:p>
          <a:p xmlns:a="http://schemas.openxmlformats.org/drawingml/2006/main">
            <a:r>
              <a:t>- Kahle et al., DOI 10.1039/c9ee02457c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The next cascade chooses the next expensive calculation</a:t>
            </a:r>
            <a:endParaRPr/>
          </a:p>
          <a:p xmlns:a="http://schemas.openxmlformats.org/drawingml/2006/main">
            <a:r>
              <a:t>다음 loop에서는 explicit co-doped 구조를 만들고, matched DFT와 실험으로 실제 label을 얻습니다. acquisition은 Pareto gain만 보지 않고 불확실성, 새로운 화학, gate boundary를 같이 고릅니다. Duquesnoy의 multi-objective loop처럼 모델은 다음 점을 제안하고, 물리와 실험이 판정을 합니다. 현재 증거는 보편적 승자를 지지하지 않습니다. 대신 다음 비싼 계산을 어디에 써야 하는지는 분명해졌습니다. 감사합니다.</a:t>
            </a:r>
            <a:endParaRPr/>
          </a:p>
          <a:p xmlns:a="http://schemas.openxmlformats.org/drawingml/2006/main">
            <a:r>
              <a:t/>
            </a:r>
            <a:endParaRPr/>
          </a:p>
          <a:p xmlns:a="http://schemas.openxmlformats.org/drawingml/2006/main">
            <a:r>
              <a:t>Transition: 질문 주시면 뒤의 출처·규약·후보별 표로 바로 확인하겠습니다.</a:t>
            </a:r>
            <a:endParaRPr/>
          </a:p>
          <a:p xmlns:a="http://schemas.openxmlformats.org/drawingml/2006/main">
            <a:r>
              <a:t>[Sources]</a:t>
            </a:r>
            <a:endParaRPr/>
          </a:p>
          <a:p xmlns:a="http://schemas.openxmlformats.org/drawingml/2006/main">
            <a:r>
              <a:t>- docs/cascade_ml_integration_guide.md</a:t>
            </a:r>
            <a:endParaRPr/>
          </a:p>
          <a:p xmlns:a="http://schemas.openxmlformats.org/drawingml/2006/main">
            <a:r>
              <a:t>- Duquesnoy et al., DOI 10.1016/j.ensm.2022.12.040</a:t>
            </a:r>
            <a:endParaRPr/>
          </a:p>
          <a:p xmlns:a="http://schemas.openxmlformats.org/drawingml/2006/main">
            <a:r>
              <a:t>- litdb Duquesnoy Figs. 1/4/6 crops inspected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A1 — 47-species cast list</a:t>
            </a:r>
            <a:endParaRPr/>
          </a:p>
          <a:p xmlns:a="http://schemas.openxmlformats.org/drawingml/2006/main">
            <a:r>
              <a:t>특정 후보가 전체 pool에 있었는지 물을 때 사용합니다. 굵은 글씨는 post-hoc G4 retained, 단검은 targeted deep-DFT case입니다. 명단 포함과 gate pass는 다른 사실입니다.</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db/properties/cascade_v23_ranked.csv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A2 — evidence by deployment question</a:t>
            </a:r>
            <a:endParaRPr/>
          </a:p>
          <a:p xmlns:a="http://schemas.openxmlformats.org/drawingml/2006/main">
            <a:r>
              <a:t>적용 질문마다 보는 축과 증거 등급이 다릅니다. air, cost, mass, campaign labels는 follow-up axis이지 추가 hard gate가 아닙니다.</a:t>
            </a:r>
            <a:endParaRPr/>
          </a:p>
          <a:p xmlns:a="http://schemas.openxmlformats.org/drawingml/2006/main">
            <a:r>
              <a:t>[Sources]</a:t>
            </a:r>
            <a:endParaRPr/>
          </a:p>
          <a:p xmlns:a="http://schemas.openxmlformats.org/drawingml/2006/main">
            <a:r>
              <a:t>- db/properties/cascade_v23_themes.json</a:t>
            </a:r>
            <a:endParaRPr/>
          </a:p>
          <a:p xmlns:a="http://schemas.openxmlformats.org/drawingml/2006/main">
            <a:r>
              <a:t>- db/properties/air_axis_lit_vs_tier.csv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A3 — gate-order audit</a:t>
            </a:r>
            <a:endParaRPr/>
          </a:p>
          <a:p xmlns:a="http://schemas.openxmlformats.org/drawingml/2006/main">
            <a:r>
              <a:t>120개 순서를 전수 확인했을 때 terminal intersection은 같습니다. 이것은 threshold validation이 아니라 중간 waterfall의 attribution이 순서에 따라 달라진다는 audit입니다.</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A4 — retraction ledger</a:t>
            </a:r>
            <a:endParaRPr/>
          </a:p>
          <a:p xmlns:a="http://schemas.openxmlformats.org/drawingml/2006/main">
            <a:r>
              <a:t>초기 규칙이 불완전했던 사례와 재발 방지 규칙을 함께 기록했습니다. 철회 목록 자체보다 오류 검출이 실행 규칙으로 바뀌었는지가 핵심입니다.</a:t>
            </a:r>
            <a:endParaRPr/>
          </a:p>
          <a:p xmlns:a="http://schemas.openxmlformats.org/drawingml/2006/main">
            <a:r>
              <a:t>[Sources]</a:t>
            </a:r>
            <a:endParaRPr/>
          </a:p>
          <a:p xmlns:a="http://schemas.openxmlformats.org/drawingml/2006/main">
            <a:r>
              <a:t>- db/properties/canonical_registry.json</a:t>
            </a:r>
            <a:endParaRPr/>
          </a:p>
          <a:p xmlns:a="http://schemas.openxmlformats.org/drawingml/2006/main">
            <a:r>
              <a:t>- kb/methodology/terminology_register.md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A5 — terminology</a:t>
            </a:r>
            <a:endParaRPr/>
          </a:p>
          <a:p xmlns:a="http://schemas.openxmlformats.org/drawingml/2006/main">
            <a:r>
              <a:t>기호나 x-label 해석 질문에 씁니다. 특히 transport_norm은 정적 pathway proxy이며 D나 conductivity라고 부르지 않습니다.</a:t>
            </a:r>
            <a:endParaRPr/>
          </a:p>
          <a:p xmlns:a="http://schemas.openxmlformats.org/drawingml/2006/main">
            <a:r>
              <a:t>[Sources]</a:t>
            </a:r>
            <a:endParaRPr/>
          </a:p>
          <a:p xmlns:a="http://schemas.openxmlformats.org/drawingml/2006/main">
            <a:r>
              <a:t>- kb/methodology/terminology_register.md</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A6 — allowed claims by method</a:t>
            </a:r>
            <a:endParaRPr/>
          </a:p>
          <a:p xmlns:a="http://schemas.openxmlformats.org/drawingml/2006/main">
            <a:r>
              <a:t>방법마다 허용되는 주장과 금지되는 주장을 정리한 표입니다. 서로 다른 fidelity의 값을 하나의 truth column으로 섞지 않습니다.</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AGENTS.md data discipline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A7 — 47-species scorecard</a:t>
            </a:r>
            <a:endParaRPr/>
          </a:p>
          <a:p xmlns:a="http://schemas.openxmlformats.org/drawingml/2006/main">
            <a:r>
              <a:t>후보별 축을 한눈에 볼 때 씁니다. 색은 within-pool favorable percentile이고 composite score나 universal winner는 없습니다.</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docs/figures/cascade/cascade_seminar_scorecard_47.png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A8 — cascade defense</a:t>
            </a:r>
            <a:endParaRPr/>
          </a:p>
          <a:p xmlns:a="http://schemas.openxmlformats.org/drawingml/2006/main">
            <a:r>
              <a:t>273/47 계보, vacuous gate, G4 heuristic, 11종 endpoint 질문에 대한 짧은 답입니다.</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A9 — validation and ML defense</a:t>
            </a:r>
            <a:endParaRPr/>
          </a:p>
          <a:p xmlns:a="http://schemas.openxmlformats.org/drawingml/2006/main">
            <a:r>
              <a:t>DFT 2/47, LOOCV와 grouped holdout의 차이, explicit pair label이 필요한 이유를 정리한 표입니다.</a:t>
            </a:r>
            <a:endParaRPr/>
          </a:p>
          <a:p xmlns:a="http://schemas.openxmlformats.org/drawingml/2006/main">
            <a:r>
              <a:t>[Sources]</a:t>
            </a:r>
            <a:endParaRPr/>
          </a:p>
          <a:p xmlns:a="http://schemas.openxmlformats.org/drawingml/2006/main">
            <a:r>
              <a:t>- db/properties/codoping_ml_v2_meta.json</a:t>
            </a:r>
            <a:endParaRPr/>
          </a:p>
          <a:p xmlns:a="http://schemas.openxmlformats.org/drawingml/2006/main">
            <a:r>
              <a:t>- docs/cascade_ml_integration_guide.md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A10 — data sources</a:t>
            </a:r>
            <a:endParaRPr/>
          </a:p>
          <a:p xmlns:a="http://schemas.openxmlformats.org/drawingml/2006/main">
            <a:r>
              <a:t>발표 숫자는 Origin-ready seminar CSV 네 종과 gate JSON에서 읽습니다. Webapp은 확인용 reader이며 별도의 정본이 아닙니다. Webapp의 legacy Pareto와 현행 2D conditional Pareto는 구분합니다.</a:t>
            </a:r>
            <a:endParaRPr/>
          </a:p>
          <a:p xmlns:a="http://schemas.openxmlformats.org/drawingml/2006/main">
            <a:r>
              <a:t>[Sources]</a:t>
            </a:r>
            <a:endParaRPr/>
          </a:p>
          <a:p xmlns:a="http://schemas.openxmlformats.org/drawingml/2006/main">
            <a:r>
              <a:t>- db/properties/cascade_seminar_*.csv</a:t>
            </a:r>
            <a:endParaRPr/>
          </a:p>
          <a:p xmlns:a="http://schemas.openxmlformats.org/drawingml/2006/main">
            <a:r>
              <a:t>- webapp/data.py</a:t>
            </a:r>
            <a:endParaRPr/>
          </a:p>
          <a:p xmlns:a="http://schemas.openxmlformats.org/drawingml/2006/main">
            <a:r>
              <a:t>- webapp/templates/cascade.html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A11 — methods and literature</a:t>
            </a:r>
            <a:endParaRPr/>
          </a:p>
          <a:p xmlns:a="http://schemas.openxmlformats.org/drawingml/2006/main">
            <a:r>
              <a:t>방법 규약, 감사 기록, 외부 문헌의 경로입니다. 외부 문헌 수치는 맥락과 방법 계보로만 쓰고 우리 threshold로 이식하지 않습니다.</a:t>
            </a:r>
            <a:endParaRPr/>
          </a:p>
          <a:p xmlns:a="http://schemas.openxmlformats.org/drawingml/2006/main">
            <a:r>
              <a:t>[Sources]</a:t>
            </a:r>
            <a:endParaRPr/>
          </a:p>
          <a:p xmlns:a="http://schemas.openxmlformats.org/drawingml/2006/main">
            <a:r>
              <a:t>- docs/reviews/cascade_ai_screening_literature_comparison_2026_08_10.md</a:t>
            </a:r>
            <a:endParaRPr/>
          </a:p>
          <a:p xmlns:a="http://schemas.openxmlformats.org/drawingml/2006/main">
            <a:r>
              <a:t>- litdb local digests and inspected crops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4350a5bc0e4a7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83ac632b2043b1" /><Relationship Type="http://schemas.openxmlformats.org/officeDocument/2006/relationships/slideLayout" Target="/ppt/slideLayouts/slideLayout1.xml" Id="R61bee2ad43e1440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bee2ad43e1440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0ffbd842c3448f" /><Relationship Type="http://schemas.openxmlformats.org/officeDocument/2006/relationships/notesSlide" Target="/ppt/notesSlides/notesSlide1.xml" Id="R656b0d28cd3a40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c1ed24f81f47c9" /><Relationship Type="http://schemas.openxmlformats.org/officeDocument/2006/relationships/image" Target="/ppt/media/image.png" Id="Rfb38472eedf24a7b" /><Relationship Type="http://schemas.openxmlformats.org/officeDocument/2006/relationships/notesSlide" Target="/ppt/notesSlides/notesSlide2.xml" Id="Rbea5987f0b4344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60078966ae4745" /><Relationship Type="http://schemas.openxmlformats.org/officeDocument/2006/relationships/notesSlide" Target="/ppt/notesSlides/notesSlide3.xml" Id="R63c82f1d66f242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27a0566f654811" /><Relationship Type="http://schemas.openxmlformats.org/officeDocument/2006/relationships/notesSlide" Target="/ppt/notesSlides/notesSlide4.xml" Id="R3d78fc2ab2a842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21bee7a7ac424a" /><Relationship Type="http://schemas.openxmlformats.org/officeDocument/2006/relationships/image" Target="/ppt/media/image2.png" Id="R314d99f919f54af4" /><Relationship Type="http://schemas.openxmlformats.org/officeDocument/2006/relationships/notesSlide" Target="/ppt/notesSlides/notesSlide5.xml" Id="R4ed0c4a93cd747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ef3734a06f4132" /><Relationship Type="http://schemas.openxmlformats.org/officeDocument/2006/relationships/notesSlide" Target="/ppt/notesSlides/notesSlide6.xml" Id="R09bb6b4208ad49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6fe175a4304c5f" /><Relationship Type="http://schemas.openxmlformats.org/officeDocument/2006/relationships/notesSlide" Target="/ppt/notesSlides/notesSlide7.xml" Id="R255a6d277c984d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1c87292f7b45dc" /><Relationship Type="http://schemas.openxmlformats.org/officeDocument/2006/relationships/notesSlide" Target="/ppt/notesSlides/notesSlide8.xml" Id="R2f00afa01bc242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eba31b93694149" /><Relationship Type="http://schemas.openxmlformats.org/officeDocument/2006/relationships/notesSlide" Target="/ppt/notesSlides/notesSlide9.xml" Id="R089a231cfed14d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32c3fa407f446b" /><Relationship Type="http://schemas.openxmlformats.org/officeDocument/2006/relationships/notesSlide" Target="/ppt/notesSlides/notesSlide10.xml" Id="R2ea2366d707240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47905b02e64709" /><Relationship Type="http://schemas.openxmlformats.org/officeDocument/2006/relationships/image" Target="/ppt/media/image3.png" Id="R507c292b461d4e74" /><Relationship Type="http://schemas.openxmlformats.org/officeDocument/2006/relationships/notesSlide" Target="/ppt/notesSlides/notesSlide11.xml" Id="Rbf9a406c66a14c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a1549e77e240d1" /><Relationship Type="http://schemas.openxmlformats.org/officeDocument/2006/relationships/notesSlide" Target="/ppt/notesSlides/notesSlide12.xml" Id="R1a144bc3c09845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e3f98f2a25440b" /><Relationship Type="http://schemas.openxmlformats.org/officeDocument/2006/relationships/notesSlide" Target="/ppt/notesSlides/notesSlide13.xml" Id="R313bfe87b88d44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2ead5ad78e4535" /><Relationship Type="http://schemas.openxmlformats.org/officeDocument/2006/relationships/image" Target="/ppt/media/image4.png" Id="Rdb36ec5c15664c9d" /><Relationship Type="http://schemas.openxmlformats.org/officeDocument/2006/relationships/notesSlide" Target="/ppt/notesSlides/notesSlide14.xml" Id="Rbeeaff5c94e64d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e23020a70a14f31" /><Relationship Type="http://schemas.openxmlformats.org/officeDocument/2006/relationships/notesSlide" Target="/ppt/notesSlides/notesSlide15.xml" Id="R1d2aba833aff47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a037f57c1aa4856" /><Relationship Type="http://schemas.openxmlformats.org/officeDocument/2006/relationships/notesSlide" Target="/ppt/notesSlides/notesSlide16.xml" Id="Rf62fe084355444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f88eaeed3844cb6" /><Relationship Type="http://schemas.openxmlformats.org/officeDocument/2006/relationships/notesSlide" Target="/ppt/notesSlides/notesSlide17.xml" Id="Rc2067cc09d244e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0700ac5253b4a02" /><Relationship Type="http://schemas.openxmlformats.org/officeDocument/2006/relationships/notesSlide" Target="/ppt/notesSlides/notesSlide18.xml" Id="R0609e473c27542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742ab9e4dca487e" /><Relationship Type="http://schemas.openxmlformats.org/officeDocument/2006/relationships/notesSlide" Target="/ppt/notesSlides/notesSlide19.xml" Id="Rd70ee2380a054d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675f5be2934427" /><Relationship Type="http://schemas.openxmlformats.org/officeDocument/2006/relationships/notesSlide" Target="/ppt/notesSlides/notesSlide20.xml" Id="Rd5f13a48ed9b4e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74e72c6324440f4" /><Relationship Type="http://schemas.openxmlformats.org/officeDocument/2006/relationships/notesSlide" Target="/ppt/notesSlides/notesSlide21.xml" Id="R67dae9d660e440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f88737ed86f4d36" /><Relationship Type="http://schemas.openxmlformats.org/officeDocument/2006/relationships/notesSlide" Target="/ppt/notesSlides/notesSlide22.xml" Id="R8e4806c54e0e4a3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c0f1eace1444c80" /><Relationship Type="http://schemas.openxmlformats.org/officeDocument/2006/relationships/notesSlide" Target="/ppt/notesSlides/notesSlide23.xml" Id="Rd724a0b4ded1426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e52bf8619a34126" /><Relationship Type="http://schemas.openxmlformats.org/officeDocument/2006/relationships/notesSlide" Target="/ppt/notesSlides/notesSlide24.xml" Id="R90e45c183f7446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24ac927f3344871" /><Relationship Type="http://schemas.openxmlformats.org/officeDocument/2006/relationships/notesSlide" Target="/ppt/notesSlides/notesSlide25.xml" Id="R14602988c89e42f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619bd2130d94510" /><Relationship Type="http://schemas.openxmlformats.org/officeDocument/2006/relationships/image" Target="/ppt/media/image5.png" Id="Rffd2a4506106475a" /><Relationship Type="http://schemas.openxmlformats.org/officeDocument/2006/relationships/notesSlide" Target="/ppt/notesSlides/notesSlide26.xml" Id="Rbaa2b555010c47a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1ec5b7fc00d4d7a" /><Relationship Type="http://schemas.openxmlformats.org/officeDocument/2006/relationships/notesSlide" Target="/ppt/notesSlides/notesSlide27.xml" Id="Re80622a4dde244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34ccfe668fa4d8e" /><Relationship Type="http://schemas.openxmlformats.org/officeDocument/2006/relationships/notesSlide" Target="/ppt/notesSlides/notesSlide28.xml" Id="Rad5476a4be174bf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9f073c9e8c34fea" /><Relationship Type="http://schemas.openxmlformats.org/officeDocument/2006/relationships/notesSlide" Target="/ppt/notesSlides/notesSlide29.xml" Id="Rb28b0a230b884b9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39090ed608c4c2f" /><Relationship Type="http://schemas.openxmlformats.org/officeDocument/2006/relationships/notesSlide" Target="/ppt/notesSlides/notesSlide30.xml" Id="R096da0002549461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Research Seminar</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A gated MLIP-to-DFT screening cascade for LPSCl modification</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From 273 run slots to a defensible next calculation</a:t>
            </a:r>
            <a:endParaRPr sz="1300"/>
          </a:p>
        </p:txBody>
      </p:sp>
      <p:sp>
        <p:nvSpPr>
          <p:cNvPr id="6" name="Text 4">
            <a:extLst xmlns:a="http://schemas.openxmlformats.org/drawingml/2006/main">
              <a:ext uri="{FF2B5EF4-FFF2-40B4-BE49-F238E27FC236}">
                <a16:creationId xmlns:a16="http://schemas.microsoft.com/office/drawing/2014/main" id="{79217BA3-4FD2-4701-9E93-EB4BB6A4BD7B}"/>
              </a:ext>
            </a:extLst>
          </p:cNvPr>
          <p:cNvSpPr>
            <a:spLocks xmlns:a="http://schemas.openxmlformats.org/drawingml/2006/main" noGrp="1"/>
          </p:cNvSpPr>
          <p:nvPr/>
        </p:nvSpPr>
        <p:spPr>
          <a:xfrm xmlns:a="http://schemas.openxmlformats.org/drawingml/2006/main">
            <a:off x="548640" y="448056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Yonghoon An</a:t>
            </a:r>
            <a:endParaRPr sz="14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MLIP screening · physical gates · targeted validation</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16D163-86A5-4906-8F60-13349F5CD33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Context</a:t>
            </a:r>
            <a:endParaRPr sz="2800"/>
          </a:p>
        </p:txBody>
      </p:sp>
      <p:sp>
        <p:nvSpPr>
          <p:cNvPr id="3" name="Text 1">
            <a:extLst xmlns:a="http://schemas.openxmlformats.org/drawingml/2006/main">
              <a:ext uri="{FF2B5EF4-FFF2-40B4-BE49-F238E27FC236}">
                <a16:creationId xmlns:a16="http://schemas.microsoft.com/office/drawing/2014/main" id="{F0A0585F-5389-456B-B8C5-4158F97C74E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LPSCl modification problem</a:t>
            </a:r>
            <a:endParaRPr sz="900"/>
          </a:p>
        </p:txBody>
      </p:sp>
      <p:sp>
        <p:nvSpPr>
          <p:cNvPr id="4" name="Shape 2">
            <a:extLst xmlns:a="http://schemas.openxmlformats.org/drawingml/2006/main">
              <a:ext uri="{FF2B5EF4-FFF2-40B4-BE49-F238E27FC236}">
                <a16:creationId xmlns:a16="http://schemas.microsoft.com/office/drawing/2014/main" id="{80069698-B93C-4FC9-B512-42D8C59DAF9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06290F54-B7A3-495B-B955-4BD2AED3CC2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5100B61-1ABB-4C8F-B90B-5A92FA9C4CE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One repair must survive several sulfide interfaces</a:t>
            </a:r>
            <a:endParaRPr sz="1400"/>
          </a:p>
        </p:txBody>
      </p:sp>
      <p:sp>
        <p:nvSpPr>
          <p:cNvPr id="7" name="Text 5">
            <a:extLst xmlns:a="http://schemas.openxmlformats.org/drawingml/2006/main">
              <a:ext uri="{FF2B5EF4-FFF2-40B4-BE49-F238E27FC236}">
                <a16:creationId xmlns:a16="http://schemas.microsoft.com/office/drawing/2014/main" id="{A0026C13-68CE-43E8-AE41-3F3788405B07}"/>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AEFDF7A-1909-462E-8E3A-D61FDE8B9B9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B35A85E-C3FC-4BCE-9622-BBAEF583BB1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a:t>
            </a:r>
            <a:endParaRPr sz="9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fb38472eedf24a7b"/>
          <a:srcRect xmlns:a="http://schemas.openxmlformats.org/drawingml/2006/main" l="0" t="0" r="0" b="0"/>
          <a:stretch xmlns:a="http://schemas.openxmlformats.org/drawingml/2006/main"/>
        </p:blipFill>
        <p:spPr>
          <a:xfrm xmlns:a="http://schemas.openxmlformats.org/drawingml/2006/main">
            <a:off x="640080" y="1554480"/>
            <a:ext cx="4206240" cy="3108960"/>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3E37DDAB-4A1E-4DD0-ABC7-7287778CA620}"/>
              </a:ext>
            </a:extLst>
          </p:cNvPr>
          <p:cNvSpPr>
            <a:spLocks xmlns:a="http://schemas.openxmlformats.org/drawingml/2006/main" noGrp="1"/>
          </p:cNvSpPr>
          <p:nvPr/>
        </p:nvSpPr>
        <p:spPr>
          <a:xfrm xmlns:a="http://schemas.openxmlformats.org/drawingml/2006/main">
            <a:off x="640080" y="4690872"/>
            <a:ext cx="4206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Literature schematic; coating ≠ lattice substitution (Sundar et al., Adv. Sci. 2025, Fig. 1)</a:t>
            </a:r>
            <a:endParaRPr sz="850"/>
          </a:p>
        </p:txBody>
      </p:sp>
      <p:sp>
        <p:nvSpPr>
          <p:cNvPr id="13" name="Shape 9">
            <a:extLst xmlns:a="http://schemas.openxmlformats.org/drawingml/2006/main">
              <a:ext uri="{FF2B5EF4-FFF2-40B4-BE49-F238E27FC236}">
                <a16:creationId xmlns:a16="http://schemas.microsoft.com/office/drawing/2014/main" id="{9AB3725A-CFD9-4753-AF89-CA7591C9235D}"/>
              </a:ext>
            </a:extLst>
          </p:cNvPr>
          <p:cNvSpPr>
            <a:spLocks xmlns:a="http://schemas.openxmlformats.org/drawingml/2006/main" noGrp="1"/>
          </p:cNvSpPr>
          <p:nvPr/>
        </p:nvSpPr>
        <p:spPr>
          <a:xfrm xmlns:a="http://schemas.openxmlformats.org/drawingml/2006/main">
            <a:off x="5120640" y="160020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0">
            <a:extLst xmlns:a="http://schemas.openxmlformats.org/drawingml/2006/main">
              <a:ext uri="{FF2B5EF4-FFF2-40B4-BE49-F238E27FC236}">
                <a16:creationId xmlns:a16="http://schemas.microsoft.com/office/drawing/2014/main" id="{36098ACE-AB45-4FC8-87B0-2285142AD988}"/>
              </a:ext>
            </a:extLst>
          </p:cNvPr>
          <p:cNvSpPr>
            <a:spLocks xmlns:a="http://schemas.openxmlformats.org/drawingml/2006/main" noGrp="1"/>
          </p:cNvSpPr>
          <p:nvPr/>
        </p:nvSpPr>
        <p:spPr>
          <a:xfrm xmlns:a="http://schemas.openxmlformats.org/drawingml/2006/main">
            <a:off x="5257800" y="167335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Oxidation
</a:t>
            </a:r>
            <a:endParaRPr sz="1100"/>
          </a:p>
          <a:p xmlns:a="http://schemas.openxmlformats.org/drawingml/2006/main">
            <a:pPr marL="0" indent="0">
              <a:buNone/>
            </a:pPr>
            <a:r>
              <a:rPr sz="950">
                <a:solidFill>
                  <a:srgbClr val="262626"/>
                </a:solidFill>
                <a:latin typeface="Arial"/>
                <a:ea typeface="Arial"/>
                <a:cs typeface="Arial"/>
              </a:rPr>
              <a:t>S-derived states limit the cathode side.</a:t>
            </a:r>
            <a:endParaRPr sz="1100"/>
          </a:p>
        </p:txBody>
      </p:sp>
      <p:sp>
        <p:nvSpPr>
          <p:cNvPr id="15" name="Shape 11">
            <a:extLst xmlns:a="http://schemas.openxmlformats.org/drawingml/2006/main">
              <a:ext uri="{FF2B5EF4-FFF2-40B4-BE49-F238E27FC236}">
                <a16:creationId xmlns:a16="http://schemas.microsoft.com/office/drawing/2014/main" id="{08FDD468-CC81-45F6-9673-D588748D676A}"/>
              </a:ext>
            </a:extLst>
          </p:cNvPr>
          <p:cNvSpPr>
            <a:spLocks xmlns:a="http://schemas.openxmlformats.org/drawingml/2006/main" noGrp="1"/>
          </p:cNvSpPr>
          <p:nvPr/>
        </p:nvSpPr>
        <p:spPr>
          <a:xfrm xmlns:a="http://schemas.openxmlformats.org/drawingml/2006/main">
            <a:off x="5120640" y="256032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2">
            <a:extLst xmlns:a="http://schemas.openxmlformats.org/drawingml/2006/main">
              <a:ext uri="{FF2B5EF4-FFF2-40B4-BE49-F238E27FC236}">
                <a16:creationId xmlns:a16="http://schemas.microsoft.com/office/drawing/2014/main" id="{C5AA161C-0F55-43A5-B9AD-F94A8BD38328}"/>
              </a:ext>
            </a:extLst>
          </p:cNvPr>
          <p:cNvSpPr>
            <a:spLocks xmlns:a="http://schemas.openxmlformats.org/drawingml/2006/main" noGrp="1"/>
          </p:cNvSpPr>
          <p:nvPr/>
        </p:nvSpPr>
        <p:spPr>
          <a:xfrm xmlns:a="http://schemas.openxmlformats.org/drawingml/2006/main">
            <a:off x="5257800" y="263347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Interface
</a:t>
            </a:r>
            <a:endParaRPr sz="1100"/>
          </a:p>
          <a:p xmlns:a="http://schemas.openxmlformats.org/drawingml/2006/main">
            <a:pPr marL="0" indent="0">
              <a:buNone/>
            </a:pPr>
            <a:r>
              <a:rPr sz="950">
                <a:solidFill>
                  <a:srgbClr val="262626"/>
                </a:solidFill>
                <a:latin typeface="Arial"/>
                <a:ea typeface="Arial"/>
                <a:cs typeface="Arial"/>
              </a:rPr>
              <a:t>One coating meets Li, LPSCl, and cathode chemistries.</a:t>
            </a:r>
            <a:endParaRPr sz="1100"/>
          </a:p>
        </p:txBody>
      </p:sp>
      <p:sp>
        <p:nvSpPr>
          <p:cNvPr id="17" name="Shape 13">
            <a:extLst xmlns:a="http://schemas.openxmlformats.org/drawingml/2006/main">
              <a:ext uri="{FF2B5EF4-FFF2-40B4-BE49-F238E27FC236}">
                <a16:creationId xmlns:a16="http://schemas.microsoft.com/office/drawing/2014/main" id="{3AE0561A-93FF-4386-B8C0-6F35D62FED43}"/>
              </a:ext>
            </a:extLst>
          </p:cNvPr>
          <p:cNvSpPr>
            <a:spLocks xmlns:a="http://schemas.openxmlformats.org/drawingml/2006/main" noGrp="1"/>
          </p:cNvSpPr>
          <p:nvPr/>
        </p:nvSpPr>
        <p:spPr>
          <a:xfrm xmlns:a="http://schemas.openxmlformats.org/drawingml/2006/main">
            <a:off x="5120640" y="352044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8" name="Text 14">
            <a:extLst xmlns:a="http://schemas.openxmlformats.org/drawingml/2006/main">
              <a:ext uri="{FF2B5EF4-FFF2-40B4-BE49-F238E27FC236}">
                <a16:creationId xmlns:a16="http://schemas.microsoft.com/office/drawing/2014/main" id="{A00CDB8E-29BF-4AFC-96F4-EC77D576BF3A}"/>
              </a:ext>
            </a:extLst>
          </p:cNvPr>
          <p:cNvSpPr>
            <a:spLocks xmlns:a="http://schemas.openxmlformats.org/drawingml/2006/main" noGrp="1"/>
          </p:cNvSpPr>
          <p:nvPr/>
        </p:nvSpPr>
        <p:spPr>
          <a:xfrm xmlns:a="http://schemas.openxmlformats.org/drawingml/2006/main">
            <a:off x="5257800" y="359359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Contact &amp; mechanics
</a:t>
            </a:r>
            <a:endParaRPr sz="1100"/>
          </a:p>
          <a:p xmlns:a="http://schemas.openxmlformats.org/drawingml/2006/main">
            <a:pPr marL="0" indent="0">
              <a:buNone/>
            </a:pPr>
            <a:r>
              <a:rPr sz="950">
                <a:solidFill>
                  <a:srgbClr val="262626"/>
                </a:solidFill>
                <a:latin typeface="Arial"/>
                <a:ea typeface="Arial"/>
                <a:cs typeface="Arial"/>
              </a:rPr>
              <a:t>Pressure and particle contact change the response.</a:t>
            </a:r>
            <a:endParaRPr sz="1100"/>
          </a:p>
        </p:txBody>
      </p:sp>
      <p:sp>
        <p:nvSpPr>
          <p:cNvPr id="19" name="Text 15">
            <a:extLst xmlns:a="http://schemas.openxmlformats.org/drawingml/2006/main">
              <a:ext uri="{FF2B5EF4-FFF2-40B4-BE49-F238E27FC236}">
                <a16:creationId xmlns:a16="http://schemas.microsoft.com/office/drawing/2014/main" id="{6A07093A-7D13-420F-8C6B-254CE8AEF6E2}"/>
              </a:ext>
            </a:extLst>
          </p:cNvPr>
          <p:cNvSpPr>
            <a:spLocks xmlns:a="http://schemas.openxmlformats.org/drawingml/2006/main" noGrp="1"/>
          </p:cNvSpPr>
          <p:nvPr/>
        </p:nvSpPr>
        <p:spPr>
          <a:xfrm xmlns:a="http://schemas.openxmlformats.org/drawingml/2006/main">
            <a:off x="548640" y="48463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There is no single repair knob — and no single screening metric.</a:t>
            </a:r>
            <a:endParaRPr sz="1250"/>
          </a:p>
        </p:txBody>
      </p:sp>
      <p:sp>
        <p:nvSpPr>
          <p:cNvPr id="20" name="Text 16">
            <a:extLst xmlns:a="http://schemas.openxmlformats.org/drawingml/2006/main">
              <a:ext uri="{FF2B5EF4-FFF2-40B4-BE49-F238E27FC236}">
                <a16:creationId xmlns:a16="http://schemas.microsoft.com/office/drawing/2014/main" id="{9CED1C40-DBCF-4551-AB4F-DB3A2CE200F1}"/>
              </a:ext>
            </a:extLst>
          </p:cNvPr>
          <p:cNvSpPr>
            <a:spLocks xmlns:a="http://schemas.openxmlformats.org/drawingml/2006/main" noGrp="1"/>
          </p:cNvSpPr>
          <p:nvPr/>
        </p:nvSpPr>
        <p:spPr>
          <a:xfrm xmlns:a="http://schemas.openxmlformats.org/drawingml/2006/main">
            <a:off x="548640" y="52578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F7F7F"/>
                </a:solidFill>
                <a:latin typeface="Arial"/>
                <a:ea typeface="Arial"/>
                <a:cs typeface="Arial"/>
              </a:rPr>
              <a:t>Coating     Substitution     Composite     Processing</a:t>
            </a:r>
            <a:endParaRPr sz="1000"/>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64536B-14AD-4933-AFC5-07EE5CE277C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Motivation</a:t>
            </a:r>
            <a:endParaRPr sz="2800"/>
          </a:p>
        </p:txBody>
      </p:sp>
      <p:sp>
        <p:nvSpPr>
          <p:cNvPr id="3" name="Text 1">
            <a:extLst xmlns:a="http://schemas.openxmlformats.org/drawingml/2006/main">
              <a:ext uri="{FF2B5EF4-FFF2-40B4-BE49-F238E27FC236}">
                <a16:creationId xmlns:a16="http://schemas.microsoft.com/office/drawing/2014/main" id="{BA523F5F-F000-444B-B1A2-9AB53B9D0FF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Campaign design record</a:t>
            </a:r>
            <a:endParaRPr sz="900"/>
          </a:p>
        </p:txBody>
      </p:sp>
      <p:sp>
        <p:nvSpPr>
          <p:cNvPr id="4" name="Shape 2">
            <a:extLst xmlns:a="http://schemas.openxmlformats.org/drawingml/2006/main">
              <a:ext uri="{FF2B5EF4-FFF2-40B4-BE49-F238E27FC236}">
                <a16:creationId xmlns:a16="http://schemas.microsoft.com/office/drawing/2014/main" id="{A24CE66E-413E-4338-A472-E65E9362E39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8D987ED-9BF8-4561-9061-34D578ACEF9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B96E0ED2-014B-4D1D-871F-C034E1E788C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Substitution turns one material into hundreds of decisions</a:t>
            </a:r>
            <a:endParaRPr sz="1400"/>
          </a:p>
        </p:txBody>
      </p:sp>
      <p:sp>
        <p:nvSpPr>
          <p:cNvPr id="7" name="Text 5">
            <a:extLst xmlns:a="http://schemas.openxmlformats.org/drawingml/2006/main">
              <a:ext uri="{FF2B5EF4-FFF2-40B4-BE49-F238E27FC236}">
                <a16:creationId xmlns:a16="http://schemas.microsoft.com/office/drawing/2014/main" id="{70DF479A-79ED-4EEF-A198-E4D37AB54E0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DC1BD698-94E9-4F34-820B-BF953282478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3A28F49-5826-42CB-8138-FF4175B4787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a:t>
            </a:r>
            <a:endParaRPr sz="900"/>
          </a:p>
        </p:txBody>
      </p:sp>
      <p:sp>
        <p:nvSpPr>
          <p:cNvPr id="11" name="Shape 8">
            <a:extLst xmlns:a="http://schemas.openxmlformats.org/drawingml/2006/main">
              <a:ext uri="{FF2B5EF4-FFF2-40B4-BE49-F238E27FC236}">
                <a16:creationId xmlns:a16="http://schemas.microsoft.com/office/drawing/2014/main" id="{99432639-0EF8-4107-967D-8134778FEFF1}"/>
              </a:ext>
            </a:extLst>
          </p:cNvPr>
          <p:cNvSpPr>
            <a:spLocks xmlns:a="http://schemas.openxmlformats.org/drawingml/2006/main" noGrp="1"/>
          </p:cNvSpPr>
          <p:nvPr/>
        </p:nvSpPr>
        <p:spPr>
          <a:xfrm xmlns:a="http://schemas.openxmlformats.org/drawingml/2006/main">
            <a:off x="640080"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2528172D-BBC6-4ED2-9399-EB590F55BA2D}"/>
              </a:ext>
            </a:extLst>
          </p:cNvPr>
          <p:cNvSpPr>
            <a:spLocks xmlns:a="http://schemas.openxmlformats.org/drawingml/2006/main" noGrp="1"/>
          </p:cNvSpPr>
          <p:nvPr/>
        </p:nvSpPr>
        <p:spPr>
          <a:xfrm xmlns:a="http://schemas.openxmlformats.org/drawingml/2006/main">
            <a:off x="731520"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Dopant chemistry
</a:t>
            </a:r>
            <a:endParaRPr sz="1050"/>
          </a:p>
          <a:p xmlns:a="http://schemas.openxmlformats.org/drawingml/2006/main">
            <a:pPr marL="0" indent="0">
              <a:buNone/>
            </a:pPr>
            <a:r>
              <a:rPr sz="850">
                <a:solidFill>
                  <a:srgbClr val="262626"/>
                </a:solidFill>
                <a:latin typeface="Arial"/>
                <a:ea typeface="Arial"/>
                <a:cs typeface="Arial"/>
              </a:rPr>
              <a:t>Which element or compound?</a:t>
            </a:r>
            <a:endParaRPr sz="1050"/>
          </a:p>
        </p:txBody>
      </p:sp>
      <p:sp>
        <p:nvSpPr>
          <p:cNvPr id="13" name="Text 10">
            <a:extLst xmlns:a="http://schemas.openxmlformats.org/drawingml/2006/main">
              <a:ext uri="{FF2B5EF4-FFF2-40B4-BE49-F238E27FC236}">
                <a16:creationId xmlns:a16="http://schemas.microsoft.com/office/drawing/2014/main" id="{5F7E6D7B-ABF7-4D1E-A5AA-AF7B683BCEFA}"/>
              </a:ext>
            </a:extLst>
          </p:cNvPr>
          <p:cNvSpPr>
            <a:spLocks xmlns:a="http://schemas.openxmlformats.org/drawingml/2006/main" noGrp="1"/>
          </p:cNvSpPr>
          <p:nvPr/>
        </p:nvSpPr>
        <p:spPr>
          <a:xfrm xmlns:a="http://schemas.openxmlformats.org/drawingml/2006/main">
            <a:off x="2395728"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4" name="Shape 11">
            <a:extLst xmlns:a="http://schemas.openxmlformats.org/drawingml/2006/main">
              <a:ext uri="{FF2B5EF4-FFF2-40B4-BE49-F238E27FC236}">
                <a16:creationId xmlns:a16="http://schemas.microsoft.com/office/drawing/2014/main" id="{6E20E008-E98B-44B2-B222-25E77F088C35}"/>
              </a:ext>
            </a:extLst>
          </p:cNvPr>
          <p:cNvSpPr>
            <a:spLocks xmlns:a="http://schemas.openxmlformats.org/drawingml/2006/main" noGrp="1"/>
          </p:cNvSpPr>
          <p:nvPr/>
        </p:nvSpPr>
        <p:spPr>
          <a:xfrm xmlns:a="http://schemas.openxmlformats.org/drawingml/2006/main">
            <a:off x="2761488"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1083997-6092-48DE-919F-9C9C49E3A577}"/>
              </a:ext>
            </a:extLst>
          </p:cNvPr>
          <p:cNvSpPr>
            <a:spLocks xmlns:a="http://schemas.openxmlformats.org/drawingml/2006/main" noGrp="1"/>
          </p:cNvSpPr>
          <p:nvPr/>
        </p:nvSpPr>
        <p:spPr>
          <a:xfrm xmlns:a="http://schemas.openxmlformats.org/drawingml/2006/main">
            <a:off x="2852928"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Campaign label
</a:t>
            </a:r>
            <a:endParaRPr sz="1050"/>
          </a:p>
          <a:p xmlns:a="http://schemas.openxmlformats.org/drawingml/2006/main">
            <a:pPr marL="0" indent="0">
              <a:buNone/>
            </a:pPr>
            <a:r>
              <a:rPr sz="850">
                <a:solidFill>
                  <a:srgbClr val="262626"/>
                </a:solidFill>
                <a:latin typeface="Arial"/>
                <a:ea typeface="Arial"/>
                <a:cs typeface="Arial"/>
              </a:rPr>
              <a:t>x002 / x005 / x010; actual x unresolved</a:t>
            </a:r>
            <a:endParaRPr sz="1050"/>
          </a:p>
        </p:txBody>
      </p:sp>
      <p:sp>
        <p:nvSpPr>
          <p:cNvPr id="16" name="Text 13">
            <a:extLst xmlns:a="http://schemas.openxmlformats.org/drawingml/2006/main">
              <a:ext uri="{FF2B5EF4-FFF2-40B4-BE49-F238E27FC236}">
                <a16:creationId xmlns:a16="http://schemas.microsoft.com/office/drawing/2014/main" id="{B2109BA5-DC8B-4264-8231-78BA2F55C0B1}"/>
              </a:ext>
            </a:extLst>
          </p:cNvPr>
          <p:cNvSpPr>
            <a:spLocks xmlns:a="http://schemas.openxmlformats.org/drawingml/2006/main" noGrp="1"/>
          </p:cNvSpPr>
          <p:nvPr/>
        </p:nvSpPr>
        <p:spPr>
          <a:xfrm xmlns:a="http://schemas.openxmlformats.org/drawingml/2006/main">
            <a:off x="4517136"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7" name="Shape 14">
            <a:extLst xmlns:a="http://schemas.openxmlformats.org/drawingml/2006/main">
              <a:ext uri="{FF2B5EF4-FFF2-40B4-BE49-F238E27FC236}">
                <a16:creationId xmlns:a16="http://schemas.microsoft.com/office/drawing/2014/main" id="{607AF61A-4991-4F2B-9BE5-8449EFA1A365}"/>
              </a:ext>
            </a:extLst>
          </p:cNvPr>
          <p:cNvSpPr>
            <a:spLocks xmlns:a="http://schemas.openxmlformats.org/drawingml/2006/main" noGrp="1"/>
          </p:cNvSpPr>
          <p:nvPr/>
        </p:nvSpPr>
        <p:spPr>
          <a:xfrm xmlns:a="http://schemas.openxmlformats.org/drawingml/2006/main">
            <a:off x="4882896"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3841EF17-4411-4D64-829A-6879C186DD87}"/>
              </a:ext>
            </a:extLst>
          </p:cNvPr>
          <p:cNvSpPr>
            <a:spLocks xmlns:a="http://schemas.openxmlformats.org/drawingml/2006/main" noGrp="1"/>
          </p:cNvSpPr>
          <p:nvPr/>
        </p:nvSpPr>
        <p:spPr>
          <a:xfrm xmlns:a="http://schemas.openxmlformats.org/drawingml/2006/main">
            <a:off x="4974336"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Configuration
</a:t>
            </a:r>
            <a:endParaRPr sz="1050"/>
          </a:p>
          <a:p xmlns:a="http://schemas.openxmlformats.org/drawingml/2006/main">
            <a:pPr marL="0" indent="0">
              <a:buNone/>
            </a:pPr>
            <a:r>
              <a:rPr sz="850">
                <a:solidFill>
                  <a:srgbClr val="262626"/>
                </a:solidFill>
                <a:latin typeface="Arial"/>
                <a:ea typeface="Arial"/>
                <a:cs typeface="Arial"/>
              </a:rPr>
              <a:t>Where are defects placed?</a:t>
            </a:r>
            <a:endParaRPr sz="1050"/>
          </a:p>
        </p:txBody>
      </p:sp>
      <p:sp>
        <p:nvSpPr>
          <p:cNvPr id="19" name="Text 16">
            <a:extLst xmlns:a="http://schemas.openxmlformats.org/drawingml/2006/main">
              <a:ext uri="{FF2B5EF4-FFF2-40B4-BE49-F238E27FC236}">
                <a16:creationId xmlns:a16="http://schemas.microsoft.com/office/drawing/2014/main" id="{11D881ED-2C44-4A58-9847-1F607A880F08}"/>
              </a:ext>
            </a:extLst>
          </p:cNvPr>
          <p:cNvSpPr>
            <a:spLocks xmlns:a="http://schemas.openxmlformats.org/drawingml/2006/main" noGrp="1"/>
          </p:cNvSpPr>
          <p:nvPr/>
        </p:nvSpPr>
        <p:spPr>
          <a:xfrm xmlns:a="http://schemas.openxmlformats.org/drawingml/2006/main">
            <a:off x="6638544"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20" name="Shape 17">
            <a:extLst xmlns:a="http://schemas.openxmlformats.org/drawingml/2006/main">
              <a:ext uri="{FF2B5EF4-FFF2-40B4-BE49-F238E27FC236}">
                <a16:creationId xmlns:a16="http://schemas.microsoft.com/office/drawing/2014/main" id="{005D7217-E2C3-4A06-ABE6-E36A13F38D5B}"/>
              </a:ext>
            </a:extLst>
          </p:cNvPr>
          <p:cNvSpPr>
            <a:spLocks xmlns:a="http://schemas.openxmlformats.org/drawingml/2006/main" noGrp="1"/>
          </p:cNvSpPr>
          <p:nvPr/>
        </p:nvSpPr>
        <p:spPr>
          <a:xfrm xmlns:a="http://schemas.openxmlformats.org/drawingml/2006/main">
            <a:off x="7004304"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75B0A9EA-3168-43D7-9E42-81A68F7FC2F5}"/>
              </a:ext>
            </a:extLst>
          </p:cNvPr>
          <p:cNvSpPr>
            <a:spLocks xmlns:a="http://schemas.openxmlformats.org/drawingml/2006/main" noGrp="1"/>
          </p:cNvSpPr>
          <p:nvPr/>
        </p:nvSpPr>
        <p:spPr>
          <a:xfrm xmlns:a="http://schemas.openxmlformats.org/drawingml/2006/main">
            <a:off x="7095744"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Target properties
</a:t>
            </a:r>
            <a:endParaRPr sz="1050"/>
          </a:p>
          <a:p xmlns:a="http://schemas.openxmlformats.org/drawingml/2006/main">
            <a:pPr marL="0" indent="0">
              <a:buNone/>
            </a:pPr>
            <a:r>
              <a:rPr sz="850">
                <a:solidFill>
                  <a:srgbClr val="262626"/>
                </a:solidFill>
                <a:latin typeface="Arial"/>
                <a:ea typeface="Arial"/>
                <a:cs typeface="Arial"/>
              </a:rPr>
              <a:t>Stability · transport · mechanics</a:t>
            </a:r>
            <a:endParaRPr sz="1050"/>
          </a:p>
        </p:txBody>
      </p:sp>
      <p:sp>
        <p:nvSpPr>
          <p:cNvPr id="22" name="Text 19">
            <a:extLst xmlns:a="http://schemas.openxmlformats.org/drawingml/2006/main">
              <a:ext uri="{FF2B5EF4-FFF2-40B4-BE49-F238E27FC236}">
                <a16:creationId xmlns:a16="http://schemas.microsoft.com/office/drawing/2014/main" id="{7A54B8B5-C722-4BF6-8843-F7DE9DFA6D5B}"/>
              </a:ext>
            </a:extLst>
          </p:cNvPr>
          <p:cNvSpPr>
            <a:spLocks xmlns:a="http://schemas.openxmlformats.org/drawingml/2006/main" noGrp="1"/>
          </p:cNvSpPr>
          <p:nvPr/>
        </p:nvSpPr>
        <p:spPr>
          <a:xfrm xmlns:a="http://schemas.openxmlformats.org/drawingml/2006/main">
            <a:off x="137160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91
</a:t>
            </a:r>
            <a:endParaRPr sz="3000"/>
          </a:p>
          <a:p xmlns:a="http://schemas.openxmlformats.org/drawingml/2006/main">
            <a:pPr marL="0" indent="0" algn="ctr">
              <a:buNone/>
            </a:pPr>
            <a:r>
              <a:rPr sz="1000">
                <a:solidFill>
                  <a:srgbClr val="7F7F7F"/>
                </a:solidFill>
                <a:latin typeface="Arial"/>
                <a:ea typeface="Arial"/>
                <a:cs typeface="Arial"/>
              </a:rPr>
              <a:t>curated compounds</a:t>
            </a:r>
            <a:endParaRPr sz="3000"/>
          </a:p>
        </p:txBody>
      </p:sp>
      <p:sp>
        <p:nvSpPr>
          <p:cNvPr id="23" name="Text 20">
            <a:extLst xmlns:a="http://schemas.openxmlformats.org/drawingml/2006/main">
              <a:ext uri="{FF2B5EF4-FFF2-40B4-BE49-F238E27FC236}">
                <a16:creationId xmlns:a16="http://schemas.microsoft.com/office/drawing/2014/main" id="{AEF5C30D-18B9-4AF5-A32F-A641BBAEF39A}"/>
              </a:ext>
            </a:extLst>
          </p:cNvPr>
          <p:cNvSpPr>
            <a:spLocks xmlns:a="http://schemas.openxmlformats.org/drawingml/2006/main" noGrp="1"/>
          </p:cNvSpPr>
          <p:nvPr/>
        </p:nvSpPr>
        <p:spPr>
          <a:xfrm xmlns:a="http://schemas.openxmlformats.org/drawingml/2006/main">
            <a:off x="306324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4" name="Text 21">
            <a:extLst xmlns:a="http://schemas.openxmlformats.org/drawingml/2006/main">
              <a:ext uri="{FF2B5EF4-FFF2-40B4-BE49-F238E27FC236}">
                <a16:creationId xmlns:a16="http://schemas.microsoft.com/office/drawing/2014/main" id="{EA1C6655-1CEC-4E5D-A05D-E83D2D1500EE}"/>
              </a:ext>
            </a:extLst>
          </p:cNvPr>
          <p:cNvSpPr>
            <a:spLocks xmlns:a="http://schemas.openxmlformats.org/drawingml/2006/main" noGrp="1"/>
          </p:cNvSpPr>
          <p:nvPr/>
        </p:nvSpPr>
        <p:spPr>
          <a:xfrm xmlns:a="http://schemas.openxmlformats.org/drawingml/2006/main">
            <a:off x="374904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3
</a:t>
            </a:r>
            <a:endParaRPr sz="3000"/>
          </a:p>
          <a:p xmlns:a="http://schemas.openxmlformats.org/drawingml/2006/main">
            <a:pPr marL="0" indent="0" algn="ctr">
              <a:buNone/>
            </a:pPr>
            <a:r>
              <a:rPr sz="1000">
                <a:solidFill>
                  <a:srgbClr val="7F7F7F"/>
                </a:solidFill>
                <a:latin typeface="Arial"/>
                <a:ea typeface="Arial"/>
                <a:cs typeface="Arial"/>
              </a:rPr>
              <a:t>campaign labels</a:t>
            </a:r>
            <a:endParaRPr sz="3000"/>
          </a:p>
        </p:txBody>
      </p:sp>
      <p:sp>
        <p:nvSpPr>
          <p:cNvPr id="25" name="Text 22">
            <a:extLst xmlns:a="http://schemas.openxmlformats.org/drawingml/2006/main">
              <a:ext uri="{FF2B5EF4-FFF2-40B4-BE49-F238E27FC236}">
                <a16:creationId xmlns:a16="http://schemas.microsoft.com/office/drawing/2014/main" id="{D7E37EEC-EACA-4924-BF8C-D600B44A78EB}"/>
              </a:ext>
            </a:extLst>
          </p:cNvPr>
          <p:cNvSpPr>
            <a:spLocks xmlns:a="http://schemas.openxmlformats.org/drawingml/2006/main" noGrp="1"/>
          </p:cNvSpPr>
          <p:nvPr/>
        </p:nvSpPr>
        <p:spPr>
          <a:xfrm xmlns:a="http://schemas.openxmlformats.org/drawingml/2006/main">
            <a:off x="544068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6" name="Text 23">
            <a:extLst xmlns:a="http://schemas.openxmlformats.org/drawingml/2006/main">
              <a:ext uri="{FF2B5EF4-FFF2-40B4-BE49-F238E27FC236}">
                <a16:creationId xmlns:a16="http://schemas.microsoft.com/office/drawing/2014/main" id="{0DC9B62E-3173-46DD-8F54-0D1D6EDBF64F}"/>
              </a:ext>
            </a:extLst>
          </p:cNvPr>
          <p:cNvSpPr>
            <a:spLocks xmlns:a="http://schemas.openxmlformats.org/drawingml/2006/main" noGrp="1"/>
          </p:cNvSpPr>
          <p:nvPr/>
        </p:nvSpPr>
        <p:spPr>
          <a:xfrm xmlns:a="http://schemas.openxmlformats.org/drawingml/2006/main">
            <a:off x="612648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273
</a:t>
            </a:r>
            <a:endParaRPr sz="3000"/>
          </a:p>
          <a:p xmlns:a="http://schemas.openxmlformats.org/drawingml/2006/main">
            <a:pPr marL="0" indent="0" algn="ctr">
              <a:buNone/>
            </a:pPr>
            <a:r>
              <a:rPr sz="1000">
                <a:solidFill>
                  <a:srgbClr val="7F7F7F"/>
                </a:solidFill>
                <a:latin typeface="Arial"/>
                <a:ea typeface="Arial"/>
                <a:cs typeface="Arial"/>
              </a:rPr>
              <a:t>campaign run slots</a:t>
            </a:r>
            <a:endParaRPr sz="3000"/>
          </a:p>
        </p:txBody>
      </p:sp>
      <p:sp>
        <p:nvSpPr>
          <p:cNvPr id="27" name="Text 24">
            <a:extLst xmlns:a="http://schemas.openxmlformats.org/drawingml/2006/main">
              <a:ext uri="{FF2B5EF4-FFF2-40B4-BE49-F238E27FC236}">
                <a16:creationId xmlns:a16="http://schemas.microsoft.com/office/drawing/2014/main" id="{B93B872A-B0B7-4DF4-9846-22940A58B018}"/>
              </a:ext>
            </a:extLst>
          </p:cNvPr>
          <p:cNvSpPr>
            <a:spLocks xmlns:a="http://schemas.openxmlformats.org/drawingml/2006/main" noGrp="1"/>
          </p:cNvSpPr>
          <p:nvPr/>
        </p:nvSpPr>
        <p:spPr>
          <a:xfrm xmlns:a="http://schemas.openxmlformats.org/drawingml/2006/main">
            <a:off x="548640" y="58064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Element labels alone do not predict the effect.</a:t>
            </a:r>
            <a:endParaRPr sz="1250"/>
          </a:p>
        </p:txBody>
      </p:sp>
      <p:sp>
        <p:nvSpPr>
          <p:cNvPr id="28" name="Text 25">
            <a:extLst xmlns:a="http://schemas.openxmlformats.org/drawingml/2006/main">
              <a:ext uri="{FF2B5EF4-FFF2-40B4-BE49-F238E27FC236}">
                <a16:creationId xmlns:a16="http://schemas.microsoft.com/office/drawing/2014/main" id="{BF3C45F8-274D-4BF8-AD4E-2A2F776ED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nominal campaign labels</a:t>
            </a:r>
            <a:endParaRPr sz="750"/>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3CF449-9863-48AF-947B-8D6042F59E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2282056-D440-4D9E-B7D4-F71B6CFFC0D8}"/>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Decision architecture</a:t>
            </a:r>
            <a:endParaRPr sz="900"/>
          </a:p>
        </p:txBody>
      </p:sp>
      <p:sp>
        <p:nvSpPr>
          <p:cNvPr id="4" name="Shape 2">
            <a:extLst xmlns:a="http://schemas.openxmlformats.org/drawingml/2006/main">
              <a:ext uri="{FF2B5EF4-FFF2-40B4-BE49-F238E27FC236}">
                <a16:creationId xmlns:a16="http://schemas.microsoft.com/office/drawing/2014/main" id="{DF530593-B14F-4065-8E8F-AD73ADE969A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276EE3CF-B0B4-4BC3-8C8E-BC708810980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B0027D6-2C77-4A0A-A7FC-B0699DDEBEC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cascade spends precision only where it matters</a:t>
            </a:r>
            <a:endParaRPr sz="1400"/>
          </a:p>
        </p:txBody>
      </p:sp>
      <p:sp>
        <p:nvSpPr>
          <p:cNvPr id="7" name="Text 5">
            <a:extLst xmlns:a="http://schemas.openxmlformats.org/drawingml/2006/main">
              <a:ext uri="{FF2B5EF4-FFF2-40B4-BE49-F238E27FC236}">
                <a16:creationId xmlns:a16="http://schemas.microsoft.com/office/drawing/2014/main" id="{B9DC03C2-4478-4735-9512-47922EFC11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2C0D4973-F9A9-4C4B-9535-908EC1EE1CC1}"/>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AD92424-59BD-4CA4-8983-176A7D1CB8E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4</a:t>
            </a:r>
            <a:endParaRPr sz="900"/>
          </a:p>
        </p:txBody>
      </p:sp>
      <p:sp>
        <p:nvSpPr>
          <p:cNvPr id="11" name="Shape 8">
            <a:extLst xmlns:a="http://schemas.openxmlformats.org/drawingml/2006/main">
              <a:ext uri="{FF2B5EF4-FFF2-40B4-BE49-F238E27FC236}">
                <a16:creationId xmlns:a16="http://schemas.microsoft.com/office/drawing/2014/main" id="{AE674553-883A-4F60-8F4A-A605E2359902}"/>
              </a:ext>
            </a:extLst>
          </p:cNvPr>
          <p:cNvSpPr>
            <a:spLocks xmlns:a="http://schemas.openxmlformats.org/drawingml/2006/main" noGrp="1"/>
          </p:cNvSpPr>
          <p:nvPr/>
        </p:nvSpPr>
        <p:spPr>
          <a:xfrm xmlns:a="http://schemas.openxmlformats.org/drawingml/2006/main">
            <a:off x="914400" y="150876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4F71CF82-111B-4C67-A145-F5D104273B2E}"/>
              </a:ext>
            </a:extLst>
          </p:cNvPr>
          <p:cNvSpPr>
            <a:spLocks xmlns:a="http://schemas.openxmlformats.org/drawingml/2006/main" noGrp="1"/>
          </p:cNvSpPr>
          <p:nvPr/>
        </p:nvSpPr>
        <p:spPr>
          <a:xfrm xmlns:a="http://schemas.openxmlformats.org/drawingml/2006/main">
            <a:off x="1097280" y="173736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1  CURATE</a:t>
            </a:r>
            <a:endParaRPr sz="1150"/>
          </a:p>
        </p:txBody>
      </p:sp>
      <p:sp>
        <p:nvSpPr>
          <p:cNvPr id="13" name="Text 10">
            <a:extLst xmlns:a="http://schemas.openxmlformats.org/drawingml/2006/main">
              <a:ext uri="{FF2B5EF4-FFF2-40B4-BE49-F238E27FC236}">
                <a16:creationId xmlns:a16="http://schemas.microsoft.com/office/drawing/2014/main" id="{C9F31CAA-9F0A-478D-8BA3-3149E58D1418}"/>
              </a:ext>
            </a:extLst>
          </p:cNvPr>
          <p:cNvSpPr>
            <a:spLocks xmlns:a="http://schemas.openxmlformats.org/drawingml/2006/main" noGrp="1"/>
          </p:cNvSpPr>
          <p:nvPr/>
        </p:nvSpPr>
        <p:spPr>
          <a:xfrm xmlns:a="http://schemas.openxmlformats.org/drawingml/2006/main">
            <a:off x="3108960" y="161848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Chemical priors</a:t>
            </a:r>
            <a:endParaRPr sz="950"/>
          </a:p>
          <a:p xmlns:a="http://schemas.openxmlformats.org/drawingml/2006/main">
            <a:pPr marL="0" indent="0" algn="ctr">
              <a:buNone/>
            </a:pPr>
            <a:r>
              <a:rPr sz="950">
                <a:solidFill>
                  <a:srgbClr val="262626"/>
                </a:solidFill>
                <a:latin typeface="Arial"/>
                <a:ea typeface="Arial"/>
                <a:cs typeface="Arial"/>
              </a:rPr>
              <a:t>Literature and database</a:t>
            </a:r>
            <a:endParaRPr sz="950"/>
          </a:p>
        </p:txBody>
      </p:sp>
      <p:sp>
        <p:nvSpPr>
          <p:cNvPr id="14" name="Shape 11">
            <a:extLst xmlns:a="http://schemas.openxmlformats.org/drawingml/2006/main">
              <a:ext uri="{FF2B5EF4-FFF2-40B4-BE49-F238E27FC236}">
                <a16:creationId xmlns:a16="http://schemas.microsoft.com/office/drawing/2014/main" id="{C230B301-BC32-4248-909A-B95343444656}"/>
              </a:ext>
            </a:extLst>
          </p:cNvPr>
          <p:cNvSpPr>
            <a:spLocks xmlns:a="http://schemas.openxmlformats.org/drawingml/2006/main" noGrp="1"/>
          </p:cNvSpPr>
          <p:nvPr/>
        </p:nvSpPr>
        <p:spPr>
          <a:xfrm xmlns:a="http://schemas.openxmlformats.org/drawingml/2006/main">
            <a:off x="1417320" y="246888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B72A3805-A679-4F00-841F-8DFACC8041DB}"/>
              </a:ext>
            </a:extLst>
          </p:cNvPr>
          <p:cNvSpPr>
            <a:spLocks xmlns:a="http://schemas.openxmlformats.org/drawingml/2006/main" noGrp="1"/>
          </p:cNvSpPr>
          <p:nvPr/>
        </p:nvSpPr>
        <p:spPr>
          <a:xfrm xmlns:a="http://schemas.openxmlformats.org/drawingml/2006/main">
            <a:off x="1600200" y="26974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2  SCREEN</a:t>
            </a:r>
            <a:endParaRPr sz="1150"/>
          </a:p>
        </p:txBody>
      </p:sp>
      <p:sp>
        <p:nvSpPr>
          <p:cNvPr id="16" name="Text 13">
            <a:extLst xmlns:a="http://schemas.openxmlformats.org/drawingml/2006/main">
              <a:ext uri="{FF2B5EF4-FFF2-40B4-BE49-F238E27FC236}">
                <a16:creationId xmlns:a16="http://schemas.microsoft.com/office/drawing/2014/main" id="{2F40484E-FA00-4E93-8723-0EA5ED7983B9}"/>
              </a:ext>
            </a:extLst>
          </p:cNvPr>
          <p:cNvSpPr>
            <a:spLocks xmlns:a="http://schemas.openxmlformats.org/drawingml/2006/main" noGrp="1"/>
          </p:cNvSpPr>
          <p:nvPr/>
        </p:nvSpPr>
        <p:spPr>
          <a:xfrm xmlns:a="http://schemas.openxmlformats.org/drawingml/2006/main">
            <a:off x="3611880" y="257860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Same-protocol MLIP</a:t>
            </a:r>
            <a:endParaRPr sz="950"/>
          </a:p>
          <a:p xmlns:a="http://schemas.openxmlformats.org/drawingml/2006/main">
            <a:pPr marL="0" indent="0" algn="ctr">
              <a:buNone/>
            </a:pPr>
            <a:r>
              <a:rPr sz="950">
                <a:solidFill>
                  <a:srgbClr val="262626"/>
                </a:solidFill>
                <a:latin typeface="Arial"/>
                <a:ea typeface="Arial"/>
                <a:cs typeface="Arial"/>
              </a:rPr>
              <a:t>and low-cost proxies</a:t>
            </a:r>
            <a:endParaRPr sz="950"/>
          </a:p>
        </p:txBody>
      </p:sp>
      <p:sp>
        <p:nvSpPr>
          <p:cNvPr id="17" name="Shape 14">
            <a:extLst xmlns:a="http://schemas.openxmlformats.org/drawingml/2006/main">
              <a:ext uri="{FF2B5EF4-FFF2-40B4-BE49-F238E27FC236}">
                <a16:creationId xmlns:a16="http://schemas.microsoft.com/office/drawing/2014/main" id="{F5F0BD56-E3C9-4F36-A9C1-8E7EE865386A}"/>
              </a:ext>
            </a:extLst>
          </p:cNvPr>
          <p:cNvSpPr>
            <a:spLocks xmlns:a="http://schemas.openxmlformats.org/drawingml/2006/main" noGrp="1"/>
          </p:cNvSpPr>
          <p:nvPr/>
        </p:nvSpPr>
        <p:spPr>
          <a:xfrm xmlns:a="http://schemas.openxmlformats.org/drawingml/2006/main">
            <a:off x="1920240" y="3429000"/>
            <a:ext cx="6035040" cy="822960"/>
          </a:xfrm>
          <a:prstGeom xmlns:a="http://schemas.openxmlformats.org/drawingml/2006/main" prst="roundRect">
            <a:avLst>
              <a:gd name="adj" fmla="val 7778"/>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BA49494F-6872-46EA-A864-4BDB16BE6A36}"/>
              </a:ext>
            </a:extLst>
          </p:cNvPr>
          <p:cNvSpPr>
            <a:spLocks xmlns:a="http://schemas.openxmlformats.org/drawingml/2006/main" noGrp="1"/>
          </p:cNvSpPr>
          <p:nvPr/>
        </p:nvSpPr>
        <p:spPr>
          <a:xfrm xmlns:a="http://schemas.openxmlformats.org/drawingml/2006/main">
            <a:off x="2103120" y="365760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B26A00"/>
                </a:solidFill>
                <a:latin typeface="Arial"/>
                <a:ea typeface="Arial"/>
                <a:cs typeface="Arial"/>
              </a:rPr>
              <a:t>3  GATE</a:t>
            </a:r>
            <a:endParaRPr sz="1150"/>
          </a:p>
        </p:txBody>
      </p:sp>
      <p:sp>
        <p:nvSpPr>
          <p:cNvPr id="19" name="Text 16">
            <a:extLst xmlns:a="http://schemas.openxmlformats.org/drawingml/2006/main">
              <a:ext uri="{FF2B5EF4-FFF2-40B4-BE49-F238E27FC236}">
                <a16:creationId xmlns:a16="http://schemas.microsoft.com/office/drawing/2014/main" id="{AF178B50-B07B-4B75-85F3-6BAEACAD5E41}"/>
              </a:ext>
            </a:extLst>
          </p:cNvPr>
          <p:cNvSpPr>
            <a:spLocks xmlns:a="http://schemas.openxmlformats.org/drawingml/2006/main" noGrp="1"/>
          </p:cNvSpPr>
          <p:nvPr/>
        </p:nvSpPr>
        <p:spPr>
          <a:xfrm xmlns:a="http://schemas.openxmlformats.org/drawingml/2006/main">
            <a:off x="4114800" y="353872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Reject physically</a:t>
            </a:r>
            <a:endParaRPr sz="950"/>
          </a:p>
          <a:p xmlns:a="http://schemas.openxmlformats.org/drawingml/2006/main">
            <a:pPr marL="0" indent="0" algn="ctr">
              <a:buNone/>
            </a:pPr>
            <a:r>
              <a:rPr sz="950">
                <a:solidFill>
                  <a:srgbClr val="262626"/>
                </a:solidFill>
                <a:latin typeface="Arial"/>
                <a:ea typeface="Arial"/>
                <a:cs typeface="Arial"/>
              </a:rPr>
              <a:t>unsafe candidates</a:t>
            </a:r>
            <a:endParaRPr sz="950"/>
          </a:p>
        </p:txBody>
      </p:sp>
      <p:sp>
        <p:nvSpPr>
          <p:cNvPr id="20" name="Shape 17">
            <a:extLst xmlns:a="http://schemas.openxmlformats.org/drawingml/2006/main">
              <a:ext uri="{FF2B5EF4-FFF2-40B4-BE49-F238E27FC236}">
                <a16:creationId xmlns:a16="http://schemas.microsoft.com/office/drawing/2014/main" id="{E34E7CD7-8E13-4A9F-9260-22BA71FC4F71}"/>
              </a:ext>
            </a:extLst>
          </p:cNvPr>
          <p:cNvSpPr>
            <a:spLocks xmlns:a="http://schemas.openxmlformats.org/drawingml/2006/main" noGrp="1"/>
          </p:cNvSpPr>
          <p:nvPr/>
        </p:nvSpPr>
        <p:spPr>
          <a:xfrm xmlns:a="http://schemas.openxmlformats.org/drawingml/2006/main">
            <a:off x="2423160" y="4389120"/>
            <a:ext cx="6035040" cy="822960"/>
          </a:xfrm>
          <a:prstGeom xmlns:a="http://schemas.openxmlformats.org/drawingml/2006/main" prst="roundRect">
            <a:avLst>
              <a:gd name="adj" fmla="val 7778"/>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44A26592-AF79-4C31-B668-04110C3EED93}"/>
              </a:ext>
            </a:extLst>
          </p:cNvPr>
          <p:cNvSpPr>
            <a:spLocks xmlns:a="http://schemas.openxmlformats.org/drawingml/2006/main" noGrp="1"/>
          </p:cNvSpPr>
          <p:nvPr/>
        </p:nvSpPr>
        <p:spPr>
          <a:xfrm xmlns:a="http://schemas.openxmlformats.org/drawingml/2006/main">
            <a:off x="2606040" y="461772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E7D32"/>
                </a:solidFill>
                <a:latin typeface="Arial"/>
                <a:ea typeface="Arial"/>
                <a:cs typeface="Arial"/>
              </a:rPr>
              <a:t>4  VALIDATE</a:t>
            </a:r>
            <a:endParaRPr sz="1150"/>
          </a:p>
        </p:txBody>
      </p:sp>
      <p:sp>
        <p:nvSpPr>
          <p:cNvPr id="22" name="Text 19">
            <a:extLst xmlns:a="http://schemas.openxmlformats.org/drawingml/2006/main">
              <a:ext uri="{FF2B5EF4-FFF2-40B4-BE49-F238E27FC236}">
                <a16:creationId xmlns:a16="http://schemas.microsoft.com/office/drawing/2014/main" id="{71829581-36BE-497F-ADDE-AE15048B360A}"/>
              </a:ext>
            </a:extLst>
          </p:cNvPr>
          <p:cNvSpPr>
            <a:spLocks xmlns:a="http://schemas.openxmlformats.org/drawingml/2006/main" noGrp="1"/>
          </p:cNvSpPr>
          <p:nvPr/>
        </p:nvSpPr>
        <p:spPr>
          <a:xfrm xmlns:a="http://schemas.openxmlformats.org/drawingml/2006/main">
            <a:off x="4617720" y="449884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Targeted DFT</a:t>
            </a:r>
            <a:endParaRPr sz="950"/>
          </a:p>
          <a:p xmlns:a="http://schemas.openxmlformats.org/drawingml/2006/main">
            <a:pPr marL="0" indent="0" algn="ctr">
              <a:buNone/>
            </a:pPr>
            <a:r>
              <a:rPr sz="950">
                <a:solidFill>
                  <a:srgbClr val="262626"/>
                </a:solidFill>
                <a:latin typeface="Arial"/>
                <a:ea typeface="Arial"/>
                <a:cs typeface="Arial"/>
              </a:rPr>
              <a:t>and experiment</a:t>
            </a:r>
            <a:endParaRPr sz="950"/>
          </a:p>
        </p:txBody>
      </p:sp>
      <p:sp>
        <p:nvSpPr>
          <p:cNvPr id="23" name="Text 20">
            <a:extLst xmlns:a="http://schemas.openxmlformats.org/drawingml/2006/main">
              <a:ext uri="{FF2B5EF4-FFF2-40B4-BE49-F238E27FC236}">
                <a16:creationId xmlns:a16="http://schemas.microsoft.com/office/drawing/2014/main" id="{C1B39F3F-D14C-4F88-A993-761A1D444B74}"/>
              </a:ext>
            </a:extLst>
          </p:cNvPr>
          <p:cNvSpPr>
            <a:spLocks xmlns:a="http://schemas.openxmlformats.org/drawingml/2006/main" noGrp="1"/>
          </p:cNvSpPr>
          <p:nvPr/>
        </p:nvSpPr>
        <p:spPr>
          <a:xfrm xmlns:a="http://schemas.openxmlformats.org/drawingml/2006/main">
            <a:off x="502920" y="201168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Candidate count ↓</a:t>
            </a:r>
            <a:endParaRPr sz="1000"/>
          </a:p>
        </p:txBody>
      </p:sp>
      <p:sp>
        <p:nvSpPr>
          <p:cNvPr id="24" name="Text 21">
            <a:extLst xmlns:a="http://schemas.openxmlformats.org/drawingml/2006/main">
              <a:ext uri="{FF2B5EF4-FFF2-40B4-BE49-F238E27FC236}">
                <a16:creationId xmlns:a16="http://schemas.microsoft.com/office/drawing/2014/main" id="{6F487DDC-97DA-4A80-911F-2D92BAAC1995}"/>
              </a:ext>
            </a:extLst>
          </p:cNvPr>
          <p:cNvSpPr>
            <a:spLocks xmlns:a="http://schemas.openxmlformats.org/drawingml/2006/main" noGrp="1"/>
          </p:cNvSpPr>
          <p:nvPr/>
        </p:nvSpPr>
        <p:spPr>
          <a:xfrm xmlns:a="http://schemas.openxmlformats.org/drawingml/2006/main">
            <a:off x="7315200" y="402336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Cost and precision ↑</a:t>
            </a:r>
            <a:endParaRPr sz="1000"/>
          </a:p>
        </p:txBody>
      </p:sp>
      <p:sp>
        <p:nvSpPr>
          <p:cNvPr id="25" name="Text 22">
            <a:extLst xmlns:a="http://schemas.openxmlformats.org/drawingml/2006/main">
              <a:ext uri="{FF2B5EF4-FFF2-40B4-BE49-F238E27FC236}">
                <a16:creationId xmlns:a16="http://schemas.microsoft.com/office/drawing/2014/main" id="{227E5D1C-DD43-4D95-9CC9-AE36665294FA}"/>
              </a:ext>
            </a:extLst>
          </p:cNvPr>
          <p:cNvSpPr>
            <a:spLocks xmlns:a="http://schemas.openxmlformats.org/drawingml/2006/main" noGrp="1"/>
          </p:cNvSpPr>
          <p:nvPr/>
        </p:nvSpPr>
        <p:spPr>
          <a:xfrm xmlns:a="http://schemas.openxmlformats.org/drawingml/2006/main">
            <a:off x="548640" y="5486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Cheap models set the order; physics and experiments decide.</a:t>
            </a:r>
            <a:endParaRPr sz="1250"/>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0EB969-5665-429B-A1CC-356FDC4884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6E17B6C-25EF-4850-9E3C-C3BFFC71D92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Pool provenance · versioned lineage</a:t>
            </a:r>
            <a:endParaRPr sz="900"/>
          </a:p>
        </p:txBody>
      </p:sp>
      <p:sp>
        <p:nvSpPr>
          <p:cNvPr id="4" name="Shape 2">
            <a:extLst xmlns:a="http://schemas.openxmlformats.org/drawingml/2006/main">
              <a:ext uri="{FF2B5EF4-FFF2-40B4-BE49-F238E27FC236}">
                <a16:creationId xmlns:a16="http://schemas.microsoft.com/office/drawing/2014/main" id="{FE0A4F51-6229-4832-A612-7238118AA85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B3DD79A6-7B57-4554-8F3F-34A3D98C333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EA6F51EB-A548-4D3E-A559-2144E70C9F5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19B96FDF-5C66-4670-8A07-F8FCA6A47AF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5</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314d99f919f54af4"/>
          <a:srcRect xmlns:a="http://schemas.openxmlformats.org/drawingml/2006/main" l="0" t="0" r="0" b="0"/>
          <a:stretch xmlns:a="http://schemas.openxmlformats.org/drawingml/2006/main"/>
        </p:blipFill>
        <p:spPr>
          <a:xfrm xmlns:a="http://schemas.openxmlformats.org/drawingml/2006/main">
            <a:off x="640080" y="1143000"/>
            <a:ext cx="7863840" cy="434340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01D4959-9C6D-4089-BDFF-73BCD25B8753}"/>
              </a:ext>
            </a:extLst>
          </p:cNvPr>
          <p:cNvSpPr>
            <a:spLocks xmlns:a="http://schemas.openxmlformats.org/drawingml/2006/main" noGrp="1"/>
          </p:cNvSpPr>
          <p:nvPr/>
        </p:nvSpPr>
        <p:spPr>
          <a:xfrm xmlns:a="http://schemas.openxmlformats.org/drawingml/2006/main">
            <a:off x="640080" y="551383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Roster: 91 species × 3 nominal labels = 273 attempted slots  |  Snapshot: 47 species × 3 = 141 ingested records</a:t>
            </a:r>
            <a:endParaRPr sz="850"/>
          </a:p>
        </p:txBody>
      </p:sp>
      <p:sp>
        <p:nvSpPr>
          <p:cNvPr id="11" name="Text 7">
            <a:extLst xmlns:a="http://schemas.openxmlformats.org/drawingml/2006/main">
              <a:ext uri="{FF2B5EF4-FFF2-40B4-BE49-F238E27FC236}">
                <a16:creationId xmlns:a16="http://schemas.microsoft.com/office/drawing/2014/main" id="{0CCD103C-784C-4F69-8D49-9E649B71813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DB readiness audit</a:t>
            </a:r>
            <a:endParaRPr sz="750"/>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C746F5-2F01-4808-A695-F38D8740670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Pipeline</a:t>
            </a:r>
            <a:endParaRPr sz="2800"/>
          </a:p>
        </p:txBody>
      </p:sp>
      <p:sp>
        <p:nvSpPr>
          <p:cNvPr id="3" name="Text 1">
            <a:extLst xmlns:a="http://schemas.openxmlformats.org/drawingml/2006/main">
              <a:ext uri="{FF2B5EF4-FFF2-40B4-BE49-F238E27FC236}">
                <a16:creationId xmlns:a16="http://schemas.microsoft.com/office/drawing/2014/main" id="{A20AC99F-FEC6-47F2-9025-D73DC74BBFB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Same protocol within each tier</a:t>
            </a:r>
            <a:endParaRPr sz="900"/>
          </a:p>
        </p:txBody>
      </p:sp>
      <p:sp>
        <p:nvSpPr>
          <p:cNvPr id="4" name="Shape 2">
            <a:extLst xmlns:a="http://schemas.openxmlformats.org/drawingml/2006/main">
              <a:ext uri="{FF2B5EF4-FFF2-40B4-BE49-F238E27FC236}">
                <a16:creationId xmlns:a16="http://schemas.microsoft.com/office/drawing/2014/main" id="{91B7FBBE-B372-4172-9EB3-6AB5F720CB3B}"/>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204D3ED-1D64-4591-9B76-CD6D72FB1D06}"/>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5DAE349-057A-4922-98E7-E963C1D7B69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Search, validation, and interpretation are different jobs</a:t>
            </a:r>
            <a:endParaRPr sz="1400"/>
          </a:p>
        </p:txBody>
      </p:sp>
      <p:sp>
        <p:nvSpPr>
          <p:cNvPr id="7" name="Text 5">
            <a:extLst xmlns:a="http://schemas.openxmlformats.org/drawingml/2006/main">
              <a:ext uri="{FF2B5EF4-FFF2-40B4-BE49-F238E27FC236}">
                <a16:creationId xmlns:a16="http://schemas.microsoft.com/office/drawing/2014/main" id="{AFC85589-3CA1-4793-88A9-31D929186B12}"/>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1D0A5755-315F-487B-B253-624721BBDC9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E09D2F29-9417-4F4F-82BF-8E912469B85E}"/>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6</a:t>
            </a:r>
            <a:endParaRPr sz="900"/>
          </a:p>
        </p:txBody>
      </p:sp>
      <p:sp>
        <p:nvSpPr>
          <p:cNvPr id="11" name="Shape 8">
            <a:extLst xmlns:a="http://schemas.openxmlformats.org/drawingml/2006/main">
              <a:ext uri="{FF2B5EF4-FFF2-40B4-BE49-F238E27FC236}">
                <a16:creationId xmlns:a16="http://schemas.microsoft.com/office/drawing/2014/main" id="{1A7822A7-2BB8-4BE0-A7D3-F2382F511F71}"/>
              </a:ext>
            </a:extLst>
          </p:cNvPr>
          <p:cNvSpPr>
            <a:spLocks xmlns:a="http://schemas.openxmlformats.org/drawingml/2006/main" noGrp="1"/>
          </p:cNvSpPr>
          <p:nvPr/>
        </p:nvSpPr>
        <p:spPr>
          <a:xfrm xmlns:a="http://schemas.openxmlformats.org/drawingml/2006/main">
            <a:off x="640080" y="1645920"/>
            <a:ext cx="1920240" cy="1828800"/>
          </a:xfrm>
          <a:prstGeom xmlns:a="http://schemas.openxmlformats.org/drawingml/2006/main" prst="roundRect">
            <a:avLst>
              <a:gd name="adj" fmla="val 3500"/>
            </a:avLst>
          </a:prstGeom>
          <a:solidFill xmlns:a="http://schemas.openxmlformats.org/drawingml/2006/main">
            <a:srgbClr val="F2F2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B6AB3A90-3CD2-4F6D-B822-1BEA60134A21}"/>
              </a:ext>
            </a:extLst>
          </p:cNvPr>
          <p:cNvSpPr>
            <a:spLocks xmlns:a="http://schemas.openxmlformats.org/drawingml/2006/main" noGrp="1"/>
          </p:cNvSpPr>
          <p:nvPr/>
        </p:nvSpPr>
        <p:spPr>
          <a:xfrm xmlns:a="http://schemas.openxmlformats.org/drawingml/2006/main">
            <a:off x="749808"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L0  </a:t>
            </a:r>
            <a:r>
              <a:rPr sz="1000" b="1">
                <a:solidFill>
                  <a:srgbClr val="1F4E79"/>
                </a:solidFill>
                <a:latin typeface="Arial"/>
                <a:ea typeface="Arial"/>
                <a:cs typeface="Arial"/>
              </a:rPr>
              <a:t>CURATED INPUT
</a:t>
            </a:r>
            <a:endParaRPr sz="1300"/>
          </a:p>
          <a:p xmlns:a="http://schemas.openxmlformats.org/drawingml/2006/main">
            <a:pPr marL="0" indent="0">
              <a:buNone/>
            </a:pPr>
            <a:r>
              <a:rPr sz="850">
                <a:solidFill>
                  <a:srgbClr val="262626"/>
                </a:solidFill>
                <a:latin typeface="Arial"/>
                <a:ea typeface="Arial"/>
                <a:cs typeface="Arial"/>
              </a:rPr>
              <a:t>Composition · concentration</a:t>
            </a:r>
            <a:endParaRPr sz="1300"/>
          </a:p>
          <a:p xmlns:a="http://schemas.openxmlformats.org/drawingml/2006/main">
            <a:pPr marL="0" indent="0">
              <a:buNone/>
            </a:pPr>
            <a:r>
              <a:rPr sz="850">
                <a:solidFill>
                  <a:srgbClr val="262626"/>
                </a:solidFill>
                <a:latin typeface="Arial"/>
                <a:ea typeface="Arial"/>
                <a:cs typeface="Arial"/>
              </a:rPr>
              <a:t>configuration · provenance</a:t>
            </a:r>
            <a:endParaRPr sz="1300"/>
          </a:p>
        </p:txBody>
      </p:sp>
      <p:sp>
        <p:nvSpPr>
          <p:cNvPr id="13" name="Shape 10">
            <a:extLst xmlns:a="http://schemas.openxmlformats.org/drawingml/2006/main">
              <a:ext uri="{FF2B5EF4-FFF2-40B4-BE49-F238E27FC236}">
                <a16:creationId xmlns:a16="http://schemas.microsoft.com/office/drawing/2014/main" id="{1BD78D74-7443-4A64-98F5-3353F682261C}"/>
              </a:ext>
            </a:extLst>
          </p:cNvPr>
          <p:cNvSpPr>
            <a:spLocks xmlns:a="http://schemas.openxmlformats.org/drawingml/2006/main" noGrp="1"/>
          </p:cNvSpPr>
          <p:nvPr/>
        </p:nvSpPr>
        <p:spPr>
          <a:xfrm xmlns:a="http://schemas.openxmlformats.org/drawingml/2006/main">
            <a:off x="2578608"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14" name="Shape 11">
            <a:extLst xmlns:a="http://schemas.openxmlformats.org/drawingml/2006/main">
              <a:ext uri="{FF2B5EF4-FFF2-40B4-BE49-F238E27FC236}">
                <a16:creationId xmlns:a16="http://schemas.microsoft.com/office/drawing/2014/main" id="{E9C53EBA-07AF-4376-8D43-AE25649D5372}"/>
              </a:ext>
            </a:extLst>
          </p:cNvPr>
          <p:cNvSpPr>
            <a:spLocks xmlns:a="http://schemas.openxmlformats.org/drawingml/2006/main" noGrp="1"/>
          </p:cNvSpPr>
          <p:nvPr/>
        </p:nvSpPr>
        <p:spPr>
          <a:xfrm xmlns:a="http://schemas.openxmlformats.org/drawingml/2006/main">
            <a:off x="2761488" y="1645920"/>
            <a:ext cx="1920240" cy="1828800"/>
          </a:xfrm>
          <a:prstGeom xmlns:a="http://schemas.openxmlformats.org/drawingml/2006/main" prst="roundRect">
            <a:avLst>
              <a:gd name="adj" fmla="val 3500"/>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9B44533F-6EA7-4503-B0B9-C2E28802670B}"/>
              </a:ext>
            </a:extLst>
          </p:cNvPr>
          <p:cNvSpPr>
            <a:spLocks xmlns:a="http://schemas.openxmlformats.org/drawingml/2006/main" noGrp="1"/>
          </p:cNvSpPr>
          <p:nvPr/>
        </p:nvSpPr>
        <p:spPr>
          <a:xfrm xmlns:a="http://schemas.openxmlformats.org/drawingml/2006/main">
            <a:off x="2871216"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L1  </a:t>
            </a:r>
            <a:r>
              <a:rPr sz="1000" b="1">
                <a:solidFill>
                  <a:srgbClr val="1F4E79"/>
                </a:solidFill>
                <a:latin typeface="Arial"/>
                <a:ea typeface="Arial"/>
                <a:cs typeface="Arial"/>
              </a:rPr>
              <a:t>LOW-COST SCREEN
</a:t>
            </a:r>
            <a:endParaRPr sz="1300"/>
          </a:p>
          <a:p xmlns:a="http://schemas.openxmlformats.org/drawingml/2006/main">
            <a:pPr marL="0" indent="0">
              <a:buNone/>
            </a:pPr>
            <a:r>
              <a:rPr sz="850">
                <a:solidFill>
                  <a:srgbClr val="262626"/>
                </a:solidFill>
                <a:latin typeface="Arial"/>
                <a:ea typeface="Arial"/>
                <a:cs typeface="Arial"/>
              </a:rPr>
              <a:t>UMA relaxation</a:t>
            </a:r>
            <a:endParaRPr sz="1300"/>
          </a:p>
          <a:p xmlns:a="http://schemas.openxmlformats.org/drawingml/2006/main">
            <a:pPr marL="0" indent="0">
              <a:buNone/>
            </a:pPr>
            <a:r>
              <a:rPr sz="850">
                <a:solidFill>
                  <a:srgbClr val="262626"/>
                </a:solidFill>
                <a:latin typeface="Arial"/>
                <a:ea typeface="Arial"/>
                <a:cs typeface="Arial"/>
              </a:rPr>
              <a:t>BVSE and derived axes</a:t>
            </a:r>
            <a:endParaRPr sz="1300"/>
          </a:p>
        </p:txBody>
      </p:sp>
      <p:sp>
        <p:nvSpPr>
          <p:cNvPr id="16" name="Shape 13">
            <a:extLst xmlns:a="http://schemas.openxmlformats.org/drawingml/2006/main">
              <a:ext uri="{FF2B5EF4-FFF2-40B4-BE49-F238E27FC236}">
                <a16:creationId xmlns:a16="http://schemas.microsoft.com/office/drawing/2014/main" id="{2849A620-4906-4377-898B-DBC4C9CEB14D}"/>
              </a:ext>
            </a:extLst>
          </p:cNvPr>
          <p:cNvSpPr>
            <a:spLocks xmlns:a="http://schemas.openxmlformats.org/drawingml/2006/main" noGrp="1"/>
          </p:cNvSpPr>
          <p:nvPr/>
        </p:nvSpPr>
        <p:spPr>
          <a:xfrm xmlns:a="http://schemas.openxmlformats.org/drawingml/2006/main">
            <a:off x="4700016"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3B5DBF8A-A669-4F93-871B-F93497E2FDFF}"/>
              </a:ext>
            </a:extLst>
          </p:cNvPr>
          <p:cNvSpPr>
            <a:spLocks xmlns:a="http://schemas.openxmlformats.org/drawingml/2006/main" noGrp="1"/>
          </p:cNvSpPr>
          <p:nvPr/>
        </p:nvSpPr>
        <p:spPr>
          <a:xfrm xmlns:a="http://schemas.openxmlformats.org/drawingml/2006/main">
            <a:off x="4882896" y="1645920"/>
            <a:ext cx="1920240" cy="1828800"/>
          </a:xfrm>
          <a:prstGeom xmlns:a="http://schemas.openxmlformats.org/drawingml/2006/main" prst="roundRect">
            <a:avLst>
              <a:gd name="adj" fmla="val 3500"/>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46D465AC-56B5-41E7-AB76-57D5252AA3B6}"/>
              </a:ext>
            </a:extLst>
          </p:cNvPr>
          <p:cNvSpPr>
            <a:spLocks xmlns:a="http://schemas.openxmlformats.org/drawingml/2006/main" noGrp="1"/>
          </p:cNvSpPr>
          <p:nvPr/>
        </p:nvSpPr>
        <p:spPr>
          <a:xfrm xmlns:a="http://schemas.openxmlformats.org/drawingml/2006/main">
            <a:off x="4992624"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L2  </a:t>
            </a:r>
            <a:r>
              <a:rPr sz="1000" b="1">
                <a:solidFill>
                  <a:srgbClr val="1F4E79"/>
                </a:solidFill>
                <a:latin typeface="Arial"/>
                <a:ea typeface="Arial"/>
                <a:cs typeface="Arial"/>
              </a:rPr>
              <a:t>MATCHED DFT
</a:t>
            </a:r>
            <a:endParaRPr sz="1300"/>
          </a:p>
          <a:p xmlns:a="http://schemas.openxmlformats.org/drawingml/2006/main">
            <a:pPr marL="0" indent="0">
              <a:buNone/>
            </a:pPr>
            <a:r>
              <a:rPr sz="850">
                <a:solidFill>
                  <a:srgbClr val="262626"/>
                </a:solidFill>
                <a:latin typeface="Arial"/>
                <a:ea typeface="Arial"/>
                <a:cs typeface="Arial"/>
              </a:rPr>
              <a:t>Selected candidates only</a:t>
            </a:r>
            <a:endParaRPr sz="1300"/>
          </a:p>
          <a:p xmlns:a="http://schemas.openxmlformats.org/drawingml/2006/main">
            <a:pPr marL="0" indent="0">
              <a:buNone/>
            </a:pPr>
            <a:r>
              <a:rPr sz="850">
                <a:solidFill>
                  <a:srgbClr val="262626"/>
                </a:solidFill>
                <a:latin typeface="Arial"/>
                <a:ea typeface="Arial"/>
                <a:cs typeface="Arial"/>
              </a:rPr>
              <a:t>energy · force · electronics</a:t>
            </a:r>
            <a:endParaRPr sz="1300"/>
          </a:p>
        </p:txBody>
      </p:sp>
      <p:sp>
        <p:nvSpPr>
          <p:cNvPr id="19" name="Shape 16">
            <a:extLst xmlns:a="http://schemas.openxmlformats.org/drawingml/2006/main">
              <a:ext uri="{FF2B5EF4-FFF2-40B4-BE49-F238E27FC236}">
                <a16:creationId xmlns:a16="http://schemas.microsoft.com/office/drawing/2014/main" id="{46E4797F-2B9B-4BD4-B1CB-597DCCD7783A}"/>
              </a:ext>
            </a:extLst>
          </p:cNvPr>
          <p:cNvSpPr>
            <a:spLocks xmlns:a="http://schemas.openxmlformats.org/drawingml/2006/main" noGrp="1"/>
          </p:cNvSpPr>
          <p:nvPr/>
        </p:nvSpPr>
        <p:spPr>
          <a:xfrm xmlns:a="http://schemas.openxmlformats.org/drawingml/2006/main">
            <a:off x="6821424"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70B2D9F7-2E69-4E1E-8D70-D1A2D4BCC089}"/>
              </a:ext>
            </a:extLst>
          </p:cNvPr>
          <p:cNvSpPr>
            <a:spLocks xmlns:a="http://schemas.openxmlformats.org/drawingml/2006/main" noGrp="1"/>
          </p:cNvSpPr>
          <p:nvPr/>
        </p:nvSpPr>
        <p:spPr>
          <a:xfrm xmlns:a="http://schemas.openxmlformats.org/drawingml/2006/main">
            <a:off x="7004304" y="1645920"/>
            <a:ext cx="1920240" cy="1828800"/>
          </a:xfrm>
          <a:prstGeom xmlns:a="http://schemas.openxmlformats.org/drawingml/2006/main" prst="roundRect">
            <a:avLst>
              <a:gd name="adj" fmla="val 3500"/>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E576009A-2788-40BB-B1B9-9E251233F17B}"/>
              </a:ext>
            </a:extLst>
          </p:cNvPr>
          <p:cNvSpPr>
            <a:spLocks xmlns:a="http://schemas.openxmlformats.org/drawingml/2006/main" noGrp="1"/>
          </p:cNvSpPr>
          <p:nvPr/>
        </p:nvSpPr>
        <p:spPr>
          <a:xfrm xmlns:a="http://schemas.openxmlformats.org/drawingml/2006/main">
            <a:off x="7114032"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L3  </a:t>
            </a:r>
            <a:r>
              <a:rPr sz="1000" b="1">
                <a:solidFill>
                  <a:srgbClr val="1F4E79"/>
                </a:solidFill>
                <a:latin typeface="Arial"/>
                <a:ea typeface="Arial"/>
                <a:cs typeface="Arial"/>
              </a:rPr>
              <a:t>EXPERIMENT
</a:t>
            </a:r>
            <a:endParaRPr sz="1300"/>
          </a:p>
          <a:p xmlns:a="http://schemas.openxmlformats.org/drawingml/2006/main">
            <a:pPr marL="0" indent="0">
              <a:buNone/>
            </a:pPr>
            <a:r>
              <a:rPr sz="850">
                <a:solidFill>
                  <a:srgbClr val="262626"/>
                </a:solidFill>
                <a:latin typeface="Arial"/>
                <a:ea typeface="Arial"/>
                <a:cs typeface="Arial"/>
              </a:rPr>
              <a:t>Phase purity · sigma(T)</a:t>
            </a:r>
            <a:endParaRPr sz="1300"/>
          </a:p>
          <a:p xmlns:a="http://schemas.openxmlformats.org/drawingml/2006/main">
            <a:pPr marL="0" indent="0">
              <a:buNone/>
            </a:pPr>
            <a:r>
              <a:rPr sz="850">
                <a:solidFill>
                  <a:srgbClr val="262626"/>
                </a:solidFill>
                <a:latin typeface="Arial"/>
                <a:ea typeface="Arial"/>
                <a:cs typeface="Arial"/>
              </a:rPr>
              <a:t>stability · processing</a:t>
            </a:r>
            <a:endParaRPr sz="1300"/>
          </a:p>
        </p:txBody>
      </p:sp>
      <p:sp>
        <p:nvSpPr>
          <p:cNvPr id="22" name="Text 19">
            <a:extLst xmlns:a="http://schemas.openxmlformats.org/drawingml/2006/main">
              <a:ext uri="{FF2B5EF4-FFF2-40B4-BE49-F238E27FC236}">
                <a16:creationId xmlns:a16="http://schemas.microsoft.com/office/drawing/2014/main" id="{129BE964-3D98-443A-BD90-1174DF6BB0EF}"/>
              </a:ext>
            </a:extLst>
          </p:cNvPr>
          <p:cNvSpPr>
            <a:spLocks xmlns:a="http://schemas.openxmlformats.org/drawingml/2006/main" noGrp="1"/>
          </p:cNvSpPr>
          <p:nvPr/>
        </p:nvSpPr>
        <p:spPr>
          <a:xfrm xmlns:a="http://schemas.openxmlformats.org/drawingml/2006/main">
            <a:off x="548640" y="393192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62626"/>
                </a:solidFill>
                <a:latin typeface="Arial"/>
                <a:ea typeface="Arial"/>
                <a:cs typeface="Arial"/>
              </a:rPr>
              <a:t>Protocol tag + source file + status travel with every value</a:t>
            </a:r>
            <a:endParaRPr sz="1100"/>
          </a:p>
        </p:txBody>
      </p:sp>
      <p:sp>
        <p:nvSpPr>
          <p:cNvPr id="23" name="Text 20">
            <a:extLst xmlns:a="http://schemas.openxmlformats.org/drawingml/2006/main">
              <a:ext uri="{FF2B5EF4-FFF2-40B4-BE49-F238E27FC236}">
                <a16:creationId xmlns:a16="http://schemas.microsoft.com/office/drawing/2014/main" id="{5A0083C0-A7D4-4988-8A0A-4A8504EE94AA}"/>
              </a:ext>
            </a:extLst>
          </p:cNvPr>
          <p:cNvSpPr>
            <a:spLocks xmlns:a="http://schemas.openxmlformats.org/drawingml/2006/main" noGrp="1"/>
          </p:cNvSpPr>
          <p:nvPr/>
        </p:nvSpPr>
        <p:spPr>
          <a:xfrm xmlns:a="http://schemas.openxmlformats.org/drawingml/2006/main">
            <a:off x="548640" y="4572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scope: 47 relative screens; targeted DFT validation covers 2 candidates.</a:t>
            </a:r>
            <a:endParaRPr sz="1250"/>
          </a:p>
        </p:txBody>
      </p:sp>
    </p:spTree>
    <p:extLst>
      <p:ext uri="{BB962C8B-B14F-4D97-AF65-F5344CB8AC3E}">
        <p14:creationId xmlns:p14="http://schemas.microsoft.com/office/powerpoint/2010/main" val="19244058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CB7363-0DD0-4765-AC4B-3557A3F706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Evidence</a:t>
            </a:r>
            <a:endParaRPr sz="2800"/>
          </a:p>
        </p:txBody>
      </p:sp>
      <p:sp>
        <p:nvSpPr>
          <p:cNvPr id="3" name="Text 1">
            <a:extLst xmlns:a="http://schemas.openxmlformats.org/drawingml/2006/main">
              <a:ext uri="{FF2B5EF4-FFF2-40B4-BE49-F238E27FC236}">
                <a16:creationId xmlns:a16="http://schemas.microsoft.com/office/drawing/2014/main" id="{70A7488B-6DC4-40BE-BF79-BADDA2E3705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Canonical registry · same-protocol values</a:t>
            </a:r>
            <a:endParaRPr sz="900"/>
          </a:p>
        </p:txBody>
      </p:sp>
      <p:sp>
        <p:nvSpPr>
          <p:cNvPr id="4" name="Shape 2">
            <a:extLst xmlns:a="http://schemas.openxmlformats.org/drawingml/2006/main">
              <a:ext uri="{FF2B5EF4-FFF2-40B4-BE49-F238E27FC236}">
                <a16:creationId xmlns:a16="http://schemas.microsoft.com/office/drawing/2014/main" id="{9A52888B-85C2-4FB5-9339-9ACFC60F23B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36E980F4-D656-4FA9-9B21-C0635C3A2D4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9C062EA5-70A9-4ADC-9ACF-B9F1C9858F4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LPSCl taught us which descriptors to watch</a:t>
            </a:r>
            <a:endParaRPr sz="1400"/>
          </a:p>
        </p:txBody>
      </p:sp>
      <p:sp>
        <p:nvSpPr>
          <p:cNvPr id="7" name="Text 5">
            <a:extLst xmlns:a="http://schemas.openxmlformats.org/drawingml/2006/main">
              <a:ext uri="{FF2B5EF4-FFF2-40B4-BE49-F238E27FC236}">
                <a16:creationId xmlns:a16="http://schemas.microsoft.com/office/drawing/2014/main" id="{154786A3-B3DC-4B72-8EBC-BAF89B83F49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4B499B4-F1D1-401C-82B9-D0392DC8201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C68B0BA-DEBC-4200-AA35-998A32677C3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7</a:t>
            </a:r>
            <a:endParaRPr sz="900"/>
          </a:p>
        </p:txBody>
      </p:sp>
      <p:sp>
        <p:nvSpPr>
          <p:cNvPr id="11" name="Shape 8">
            <a:extLst xmlns:a="http://schemas.openxmlformats.org/drawingml/2006/main">
              <a:ext uri="{FF2B5EF4-FFF2-40B4-BE49-F238E27FC236}">
                <a16:creationId xmlns:a16="http://schemas.microsoft.com/office/drawing/2014/main" id="{0A401796-DE31-4D4F-B95C-82C0F42EECF9}"/>
              </a:ext>
            </a:extLst>
          </p:cNvPr>
          <p:cNvSpPr>
            <a:spLocks xmlns:a="http://schemas.openxmlformats.org/drawingml/2006/main" noGrp="1"/>
          </p:cNvSpPr>
          <p:nvPr/>
        </p:nvSpPr>
        <p:spPr>
          <a:xfrm xmlns:a="http://schemas.openxmlformats.org/drawingml/2006/main">
            <a:off x="640080" y="1600200"/>
            <a:ext cx="2560320" cy="1920240"/>
          </a:xfrm>
          <a:prstGeom xmlns:a="http://schemas.openxmlformats.org/drawingml/2006/main" prst="roundRect">
            <a:avLst>
              <a:gd name="adj" fmla="val 3333"/>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1520594F-5A47-4013-BFE5-CCCDBB1DBDB4}"/>
              </a:ext>
            </a:extLst>
          </p:cNvPr>
          <p:cNvSpPr>
            <a:spLocks xmlns:a="http://schemas.openxmlformats.org/drawingml/2006/main" noGrp="1"/>
          </p:cNvSpPr>
          <p:nvPr/>
        </p:nvSpPr>
        <p:spPr>
          <a:xfrm xmlns:a="http://schemas.openxmlformats.org/drawingml/2006/main">
            <a:off x="7772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Electronic guard
</a:t>
            </a:r>
            <a:endParaRPr sz="1100"/>
          </a:p>
          <a:p xmlns:a="http://schemas.openxmlformats.org/drawingml/2006/main">
            <a:pPr marL="0" indent="0">
              <a:buNone/>
            </a:pPr>
            <a:r>
              <a:rPr sz="950">
                <a:solidFill>
                  <a:srgbClr val="262626"/>
                </a:solidFill>
                <a:latin typeface="Arial"/>
                <a:ea typeface="Arial"/>
                <a:cs typeface="Arial"/>
              </a:rPr>
              <a:t>Eg = 2.066 vs 2.099 eV</a:t>
            </a:r>
            <a:endParaRPr sz="1100"/>
          </a:p>
          <a:p xmlns:a="http://schemas.openxmlformats.org/drawingml/2006/main">
            <a:pPr marL="0" indent="0">
              <a:buNone/>
            </a:pPr>
            <a:r>
              <a:rPr sz="950">
                <a:solidFill>
                  <a:srgbClr val="262626"/>
                </a:solidFill>
                <a:latin typeface="Arial"/>
                <a:ea typeface="Arial"/>
                <a:cs typeface="Arial"/>
              </a:rPr>
              <a:t>Δ = 0.033 eV</a:t>
            </a:r>
            <a:endParaRPr sz="1100"/>
          </a:p>
          <a:p xmlns:a="http://schemas.openxmlformats.org/drawingml/2006/main">
            <a:pPr marL="0" indent="0">
              <a:buNone/>
            </a:pPr>
            <a:r>
              <a:rPr sz="950">
                <a:solidFill>
                  <a:srgbClr val="262626"/>
                </a:solidFill>
                <a:latin typeface="Arial"/>
                <a:ea typeface="Arial"/>
                <a:cs typeface="Arial"/>
              </a:rPr>
              <a:t>Fixed-occupation eigenvalues</a:t>
            </a:r>
            <a:endParaRPr sz="1100"/>
          </a:p>
        </p:txBody>
      </p:sp>
      <p:sp>
        <p:nvSpPr>
          <p:cNvPr id="13" name="Shape 10">
            <a:extLst xmlns:a="http://schemas.openxmlformats.org/drawingml/2006/main">
              <a:ext uri="{FF2B5EF4-FFF2-40B4-BE49-F238E27FC236}">
                <a16:creationId xmlns:a16="http://schemas.microsoft.com/office/drawing/2014/main" id="{1D6E5E90-A0B9-45B5-8476-57CC0EFCD4ED}"/>
              </a:ext>
            </a:extLst>
          </p:cNvPr>
          <p:cNvSpPr>
            <a:spLocks xmlns:a="http://schemas.openxmlformats.org/drawingml/2006/main" noGrp="1"/>
          </p:cNvSpPr>
          <p:nvPr/>
        </p:nvSpPr>
        <p:spPr>
          <a:xfrm xmlns:a="http://schemas.openxmlformats.org/drawingml/2006/main">
            <a:off x="3383280" y="1600200"/>
            <a:ext cx="2560320" cy="1920240"/>
          </a:xfrm>
          <a:prstGeom xmlns:a="http://schemas.openxmlformats.org/drawingml/2006/main" prst="roundRect">
            <a:avLst>
              <a:gd name="adj" fmla="val 3333"/>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C5702300-802B-42EC-952E-1CE6BCAC2B8A}"/>
              </a:ext>
            </a:extLst>
          </p:cNvPr>
          <p:cNvSpPr>
            <a:spLocks xmlns:a="http://schemas.openxmlformats.org/drawingml/2006/main" noGrp="1"/>
          </p:cNvSpPr>
          <p:nvPr/>
        </p:nvSpPr>
        <p:spPr>
          <a:xfrm xmlns:a="http://schemas.openxmlformats.org/drawingml/2006/main">
            <a:off x="35204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26A00"/>
                </a:solidFill>
                <a:latin typeface="Arial"/>
                <a:ea typeface="Arial"/>
                <a:cs typeface="Arial"/>
              </a:rPr>
              <a:t>Structural contrast
</a:t>
            </a:r>
            <a:endParaRPr sz="1100"/>
          </a:p>
          <a:p xmlns:a="http://schemas.openxmlformats.org/drawingml/2006/main">
            <a:pPr marL="0" indent="0">
              <a:buNone/>
            </a:pPr>
            <a:r>
              <a:rPr sz="950">
                <a:solidFill>
                  <a:srgbClr val="262626"/>
                </a:solidFill>
                <a:latin typeface="Arial"/>
                <a:ea typeface="Arial"/>
                <a:cs typeface="Arial"/>
              </a:rPr>
              <a:t>Li vacancies</a:t>
            </a:r>
            <a:endParaRPr sz="1100"/>
          </a:p>
          <a:p xmlns:a="http://schemas.openxmlformats.org/drawingml/2006/main">
            <a:pPr marL="0" indent="0">
              <a:buNone/>
            </a:pPr>
            <a:r>
              <a:rPr sz="950">
                <a:solidFill>
                  <a:srgbClr val="262626"/>
                </a:solidFill>
                <a:latin typeface="Arial"/>
                <a:ea typeface="Arial"/>
                <a:cs typeface="Arial"/>
              </a:rPr>
              <a:t>4d-Cl anti-sites</a:t>
            </a:r>
            <a:endParaRPr sz="1100"/>
          </a:p>
          <a:p xmlns:a="http://schemas.openxmlformats.org/drawingml/2006/main">
            <a:pPr marL="0" indent="0">
              <a:buNone/>
            </a:pPr>
            <a:r>
              <a:rPr sz="950">
                <a:solidFill>
                  <a:srgbClr val="262626"/>
                </a:solidFill>
                <a:latin typeface="Arial"/>
                <a:ea typeface="Arial"/>
                <a:cs typeface="Arial"/>
              </a:rPr>
              <a:t>Disorder, not a new chemistry</a:t>
            </a:r>
            <a:endParaRPr sz="1100"/>
          </a:p>
        </p:txBody>
      </p:sp>
      <p:sp>
        <p:nvSpPr>
          <p:cNvPr id="15" name="Shape 12">
            <a:extLst xmlns:a="http://schemas.openxmlformats.org/drawingml/2006/main">
              <a:ext uri="{FF2B5EF4-FFF2-40B4-BE49-F238E27FC236}">
                <a16:creationId xmlns:a16="http://schemas.microsoft.com/office/drawing/2014/main" id="{D5F8F2D5-7667-4A0A-9E67-7FB89A01B454}"/>
              </a:ext>
            </a:extLst>
          </p:cNvPr>
          <p:cNvSpPr>
            <a:spLocks xmlns:a="http://schemas.openxmlformats.org/drawingml/2006/main" noGrp="1"/>
          </p:cNvSpPr>
          <p:nvPr/>
        </p:nvSpPr>
        <p:spPr>
          <a:xfrm xmlns:a="http://schemas.openxmlformats.org/drawingml/2006/main">
            <a:off x="6126480" y="1600200"/>
            <a:ext cx="2560320" cy="1920240"/>
          </a:xfrm>
          <a:prstGeom xmlns:a="http://schemas.openxmlformats.org/drawingml/2006/main" prst="roundRect">
            <a:avLst>
              <a:gd name="adj" fmla="val 3333"/>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95FCED15-7F7C-433C-ABFA-F6D0DB1929EB}"/>
              </a:ext>
            </a:extLst>
          </p:cNvPr>
          <p:cNvSpPr>
            <a:spLocks xmlns:a="http://schemas.openxmlformats.org/drawingml/2006/main" noGrp="1"/>
          </p:cNvSpPr>
          <p:nvPr/>
        </p:nvSpPr>
        <p:spPr>
          <a:xfrm xmlns:a="http://schemas.openxmlformats.org/drawingml/2006/main">
            <a:off x="62636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E7D32"/>
                </a:solidFill>
                <a:latin typeface="Arial"/>
                <a:ea typeface="Arial"/>
                <a:cs typeface="Arial"/>
              </a:rPr>
              <a:t>Transport evidence
</a:t>
            </a:r>
            <a:endParaRPr sz="1100"/>
          </a:p>
          <a:p xmlns:a="http://schemas.openxmlformats.org/drawingml/2006/main">
            <a:pPr marL="0" indent="0">
              <a:buNone/>
            </a:pPr>
            <a:r>
              <a:rPr sz="950">
                <a:solidFill>
                  <a:srgbClr val="262626"/>
                </a:solidFill>
                <a:latin typeface="Arial"/>
                <a:ea typeface="Arial"/>
                <a:cs typeface="Arial"/>
              </a:rPr>
              <a:t>Cl-rich modelc: Ea = 0.197 ± 0.032 eV</a:t>
            </a:r>
            <a:endParaRPr sz="1100"/>
          </a:p>
          <a:p xmlns:a="http://schemas.openxmlformats.org/drawingml/2006/main">
            <a:pPr marL="0" indent="0">
              <a:buNone/>
            </a:pPr>
            <a:r>
              <a:rPr sz="950">
                <a:solidFill>
                  <a:srgbClr val="262626"/>
                </a:solidFill>
                <a:latin typeface="Arial"/>
                <a:ea typeface="Arial"/>
                <a:cs typeface="Arial"/>
              </a:rPr>
              <a:t>3-seed, 600/800/1000 K</a:t>
            </a:r>
            <a:endParaRPr sz="1100"/>
          </a:p>
          <a:p xmlns:a="http://schemas.openxmlformats.org/drawingml/2006/main">
            <a:pPr marL="0" indent="0">
              <a:buNone/>
            </a:pPr>
            <a:r>
              <a:rPr sz="950">
                <a:solidFill>
                  <a:srgbClr val="262626"/>
                </a:solidFill>
                <a:latin typeface="Arial"/>
                <a:ea typeface="Arial"/>
                <a:cs typeface="Arial"/>
              </a:rPr>
              <a:t>No citable comp1 Ea</a:t>
            </a:r>
            <a:endParaRPr sz="1100"/>
          </a:p>
        </p:txBody>
      </p:sp>
      <p:sp>
        <p:nvSpPr>
          <p:cNvPr id="17" name="Text 14">
            <a:extLst xmlns:a="http://schemas.openxmlformats.org/drawingml/2006/main">
              <a:ext uri="{FF2B5EF4-FFF2-40B4-BE49-F238E27FC236}">
                <a16:creationId xmlns:a16="http://schemas.microsoft.com/office/drawing/2014/main" id="{244000AE-380B-4F21-ADB9-416579485792}"/>
              </a:ext>
            </a:extLst>
          </p:cNvPr>
          <p:cNvSpPr>
            <a:spLocks xmlns:a="http://schemas.openxmlformats.org/drawingml/2006/main" noGrp="1"/>
          </p:cNvSpPr>
          <p:nvPr/>
        </p:nvSpPr>
        <p:spPr>
          <a:xfrm xmlns:a="http://schemas.openxmlformats.org/drawingml/2006/main">
            <a:off x="548640" y="38862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262626"/>
                </a:solidFill>
                <a:latin typeface="Arial"/>
                <a:ea typeface="Arial"/>
                <a:cs typeface="Arial"/>
              </a:rPr>
              <a:t>Structural descriptors first; electronics remain a guardrail.</a:t>
            </a:r>
            <a:endParaRPr sz="1150"/>
          </a:p>
        </p:txBody>
      </p:sp>
      <p:sp>
        <p:nvSpPr>
          <p:cNvPr id="18" name="Text 15">
            <a:extLst xmlns:a="http://schemas.openxmlformats.org/drawingml/2006/main">
              <a:ext uri="{FF2B5EF4-FFF2-40B4-BE49-F238E27FC236}">
                <a16:creationId xmlns:a16="http://schemas.microsoft.com/office/drawing/2014/main" id="{AF1165C6-8BC8-466D-A4EC-929160D0B8A7}"/>
              </a:ext>
            </a:extLst>
          </p:cNvPr>
          <p:cNvSpPr>
            <a:spLocks xmlns:a="http://schemas.openxmlformats.org/drawingml/2006/main" noGrp="1"/>
          </p:cNvSpPr>
          <p:nvPr/>
        </p:nvSpPr>
        <p:spPr>
          <a:xfrm xmlns:a="http://schemas.openxmlformats.org/drawingml/2006/main">
            <a:off x="548640" y="4343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Gap values are canonical; lineage-specific fixed-occ run files remain provenance-open.</a:t>
            </a:r>
            <a:endParaRPr sz="1250"/>
          </a:p>
        </p:txBody>
      </p:sp>
      <p:sp>
        <p:nvSpPr>
          <p:cNvPr id="19" name="Text 16">
            <a:extLst xmlns:a="http://schemas.openxmlformats.org/drawingml/2006/main">
              <a:ext uri="{FF2B5EF4-FFF2-40B4-BE49-F238E27FC236}">
                <a16:creationId xmlns:a16="http://schemas.microsoft.com/office/drawing/2014/main" id="{BFFF30E3-DEFE-45D1-8891-E53A98888B95}"/>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electronic.json · canonical_registry.json</a:t>
            </a:r>
            <a:endParaRPr sz="750"/>
          </a:p>
        </p:txBody>
      </p:sp>
    </p:spTree>
    <p:extLst>
      <p:ext uri="{BB962C8B-B14F-4D97-AF65-F5344CB8AC3E}">
        <p14:creationId xmlns:p14="http://schemas.microsoft.com/office/powerpoint/2010/main" val="4899163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3C9059-E2F3-49F4-BEF9-39EC6D30675E}"/>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E240238B-0FD9-4B5C-81E3-327F533286F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G1-G4 physical · G5 ranking-only</a:t>
            </a:r>
            <a:endParaRPr sz="900"/>
          </a:p>
        </p:txBody>
      </p:sp>
      <p:sp>
        <p:nvSpPr>
          <p:cNvPr id="4" name="Shape 2">
            <a:extLst xmlns:a="http://schemas.openxmlformats.org/drawingml/2006/main">
              <a:ext uri="{FF2B5EF4-FFF2-40B4-BE49-F238E27FC236}">
                <a16:creationId xmlns:a16="http://schemas.microsoft.com/office/drawing/2014/main" id="{25056C7B-9D2B-4FEC-9B92-D3ECFCDBE34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90F255B6-94BB-4049-AB66-44B99DE4379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0FBD935F-FA04-45FB-B79D-8E051E5ACD2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Five gates ask five different questions</a:t>
            </a:r>
            <a:endParaRPr sz="1400"/>
          </a:p>
        </p:txBody>
      </p:sp>
      <p:sp>
        <p:nvSpPr>
          <p:cNvPr id="7" name="Text 5">
            <a:extLst xmlns:a="http://schemas.openxmlformats.org/drawingml/2006/main">
              <a:ext uri="{FF2B5EF4-FFF2-40B4-BE49-F238E27FC236}">
                <a16:creationId xmlns:a16="http://schemas.microsoft.com/office/drawing/2014/main" id="{8FF8BD84-EF75-43A7-957E-9A2C89D38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A02A619-FAAC-426D-88D2-A28B615B18F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97C43AB9-EE60-47F7-9629-AD85590C4457}"/>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8</a:t>
            </a:r>
            <a:endParaRPr sz="900"/>
          </a:p>
        </p:txBody>
      </p:sp>
      <p:sp>
        <p:nvSpPr>
          <p:cNvPr id="11" name="Shape 8">
            <a:extLst xmlns:a="http://schemas.openxmlformats.org/drawingml/2006/main">
              <a:ext uri="{FF2B5EF4-FFF2-40B4-BE49-F238E27FC236}">
                <a16:creationId xmlns:a16="http://schemas.microsoft.com/office/drawing/2014/main" id="{68345826-65A7-4833-A82E-08BC9F84B4D9}"/>
              </a:ext>
            </a:extLst>
          </p:cNvPr>
          <p:cNvSpPr>
            <a:spLocks xmlns:a="http://schemas.openxmlformats.org/drawingml/2006/main" noGrp="1"/>
          </p:cNvSpPr>
          <p:nvPr/>
        </p:nvSpPr>
        <p:spPr>
          <a:xfrm xmlns:a="http://schemas.openxmlformats.org/drawingml/2006/main">
            <a:off x="640080"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F17D42B0-A49F-4010-A498-B2C7AC2A052D}"/>
              </a:ext>
            </a:extLst>
          </p:cNvPr>
          <p:cNvSpPr>
            <a:spLocks xmlns:a="http://schemas.openxmlformats.org/drawingml/2006/main" noGrp="1"/>
          </p:cNvSpPr>
          <p:nvPr/>
        </p:nvSpPr>
        <p:spPr>
          <a:xfrm xmlns:a="http://schemas.openxmlformats.org/drawingml/2006/main">
            <a:off x="749808"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G1</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163">
                <a:solidFill>
                  <a:srgbClr val="262626"/>
                </a:solidFill>
                <a:latin typeface="Arial"/>
                <a:ea typeface="Arial"/>
                <a:cs typeface="Arial"/>
              </a:rPr>
              <a:t>Structure</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Lower UMA-relative score than host?</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mean ΔE &lt; 0</a:t>
            </a:r>
            <a:endParaRPr sz="1500"/>
          </a:p>
        </p:txBody>
      </p:sp>
      <p:sp>
        <p:nvSpPr>
          <p:cNvPr id="13" name="Shape 10">
            <a:extLst xmlns:a="http://schemas.openxmlformats.org/drawingml/2006/main">
              <a:ext uri="{FF2B5EF4-FFF2-40B4-BE49-F238E27FC236}">
                <a16:creationId xmlns:a16="http://schemas.microsoft.com/office/drawing/2014/main" id="{47C51294-B71C-41CC-9E90-3FA5AC168C40}"/>
              </a:ext>
            </a:extLst>
          </p:cNvPr>
          <p:cNvSpPr>
            <a:spLocks xmlns:a="http://schemas.openxmlformats.org/drawingml/2006/main" noGrp="1"/>
          </p:cNvSpPr>
          <p:nvPr/>
        </p:nvSpPr>
        <p:spPr>
          <a:xfrm xmlns:a="http://schemas.openxmlformats.org/drawingml/2006/main">
            <a:off x="2276856"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0070C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DA85911A-9BA8-460A-B606-B16F60A23E3D}"/>
              </a:ext>
            </a:extLst>
          </p:cNvPr>
          <p:cNvSpPr>
            <a:spLocks xmlns:a="http://schemas.openxmlformats.org/drawingml/2006/main" noGrp="1"/>
          </p:cNvSpPr>
          <p:nvPr/>
        </p:nvSpPr>
        <p:spPr>
          <a:xfrm xmlns:a="http://schemas.openxmlformats.org/drawingml/2006/main">
            <a:off x="2386584"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070C0"/>
                </a:solidFill>
                <a:latin typeface="Arial"/>
                <a:ea typeface="Arial"/>
                <a:cs typeface="Arial"/>
              </a:rPr>
              <a:t>G2
</a:t>
            </a:r>
            <a:endParaRPr sz="1500"/>
          </a:p>
          <a:p xmlns:a="http://schemas.openxmlformats.org/drawingml/2006/main">
            <a:pPr marL="0" indent="0">
              <a:buNone/>
            </a:pPr>
            <a:r>
              <a:rPr sz="1000" b="1">
                <a:solidFill>
                  <a:srgbClr val="262626"/>
                </a:solidFill>
                <a:latin typeface="Arial"/>
                <a:ea typeface="Arial"/>
                <a:cs typeface="Arial"/>
              </a:rPr>
              <a:t>Window
</a:t>
            </a:r>
            <a:endParaRPr sz="1500"/>
          </a:p>
          <a:p xmlns:a="http://schemas.openxmlformats.org/drawingml/2006/main">
            <a:pPr marL="0" indent="0">
              <a:buNone/>
            </a:pPr>
            <a:r>
              <a:rPr sz="850">
                <a:solidFill>
                  <a:srgbClr val="262626"/>
                </a:solidFill>
                <a:latin typeface="Arial"/>
                <a:ea typeface="Arial"/>
                <a:cs typeface="Arial"/>
              </a:rPr>
              <a:t>Does the ESW collapse?
</a:t>
            </a:r>
            <a:endParaRPr sz="1500"/>
          </a:p>
          <a:p xmlns:a="http://schemas.openxmlformats.org/drawingml/2006/main">
            <a:pPr marL="0" indent="0">
              <a:buNone/>
            </a:pPr>
            <a:r>
              <a:rPr sz="850" b="1">
                <a:solidFill>
                  <a:srgbClr val="0070C0"/>
                </a:solidFill>
                <a:latin typeface="Arial"/>
                <a:ea typeface="Arial"/>
                <a:cs typeface="Arial"/>
              </a:rPr>
              <a:t>window ≥ 0.05 V</a:t>
            </a:r>
            <a:endParaRPr sz="1500"/>
          </a:p>
        </p:txBody>
      </p:sp>
      <p:sp>
        <p:nvSpPr>
          <p:cNvPr id="15" name="Shape 12">
            <a:extLst xmlns:a="http://schemas.openxmlformats.org/drawingml/2006/main">
              <a:ext uri="{FF2B5EF4-FFF2-40B4-BE49-F238E27FC236}">
                <a16:creationId xmlns:a16="http://schemas.microsoft.com/office/drawing/2014/main" id="{88387770-715D-4B9E-9D1D-70AABD0B9AFD}"/>
              </a:ext>
            </a:extLst>
          </p:cNvPr>
          <p:cNvSpPr>
            <a:spLocks xmlns:a="http://schemas.openxmlformats.org/drawingml/2006/main" noGrp="1"/>
          </p:cNvSpPr>
          <p:nvPr/>
        </p:nvSpPr>
        <p:spPr>
          <a:xfrm xmlns:a="http://schemas.openxmlformats.org/drawingml/2006/main">
            <a:off x="3913632"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720F714F-0E45-4AD0-9EBC-6D26E50C2630}"/>
              </a:ext>
            </a:extLst>
          </p:cNvPr>
          <p:cNvSpPr>
            <a:spLocks xmlns:a="http://schemas.openxmlformats.org/drawingml/2006/main" noGrp="1"/>
          </p:cNvSpPr>
          <p:nvPr/>
        </p:nvSpPr>
        <p:spPr>
          <a:xfrm xmlns:a="http://schemas.openxmlformats.org/drawingml/2006/main">
            <a:off x="4023360"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B26A00"/>
                </a:solidFill>
                <a:latin typeface="Arial"/>
                <a:ea typeface="Arial"/>
                <a:cs typeface="Arial"/>
              </a:rPr>
              <a:t>G3
</a:t>
            </a:r>
            <a:endParaRPr sz="1500"/>
          </a:p>
          <a:p xmlns:a="http://schemas.openxmlformats.org/drawingml/2006/main">
            <a:pPr marL="0" indent="0">
              <a:buNone/>
            </a:pPr>
            <a:r>
              <a:rPr sz="1000" b="1">
                <a:solidFill>
                  <a:srgbClr val="262626"/>
                </a:solidFill>
                <a:latin typeface="Arial"/>
                <a:ea typeface="Arial"/>
                <a:cs typeface="Arial"/>
              </a:rPr>
              <a:t>Oxidation
</a:t>
            </a:r>
            <a:endParaRPr sz="1500"/>
          </a:p>
          <a:p xmlns:a="http://schemas.openxmlformats.org/drawingml/2006/main">
            <a:pPr marL="0" indent="0">
              <a:buNone/>
            </a:pPr>
            <a:r>
              <a:rPr sz="850">
                <a:solidFill>
                  <a:srgbClr val="262626"/>
                </a:solidFill>
                <a:latin typeface="Arial"/>
                <a:ea typeface="Arial"/>
                <a:cs typeface="Arial"/>
              </a:rPr>
              <a:t>Worse than host onset?
</a:t>
            </a:r>
            <a:endParaRPr sz="1500"/>
          </a:p>
          <a:p xmlns:a="http://schemas.openxmlformats.org/drawingml/2006/main">
            <a:pPr marL="0" indent="0">
              <a:buNone/>
            </a:pPr>
            <a:r>
              <a:rPr sz="850" b="1">
                <a:solidFill>
                  <a:srgbClr val="B26A00"/>
                </a:solidFill>
                <a:latin typeface="Arial"/>
                <a:ea typeface="Arial"/>
                <a:cs typeface="Arial"/>
              </a:rPr>
              <a:t>Vox ≥ 2.14 V</a:t>
            </a:r>
            <a:endParaRPr sz="1500"/>
          </a:p>
        </p:txBody>
      </p:sp>
      <p:sp>
        <p:nvSpPr>
          <p:cNvPr id="17" name="Shape 14">
            <a:extLst xmlns:a="http://schemas.openxmlformats.org/drawingml/2006/main">
              <a:ext uri="{FF2B5EF4-FFF2-40B4-BE49-F238E27FC236}">
                <a16:creationId xmlns:a16="http://schemas.microsoft.com/office/drawing/2014/main" id="{878DD61E-A50C-4B72-A285-33BA04F9A0C1}"/>
              </a:ext>
            </a:extLst>
          </p:cNvPr>
          <p:cNvSpPr>
            <a:spLocks xmlns:a="http://schemas.openxmlformats.org/drawingml/2006/main" noGrp="1"/>
          </p:cNvSpPr>
          <p:nvPr/>
        </p:nvSpPr>
        <p:spPr>
          <a:xfrm xmlns:a="http://schemas.openxmlformats.org/drawingml/2006/main">
            <a:off x="5550408"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8F697DAC-987C-42FE-8DA4-A8A31F12D7B5}"/>
              </a:ext>
            </a:extLst>
          </p:cNvPr>
          <p:cNvSpPr>
            <a:spLocks xmlns:a="http://schemas.openxmlformats.org/drawingml/2006/main" noGrp="1"/>
          </p:cNvSpPr>
          <p:nvPr/>
        </p:nvSpPr>
        <p:spPr>
          <a:xfrm xmlns:a="http://schemas.openxmlformats.org/drawingml/2006/main">
            <a:off x="5660136"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2E7D32"/>
                </a:solidFill>
                <a:latin typeface="Arial"/>
                <a:ea typeface="Arial"/>
                <a:cs typeface="Arial"/>
              </a:rPr>
              <a:t>G4</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088">
                <a:solidFill>
                  <a:srgbClr val="262626"/>
                </a:solidFill>
                <a:latin typeface="Arial"/>
                <a:ea typeface="Arial"/>
                <a:cs typeface="Arial"/>
              </a:rPr>
              <a:t>Li pathway</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Is the static pathway retained?</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transport_norm &gt; 0.30</a:t>
            </a:r>
            <a:endParaRPr sz="1500"/>
          </a:p>
          <a:p xmlns:a="http://schemas.openxmlformats.org/drawingml/2006/main">
            <a:pPr marL="0" indent="0">
              <a:buNone/>
            </a:pPr>
            <a:r>
              <a:rPr sz="1088" b="1">
                <a:solidFill>
                  <a:srgbClr val="2E7D32"/>
                </a:solidFill>
                <a:latin typeface="Arial"/>
                <a:ea typeface="Arial"/>
                <a:cs typeface="Arial"/>
              </a:rPr>
              <a:t>AND blocking &lt; 0.60</a:t>
            </a:r>
            <a:endParaRPr sz="1500"/>
          </a:p>
        </p:txBody>
      </p:sp>
      <p:sp>
        <p:nvSpPr>
          <p:cNvPr id="19" name="Shape 16">
            <a:extLst xmlns:a="http://schemas.openxmlformats.org/drawingml/2006/main">
              <a:ext uri="{FF2B5EF4-FFF2-40B4-BE49-F238E27FC236}">
                <a16:creationId xmlns:a16="http://schemas.microsoft.com/office/drawing/2014/main" id="{EDA659B7-8065-4339-9DF5-08000D3E0980}"/>
              </a:ext>
            </a:extLst>
          </p:cNvPr>
          <p:cNvSpPr>
            <a:spLocks xmlns:a="http://schemas.openxmlformats.org/drawingml/2006/main" noGrp="1"/>
          </p:cNvSpPr>
          <p:nvPr/>
        </p:nvSpPr>
        <p:spPr>
          <a:xfrm xmlns:a="http://schemas.openxmlformats.org/drawingml/2006/main">
            <a:off x="7187184"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7F7F7F"/>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4B36D6DB-1BF6-4165-8959-A678F28283DC}"/>
              </a:ext>
            </a:extLst>
          </p:cNvPr>
          <p:cNvSpPr>
            <a:spLocks xmlns:a="http://schemas.openxmlformats.org/drawingml/2006/main" noGrp="1"/>
          </p:cNvSpPr>
          <p:nvPr/>
        </p:nvSpPr>
        <p:spPr>
          <a:xfrm xmlns:a="http://schemas.openxmlformats.org/drawingml/2006/main">
            <a:off x="7296912"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7F7F7F"/>
                </a:solidFill>
                <a:latin typeface="Arial"/>
                <a:ea typeface="Arial"/>
                <a:cs typeface="Arial"/>
              </a:rPr>
              <a:t>G5*
</a:t>
            </a:r>
            <a:endParaRPr sz="1500"/>
          </a:p>
          <a:p xmlns:a="http://schemas.openxmlformats.org/drawingml/2006/main">
            <a:pPr marL="0" indent="0">
              <a:buNone/>
            </a:pPr>
            <a:r>
              <a:rPr sz="1000" b="1">
                <a:solidFill>
                  <a:srgbClr val="262626"/>
                </a:solidFill>
                <a:latin typeface="Arial"/>
                <a:ea typeface="Arial"/>
                <a:cs typeface="Arial"/>
              </a:rPr>
              <a:t>Mechanics
</a:t>
            </a:r>
            <a:endParaRPr sz="1500"/>
          </a:p>
          <a:p xmlns:a="http://schemas.openxmlformats.org/drawingml/2006/main">
            <a:pPr marL="0" indent="0">
              <a:buNone/>
            </a:pPr>
            <a:r>
              <a:rPr sz="850">
                <a:solidFill>
                  <a:srgbClr val="262626"/>
                </a:solidFill>
                <a:latin typeface="Arial"/>
                <a:ea typeface="Arial"/>
                <a:cs typeface="Arial"/>
              </a:rPr>
              <a:t>How do survivors rank?
</a:t>
            </a:r>
            <a:endParaRPr sz="1500"/>
          </a:p>
          <a:p xmlns:a="http://schemas.openxmlformats.org/drawingml/2006/main">
            <a:pPr marL="0" indent="0">
              <a:buNone/>
            </a:pPr>
            <a:r>
              <a:rPr sz="850" b="1">
                <a:solidFill>
                  <a:srgbClr val="7F7F7F"/>
                </a:solidFill>
                <a:latin typeface="Arial"/>
                <a:ea typeface="Arial"/>
                <a:cs typeface="Arial"/>
              </a:rPr>
              <a:t>roster medians</a:t>
            </a:r>
            <a:endParaRPr sz="1500"/>
          </a:p>
        </p:txBody>
      </p:sp>
      <p:sp>
        <p:nvSpPr>
          <p:cNvPr id="21" name="Text 18">
            <a:extLst xmlns:a="http://schemas.openxmlformats.org/drawingml/2006/main">
              <a:ext uri="{FF2B5EF4-FFF2-40B4-BE49-F238E27FC236}">
                <a16:creationId xmlns:a16="http://schemas.microsoft.com/office/drawing/2014/main" id="{11625705-1970-432D-B2C3-05D4FA688A35}"/>
              </a:ext>
            </a:extLst>
          </p:cNvPr>
          <p:cNvSpPr>
            <a:spLocks xmlns:a="http://schemas.openxmlformats.org/drawingml/2006/main" noGrp="1"/>
          </p:cNvSpPr>
          <p:nvPr/>
        </p:nvSpPr>
        <p:spPr>
          <a:xfrm xmlns:a="http://schemas.openxmlformats.org/drawingml/2006/main">
            <a:off x="548640" y="41148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G4 is also heuristic: blocking &lt; 0.6 has no host/literature anchor.  G5 is roster-relative ranking.</a:t>
            </a:r>
            <a:endParaRPr sz="1250"/>
          </a:p>
        </p:txBody>
      </p:sp>
      <p:sp>
        <p:nvSpPr>
          <p:cNvPr id="22" name="Text 19">
            <a:extLst xmlns:a="http://schemas.openxmlformats.org/drawingml/2006/main">
              <a:ext uri="{FF2B5EF4-FFF2-40B4-BE49-F238E27FC236}">
                <a16:creationId xmlns:a16="http://schemas.microsoft.com/office/drawing/2014/main" id="{77997AEB-F6D0-40D8-8E30-B2C086457B6A}"/>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(gates)</a:t>
            </a:r>
            <a:endParaRPr sz="750"/>
          </a:p>
        </p:txBody>
      </p:sp>
    </p:spTree>
    <p:extLst>
      <p:ext uri="{BB962C8B-B14F-4D97-AF65-F5344CB8AC3E}">
        <p14:creationId xmlns:p14="http://schemas.microsoft.com/office/powerpoint/2010/main" val="12912558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4227D4-EB4A-42DD-82AE-9743B4E29B7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5376A7CA-AD10-46FF-8F61-7B32C02A161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Post-hoc literature-mapped gate view</a:t>
            </a:r>
            <a:endParaRPr sz="900"/>
          </a:p>
        </p:txBody>
      </p:sp>
      <p:sp>
        <p:nvSpPr>
          <p:cNvPr id="4" name="Shape 2">
            <a:extLst xmlns:a="http://schemas.openxmlformats.org/drawingml/2006/main">
              <a:ext uri="{FF2B5EF4-FFF2-40B4-BE49-F238E27FC236}">
                <a16:creationId xmlns:a16="http://schemas.microsoft.com/office/drawing/2014/main" id="{6ACAC994-16EE-4075-94B4-B43439901F5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0D5983C-7975-4EE9-86E6-CE4CD6E058BD}"/>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CDCD5495-465E-48FF-B14A-B0E5D895BFE1}"/>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auditable hard-gate view stops at 11</a:t>
            </a:r>
            <a:endParaRPr sz="1400"/>
          </a:p>
        </p:txBody>
      </p:sp>
      <p:sp>
        <p:nvSpPr>
          <p:cNvPr id="7" name="Text 5">
            <a:extLst xmlns:a="http://schemas.openxmlformats.org/drawingml/2006/main">
              <a:ext uri="{FF2B5EF4-FFF2-40B4-BE49-F238E27FC236}">
                <a16:creationId xmlns:a16="http://schemas.microsoft.com/office/drawing/2014/main" id="{213FC5EE-D362-443E-A148-0751391E082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E319F64-922A-4044-9D6D-247931D7F6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7CA40E97-EAB4-41AE-9BAD-CA2132A5B19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9</a:t>
            </a:r>
            <a:endParaRPr sz="900"/>
          </a:p>
        </p:txBody>
      </p:sp>
      <p:sp>
        <p:nvSpPr>
          <p:cNvPr id="11" name="Text 8">
            <a:extLst xmlns:a="http://schemas.openxmlformats.org/drawingml/2006/main">
              <a:ext uri="{FF2B5EF4-FFF2-40B4-BE49-F238E27FC236}">
                <a16:creationId xmlns:a16="http://schemas.microsoft.com/office/drawing/2014/main" id="{3B9A562C-3884-4F5C-B9D0-8A4D46AA4443}"/>
              </a:ext>
            </a:extLst>
          </p:cNvPr>
          <p:cNvSpPr>
            <a:spLocks xmlns:a="http://schemas.openxmlformats.org/drawingml/2006/main" noGrp="1"/>
          </p:cNvSpPr>
          <p:nvPr/>
        </p:nvSpPr>
        <p:spPr>
          <a:xfrm xmlns:a="http://schemas.openxmlformats.org/drawingml/2006/main">
            <a:off x="548640" y="157276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DATA-COMPLETE</a:t>
            </a:r>
            <a:endParaRPr sz="850"/>
          </a:p>
        </p:txBody>
      </p:sp>
      <p:sp>
        <p:nvSpPr>
          <p:cNvPr id="12" name="Shape 9">
            <a:extLst xmlns:a="http://schemas.openxmlformats.org/drawingml/2006/main">
              <a:ext uri="{FF2B5EF4-FFF2-40B4-BE49-F238E27FC236}">
                <a16:creationId xmlns:a16="http://schemas.microsoft.com/office/drawing/2014/main" id="{ADE92761-B405-4507-B14B-A16ED972D60F}"/>
              </a:ext>
            </a:extLst>
          </p:cNvPr>
          <p:cNvSpPr>
            <a:spLocks xmlns:a="http://schemas.openxmlformats.org/drawingml/2006/main" noGrp="1"/>
          </p:cNvSpPr>
          <p:nvPr/>
        </p:nvSpPr>
        <p:spPr>
          <a:xfrm xmlns:a="http://schemas.openxmlformats.org/drawingml/2006/main">
            <a:off x="2423160" y="1463040"/>
            <a:ext cx="5669280" cy="502920"/>
          </a:xfrm>
          <a:prstGeom xmlns:a="http://schemas.openxmlformats.org/drawingml/2006/main" prst="roundRect">
            <a:avLst>
              <a:gd name="adj" fmla="val 9091"/>
            </a:avLst>
          </a:prstGeom>
          <a:solidFill xmlns:a="http://schemas.openxmlformats.org/drawingml/2006/main">
            <a:srgbClr val="1F4E79"/>
          </a:solidFill>
        </p:spPr>
        <p:txBody>
          <a:bodyPr xmlns:a="http://schemas.openxmlformats.org/drawingml/2006/main"/>
          <a:lstStyle xmlns:a="http://schemas.openxmlformats.org/drawingml/2006/main"/>
          <a:p xmlns:a="http://schemas.openxmlformats.org/drawingml/2006/main"/>
        </p:txBody>
      </p:sp>
      <p:sp>
        <p:nvSpPr>
          <p:cNvPr id="13" name="Text 10">
            <a:extLst xmlns:a="http://schemas.openxmlformats.org/drawingml/2006/main">
              <a:ext uri="{FF2B5EF4-FFF2-40B4-BE49-F238E27FC236}">
                <a16:creationId xmlns:a16="http://schemas.microsoft.com/office/drawing/2014/main" id="{036B5975-54FD-45D7-81B7-96FD3C463A34}"/>
              </a:ext>
            </a:extLst>
          </p:cNvPr>
          <p:cNvSpPr>
            <a:spLocks xmlns:a="http://schemas.openxmlformats.org/drawingml/2006/main" noGrp="1"/>
          </p:cNvSpPr>
          <p:nvPr/>
        </p:nvSpPr>
        <p:spPr>
          <a:xfrm xmlns:a="http://schemas.openxmlformats.org/drawingml/2006/main">
            <a:off x="7452360" y="1536192"/>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4" name="Text 11">
            <a:extLst xmlns:a="http://schemas.openxmlformats.org/drawingml/2006/main">
              <a:ext uri="{FF2B5EF4-FFF2-40B4-BE49-F238E27FC236}">
                <a16:creationId xmlns:a16="http://schemas.microsoft.com/office/drawing/2014/main" id="{8103AD87-599F-46F7-9F4E-C7186E4F734D}"/>
              </a:ext>
            </a:extLst>
          </p:cNvPr>
          <p:cNvSpPr>
            <a:spLocks xmlns:a="http://schemas.openxmlformats.org/drawingml/2006/main" noGrp="1"/>
          </p:cNvSpPr>
          <p:nvPr/>
        </p:nvSpPr>
        <p:spPr>
          <a:xfrm xmlns:a="http://schemas.openxmlformats.org/drawingml/2006/main">
            <a:off x="548640" y="228600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G1  STRUCTURE</a:t>
            </a:r>
            <a:endParaRPr sz="850"/>
          </a:p>
        </p:txBody>
      </p:sp>
      <p:sp>
        <p:nvSpPr>
          <p:cNvPr id="15" name="Shape 12">
            <a:extLst xmlns:a="http://schemas.openxmlformats.org/drawingml/2006/main">
              <a:ext uri="{FF2B5EF4-FFF2-40B4-BE49-F238E27FC236}">
                <a16:creationId xmlns:a16="http://schemas.microsoft.com/office/drawing/2014/main" id="{4BB4D79D-09F8-4A4D-9F3F-88987B8708C6}"/>
              </a:ext>
            </a:extLst>
          </p:cNvPr>
          <p:cNvSpPr>
            <a:spLocks xmlns:a="http://schemas.openxmlformats.org/drawingml/2006/main" noGrp="1"/>
          </p:cNvSpPr>
          <p:nvPr/>
        </p:nvSpPr>
        <p:spPr>
          <a:xfrm xmlns:a="http://schemas.openxmlformats.org/drawingml/2006/main">
            <a:off x="2423160" y="2176272"/>
            <a:ext cx="5669280" cy="502920"/>
          </a:xfrm>
          <a:prstGeom xmlns:a="http://schemas.openxmlformats.org/drawingml/2006/main" prst="roundRect">
            <a:avLst>
              <a:gd name="adj" fmla="val 9091"/>
            </a:avLst>
          </a:prstGeom>
          <a:solidFill xmlns:a="http://schemas.openxmlformats.org/drawingml/2006/main">
            <a:srgbClr val="0F5298"/>
          </a:solidFill>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C4152D2E-1032-4088-95F4-12A8E8319C0B}"/>
              </a:ext>
            </a:extLst>
          </p:cNvPr>
          <p:cNvSpPr>
            <a:spLocks xmlns:a="http://schemas.openxmlformats.org/drawingml/2006/main" noGrp="1"/>
          </p:cNvSpPr>
          <p:nvPr/>
        </p:nvSpPr>
        <p:spPr>
          <a:xfrm xmlns:a="http://schemas.openxmlformats.org/drawingml/2006/main">
            <a:off x="7452360" y="2249424"/>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7" name="Text 14">
            <a:extLst xmlns:a="http://schemas.openxmlformats.org/drawingml/2006/main">
              <a:ext uri="{FF2B5EF4-FFF2-40B4-BE49-F238E27FC236}">
                <a16:creationId xmlns:a16="http://schemas.microsoft.com/office/drawing/2014/main" id="{783FAAEF-1890-42C3-8089-DE61D9E8B21B}"/>
              </a:ext>
            </a:extLst>
          </p:cNvPr>
          <p:cNvSpPr>
            <a:spLocks xmlns:a="http://schemas.openxmlformats.org/drawingml/2006/main" noGrp="1"/>
          </p:cNvSpPr>
          <p:nvPr/>
        </p:nvSpPr>
        <p:spPr>
          <a:xfrm xmlns:a="http://schemas.openxmlformats.org/drawingml/2006/main">
            <a:off x="548640" y="299923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G2  WINDOW</a:t>
            </a:r>
            <a:endParaRPr sz="850"/>
          </a:p>
        </p:txBody>
      </p:sp>
      <p:sp>
        <p:nvSpPr>
          <p:cNvPr id="18" name="Shape 15">
            <a:extLst xmlns:a="http://schemas.openxmlformats.org/drawingml/2006/main">
              <a:ext uri="{FF2B5EF4-FFF2-40B4-BE49-F238E27FC236}">
                <a16:creationId xmlns:a16="http://schemas.microsoft.com/office/drawing/2014/main" id="{4900CFBC-A5ED-4ECA-890D-F4175FC5EAC6}"/>
              </a:ext>
            </a:extLst>
          </p:cNvPr>
          <p:cNvSpPr>
            <a:spLocks xmlns:a="http://schemas.openxmlformats.org/drawingml/2006/main" noGrp="1"/>
          </p:cNvSpPr>
          <p:nvPr/>
        </p:nvSpPr>
        <p:spPr>
          <a:xfrm xmlns:a="http://schemas.openxmlformats.org/drawingml/2006/main">
            <a:off x="2423160" y="2889504"/>
            <a:ext cx="5186788" cy="502920"/>
          </a:xfrm>
          <a:prstGeom xmlns:a="http://schemas.openxmlformats.org/drawingml/2006/main" prst="roundRect">
            <a:avLst>
              <a:gd name="adj" fmla="val 9091"/>
            </a:avLst>
          </a:prstGeom>
          <a:solidFill xmlns:a="http://schemas.openxmlformats.org/drawingml/2006/main">
            <a:srgbClr val="4A7EBB"/>
          </a:solidFill>
        </p:spPr>
        <p:txBody>
          <a:bodyPr xmlns:a="http://schemas.openxmlformats.org/drawingml/2006/main"/>
          <a:lstStyle xmlns:a="http://schemas.openxmlformats.org/drawingml/2006/main"/>
          <a:p xmlns:a="http://schemas.openxmlformats.org/drawingml/2006/main"/>
        </p:txBody>
      </p:sp>
      <p:sp>
        <p:nvSpPr>
          <p:cNvPr id="19" name="Text 16">
            <a:extLst xmlns:a="http://schemas.openxmlformats.org/drawingml/2006/main">
              <a:ext uri="{FF2B5EF4-FFF2-40B4-BE49-F238E27FC236}">
                <a16:creationId xmlns:a16="http://schemas.microsoft.com/office/drawing/2014/main" id="{9435B86B-CD60-450C-AC1D-449838E8A438}"/>
              </a:ext>
            </a:extLst>
          </p:cNvPr>
          <p:cNvSpPr>
            <a:spLocks xmlns:a="http://schemas.openxmlformats.org/drawingml/2006/main" noGrp="1"/>
          </p:cNvSpPr>
          <p:nvPr/>
        </p:nvSpPr>
        <p:spPr>
          <a:xfrm xmlns:a="http://schemas.openxmlformats.org/drawingml/2006/main">
            <a:off x="6969868" y="2962656"/>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43</a:t>
            </a:r>
            <a:endParaRPr sz="1400"/>
          </a:p>
        </p:txBody>
      </p:sp>
      <p:sp>
        <p:nvSpPr>
          <p:cNvPr id="20" name="Text 17">
            <a:extLst xmlns:a="http://schemas.openxmlformats.org/drawingml/2006/main">
              <a:ext uri="{FF2B5EF4-FFF2-40B4-BE49-F238E27FC236}">
                <a16:creationId xmlns:a16="http://schemas.microsoft.com/office/drawing/2014/main" id="{70A67EC4-AC4A-495D-80CC-0F2B6D4F264B}"/>
              </a:ext>
            </a:extLst>
          </p:cNvPr>
          <p:cNvSpPr>
            <a:spLocks xmlns:a="http://schemas.openxmlformats.org/drawingml/2006/main" noGrp="1"/>
          </p:cNvSpPr>
          <p:nvPr/>
        </p:nvSpPr>
        <p:spPr>
          <a:xfrm xmlns:a="http://schemas.openxmlformats.org/drawingml/2006/main">
            <a:off x="548640" y="371246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G3  OXIDATION</a:t>
            </a:r>
            <a:endParaRPr sz="850"/>
          </a:p>
        </p:txBody>
      </p:sp>
      <p:sp>
        <p:nvSpPr>
          <p:cNvPr id="21" name="Shape 18">
            <a:extLst xmlns:a="http://schemas.openxmlformats.org/drawingml/2006/main">
              <a:ext uri="{FF2B5EF4-FFF2-40B4-BE49-F238E27FC236}">
                <a16:creationId xmlns:a16="http://schemas.microsoft.com/office/drawing/2014/main" id="{21315253-3375-4084-B4A8-FC02A40EA374}"/>
              </a:ext>
            </a:extLst>
          </p:cNvPr>
          <p:cNvSpPr>
            <a:spLocks xmlns:a="http://schemas.openxmlformats.org/drawingml/2006/main" noGrp="1"/>
          </p:cNvSpPr>
          <p:nvPr/>
        </p:nvSpPr>
        <p:spPr>
          <a:xfrm xmlns:a="http://schemas.openxmlformats.org/drawingml/2006/main">
            <a:off x="2423160" y="3602736"/>
            <a:ext cx="3015574" cy="502920"/>
          </a:xfrm>
          <a:prstGeom xmlns:a="http://schemas.openxmlformats.org/drawingml/2006/main" prst="roundRect">
            <a:avLst>
              <a:gd name="adj" fmla="val 9091"/>
            </a:avLst>
          </a:prstGeom>
          <a:solidFill xmlns:a="http://schemas.openxmlformats.org/drawingml/2006/main">
            <a:srgbClr val="B26A00"/>
          </a:solidFill>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93F5AEA6-6D50-47C2-86E8-E48028D73ECA}"/>
              </a:ext>
            </a:extLst>
          </p:cNvPr>
          <p:cNvSpPr>
            <a:spLocks xmlns:a="http://schemas.openxmlformats.org/drawingml/2006/main" noGrp="1"/>
          </p:cNvSpPr>
          <p:nvPr/>
        </p:nvSpPr>
        <p:spPr>
          <a:xfrm xmlns:a="http://schemas.openxmlformats.org/drawingml/2006/main">
            <a:off x="4798654" y="3675888"/>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25</a:t>
            </a:r>
            <a:endParaRPr sz="1400"/>
          </a:p>
        </p:txBody>
      </p:sp>
      <p:sp>
        <p:nvSpPr>
          <p:cNvPr id="23" name="Text 20">
            <a:extLst xmlns:a="http://schemas.openxmlformats.org/drawingml/2006/main">
              <a:ext uri="{FF2B5EF4-FFF2-40B4-BE49-F238E27FC236}">
                <a16:creationId xmlns:a16="http://schemas.microsoft.com/office/drawing/2014/main" id="{C8C9AC1E-756F-441F-8AF3-FD38F4E2D7FA}"/>
              </a:ext>
            </a:extLst>
          </p:cNvPr>
          <p:cNvSpPr>
            <a:spLocks xmlns:a="http://schemas.openxmlformats.org/drawingml/2006/main" noGrp="1"/>
          </p:cNvSpPr>
          <p:nvPr/>
        </p:nvSpPr>
        <p:spPr>
          <a:xfrm xmlns:a="http://schemas.openxmlformats.org/drawingml/2006/main">
            <a:off x="548640" y="442569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G4  LI TRANSPORT</a:t>
            </a:r>
            <a:endParaRPr sz="850"/>
          </a:p>
        </p:txBody>
      </p:sp>
      <p:sp>
        <p:nvSpPr>
          <p:cNvPr id="24" name="Shape 21">
            <a:extLst xmlns:a="http://schemas.openxmlformats.org/drawingml/2006/main">
              <a:ext uri="{FF2B5EF4-FFF2-40B4-BE49-F238E27FC236}">
                <a16:creationId xmlns:a16="http://schemas.microsoft.com/office/drawing/2014/main" id="{D2D7AF26-35BA-495F-BD8C-9E58DB09D5A2}"/>
              </a:ext>
            </a:extLst>
          </p:cNvPr>
          <p:cNvSpPr>
            <a:spLocks xmlns:a="http://schemas.openxmlformats.org/drawingml/2006/main" noGrp="1"/>
          </p:cNvSpPr>
          <p:nvPr/>
        </p:nvSpPr>
        <p:spPr>
          <a:xfrm xmlns:a="http://schemas.openxmlformats.org/drawingml/2006/main">
            <a:off x="2423160" y="4315968"/>
            <a:ext cx="1326853" cy="502920"/>
          </a:xfrm>
          <a:prstGeom xmlns:a="http://schemas.openxmlformats.org/drawingml/2006/main" prst="roundRect">
            <a:avLst>
              <a:gd name="adj" fmla="val 9091"/>
            </a:avLst>
          </a:prstGeom>
          <a:solidFill xmlns:a="http://schemas.openxmlformats.org/drawingml/2006/main">
            <a:srgbClr val="2E7D32"/>
          </a:solidFill>
        </p:spPr>
        <p:txBody>
          <a:bodyPr xmlns:a="http://schemas.openxmlformats.org/drawingml/2006/main"/>
          <a:lstStyle xmlns:a="http://schemas.openxmlformats.org/drawingml/2006/main"/>
          <a:p xmlns:a="http://schemas.openxmlformats.org/drawingml/2006/main"/>
        </p:txBody>
      </p:sp>
      <p:sp>
        <p:nvSpPr>
          <p:cNvPr id="25" name="Text 22">
            <a:extLst xmlns:a="http://schemas.openxmlformats.org/drawingml/2006/main">
              <a:ext uri="{FF2B5EF4-FFF2-40B4-BE49-F238E27FC236}">
                <a16:creationId xmlns:a16="http://schemas.microsoft.com/office/drawing/2014/main" id="{9EA90ABB-32FA-4BD2-A636-920BE1ABB2FD}"/>
              </a:ext>
            </a:extLst>
          </p:cNvPr>
          <p:cNvSpPr>
            <a:spLocks xmlns:a="http://schemas.openxmlformats.org/drawingml/2006/main" noGrp="1"/>
          </p:cNvSpPr>
          <p:nvPr/>
        </p:nvSpPr>
        <p:spPr>
          <a:xfrm xmlns:a="http://schemas.openxmlformats.org/drawingml/2006/main">
            <a:off x="3109933" y="4389120"/>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11</a:t>
            </a:r>
            <a:endParaRPr sz="1400"/>
          </a:p>
        </p:txBody>
      </p:sp>
      <p:sp>
        <p:nvSpPr>
          <p:cNvPr id="26" name="Shape 23">
            <a:extLst xmlns:a="http://schemas.openxmlformats.org/drawingml/2006/main">
              <a:ext uri="{FF2B5EF4-FFF2-40B4-BE49-F238E27FC236}">
                <a16:creationId xmlns:a16="http://schemas.microsoft.com/office/drawing/2014/main" id="{83799F44-A396-41FA-9D7D-04F3FB62B8ED}"/>
              </a:ext>
            </a:extLst>
          </p:cNvPr>
          <p:cNvSpPr>
            <a:spLocks xmlns:a="http://schemas.openxmlformats.org/drawingml/2006/main" noGrp="1"/>
          </p:cNvSpPr>
          <p:nvPr/>
        </p:nvSpPr>
        <p:spPr>
          <a:xfrm xmlns:a="http://schemas.openxmlformats.org/drawingml/2006/main">
            <a:off x="3108960" y="5120640"/>
            <a:ext cx="2926080" cy="457200"/>
          </a:xfrm>
          <a:prstGeom xmlns:a="http://schemas.openxmlformats.org/drawingml/2006/main" prst="roundRect">
            <a:avLst>
              <a:gd name="adj" fmla="val 14000"/>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27" name="Text 24">
            <a:extLst xmlns:a="http://schemas.openxmlformats.org/drawingml/2006/main">
              <a:ext uri="{FF2B5EF4-FFF2-40B4-BE49-F238E27FC236}">
                <a16:creationId xmlns:a16="http://schemas.microsoft.com/office/drawing/2014/main" id="{BB109923-ABA3-4971-BE5A-17A0304881D8}"/>
              </a:ext>
            </a:extLst>
          </p:cNvPr>
          <p:cNvSpPr>
            <a:spLocks xmlns:a="http://schemas.openxmlformats.org/drawingml/2006/main" noGrp="1"/>
          </p:cNvSpPr>
          <p:nvPr/>
        </p:nvSpPr>
        <p:spPr>
          <a:xfrm xmlns:a="http://schemas.openxmlformats.org/drawingml/2006/main">
            <a:off x="3108960" y="5175504"/>
            <a:ext cx="29260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7F7F7F"/>
                </a:solidFill>
                <a:latin typeface="Arial"/>
                <a:ea typeface="Arial"/>
                <a:cs typeface="Arial"/>
              </a:rPr>
              <a:t>G5 mechanical ranking → 1*</a:t>
            </a:r>
            <a:endParaRPr sz="1050"/>
          </a:p>
        </p:txBody>
      </p:sp>
      <p:sp>
        <p:nvSpPr>
          <p:cNvPr id="28" name="Text 25">
            <a:extLst xmlns:a="http://schemas.openxmlformats.org/drawingml/2006/main">
              <a:ext uri="{FF2B5EF4-FFF2-40B4-BE49-F238E27FC236}">
                <a16:creationId xmlns:a16="http://schemas.microsoft.com/office/drawing/2014/main" id="{B5886C1D-2DC0-44E9-B3AF-8E98604C5DF2}"/>
              </a:ext>
            </a:extLst>
          </p:cNvPr>
          <p:cNvSpPr>
            <a:spLocks xmlns:a="http://schemas.openxmlformats.org/drawingml/2006/main" noGrp="1"/>
          </p:cNvSpPr>
          <p:nvPr/>
        </p:nvSpPr>
        <p:spPr>
          <a:xfrm xmlns:a="http://schemas.openxmlformats.org/drawingml/2006/main">
            <a:off x="548640" y="5715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 This funnel is a post-hoc analysis view. G4 is heuristic; G5 is ranking-only.</a:t>
            </a:r>
            <a:endParaRPr sz="1250"/>
          </a:p>
        </p:txBody>
      </p:sp>
      <p:sp>
        <p:nvSpPr>
          <p:cNvPr id="29" name="Text 26">
            <a:extLst xmlns:a="http://schemas.openxmlformats.org/drawingml/2006/main">
              <a:ext uri="{FF2B5EF4-FFF2-40B4-BE49-F238E27FC236}">
                <a16:creationId xmlns:a16="http://schemas.microsoft.com/office/drawing/2014/main" id="{69CE4739-B067-4DC3-8AF0-EF5D5B4ACFB3}"/>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(waterfall)</a:t>
            </a:r>
            <a:endParaRPr sz="750"/>
          </a:p>
        </p:txBody>
      </p:sp>
    </p:spTree>
    <p:extLst>
      <p:ext uri="{BB962C8B-B14F-4D97-AF65-F5344CB8AC3E}">
        <p14:creationId xmlns:p14="http://schemas.microsoft.com/office/powerpoint/2010/main" val="11555388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C281D7-A967-417E-899A-C873C57B989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Audit</a:t>
            </a:r>
            <a:endParaRPr sz="2800"/>
          </a:p>
        </p:txBody>
      </p:sp>
      <p:sp>
        <p:nvSpPr>
          <p:cNvPr id="3" name="Text 1">
            <a:extLst xmlns:a="http://schemas.openxmlformats.org/drawingml/2006/main">
              <a:ext uri="{FF2B5EF4-FFF2-40B4-BE49-F238E27FC236}">
                <a16:creationId xmlns:a16="http://schemas.microsoft.com/office/drawing/2014/main" id="{27B14885-0EF4-49D5-822B-F9D319B3B0A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Standalone kill · unique kill</a:t>
            </a:r>
            <a:endParaRPr sz="900"/>
          </a:p>
        </p:txBody>
      </p:sp>
      <p:sp>
        <p:nvSpPr>
          <p:cNvPr id="4" name="Shape 2">
            <a:extLst xmlns:a="http://schemas.openxmlformats.org/drawingml/2006/main">
              <a:ext uri="{FF2B5EF4-FFF2-40B4-BE49-F238E27FC236}">
                <a16:creationId xmlns:a16="http://schemas.microsoft.com/office/drawing/2014/main" id="{41D7B760-7797-4F63-BE4E-9534E1A0D9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FA29E42-7EA9-43AB-8CD2-8203BF15AE2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C4FEE9CD-A927-4F29-8280-01EEAB8DA8B9}"/>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Two gates reveal more about the pool than the candidates</a:t>
            </a:r>
            <a:endParaRPr sz="1400"/>
          </a:p>
        </p:txBody>
      </p:sp>
      <p:sp>
        <p:nvSpPr>
          <p:cNvPr id="7" name="Text 5">
            <a:extLst xmlns:a="http://schemas.openxmlformats.org/drawingml/2006/main">
              <a:ext uri="{FF2B5EF4-FFF2-40B4-BE49-F238E27FC236}">
                <a16:creationId xmlns:a16="http://schemas.microsoft.com/office/drawing/2014/main" id="{C5360CE3-91CC-4AD2-97C1-FAC5F3CC2EF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E1829AB9-85D2-48AD-8841-857D7345810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7A6371A-9D10-447C-ACF0-BF8B9CB64F44}"/>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10</a:t>
            </a:r>
            <a:endParaRPr sz="900"/>
          </a:p>
        </p:txBody>
      </p:sp>
      <p:sp>
        <p:nvSpPr>
          <p:cNvPr id="11" name="Shape 8">
            <a:extLst xmlns:a="http://schemas.openxmlformats.org/drawingml/2006/main">
              <a:ext uri="{FF2B5EF4-FFF2-40B4-BE49-F238E27FC236}">
                <a16:creationId xmlns:a16="http://schemas.microsoft.com/office/drawing/2014/main" id="{7F18FD07-45B9-421A-8D09-95DFB0542CD8}"/>
              </a:ext>
            </a:extLst>
          </p:cNvPr>
          <p:cNvSpPr>
            <a:spLocks xmlns:a="http://schemas.openxmlformats.org/drawingml/2006/main" noGrp="1"/>
          </p:cNvSpPr>
          <p:nvPr/>
        </p:nvSpPr>
        <p:spPr>
          <a:xfrm xmlns:a="http://schemas.openxmlformats.org/drawingml/2006/main">
            <a:off x="731520" y="1645920"/>
            <a:ext cx="3657600" cy="2926080"/>
          </a:xfrm>
          <a:prstGeom xmlns:a="http://schemas.openxmlformats.org/drawingml/2006/main" prst="roundRect">
            <a:avLst>
              <a:gd name="adj" fmla="val 218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63FDE064-37FF-4784-98C3-18C2C2F81946}"/>
              </a:ext>
            </a:extLst>
          </p:cNvPr>
          <p:cNvSpPr>
            <a:spLocks xmlns:a="http://schemas.openxmlformats.org/drawingml/2006/main" noGrp="1"/>
          </p:cNvSpPr>
          <p:nvPr/>
        </p:nvSpPr>
        <p:spPr>
          <a:xfrm xmlns:a="http://schemas.openxmlformats.org/drawingml/2006/main">
            <a:off x="91440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F4E79"/>
                </a:solidFill>
                <a:latin typeface="Arial"/>
                <a:ea typeface="Arial"/>
                <a:cs typeface="Arial"/>
              </a:rPr>
              <a:t>G1: 47 / 47 pass
</a:t>
            </a:r>
            <a:endParaRPr sz="1300"/>
          </a:p>
          <a:p xmlns:a="http://schemas.openxmlformats.org/drawingml/2006/main">
            <a:pPr marL="0" indent="0">
              <a:buNone/>
            </a:pPr>
            <a:r>
              <a:rPr sz="1700" b="1">
                <a:solidFill>
                  <a:srgbClr val="9E2A2B"/>
                </a:solidFill>
                <a:latin typeface="Arial"/>
                <a:ea typeface="Arial"/>
                <a:cs typeface="Arial"/>
              </a:rPr>
              <a:t>VACUOUS
</a:t>
            </a:r>
            <a:endParaRPr sz="1300"/>
          </a:p>
          <a:p xmlns:a="http://schemas.openxmlformats.org/drawingml/2006/main">
            <a:pPr marL="0" indent="0">
              <a:buNone/>
            </a:pPr>
            <a:r>
              <a:rPr sz="1000">
                <a:solidFill>
                  <a:srgbClr val="262626"/>
                </a:solidFill>
                <a:latin typeface="Arial"/>
                <a:ea typeface="Arial"/>
                <a:cs typeface="Arial"/>
              </a:rPr>
              <a:t>No selection pressure in the curated pool.</a:t>
            </a:r>
            <a:endParaRPr sz="1300"/>
          </a:p>
          <a:p xmlns:a="http://schemas.openxmlformats.org/drawingml/2006/main">
            <a:pPr marL="0" indent="0">
              <a:buNone/>
            </a:pPr>
            <a:r>
              <a:rPr sz="1000">
                <a:solidFill>
                  <a:srgbClr val="262626"/>
                </a:solidFill>
                <a:latin typeface="Arial"/>
                <a:ea typeface="Arial"/>
                <a:cs typeface="Arial"/>
              </a:rPr>
              <a:t>This does not prove universal stability.</a:t>
            </a:r>
            <a:endParaRPr sz="1300"/>
          </a:p>
        </p:txBody>
      </p:sp>
      <p:sp>
        <p:nvSpPr>
          <p:cNvPr id="13" name="Shape 10">
            <a:extLst xmlns:a="http://schemas.openxmlformats.org/drawingml/2006/main">
              <a:ext uri="{FF2B5EF4-FFF2-40B4-BE49-F238E27FC236}">
                <a16:creationId xmlns:a16="http://schemas.microsoft.com/office/drawing/2014/main" id="{2ED5832F-BFF2-4AF7-823E-11088978A36D}"/>
              </a:ext>
            </a:extLst>
          </p:cNvPr>
          <p:cNvSpPr>
            <a:spLocks xmlns:a="http://schemas.openxmlformats.org/drawingml/2006/main" noGrp="1"/>
          </p:cNvSpPr>
          <p:nvPr/>
        </p:nvSpPr>
        <p:spPr>
          <a:xfrm xmlns:a="http://schemas.openxmlformats.org/drawingml/2006/main">
            <a:off x="4754880" y="1645920"/>
            <a:ext cx="3657600" cy="2926080"/>
          </a:xfrm>
          <a:prstGeom xmlns:a="http://schemas.openxmlformats.org/drawingml/2006/main" prst="roundRect">
            <a:avLst>
              <a:gd name="adj" fmla="val 2188"/>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C36E89ED-DD02-4974-B1B9-E8117CE4F805}"/>
              </a:ext>
            </a:extLst>
          </p:cNvPr>
          <p:cNvSpPr>
            <a:spLocks xmlns:a="http://schemas.openxmlformats.org/drawingml/2006/main" noGrp="1"/>
          </p:cNvSpPr>
          <p:nvPr/>
        </p:nvSpPr>
        <p:spPr>
          <a:xfrm xmlns:a="http://schemas.openxmlformats.org/drawingml/2006/main">
            <a:off x="493776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25" b="1">
                <a:solidFill>
                  <a:srgbClr val="B26A00"/>
                </a:solidFill>
                <a:latin typeface="Arial"/>
                <a:ea typeface="Arial"/>
                <a:cs typeface="Arial"/>
              </a:rPr>
              <a:t>G2: unique kill = 0</a:t>
            </a:r>
            <a:endParaRPr sz="1300"/>
          </a:p>
          <a:p xmlns:a="http://schemas.openxmlformats.org/drawingml/2006/main">
            <a:pPr marL="0" indent="0">
              <a:buNone/>
            </a:pPr>
            <a:r>
              <a:rPr sz="1700" b="1">
                <a:solidFill>
                  <a:srgbClr val="9E2A2B"/>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REDUNDANT</a:t>
            </a:r>
            <a:endParaRPr sz="1300"/>
          </a:p>
          <a:p xmlns:a="http://schemas.openxmlformats.org/drawingml/2006/main">
            <a:pPr marL="0" indent="0">
              <a:buNone/>
            </a:pPr>
            <a:r>
              <a:rPr sz="1000">
                <a:solidFill>
                  <a:srgbClr val="262626"/>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Four window-collapse failures (CoO, Fe₂O₃, MnO, NiO) also fail G3.</a:t>
            </a:r>
            <a:endParaRPr sz="1300"/>
          </a:p>
          <a:p xmlns:a="http://schemas.openxmlformats.org/drawingml/2006/main">
            <a:pPr marL="0" indent="0">
              <a:buNone/>
            </a:pPr>
            <a:r>
              <a:rPr sz="1125">
                <a:solidFill>
                  <a:srgbClr val="262626"/>
                </a:solidFill>
                <a:latin typeface="Arial"/>
                <a:ea typeface="Arial"/>
                <a:cs typeface="Arial"/>
              </a:rPr>
              <a:t>The same four late-TM oxides fail both gates.</a:t>
            </a:r>
            <a:endParaRPr sz="1300"/>
          </a:p>
        </p:txBody>
      </p:sp>
      <p:sp>
        <p:nvSpPr>
          <p:cNvPr id="15" name="Text 12">
            <a:extLst xmlns:a="http://schemas.openxmlformats.org/drawingml/2006/main">
              <a:ext uri="{FF2B5EF4-FFF2-40B4-BE49-F238E27FC236}">
                <a16:creationId xmlns:a16="http://schemas.microsoft.com/office/drawing/2014/main" id="{B8D6F603-9819-4140-9897-9651DB3833AF}"/>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Keep the records. Change the interpretation.  Gate auditing is itself a scientific result.</a:t>
            </a:r>
            <a:endParaRPr sz="1250"/>
          </a:p>
        </p:txBody>
      </p:sp>
      <p:sp>
        <p:nvSpPr>
          <p:cNvPr id="16" name="Text 13">
            <a:extLst xmlns:a="http://schemas.openxmlformats.org/drawingml/2006/main">
              <a:ext uri="{FF2B5EF4-FFF2-40B4-BE49-F238E27FC236}">
                <a16:creationId xmlns:a16="http://schemas.microsoft.com/office/drawing/2014/main" id="{ED51A3EB-982E-4CE3-B0DC-254DB4F2DBCD}"/>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(gate_power) · pipeline guide</a:t>
            </a:r>
            <a:endParaRPr sz="750"/>
          </a:p>
        </p:txBody>
      </p:sp>
    </p:spTree>
    <p:extLst>
      <p:ext uri="{BB962C8B-B14F-4D97-AF65-F5344CB8AC3E}">
        <p14:creationId xmlns:p14="http://schemas.microsoft.com/office/powerpoint/2010/main" val="4189459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Result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47-species snapshot · static pathway audit</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11</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507c292b461d4e74"/>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All six oxidation-raising candidates stop at the same static pathway heuristic — a dataset-level trade-off, not causal proof of M–O blocking</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cascade_seminar_oxidation_transport_47.csv (6/6 verified)</a:t>
            </a:r>
            <a:endParaRPr sz="750"/>
          </a:p>
        </p:txBody>
      </p:sp>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External check</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Same method, same question, independent group</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Related sulfide work shows why oxidation stability is hard to move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12</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600200"/>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78308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Banik / Zeier / Mo (2022) — same grand-potential tool + HAXPES + stepwise CV</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532888"/>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715768"/>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Their answer:  VBM is pinned by S (free S²⁻ and non-bonding PS₄³⁻ 3p) — substitution does not move it</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465576"/>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648456"/>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Our screen:  six candidates raise the onset — and all six then stop at the Li-path gate</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4398264"/>
            <a:ext cx="7680960" cy="777240"/>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581144"/>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Different chemistries, same warning: one gain exposes another constraint</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Banik et al.: limited onset shift inside a sulfide framework. Our screen: raised-onset candidates carry a separate static-path risk.</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Banik et al. (2022), local litdb copy · Zeier–Mo collaboration</a:t>
            </a:r>
            <a:endParaRPr sz="750"/>
          </a:p>
        </p:txBody>
      </p:sp>
    </p:spTree>
    <p:extLst>
      <p:ext uri="{BB962C8B-B14F-4D97-AF65-F5344CB8AC3E}">
        <p14:creationId xmlns:p14="http://schemas.microsoft.com/office/powerpoint/2010/main" val="18183679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Result</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Trade-off 2 · found while verifying a value</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One corrected number split two axes that used to agree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13</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600200"/>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78308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Old record:  Sc₂O₃ x002 — softest (E_VRH 18.7 GPa) AND strongest formation (−0.974 eV/atom)</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532888"/>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715768"/>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Cross-file conflict traced to raw output:  E_VRH is 42.082, not 18.7 — a factor of 2.2</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465576"/>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648456"/>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Re-sorted all 40 champions:  softest are now Li₂O 32.4 · MnO 32.6 · NiO 33.9;  Sc₂O₃ falls to rank 18</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4398264"/>
            <a:ext cx="7680960" cy="777240"/>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581144"/>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Formation energy stays rank 1 (−0.9338) — so the two axes came apart</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Gate audit showed one trade-off; value audit showed another. In this dataset, one candidate winning every axis does not survive checking.</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doping_cascade_verified.json (recomputed 2026-08-13) · gabia FINAL_RANKING.json raw rows</a:t>
            </a:r>
            <a:endParaRPr sz="750"/>
          </a:p>
        </p:txBody>
      </p:sp>
    </p:spTree>
    <p:extLst>
      <p:ext uri="{BB962C8B-B14F-4D97-AF65-F5344CB8AC3E}">
        <p14:creationId xmlns:p14="http://schemas.microsoft.com/office/powerpoint/2010/main" val="143401744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2B9C52-1BB3-4387-AF1B-E85BB265D98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EB9671CE-F727-4643-BA3C-2382C74C919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G1–G4 conditional 2D Pareto: ΔE vs transport proxy</a:t>
            </a:r>
            <a:endParaRPr sz="900"/>
          </a:p>
        </p:txBody>
      </p:sp>
      <p:sp>
        <p:nvSpPr>
          <p:cNvPr id="4" name="Shape 2">
            <a:extLst xmlns:a="http://schemas.openxmlformats.org/drawingml/2006/main">
              <a:ext uri="{FF2B5EF4-FFF2-40B4-BE49-F238E27FC236}">
                <a16:creationId xmlns:a16="http://schemas.microsoft.com/office/drawing/2014/main" id="{F8CE97B9-1620-412C-A583-A83D06059E8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EBA9338A-320A-4697-8FBD-ED98B2B292F9}"/>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10AFC671-BECD-4DA2-AFBE-9A5900D134D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EFA103DD-36FC-4097-95F0-A00A3382DDF2}"/>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14</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db36ec5c15664c9d"/>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4DBDD00B-1A30-411F-8618-4FF830FA557C}"/>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Axis-dependent within the 11-member shortlist — not a universal winner set</a:t>
            </a:r>
            <a:endParaRPr sz="850"/>
          </a:p>
        </p:txBody>
      </p:sp>
      <p:sp>
        <p:nvSpPr>
          <p:cNvPr id="11" name="Text 7">
            <a:extLst xmlns:a="http://schemas.openxmlformats.org/drawingml/2006/main">
              <a:ext uri="{FF2B5EF4-FFF2-40B4-BE49-F238E27FC236}">
                <a16:creationId xmlns:a16="http://schemas.microsoft.com/office/drawing/2014/main" id="{8ADC9EBB-CE13-41B5-A3E8-2F4BFC06F9DF}"/>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cascade_seminar_pareto_47.csv</a:t>
            </a:r>
            <a:endParaRPr sz="750"/>
          </a:p>
        </p:txBody>
      </p:sp>
    </p:spTree>
    <p:extLst>
      <p:ext uri="{BB962C8B-B14F-4D97-AF65-F5344CB8AC3E}">
        <p14:creationId xmlns:p14="http://schemas.microsoft.com/office/powerpoint/2010/main" val="16440330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Four concrete deployment trade-offs</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The G4 endpoint changes when handling and scale-up axes enter</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15</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Candidate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looks favorable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changes the decision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LiF</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ΔE_H2S = 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No kinetics or coating-lifetime validation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STATIC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MgO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ΔE_H2S = −19.2; ΔE_LPSCl = −74.3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CaO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ΔE_H2S = −74.3; ΔE_LPSCl = −253.3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Cu₂O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ΔG_hyd,lit = +1.267 eV H₂O⁻¹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Stops at G3; ΔE_LPSCl = −340.9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LITERATURE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Triage flags only — not validated coating lifetimes, kinetics, or universal winners.</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stability_axes.csv · themes.json · scorecard_47.csv</a:t>
            </a:r>
            <a:endParaRPr sz="750"/>
          </a:p>
        </p:txBody>
      </p:sp>
    </p:spTree>
    <p:extLst>
      <p:ext uri="{BB962C8B-B14F-4D97-AF65-F5344CB8AC3E}">
        <p14:creationId xmlns:p14="http://schemas.microsoft.com/office/powerpoint/2010/main" val="106840349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B72A80-F8D8-4DA8-B1C8-85A60A2B9E4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Trust boundary</a:t>
            </a:r>
            <a:endParaRPr sz="2800"/>
          </a:p>
        </p:txBody>
      </p:sp>
      <p:sp>
        <p:nvSpPr>
          <p:cNvPr id="3" name="Text 1">
            <a:extLst xmlns:a="http://schemas.openxmlformats.org/drawingml/2006/main">
              <a:ext uri="{FF2B5EF4-FFF2-40B4-BE49-F238E27FC236}">
                <a16:creationId xmlns:a16="http://schemas.microsoft.com/office/drawing/2014/main" id="{857FDF86-D5D1-4793-A3EE-CA871CEF428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Method-matched claims only</a:t>
            </a:r>
            <a:endParaRPr sz="900"/>
          </a:p>
        </p:txBody>
      </p:sp>
      <p:sp>
        <p:nvSpPr>
          <p:cNvPr id="4" name="Shape 2">
            <a:extLst xmlns:a="http://schemas.openxmlformats.org/drawingml/2006/main">
              <a:ext uri="{FF2B5EF4-FFF2-40B4-BE49-F238E27FC236}">
                <a16:creationId xmlns:a16="http://schemas.microsoft.com/office/drawing/2014/main" id="{E5559586-3E40-467D-B537-4B3749161DC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B3A5C6C-2AA0-40E0-8744-1AD8917F5702}"/>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F0FD6707-B982-4953-A898-3D0692037D8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Claim strength must match the method</a:t>
            </a:r>
            <a:endParaRPr sz="1400"/>
          </a:p>
        </p:txBody>
      </p:sp>
      <p:sp>
        <p:nvSpPr>
          <p:cNvPr id="7" name="Text 5">
            <a:extLst xmlns:a="http://schemas.openxmlformats.org/drawingml/2006/main">
              <a:ext uri="{FF2B5EF4-FFF2-40B4-BE49-F238E27FC236}">
                <a16:creationId xmlns:a16="http://schemas.microsoft.com/office/drawing/2014/main" id="{79A44AC2-F44A-4A19-B810-8CC1F202BD6C}"/>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5FE06CC-251F-4C63-AA3F-8EA8C44967D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7E0FDF-5BA5-4960-816C-1DD15272C569}"/>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16</a:t>
            </a:r>
            <a:endParaRPr sz="900"/>
          </a:p>
        </p:txBody>
      </p:sp>
      <p:sp>
        <p:nvSpPr>
          <p:cNvPr id="11" name="Shape 8">
            <a:extLst xmlns:a="http://schemas.openxmlformats.org/drawingml/2006/main">
              <a:ext uri="{FF2B5EF4-FFF2-40B4-BE49-F238E27FC236}">
                <a16:creationId xmlns:a16="http://schemas.microsoft.com/office/drawing/2014/main" id="{C6939D63-24F6-4F10-B14F-ADB66BC9C92C}"/>
              </a:ext>
            </a:extLst>
          </p:cNvPr>
          <p:cNvSpPr>
            <a:spLocks xmlns:a="http://schemas.openxmlformats.org/drawingml/2006/main" noGrp="1"/>
          </p:cNvSpPr>
          <p:nvPr/>
        </p:nvSpPr>
        <p:spPr>
          <a:xfrm xmlns:a="http://schemas.openxmlformats.org/drawingml/2006/main">
            <a:off x="731520" y="1645920"/>
            <a:ext cx="3657600" cy="3017520"/>
          </a:xfrm>
          <a:prstGeom xmlns:a="http://schemas.openxmlformats.org/drawingml/2006/main" prst="roundRect">
            <a:avLst>
              <a:gd name="adj" fmla="val 2121"/>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8E7E8310-DD92-4C83-AA6B-FFD0E0928B4E}"/>
              </a:ext>
            </a:extLst>
          </p:cNvPr>
          <p:cNvSpPr>
            <a:spLocks xmlns:a="http://schemas.openxmlformats.org/drawingml/2006/main" noGrp="1"/>
          </p:cNvSpPr>
          <p:nvPr/>
        </p:nvSpPr>
        <p:spPr>
          <a:xfrm xmlns:a="http://schemas.openxmlformats.org/drawingml/2006/main">
            <a:off x="91440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E7D32"/>
                </a:solidFill>
                <a:latin typeface="Arial"/>
                <a:ea typeface="Arial"/>
                <a:cs typeface="Arial"/>
              </a:rPr>
              <a:t>SUPPORTED
</a:t>
            </a:r>
            <a:endParaRPr sz="1300"/>
          </a:p>
          <a:p xmlns:a="http://schemas.openxmlformats.org/drawingml/2006/main">
            <a:pPr marL="0" indent="0">
              <a:buNone/>
            </a:pPr>
            <a:r>
              <a:rPr sz="1050">
                <a:solidFill>
                  <a:srgbClr val="262626"/>
                </a:solidFill>
                <a:latin typeface="Arial"/>
                <a:ea typeface="Arial"/>
                <a:cs typeface="Arial"/>
              </a:rPr>
              <a:t>✓ Gate pass / fail</a:t>
            </a:r>
            <a:endParaRPr sz="1300"/>
          </a:p>
          <a:p xmlns:a="http://schemas.openxmlformats.org/drawingml/2006/main">
            <a:pPr marL="0" indent="0">
              <a:buNone/>
            </a:pPr>
            <a:r>
              <a:rPr sz="1050">
                <a:solidFill>
                  <a:srgbClr val="262626"/>
                </a:solidFill>
                <a:latin typeface="Arial"/>
                <a:ea typeface="Arial"/>
                <a:cs typeface="Arial"/>
              </a:rPr>
              <a:t>✓ Same-protocol relative ranking</a:t>
            </a:r>
            <a:endParaRPr sz="1300"/>
          </a:p>
          <a:p xmlns:a="http://schemas.openxmlformats.org/drawingml/2006/main">
            <a:pPr marL="0" indent="0">
              <a:buNone/>
            </a:pPr>
            <a:r>
              <a:rPr sz="1050">
                <a:solidFill>
                  <a:srgbClr val="262626"/>
                </a:solidFill>
                <a:latin typeface="Arial"/>
                <a:ea typeface="Arial"/>
                <a:cs typeface="Arial"/>
              </a:rPr>
              <a:t>✓ Oxidation–transport trade-off</a:t>
            </a:r>
            <a:endParaRPr sz="1300"/>
          </a:p>
          <a:p xmlns:a="http://schemas.openxmlformats.org/drawingml/2006/main">
            <a:pPr marL="0" indent="0">
              <a:buNone/>
            </a:pPr>
            <a:r>
              <a:rPr sz="1050">
                <a:solidFill>
                  <a:srgbClr val="262626"/>
                </a:solidFill>
                <a:latin typeface="Arial"/>
                <a:ea typeface="Arial"/>
                <a:cs typeface="Arial"/>
              </a:rPr>
              <a:t>✓ Gate-order invariance</a:t>
            </a:r>
            <a:endParaRPr sz="1300"/>
          </a:p>
        </p:txBody>
      </p:sp>
      <p:sp>
        <p:nvSpPr>
          <p:cNvPr id="13" name="Shape 10">
            <a:extLst xmlns:a="http://schemas.openxmlformats.org/drawingml/2006/main">
              <a:ext uri="{FF2B5EF4-FFF2-40B4-BE49-F238E27FC236}">
                <a16:creationId xmlns:a16="http://schemas.microsoft.com/office/drawing/2014/main" id="{4D653038-04A8-49D0-A004-7FD214DC29B2}"/>
              </a:ext>
            </a:extLst>
          </p:cNvPr>
          <p:cNvSpPr>
            <a:spLocks xmlns:a="http://schemas.openxmlformats.org/drawingml/2006/main" noGrp="1"/>
          </p:cNvSpPr>
          <p:nvPr/>
        </p:nvSpPr>
        <p:spPr>
          <a:xfrm xmlns:a="http://schemas.openxmlformats.org/drawingml/2006/main">
            <a:off x="4754880" y="1645920"/>
            <a:ext cx="3657600" cy="3017520"/>
          </a:xfrm>
          <a:prstGeom xmlns:a="http://schemas.openxmlformats.org/drawingml/2006/main" prst="roundRect">
            <a:avLst>
              <a:gd name="adj" fmla="val 2121"/>
            </a:avLst>
          </a:prstGeom>
          <a:solidFill xmlns:a="http://schemas.openxmlformats.org/drawingml/2006/main">
            <a:srgbClr val="FDECEA"/>
          </a:solidFill>
          <a:ln xmlns:a="http://schemas.openxmlformats.org/drawingml/2006/main" w="12700">
            <a:solidFill>
              <a:srgbClr val="9E2A2B"/>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A55F6169-B6FB-43DA-8BCF-F35216B46B83}"/>
              </a:ext>
            </a:extLst>
          </p:cNvPr>
          <p:cNvSpPr>
            <a:spLocks xmlns:a="http://schemas.openxmlformats.org/drawingml/2006/main" noGrp="1"/>
          </p:cNvSpPr>
          <p:nvPr/>
        </p:nvSpPr>
        <p:spPr>
          <a:xfrm xmlns:a="http://schemas.openxmlformats.org/drawingml/2006/main">
            <a:off x="493776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E2A2B"/>
                </a:solidFill>
                <a:latin typeface="Arial"/>
                <a:ea typeface="Arial"/>
                <a:cs typeface="Arial"/>
              </a:rPr>
              <a:t>NOT SUPPORTED
</a:t>
            </a:r>
            <a:endParaRPr sz="1300"/>
          </a:p>
          <a:p xmlns:a="http://schemas.openxmlformats.org/drawingml/2006/main">
            <a:pPr marL="0" indent="0">
              <a:buNone/>
            </a:pPr>
            <a:r>
              <a:rPr sz="1050">
                <a:solidFill>
                  <a:srgbClr val="262626"/>
                </a:solidFill>
                <a:latin typeface="Arial"/>
                <a:ea typeface="Arial"/>
                <a:cs typeface="Arial"/>
              </a:rPr>
              <a:t>× UMA absolute energies / moduli</a:t>
            </a:r>
            <a:endParaRPr sz="1300"/>
          </a:p>
          <a:p xmlns:a="http://schemas.openxmlformats.org/drawingml/2006/main">
            <a:pPr marL="0" indent="0">
              <a:buNone/>
            </a:pPr>
            <a:r>
              <a:rPr sz="1050">
                <a:solidFill>
                  <a:srgbClr val="262626"/>
                </a:solidFill>
                <a:latin typeface="Arial"/>
                <a:ea typeface="Arial"/>
                <a:cs typeface="Arial"/>
              </a:rPr>
              <a:t>× BVSE-derived conductivity</a:t>
            </a:r>
            <a:endParaRPr sz="1300"/>
          </a:p>
          <a:p xmlns:a="http://schemas.openxmlformats.org/drawingml/2006/main">
            <a:pPr marL="0" indent="0">
              <a:buNone/>
            </a:pPr>
            <a:r>
              <a:rPr sz="1050">
                <a:solidFill>
                  <a:srgbClr val="262626"/>
                </a:solidFill>
                <a:latin typeface="Arial"/>
                <a:ea typeface="Arial"/>
                <a:cs typeface="Arial"/>
              </a:rPr>
              <a:t>× Ranking inside degenerate groups</a:t>
            </a:r>
            <a:endParaRPr sz="1300"/>
          </a:p>
          <a:p xmlns:a="http://schemas.openxmlformats.org/drawingml/2006/main">
            <a:pPr marL="0" indent="0">
              <a:buNone/>
            </a:pPr>
            <a:r>
              <a:rPr sz="1050">
                <a:solidFill>
                  <a:srgbClr val="262626"/>
                </a:solidFill>
                <a:latin typeface="Arial"/>
                <a:ea typeface="Arial"/>
                <a:cs typeface="Arial"/>
              </a:rPr>
              <a:t>× A unique G5 winner</a:t>
            </a:r>
            <a:endParaRPr sz="1300"/>
          </a:p>
        </p:txBody>
      </p:sp>
      <p:sp>
        <p:nvSpPr>
          <p:cNvPr id="15" name="Text 12">
            <a:extLst xmlns:a="http://schemas.openxmlformats.org/drawingml/2006/main">
              <a:ext uri="{FF2B5EF4-FFF2-40B4-BE49-F238E27FC236}">
                <a16:creationId xmlns:a16="http://schemas.microsoft.com/office/drawing/2014/main" id="{6C3BB303-86E5-491E-B058-AC2C6B61F7FE}"/>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63" b="1">
                <a:solidFill>
                  <a:srgbClr val="1F4E79"/>
                </a:solidFill>
                <a:latin typeface="Arial"/>
                <a:ea typeface="Arial"/>
                <a:cs typeface="Arial"/>
              </a:rPr>
              <a:t>Still missing as full gates: interface reaction · electronic insulation · doped-LPSCl moisture response</a:t>
            </a:r>
            <a:endParaRPr sz="1250"/>
          </a:p>
        </p:txBody>
      </p:sp>
    </p:spTree>
    <p:extLst>
      <p:ext uri="{BB962C8B-B14F-4D97-AF65-F5344CB8AC3E}">
        <p14:creationId xmlns:p14="http://schemas.microsoft.com/office/powerpoint/2010/main" val="58220651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Current deep-DFT coverage: 2 / 47</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Three coverage counts — not a linear funnel</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17</a:t>
            </a:r>
            <a:endParaRPr sz="900"/>
          </a:p>
        </p:txBody>
      </p:sp>
      <p:sp>
        <p:nvSpPr>
          <p:cNvPr id="11" name="Text 8">
            <a:extLst xmlns:a="http://schemas.openxmlformats.org/drawingml/2006/main">
              <a:ext uri="{FF2B5EF4-FFF2-40B4-BE49-F238E27FC236}">
                <a16:creationId xmlns:a16="http://schemas.microsoft.com/office/drawing/2014/main" id="{F44A2E0C-ABD8-49BE-A4F2-7951DCE60CF7}"/>
              </a:ext>
            </a:extLst>
          </p:cNvPr>
          <p:cNvSpPr>
            <a:spLocks xmlns:a="http://schemas.openxmlformats.org/drawingml/2006/main" noGrp="1"/>
          </p:cNvSpPr>
          <p:nvPr/>
        </p:nvSpPr>
        <p:spPr>
          <a:xfrm xmlns:a="http://schemas.openxmlformats.org/drawingml/2006/main">
            <a:off x="8229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1F4E79"/>
                </a:solidFill>
                <a:latin typeface="Arial"/>
                <a:ea typeface="Arial"/>
                <a:cs typeface="Arial"/>
              </a:rPr>
              <a:t>47
</a:t>
            </a:r>
            <a:endParaRPr sz="4000"/>
          </a:p>
          <a:p xmlns:a="http://schemas.openxmlformats.org/drawingml/2006/main">
            <a:pPr marL="0" indent="0" algn="ctr">
              <a:buNone/>
            </a:pPr>
            <a:r>
              <a:rPr sz="1000">
                <a:solidFill>
                  <a:srgbClr val="7F7F7F"/>
                </a:solidFill>
                <a:latin typeface="Arial"/>
                <a:ea typeface="Arial"/>
                <a:cs typeface="Arial"/>
              </a:rPr>
              <a:t>data-complete relative screens</a:t>
            </a:r>
            <a:endParaRPr sz="4000"/>
          </a:p>
        </p:txBody>
      </p:sp>
      <p:sp>
        <p:nvSpPr>
          <p:cNvPr id="12" name="Text 9">
            <a:extLst xmlns:a="http://schemas.openxmlformats.org/drawingml/2006/main">
              <a:ext uri="{FF2B5EF4-FFF2-40B4-BE49-F238E27FC236}">
                <a16:creationId xmlns:a16="http://schemas.microsoft.com/office/drawing/2014/main" id="{03C909C5-ABC0-4A1E-B18F-2A01904C0621}"/>
              </a:ext>
            </a:extLst>
          </p:cNvPr>
          <p:cNvSpPr>
            <a:spLocks xmlns:a="http://schemas.openxmlformats.org/drawingml/2006/main" noGrp="1"/>
          </p:cNvSpPr>
          <p:nvPr/>
        </p:nvSpPr>
        <p:spPr>
          <a:xfrm xmlns:a="http://schemas.openxmlformats.org/drawingml/2006/main">
            <a:off x="35661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2E7D32"/>
                </a:solidFill>
                <a:latin typeface="Arial"/>
                <a:ea typeface="Arial"/>
                <a:cs typeface="Arial"/>
              </a:rPr>
              <a:t>11
</a:t>
            </a:r>
            <a:endParaRPr sz="4000"/>
          </a:p>
          <a:p xmlns:a="http://schemas.openxmlformats.org/drawingml/2006/main">
            <a:pPr marL="0" indent="0" algn="ctr">
              <a:buNone/>
            </a:pPr>
            <a:r>
              <a:rPr sz="1000">
                <a:solidFill>
                  <a:srgbClr val="7F7F7F"/>
                </a:solidFill>
                <a:latin typeface="Arial"/>
                <a:ea typeface="Arial"/>
                <a:cs typeface="Arial"/>
              </a:rPr>
              <a:t>post-hoc G1–G4 survivors</a:t>
            </a:r>
            <a:endParaRPr sz="4000"/>
          </a:p>
        </p:txBody>
      </p:sp>
      <p:sp>
        <p:nvSpPr>
          <p:cNvPr id="13" name="Text 10">
            <a:extLst xmlns:a="http://schemas.openxmlformats.org/drawingml/2006/main">
              <a:ext uri="{FF2B5EF4-FFF2-40B4-BE49-F238E27FC236}">
                <a16:creationId xmlns:a16="http://schemas.microsoft.com/office/drawing/2014/main" id="{5C923B4E-0A1A-4CF5-A6B5-3E8167A9E46D}"/>
              </a:ext>
            </a:extLst>
          </p:cNvPr>
          <p:cNvSpPr>
            <a:spLocks xmlns:a="http://schemas.openxmlformats.org/drawingml/2006/main" noGrp="1"/>
          </p:cNvSpPr>
          <p:nvPr/>
        </p:nvSpPr>
        <p:spPr>
          <a:xfrm xmlns:a="http://schemas.openxmlformats.org/drawingml/2006/main">
            <a:off x="63093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B26A00"/>
                </a:solidFill>
                <a:latin typeface="Arial"/>
                <a:ea typeface="Arial"/>
                <a:cs typeface="Arial"/>
              </a:rPr>
              <a:t>2
</a:t>
            </a:r>
            <a:endParaRPr sz="4000"/>
          </a:p>
          <a:p xmlns:a="http://schemas.openxmlformats.org/drawingml/2006/main">
            <a:pPr marL="0" indent="0" algn="ctr">
              <a:buNone/>
            </a:pPr>
            <a:r>
              <a:rPr sz="1000">
                <a:solidFill>
                  <a:srgbClr val="7F7F7F"/>
                </a:solidFill>
                <a:latin typeface="Arial"/>
                <a:ea typeface="Arial"/>
                <a:cs typeface="Arial"/>
              </a:rPr>
              <a:t>selected deep-DFT cases</a:t>
            </a:r>
            <a:endParaRPr sz="4000"/>
          </a:p>
        </p:txBody>
      </p:sp>
      <p:sp>
        <p:nvSpPr>
          <p:cNvPr id="14" name="Text 11">
            <a:extLst xmlns:a="http://schemas.openxmlformats.org/drawingml/2006/main">
              <a:ext uri="{FF2B5EF4-FFF2-40B4-BE49-F238E27FC236}">
                <a16:creationId xmlns:a16="http://schemas.microsoft.com/office/drawing/2014/main" id="{FCA12FE8-1CF8-4E25-9963-5E1DCEC2DA1B}"/>
              </a:ext>
            </a:extLst>
          </p:cNvPr>
          <p:cNvSpPr>
            <a:spLocks xmlns:a="http://schemas.openxmlformats.org/drawingml/2006/main" noGrp="1"/>
          </p:cNvSpPr>
          <p:nvPr/>
        </p:nvSpPr>
        <p:spPr>
          <a:xfrm xmlns:a="http://schemas.openxmlformats.org/drawingml/2006/main">
            <a:off x="548640" y="3291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8" b="1">
                <a:solidFill>
                  <a:srgbClr val="9E2A2B"/>
                </a:solidFill>
                <a:latin typeface="Arial"/>
                <a:ea typeface="Arial"/>
                <a:cs typeface="Arial"/>
              </a:rPr>
              <a:t>PARALLEL COVERAGE RECORDS  ·  Neither DFT case is a G1–G4 survivor: B₂O₃ stops at G4; Nd₂O₃ at G3</a:t>
            </a:r>
            <a:endParaRPr sz="105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C9875EB1-4DBC-4774-88CD-D029747BE763}"/>
              </a:ext>
            </a:extLst>
          </p:cNvPr>
          <p:cNvSpPr>
            <a:spLocks xmlns:a="http://schemas.openxmlformats.org/drawingml/2006/main" noGrp="1"/>
          </p:cNvSpPr>
          <p:nvPr/>
        </p:nvSpPr>
        <p:spPr>
          <a:xfrm xmlns:a="http://schemas.openxmlformats.org/drawingml/2006/main">
            <a:off x="91440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Promote when
</a:t>
            </a:r>
            <a:endParaRPr sz="1050"/>
          </a:p>
          <a:p xmlns:a="http://schemas.openxmlformats.org/drawingml/2006/main">
            <a:pPr marL="0" indent="0">
              <a:buNone/>
            </a:pPr>
            <a:r>
              <a:rPr sz="900">
                <a:solidFill>
                  <a:srgbClr val="262626"/>
                </a:solidFill>
                <a:latin typeface="Arial"/>
                <a:ea typeface="Arial"/>
                <a:cs typeface="Arial"/>
              </a:rPr>
              <a:t>• Near a gate boundary</a:t>
            </a:r>
            <a:endParaRPr sz="1050"/>
          </a:p>
          <a:p xmlns:a="http://schemas.openxmlformats.org/drawingml/2006/main">
            <a:pPr marL="0" indent="0">
              <a:buNone/>
            </a:pPr>
            <a:r>
              <a:rPr sz="900">
                <a:solidFill>
                  <a:srgbClr val="262626"/>
                </a:solidFill>
                <a:latin typeface="Arial"/>
                <a:ea typeface="Arial"/>
                <a:cs typeface="Arial"/>
              </a:rPr>
              <a:t>• Model heads disagree</a:t>
            </a:r>
            <a:endParaRPr sz="1050"/>
          </a:p>
          <a:p xmlns:a="http://schemas.openxmlformats.org/drawingml/2006/main">
            <a:pPr marL="0" indent="0">
              <a:buNone/>
            </a:pPr>
            <a:r>
              <a:rPr sz="900">
                <a:solidFill>
                  <a:srgbClr val="262626"/>
                </a:solidFill>
                <a:latin typeface="Arial"/>
                <a:ea typeface="Arial"/>
                <a:cs typeface="Arial"/>
              </a:rPr>
              <a:t>• Pareto value is high</a:t>
            </a:r>
            <a:endParaRPr sz="1050"/>
          </a:p>
          <a:p xmlns:a="http://schemas.openxmlformats.org/drawingml/2006/main">
            <a:pPr marL="0" indent="0">
              <a:buNone/>
            </a:pPr>
            <a:r>
              <a:rPr sz="900">
                <a:solidFill>
                  <a:srgbClr val="262626"/>
                </a:solidFill>
                <a:latin typeface="Arial"/>
                <a:ea typeface="Arial"/>
                <a:cs typeface="Arial"/>
              </a:rPr>
              <a:t>• Chemistry is under-sampled</a:t>
            </a:r>
            <a:endParaRPr sz="1050"/>
          </a:p>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684FF24B-0E6E-46D0-8B92-845340105E12}"/>
              </a:ext>
            </a:extLst>
          </p:cNvPr>
          <p:cNvSpPr>
            <a:spLocks xmlns:a="http://schemas.openxmlformats.org/drawingml/2006/main" noGrp="1"/>
          </p:cNvSpPr>
          <p:nvPr/>
        </p:nvSpPr>
        <p:spPr>
          <a:xfrm xmlns:a="http://schemas.openxmlformats.org/drawingml/2006/main">
            <a:off x="493776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1F4E79"/>
                </a:solidFill>
                <a:latin typeface="Arial"/>
                <a:ea typeface="Arial"/>
                <a:cs typeface="Arial"/>
              </a:rPr>
              <a:t>Required contract for any direct comparison</a:t>
            </a:r>
            <a:endParaRPr sz="1050"/>
          </a:p>
          <a:p xmlns:a="http://schemas.openxmlformats.org/drawingml/2006/main">
            <a:pPr marL="0" indent="0">
              <a:buNone/>
            </a:pPr>
            <a:r>
              <a:rPr sz="90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Same structure, cell, constraint, k-mesh, reference, and magnetic protocol.</a:t>
            </a:r>
            <a:endParaRPr sz="1050"/>
          </a:p>
          <a:p xmlns:a="http://schemas.openxmlformats.org/drawingml/2006/main">
            <a:pPr marL="0" indent="0">
              <a:buNone/>
            </a:pPr>
            <a:r>
              <a:rPr sz="1088">
                <a:solidFill>
                  <a:srgbClr val="262626"/>
                </a:solidFill>
                <a:latin typeface="Arial"/>
                <a:ea typeface="Arial"/>
                <a:cs typeface="Arial"/>
              </a:rPr>
              <a:t>Compare only inside one protocol lineage.</a:t>
            </a:r>
            <a:endParaRPr sz="1050"/>
          </a:p>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 47-candidate result is a relative screen — not 47 DFT confirmations.</a:t>
            </a:r>
            <a:endParaRPr sz="1250"/>
          </a:p>
        </p:txBody>
      </p:sp>
    </p:spTree>
    <p:extLst>
      <p:ext uri="{BB962C8B-B14F-4D97-AF65-F5344CB8AC3E}">
        <p14:creationId xmlns:p14="http://schemas.microsoft.com/office/powerpoint/2010/main" val="8475215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61AB4E-87DF-4946-A5AB-FE57433262A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ML roadmap</a:t>
            </a:r>
            <a:endParaRPr sz="2800"/>
          </a:p>
        </p:txBody>
      </p:sp>
      <p:sp>
        <p:nvSpPr>
          <p:cNvPr id="3" name="Text 1">
            <a:extLst xmlns:a="http://schemas.openxmlformats.org/drawingml/2006/main">
              <a:ext uri="{FF2B5EF4-FFF2-40B4-BE49-F238E27FC236}">
                <a16:creationId xmlns:a16="http://schemas.microsoft.com/office/drawing/2014/main" id="{0A90F980-5AC0-4E20-A275-411EFC0E72CE}"/>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UMA screen + co-doping hypothesis model</a:t>
            </a:r>
            <a:endParaRPr sz="900"/>
          </a:p>
        </p:txBody>
      </p:sp>
      <p:sp>
        <p:nvSpPr>
          <p:cNvPr id="4" name="Shape 2">
            <a:extLst xmlns:a="http://schemas.openxmlformats.org/drawingml/2006/main">
              <a:ext uri="{FF2B5EF4-FFF2-40B4-BE49-F238E27FC236}">
                <a16:creationId xmlns:a16="http://schemas.microsoft.com/office/drawing/2014/main" id="{7F76A33A-6E9F-49C7-89AF-D6AB1061474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B59CB653-510E-4358-A4AC-702B2164D98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90D32AA-2529-4897-B2A9-B979AEBA04F3}"/>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ML already saves cost — it does not yet certify discovery</a:t>
            </a:r>
            <a:endParaRPr sz="1400"/>
          </a:p>
        </p:txBody>
      </p:sp>
      <p:sp>
        <p:nvSpPr>
          <p:cNvPr id="7" name="Text 5">
            <a:extLst xmlns:a="http://schemas.openxmlformats.org/drawingml/2006/main">
              <a:ext uri="{FF2B5EF4-FFF2-40B4-BE49-F238E27FC236}">
                <a16:creationId xmlns:a16="http://schemas.microsoft.com/office/drawing/2014/main" id="{D62A74A8-F4F4-49FD-A805-6AB41EA7DA5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94D2C8A1-5CC2-483B-BA56-8F27CA0A1F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98AC490-7986-4ADE-8297-AD09EF512D25}"/>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18</a:t>
            </a:r>
            <a:endParaRPr sz="900"/>
          </a:p>
        </p:txBody>
      </p:sp>
      <p:sp>
        <p:nvSpPr>
          <p:cNvPr id="11" name="Shape 8">
            <a:extLst xmlns:a="http://schemas.openxmlformats.org/drawingml/2006/main">
              <a:ext uri="{FF2B5EF4-FFF2-40B4-BE49-F238E27FC236}">
                <a16:creationId xmlns:a16="http://schemas.microsoft.com/office/drawing/2014/main" id="{BF976C37-28DD-4652-BF9E-61A08630E1A0}"/>
              </a:ext>
            </a:extLst>
          </p:cNvPr>
          <p:cNvSpPr>
            <a:spLocks xmlns:a="http://schemas.openxmlformats.org/drawingml/2006/main" noGrp="1"/>
          </p:cNvSpPr>
          <p:nvPr/>
        </p:nvSpPr>
        <p:spPr>
          <a:xfrm xmlns:a="http://schemas.openxmlformats.org/drawingml/2006/main">
            <a:off x="640080" y="1600200"/>
            <a:ext cx="4023360" cy="1097280"/>
          </a:xfrm>
          <a:prstGeom xmlns:a="http://schemas.openxmlformats.org/drawingml/2006/main" prst="roundRect">
            <a:avLst>
              <a:gd name="adj" fmla="val 5833"/>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F8200DD0-C384-42E8-8CA3-92CE5DD9DE3D}"/>
              </a:ext>
            </a:extLst>
          </p:cNvPr>
          <p:cNvSpPr>
            <a:spLocks xmlns:a="http://schemas.openxmlformats.org/drawingml/2006/main" noGrp="1"/>
          </p:cNvSpPr>
          <p:nvPr/>
        </p:nvSpPr>
        <p:spPr>
          <a:xfrm xmlns:a="http://schemas.openxmlformats.org/drawingml/2006/main">
            <a:off x="777240" y="169164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UMA MLIP
</a:t>
            </a:r>
            <a:endParaRPr sz="1050"/>
          </a:p>
          <a:p xmlns:a="http://schemas.openxmlformats.org/drawingml/2006/main">
            <a:pPr marL="0" indent="0">
              <a:buNone/>
            </a:pPr>
            <a:r>
              <a:rPr sz="850">
                <a:solidFill>
                  <a:srgbClr val="262626"/>
                </a:solidFill>
                <a:latin typeface="Arial"/>
                <a:ea typeface="Arial"/>
                <a:cs typeface="Arial"/>
              </a:rPr>
              <a:t>Energy and force surrogate</a:t>
            </a:r>
            <a:endParaRPr sz="1050"/>
          </a:p>
          <a:p xmlns:a="http://schemas.openxmlformats.org/drawingml/2006/main">
            <a:pPr marL="0" indent="0">
              <a:buNone/>
            </a:pPr>
            <a:r>
              <a:rPr sz="850">
                <a:solidFill>
                  <a:srgbClr val="262626"/>
                </a:solidFill>
                <a:latin typeface="Arial"/>
                <a:ea typeface="Arial"/>
                <a:cs typeface="Arial"/>
              </a:rPr>
              <a:t>Fast configuration search</a:t>
            </a:r>
            <a:endParaRPr sz="1050"/>
          </a:p>
          <a:p xmlns:a="http://schemas.openxmlformats.org/drawingml/2006/main">
            <a:pPr marL="0" indent="0">
              <a:buNone/>
            </a:pPr>
            <a:r>
              <a:rPr sz="850">
                <a:solidFill>
                  <a:srgbClr val="262626"/>
                </a:solidFill>
                <a:latin typeface="Arial"/>
                <a:ea typeface="Arial"/>
                <a:cs typeface="Arial"/>
              </a:rPr>
              <a:t>Same-protocol relative screen</a:t>
            </a:r>
            <a:endParaRPr sz="1050"/>
          </a:p>
        </p:txBody>
      </p:sp>
      <p:sp>
        <p:nvSpPr>
          <p:cNvPr id="13" name="Shape 10">
            <a:extLst xmlns:a="http://schemas.openxmlformats.org/drawingml/2006/main">
              <a:ext uri="{FF2B5EF4-FFF2-40B4-BE49-F238E27FC236}">
                <a16:creationId xmlns:a16="http://schemas.microsoft.com/office/drawing/2014/main" id="{612955EA-3ADE-4B71-8B94-6705E1D5FE0A}"/>
              </a:ext>
            </a:extLst>
          </p:cNvPr>
          <p:cNvSpPr>
            <a:spLocks xmlns:a="http://schemas.openxmlformats.org/drawingml/2006/main" noGrp="1"/>
          </p:cNvSpPr>
          <p:nvPr/>
        </p:nvSpPr>
        <p:spPr>
          <a:xfrm xmlns:a="http://schemas.openxmlformats.org/drawingml/2006/main">
            <a:off x="640080" y="2834640"/>
            <a:ext cx="4023360" cy="1097280"/>
          </a:xfrm>
          <a:prstGeom xmlns:a="http://schemas.openxmlformats.org/drawingml/2006/main" prst="roundRect">
            <a:avLst>
              <a:gd name="adj" fmla="val 5833"/>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0BEB3018-DACC-47B6-A936-BEB0A9F6BAE3}"/>
              </a:ext>
            </a:extLst>
          </p:cNvPr>
          <p:cNvSpPr>
            <a:spLocks xmlns:a="http://schemas.openxmlformats.org/drawingml/2006/main" noGrp="1"/>
          </p:cNvSpPr>
          <p:nvPr/>
        </p:nvSpPr>
        <p:spPr>
          <a:xfrm xmlns:a="http://schemas.openxmlformats.org/drawingml/2006/main">
            <a:off x="777240" y="292608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E7D32"/>
                </a:solidFill>
                <a:latin typeface="Arial"/>
                <a:ea typeface="Arial"/>
                <a:cs typeface="Arial"/>
              </a:rPr>
              <a:t>Physics cascade
</a:t>
            </a:r>
            <a:endParaRPr sz="1050"/>
          </a:p>
          <a:p xmlns:a="http://schemas.openxmlformats.org/drawingml/2006/main">
            <a:pPr marL="0" indent="0">
              <a:buNone/>
            </a:pPr>
            <a:r>
              <a:rPr sz="850">
                <a:solidFill>
                  <a:srgbClr val="262626"/>
                </a:solidFill>
                <a:latin typeface="Arial"/>
                <a:ea typeface="Arial"/>
                <a:cs typeface="Arial"/>
              </a:rPr>
              <a:t>Gate pass / fail</a:t>
            </a:r>
            <a:endParaRPr sz="1050"/>
          </a:p>
          <a:p xmlns:a="http://schemas.openxmlformats.org/drawingml/2006/main">
            <a:pPr marL="0" indent="0">
              <a:buNone/>
            </a:pPr>
            <a:r>
              <a:rPr sz="850">
                <a:solidFill>
                  <a:srgbClr val="262626"/>
                </a:solidFill>
                <a:latin typeface="Arial"/>
                <a:ea typeface="Arial"/>
                <a:cs typeface="Arial"/>
              </a:rPr>
              <a:t>Trade-off structure</a:t>
            </a:r>
            <a:endParaRPr sz="1050"/>
          </a:p>
          <a:p xmlns:a="http://schemas.openxmlformats.org/drawingml/2006/main">
            <a:pPr marL="0" indent="0">
              <a:buNone/>
            </a:pPr>
            <a:r>
              <a:rPr sz="850">
                <a:solidFill>
                  <a:srgbClr val="262626"/>
                </a:solidFill>
                <a:latin typeface="Arial"/>
                <a:ea typeface="Arial"/>
                <a:cs typeface="Arial"/>
              </a:rPr>
              <a:t>Shortlist for expensive validation</a:t>
            </a:r>
            <a:endParaRPr sz="1050"/>
          </a:p>
        </p:txBody>
      </p:sp>
      <p:sp>
        <p:nvSpPr>
          <p:cNvPr id="15" name="Shape 12">
            <a:extLst xmlns:a="http://schemas.openxmlformats.org/drawingml/2006/main">
              <a:ext uri="{FF2B5EF4-FFF2-40B4-BE49-F238E27FC236}">
                <a16:creationId xmlns:a16="http://schemas.microsoft.com/office/drawing/2014/main" id="{8A6F395B-82B0-4CF3-B72D-37301B06F28E}"/>
              </a:ext>
            </a:extLst>
          </p:cNvPr>
          <p:cNvSpPr>
            <a:spLocks xmlns:a="http://schemas.openxmlformats.org/drawingml/2006/main" noGrp="1"/>
          </p:cNvSpPr>
          <p:nvPr/>
        </p:nvSpPr>
        <p:spPr>
          <a:xfrm xmlns:a="http://schemas.openxmlformats.org/drawingml/2006/main">
            <a:off x="640080" y="4069080"/>
            <a:ext cx="4023360" cy="1097280"/>
          </a:xfrm>
          <a:prstGeom xmlns:a="http://schemas.openxmlformats.org/drawingml/2006/main" prst="roundRect">
            <a:avLst>
              <a:gd name="adj" fmla="val 5833"/>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2394ABE0-B3BC-4E44-B954-784EB82C0553}"/>
              </a:ext>
            </a:extLst>
          </p:cNvPr>
          <p:cNvSpPr>
            <a:spLocks xmlns:a="http://schemas.openxmlformats.org/drawingml/2006/main" noGrp="1"/>
          </p:cNvSpPr>
          <p:nvPr/>
        </p:nvSpPr>
        <p:spPr>
          <a:xfrm xmlns:a="http://schemas.openxmlformats.org/drawingml/2006/main">
            <a:off x="777240" y="416052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B26A00"/>
                </a:solidFill>
                <a:latin typeface="Arial"/>
                <a:ea typeface="Arial"/>
                <a:cs typeface="Arial"/>
              </a:rPr>
              <a:t>Co-doping ML v2</a:t>
            </a:r>
            <a:endParaRPr sz="1050"/>
          </a:p>
          <a:p xmlns:a="http://schemas.openxmlformats.org/drawingml/2006/main">
            <a:pPr marL="0" indent="0">
              <a:buNone/>
            </a:pPr>
            <a:r>
              <a:rPr sz="85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47 scores → 1,081 pair hypotheses</a:t>
            </a:r>
            <a:endParaRPr sz="1050"/>
          </a:p>
          <a:p xmlns:a="http://schemas.openxmlformats.org/drawingml/2006/main">
            <a:pPr marL="0" indent="0">
              <a:buNone/>
            </a:pPr>
            <a:r>
              <a:rPr sz="1088">
                <a:solidFill>
                  <a:srgbClr val="262626"/>
                </a:solidFill>
                <a:latin typeface="Arial"/>
                <a:ea typeface="Arial"/>
                <a:cs typeface="Arial"/>
              </a:rPr>
              <a:t>0 explicit co-doped structures</a:t>
            </a:r>
            <a:endParaRPr sz="1050"/>
          </a:p>
          <a:p xmlns:a="http://schemas.openxmlformats.org/drawingml/2006/main">
            <a:pPr marL="0" indent="0">
              <a:buNone/>
            </a:pPr>
            <a:r>
              <a:rPr sz="1088">
                <a:solidFill>
                  <a:srgbClr val="262626"/>
                </a:solidFill>
                <a:latin typeface="Arial"/>
                <a:ea typeface="Arial"/>
                <a:cs typeface="Arial"/>
              </a:rPr>
              <a:t>0 DFT/experimental pair labels</a:t>
            </a:r>
            <a:endParaRPr sz="1050"/>
          </a:p>
          <a:p xmlns:a="http://schemas.openxmlformats.org/drawingml/2006/main">
            <a:pPr marL="0" indent="0">
              <a:buNone/>
            </a:pPr>
            <a:r>
              <a:rPr sz="1088">
                <a:solidFill>
                  <a:srgbClr val="262626"/>
                </a:solidFill>
                <a:latin typeface="Arial"/>
                <a:ea typeface="Arial"/>
                <a:cs typeface="Arial"/>
              </a:rPr>
              <a:t>LODO / L2DO R² &lt; 0</a:t>
            </a:r>
            <a:endParaRPr sz="1050"/>
          </a:p>
        </p:txBody>
      </p:sp>
      <p:sp>
        <p:nvSpPr>
          <p:cNvPr id="18" name="Text 14">
            <a:extLst xmlns:a="http://schemas.openxmlformats.org/drawingml/2006/main">
              <a:ext uri="{FF2B5EF4-FFF2-40B4-BE49-F238E27FC236}">
                <a16:creationId xmlns:a16="http://schemas.microsoft.com/office/drawing/2014/main" id="{C1068A3C-AD98-4CB7-8D5B-3A3A4A6C5FCA}"/>
              </a:ext>
            </a:extLst>
          </p:cNvPr>
          <p:cNvSpPr>
            <a:spLocks xmlns:a="http://schemas.openxmlformats.org/drawingml/2006/main" noGrp="1"/>
          </p:cNvSpPr>
          <p:nvPr/>
        </p:nvSpPr>
        <p:spPr>
          <a:xfrm xmlns:a="http://schemas.openxmlformats.org/drawingml/2006/main">
            <a:off x="4892040" y="5148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Uncomputed pair: site competition and joint properties remain open.</a:t>
            </a:r>
            <a:endParaRPr sz="850"/>
          </a:p>
        </p:txBody>
      </p:sp>
      <p:sp>
        <p:nvSpPr>
          <p:cNvPr id="19" name="Text 15">
            <a:extLst xmlns:a="http://schemas.openxmlformats.org/drawingml/2006/main">
              <a:ext uri="{FF2B5EF4-FFF2-40B4-BE49-F238E27FC236}">
                <a16:creationId xmlns:a16="http://schemas.microsoft.com/office/drawing/2014/main" id="{A98EE61E-752A-480D-9EE5-32E8641D2061}"/>
              </a:ext>
            </a:extLst>
          </p:cNvPr>
          <p:cNvSpPr>
            <a:spLocks xmlns:a="http://schemas.openxmlformats.org/drawingml/2006/main" noGrp="1"/>
          </p:cNvSpPr>
          <p:nvPr/>
        </p:nvSpPr>
        <p:spPr>
          <a:xfrm xmlns:a="http://schemas.openxmlformats.org/drawingml/2006/main">
            <a:off x="548640" y="55778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role: cheaper search and better questions, not discovery certification.</a:t>
            </a:r>
            <a:endParaRPr sz="1250"/>
          </a:p>
        </p:txBody>
      </p:sp>
      <p:sp>
        <p:nvSpPr>
          <p:cNvPr id="20" name="Text 16">
            <a:extLst xmlns:a="http://schemas.openxmlformats.org/drawingml/2006/main">
              <a:ext uri="{FF2B5EF4-FFF2-40B4-BE49-F238E27FC236}">
                <a16:creationId xmlns:a16="http://schemas.microsoft.com/office/drawing/2014/main" id="{668AF21B-67DD-45E5-8AA9-64E9C5208E5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synergy_pairs.csv · codoping_ml_v2.csv · codoping_ml_v2_meta.json</a:t>
            </a:r>
            <a:endParaRPr sz="750"/>
          </a:p>
        </p:txBody>
      </p:sp>
      <p:sp>
        <p:nvSpPr>
          <p:cNvPr id="21" name="pair-panel-title">
            <a:extLst xmlns:a="http://schemas.openxmlformats.org/drawingml/2006/main">
              <a:ext uri="{FF2B5EF4-FFF2-40B4-BE49-F238E27FC236}">
                <a16:creationId xmlns:a16="http://schemas.microsoft.com/office/drawing/2014/main" id="{AF21E09A-E488-4C4F-9AA7-0454F0CAF728}"/>
              </a:ext>
            </a:extLst>
          </p:cNvPr>
          <p:cNvSpPr>
            <a:spLocks xmlns:a="http://schemas.openxmlformats.org/drawingml/2006/main" noGrp="1"/>
          </p:cNvSpPr>
          <p:nvPr/>
        </p:nvSpPr>
        <p:spPr>
          <a:xfrm xmlns:a="http://schemas.openxmlformats.org/drawingml/2006/main">
            <a:off x="4892040" y="1381125"/>
            <a:ext cx="3657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350" b="1" i="0">
                <a:solidFill>
                  <a:srgbClr val="1F4E79"/>
                </a:solidFill>
                <a:latin typeface="Arial"/>
                <a:ea typeface="Arial"/>
                <a:cs typeface="Arial"/>
              </a:defRPr>
            </a:pPr>
            <a:r>
              <a:rPr sz="1350" b="1" i="0">
                <a:solidFill>
                  <a:srgbClr val="1F4E79"/>
                </a:solidFill>
                <a:latin typeface="Arial"/>
                <a:ea typeface="Arial"/>
                <a:cs typeface="Arial"/>
              </a:rPr>
              <a:t>Cr₂O₃ ↔ HfO₂ end-member proxy</a:t>
            </a:r>
          </a:p>
        </p:txBody>
      </p:sp>
      <p:sp>
        <p:nvSpPr>
          <p:cNvPr id="22" name="pair-cr-box">
            <a:extLst xmlns:a="http://schemas.openxmlformats.org/drawingml/2006/main">
              <a:ext uri="{FF2B5EF4-FFF2-40B4-BE49-F238E27FC236}">
                <a16:creationId xmlns:a16="http://schemas.microsoft.com/office/drawing/2014/main" id="{D161D8ED-0F77-42B5-B486-F3D422DC5ECF}"/>
              </a:ext>
            </a:extLst>
          </p:cNvPr>
          <p:cNvSpPr>
            <a:spLocks xmlns:a="http://schemas.openxmlformats.org/drawingml/2006/main" noGrp="1"/>
          </p:cNvSpPr>
          <p:nvPr/>
        </p:nvSpPr>
        <p:spPr>
          <a:xfrm xmlns:a="http://schemas.openxmlformats.org/drawingml/2006/main">
            <a:off x="4892040" y="1771650"/>
            <a:ext cx="3657600" cy="1200150"/>
          </a:xfrm>
          <a:prstGeom xmlns:a="http://schemas.openxmlformats.org/drawingml/2006/main" prst="roundRect">
            <a:avLst>
              <a:gd name="adj" fmla="val 6349"/>
            </a:avLst>
          </a:prstGeom>
          <a:solidFill xmlns:a="http://schemas.openxmlformats.org/drawingml/2006/main">
            <a:srgbClr val="FBE9E7"/>
          </a:solidFill>
          <a:ln xmlns:a="http://schemas.openxmlformats.org/drawingml/2006/main" w="9525">
            <a:solidFill>
              <a:srgbClr val="D9E1F2"/>
            </a:solidFill>
            <a:prstDash val="solid"/>
          </a:ln>
        </p:spPr>
        <p:txBody>
          <a:bodyPr xmlns:a="http://schemas.openxmlformats.org/drawingml/2006/main"/>
          <a:lstStyle xmlns:a="http://schemas.openxmlformats.org/drawingml/2006/main"/>
          <a:p xmlns:a="http://schemas.openxmlformats.org/drawingml/2006/main"/>
        </p:txBody>
      </p:sp>
      <p:sp>
        <p:nvSpPr>
          <p:cNvPr id="23" name="pair-cr-accent">
            <a:extLst xmlns:a="http://schemas.openxmlformats.org/drawingml/2006/main">
              <a:ext uri="{FF2B5EF4-FFF2-40B4-BE49-F238E27FC236}">
                <a16:creationId xmlns:a16="http://schemas.microsoft.com/office/drawing/2014/main" id="{7810006C-24F4-45B0-A2AC-5F4D5C691A08}"/>
              </a:ext>
            </a:extLst>
          </p:cNvPr>
          <p:cNvSpPr>
            <a:spLocks xmlns:a="http://schemas.openxmlformats.org/drawingml/2006/main" noGrp="1"/>
          </p:cNvSpPr>
          <p:nvPr/>
        </p:nvSpPr>
        <p:spPr>
          <a:xfrm xmlns:a="http://schemas.openxmlformats.org/drawingml/2006/main">
            <a:off x="4892040" y="1771650"/>
            <a:ext cx="66675" cy="1200150"/>
          </a:xfrm>
          <a:prstGeom xmlns:a="http://schemas.openxmlformats.org/drawingml/2006/main" prst="rect">
            <a:avLst/>
          </a:prstGeom>
          <a:solidFill xmlns:a="http://schemas.openxmlformats.org/drawingml/2006/main">
            <a:srgbClr val="9E2A2B"/>
          </a:solidFill>
          <a:ln xmlns:a="http://schemas.openxmlformats.org/drawingml/2006/main" w="0">
            <a:solidFill>
              <a:srgbClr val="9E2A2B"/>
            </a:solidFill>
            <a:prstDash val="solid"/>
          </a:ln>
        </p:spPr>
        <p:txBody>
          <a:bodyPr xmlns:a="http://schemas.openxmlformats.org/drawingml/2006/main"/>
          <a:lstStyle xmlns:a="http://schemas.openxmlformats.org/drawingml/2006/main"/>
          <a:p xmlns:a="http://schemas.openxmlformats.org/drawingml/2006/main"/>
        </p:txBody>
      </p:sp>
      <p:sp>
        <p:nvSpPr>
          <p:cNvPr id="24" name="pair-cr-title">
            <a:extLst xmlns:a="http://schemas.openxmlformats.org/drawingml/2006/main">
              <a:ext uri="{FF2B5EF4-FFF2-40B4-BE49-F238E27FC236}">
                <a16:creationId xmlns:a16="http://schemas.microsoft.com/office/drawing/2014/main" id="{5D2D3CF1-98F1-4574-8086-F9432E45130B}"/>
              </a:ext>
            </a:extLst>
          </p:cNvPr>
          <p:cNvSpPr>
            <a:spLocks xmlns:a="http://schemas.openxmlformats.org/drawingml/2006/main" noGrp="1"/>
          </p:cNvSpPr>
          <p:nvPr/>
        </p:nvSpPr>
        <p:spPr>
          <a:xfrm xmlns:a="http://schemas.openxmlformats.org/drawingml/2006/main">
            <a:off x="5025390" y="1847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buNone/>
              <a:defRPr sz="1275" b="1" i="0">
                <a:solidFill>
                  <a:srgbClr val="9E2A2B"/>
                </a:solidFill>
                <a:latin typeface="Arial"/>
                <a:ea typeface="Arial"/>
                <a:cs typeface="Arial"/>
              </a:defRPr>
            </a:pPr>
            <a:r>
              <a:rPr sz="1275" b="1" i="0">
                <a:solidFill>
                  <a:srgbClr val="9E2A2B"/>
                </a:solidFill>
                <a:latin typeface="Arial"/>
                <a:ea typeface="Arial"/>
                <a:cs typeface="Arial"/>
              </a:rPr>
              <a:t>Cr₂O₃</a:t>
            </a:r>
          </a:p>
        </p:txBody>
      </p:sp>
      <p:sp>
        <p:nvSpPr>
          <p:cNvPr id="25" name="pair-cr-body">
            <a:extLst xmlns:a="http://schemas.openxmlformats.org/drawingml/2006/main">
              <a:ext uri="{FF2B5EF4-FFF2-40B4-BE49-F238E27FC236}">
                <a16:creationId xmlns:a16="http://schemas.microsoft.com/office/drawing/2014/main" id="{82C180AB-40B9-4A25-8783-0A79C4A0C37E}"/>
              </a:ext>
            </a:extLst>
          </p:cNvPr>
          <p:cNvSpPr>
            <a:spLocks xmlns:a="http://schemas.openxmlformats.org/drawingml/2006/main" noGrp="1"/>
          </p:cNvSpPr>
          <p:nvPr/>
        </p:nvSpPr>
        <p:spPr>
          <a:xfrm xmlns:a="http://schemas.openxmlformats.org/drawingml/2006/main">
            <a:off x="5025390" y="21431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Vox = 2.356 V</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Oxidation-side end member</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26" name="pair-hf-box">
            <a:extLst xmlns:a="http://schemas.openxmlformats.org/drawingml/2006/main">
              <a:ext uri="{FF2B5EF4-FFF2-40B4-BE49-F238E27FC236}">
                <a16:creationId xmlns:a16="http://schemas.microsoft.com/office/drawing/2014/main" id="{A8406B7B-6EFE-4ED0-B93A-6232DF992A7F}"/>
              </a:ext>
            </a:extLst>
          </p:cNvPr>
          <p:cNvSpPr>
            <a:spLocks xmlns:a="http://schemas.openxmlformats.org/drawingml/2006/main" noGrp="1"/>
          </p:cNvSpPr>
          <p:nvPr/>
        </p:nvSpPr>
        <p:spPr>
          <a:xfrm xmlns:a="http://schemas.openxmlformats.org/drawingml/2006/main">
            <a:off x="4892040" y="3105150"/>
            <a:ext cx="3657600" cy="1200150"/>
          </a:xfrm>
          <a:prstGeom xmlns:a="http://schemas.openxmlformats.org/drawingml/2006/main" prst="roundRect">
            <a:avLst>
              <a:gd name="adj" fmla="val 6349"/>
            </a:avLst>
          </a:prstGeom>
          <a:solidFill xmlns:a="http://schemas.openxmlformats.org/drawingml/2006/main">
            <a:srgbClr val="DCE6F1"/>
          </a:solidFill>
          <a:ln xmlns:a="http://schemas.openxmlformats.org/drawingml/2006/main" w="9525">
            <a:solidFill>
              <a:srgbClr val="D9E1F2"/>
            </a:solidFill>
            <a:prstDash val="solid"/>
          </a:ln>
        </p:spPr>
        <p:txBody>
          <a:bodyPr xmlns:a="http://schemas.openxmlformats.org/drawingml/2006/main"/>
          <a:lstStyle xmlns:a="http://schemas.openxmlformats.org/drawingml/2006/main"/>
          <a:p xmlns:a="http://schemas.openxmlformats.org/drawingml/2006/main"/>
        </p:txBody>
      </p:sp>
      <p:sp>
        <p:nvSpPr>
          <p:cNvPr id="27" name="pair-hf-accent">
            <a:extLst xmlns:a="http://schemas.openxmlformats.org/drawingml/2006/main">
              <a:ext uri="{FF2B5EF4-FFF2-40B4-BE49-F238E27FC236}">
                <a16:creationId xmlns:a16="http://schemas.microsoft.com/office/drawing/2014/main" id="{0C364844-71E3-49D7-9908-758F78AF4498}"/>
              </a:ext>
            </a:extLst>
          </p:cNvPr>
          <p:cNvSpPr>
            <a:spLocks xmlns:a="http://schemas.openxmlformats.org/drawingml/2006/main" noGrp="1"/>
          </p:cNvSpPr>
          <p:nvPr/>
        </p:nvSpPr>
        <p:spPr>
          <a:xfrm xmlns:a="http://schemas.openxmlformats.org/drawingml/2006/main">
            <a:off x="4892040" y="3105150"/>
            <a:ext cx="66675" cy="120015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txBody>
          <a:bodyPr xmlns:a="http://schemas.openxmlformats.org/drawingml/2006/main"/>
          <a:lstStyle xmlns:a="http://schemas.openxmlformats.org/drawingml/2006/main"/>
          <a:p xmlns:a="http://schemas.openxmlformats.org/drawingml/2006/main"/>
        </p:txBody>
      </p:sp>
      <p:sp>
        <p:nvSpPr>
          <p:cNvPr id="28" name="pair-hf-title">
            <a:extLst xmlns:a="http://schemas.openxmlformats.org/drawingml/2006/main">
              <a:ext uri="{FF2B5EF4-FFF2-40B4-BE49-F238E27FC236}">
                <a16:creationId xmlns:a16="http://schemas.microsoft.com/office/drawing/2014/main" id="{59769531-EEF6-488B-8942-6FD621DB2B29}"/>
              </a:ext>
            </a:extLst>
          </p:cNvPr>
          <p:cNvSpPr>
            <a:spLocks xmlns:a="http://schemas.openxmlformats.org/drawingml/2006/main" noGrp="1"/>
          </p:cNvSpPr>
          <p:nvPr/>
        </p:nvSpPr>
        <p:spPr>
          <a:xfrm xmlns:a="http://schemas.openxmlformats.org/drawingml/2006/main">
            <a:off x="5025390" y="3181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buNone/>
              <a:defRPr sz="1275" b="1" i="0">
                <a:solidFill>
                  <a:srgbClr val="0070C0"/>
                </a:solidFill>
                <a:latin typeface="Arial"/>
                <a:ea typeface="Arial"/>
                <a:cs typeface="Arial"/>
              </a:defRPr>
            </a:pPr>
            <a:r>
              <a:rPr sz="1275" b="1" i="0">
                <a:solidFill>
                  <a:srgbClr val="0070C0"/>
                </a:solidFill>
                <a:latin typeface="Arial"/>
                <a:ea typeface="Arial"/>
                <a:cs typeface="Arial"/>
              </a:rPr>
              <a:t>HfO₂</a:t>
            </a:r>
          </a:p>
        </p:txBody>
      </p:sp>
      <p:sp>
        <p:nvSpPr>
          <p:cNvPr id="29" name="pair-hf-body">
            <a:extLst xmlns:a="http://schemas.openxmlformats.org/drawingml/2006/main">
              <a:ext uri="{FF2B5EF4-FFF2-40B4-BE49-F238E27FC236}">
                <a16:creationId xmlns:a16="http://schemas.microsoft.com/office/drawing/2014/main" id="{6D4F55FB-99CD-4350-8FC1-F4EDC0DD351D}"/>
              </a:ext>
            </a:extLst>
          </p:cNvPr>
          <p:cNvSpPr>
            <a:spLocks xmlns:a="http://schemas.openxmlformats.org/drawingml/2006/main" noGrp="1"/>
          </p:cNvSpPr>
          <p:nvPr/>
        </p:nvSpPr>
        <p:spPr>
          <a:xfrm xmlns:a="http://schemas.openxmlformats.org/drawingml/2006/main">
            <a:off x="5025390" y="34766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Vred = 1.242 V</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Reduction-side / lower-blocking complement</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30" name="pair-rank">
            <a:extLst xmlns:a="http://schemas.openxmlformats.org/drawingml/2006/main">
              <a:ext uri="{FF2B5EF4-FFF2-40B4-BE49-F238E27FC236}">
                <a16:creationId xmlns:a16="http://schemas.microsoft.com/office/drawing/2014/main" id="{5D71D029-4529-4CFB-9A30-6BDE98A22DE5}"/>
              </a:ext>
            </a:extLst>
          </p:cNvPr>
          <p:cNvSpPr>
            <a:spLocks xmlns:a="http://schemas.openxmlformats.org/drawingml/2006/main" noGrp="1"/>
          </p:cNvSpPr>
          <p:nvPr/>
        </p:nvSpPr>
        <p:spPr>
          <a:xfrm xmlns:a="http://schemas.openxmlformats.org/drawingml/2006/main">
            <a:off x="5000625" y="4457700"/>
            <a:ext cx="3438525" cy="590550"/>
          </a:xfrm>
          <a:prstGeom xmlns:a="http://schemas.openxmlformats.org/drawingml/2006/main" prst="rect">
            <a:avLst/>
          </a:prstGeom>
          <a:solidFill xmlns:a="http://schemas.openxmlformats.org/drawingml/2006/main">
            <a:srgbClr val="FFF4E0"/>
          </a:solidFill>
          <a:ln xmlns:a="http://schemas.openxmlformats.org/drawingml/2006/main" w="9525">
            <a:solidFill>
              <a:srgbClr val="B26A00"/>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088" b="1" i="0">
                <a:solidFill>
                  <a:srgbClr val="B26A00"/>
                </a:solidFill>
                <a:latin typeface="Arial"/>
                <a:ea typeface="Arial"/>
                <a:cs typeface="Arial"/>
              </a:defRPr>
            </a:pPr>
            <a:r>
              <a:rPr sz="1088" b="1" i="0">
                <a:solidFill>
                  <a:srgbClr val="B26A00"/>
                </a:solidFill>
                <a:latin typeface="Arial"/>
                <a:ea typeface="Arial"/>
                <a:cs typeface="Arial"/>
              </a:rPr>
              <a:t>v1 heuristic #1  →  v2 ML rank #8</a:t>
            </a:r>
          </a:p>
          <a:p xmlns:a="http://schemas.openxmlformats.org/drawingml/2006/main">
            <a:pPr algn="ctr">
              <a:buNone/>
              <a:defRPr sz="1088" b="1" i="0">
                <a:solidFill>
                  <a:srgbClr val="B26A00"/>
                </a:solidFill>
                <a:latin typeface="Arial"/>
                <a:ea typeface="Arial"/>
                <a:cs typeface="Arial"/>
              </a:defRPr>
            </a:pPr>
            <a:r>
              <a:rPr sz="1088" b="1" i="0">
                <a:solidFill>
                  <a:srgbClr val="B26A00"/>
                </a:solidFill>
                <a:latin typeface="Arial"/>
                <a:ea typeface="Arial"/>
                <a:cs typeface="Arial"/>
              </a:rPr>
              <a:t>+0.360 V = constructed endpoint proxy, not a pair calculation</a:t>
            </a:r>
          </a:p>
        </p:txBody>
      </p:sp>
    </p:spTree>
    <p:extLst>
      <p:ext uri="{BB962C8B-B14F-4D97-AF65-F5344CB8AC3E}">
        <p14:creationId xmlns:p14="http://schemas.microsoft.com/office/powerpoint/2010/main" val="6307001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37D91-8E47-4A5B-B42F-55FDDA70D71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Outlook</a:t>
            </a:r>
            <a:endParaRPr sz="2800"/>
          </a:p>
        </p:txBody>
      </p:sp>
      <p:sp>
        <p:nvSpPr>
          <p:cNvPr id="3" name="Text 1">
            <a:extLst xmlns:a="http://schemas.openxmlformats.org/drawingml/2006/main">
              <a:ext uri="{FF2B5EF4-FFF2-40B4-BE49-F238E27FC236}">
                <a16:creationId xmlns:a16="http://schemas.microsoft.com/office/drawing/2014/main" id="{5371674A-8475-4178-A4DE-3BD8AF87D6C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Lineage: Xiao 2019 · Kahle 2020 · Duquesnoy 2023</a:t>
            </a:r>
            <a:endParaRPr sz="900"/>
          </a:p>
        </p:txBody>
      </p:sp>
      <p:sp>
        <p:nvSpPr>
          <p:cNvPr id="4" name="Shape 2">
            <a:extLst xmlns:a="http://schemas.openxmlformats.org/drawingml/2006/main">
              <a:ext uri="{FF2B5EF4-FFF2-40B4-BE49-F238E27FC236}">
                <a16:creationId xmlns:a16="http://schemas.microsoft.com/office/drawing/2014/main" id="{6400D3FB-ADD3-4ACC-979F-5F35A9CCA4E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596EB549-DA74-45F9-BC76-9FD3738DB7D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D48C786-C1A2-4FF8-8564-646F0DD33CD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next cascade learns where to calculate next</a:t>
            </a:r>
            <a:endParaRPr sz="1400"/>
          </a:p>
        </p:txBody>
      </p:sp>
      <p:sp>
        <p:nvSpPr>
          <p:cNvPr id="7" name="Text 5">
            <a:extLst xmlns:a="http://schemas.openxmlformats.org/drawingml/2006/main">
              <a:ext uri="{FF2B5EF4-FFF2-40B4-BE49-F238E27FC236}">
                <a16:creationId xmlns:a16="http://schemas.microsoft.com/office/drawing/2014/main" id="{3FDB9690-A11A-44BF-A37F-1118CE559D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717CA607-3DFC-4AEF-B8AE-1EEFA0B3C4A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AE480F0-1177-42C6-9319-F1CC06208400}"/>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19</a:t>
            </a:r>
            <a:endParaRPr sz="900"/>
          </a:p>
        </p:txBody>
      </p:sp>
      <p:sp>
        <p:nvSpPr>
          <p:cNvPr id="11" name="Shape 8">
            <a:extLst xmlns:a="http://schemas.openxmlformats.org/drawingml/2006/main">
              <a:ext uri="{FF2B5EF4-FFF2-40B4-BE49-F238E27FC236}">
                <a16:creationId xmlns:a16="http://schemas.microsoft.com/office/drawing/2014/main" id="{0FF68A9A-6040-4C2C-A3FD-E3EB0CCA10F7}"/>
              </a:ext>
            </a:extLst>
          </p:cNvPr>
          <p:cNvSpPr>
            <a:spLocks xmlns:a="http://schemas.openxmlformats.org/drawingml/2006/main" noGrp="1"/>
          </p:cNvSpPr>
          <p:nvPr/>
        </p:nvSpPr>
        <p:spPr>
          <a:xfrm xmlns:a="http://schemas.openxmlformats.org/drawingml/2006/main">
            <a:off x="731520" y="173736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7F7F7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10704600-556D-4173-A58C-F077FF130CC1}"/>
              </a:ext>
            </a:extLst>
          </p:cNvPr>
          <p:cNvSpPr>
            <a:spLocks xmlns:a="http://schemas.openxmlformats.org/drawingml/2006/main" noGrp="1"/>
          </p:cNvSpPr>
          <p:nvPr/>
        </p:nvSpPr>
        <p:spPr>
          <a:xfrm xmlns:a="http://schemas.openxmlformats.org/drawingml/2006/main">
            <a:off x="86868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7F7F7F"/>
                </a:solidFill>
                <a:latin typeface="Arial"/>
                <a:ea typeface="Arial"/>
                <a:cs typeface="Arial"/>
              </a:rPr>
              <a:t>CANDIDATE SPACE
</a:t>
            </a:r>
            <a:endParaRPr sz="950"/>
          </a:p>
          <a:p xmlns:a="http://schemas.openxmlformats.org/drawingml/2006/main">
            <a:pPr marL="0" indent="0">
              <a:buNone/>
            </a:pPr>
            <a:r>
              <a:rPr sz="850">
                <a:solidFill>
                  <a:srgbClr val="262626"/>
                </a:solidFill>
                <a:latin typeface="Arial"/>
                <a:ea typeface="Arial"/>
                <a:cs typeface="Arial"/>
              </a:rPr>
              <a:t>dopant × x × configuration</a:t>
            </a:r>
            <a:endParaRPr sz="950"/>
          </a:p>
        </p:txBody>
      </p:sp>
      <p:sp>
        <p:nvSpPr>
          <p:cNvPr id="13" name="Shape 10">
            <a:extLst xmlns:a="http://schemas.openxmlformats.org/drawingml/2006/main">
              <a:ext uri="{FF2B5EF4-FFF2-40B4-BE49-F238E27FC236}">
                <a16:creationId xmlns:a16="http://schemas.microsoft.com/office/drawing/2014/main" id="{68B97AB5-1418-4EE4-A2A0-02A149AAD819}"/>
              </a:ext>
            </a:extLst>
          </p:cNvPr>
          <p:cNvSpPr>
            <a:spLocks xmlns:a="http://schemas.openxmlformats.org/drawingml/2006/main" noGrp="1"/>
          </p:cNvSpPr>
          <p:nvPr/>
        </p:nvSpPr>
        <p:spPr>
          <a:xfrm xmlns:a="http://schemas.openxmlformats.org/drawingml/2006/main">
            <a:off x="3291840" y="1737360"/>
            <a:ext cx="2286000" cy="1005840"/>
          </a:xfrm>
          <a:prstGeom xmlns:a="http://schemas.openxmlformats.org/drawingml/2006/main" prst="roundRect">
            <a:avLst>
              <a:gd name="adj" fmla="val 6364"/>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B09B065B-B155-475A-8C01-20A7617DC757}"/>
              </a:ext>
            </a:extLst>
          </p:cNvPr>
          <p:cNvSpPr>
            <a:spLocks xmlns:a="http://schemas.openxmlformats.org/drawingml/2006/main" noGrp="1"/>
          </p:cNvSpPr>
          <p:nvPr/>
        </p:nvSpPr>
        <p:spPr>
          <a:xfrm xmlns:a="http://schemas.openxmlformats.org/drawingml/2006/main">
            <a:off x="342900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L1  FAST SCREEN
</a:t>
            </a:r>
            <a:endParaRPr sz="950"/>
          </a:p>
          <a:p xmlns:a="http://schemas.openxmlformats.org/drawingml/2006/main">
            <a:pPr marL="0" indent="0">
              <a:buNone/>
            </a:pPr>
            <a:r>
              <a:rPr sz="850">
                <a:solidFill>
                  <a:srgbClr val="262626"/>
                </a:solidFill>
                <a:latin typeface="Arial"/>
                <a:ea typeface="Arial"/>
                <a:cs typeface="Arial"/>
              </a:rPr>
              <a:t>UMA + BVSE + gate risk</a:t>
            </a:r>
            <a:endParaRPr sz="950"/>
          </a:p>
        </p:txBody>
      </p:sp>
      <p:sp>
        <p:nvSpPr>
          <p:cNvPr id="15" name="Shape 12">
            <a:extLst xmlns:a="http://schemas.openxmlformats.org/drawingml/2006/main">
              <a:ext uri="{FF2B5EF4-FFF2-40B4-BE49-F238E27FC236}">
                <a16:creationId xmlns:a16="http://schemas.microsoft.com/office/drawing/2014/main" id="{E4DAACC7-CA05-4D6C-8EFF-D18E02D023B6}"/>
              </a:ext>
            </a:extLst>
          </p:cNvPr>
          <p:cNvSpPr>
            <a:spLocks xmlns:a="http://schemas.openxmlformats.org/drawingml/2006/main" noGrp="1"/>
          </p:cNvSpPr>
          <p:nvPr/>
        </p:nvSpPr>
        <p:spPr>
          <a:xfrm xmlns:a="http://schemas.openxmlformats.org/drawingml/2006/main">
            <a:off x="5852160" y="1737360"/>
            <a:ext cx="2286000" cy="1005840"/>
          </a:xfrm>
          <a:prstGeom xmlns:a="http://schemas.openxmlformats.org/drawingml/2006/main" prst="roundRect">
            <a:avLst>
              <a:gd name="adj" fmla="val 6364"/>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DB8C5CE0-C396-4DA7-9A35-B5DC33EDB781}"/>
              </a:ext>
            </a:extLst>
          </p:cNvPr>
          <p:cNvSpPr>
            <a:spLocks xmlns:a="http://schemas.openxmlformats.org/drawingml/2006/main" noGrp="1"/>
          </p:cNvSpPr>
          <p:nvPr/>
        </p:nvSpPr>
        <p:spPr>
          <a:xfrm xmlns:a="http://schemas.openxmlformats.org/drawingml/2006/main">
            <a:off x="598932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B26A00"/>
                </a:solidFill>
                <a:latin typeface="Arial"/>
                <a:ea typeface="Arial"/>
                <a:cs typeface="Arial"/>
              </a:rPr>
              <a:t>L2  DFT
</a:t>
            </a:r>
            <a:endParaRPr sz="950"/>
          </a:p>
          <a:p xmlns:a="http://schemas.openxmlformats.org/drawingml/2006/main">
            <a:pPr marL="0" indent="0">
              <a:buNone/>
            </a:pPr>
            <a:r>
              <a:rPr sz="850">
                <a:solidFill>
                  <a:srgbClr val="262626"/>
                </a:solidFill>
                <a:latin typeface="Arial"/>
                <a:ea typeface="Arial"/>
                <a:cs typeface="Arial"/>
              </a:rPr>
              <a:t>matched validation</a:t>
            </a:r>
            <a:endParaRPr sz="950"/>
          </a:p>
        </p:txBody>
      </p:sp>
      <p:sp>
        <p:nvSpPr>
          <p:cNvPr id="17" name="Shape 14">
            <a:extLst xmlns:a="http://schemas.openxmlformats.org/drawingml/2006/main">
              <a:ext uri="{FF2B5EF4-FFF2-40B4-BE49-F238E27FC236}">
                <a16:creationId xmlns:a16="http://schemas.microsoft.com/office/drawing/2014/main" id="{094808DC-FCE9-4D36-807C-C44A939093CF}"/>
              </a:ext>
            </a:extLst>
          </p:cNvPr>
          <p:cNvSpPr>
            <a:spLocks xmlns:a="http://schemas.openxmlformats.org/drawingml/2006/main" noGrp="1"/>
          </p:cNvSpPr>
          <p:nvPr/>
        </p:nvSpPr>
        <p:spPr>
          <a:xfrm xmlns:a="http://schemas.openxmlformats.org/drawingml/2006/main">
            <a:off x="329184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5341A6F-E3CC-4E5B-A9B4-475C56905B70}"/>
              </a:ext>
            </a:extLst>
          </p:cNvPr>
          <p:cNvSpPr>
            <a:spLocks xmlns:a="http://schemas.openxmlformats.org/drawingml/2006/main" noGrp="1"/>
          </p:cNvSpPr>
          <p:nvPr/>
        </p:nvSpPr>
        <p:spPr>
          <a:xfrm xmlns:a="http://schemas.openxmlformats.org/drawingml/2006/main">
            <a:off x="342900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VERSIONED DATABASE
</a:t>
            </a:r>
            <a:endParaRPr sz="950"/>
          </a:p>
          <a:p xmlns:a="http://schemas.openxmlformats.org/drawingml/2006/main">
            <a:pPr marL="0" indent="0">
              <a:buNone/>
            </a:pPr>
            <a:r>
              <a:rPr sz="850">
                <a:solidFill>
                  <a:srgbClr val="262626"/>
                </a:solidFill>
                <a:latin typeface="Arial"/>
                <a:ea typeface="Arial"/>
                <a:cs typeface="Arial"/>
              </a:rPr>
              <a:t>provenance-tagged records</a:t>
            </a:r>
            <a:endParaRPr sz="950"/>
          </a:p>
        </p:txBody>
      </p:sp>
      <p:sp>
        <p:nvSpPr>
          <p:cNvPr id="19" name="Shape 16">
            <a:extLst xmlns:a="http://schemas.openxmlformats.org/drawingml/2006/main">
              <a:ext uri="{FF2B5EF4-FFF2-40B4-BE49-F238E27FC236}">
                <a16:creationId xmlns:a16="http://schemas.microsoft.com/office/drawing/2014/main" id="{2FD60A70-8257-4508-87D7-8A939E83010E}"/>
              </a:ext>
            </a:extLst>
          </p:cNvPr>
          <p:cNvSpPr>
            <a:spLocks xmlns:a="http://schemas.openxmlformats.org/drawingml/2006/main" noGrp="1"/>
          </p:cNvSpPr>
          <p:nvPr/>
        </p:nvSpPr>
        <p:spPr>
          <a:xfrm xmlns:a="http://schemas.openxmlformats.org/drawingml/2006/main">
            <a:off x="5852160" y="329184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E12C32CA-A790-45CC-92ED-5F96C446CA1A}"/>
              </a:ext>
            </a:extLst>
          </p:cNvPr>
          <p:cNvSpPr>
            <a:spLocks xmlns:a="http://schemas.openxmlformats.org/drawingml/2006/main" noGrp="1"/>
          </p:cNvSpPr>
          <p:nvPr/>
        </p:nvSpPr>
        <p:spPr>
          <a:xfrm xmlns:a="http://schemas.openxmlformats.org/drawingml/2006/main">
            <a:off x="598932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ACQUISITION
</a:t>
            </a:r>
            <a:endParaRPr sz="950"/>
          </a:p>
          <a:p xmlns:a="http://schemas.openxmlformats.org/drawingml/2006/main">
            <a:pPr marL="0" indent="0">
              <a:buNone/>
            </a:pPr>
            <a:r>
              <a:rPr sz="850">
                <a:solidFill>
                  <a:srgbClr val="262626"/>
                </a:solidFill>
                <a:latin typeface="Arial"/>
                <a:ea typeface="Arial"/>
                <a:cs typeface="Arial"/>
              </a:rPr>
              <a:t>Pareto gain + uncertainty + diversity</a:t>
            </a:r>
            <a:endParaRPr sz="950"/>
          </a:p>
        </p:txBody>
      </p:sp>
      <p:sp>
        <p:nvSpPr>
          <p:cNvPr id="21" name="Shape 18">
            <a:extLst xmlns:a="http://schemas.openxmlformats.org/drawingml/2006/main">
              <a:ext uri="{FF2B5EF4-FFF2-40B4-BE49-F238E27FC236}">
                <a16:creationId xmlns:a16="http://schemas.microsoft.com/office/drawing/2014/main" id="{635852B3-6706-4638-A9B1-15235743C287}"/>
              </a:ext>
            </a:extLst>
          </p:cNvPr>
          <p:cNvSpPr>
            <a:spLocks xmlns:a="http://schemas.openxmlformats.org/drawingml/2006/main" noGrp="1"/>
          </p:cNvSpPr>
          <p:nvPr/>
        </p:nvSpPr>
        <p:spPr>
          <a:xfrm xmlns:a="http://schemas.openxmlformats.org/drawingml/2006/main">
            <a:off x="73152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0DF5813A-E782-4C76-8024-7ECA92946E55}"/>
              </a:ext>
            </a:extLst>
          </p:cNvPr>
          <p:cNvSpPr>
            <a:spLocks xmlns:a="http://schemas.openxmlformats.org/drawingml/2006/main" noGrp="1"/>
          </p:cNvSpPr>
          <p:nvPr/>
        </p:nvSpPr>
        <p:spPr>
          <a:xfrm xmlns:a="http://schemas.openxmlformats.org/drawingml/2006/main">
            <a:off x="86868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L3  EXPERIMENT
</a:t>
            </a:r>
            <a:endParaRPr sz="950"/>
          </a:p>
          <a:p xmlns:a="http://schemas.openxmlformats.org/drawingml/2006/main">
            <a:pPr marL="0" indent="0">
              <a:buNone/>
            </a:pPr>
            <a:r>
              <a:rPr sz="850">
                <a:solidFill>
                  <a:srgbClr val="262626"/>
                </a:solidFill>
                <a:latin typeface="Arial"/>
                <a:ea typeface="Arial"/>
                <a:cs typeface="Arial"/>
              </a:rPr>
              <a:t>phase · sigma(T) · stability</a:t>
            </a:r>
            <a:endParaRPr sz="950"/>
          </a:p>
        </p:txBody>
      </p:sp>
      <p:sp>
        <p:nvSpPr>
          <p:cNvPr id="23" name="Text 20">
            <a:extLst xmlns:a="http://schemas.openxmlformats.org/drawingml/2006/main">
              <a:ext uri="{FF2B5EF4-FFF2-40B4-BE49-F238E27FC236}">
                <a16:creationId xmlns:a16="http://schemas.microsoft.com/office/drawing/2014/main" id="{B6C9B806-7D00-492E-B0C0-DC2B8685A994}"/>
              </a:ext>
            </a:extLst>
          </p:cNvPr>
          <p:cNvSpPr>
            <a:spLocks xmlns:a="http://schemas.openxmlformats.org/drawingml/2006/main" noGrp="1"/>
          </p:cNvSpPr>
          <p:nvPr/>
        </p:nvSpPr>
        <p:spPr>
          <a:xfrm xmlns:a="http://schemas.openxmlformats.org/drawingml/2006/main">
            <a:off x="548640" y="46634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7F7F7F"/>
                </a:solidFill>
                <a:latin typeface="Arial"/>
                <a:ea typeface="Arial"/>
                <a:cs typeface="Arial"/>
              </a:rPr>
              <a:t>EXPLOIT: predicted Pareto gain     EXPLORE: uncertainty / new chemistry     VALIDATE: gate boundary</a:t>
            </a:r>
            <a:endParaRPr sz="950"/>
          </a:p>
        </p:txBody>
      </p:sp>
      <p:sp>
        <p:nvSpPr>
          <p:cNvPr id="24" name="Text 21">
            <a:extLst xmlns:a="http://schemas.openxmlformats.org/drawingml/2006/main">
              <a:ext uri="{FF2B5EF4-FFF2-40B4-BE49-F238E27FC236}">
                <a16:creationId xmlns:a16="http://schemas.microsoft.com/office/drawing/2014/main" id="{3FEB6588-997A-4782-AFB1-80C586E43D84}"/>
              </a:ext>
            </a:extLst>
          </p:cNvPr>
          <p:cNvSpPr>
            <a:spLocks xmlns:a="http://schemas.openxmlformats.org/drawingml/2006/main" noGrp="1"/>
          </p:cNvSpPr>
          <p:nvPr/>
        </p:nvSpPr>
        <p:spPr>
          <a:xfrm xmlns:a="http://schemas.openxmlformats.org/drawingml/2006/main">
            <a:off x="548640" y="52120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ML chooses the next expensive calculation; physics and experiments decide the claim.</a:t>
            </a:r>
            <a:endParaRPr sz="1250"/>
          </a:p>
        </p:txBody>
      </p:sp>
      <p:sp>
        <p:nvSpPr>
          <p:cNvPr id="25" name="Text 22">
            <a:extLst xmlns:a="http://schemas.openxmlformats.org/drawingml/2006/main">
              <a:ext uri="{FF2B5EF4-FFF2-40B4-BE49-F238E27FC236}">
                <a16:creationId xmlns:a16="http://schemas.microsoft.com/office/drawing/2014/main" id="{90C245AA-C77C-44B1-81DE-7DC394A6CCE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cascade_ml_integration_guide.md · local Sendek and Kim digests</a:t>
            </a:r>
            <a:endParaRPr sz="750"/>
          </a:p>
        </p:txBody>
      </p:sp>
    </p:spTree>
    <p:extLst>
      <p:ext uri="{BB962C8B-B14F-4D97-AF65-F5344CB8AC3E}">
        <p14:creationId xmlns:p14="http://schemas.microsoft.com/office/powerpoint/2010/main" val="59665616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03368B-E29E-4345-8905-0F9B6308B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67D524F5-EC49-4697-801C-ACE14F11767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Appendix A1 · 47-species cast list</a:t>
            </a:r>
            <a:endParaRPr sz="900"/>
          </a:p>
        </p:txBody>
      </p:sp>
      <p:sp>
        <p:nvSpPr>
          <p:cNvPr id="4" name="Shape 2">
            <a:extLst xmlns:a="http://schemas.openxmlformats.org/drawingml/2006/main">
              <a:ext uri="{FF2B5EF4-FFF2-40B4-BE49-F238E27FC236}">
                <a16:creationId xmlns:a16="http://schemas.microsoft.com/office/drawing/2014/main" id="{0212635A-A287-4059-B2C4-1DF6A8919A6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9C7D9980-80A7-471A-B076-136A5F716C1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8D5D0FE-8F91-46EE-85EB-BD7E84F0A0D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What we actually explored — a cast list, not a ranking</a:t>
            </a:r>
            <a:endParaRPr sz="1400"/>
          </a:p>
        </p:txBody>
      </p:sp>
      <p:sp>
        <p:nvSpPr>
          <p:cNvPr id="7" name="Text 5">
            <a:extLst xmlns:a="http://schemas.openxmlformats.org/drawingml/2006/main">
              <a:ext uri="{FF2B5EF4-FFF2-40B4-BE49-F238E27FC236}">
                <a16:creationId xmlns:a16="http://schemas.microsoft.com/office/drawing/2014/main" id="{17E74900-45B7-4B5B-A174-4FCDA176F978}"/>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87F3A67-BB6B-4071-9822-9E59D5E7271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2AF754-1419-4B42-962A-9912CBF9F18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20</a:t>
            </a:r>
            <a:endParaRPr sz="900"/>
          </a:p>
        </p:txBody>
      </p:sp>
      <p:sp>
        <p:nvSpPr>
          <p:cNvPr id="11" name="Shape 8">
            <a:extLst xmlns:a="http://schemas.openxmlformats.org/drawingml/2006/main">
              <a:ext uri="{FF2B5EF4-FFF2-40B4-BE49-F238E27FC236}">
                <a16:creationId xmlns:a16="http://schemas.microsoft.com/office/drawing/2014/main" id="{3196525C-4111-44E3-97DE-DE3D35BD97FB}"/>
              </a:ext>
            </a:extLst>
          </p:cNvPr>
          <p:cNvSpPr>
            <a:spLocks xmlns:a="http://schemas.openxmlformats.org/drawingml/2006/main" noGrp="1"/>
          </p:cNvSpPr>
          <p:nvPr/>
        </p:nvSpPr>
        <p:spPr>
          <a:xfrm xmlns:a="http://schemas.openxmlformats.org/drawingml/2006/main">
            <a:off x="548640" y="1417320"/>
            <a:ext cx="8046720" cy="1171575"/>
          </a:xfrm>
          <a:prstGeom xmlns:a="http://schemas.openxmlformats.org/drawingml/2006/main" prst="roundRect">
            <a:avLst>
              <a:gd name="adj" fmla="val 2121"/>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0843D4C6-9AE9-4502-9B8F-1C7E191349F5}"/>
              </a:ext>
            </a:extLst>
          </p:cNvPr>
          <p:cNvSpPr>
            <a:spLocks xmlns:a="http://schemas.openxmlformats.org/drawingml/2006/main" noGrp="1"/>
          </p:cNvSpPr>
          <p:nvPr/>
        </p:nvSpPr>
        <p:spPr>
          <a:xfrm xmlns:a="http://schemas.openxmlformats.org/drawingml/2006/main">
            <a:off x="658368" y="1472184"/>
            <a:ext cx="78105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Transition metal (23)</a:t>
            </a:r>
            <a:endParaRPr sz="950"/>
          </a:p>
        </p:txBody>
      </p:sp>
      <p:sp>
        <p:nvSpPr>
          <p:cNvPr id="13" name="Text 10">
            <a:extLst xmlns:a="http://schemas.openxmlformats.org/drawingml/2006/main">
              <a:ext uri="{FF2B5EF4-FFF2-40B4-BE49-F238E27FC236}">
                <a16:creationId xmlns:a16="http://schemas.microsoft.com/office/drawing/2014/main" id="{16002A7F-DBA2-40C5-962E-0E4A423647B9}"/>
              </a:ext>
            </a:extLst>
          </p:cNvPr>
          <p:cNvSpPr>
            <a:spLocks xmlns:a="http://schemas.openxmlformats.org/drawingml/2006/main" noGrp="1"/>
          </p:cNvSpPr>
          <p:nvPr/>
        </p:nvSpPr>
        <p:spPr>
          <a:xfrm xmlns:a="http://schemas.openxmlformats.org/drawingml/2006/main">
            <a:off x="658368" y="1704975"/>
            <a:ext cx="7810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38" b="1">
                <a:solidFill>
                  <a:srgbClr val="1F4E79"/>
                </a:solidFill>
                <a:latin typeface="Arial"/>
                <a:ea typeface="Arial"/>
                <a:cs typeface="Arial"/>
              </a:rPr>
              <a:t>Ag₂O</a:t>
            </a:r>
            <a:r>
              <a:rPr sz="1238">
                <a:solidFill>
                  <a:srgbClr val="BFBFBF"/>
                </a:solidFill>
                <a:latin typeface="Arial"/>
                <a:ea typeface="Arial"/>
                <a:cs typeface="Arial"/>
              </a:rPr>
              <a:t>  ·  </a:t>
            </a:r>
            <a:r>
              <a:rPr sz="1238">
                <a:solidFill>
                  <a:srgbClr val="262626"/>
                </a:solidFill>
                <a:latin typeface="Arial"/>
                <a:ea typeface="Arial"/>
                <a:cs typeface="Arial"/>
              </a:rPr>
              <a:t>CoO</a:t>
            </a:r>
            <a:r>
              <a:rPr sz="1238">
                <a:solidFill>
                  <a:srgbClr val="BFBFBF"/>
                </a:solidFill>
                <a:latin typeface="Arial"/>
                <a:ea typeface="Arial"/>
                <a:cs typeface="Arial"/>
              </a:rPr>
              <a:t>  ·  </a:t>
            </a:r>
            <a:r>
              <a:rPr sz="1238">
                <a:solidFill>
                  <a:srgbClr val="262626"/>
                </a:solidFill>
                <a:latin typeface="Arial"/>
                <a:ea typeface="Arial"/>
                <a:cs typeface="Arial"/>
              </a:rPr>
              <a:t>Cr₂O₃</a:t>
            </a:r>
            <a:r>
              <a:rPr sz="1238">
                <a:solidFill>
                  <a:srgbClr val="BFBFBF"/>
                </a:solidFill>
                <a:latin typeface="Arial"/>
                <a:ea typeface="Arial"/>
                <a:cs typeface="Arial"/>
              </a:rPr>
              <a:t>  ·  </a:t>
            </a:r>
            <a:r>
              <a:rPr sz="1238">
                <a:solidFill>
                  <a:srgbClr val="262626"/>
                </a:solidFill>
                <a:latin typeface="Arial"/>
                <a:ea typeface="Arial"/>
                <a:cs typeface="Arial"/>
              </a:rPr>
              <a:t>CrO₃</a:t>
            </a:r>
            <a:r>
              <a:rPr sz="1238">
                <a:solidFill>
                  <a:srgbClr val="BFBFBF"/>
                </a:solidFill>
                <a:latin typeface="Arial"/>
                <a:ea typeface="Arial"/>
                <a:cs typeface="Arial"/>
              </a:rPr>
              <a:t>  ·  </a:t>
            </a:r>
            <a:r>
              <a:rPr sz="1238">
                <a:solidFill>
                  <a:srgbClr val="262626"/>
                </a:solidFill>
                <a:latin typeface="Arial"/>
                <a:ea typeface="Arial"/>
                <a:cs typeface="Arial"/>
              </a:rPr>
              <a:t>Cu₂O</a:t>
            </a:r>
            <a:r>
              <a:rPr sz="1238">
                <a:solidFill>
                  <a:srgbClr val="BFBFBF"/>
                </a:solidFill>
                <a:latin typeface="Arial"/>
                <a:ea typeface="Arial"/>
                <a:cs typeface="Arial"/>
              </a:rPr>
              <a:t>  ·  </a:t>
            </a:r>
            <a:r>
              <a:rPr sz="1238">
                <a:solidFill>
                  <a:srgbClr val="262626"/>
                </a:solidFill>
                <a:latin typeface="Arial"/>
                <a:ea typeface="Arial"/>
                <a:cs typeface="Arial"/>
              </a:rPr>
              <a:t>Fe₂O₃</a:t>
            </a:r>
            <a:r>
              <a:rPr sz="1238">
                <a:solidFill>
                  <a:srgbClr val="BFBFBF"/>
                </a:solidFill>
                <a:latin typeface="Arial"/>
                <a:ea typeface="Arial"/>
                <a:cs typeface="Arial"/>
              </a:rPr>
              <a:t>  ·  </a:t>
            </a:r>
            <a:r>
              <a:rPr sz="1238">
                <a:solidFill>
                  <a:srgbClr val="262626"/>
                </a:solidFill>
                <a:latin typeface="Arial"/>
                <a:ea typeface="Arial"/>
                <a:cs typeface="Arial"/>
              </a:rPr>
              <a:t>HfO₂</a:t>
            </a:r>
            <a:r>
              <a:rPr sz="1238">
                <a:solidFill>
                  <a:srgbClr val="BFBFBF"/>
                </a:solidFill>
                <a:latin typeface="Arial"/>
                <a:ea typeface="Arial"/>
                <a:cs typeface="Arial"/>
              </a:rPr>
              <a:t>  ·  </a:t>
            </a:r>
            <a:r>
              <a:rPr sz="1238">
                <a:solidFill>
                  <a:srgbClr val="262626"/>
                </a:solidFill>
                <a:latin typeface="Arial"/>
                <a:ea typeface="Arial"/>
                <a:cs typeface="Arial"/>
              </a:rPr>
              <a:t>MnO</a:t>
            </a:r>
            <a:r>
              <a:rPr sz="1238">
                <a:solidFill>
                  <a:srgbClr val="BFBFBF"/>
                </a:solidFill>
                <a:latin typeface="Arial"/>
                <a:ea typeface="Arial"/>
                <a:cs typeface="Arial"/>
              </a:rPr>
              <a:t>  ·  </a:t>
            </a:r>
            <a:r>
              <a:rPr sz="1238">
                <a:solidFill>
                  <a:srgbClr val="262626"/>
                </a:solidFill>
                <a:latin typeface="Arial"/>
                <a:ea typeface="Arial"/>
                <a:cs typeface="Arial"/>
              </a:rPr>
              <a:t>MoO₃</a:t>
            </a:r>
            <a:r>
              <a:rPr sz="1238">
                <a:solidFill>
                  <a:srgbClr val="BFBFBF"/>
                </a:solidFill>
                <a:latin typeface="Arial"/>
                <a:ea typeface="Arial"/>
                <a:cs typeface="Arial"/>
              </a:rPr>
              <a:t>  ·  </a:t>
            </a:r>
            <a:r>
              <a:rPr sz="1238">
                <a:solidFill>
                  <a:srgbClr val="262626"/>
                </a:solidFill>
                <a:latin typeface="Arial"/>
                <a:ea typeface="Arial"/>
                <a:cs typeface="Arial"/>
              </a:rPr>
              <a:t>Nb₂O₅</a:t>
            </a:r>
            <a:r>
              <a:rPr sz="1238">
                <a:solidFill>
                  <a:srgbClr val="BFBFBF"/>
                </a:solidFill>
                <a:latin typeface="Arial"/>
                <a:ea typeface="Arial"/>
                <a:cs typeface="Arial"/>
              </a:rPr>
              <a:t>  ·  </a:t>
            </a:r>
            <a:r>
              <a:rPr sz="1238">
                <a:solidFill>
                  <a:srgbClr val="262626"/>
                </a:solidFill>
                <a:latin typeface="Arial"/>
                <a:ea typeface="Arial"/>
                <a:cs typeface="Arial"/>
              </a:rPr>
              <a:t>NiO</a:t>
            </a:r>
            <a:r>
              <a:rPr sz="1238">
                <a:solidFill>
                  <a:srgbClr val="BFBFBF"/>
                </a:solidFill>
                <a:latin typeface="Arial"/>
                <a:ea typeface="Arial"/>
                <a:cs typeface="Arial"/>
              </a:rPr>
              <a:t>  ·  </a:t>
            </a:r>
            <a:r>
              <a:rPr sz="1238">
                <a:solidFill>
                  <a:srgbClr val="262626"/>
                </a:solidFill>
                <a:latin typeface="Arial"/>
                <a:ea typeface="Arial"/>
                <a:cs typeface="Arial"/>
              </a:rPr>
              <a:t>Sc₂O₃</a:t>
            </a:r>
            <a:r>
              <a:rPr sz="1238">
                <a:solidFill>
                  <a:srgbClr val="BFBFBF"/>
                </a:solidFill>
                <a:latin typeface="Arial"/>
                <a:ea typeface="Arial"/>
                <a:cs typeface="Arial"/>
              </a:rPr>
              <a:t>  ·  </a:t>
            </a:r>
            <a:r>
              <a:rPr sz="1238">
                <a:solidFill>
                  <a:srgbClr val="262626"/>
                </a:solidFill>
                <a:latin typeface="Arial"/>
                <a:ea typeface="Arial"/>
                <a:cs typeface="Arial"/>
              </a:rPr>
              <a:t>ScF₃</a:t>
            </a:r>
            <a:r>
              <a:rPr sz="1238">
                <a:solidFill>
                  <a:srgbClr val="BFBFBF"/>
                </a:solidFill>
                <a:latin typeface="Arial"/>
                <a:ea typeface="Arial"/>
                <a:cs typeface="Arial"/>
              </a:rPr>
              <a:t>  ·  </a:t>
            </a:r>
            <a:r>
              <a:rPr sz="1238">
                <a:solidFill>
                  <a:srgbClr val="262626"/>
                </a:solidFill>
                <a:latin typeface="Arial"/>
                <a:ea typeface="Arial"/>
                <a:cs typeface="Arial"/>
              </a:rPr>
              <a:t>Ta₂O₅</a:t>
            </a:r>
            <a:r>
              <a:rPr sz="1238">
                <a:solidFill>
                  <a:srgbClr val="BFBFBF"/>
                </a:solidFill>
                <a:latin typeface="Arial"/>
                <a:ea typeface="Arial"/>
                <a:cs typeface="Arial"/>
              </a:rPr>
              <a:t>  ·  </a:t>
            </a:r>
            <a:r>
              <a:rPr sz="1238">
                <a:solidFill>
                  <a:srgbClr val="262626"/>
                </a:solidFill>
                <a:latin typeface="Arial"/>
                <a:ea typeface="Arial"/>
                <a:cs typeface="Arial"/>
              </a:rPr>
              <a:t>TiF₄</a:t>
            </a:r>
            <a:r>
              <a:rPr sz="1238">
                <a:solidFill>
                  <a:srgbClr val="BFBFBF"/>
                </a:solidFill>
                <a:latin typeface="Arial"/>
                <a:ea typeface="Arial"/>
                <a:cs typeface="Arial"/>
              </a:rPr>
              <a:t>  ·  </a:t>
            </a:r>
            <a:r>
              <a:rPr sz="1238">
                <a:solidFill>
                  <a:srgbClr val="262626"/>
                </a:solidFill>
                <a:latin typeface="Arial"/>
                <a:ea typeface="Arial"/>
                <a:cs typeface="Arial"/>
              </a:rPr>
              <a:t>TiO₂</a:t>
            </a:r>
            <a:r>
              <a:rPr sz="1238">
                <a:solidFill>
                  <a:srgbClr val="BFBFBF"/>
                </a:solidFill>
                <a:latin typeface="Arial"/>
                <a:ea typeface="Arial"/>
                <a:cs typeface="Arial"/>
              </a:rPr>
              <a:t>  ·  </a:t>
            </a:r>
            <a:r>
              <a:rPr sz="1238">
                <a:solidFill>
                  <a:srgbClr val="262626"/>
                </a:solidFill>
                <a:latin typeface="Arial"/>
                <a:ea typeface="Arial"/>
                <a:cs typeface="Arial"/>
              </a:rPr>
              <a:t>V₂O₅</a:t>
            </a:r>
            <a:r>
              <a:rPr sz="1238">
                <a:solidFill>
                  <a:srgbClr val="BFBFBF"/>
                </a:solidFill>
                <a:latin typeface="Arial"/>
                <a:ea typeface="Arial"/>
                <a:cs typeface="Arial"/>
              </a:rPr>
              <a:t>  ·  </a:t>
            </a:r>
            <a:r>
              <a:rPr sz="1238" b="1">
                <a:solidFill>
                  <a:srgbClr val="1F4E79"/>
                </a:solidFill>
                <a:latin typeface="Arial"/>
                <a:ea typeface="Arial"/>
                <a:cs typeface="Arial"/>
              </a:rPr>
              <a:t>WO₃</a:t>
            </a:r>
            <a:r>
              <a:rPr sz="1238">
                <a:solidFill>
                  <a:srgbClr val="BFBFBF"/>
                </a:solidFill>
                <a:latin typeface="Arial"/>
                <a:ea typeface="Arial"/>
                <a:cs typeface="Arial"/>
              </a:rPr>
              <a:t>  ·  </a:t>
            </a:r>
            <a:r>
              <a:rPr sz="1238">
                <a:solidFill>
                  <a:srgbClr val="262626"/>
                </a:solidFill>
                <a:latin typeface="Arial"/>
                <a:ea typeface="Arial"/>
                <a:cs typeface="Arial"/>
              </a:rPr>
              <a:t>Y₂O₃</a:t>
            </a:r>
            <a:r>
              <a:rPr sz="1238">
                <a:solidFill>
                  <a:srgbClr val="BFBFBF"/>
                </a:solidFill>
                <a:latin typeface="Arial"/>
                <a:ea typeface="Arial"/>
                <a:cs typeface="Arial"/>
              </a:rPr>
              <a:t>  ·  </a:t>
            </a:r>
            <a:r>
              <a:rPr sz="1238">
                <a:solidFill>
                  <a:srgbClr val="262626"/>
                </a:solidFill>
                <a:latin typeface="Arial"/>
                <a:ea typeface="Arial"/>
                <a:cs typeface="Arial"/>
              </a:rPr>
              <a:t>YF₃</a:t>
            </a:r>
            <a:r>
              <a:rPr sz="1238">
                <a:solidFill>
                  <a:srgbClr val="BFBFBF"/>
                </a:solidFill>
                <a:latin typeface="Arial"/>
                <a:ea typeface="Arial"/>
                <a:cs typeface="Arial"/>
              </a:rPr>
              <a:t>  ·  </a:t>
            </a:r>
            <a:r>
              <a:rPr sz="1238" b="1">
                <a:solidFill>
                  <a:srgbClr val="1F4E79"/>
                </a:solidFill>
                <a:latin typeface="Arial"/>
                <a:ea typeface="Arial"/>
                <a:cs typeface="Arial"/>
              </a:rPr>
              <a:t>ZnO</a:t>
            </a:r>
            <a:r>
              <a:rPr sz="1238">
                <a:solidFill>
                  <a:srgbClr val="BFBFBF"/>
                </a:solidFill>
                <a:latin typeface="Arial"/>
                <a:ea typeface="Arial"/>
                <a:cs typeface="Arial"/>
              </a:rPr>
              <a:t>  ·  </a:t>
            </a:r>
            <a:r>
              <a:rPr sz="1238">
                <a:solidFill>
                  <a:srgbClr val="262626"/>
                </a:solidFill>
                <a:latin typeface="Arial"/>
                <a:ea typeface="Arial"/>
                <a:cs typeface="Arial"/>
              </a:rPr>
              <a:t>ZrF₄</a:t>
            </a:r>
            <a:r>
              <a:rPr sz="1238">
                <a:solidFill>
                  <a:srgbClr val="BFBFBF"/>
                </a:solidFill>
                <a:latin typeface="Arial"/>
                <a:ea typeface="Arial"/>
                <a:cs typeface="Arial"/>
              </a:rPr>
              <a:t>  ·  </a:t>
            </a:r>
            <a:r>
              <a:rPr sz="1238">
                <a:solidFill>
                  <a:srgbClr val="262626"/>
                </a:solidFill>
                <a:latin typeface="Arial"/>
                <a:ea typeface="Arial"/>
                <a:cs typeface="Arial"/>
              </a:rPr>
              <a:t>ZrO₂</a:t>
            </a:r>
            <a:endParaRPr sz="950"/>
          </a:p>
        </p:txBody>
      </p:sp>
      <p:sp>
        <p:nvSpPr>
          <p:cNvPr id="14" name="Shape 11">
            <a:extLst xmlns:a="http://schemas.openxmlformats.org/drawingml/2006/main">
              <a:ext uri="{FF2B5EF4-FFF2-40B4-BE49-F238E27FC236}">
                <a16:creationId xmlns:a16="http://schemas.microsoft.com/office/drawing/2014/main" id="{AE13A1A3-1CCF-43C6-97DA-A90FFF72ADB6}"/>
              </a:ext>
            </a:extLst>
          </p:cNvPr>
          <p:cNvSpPr>
            <a:spLocks xmlns:a="http://schemas.openxmlformats.org/drawingml/2006/main" noGrp="1"/>
          </p:cNvSpPr>
          <p:nvPr/>
        </p:nvSpPr>
        <p:spPr>
          <a:xfrm xmlns:a="http://schemas.openxmlformats.org/drawingml/2006/main">
            <a:off x="548640" y="2724150"/>
            <a:ext cx="3924300" cy="914400"/>
          </a:xfrm>
          <a:prstGeom xmlns:a="http://schemas.openxmlformats.org/drawingml/2006/main" prst="roundRect">
            <a:avLst>
              <a:gd name="adj" fmla="val 6087"/>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90B20789-BE5F-4CF9-A43C-CC6F2DF73E8F}"/>
              </a:ext>
            </a:extLst>
          </p:cNvPr>
          <p:cNvSpPr>
            <a:spLocks xmlns:a="http://schemas.openxmlformats.org/drawingml/2006/main" noGrp="1"/>
          </p:cNvSpPr>
          <p:nvPr/>
        </p:nvSpPr>
        <p:spPr>
          <a:xfrm xmlns:a="http://schemas.openxmlformats.org/drawingml/2006/main">
            <a:off x="658368" y="2771775"/>
            <a:ext cx="36957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Main group (9)</a:t>
            </a:r>
            <a:endParaRPr sz="950"/>
          </a:p>
        </p:txBody>
      </p:sp>
      <p:sp>
        <p:nvSpPr>
          <p:cNvPr id="16" name="Text 13">
            <a:extLst xmlns:a="http://schemas.openxmlformats.org/drawingml/2006/main">
              <a:ext uri="{FF2B5EF4-FFF2-40B4-BE49-F238E27FC236}">
                <a16:creationId xmlns:a16="http://schemas.microsoft.com/office/drawing/2014/main" id="{FEC4D570-9ABE-42FA-B6F3-A8F78C9B5379}"/>
              </a:ext>
            </a:extLst>
          </p:cNvPr>
          <p:cNvSpPr>
            <a:spLocks xmlns:a="http://schemas.openxmlformats.org/drawingml/2006/main" noGrp="1"/>
          </p:cNvSpPr>
          <p:nvPr/>
        </p:nvSpPr>
        <p:spPr>
          <a:xfrm xmlns:a="http://schemas.openxmlformats.org/drawingml/2006/main">
            <a:off x="658368" y="2990850"/>
            <a:ext cx="36957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Al₂O₃</a:t>
            </a:r>
            <a:r>
              <a:rPr sz="1163">
                <a:solidFill>
                  <a:srgbClr val="BFBFBF"/>
                </a:solidFill>
                <a:latin typeface="Arial"/>
                <a:ea typeface="Arial"/>
                <a:cs typeface="Arial"/>
              </a:rPr>
              <a:t>  ·  </a:t>
            </a:r>
            <a:r>
              <a:rPr sz="1163">
                <a:solidFill>
                  <a:srgbClr val="262626"/>
                </a:solidFill>
                <a:latin typeface="Arial"/>
                <a:ea typeface="Arial"/>
                <a:cs typeface="Arial"/>
              </a:rPr>
              <a:t>AlF₃</a:t>
            </a:r>
            <a:r>
              <a:rPr sz="1163">
                <a:solidFill>
                  <a:srgbClr val="BFBFBF"/>
                </a:solidFill>
                <a:latin typeface="Arial"/>
                <a:ea typeface="Arial"/>
                <a:cs typeface="Arial"/>
              </a:rPr>
              <a:t>  ·  </a:t>
            </a:r>
            <a:r>
              <a:rPr sz="1163">
                <a:solidFill>
                  <a:srgbClr val="262626"/>
                </a:solidFill>
                <a:latin typeface="Arial"/>
                <a:ea typeface="Arial"/>
                <a:cs typeface="Arial"/>
              </a:rPr>
              <a:t>B₂O₃†</a:t>
            </a:r>
            <a:r>
              <a:rPr sz="1163">
                <a:solidFill>
                  <a:srgbClr val="BFBFBF"/>
                </a:solidFill>
                <a:latin typeface="Arial"/>
                <a:ea typeface="Arial"/>
                <a:cs typeface="Arial"/>
              </a:rPr>
              <a:t>  ·  </a:t>
            </a:r>
            <a:r>
              <a:rPr sz="1163">
                <a:solidFill>
                  <a:srgbClr val="262626"/>
                </a:solidFill>
                <a:latin typeface="Arial"/>
                <a:ea typeface="Arial"/>
                <a:cs typeface="Arial"/>
              </a:rPr>
              <a:t>Ga₂O₃</a:t>
            </a:r>
            <a:r>
              <a:rPr sz="1163">
                <a:solidFill>
                  <a:srgbClr val="BFBFBF"/>
                </a:solidFill>
                <a:latin typeface="Arial"/>
                <a:ea typeface="Arial"/>
                <a:cs typeface="Arial"/>
              </a:rPr>
              <a:t>  ·  </a:t>
            </a:r>
            <a:r>
              <a:rPr sz="1163">
                <a:solidFill>
                  <a:srgbClr val="262626"/>
                </a:solidFill>
                <a:latin typeface="Arial"/>
                <a:ea typeface="Arial"/>
                <a:cs typeface="Arial"/>
              </a:rPr>
              <a:t>GeO₂</a:t>
            </a:r>
            <a:r>
              <a:rPr sz="1163">
                <a:solidFill>
                  <a:srgbClr val="BFBFBF"/>
                </a:solidFill>
                <a:latin typeface="Arial"/>
                <a:ea typeface="Arial"/>
                <a:cs typeface="Arial"/>
              </a:rPr>
              <a:t>  ·  </a:t>
            </a:r>
            <a:r>
              <a:rPr sz="1163">
                <a:solidFill>
                  <a:srgbClr val="262626"/>
                </a:solidFill>
                <a:latin typeface="Arial"/>
                <a:ea typeface="Arial"/>
                <a:cs typeface="Arial"/>
              </a:rPr>
              <a:t>In₂O₃</a:t>
            </a:r>
            <a:r>
              <a:rPr sz="1163">
                <a:solidFill>
                  <a:srgbClr val="BFBFBF"/>
                </a:solidFill>
                <a:latin typeface="Arial"/>
                <a:ea typeface="Arial"/>
                <a:cs typeface="Arial"/>
              </a:rPr>
              <a:t>  ·  </a:t>
            </a:r>
            <a:r>
              <a:rPr sz="1163">
                <a:solidFill>
                  <a:srgbClr val="262626"/>
                </a:solidFill>
                <a:latin typeface="Arial"/>
                <a:ea typeface="Arial"/>
                <a:cs typeface="Arial"/>
              </a:rPr>
              <a:t>Sb₂O₅</a:t>
            </a:r>
            <a:r>
              <a:rPr sz="1163">
                <a:solidFill>
                  <a:srgbClr val="BFBFBF"/>
                </a:solidFill>
                <a:latin typeface="Arial"/>
                <a:ea typeface="Arial"/>
                <a:cs typeface="Arial"/>
              </a:rPr>
              <a:t>  ·  </a:t>
            </a:r>
            <a:r>
              <a:rPr sz="1163" b="1">
                <a:solidFill>
                  <a:srgbClr val="1F4E79"/>
                </a:solidFill>
                <a:latin typeface="Arial"/>
                <a:ea typeface="Arial"/>
                <a:cs typeface="Arial"/>
              </a:rPr>
              <a:t>SiO₂</a:t>
            </a:r>
            <a:r>
              <a:rPr sz="1163">
                <a:solidFill>
                  <a:srgbClr val="BFBFBF"/>
                </a:solidFill>
                <a:latin typeface="Arial"/>
                <a:ea typeface="Arial"/>
                <a:cs typeface="Arial"/>
              </a:rPr>
              <a:t>  ·  </a:t>
            </a:r>
            <a:r>
              <a:rPr sz="1163" b="1">
                <a:solidFill>
                  <a:srgbClr val="1F4E79"/>
                </a:solidFill>
                <a:latin typeface="Arial"/>
                <a:ea typeface="Arial"/>
                <a:cs typeface="Arial"/>
              </a:rPr>
              <a:t>SnO₂</a:t>
            </a:r>
            <a:endParaRPr sz="950"/>
          </a:p>
        </p:txBody>
      </p:sp>
      <p:sp>
        <p:nvSpPr>
          <p:cNvPr id="17" name="Shape 14">
            <a:extLst xmlns:a="http://schemas.openxmlformats.org/drawingml/2006/main">
              <a:ext uri="{FF2B5EF4-FFF2-40B4-BE49-F238E27FC236}">
                <a16:creationId xmlns:a16="http://schemas.microsoft.com/office/drawing/2014/main" id="{C5AB7344-AB2E-4247-A9B5-2EDEDB5B401B}"/>
              </a:ext>
            </a:extLst>
          </p:cNvPr>
          <p:cNvSpPr>
            <a:spLocks xmlns:a="http://schemas.openxmlformats.org/drawingml/2006/main" noGrp="1"/>
          </p:cNvSpPr>
          <p:nvPr/>
        </p:nvSpPr>
        <p:spPr>
          <a:xfrm xmlns:a="http://schemas.openxmlformats.org/drawingml/2006/main">
            <a:off x="4657725" y="2724150"/>
            <a:ext cx="3933825" cy="9144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44AA3F26-546E-49B6-8C26-3F19BC809180}"/>
              </a:ext>
            </a:extLst>
          </p:cNvPr>
          <p:cNvSpPr>
            <a:spLocks xmlns:a="http://schemas.openxmlformats.org/drawingml/2006/main" noGrp="1"/>
          </p:cNvSpPr>
          <p:nvPr/>
        </p:nvSpPr>
        <p:spPr>
          <a:xfrm xmlns:a="http://schemas.openxmlformats.org/drawingml/2006/main">
            <a:off x="4767263" y="2771775"/>
            <a:ext cx="37147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Alkaline earth (6)</a:t>
            </a:r>
            <a:endParaRPr sz="950"/>
          </a:p>
        </p:txBody>
      </p:sp>
      <p:sp>
        <p:nvSpPr>
          <p:cNvPr id="19" name="Text 16">
            <a:extLst xmlns:a="http://schemas.openxmlformats.org/drawingml/2006/main">
              <a:ext uri="{FF2B5EF4-FFF2-40B4-BE49-F238E27FC236}">
                <a16:creationId xmlns:a16="http://schemas.microsoft.com/office/drawing/2014/main" id="{BCECD7E8-9FE1-4FD7-8EFF-9A5B5DF04AC9}"/>
              </a:ext>
            </a:extLst>
          </p:cNvPr>
          <p:cNvSpPr>
            <a:spLocks xmlns:a="http://schemas.openxmlformats.org/drawingml/2006/main" noGrp="1"/>
          </p:cNvSpPr>
          <p:nvPr/>
        </p:nvSpPr>
        <p:spPr>
          <a:xfrm xmlns:a="http://schemas.openxmlformats.org/drawingml/2006/main">
            <a:off x="4767263" y="2990850"/>
            <a:ext cx="371475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BaO</a:t>
            </a:r>
            <a:r>
              <a:rPr sz="1163">
                <a:solidFill>
                  <a:srgbClr val="BFBFBF"/>
                </a:solidFill>
                <a:latin typeface="Arial"/>
                <a:ea typeface="Arial"/>
                <a:cs typeface="Arial"/>
              </a:rPr>
              <a:t>  ·  </a:t>
            </a:r>
            <a:r>
              <a:rPr sz="1163" b="1">
                <a:solidFill>
                  <a:srgbClr val="1F4E79"/>
                </a:solidFill>
                <a:latin typeface="Arial"/>
                <a:ea typeface="Arial"/>
                <a:cs typeface="Arial"/>
              </a:rPr>
              <a:t>CaF₂</a:t>
            </a:r>
            <a:r>
              <a:rPr sz="1163">
                <a:solidFill>
                  <a:srgbClr val="BFBFBF"/>
                </a:solidFill>
                <a:latin typeface="Arial"/>
                <a:ea typeface="Arial"/>
                <a:cs typeface="Arial"/>
              </a:rPr>
              <a:t>  ·  </a:t>
            </a:r>
            <a:r>
              <a:rPr sz="1163" b="1">
                <a:solidFill>
                  <a:srgbClr val="1F4E79"/>
                </a:solidFill>
                <a:latin typeface="Arial"/>
                <a:ea typeface="Arial"/>
                <a:cs typeface="Arial"/>
              </a:rPr>
              <a:t>CaO</a:t>
            </a:r>
            <a:r>
              <a:rPr sz="1163">
                <a:solidFill>
                  <a:srgbClr val="BFBFBF"/>
                </a:solidFill>
                <a:latin typeface="Arial"/>
                <a:ea typeface="Arial"/>
                <a:cs typeface="Arial"/>
              </a:rPr>
              <a:t>  ·  </a:t>
            </a:r>
            <a:r>
              <a:rPr sz="1163" b="1">
                <a:solidFill>
                  <a:srgbClr val="1F4E79"/>
                </a:solidFill>
                <a:latin typeface="Arial"/>
                <a:ea typeface="Arial"/>
                <a:cs typeface="Arial"/>
              </a:rPr>
              <a:t>MgF₂</a:t>
            </a:r>
            <a:r>
              <a:rPr sz="1163">
                <a:solidFill>
                  <a:srgbClr val="BFBFBF"/>
                </a:solidFill>
                <a:latin typeface="Arial"/>
                <a:ea typeface="Arial"/>
                <a:cs typeface="Arial"/>
              </a:rPr>
              <a:t>  ·  </a:t>
            </a:r>
            <a:r>
              <a:rPr sz="1163" b="1">
                <a:solidFill>
                  <a:srgbClr val="1F4E79"/>
                </a:solidFill>
                <a:latin typeface="Arial"/>
                <a:ea typeface="Arial"/>
                <a:cs typeface="Arial"/>
              </a:rPr>
              <a:t>MgO</a:t>
            </a:r>
            <a:r>
              <a:rPr sz="1163">
                <a:solidFill>
                  <a:srgbClr val="BFBFBF"/>
                </a:solidFill>
                <a:latin typeface="Arial"/>
                <a:ea typeface="Arial"/>
                <a:cs typeface="Arial"/>
              </a:rPr>
              <a:t>  ·  </a:t>
            </a:r>
            <a:r>
              <a:rPr sz="1163">
                <a:solidFill>
                  <a:srgbClr val="262626"/>
                </a:solidFill>
                <a:latin typeface="Arial"/>
                <a:ea typeface="Arial"/>
                <a:cs typeface="Arial"/>
              </a:rPr>
              <a:t>SrO</a:t>
            </a:r>
            <a:endParaRPr sz="950"/>
          </a:p>
        </p:txBody>
      </p:sp>
      <p:sp>
        <p:nvSpPr>
          <p:cNvPr id="20" name="Shape 17">
            <a:extLst xmlns:a="http://schemas.openxmlformats.org/drawingml/2006/main">
              <a:ext uri="{FF2B5EF4-FFF2-40B4-BE49-F238E27FC236}">
                <a16:creationId xmlns:a16="http://schemas.microsoft.com/office/drawing/2014/main" id="{148790A9-41C8-4BE5-8154-EABE6B49C979}"/>
              </a:ext>
            </a:extLst>
          </p:cNvPr>
          <p:cNvSpPr>
            <a:spLocks xmlns:a="http://schemas.openxmlformats.org/drawingml/2006/main" noGrp="1"/>
          </p:cNvSpPr>
          <p:nvPr/>
        </p:nvSpPr>
        <p:spPr>
          <a:xfrm xmlns:a="http://schemas.openxmlformats.org/drawingml/2006/main">
            <a:off x="548640" y="3790950"/>
            <a:ext cx="2619375" cy="81915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BB0E1DAE-0106-4CFD-8D92-31848AF0CEE8}"/>
              </a:ext>
            </a:extLst>
          </p:cNvPr>
          <p:cNvSpPr>
            <a:spLocks xmlns:a="http://schemas.openxmlformats.org/drawingml/2006/main" noGrp="1"/>
          </p:cNvSpPr>
          <p:nvPr/>
        </p:nvSpPr>
        <p:spPr>
          <a:xfrm xmlns:a="http://schemas.openxmlformats.org/drawingml/2006/main">
            <a:off x="658368" y="3848100"/>
            <a:ext cx="23812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Lanthanide (6)</a:t>
            </a:r>
            <a:endParaRPr sz="950"/>
          </a:p>
        </p:txBody>
      </p:sp>
      <p:sp>
        <p:nvSpPr>
          <p:cNvPr id="22" name="Text 19">
            <a:extLst xmlns:a="http://schemas.openxmlformats.org/drawingml/2006/main">
              <a:ext uri="{FF2B5EF4-FFF2-40B4-BE49-F238E27FC236}">
                <a16:creationId xmlns:a16="http://schemas.microsoft.com/office/drawing/2014/main" id="{893F9CFD-8F53-4152-9436-53B78B707401}"/>
              </a:ext>
            </a:extLst>
          </p:cNvPr>
          <p:cNvSpPr>
            <a:spLocks xmlns:a="http://schemas.openxmlformats.org/drawingml/2006/main" noGrp="1"/>
          </p:cNvSpPr>
          <p:nvPr/>
        </p:nvSpPr>
        <p:spPr>
          <a:xfrm xmlns:a="http://schemas.openxmlformats.org/drawingml/2006/main">
            <a:off x="658368" y="4057650"/>
            <a:ext cx="23812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a:solidFill>
                  <a:srgbClr val="262626"/>
                </a:solidFill>
                <a:latin typeface="Arial"/>
                <a:ea typeface="Arial"/>
                <a:cs typeface="Arial"/>
              </a:rPr>
              <a:t>Gd₂O₃</a:t>
            </a:r>
            <a:r>
              <a:rPr sz="1088">
                <a:solidFill>
                  <a:srgbClr val="BFBFBF"/>
                </a:solidFill>
                <a:latin typeface="Arial"/>
                <a:ea typeface="Arial"/>
                <a:cs typeface="Arial"/>
              </a:rPr>
              <a:t>  ·  </a:t>
            </a:r>
            <a:r>
              <a:rPr sz="1088">
                <a:solidFill>
                  <a:srgbClr val="262626"/>
                </a:solidFill>
                <a:latin typeface="Arial"/>
                <a:ea typeface="Arial"/>
                <a:cs typeface="Arial"/>
              </a:rPr>
              <a:t>La₂O₃</a:t>
            </a:r>
            <a:r>
              <a:rPr sz="1088">
                <a:solidFill>
                  <a:srgbClr val="BFBFBF"/>
                </a:solidFill>
                <a:latin typeface="Arial"/>
                <a:ea typeface="Arial"/>
                <a:cs typeface="Arial"/>
              </a:rPr>
              <a:t>  ·  </a:t>
            </a:r>
            <a:r>
              <a:rPr sz="1088">
                <a:solidFill>
                  <a:srgbClr val="262626"/>
                </a:solidFill>
                <a:latin typeface="Arial"/>
                <a:ea typeface="Arial"/>
                <a:cs typeface="Arial"/>
              </a:rPr>
              <a:t>LaF₃</a:t>
            </a:r>
            <a:r>
              <a:rPr sz="1088">
                <a:solidFill>
                  <a:srgbClr val="BFBFBF"/>
                </a:solidFill>
                <a:latin typeface="Arial"/>
                <a:ea typeface="Arial"/>
                <a:cs typeface="Arial"/>
              </a:rPr>
              <a:t>  ·  </a:t>
            </a:r>
            <a:r>
              <a:rPr sz="1088">
                <a:solidFill>
                  <a:srgbClr val="262626"/>
                </a:solidFill>
                <a:latin typeface="Arial"/>
                <a:ea typeface="Arial"/>
                <a:cs typeface="Arial"/>
              </a:rPr>
              <a:t>Nd₂O₃†</a:t>
            </a:r>
            <a:r>
              <a:rPr sz="1088">
                <a:solidFill>
                  <a:srgbClr val="BFBFBF"/>
                </a:solidFill>
                <a:latin typeface="Arial"/>
                <a:ea typeface="Arial"/>
                <a:cs typeface="Arial"/>
              </a:rPr>
              <a:t>  ·  </a:t>
            </a:r>
            <a:r>
              <a:rPr sz="1088">
                <a:solidFill>
                  <a:srgbClr val="262626"/>
                </a:solidFill>
                <a:latin typeface="Arial"/>
                <a:ea typeface="Arial"/>
                <a:cs typeface="Arial"/>
              </a:rPr>
              <a:t>NdF₃</a:t>
            </a:r>
            <a:r>
              <a:rPr sz="1088">
                <a:solidFill>
                  <a:srgbClr val="BFBFBF"/>
                </a:solidFill>
                <a:latin typeface="Arial"/>
                <a:ea typeface="Arial"/>
                <a:cs typeface="Arial"/>
              </a:rPr>
              <a:t>  ·  </a:t>
            </a:r>
            <a:r>
              <a:rPr sz="1088">
                <a:solidFill>
                  <a:srgbClr val="262626"/>
                </a:solidFill>
                <a:latin typeface="Arial"/>
                <a:ea typeface="Arial"/>
                <a:cs typeface="Arial"/>
              </a:rPr>
              <a:t>Sm₂O₃</a:t>
            </a:r>
            <a:endParaRPr sz="950"/>
          </a:p>
        </p:txBody>
      </p:sp>
      <p:sp>
        <p:nvSpPr>
          <p:cNvPr id="23" name="Shape 20">
            <a:extLst xmlns:a="http://schemas.openxmlformats.org/drawingml/2006/main">
              <a:ext uri="{FF2B5EF4-FFF2-40B4-BE49-F238E27FC236}">
                <a16:creationId xmlns:a16="http://schemas.microsoft.com/office/drawing/2014/main" id="{7D7ED40A-F7DB-4D2C-AC36-76ACCB5B8C48}"/>
              </a:ext>
            </a:extLst>
          </p:cNvPr>
          <p:cNvSpPr>
            <a:spLocks xmlns:a="http://schemas.openxmlformats.org/drawingml/2006/main" noGrp="1"/>
          </p:cNvSpPr>
          <p:nvPr/>
        </p:nvSpPr>
        <p:spPr>
          <a:xfrm xmlns:a="http://schemas.openxmlformats.org/drawingml/2006/main">
            <a:off x="3314700" y="3790950"/>
            <a:ext cx="2105025" cy="819150"/>
          </a:xfrm>
          <a:prstGeom xmlns:a="http://schemas.openxmlformats.org/drawingml/2006/main" prst="roundRect">
            <a:avLst>
              <a:gd name="adj" fmla="val 8235"/>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4" name="Text 21">
            <a:extLst xmlns:a="http://schemas.openxmlformats.org/drawingml/2006/main">
              <a:ext uri="{FF2B5EF4-FFF2-40B4-BE49-F238E27FC236}">
                <a16:creationId xmlns:a16="http://schemas.microsoft.com/office/drawing/2014/main" id="{17C41A35-8887-4FED-8321-5A7F376F8D11}"/>
              </a:ext>
            </a:extLst>
          </p:cNvPr>
          <p:cNvSpPr>
            <a:spLocks xmlns:a="http://schemas.openxmlformats.org/drawingml/2006/main" noGrp="1"/>
          </p:cNvSpPr>
          <p:nvPr/>
        </p:nvSpPr>
        <p:spPr>
          <a:xfrm xmlns:a="http://schemas.openxmlformats.org/drawingml/2006/main">
            <a:off x="3429000" y="3848100"/>
            <a:ext cx="18669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 (3)</a:t>
            </a:r>
            <a:endParaRPr sz="950"/>
          </a:p>
        </p:txBody>
      </p:sp>
      <p:sp>
        <p:nvSpPr>
          <p:cNvPr id="25" name="Text 22">
            <a:extLst xmlns:a="http://schemas.openxmlformats.org/drawingml/2006/main">
              <a:ext uri="{FF2B5EF4-FFF2-40B4-BE49-F238E27FC236}">
                <a16:creationId xmlns:a16="http://schemas.microsoft.com/office/drawing/2014/main" id="{B43457AD-90B2-4A28-9FAC-BBE615560520}"/>
              </a:ext>
            </a:extLst>
          </p:cNvPr>
          <p:cNvSpPr>
            <a:spLocks xmlns:a="http://schemas.openxmlformats.org/drawingml/2006/main" noGrp="1"/>
          </p:cNvSpPr>
          <p:nvPr/>
        </p:nvSpPr>
        <p:spPr>
          <a:xfrm xmlns:a="http://schemas.openxmlformats.org/drawingml/2006/main">
            <a:off x="3429000" y="4057650"/>
            <a:ext cx="18669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Li₂O</a:t>
            </a:r>
            <a:r>
              <a:rPr sz="1163">
                <a:solidFill>
                  <a:srgbClr val="BFBFBF"/>
                </a:solidFill>
                <a:latin typeface="Arial"/>
                <a:ea typeface="Arial"/>
                <a:cs typeface="Arial"/>
              </a:rPr>
              <a:t>  ·  </a:t>
            </a:r>
            <a:r>
              <a:rPr sz="1163" b="1">
                <a:solidFill>
                  <a:srgbClr val="1F4E79"/>
                </a:solidFill>
                <a:latin typeface="Arial"/>
                <a:ea typeface="Arial"/>
                <a:cs typeface="Arial"/>
              </a:rPr>
              <a:t>LiF</a:t>
            </a:r>
            <a:r>
              <a:rPr sz="1163">
                <a:solidFill>
                  <a:srgbClr val="BFBFBF"/>
                </a:solidFill>
                <a:latin typeface="Arial"/>
                <a:ea typeface="Arial"/>
                <a:cs typeface="Arial"/>
              </a:rPr>
              <a:t>  ·  </a:t>
            </a:r>
            <a:r>
              <a:rPr sz="1163">
                <a:solidFill>
                  <a:srgbClr val="262626"/>
                </a:solidFill>
                <a:latin typeface="Arial"/>
                <a:ea typeface="Arial"/>
                <a:cs typeface="Arial"/>
              </a:rPr>
              <a:t>Na₂O</a:t>
            </a:r>
            <a:endParaRPr sz="950"/>
          </a:p>
        </p:txBody>
      </p:sp>
      <p:sp>
        <p:nvSpPr>
          <p:cNvPr id="26" name="Text 23">
            <a:extLst xmlns:a="http://schemas.openxmlformats.org/drawingml/2006/main">
              <a:ext uri="{FF2B5EF4-FFF2-40B4-BE49-F238E27FC236}">
                <a16:creationId xmlns:a16="http://schemas.microsoft.com/office/drawing/2014/main" id="{E2A79FAF-A22B-4695-B911-789001D2F222}"/>
              </a:ext>
            </a:extLst>
          </p:cNvPr>
          <p:cNvSpPr>
            <a:spLocks xmlns:a="http://schemas.openxmlformats.org/drawingml/2006/main" noGrp="1"/>
          </p:cNvSpPr>
          <p:nvPr/>
        </p:nvSpPr>
        <p:spPr>
          <a:xfrm xmlns:a="http://schemas.openxmlformats.org/drawingml/2006/main">
            <a:off x="5581650" y="3790950"/>
            <a:ext cx="3009900" cy="819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13" b="1">
                <a:solidFill>
                  <a:srgbClr val="1F4E79"/>
                </a:solidFill>
                <a:latin typeface="Arial"/>
                <a:ea typeface="Arial"/>
                <a:cs typeface="Arial"/>
              </a:rPr>
              <a:t>bold</a:t>
            </a:r>
            <a:r>
              <a:rPr sz="1013">
                <a:solidFill>
                  <a:srgbClr val="7F7F7F"/>
                </a:solidFill>
                <a:latin typeface="Arial"/>
                <a:ea typeface="Arial"/>
                <a:cs typeface="Arial"/>
              </a:rPr>
              <a:t> = retained through the post-hoc G4 audit (11)    </a:t>
            </a:r>
            <a:r>
              <a:rPr sz="1013" b="1">
                <a:solidFill>
                  <a:srgbClr val="262626"/>
                </a:solidFill>
                <a:latin typeface="Arial"/>
                <a:ea typeface="Arial"/>
                <a:cs typeface="Arial"/>
              </a:rPr>
              <a:t>†</a:t>
            </a:r>
            <a:r>
              <a:rPr sz="1013">
                <a:solidFill>
                  <a:srgbClr val="7F7F7F"/>
                </a:solidFill>
                <a:latin typeface="Arial"/>
                <a:ea typeface="Arial"/>
                <a:cs typeface="Arial"/>
              </a:rPr>
              <a:t> = targeted deep-DFT case study (2)    37 oxides + 10 fluorides, versioned 2026-06-25</a:t>
            </a:r>
            <a:endParaRPr sz="900"/>
          </a:p>
        </p:txBody>
      </p:sp>
      <p:sp>
        <p:nvSpPr>
          <p:cNvPr id="27" name="Text 24">
            <a:extLst xmlns:a="http://schemas.openxmlformats.org/drawingml/2006/main">
              <a:ext uri="{FF2B5EF4-FFF2-40B4-BE49-F238E27FC236}">
                <a16:creationId xmlns:a16="http://schemas.microsoft.com/office/drawing/2014/main" id="{B36B4988-D788-4C25-8F9B-37C337FA1759}"/>
              </a:ext>
            </a:extLst>
          </p:cNvPr>
          <p:cNvSpPr>
            <a:spLocks xmlns:a="http://schemas.openxmlformats.org/drawingml/2006/main" noGrp="1"/>
          </p:cNvSpPr>
          <p:nvPr/>
        </p:nvSpPr>
        <p:spPr>
          <a:xfrm xmlns:a="http://schemas.openxmlformats.org/drawingml/2006/main">
            <a:off x="548640" y="485775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A curated snapshot to explore — membership here is not a gate result.</a:t>
            </a:r>
            <a:endParaRPr sz="1250"/>
          </a:p>
        </p:txBody>
      </p:sp>
      <p:sp>
        <p:nvSpPr>
          <p:cNvPr id="28" name="Text 25">
            <a:extLst xmlns:a="http://schemas.openxmlformats.org/drawingml/2006/main">
              <a:ext uri="{FF2B5EF4-FFF2-40B4-BE49-F238E27FC236}">
                <a16:creationId xmlns:a16="http://schemas.microsoft.com/office/drawing/2014/main" id="{99927416-8831-44E3-B8BA-7BE352D93B4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 · cascade_v23_ranked.csv</a:t>
            </a:r>
            <a:endParaRPr sz="750"/>
          </a:p>
        </p:txBody>
      </p:sp>
    </p:spTree>
    <p:extLst>
      <p:ext uri="{BB962C8B-B14F-4D97-AF65-F5344CB8AC3E}">
        <p14:creationId xmlns:p14="http://schemas.microsoft.com/office/powerpoint/2010/main" val="89198637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Appendix A2 · evidence by deployment question</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Each question inherits a different evidence level</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21</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Deployment question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Axes consulted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Examples to follow up</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 / caveat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High-voltage cathode?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Vox · ESW window</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B₂O₃ · Cr₂O₃ · Ga₂O₃ · In₂O₃ · Sc₂O₃ · Y₂O₃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MP-derived grand-potential; dataset trade-off, not causality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Moisture response?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T11 ΔE_H2S · Zhu ΔG_hyd · raw HSAB</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Cu₂O · ZnO · Ag₂O · In₂O₃ · SnO₂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35/47 literature proxy; not doped-LPSCl air stability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Cheap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cost tier · mass/cation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Al₂O₃ · CaO · SiO₂ · MgO · MgF₂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Qualitative tier; never market price or Wh kg⁻¹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Stable across labels?</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BVS drift across x002/x005/x010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CaF₂ · ScF₃ · AlF₃ · HfO₂ · Nd₂O₃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Nominal labels; actual stoichiometry unresolved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Air, cost, mass, and campaign-label axes are descriptive; none is an additional rejection gate.</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themes.json · scorecard_47.csv · air_axis_lit_vs_tier.csv</a:t>
            </a:r>
            <a:endParaRPr sz="750"/>
          </a:p>
        </p:txBody>
      </p:sp>
    </p:spTree>
    <p:extLst>
      <p:ext uri="{BB962C8B-B14F-4D97-AF65-F5344CB8AC3E}">
        <p14:creationId xmlns:p14="http://schemas.microsoft.com/office/powerpoint/2010/main" val="1068403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4B2862-B88D-47A7-97A1-6CE11E7847B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Robustness</a:t>
            </a:r>
            <a:endParaRPr sz="2800"/>
          </a:p>
        </p:txBody>
      </p:sp>
      <p:sp>
        <p:nvSpPr>
          <p:cNvPr id="3" name="Text 1">
            <a:extLst xmlns:a="http://schemas.openxmlformats.org/drawingml/2006/main">
              <a:ext uri="{FF2B5EF4-FFF2-40B4-BE49-F238E27FC236}">
                <a16:creationId xmlns:a16="http://schemas.microsoft.com/office/drawing/2014/main" id="{9F9099B3-BB2D-431A-AFC8-8BE3F279CCA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Appendix A3 · gate-order audit</a:t>
            </a:r>
            <a:endParaRPr sz="900"/>
          </a:p>
        </p:txBody>
      </p:sp>
      <p:sp>
        <p:nvSpPr>
          <p:cNvPr id="4" name="Shape 2">
            <a:extLst xmlns:a="http://schemas.openxmlformats.org/drawingml/2006/main">
              <a:ext uri="{FF2B5EF4-FFF2-40B4-BE49-F238E27FC236}">
                <a16:creationId xmlns:a16="http://schemas.microsoft.com/office/drawing/2014/main" id="{69776153-7F3B-4F2F-A9FB-01BE9A8EA645}"/>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B7D329D8-2580-4392-8F6C-4805F20A832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2718254C-18AA-4DE2-BCFD-5DFA76A40C77}"/>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Gate order changes the story, not the terminal intersection</a:t>
            </a:r>
            <a:endParaRPr sz="1400"/>
          </a:p>
        </p:txBody>
      </p:sp>
      <p:sp>
        <p:nvSpPr>
          <p:cNvPr id="7" name="Text 5">
            <a:extLst xmlns:a="http://schemas.openxmlformats.org/drawingml/2006/main">
              <a:ext uri="{FF2B5EF4-FFF2-40B4-BE49-F238E27FC236}">
                <a16:creationId xmlns:a16="http://schemas.microsoft.com/office/drawing/2014/main" id="{43B91E89-C154-4A18-B97C-EFA3B81E28F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BA01EB0-045E-47C0-B5D6-E5BD3358E8C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5B9B7244-628F-4963-9D2F-E7BFD232510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22</a:t>
            </a:r>
            <a:endParaRPr sz="900"/>
          </a:p>
        </p:txBody>
      </p:sp>
      <p:sp>
        <p:nvSpPr>
          <p:cNvPr id="11" name="Shape 8">
            <a:extLst xmlns:a="http://schemas.openxmlformats.org/drawingml/2006/main">
              <a:ext uri="{FF2B5EF4-FFF2-40B4-BE49-F238E27FC236}">
                <a16:creationId xmlns:a16="http://schemas.microsoft.com/office/drawing/2014/main" id="{F5FAF300-2EC8-4AD0-A33F-064A8595D23E}"/>
              </a:ext>
            </a:extLst>
          </p:cNvPr>
          <p:cNvSpPr>
            <a:spLocks xmlns:a="http://schemas.openxmlformats.org/drawingml/2006/main" noGrp="1"/>
          </p:cNvSpPr>
          <p:nvPr/>
        </p:nvSpPr>
        <p:spPr>
          <a:xfrm xmlns:a="http://schemas.openxmlformats.org/drawingml/2006/main">
            <a:off x="731520" y="1737360"/>
            <a:ext cx="7680960" cy="914400"/>
          </a:xfrm>
          <a:prstGeom xmlns:a="http://schemas.openxmlformats.org/drawingml/2006/main" prst="roundRect">
            <a:avLst>
              <a:gd name="adj" fmla="val 7000"/>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218BFF0A-D9D8-4D5A-ADBC-20103D3DB528}"/>
              </a:ext>
            </a:extLst>
          </p:cNvPr>
          <p:cNvSpPr>
            <a:spLocks xmlns:a="http://schemas.openxmlformats.org/drawingml/2006/main" noGrp="1"/>
          </p:cNvSpPr>
          <p:nvPr/>
        </p:nvSpPr>
        <p:spPr>
          <a:xfrm xmlns:a="http://schemas.openxmlformats.org/drawingml/2006/main">
            <a:off x="914400" y="196596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4E79"/>
                </a:solidFill>
                <a:latin typeface="Arial"/>
                <a:ea typeface="Arial"/>
                <a:cs typeface="Arial"/>
              </a:rPr>
              <a:t>G1 → G2 → G3 → G4 → G5      </a:t>
            </a:r>
            <a:r>
              <a:rPr sz="1200">
                <a:solidFill>
                  <a:srgbClr val="262626"/>
                </a:solidFill>
                <a:latin typeface="Arial"/>
                <a:ea typeface="Arial"/>
                <a:cs typeface="Arial"/>
              </a:rPr>
              <a:t>47 → 47 → 43 → 25 → 11 → 1</a:t>
            </a:r>
            <a:endParaRPr sz="1200"/>
          </a:p>
        </p:txBody>
      </p:sp>
      <p:sp>
        <p:nvSpPr>
          <p:cNvPr id="13" name="Shape 10">
            <a:extLst xmlns:a="http://schemas.openxmlformats.org/drawingml/2006/main">
              <a:ext uri="{FF2B5EF4-FFF2-40B4-BE49-F238E27FC236}">
                <a16:creationId xmlns:a16="http://schemas.microsoft.com/office/drawing/2014/main" id="{DCDC4D16-0B8E-45C1-9594-51C47A53CD8B}"/>
              </a:ext>
            </a:extLst>
          </p:cNvPr>
          <p:cNvSpPr>
            <a:spLocks xmlns:a="http://schemas.openxmlformats.org/drawingml/2006/main" noGrp="1"/>
          </p:cNvSpPr>
          <p:nvPr/>
        </p:nvSpPr>
        <p:spPr>
          <a:xfrm xmlns:a="http://schemas.openxmlformats.org/drawingml/2006/main">
            <a:off x="731520" y="2834640"/>
            <a:ext cx="7680960" cy="914400"/>
          </a:xfrm>
          <a:prstGeom xmlns:a="http://schemas.openxmlformats.org/drawingml/2006/main" prst="roundRect">
            <a:avLst>
              <a:gd name="adj" fmla="val 7000"/>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6EBA6E04-8A9B-483D-8BAB-FA4C123BF31A}"/>
              </a:ext>
            </a:extLst>
          </p:cNvPr>
          <p:cNvSpPr>
            <a:spLocks xmlns:a="http://schemas.openxmlformats.org/drawingml/2006/main" noGrp="1"/>
          </p:cNvSpPr>
          <p:nvPr/>
        </p:nvSpPr>
        <p:spPr>
          <a:xfrm xmlns:a="http://schemas.openxmlformats.org/drawingml/2006/main">
            <a:off x="914400" y="306324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G1 → G3 → G2 → G5 → G4      </a:t>
            </a:r>
            <a:r>
              <a:rPr sz="1200">
                <a:solidFill>
                  <a:srgbClr val="262626"/>
                </a:solidFill>
                <a:latin typeface="Arial"/>
                <a:ea typeface="Arial"/>
                <a:cs typeface="Arial"/>
              </a:rPr>
              <a:t>47 → 47 → 25 → 25 → 7 → 1</a:t>
            </a:r>
            <a:endParaRPr sz="1200"/>
          </a:p>
        </p:txBody>
      </p:sp>
      <p:sp>
        <p:nvSpPr>
          <p:cNvPr id="15" name="Text 12">
            <a:extLst xmlns:a="http://schemas.openxmlformats.org/drawingml/2006/main">
              <a:ext uri="{FF2B5EF4-FFF2-40B4-BE49-F238E27FC236}">
                <a16:creationId xmlns:a16="http://schemas.microsoft.com/office/drawing/2014/main" id="{FA8C518D-FF76-4F18-8AA5-9FEC53F0FF80}"/>
              </a:ext>
            </a:extLst>
          </p:cNvPr>
          <p:cNvSpPr>
            <a:spLocks xmlns:a="http://schemas.openxmlformats.org/drawingml/2006/main" noGrp="1"/>
          </p:cNvSpPr>
          <p:nvPr/>
        </p:nvSpPr>
        <p:spPr>
          <a:xfrm xmlns:a="http://schemas.openxmlformats.org/drawingml/2006/main">
            <a:off x="731520" y="4023360"/>
            <a:ext cx="7680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F4E79"/>
                </a:solidFill>
                <a:latin typeface="Arial"/>
                <a:ea typeface="Arial"/>
                <a:cs typeface="Arial"/>
              </a:rPr>
              <a:t>120 / 120</a:t>
            </a:r>
            <a:r>
              <a:rPr sz="1100">
                <a:solidFill>
                  <a:srgbClr val="262626"/>
                </a:solidFill>
                <a:latin typeface="Arial"/>
                <a:ea typeface="Arial"/>
                <a:cs typeface="Arial"/>
              </a:rPr>
              <a:t>  gate permutations tested — terminal set invariant; intermediate attribution order-dependent</a:t>
            </a:r>
            <a:endParaRPr sz="2200"/>
          </a:p>
        </p:txBody>
      </p:sp>
      <p:sp>
        <p:nvSpPr>
          <p:cNvPr id="16" name="Text 13">
            <a:extLst xmlns:a="http://schemas.openxmlformats.org/drawingml/2006/main">
              <a:ext uri="{FF2B5EF4-FFF2-40B4-BE49-F238E27FC236}">
                <a16:creationId xmlns:a16="http://schemas.microsoft.com/office/drawing/2014/main" id="{7E0F7D1B-4B95-4150-AE00-24B271B77752}"/>
              </a:ext>
            </a:extLst>
          </p:cNvPr>
          <p:cNvSpPr>
            <a:spLocks xmlns:a="http://schemas.openxmlformats.org/drawingml/2006/main" noGrp="1"/>
          </p:cNvSpPr>
          <p:nvPr/>
        </p:nvSpPr>
        <p:spPr>
          <a:xfrm xmlns:a="http://schemas.openxmlformats.org/drawingml/2006/main">
            <a:off x="548640" y="493776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5" b="1">
                <a:solidFill>
                  <a:srgbClr val="1F4E79"/>
                </a:solidFill>
                <a:latin typeface="Arial"/>
                <a:ea typeface="Arial"/>
                <a:cs typeface="Arial"/>
              </a:rPr>
              <a:t>Order invariance does not validate the thresholds; the reported comparison endpoint remains the 11-member G1–G4 set (G4 heuristic).</a:t>
            </a:r>
            <a:endParaRPr sz="1250"/>
          </a:p>
        </p:txBody>
      </p:sp>
      <p:sp>
        <p:nvSpPr>
          <p:cNvPr id="17" name="Text 14">
            <a:extLst xmlns:a="http://schemas.openxmlformats.org/drawingml/2006/main">
              <a:ext uri="{FF2B5EF4-FFF2-40B4-BE49-F238E27FC236}">
                <a16:creationId xmlns:a16="http://schemas.microsoft.com/office/drawing/2014/main" id="{4C583CC4-CA2A-4004-9B00-54E91E1896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cascade_pipeline_guide.md (permutation audit)</a:t>
            </a:r>
            <a:endParaRPr sz="750"/>
          </a:p>
        </p:txBody>
      </p:sp>
    </p:spTree>
    <p:extLst>
      <p:ext uri="{BB962C8B-B14F-4D97-AF65-F5344CB8AC3E}">
        <p14:creationId xmlns:p14="http://schemas.microsoft.com/office/powerpoint/2010/main" val="74443211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4553712"/>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Appendix A4 · retraction ledger</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Failures made the cascade more credible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23</a:t>
            </a:r>
            <a:endParaRPr sz="900"/>
          </a:p>
        </p:txBody>
      </p:sp>
      <p:sp>
        <p:nvSpPr>
          <p:cNvPr id="2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481328"/>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645920"/>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Single-seed 1.33× conductivity   →   </a:t>
            </a:r>
            <a:r>
              <a:rPr sz="1050" b="1">
                <a:solidFill>
                  <a:srgbClr val="1F4E79"/>
                </a:solidFill>
                <a:latin typeface="Arial"/>
                <a:ea typeface="Arial"/>
                <a:cs typeface="Arial"/>
              </a:rPr>
              <a:t>Multi-seed verdict only</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249424"/>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414016"/>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MSD fit outside diffusion   →   </a:t>
            </a:r>
            <a:r>
              <a:rPr sz="1050" b="1">
                <a:solidFill>
                  <a:srgbClr val="1F4E79"/>
                </a:solidFill>
                <a:latin typeface="Arial"/>
                <a:ea typeface="Arial"/>
                <a:cs typeface="Arial"/>
              </a:rPr>
              <a:t>β ∈ [0.8, 1.2] gate</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017520"/>
            <a:ext cx="7680960" cy="713232"/>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182112"/>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DOS-threshold band gap   →   </a:t>
            </a:r>
            <a:r>
              <a:rPr sz="1050" b="1">
                <a:solidFill>
                  <a:srgbClr val="1F4E79"/>
                </a:solidFill>
                <a:latin typeface="Arial"/>
                <a:ea typeface="Arial"/>
                <a:cs typeface="Arial"/>
              </a:rPr>
              <a:t>Fixed-occ eigenvalues</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3785616"/>
            <a:ext cx="7680960" cy="713232"/>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3950208"/>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raw HSAB grade   →   [Zhu20] cross-check: 9/35 under-rated, one direction   →   retained only as CURATED, non-gating</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Failed claims became explicit validation rules or exclusions — audit is part of the pipeline.</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canonical_registry.json · cascade_air_axis_lit_vs_tier.csv (26/9/12)</a:t>
            </a:r>
            <a:endParaRPr sz="750"/>
          </a:p>
        </p:txBody>
      </p:sp>
      <p:sp>
        <p:nvSpPr>
          <p:cNvPr id="22"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718304"/>
            <a:ext cx="73152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Cross-file value conflict   →   raw-output arbitration   →   ranking recomputed (claim changed, not a digit)</a:t>
            </a:r>
            <a:endParaRPr sz="1100"/>
          </a:p>
        </p:txBody>
      </p:sp>
    </p:spTree>
    <p:extLst>
      <p:ext uri="{BB962C8B-B14F-4D97-AF65-F5344CB8AC3E}">
        <p14:creationId xmlns:p14="http://schemas.microsoft.com/office/powerpoint/2010/main" val="27984594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55FB43-034A-4AE1-AB4C-C5E005886B7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A5</a:t>
            </a:r>
            <a:endParaRPr sz="2800"/>
          </a:p>
        </p:txBody>
      </p:sp>
      <p:sp>
        <p:nvSpPr>
          <p:cNvPr id="3" name="Shape 1">
            <a:extLst xmlns:a="http://schemas.openxmlformats.org/drawingml/2006/main">
              <a:ext uri="{FF2B5EF4-FFF2-40B4-BE49-F238E27FC236}">
                <a16:creationId xmlns:a16="http://schemas.microsoft.com/office/drawing/2014/main" id="{862921EB-729F-4D5B-8706-591849E7945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4FDCFD7F-8684-44C7-B1E8-E5E90D0FBB5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D4A491AD-A6B3-4610-B29B-2D54644FC62F}"/>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Terminology and symbol conventions</a:t>
            </a:r>
            <a:endParaRPr sz="1400"/>
          </a:p>
        </p:txBody>
      </p:sp>
      <p:sp>
        <p:nvSpPr>
          <p:cNvPr id="6" name="Text 4">
            <a:extLst xmlns:a="http://schemas.openxmlformats.org/drawingml/2006/main">
              <a:ext uri="{FF2B5EF4-FFF2-40B4-BE49-F238E27FC236}">
                <a16:creationId xmlns:a16="http://schemas.microsoft.com/office/drawing/2014/main" id="{9A7CDF0F-B582-4257-81E7-89F837277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C1D95EB-C41D-4849-8A26-E37173A5D46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88D9B74B-12F9-4613-9C1D-87EA2535A0B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24</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645920"/>
                <a:gridCol w="3108960"/>
                <a:gridCol w="3291840"/>
              </a:tblGrid>
              <a:tr h="384048">
                <a:tc>
                  <a:txBody>
                    <a:bodyPr wrap="square">
                      <a:normAutofit/>
                    </a:bodyPr>
                    <a:lstStyle/>
                    <a:p>
                      <a:pPr marL="0" indent="0" algn="ctr">
                        <a:buNone/>
                      </a:pPr>
                      <a:r>
                        <a:rPr sz="1050" b="1">
                          <a:solidFill>
                            <a:srgbClr val="FFFFFF"/>
                          </a:solidFill>
                          <a:latin typeface="Arial"/>
                          <a:ea typeface="Arial"/>
                          <a:cs typeface="Arial"/>
                        </a:rPr>
                        <a:t>Symbol / term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Meaning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Usage rule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1013" b="0">
                          <a:solidFill>
                            <a:srgbClr val="262626"/>
                          </a:solidFill>
                          <a:latin typeface="Arial"/>
                          <a:ea typeface="Arial"/>
                          <a:cs typeface="Arial"/>
                        </a:rPr>
                        <a:t>ΔE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Doped − host relative energy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 engine, cell, composition convention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Vox / window</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Grand-potential onset / Vox − Vred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Tie at 2.14 V remains unresolved; not kinetic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transport_norm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Min–max static BVSE/path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Never call it 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β /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MSD log-slope / Arrhenius slope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β-gated, 600/800/1000 K, multiseed verdict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ΔG_hyd,MS,lit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[Zhu20] same-cation binary-sulfide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35/47; not doped-LPSCl air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x002/x005/x010 · cost tier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Nominal labels · qualitative cation tier (+0.5 fluoride)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Not verified x; not market price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missing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calculated / incomplete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zero and not a failure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59630464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040C2FEA-31A7-496B-BE5D-E531FB5D35F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C3089C19-71CC-4BF9-A92A-58E7B630FFA3}"/>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6714A2B9-DCC2-4729-AD69-085877F2FFB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Protocol matrix and allowed claims</a:t>
            </a:r>
            <a:endParaRPr sz="1400"/>
          </a:p>
        </p:txBody>
      </p:sp>
      <p:sp>
        <p:nvSpPr>
          <p:cNvPr id="6" name="Text 4">
            <a:extLst xmlns:a="http://schemas.openxmlformats.org/drawingml/2006/main">
              <a:ext uri="{FF2B5EF4-FFF2-40B4-BE49-F238E27FC236}">
                <a16:creationId xmlns:a16="http://schemas.microsoft.com/office/drawing/2014/main" id="{B41909A4-7310-4E18-BD03-900CB1D0AC7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3E232F3F-4F0D-49EA-B80B-4F5493AB2A9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11C4495-AC59-4E09-84F2-36F5E09ADAC8}"/>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25</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554480"/>
                <a:gridCol w="2286000"/>
                <a:gridCol w="2286000"/>
                <a:gridCol w="1920240"/>
              </a:tblGrid>
              <a:tr h="457200">
                <a:tc>
                  <a:txBody>
                    <a:bodyPr wrap="square">
                      <a:normAutofit/>
                    </a:bodyPr>
                    <a:lstStyle/>
                    <a:p>
                      <a:pPr marL="0" indent="0" algn="ctr">
                        <a:buNone/>
                      </a:pPr>
                      <a:r>
                        <a:rPr sz="1050" b="1">
                          <a:solidFill>
                            <a:srgbClr val="FFFFFF"/>
                          </a:solidFill>
                          <a:latin typeface="Arial"/>
                          <a:ea typeface="Arial"/>
                          <a:cs typeface="Arial"/>
                        </a:rPr>
                        <a:t>Tier / method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Primary output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Allowed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Do not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457200">
                <a:tc>
                  <a:txBody>
                    <a:bodyPr wrap="square">
                      <a:normAutofit/>
                    </a:bodyPr>
                    <a:lstStyle/>
                    <a:p>
                      <a:pPr marL="0" indent="0" algn="l">
                        <a:buNone/>
                      </a:pPr>
                      <a:r>
                        <a:rPr sz="1013" b="0">
                          <a:solidFill>
                            <a:srgbClr val="262626"/>
                          </a:solidFill>
                          <a:latin typeface="Arial"/>
                          <a:ea typeface="Arial"/>
                          <a:cs typeface="Arial"/>
                        </a:rPr>
                        <a:t>UMA MLIP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Relative E, forces, relaxation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Same-protocol candidate ordering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thermodynamics / charge-state reaction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BVSE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Static pathway geometry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Pathway-retention risk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MLIP-MD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MSD, D(T),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β-gated multiseed comparison at 600/800/1000 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σ; ungated or single-seed ratios</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DFT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Matched energy / electronic response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Selected candidate validation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47/47 coverage or cross-protocol ranking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Literature / curated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External proxy / qualitative prior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Directional follow-up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Mix with internal absolutes or use as hard gate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3">
            <a:extLst xmlns:a="http://schemas.openxmlformats.org/drawingml/2006/main">
              <a:ext uri="{FF2B5EF4-FFF2-40B4-BE49-F238E27FC236}">
                <a16:creationId xmlns:a16="http://schemas.microsoft.com/office/drawing/2014/main" id="{FA43B36D-3C0D-4FC3-A11E-A2EDE9F025F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A6</a:t>
            </a:r>
          </a:p>
        </p:txBody>
      </p:sp>
    </p:spTree>
    <p:extLst>
      <p:ext uri="{BB962C8B-B14F-4D97-AF65-F5344CB8AC3E}">
        <p14:creationId xmlns:p14="http://schemas.microsoft.com/office/powerpoint/2010/main" val="33869674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7310F9-2557-4085-9137-F5E593536A0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A7</a:t>
            </a:r>
            <a:endParaRPr sz="2800"/>
          </a:p>
        </p:txBody>
      </p:sp>
      <p:sp>
        <p:nvSpPr>
          <p:cNvPr id="3" name="Shape 1">
            <a:extLst xmlns:a="http://schemas.openxmlformats.org/drawingml/2006/main">
              <a:ext uri="{FF2B5EF4-FFF2-40B4-BE49-F238E27FC236}">
                <a16:creationId xmlns:a16="http://schemas.microsoft.com/office/drawing/2014/main" id="{ACD3D80D-AF57-4C7D-80D5-73F8BE8A6B7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CEB16169-8BED-48B7-8A7C-DE82B927A69A}"/>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A9A43A32-4C7C-4062-8CD6-A90E2F33C13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47-species scorecard heatmap</a:t>
            </a:r>
            <a:endParaRPr sz="1400"/>
          </a:p>
        </p:txBody>
      </p:sp>
      <p:sp>
        <p:nvSpPr>
          <p:cNvPr id="6" name="Text 4">
            <a:extLst xmlns:a="http://schemas.openxmlformats.org/drawingml/2006/main">
              <a:ext uri="{FF2B5EF4-FFF2-40B4-BE49-F238E27FC236}">
                <a16:creationId xmlns:a16="http://schemas.microsoft.com/office/drawing/2014/main" id="{4F019564-0DE4-4F35-A484-C647036276F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138EC1B-5A2B-49CE-8F25-93213B37570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391BC42A-CC55-4FBF-AFCD-69B730A3DBF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26</a:t>
            </a:r>
            <a:endParaRPr sz="90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ffd2a4506106475a"/>
          <a:srcRect xmlns:a="http://schemas.openxmlformats.org/drawingml/2006/main" l="0" t="0" r="0" b="0"/>
          <a:stretch xmlns:a="http://schemas.openxmlformats.org/drawingml/2006/main"/>
        </p:blipFill>
        <p:spPr>
          <a:xfrm xmlns:a="http://schemas.openxmlformats.org/drawingml/2006/main">
            <a:off x="731520" y="1325880"/>
            <a:ext cx="7680960" cy="45720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354B51B8-83F5-490A-8A7D-29C5F7D52620}"/>
              </a:ext>
            </a:extLst>
          </p:cNvPr>
          <p:cNvSpPr>
            <a:spLocks xmlns:a="http://schemas.openxmlformats.org/drawingml/2006/main" noGrp="1"/>
          </p:cNvSpPr>
          <p:nvPr/>
        </p:nvSpPr>
        <p:spPr>
          <a:xfrm xmlns:a="http://schemas.openxmlformats.org/drawingml/2006/main">
            <a:off x="731520" y="5925312"/>
            <a:ext cx="7680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Within-pool favorable percentiles + first-stop gate — no universal composite score, no winner</a:t>
            </a:r>
            <a:endParaRPr sz="850"/>
          </a:p>
        </p:txBody>
      </p:sp>
      <p:sp>
        <p:nvSpPr>
          <p:cNvPr id="12" name="Text 8">
            <a:extLst xmlns:a="http://schemas.openxmlformats.org/drawingml/2006/main">
              <a:ext uri="{FF2B5EF4-FFF2-40B4-BE49-F238E27FC236}">
                <a16:creationId xmlns:a16="http://schemas.microsoft.com/office/drawing/2014/main" id="{A6F58CFB-323E-47E0-8536-54EBDCCD8D2E}"/>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a:t>
            </a:r>
            <a:endParaRPr sz="750"/>
          </a:p>
        </p:txBody>
      </p:sp>
    </p:spTree>
    <p:extLst>
      <p:ext uri="{BB962C8B-B14F-4D97-AF65-F5344CB8AC3E}">
        <p14:creationId xmlns:p14="http://schemas.microsoft.com/office/powerpoint/2010/main" val="975382810"/>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81001B-6D0B-4F3D-98BB-CA16769AD7A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A8</a:t>
            </a:r>
            <a:endParaRPr sz="2800"/>
          </a:p>
        </p:txBody>
      </p:sp>
      <p:sp>
        <p:nvSpPr>
          <p:cNvPr id="3" name="Shape 1">
            <a:extLst xmlns:a="http://schemas.openxmlformats.org/drawingml/2006/main">
              <a:ext uri="{FF2B5EF4-FFF2-40B4-BE49-F238E27FC236}">
                <a16:creationId xmlns:a16="http://schemas.microsoft.com/office/drawing/2014/main" id="{94F32792-CDEE-4A94-A434-C7E3014FEAC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3AAB58FD-DFE7-48E7-8E50-77F218C1CE0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5C2A6663-4D7D-4A0A-A314-E85D8709AC0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cascade and evidence</a:t>
            </a:r>
            <a:endParaRPr sz="1400"/>
          </a:p>
        </p:txBody>
      </p:sp>
      <p:sp>
        <p:nvSpPr>
          <p:cNvPr id="6" name="Text 4">
            <a:extLst xmlns:a="http://schemas.openxmlformats.org/drawingml/2006/main">
              <a:ext uri="{FF2B5EF4-FFF2-40B4-BE49-F238E27FC236}">
                <a16:creationId xmlns:a16="http://schemas.microsoft.com/office/drawing/2014/main" id="{CF5AE0DC-E541-42D0-8029-D4F7CE7B1E3D}"/>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9D018F93-D9F9-4DBF-920E-1FF31FEE469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442C69D3-E39D-4303-8571-7519C225664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27</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Is 47 a high-throughput discovery funnel?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is a human-curated, host-specific O/F snapshot; 273 is a separate run-slot count.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What happened to the other 44 of 91?</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are absent from the versioned table. Without per-species manifests, absence is not physical rejection.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keep vacuous or redundant gates?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Auditability. We report selection pressure and unique kills; both may change in a new pool.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report 11 instead of one?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We compare at the G1–G4 endpoint while marking G4 heuristic. G5 is ranking-only.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Does BVSE failure prove low conductivity?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flags static pathway risk; multiseed MD or experiment is required.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is air stability not a gate?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 literature proxy covers 35/47 and raw HSAB is biased; actual doped-LPSCl moisture response is missing.</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Tree>
    <p:extLst>
      <p:ext uri="{BB962C8B-B14F-4D97-AF65-F5344CB8AC3E}">
        <p14:creationId xmlns:p14="http://schemas.microsoft.com/office/powerpoint/2010/main" val="153829348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8265672A-45D5-4D2E-82AE-46D6A91EBE03}"/>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76A9F8EB-74B8-4E6F-B62B-B11A1E56BF5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9DE7E4DE-0A38-46A4-AAAF-DC9CB4E091FB}"/>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validation and ML</a:t>
            </a:r>
            <a:endParaRPr sz="1400"/>
          </a:p>
        </p:txBody>
      </p:sp>
      <p:sp>
        <p:nvSpPr>
          <p:cNvPr id="6" name="Text 4">
            <a:extLst xmlns:a="http://schemas.openxmlformats.org/drawingml/2006/main">
              <a:ext uri="{FF2B5EF4-FFF2-40B4-BE49-F238E27FC236}">
                <a16:creationId xmlns:a16="http://schemas.microsoft.com/office/drawing/2014/main" id="{493E8249-E77D-46D7-8FC0-0F4B2F320F7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B5E7B9FD-55A6-4517-965A-7D3A41C8B88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F725C96-A9D2-4BBB-8ED3-9596E389616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28</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Are all 47 candidates DFT-validated?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There are two targeted DFT case studies; the rest are relative screens.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Can 47 rows train a discovery model?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define priors and axes. Predictive learning needs configuration-level, protocol-tagged labels.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not trust LOOCV R² = 0.9998?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Stage 1 reconstructs a score built from the same inputs. Separately, pair LODO = −0.1805 and L2DO = −0.2548.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not choose only the predicted top pair?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Winner's curse. Acquire uncertainty, chemical diversity, and gate-boundary cases.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When can the model be called predictive?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After explicit pair structures, real pair labels, grouped CV, and a frozen prospective holdout.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6">
            <a:extLst xmlns:a="http://schemas.openxmlformats.org/drawingml/2006/main">
              <a:ext uri="{FF2B5EF4-FFF2-40B4-BE49-F238E27FC236}">
                <a16:creationId xmlns:a16="http://schemas.microsoft.com/office/drawing/2014/main" id="{960EFF81-F367-452B-B49A-78FB81D0CDC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A9</a:t>
            </a:r>
          </a:p>
        </p:txBody>
      </p:sp>
    </p:spTree>
    <p:extLst>
      <p:ext uri="{BB962C8B-B14F-4D97-AF65-F5344CB8AC3E}">
        <p14:creationId xmlns:p14="http://schemas.microsoft.com/office/powerpoint/2010/main" val="168083098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A42A2B-BB41-44B7-8C97-BB2E0954CEB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A10</a:t>
            </a:r>
            <a:endParaRPr sz="2800"/>
          </a:p>
        </p:txBody>
      </p:sp>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Origin-ready CSVs are the source; the webapp is a reader</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29</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cascade_seminar_pool_attrition_273_to_47.csv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91 × 3 run-slot lineage and 47-species snapshot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cascade_screening_funnel.json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G1–G5 definitions, waterfall, gate-power, permutations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cascade_seminar_scorecard_47.csv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47 candidates, first-stop, G1–G4 and deep-DFT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cascade_seminar_oxidation_transport_47.csv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Oxidation–static-pathway trade-off</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cascade_seminar_pareto_47.csv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Conditional non-dominated set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cascade_stability_axes.csv / verdict.json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H2S, LPSCl, Li, cathode interface axes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cascade_v23_themes.json / air_axis_lit_vs_tier.csv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Cost, mass, air proxies and missingness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cascade_v23_synergy_pairs.csv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v1 end-member pair heuristic</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codoping_ml_v2.csv / codoping_ml_v2_meta.json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v2 ranks, CV, AD, limitations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77764995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Methods, audits, and literature used in this talk</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30</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docs/cascade_pipeline_guide.md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Canonical pipeline, gates, and trust limits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docs/cascade_ml_integration_guide.md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Configuration labels and acquisition loop</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docs/reviews/cascade_db_ml_readiness_audit_2026_08_10.md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273/47 lineage, duplication, ML readiness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docs/reviews/cascade_ai_screening_literature_comparison_2026_08_10.md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External screening-pipeline comparison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kb/methodology/terminology_register.md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Terms, status, and claim discipline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db/properties/canonical_registry.json / electronic.json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Canonical values and provenance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Sundar 2025 / Zhu 2020</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LPSCl coating context and hydrolysis proxy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litdb: Sendek 2017 / Xiao 2019</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ML and physics-funnel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Kim 2025 / Kim 2026</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Active-learning and MLIP-screening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8">
            <a:extLst xmlns:a="http://schemas.openxmlformats.org/drawingml/2006/main">
              <a:ext uri="{FF2B5EF4-FFF2-40B4-BE49-F238E27FC236}">
                <a16:creationId xmlns:a16="http://schemas.microsoft.com/office/drawing/2014/main" id="{11E27441-8CFB-40FE-8288-0EB3B92A9B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A11</a:t>
            </a:r>
          </a:p>
        </p:txBody>
      </p:sp>
    </p:spTree>
    <p:extLst>
      <p:ext uri="{BB962C8B-B14F-4D97-AF65-F5344CB8AC3E}">
        <p14:creationId xmlns:p14="http://schemas.microsoft.com/office/powerpoint/2010/main" val="7776499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2026-08-13T06:13:21.2240000Z</dcterms:created>
  <dcterms:modified xsi:type="dcterms:W3CDTF">2026-08-13T06:13:21.2240000Z</dcterms:modified>
</coreProperties>
</file>