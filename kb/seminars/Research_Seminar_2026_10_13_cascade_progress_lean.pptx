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 solid electrolytes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are coupled.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Because these failure modes are coupled, improving one of them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degrade another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loss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2922" y="2468880"/>
          <a:ext cx="8238157" cy="140817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594866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1937101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1633015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 (via Anderson)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45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elements already in the formula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free coating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30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 (not a gate)</a:t>
                      </a:r>
                      <a:b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b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endParaRPr sz="130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work: what dopant screens vary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Earlier: one element on one site, or hostless compounds.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Here: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fills a cation and an anion site.</a:t>
            </a:r>
          </a:p>
        </p:txBody>
      </p:sp>
      <p:sp>
        <p:nvSpPr>
          <p:cNvPr id="246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Adv. Energy Mater. 14, 2304025 (2024)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 · Joule 3, 1252 (2019)</a:t>
            </a:r>
          </a:p>
        </p:txBody>
      </p:sp>
      <p:sp>
        <p:nvSpPr>
          <p:cNvPr id="247" name="References"/>
          <p:cNvSpPr txBox="1"/>
          <p:nvPr/>
        </p:nvSpPr>
        <p:spPr>
          <a:xfrm>
            <a:off x="502920" y="5669280"/>
            <a:ext cx="8138160" cy="43891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Related screens: Sendek, Energy Environ. Sci. 10, 306 (2017) · Kahle, Energy Environ. Sci. 13, 928 (2020) · Jung, eTransportation 28, 100570 (2026) · Park, Adv. Sci. 2026, e76305 · Muy, Chem. Mater. 37, 2395 (2025)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692619" y="2286000"/>
          <a:ext cx="7758761" cy="309676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17441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0495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3287315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230450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3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role in the design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strong M–O bonds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the host already has Cl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same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anion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as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the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host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strongest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bonds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mobility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risk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larger halide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higher anion charge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control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— largest halide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3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3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3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Candidate set: 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Cations +1 to +6, anions O²⁻ to I⁻; existing compounds only.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All 91 relaxed (As₂S₃, AlI₃: August re-run).</a:t>
            </a:r>
          </a:p>
        </p:txBody>
      </p:sp>
      <p:sp>
        <p:nvSpPr>
          <p:cNvPr id="248" name="References"/>
          <p:cNvSpPr txBox="1"/>
          <p:nvPr/>
        </p:nvSpPr>
        <p:spPr>
          <a:xfrm>
            <a:off x="502920" y="5230368"/>
            <a:ext cx="8138160" cy="7315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co-doping: CuCl — Taklu, Nano Energy 90, 106542 (2021) · MgF₂ — Liu, Angew. Chem. Int. Ed. 62, e202302655 (2023) · ZnO — Jang, J. Alloys Compd. 957, 170273 (2023) · La₂O₃ — Yang, Electrochim. Acta 535, 146619 (2025) · Nd₂O₃ — Xu, Nano Energy 157, 112246 (2026)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each structure out of its local minimum.</a:t>
            </a:r>
          </a:p>
        </p:txBody>
      </p:sp>
      <p:pic>
        <p:nvPicPr>
          <p:cNvPr id="270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377440"/>
            <a:ext cx="4206240" cy="2028299"/>
          </a:xfrm>
          <a:prstGeom prst="rect">
            <a:avLst/>
          </a:prstGeom>
        </p:spPr>
      </p:pic>
      <p:sp>
        <p:nvSpPr>
          <p:cNvPr id="271" name="Caption left"/>
          <p:cNvSpPr txBox="1"/>
          <p:nvPr/>
        </p:nvSpPr>
        <p:spPr>
          <a:xfrm>
            <a:off x="457200" y="4424027"/>
            <a:ext cx="420624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72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4920" y="2377440"/>
            <a:ext cx="3291840" cy="2427808"/>
          </a:xfrm>
          <a:prstGeom prst="rect">
            <a:avLst/>
          </a:prstGeom>
        </p:spPr>
      </p:pic>
      <p:sp>
        <p:nvSpPr>
          <p:cNvPr id="273" name="Caption right"/>
          <p:cNvSpPr txBox="1"/>
          <p:nvPr/>
        </p:nvSpPr>
        <p:spPr>
          <a:xfrm>
            <a:off x="4983480" y="4823536"/>
            <a:ext cx="3566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  <p:sp>
        <p:nvSpPr>
          <p:cNvPr id="274" name="Bottom note"/>
          <p:cNvSpPr txBox="1"/>
          <p:nvPr/>
        </p:nvSpPr>
        <p:spPr>
          <a:xfrm>
            <a:off x="502920" y="5669280"/>
            <a:ext cx="813816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5000"/>
              </a:lnSpc>
              <a:buNone/>
              <a:defRPr/>
            </a:pPr>
            <a:r>
              <a:rPr kumimoji="1" lang="en-US" altLang="ko-KR" sz="12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Within-precursor scatter can match between-precursor spread → </a:t>
            </a:r>
            <a:r>
              <a:rPr kumimoji="1" lang="en-US" altLang="ko-KR" sz="12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exploration, not ranking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 — a structural proxy, not a diffusion coefficient.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75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simulations so far — the basis of this screening</a:t>
            </a:r>
          </a:p>
        </p:txBody>
      </p:sp>
      <p:sp>
        <p:nvSpPr>
          <p:cNvPr id="201" name="Tile 1"/>
          <p:cNvSpPr/>
          <p:nvPr/>
        </p:nvSpPr>
        <p:spPr>
          <a:xfrm>
            <a:off x="457200" y="1463040"/>
            <a:ext cx="1975104" cy="210312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2" name="Tile 1 title"/>
          <p:cNvSpPr txBox="1"/>
          <p:nvPr/>
        </p:nvSpPr>
        <p:spPr>
          <a:xfrm>
            <a:off x="512064" y="149961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3" name="Tile 1 figure"/>
          <p:cNvSpPr/>
          <p:nvPr/>
        </p:nvSpPr>
        <p:spPr>
          <a:xfrm>
            <a:off x="548640" y="1920240"/>
            <a:ext cx="1792224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4" name="Tile 1 keywords"/>
          <p:cNvSpPr txBox="1"/>
          <p:nvPr/>
        </p:nvSpPr>
        <p:spPr>
          <a:xfrm>
            <a:off x="512064" y="3200400"/>
            <a:ext cx="1865376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gap · EOS · elastic</a:t>
            </a:r>
          </a:p>
        </p:txBody>
      </p:sp>
      <p:sp>
        <p:nvSpPr>
          <p:cNvPr id="205" name="Tile 2"/>
          <p:cNvSpPr/>
          <p:nvPr/>
        </p:nvSpPr>
        <p:spPr>
          <a:xfrm>
            <a:off x="2542032" y="1463040"/>
            <a:ext cx="1975104" cy="210312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06" name="Tile 2 title"/>
          <p:cNvSpPr txBox="1"/>
          <p:nvPr/>
        </p:nvSpPr>
        <p:spPr>
          <a:xfrm>
            <a:off x="2596896" y="149961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7" name="Tile 2 figure"/>
          <p:cNvSpPr/>
          <p:nvPr/>
        </p:nvSpPr>
        <p:spPr>
          <a:xfrm>
            <a:off x="2633472" y="1920240"/>
            <a:ext cx="1792224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8" name="Tile 2 keywords"/>
          <p:cNvSpPr txBox="1"/>
          <p:nvPr/>
        </p:nvSpPr>
        <p:spPr>
          <a:xfrm>
            <a:off x="2596896" y="3200400"/>
            <a:ext cx="1865376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Band edges · ICOHP · CEI</a:t>
            </a:r>
          </a:p>
        </p:txBody>
      </p:sp>
      <p:sp>
        <p:nvSpPr>
          <p:cNvPr id="209" name="Tile 3"/>
          <p:cNvSpPr/>
          <p:nvPr/>
        </p:nvSpPr>
        <p:spPr>
          <a:xfrm>
            <a:off x="4626864" y="1463040"/>
            <a:ext cx="1975104" cy="210312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0" name="Tile 3 title"/>
          <p:cNvSpPr txBox="1"/>
          <p:nvPr/>
        </p:nvSpPr>
        <p:spPr>
          <a:xfrm>
            <a:off x="4681728" y="149961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11" name="Tile 3 figure"/>
          <p:cNvSpPr/>
          <p:nvPr/>
        </p:nvSpPr>
        <p:spPr>
          <a:xfrm>
            <a:off x="4718304" y="1920240"/>
            <a:ext cx="1792224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2" name="Tile 3 keywords"/>
          <p:cNvSpPr txBox="1"/>
          <p:nvPr/>
        </p:nvSpPr>
        <p:spPr>
          <a:xfrm>
            <a:off x="4681728" y="3200400"/>
            <a:ext cx="1865376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EOS · BVSE · MLIP-MD</a:t>
            </a:r>
          </a:p>
        </p:txBody>
      </p:sp>
      <p:sp>
        <p:nvSpPr>
          <p:cNvPr id="213" name="Tile 4"/>
          <p:cNvSpPr/>
          <p:nvPr/>
        </p:nvSpPr>
        <p:spPr>
          <a:xfrm>
            <a:off x="6711696" y="1463040"/>
            <a:ext cx="1975104" cy="210312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4" name="Tile 4 title"/>
          <p:cNvSpPr txBox="1"/>
          <p:nvPr/>
        </p:nvSpPr>
        <p:spPr>
          <a:xfrm>
            <a:off x="6766560" y="1499616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5" name="Tile 4 figure"/>
          <p:cNvSpPr/>
          <p:nvPr/>
        </p:nvSpPr>
        <p:spPr>
          <a:xfrm>
            <a:off x="6803136" y="1920240"/>
            <a:ext cx="1792224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6" name="Tile 4 keywords"/>
          <p:cNvSpPr txBox="1"/>
          <p:nvPr/>
        </p:nvSpPr>
        <p:spPr>
          <a:xfrm>
            <a:off x="6766560" y="3200400"/>
            <a:ext cx="1865376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adsorption · NEB</a:t>
            </a:r>
          </a:p>
        </p:txBody>
      </p:sp>
      <p:sp>
        <p:nvSpPr>
          <p:cNvPr id="217" name="Tile 5"/>
          <p:cNvSpPr/>
          <p:nvPr/>
        </p:nvSpPr>
        <p:spPr>
          <a:xfrm>
            <a:off x="457200" y="3675888"/>
            <a:ext cx="1975104" cy="210312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18" name="Tile 5 title"/>
          <p:cNvSpPr txBox="1"/>
          <p:nvPr/>
        </p:nvSpPr>
        <p:spPr>
          <a:xfrm>
            <a:off x="512064" y="3712464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19" name="Tile 5 figure"/>
          <p:cNvSpPr/>
          <p:nvPr/>
        </p:nvSpPr>
        <p:spPr>
          <a:xfrm>
            <a:off x="548640" y="4133088"/>
            <a:ext cx="1792224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0" name="Tile 5 keywords"/>
          <p:cNvSpPr txBox="1"/>
          <p:nvPr/>
        </p:nvSpPr>
        <p:spPr>
          <a:xfrm>
            <a:off x="512064" y="5413248"/>
            <a:ext cx="1865376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migration (NEB)</a:t>
            </a:r>
          </a:p>
        </p:txBody>
      </p:sp>
      <p:sp>
        <p:nvSpPr>
          <p:cNvPr id="221" name="Tile 6"/>
          <p:cNvSpPr/>
          <p:nvPr/>
        </p:nvSpPr>
        <p:spPr>
          <a:xfrm>
            <a:off x="2542032" y="3675888"/>
            <a:ext cx="1975104" cy="210312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2" name="Tile 6 title"/>
          <p:cNvSpPr txBox="1"/>
          <p:nvPr/>
        </p:nvSpPr>
        <p:spPr>
          <a:xfrm>
            <a:off x="2596896" y="3712464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 (SEI component)</a:t>
            </a:r>
          </a:p>
        </p:txBody>
      </p:sp>
      <p:sp>
        <p:nvSpPr>
          <p:cNvPr id="223" name="Tile 6 figure"/>
          <p:cNvSpPr/>
          <p:nvPr/>
        </p:nvSpPr>
        <p:spPr>
          <a:xfrm>
            <a:off x="2633472" y="4133088"/>
            <a:ext cx="1792224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4" name="Tile 6 keywords"/>
          <p:cNvSpPr txBox="1"/>
          <p:nvPr/>
        </p:nvSpPr>
        <p:spPr>
          <a:xfrm>
            <a:off x="2596896" y="5413248"/>
            <a:ext cx="1865376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Li-vacancy NEB · cell size</a:t>
            </a:r>
          </a:p>
        </p:txBody>
      </p:sp>
      <p:sp>
        <p:nvSpPr>
          <p:cNvPr id="225" name="Tile 7"/>
          <p:cNvSpPr/>
          <p:nvPr/>
        </p:nvSpPr>
        <p:spPr>
          <a:xfrm>
            <a:off x="4626864" y="3675888"/>
            <a:ext cx="1975104" cy="210312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6" name="Tile 7 title"/>
          <p:cNvSpPr txBox="1"/>
          <p:nvPr/>
        </p:nvSpPr>
        <p:spPr>
          <a:xfrm>
            <a:off x="4681728" y="3712464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7" name="Tile 7 figure"/>
          <p:cNvSpPr/>
          <p:nvPr/>
        </p:nvSpPr>
        <p:spPr>
          <a:xfrm>
            <a:off x="4718304" y="4133088"/>
            <a:ext cx="1792224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8" name="Tile 7 keywords"/>
          <p:cNvSpPr txBox="1"/>
          <p:nvPr/>
        </p:nvSpPr>
        <p:spPr>
          <a:xfrm>
            <a:off x="4681728" y="5413248"/>
            <a:ext cx="1865376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Work of adhesion → DEM</a:t>
            </a:r>
          </a:p>
        </p:txBody>
      </p:sp>
      <p:sp>
        <p:nvSpPr>
          <p:cNvPr id="229" name="Tile 8"/>
          <p:cNvSpPr/>
          <p:nvPr/>
        </p:nvSpPr>
        <p:spPr>
          <a:xfrm>
            <a:off x="6711696" y="3675888"/>
            <a:ext cx="1975104" cy="210312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0" name="Tile 8 title"/>
          <p:cNvSpPr txBox="1"/>
          <p:nvPr/>
        </p:nvSpPr>
        <p:spPr>
          <a:xfrm>
            <a:off x="6766560" y="3712464"/>
            <a:ext cx="1865376" cy="4023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adsorption (SDCP)</a:t>
            </a:r>
          </a:p>
        </p:txBody>
      </p:sp>
      <p:sp>
        <p:nvSpPr>
          <p:cNvPr id="231" name="Tile 8 figure"/>
          <p:cNvSpPr/>
          <p:nvPr/>
        </p:nvSpPr>
        <p:spPr>
          <a:xfrm>
            <a:off x="6803136" y="4133088"/>
            <a:ext cx="1792224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32" name="Tile 8 keywords"/>
          <p:cNvSpPr txBox="1"/>
          <p:nvPr/>
        </p:nvSpPr>
        <p:spPr>
          <a:xfrm>
            <a:off x="6766560" y="5413248"/>
            <a:ext cx="1865376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Spin-resolved adsorption</a:t>
            </a:r>
          </a:p>
        </p:txBody>
      </p:sp>
      <p:sp>
        <p:nvSpPr>
          <p:cNvPr id="233" name="Takeaway"/>
          <p:cNvSpPr txBox="1"/>
          <p:nvPr/>
        </p:nvSpPr>
        <p:spPr>
          <a:xfrm>
            <a:off x="502920" y="5833872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5000"/>
              </a:lnSpc>
              <a:buNone/>
              <a:defRPr/>
            </a:pP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→ These methods became the steps of this screen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Goal: let the computation pick the precursor — rule fixed first</a:t>
            </a:r>
          </a:p>
        </p:txBody>
      </p:sp>
      <p:sp>
        <p:nvSpPr>
          <p:cNvPr id="234" name="Step 1"/>
          <p:cNvSpPr/>
          <p:nvPr/>
        </p:nvSpPr>
        <p:spPr>
          <a:xfrm>
            <a:off x="525780" y="1691640"/>
            <a:ext cx="1783080" cy="306324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73152" tIns="146304" rIns="73152" bIns="91440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</a:t>
            </a:r>
          </a:p>
          <a:p>
            <a:pPr marL="0" indent="0" latinLnBrk="0" algn="ctr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1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Jun–Aug</a:t>
            </a:r>
          </a:p>
          <a:p>
            <a:pPr marL="0" indent="0" latinLnBrk="0" algn="ctr">
              <a:lnSpc>
                <a:spcPct val="100000"/>
              </a:lnSpc>
              <a:spcAft>
                <a:spcPts val="500"/>
              </a:spcAft>
              <a:buNone/>
              <a:defRPr/>
            </a:pPr>
            <a:r>
              <a:rPr kumimoji="1" lang="en-US" altLang="ko-KR" sz="3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</a:t>
            </a:r>
          </a:p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precursors relaxed</a:t>
            </a:r>
          </a:p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3,675 structures</a:t>
            </a:r>
          </a:p>
        </p:txBody>
      </p:sp>
      <p:sp>
        <p:nvSpPr>
          <p:cNvPr id="235" name="Step 1 status"/>
          <p:cNvSpPr/>
          <p:nvPr/>
        </p:nvSpPr>
        <p:spPr>
          <a:xfrm>
            <a:off x="617220" y="4315968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E8F3EA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Done · exploratory</a:t>
            </a:r>
          </a:p>
        </p:txBody>
      </p:sp>
      <p:sp>
        <p:nvSpPr>
          <p:cNvPr id="236" name="Arrow 236"/>
          <p:cNvSpPr/>
          <p:nvPr/>
        </p:nvSpPr>
        <p:spPr>
          <a:xfrm>
            <a:off x="2363724" y="3076956"/>
            <a:ext cx="210312" cy="292608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7" name="Step 2"/>
          <p:cNvSpPr/>
          <p:nvPr/>
        </p:nvSpPr>
        <p:spPr>
          <a:xfrm>
            <a:off x="2628900" y="1691640"/>
            <a:ext cx="1783080" cy="306324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73152" tIns="146304" rIns="73152" bIns="91440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Audit</a:t>
            </a:r>
          </a:p>
          <a:p>
            <a:pPr marL="0" indent="0" latinLnBrk="0" algn="ctr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1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</a:t>
            </a:r>
          </a:p>
          <a:p>
            <a:pPr marL="0" indent="0" latinLnBrk="0" algn="ctr">
              <a:lnSpc>
                <a:spcPct val="100000"/>
              </a:lnSpc>
              <a:spcAft>
                <a:spcPts val="500"/>
              </a:spcAft>
              <a:buNone/>
              <a:defRPr/>
            </a:pPr>
            <a:r>
              <a:rPr kumimoji="1" lang="en-US" altLang="ko-KR" sz="3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</a:t>
            </a:r>
          </a:p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roster designs</a:t>
            </a:r>
          </a:p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primary readout</a:t>
            </a:r>
          </a:p>
        </p:txBody>
      </p:sp>
      <p:sp>
        <p:nvSpPr>
          <p:cNvPr id="238" name="Step 2 status"/>
          <p:cNvSpPr/>
          <p:nvPr/>
        </p:nvSpPr>
        <p:spPr>
          <a:xfrm>
            <a:off x="2720340" y="4315968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E8F3EA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Rules fixed</a:t>
            </a:r>
          </a:p>
        </p:txBody>
      </p:sp>
      <p:sp>
        <p:nvSpPr>
          <p:cNvPr id="239" name="Arrow 239"/>
          <p:cNvSpPr/>
          <p:nvPr/>
        </p:nvSpPr>
        <p:spPr>
          <a:xfrm>
            <a:off x="4466844" y="3076956"/>
            <a:ext cx="210312" cy="292608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40" name="Step 3"/>
          <p:cNvSpPr/>
          <p:nvPr/>
        </p:nvSpPr>
        <p:spPr>
          <a:xfrm>
            <a:off x="4732020" y="1691640"/>
            <a:ext cx="1783080" cy="306324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73152" tIns="146304" rIns="73152" bIns="91440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</a:t>
            </a:r>
          </a:p>
          <a:p>
            <a:pPr marL="0" indent="0" latinLnBrk="0" algn="ctr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1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Oct</a:t>
            </a:r>
          </a:p>
          <a:p>
            <a:pPr marL="0" indent="0" latinLnBrk="0" algn="ctr">
              <a:lnSpc>
                <a:spcPct val="100000"/>
              </a:lnSpc>
              <a:spcAft>
                <a:spcPts val="500"/>
              </a:spcAft>
              <a:buNone/>
              <a:defRPr/>
            </a:pPr>
            <a:r>
              <a:rPr kumimoji="1" lang="en-US" altLang="ko-KR" sz="3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12/40</a:t>
            </a:r>
          </a:p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MLIP-MD runs done</a:t>
            </a:r>
          </a:p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 vs Al₂S₃</a:t>
            </a:r>
          </a:p>
        </p:txBody>
      </p:sp>
      <p:sp>
        <p:nvSpPr>
          <p:cNvPr id="241" name="Step 3 status"/>
          <p:cNvSpPr/>
          <p:nvPr/>
        </p:nvSpPr>
        <p:spPr>
          <a:xfrm>
            <a:off x="4823460" y="4315968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DCEBF8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b="1" dirty="0">
                <a:solidFill>
                  <a:srgbClr val="0B5394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Running</a:t>
            </a:r>
          </a:p>
        </p:txBody>
      </p:sp>
      <p:sp>
        <p:nvSpPr>
          <p:cNvPr id="242" name="Arrow 242"/>
          <p:cNvSpPr/>
          <p:nvPr/>
        </p:nvSpPr>
        <p:spPr>
          <a:xfrm>
            <a:off x="6569964" y="3076956"/>
            <a:ext cx="210312" cy="292608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43" name="Step 4"/>
          <p:cNvSpPr/>
          <p:nvPr/>
        </p:nvSpPr>
        <p:spPr>
          <a:xfrm>
            <a:off x="6835140" y="1691640"/>
            <a:ext cx="1783080" cy="306324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73152" tIns="146304" rIns="73152" bIns="91440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</a:t>
            </a:r>
          </a:p>
          <a:p>
            <a:pPr marL="0" indent="0" latinLnBrk="0" algn="ctr">
              <a:lnSpc>
                <a:spcPct val="100000"/>
              </a:lnSpc>
              <a:spcAft>
                <a:spcPts val="900"/>
              </a:spcAft>
              <a:buNone/>
              <a:defRPr/>
            </a:pPr>
            <a:r>
              <a:rPr kumimoji="1" lang="en-US" altLang="ko-KR" sz="11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Nov →</a:t>
            </a:r>
          </a:p>
          <a:p>
            <a:pPr marL="0" indent="0" latinLnBrk="0" algn="ctr">
              <a:lnSpc>
                <a:spcPct val="100000"/>
              </a:lnSpc>
              <a:spcAft>
                <a:spcPts val="500"/>
              </a:spcAft>
              <a:buNone/>
              <a:defRPr/>
            </a:pPr>
            <a:r>
              <a:rPr kumimoji="1" lang="en-US" altLang="ko-KR" sz="32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</a:t>
            </a:r>
          </a:p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shortlist → DFT</a:t>
            </a:r>
          </a:p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→ experiments</a:t>
            </a:r>
          </a:p>
        </p:txBody>
      </p:sp>
      <p:sp>
        <p:nvSpPr>
          <p:cNvPr id="244" name="Step 4 status"/>
          <p:cNvSpPr/>
          <p:nvPr/>
        </p:nvSpPr>
        <p:spPr>
          <a:xfrm>
            <a:off x="6926580" y="4315968"/>
            <a:ext cx="1600200" cy="292608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b="1" dirty="0">
                <a:solidFill>
                  <a:srgbClr val="4B5563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Planned</a:t>
            </a:r>
          </a:p>
        </p:txBody>
      </p:sp>
      <p:sp>
        <p:nvSpPr>
          <p:cNvPr id="245" name="Takeaway"/>
          <p:cNvSpPr txBox="1"/>
          <p:nvPr/>
        </p:nvSpPr>
        <p:spPr>
          <a:xfrm>
            <a:off x="502920" y="5138928"/>
            <a:ext cx="8138160" cy="4114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5000"/>
              </a:lnSpc>
              <a:buNone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 — </a:t>
            </a:r>
            <a:r>
              <a:rPr kumimoji="1" lang="en-US" altLang="ko-KR" sz="15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screen proposes, predefined tests decide.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(Jun–Aug): an exploration screen</a:t>
            </a:r>
          </a:p>
        </p:txBody>
      </p:sp>
      <p:sp>
        <p:nvSpPr>
          <p:cNvPr id="249" name="Flow 1"/>
          <p:cNvSpPr/>
          <p:nvPr/>
        </p:nvSpPr>
        <p:spPr>
          <a:xfrm>
            <a:off x="525780" y="1536192"/>
            <a:ext cx="1783080" cy="16002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54864" tIns="109728" rIns="54864" bIns="7315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spcAft>
                <a:spcPts val="500"/>
              </a:spcAft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 · Enumeration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8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</a:t>
            </a:r>
          </a:p>
          <a:p>
            <a:pPr marL="0" indent="0" latinLnBrk="0" algn="ctr">
              <a:lnSpc>
                <a:spcPct val="100000"/>
              </a:lnSpc>
              <a:spcAft>
                <a:spcPts val="400"/>
              </a:spcAft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precursors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charge-balanced sites</a:t>
            </a:r>
          </a:p>
        </p:txBody>
      </p:sp>
      <p:sp>
        <p:nvSpPr>
          <p:cNvPr id="250" name="Arrow 250"/>
          <p:cNvSpPr/>
          <p:nvPr/>
        </p:nvSpPr>
        <p:spPr>
          <a:xfrm>
            <a:off x="2363724" y="2189988"/>
            <a:ext cx="210312" cy="292608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51" name="Flow 2"/>
          <p:cNvSpPr/>
          <p:nvPr/>
        </p:nvSpPr>
        <p:spPr>
          <a:xfrm>
            <a:off x="2628900" y="1536192"/>
            <a:ext cx="1783080" cy="16002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54864" tIns="109728" rIns="54864" bIns="7315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spcAft>
                <a:spcPts val="500"/>
              </a:spcAft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· MLIP relaxation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8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3,675</a:t>
            </a:r>
          </a:p>
          <a:p>
            <a:pPr marL="0" indent="0" latinLnBrk="0" algn="ctr">
              <a:lnSpc>
                <a:spcPct val="100000"/>
              </a:lnSpc>
              <a:spcAft>
                <a:spcPts val="400"/>
              </a:spcAft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structures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universal MLIP (UMA)</a:t>
            </a:r>
          </a:p>
        </p:txBody>
      </p:sp>
      <p:sp>
        <p:nvSpPr>
          <p:cNvPr id="252" name="Arrow 252"/>
          <p:cNvSpPr/>
          <p:nvPr/>
        </p:nvSpPr>
        <p:spPr>
          <a:xfrm>
            <a:off x="4466844" y="2189988"/>
            <a:ext cx="210312" cy="292608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53" name="Flow 3"/>
          <p:cNvSpPr/>
          <p:nvPr/>
        </p:nvSpPr>
        <p:spPr>
          <a:xfrm>
            <a:off x="4732020" y="1536192"/>
            <a:ext cx="1783080" cy="16002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54864" tIns="109728" rIns="54864" bIns="7315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spcAft>
                <a:spcPts val="500"/>
              </a:spcAft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 · Short anneal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8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693</a:t>
            </a:r>
          </a:p>
          <a:p>
            <a:pPr marL="0" indent="0" latinLnBrk="0" algn="ctr">
              <a:lnSpc>
                <a:spcPct val="100000"/>
              </a:lnSpc>
              <a:spcAft>
                <a:spcPts val="400"/>
              </a:spcAft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structures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500 K · 50 ps MD</a:t>
            </a:r>
          </a:p>
        </p:txBody>
      </p:sp>
      <p:sp>
        <p:nvSpPr>
          <p:cNvPr id="254" name="Arrow 254"/>
          <p:cNvSpPr/>
          <p:nvPr/>
        </p:nvSpPr>
        <p:spPr>
          <a:xfrm>
            <a:off x="6569964" y="2189988"/>
            <a:ext cx="210312" cy="292608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55" name="Flow 4"/>
          <p:cNvSpPr/>
          <p:nvPr/>
        </p:nvSpPr>
        <p:spPr>
          <a:xfrm>
            <a:off x="6835140" y="1536192"/>
            <a:ext cx="1783080" cy="16002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54864" tIns="109728" rIns="54864" bIns="7315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spcAft>
                <a:spcPts val="500"/>
              </a:spcAft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 · Descriptors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8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</a:t>
            </a:r>
          </a:p>
          <a:p>
            <a:pPr marL="0" indent="0" latinLnBrk="0" algn="ctr">
              <a:lnSpc>
                <a:spcPct val="100000"/>
              </a:lnSpc>
              <a:spcAft>
                <a:spcPts val="400"/>
              </a:spcAft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axes</a:t>
            </a:r>
          </a:p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listed below</a:t>
            </a:r>
          </a:p>
        </p:txBody>
      </p:sp>
      <p:sp>
        <p:nvSpPr>
          <p:cNvPr id="256" name="Axis 1"/>
          <p:cNvSpPr/>
          <p:nvPr/>
        </p:nvSpPr>
        <p:spPr>
          <a:xfrm>
            <a:off x="525780" y="3364992"/>
            <a:ext cx="3977640" cy="4572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57" name="Axis 1 label"/>
          <p:cNvSpPr txBox="1"/>
          <p:nvPr/>
        </p:nvSpPr>
        <p:spPr>
          <a:xfrm>
            <a:off x="617220" y="3364992"/>
            <a:ext cx="25146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Li-site landscape (BVSE)</a:t>
            </a:r>
          </a:p>
        </p:txBody>
      </p:sp>
      <p:sp>
        <p:nvSpPr>
          <p:cNvPr id="258" name="Axis 1 status"/>
          <p:cNvSpPr/>
          <p:nvPr/>
        </p:nvSpPr>
        <p:spPr>
          <a:xfrm>
            <a:off x="3131820" y="3456432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8F3EA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Done</a:t>
            </a:r>
          </a:p>
        </p:txBody>
      </p:sp>
      <p:sp>
        <p:nvSpPr>
          <p:cNvPr id="259" name="Axis 2"/>
          <p:cNvSpPr/>
          <p:nvPr/>
        </p:nvSpPr>
        <p:spPr>
          <a:xfrm>
            <a:off x="4640580" y="3364992"/>
            <a:ext cx="3977640" cy="4572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60" name="Axis 2 label"/>
          <p:cNvSpPr txBox="1"/>
          <p:nvPr/>
        </p:nvSpPr>
        <p:spPr>
          <a:xfrm>
            <a:off x="4732020" y="3364992"/>
            <a:ext cx="25146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EOS (done) · elastic constants</a:t>
            </a:r>
          </a:p>
        </p:txBody>
      </p:sp>
      <p:sp>
        <p:nvSpPr>
          <p:cNvPr id="261" name="Axis 2 status"/>
          <p:cNvSpPr/>
          <p:nvPr/>
        </p:nvSpPr>
        <p:spPr>
          <a:xfrm>
            <a:off x="7246620" y="3456432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DCEBF8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b="1" dirty="0">
                <a:solidFill>
                  <a:srgbClr val="0B5394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</a:t>
            </a:r>
            <a:r>
              <a:rPr kumimoji="1" lang="en-US" altLang="ko-KR" sz="1000" b="1" baseline="-25000" dirty="0">
                <a:solidFill>
                  <a:srgbClr val="0B5394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000" b="1" dirty="0">
                <a:solidFill>
                  <a:srgbClr val="0B5394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running</a:t>
            </a:r>
          </a:p>
        </p:txBody>
      </p:sp>
      <p:sp>
        <p:nvSpPr>
          <p:cNvPr id="262" name="Axis 3"/>
          <p:cNvSpPr/>
          <p:nvPr/>
        </p:nvSpPr>
        <p:spPr>
          <a:xfrm>
            <a:off x="525780" y="3913632"/>
            <a:ext cx="3977640" cy="4572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63" name="Axis 3 label"/>
          <p:cNvSpPr txBox="1"/>
          <p:nvPr/>
        </p:nvSpPr>
        <p:spPr>
          <a:xfrm>
            <a:off x="617220" y="3913632"/>
            <a:ext cx="25146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 (90)</a:t>
            </a:r>
          </a:p>
        </p:txBody>
      </p:sp>
      <p:sp>
        <p:nvSpPr>
          <p:cNvPr id="264" name="Axis 3 status"/>
          <p:cNvSpPr/>
          <p:nvPr/>
        </p:nvSpPr>
        <p:spPr>
          <a:xfrm>
            <a:off x="3131820" y="4005072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FFF4E0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b="1" dirty="0">
                <a:solidFill>
                  <a:srgbClr val="8A5A0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</a:t>
            </a:r>
          </a:p>
        </p:txBody>
      </p:sp>
      <p:sp>
        <p:nvSpPr>
          <p:cNvPr id="265" name="Axis 4"/>
          <p:cNvSpPr/>
          <p:nvPr/>
        </p:nvSpPr>
        <p:spPr>
          <a:xfrm>
            <a:off x="4640580" y="3913632"/>
            <a:ext cx="3977640" cy="4572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66" name="Axis 4 label"/>
          <p:cNvSpPr txBox="1"/>
          <p:nvPr/>
        </p:nvSpPr>
        <p:spPr>
          <a:xfrm>
            <a:off x="4732020" y="3913632"/>
            <a:ext cx="25146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Interface energy (90)</a:t>
            </a:r>
          </a:p>
        </p:txBody>
      </p:sp>
      <p:sp>
        <p:nvSpPr>
          <p:cNvPr id="267" name="Axis 4 status"/>
          <p:cNvSpPr/>
          <p:nvPr/>
        </p:nvSpPr>
        <p:spPr>
          <a:xfrm>
            <a:off x="7246620" y="4005072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b="1" dirty="0">
                <a:solidFill>
                  <a:srgbClr val="4B5563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Products: redo</a:t>
            </a:r>
          </a:p>
        </p:txBody>
      </p:sp>
      <p:sp>
        <p:nvSpPr>
          <p:cNvPr id="268" name="Takeaway"/>
          <p:cNvSpPr txBox="1"/>
          <p:nvPr/>
        </p:nvSpPr>
        <p:spPr>
          <a:xfrm>
            <a:off x="502920" y="4572000"/>
            <a:ext cx="8138160" cy="4114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5000"/>
              </a:lnSpc>
              <a:buNone/>
              <a:defRPr/>
            </a:pP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Since Sep: </a:t>
            </a:r>
            <a:r>
              <a:rPr kumimoji="1" lang="en-US" altLang="ko-KR" sz="14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exploratory data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— it guides the next calculations, not a ranking</a:t>
            </a:r>
          </a:p>
        </p:txBody>
      </p:sp>
      <p:sp>
        <p:nvSpPr>
          <p:cNvPr id="269" name="Note"/>
          <p:cNvSpPr txBox="1"/>
          <p:nvPr/>
        </p:nvSpPr>
        <p:spPr>
          <a:xfrm>
            <a:off x="502920" y="5074920"/>
            <a:ext cx="813816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5000"/>
              </a:lnSpc>
              <a:buNone/>
              <a:defRPr/>
            </a:pPr>
            <a:r>
              <a:rPr kumimoji="1" lang="en-US" altLang="ko-KR" sz="11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completed in an August re-run (As₂S₃ not yet in the window and interface tables) · one dopant level for all structures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window: voltage range without Li exchange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 (Materials Project phases, 0 K).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90 precursors with this definition (Oct).</a:t>
            </a:r>
          </a:p>
        </p:txBody>
      </p:sp>
      <p:sp>
        <p:nvSpPr>
          <p:cNvPr id="276" name="Schematic title"/>
          <p:cNvSpPr txBox="1"/>
          <p:nvPr/>
        </p:nvSpPr>
        <p:spPr>
          <a:xfrm>
            <a:off x="548640" y="2286000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host</a:t>
            </a:r>
          </a:p>
        </p:txBody>
      </p:sp>
      <p:sp>
        <p:nvSpPr>
          <p:cNvPr id="277" name="Window label"/>
          <p:cNvSpPr txBox="1"/>
          <p:nvPr/>
        </p:nvSpPr>
        <p:spPr>
          <a:xfrm>
            <a:off x="1572643" y="2587752"/>
            <a:ext cx="1828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0.423 V</a:t>
            </a:r>
          </a:p>
        </p:txBody>
      </p:sp>
      <p:sp>
        <p:nvSpPr>
          <p:cNvPr id="278" name="Reduction zone"/>
          <p:cNvSpPr/>
          <p:nvPr/>
        </p:nvSpPr>
        <p:spPr>
          <a:xfrm>
            <a:off x="685800" y="2880360"/>
            <a:ext cx="1080405" cy="457200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uptake</a:t>
            </a:r>
          </a:p>
        </p:txBody>
      </p:sp>
      <p:sp>
        <p:nvSpPr>
          <p:cNvPr id="279" name="Window zone"/>
          <p:cNvSpPr/>
          <p:nvPr/>
        </p:nvSpPr>
        <p:spPr>
          <a:xfrm>
            <a:off x="1766205" y="2880360"/>
            <a:ext cx="1441676" cy="457200"/>
          </a:xfrm>
          <a:prstGeom prst="rect">
            <a:avLst/>
          </a:prstGeom>
          <a:solidFill>
            <a:srgbClr val="DFF2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B5E2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Li exchange</a:t>
            </a:r>
          </a:p>
        </p:txBody>
      </p:sp>
      <p:sp>
        <p:nvSpPr>
          <p:cNvPr id="280" name="Oxidation zone"/>
          <p:cNvSpPr/>
          <p:nvPr/>
        </p:nvSpPr>
        <p:spPr>
          <a:xfrm>
            <a:off x="3207881" y="2880360"/>
            <a:ext cx="1226959" cy="457200"/>
          </a:xfrm>
          <a:prstGeom prst="rect">
            <a:avLst/>
          </a:prstGeom>
          <a:solidFill>
            <a:srgbClr val="FBE3E3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7F1D1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 release</a:t>
            </a:r>
          </a:p>
        </p:txBody>
      </p:sp>
      <p:sp>
        <p:nvSpPr>
          <p:cNvPr id="281" name="Tick low"/>
          <p:cNvSpPr txBox="1"/>
          <p:nvPr/>
        </p:nvSpPr>
        <p:spPr>
          <a:xfrm>
            <a:off x="1354725" y="3374136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1.717 V</a:t>
            </a:r>
          </a:p>
        </p:txBody>
      </p:sp>
      <p:sp>
        <p:nvSpPr>
          <p:cNvPr id="282" name="Tick high"/>
          <p:cNvSpPr txBox="1"/>
          <p:nvPr/>
        </p:nvSpPr>
        <p:spPr>
          <a:xfrm>
            <a:off x="2796401" y="3374136"/>
            <a:ext cx="8229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2.140 V</a:t>
            </a:r>
          </a:p>
        </p:txBody>
      </p:sp>
      <p:sp>
        <p:nvSpPr>
          <p:cNvPr id="283" name="Axis label"/>
          <p:cNvSpPr txBox="1"/>
          <p:nvPr/>
        </p:nvSpPr>
        <p:spPr>
          <a:xfrm>
            <a:off x="685800" y="3630168"/>
            <a:ext cx="374904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voltage vs Li/Li⁺ →</a:t>
            </a:r>
          </a:p>
        </p:txBody>
      </p:sp>
      <p:sp>
        <p:nvSpPr>
          <p:cNvPr id="284" name="Caption"/>
          <p:cNvSpPr txBox="1"/>
          <p:nvPr/>
        </p:nvSpPr>
        <p:spPr>
          <a:xfrm>
            <a:off x="548640" y="3959352"/>
            <a:ext cx="40233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stable window of the host (MP phases, 0 K) &gt;</a:t>
            </a:r>
          </a:p>
        </p:txBody>
      </p:sp>
      <p:pic>
        <p:nvPicPr>
          <p:cNvPr id="285" name="Sundar 2025 Fig 2" descr="Coating reaction energy at four interf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331720"/>
            <a:ext cx="3794760" cy="1442295"/>
          </a:xfrm>
          <a:prstGeom prst="rect">
            <a:avLst/>
          </a:prstGeom>
        </p:spPr>
      </p:pic>
      <p:sp>
        <p:nvSpPr>
          <p:cNvPr id="286" name="Caption"/>
          <p:cNvSpPr txBox="1"/>
          <p:nvPr/>
        </p:nvSpPr>
        <p:spPr>
          <a:xfrm>
            <a:off x="4754880" y="3819735"/>
            <a:ext cx="397764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coating view: reaction energy at four interfaces &gt;</a:t>
            </a:r>
          </a:p>
        </p:txBody>
      </p:sp>
      <p:sp>
        <p:nvSpPr>
          <p:cNvPr id="287" name="Credit right"/>
          <p:cNvSpPr txBox="1"/>
          <p:nvPr/>
        </p:nvSpPr>
        <p:spPr>
          <a:xfrm>
            <a:off x="4754880" y="4094055"/>
            <a:ext cx="397764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Sundar et al., Adv. Sci. 12, e13191 (2025)</a:t>
            </a:r>
          </a:p>
        </p:txBody>
      </p:sp>
      <p:sp>
        <p:nvSpPr>
          <p:cNvPr id="288" name="Takeaway"/>
          <p:cNvSpPr txBox="1"/>
          <p:nvPr/>
        </p:nvSpPr>
        <p:spPr>
          <a:xfrm>
            <a:off x="502920" y="4526280"/>
            <a:ext cx="813816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5000"/>
              </a:lnSpc>
              <a:buNone/>
              <a:defRPr/>
            </a:pP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Interface: doped composition vs LiCoO₂, LiNiO₂, LiMn₂O₄, Li, C — products being </a:t>
            </a:r>
            <a:r>
              <a:rPr kumimoji="1" lang="en-US" altLang="ko-KR" sz="13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re-derived with ground-state phases</a:t>
            </a:r>
          </a:p>
        </p:txBody>
      </p:sp>
      <p:sp>
        <p:nvSpPr>
          <p:cNvPr id="289" name="References"/>
          <p:cNvSpPr txBox="1"/>
          <p:nvPr/>
        </p:nvSpPr>
        <p:spPr>
          <a:xfrm>
            <a:off x="502920" y="585216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Richards, Chem. Mater. 28, 266 (2016) · Xiao, Nat. Rev. Mater. 5, 105 (2020) · Schwietert, Nat. Mater. 19, 428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→ Stage 2: rules fixed before new results</a:t>
            </a:r>
          </a:p>
        </p:txBody>
      </p:sp>
      <p:sp>
        <p:nvSpPr>
          <p:cNvPr id="290" name="Found card"/>
          <p:cNvSpPr/>
          <p:nvPr/>
        </p:nvSpPr>
        <p:spPr>
          <a:xfrm>
            <a:off x="502920" y="1508760"/>
            <a:ext cx="3749040" cy="3291840"/>
          </a:xfrm>
          <a:prstGeom prst="roundRect">
            <a:avLst>
              <a:gd name="adj" fmla="val 4000"/>
            </a:avLst>
          </a:prstGeom>
          <a:solidFill>
            <a:srgbClr val="FDF1F1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91" name="Found title"/>
          <p:cNvSpPr txBox="1"/>
          <p:nvPr/>
        </p:nvSpPr>
        <p:spPr>
          <a:xfrm>
            <a:off x="640080" y="1600200"/>
            <a:ext cx="347472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B42318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Found in Stage 1</a:t>
            </a:r>
          </a:p>
        </p:txBody>
      </p:sp>
      <p:sp>
        <p:nvSpPr>
          <p:cNvPr id="292" name="Fixed card"/>
          <p:cNvSpPr/>
          <p:nvPr/>
        </p:nvSpPr>
        <p:spPr>
          <a:xfrm>
            <a:off x="4892040" y="1508760"/>
            <a:ext cx="3749040" cy="3291840"/>
          </a:xfrm>
          <a:prstGeom prst="roundRect">
            <a:avLst>
              <a:gd name="adj" fmla="val 4000"/>
            </a:avLst>
          </a:prstGeom>
          <a:solidFill>
            <a:srgbClr val="EEF6F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93" name="Fixed title"/>
          <p:cNvSpPr txBox="1"/>
          <p:nvPr/>
        </p:nvSpPr>
        <p:spPr>
          <a:xfrm>
            <a:off x="5029200" y="1600200"/>
            <a:ext cx="347472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B7F3B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Fixed before new results</a:t>
            </a:r>
          </a:p>
        </p:txBody>
      </p:sp>
      <p:sp>
        <p:nvSpPr>
          <p:cNvPr id="294" name="Arrow 294"/>
          <p:cNvSpPr/>
          <p:nvPr/>
        </p:nvSpPr>
        <p:spPr>
          <a:xfrm>
            <a:off x="4370832" y="2971800"/>
            <a:ext cx="402336" cy="365760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95" name="Found icon 1"/>
          <p:cNvSpPr/>
          <p:nvPr/>
        </p:nvSpPr>
        <p:spPr>
          <a:xfrm>
            <a:off x="658368" y="2121408"/>
            <a:ext cx="310896" cy="310896"/>
          </a:xfrm>
          <a:prstGeom prst="ellipse">
            <a:avLst/>
          </a:prstGeom>
          <a:solidFill>
            <a:srgbClr val="B4231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✕</a:t>
            </a:r>
          </a:p>
        </p:txBody>
      </p:sp>
      <p:sp>
        <p:nvSpPr>
          <p:cNvPr id="296" name="Found 1"/>
          <p:cNvSpPr txBox="1"/>
          <p:nvPr/>
        </p:nvSpPr>
        <p:spPr>
          <a:xfrm>
            <a:off x="1051560" y="2039112"/>
            <a:ext cx="3108960" cy="512064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≠ concentration</a:t>
            </a:r>
          </a:p>
        </p:txBody>
      </p:sp>
      <p:sp>
        <p:nvSpPr>
          <p:cNvPr id="297" name="Found icon 2"/>
          <p:cNvSpPr/>
          <p:nvPr/>
        </p:nvSpPr>
        <p:spPr>
          <a:xfrm>
            <a:off x="658368" y="2779776"/>
            <a:ext cx="310896" cy="310896"/>
          </a:xfrm>
          <a:prstGeom prst="ellipse">
            <a:avLst/>
          </a:prstGeom>
          <a:solidFill>
            <a:srgbClr val="B4231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✕</a:t>
            </a:r>
          </a:p>
        </p:txBody>
      </p:sp>
      <p:sp>
        <p:nvSpPr>
          <p:cNvPr id="298" name="Found 2"/>
          <p:cNvSpPr txBox="1"/>
          <p:nvPr/>
        </p:nvSpPr>
        <p:spPr>
          <a:xfrm>
            <a:off x="1051560" y="2697480"/>
            <a:ext cx="3108960" cy="512064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Volume filter: host reference ~40 % above DFT</a:t>
            </a:r>
          </a:p>
        </p:txBody>
      </p:sp>
      <p:sp>
        <p:nvSpPr>
          <p:cNvPr id="299" name="Found icon 3"/>
          <p:cNvSpPr/>
          <p:nvPr/>
        </p:nvSpPr>
        <p:spPr>
          <a:xfrm>
            <a:off x="658368" y="3438144"/>
            <a:ext cx="310896" cy="310896"/>
          </a:xfrm>
          <a:prstGeom prst="ellipse">
            <a:avLst/>
          </a:prstGeom>
          <a:solidFill>
            <a:srgbClr val="B4231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✕</a:t>
            </a:r>
          </a:p>
        </p:txBody>
      </p:sp>
      <p:sp>
        <p:nvSpPr>
          <p:cNvPr id="300" name="Found 3"/>
          <p:cNvSpPr txBox="1"/>
          <p:nvPr/>
        </p:nvSpPr>
        <p:spPr>
          <a:xfrm>
            <a:off x="1051560" y="3355848"/>
            <a:ext cx="3108960" cy="512064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Scatter within a precursor ≈ spread between precursors (some axes)</a:t>
            </a:r>
          </a:p>
        </p:txBody>
      </p:sp>
      <p:sp>
        <p:nvSpPr>
          <p:cNvPr id="301" name="Found icon 4"/>
          <p:cNvSpPr/>
          <p:nvPr/>
        </p:nvSpPr>
        <p:spPr>
          <a:xfrm>
            <a:off x="658368" y="4096512"/>
            <a:ext cx="310896" cy="310896"/>
          </a:xfrm>
          <a:prstGeom prst="ellipse">
            <a:avLst/>
          </a:prstGeom>
          <a:solidFill>
            <a:srgbClr val="B42318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✕</a:t>
            </a:r>
          </a:p>
        </p:txBody>
      </p:sp>
      <p:sp>
        <p:nvSpPr>
          <p:cNvPr id="302" name="Found 4"/>
          <p:cNvSpPr txBox="1"/>
          <p:nvPr/>
        </p:nvSpPr>
        <p:spPr>
          <a:xfrm>
            <a:off x="1051560" y="4014216"/>
            <a:ext cx="3108960" cy="512064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stated primary objective</a:t>
            </a:r>
          </a:p>
        </p:txBody>
      </p:sp>
      <p:sp>
        <p:nvSpPr>
          <p:cNvPr id="303" name="Fixed icon 1"/>
          <p:cNvSpPr/>
          <p:nvPr/>
        </p:nvSpPr>
        <p:spPr>
          <a:xfrm>
            <a:off x="5047488" y="2121408"/>
            <a:ext cx="310896" cy="310896"/>
          </a:xfrm>
          <a:prstGeom prst="ellipse">
            <a:avLst/>
          </a:prstGeom>
          <a:solidFill>
            <a:srgbClr val="1B7F3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✓</a:t>
            </a:r>
          </a:p>
        </p:txBody>
      </p:sp>
      <p:sp>
        <p:nvSpPr>
          <p:cNvPr id="304" name="Fixed 1"/>
          <p:cNvSpPr txBox="1"/>
          <p:nvPr/>
        </p:nvSpPr>
        <p:spPr>
          <a:xfrm>
            <a:off x="5440680" y="2039112"/>
            <a:ext cx="315468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readout: D</a:t>
            </a:r>
            <a:r>
              <a:rPr kumimoji="1" lang="en-US" altLang="ko-KR" sz="125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vs the host</a:t>
            </a:r>
          </a:p>
        </p:txBody>
      </p:sp>
      <p:sp>
        <p:nvSpPr>
          <p:cNvPr id="305" name="Fixed icon 2"/>
          <p:cNvSpPr/>
          <p:nvPr/>
        </p:nvSpPr>
        <p:spPr>
          <a:xfrm>
            <a:off x="5047488" y="2670048"/>
            <a:ext cx="310896" cy="310896"/>
          </a:xfrm>
          <a:prstGeom prst="ellipse">
            <a:avLst/>
          </a:prstGeom>
          <a:solidFill>
            <a:srgbClr val="1B7F3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✓</a:t>
            </a:r>
          </a:p>
        </p:txBody>
      </p:sp>
      <p:sp>
        <p:nvSpPr>
          <p:cNvPr id="306" name="Fixed 2"/>
          <p:cNvSpPr txBox="1"/>
          <p:nvPr/>
        </p:nvSpPr>
        <p:spPr>
          <a:xfrm>
            <a:off x="5440680" y="2587752"/>
            <a:ext cx="315468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designs (design = composition)</a:t>
            </a:r>
          </a:p>
        </p:txBody>
      </p:sp>
      <p:sp>
        <p:nvSpPr>
          <p:cNvPr id="307" name="Fixed icon 3"/>
          <p:cNvSpPr/>
          <p:nvPr/>
        </p:nvSpPr>
        <p:spPr>
          <a:xfrm>
            <a:off x="5047488" y="3218688"/>
            <a:ext cx="310896" cy="310896"/>
          </a:xfrm>
          <a:prstGeom prst="ellipse">
            <a:avLst/>
          </a:prstGeom>
          <a:solidFill>
            <a:srgbClr val="1B7F3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✓</a:t>
            </a:r>
          </a:p>
        </p:txBody>
      </p:sp>
      <p:sp>
        <p:nvSpPr>
          <p:cNvPr id="308" name="Fixed 3"/>
          <p:cNvSpPr txBox="1"/>
          <p:nvPr/>
        </p:nvSpPr>
        <p:spPr>
          <a:xfrm>
            <a:off x="5440680" y="3136392"/>
            <a:ext cx="315468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rules: parent sites, charge balance</a:t>
            </a:r>
          </a:p>
        </p:txBody>
      </p:sp>
      <p:sp>
        <p:nvSpPr>
          <p:cNvPr id="309" name="Fixed icon 4"/>
          <p:cNvSpPr/>
          <p:nvPr/>
        </p:nvSpPr>
        <p:spPr>
          <a:xfrm>
            <a:off x="5047488" y="3767328"/>
            <a:ext cx="310896" cy="310896"/>
          </a:xfrm>
          <a:prstGeom prst="ellipse">
            <a:avLst/>
          </a:prstGeom>
          <a:solidFill>
            <a:srgbClr val="1B7F3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✓</a:t>
            </a:r>
          </a:p>
        </p:txBody>
      </p:sp>
      <p:sp>
        <p:nvSpPr>
          <p:cNvPr id="310" name="Fixed 4"/>
          <p:cNvSpPr txBox="1"/>
          <p:nvPr/>
        </p:nvSpPr>
        <p:spPr>
          <a:xfrm>
            <a:off x="5440680" y="3685032"/>
            <a:ext cx="315468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Median-energy representative</a:t>
            </a:r>
          </a:p>
        </p:txBody>
      </p:sp>
      <p:sp>
        <p:nvSpPr>
          <p:cNvPr id="311" name="Fixed icon 5"/>
          <p:cNvSpPr/>
          <p:nvPr/>
        </p:nvSpPr>
        <p:spPr>
          <a:xfrm>
            <a:off x="5047488" y="4315968"/>
            <a:ext cx="310896" cy="310896"/>
          </a:xfrm>
          <a:prstGeom prst="ellipse">
            <a:avLst/>
          </a:prstGeom>
          <a:solidFill>
            <a:srgbClr val="B7791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…</a:t>
            </a:r>
          </a:p>
        </p:txBody>
      </p:sp>
      <p:sp>
        <p:nvSpPr>
          <p:cNvPr id="312" name="Fixed 5"/>
          <p:cNvSpPr txBox="1"/>
          <p:nvPr/>
        </p:nvSpPr>
        <p:spPr>
          <a:xfrm>
            <a:off x="5440680" y="4233672"/>
            <a:ext cx="315468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 δ — still open</a:t>
            </a:r>
          </a:p>
        </p:txBody>
      </p:sp>
      <p:sp>
        <p:nvSpPr>
          <p:cNvPr id="313" name="Takeaway"/>
          <p:cNvSpPr txBox="1"/>
          <p:nvPr/>
        </p:nvSpPr>
        <p:spPr>
          <a:xfrm>
            <a:off x="502920" y="5029200"/>
            <a:ext cx="8138160" cy="4114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5000"/>
              </a:lnSpc>
              <a:buNone/>
              <a:defRPr/>
            </a:pP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Approved ranking: none · </a:t>
            </a:r>
            <a:r>
              <a:rPr kumimoji="1" lang="en-US" altLang="ko-KR" sz="14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237 designs ≠ 237 runs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— scope set after the pilot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does the precursor anion change Li transport?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volume — only the precursor anion differs.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Analysis rule fixed before the runs (equivalence margin ±ln 1.5).</a:t>
            </a:r>
          </a:p>
        </p:txBody>
      </p:sp>
      <p:sp>
        <p:nvSpPr>
          <p:cNvPr id="314" name="Recipe A"/>
          <p:cNvSpPr/>
          <p:nvPr/>
        </p:nvSpPr>
        <p:spPr>
          <a:xfrm>
            <a:off x="914400" y="2377440"/>
            <a:ext cx="2743200" cy="96012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Al₂O₃-derived</a:t>
            </a:r>
          </a:p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+ 3 O + 4 V</a:t>
            </a:r>
            <a:r>
              <a:rPr kumimoji="1" lang="en-US" altLang="ko-KR" sz="13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</a:t>
            </a:r>
          </a:p>
        </p:txBody>
      </p:sp>
      <p:sp>
        <p:nvSpPr>
          <p:cNvPr id="315" name="Versus"/>
          <p:cNvSpPr/>
          <p:nvPr/>
        </p:nvSpPr>
        <p:spPr>
          <a:xfrm>
            <a:off x="4297680" y="2587752"/>
            <a:ext cx="548640" cy="548640"/>
          </a:xfrm>
          <a:prstGeom prst="ellipse">
            <a:avLst/>
          </a:prstGeom>
          <a:solidFill>
            <a:srgbClr val="9CA3A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vs</a:t>
            </a:r>
          </a:p>
        </p:txBody>
      </p:sp>
      <p:sp>
        <p:nvSpPr>
          <p:cNvPr id="316" name="Recipe B"/>
          <p:cNvSpPr/>
          <p:nvPr/>
        </p:nvSpPr>
        <p:spPr>
          <a:xfrm>
            <a:off x="5486400" y="2377440"/>
            <a:ext cx="2743200" cy="96012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37415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Al₂S₃-derived</a:t>
            </a:r>
          </a:p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 Al + 4 V</a:t>
            </a:r>
            <a:r>
              <a:rPr kumimoji="1" lang="en-US" altLang="ko-KR" sz="13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 (S kept)</a:t>
            </a:r>
          </a:p>
        </p:txBody>
      </p:sp>
      <p:sp>
        <p:nvSpPr>
          <p:cNvPr id="317" name="Ratio"/>
          <p:cNvSpPr txBox="1"/>
          <p:nvPr/>
        </p:nvSpPr>
        <p:spPr>
          <a:xfrm>
            <a:off x="502920" y="3520440"/>
            <a:ext cx="8138160" cy="5029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4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D(Al₂O₃) / D(Al₂S₃)</a:t>
            </a:r>
          </a:p>
        </p:txBody>
      </p:sp>
      <p:sp>
        <p:nvSpPr>
          <p:cNvPr id="318" name="Caption"/>
          <p:cNvSpPr txBox="1"/>
          <p:nvPr/>
        </p:nvSpPr>
        <p:spPr>
          <a:xfrm>
            <a:off x="502920" y="4041648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2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reported: a ratio of Li tracer diffusivities — not an absolute conductivity &gt;</a:t>
            </a:r>
          </a:p>
        </p:txBody>
      </p:sp>
      <p:sp>
        <p:nvSpPr>
          <p:cNvPr id="319" name="Setting 1"/>
          <p:cNvSpPr/>
          <p:nvPr/>
        </p:nvSpPr>
        <p:spPr>
          <a:xfrm>
            <a:off x="502920" y="4645152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UMA (MLIP)</a:t>
            </a:r>
          </a:p>
        </p:txBody>
      </p:sp>
      <p:sp>
        <p:nvSpPr>
          <p:cNvPr id="320" name="Setting 2"/>
          <p:cNvSpPr/>
          <p:nvPr/>
        </p:nvSpPr>
        <p:spPr>
          <a:xfrm>
            <a:off x="2148840" y="4645152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NVT · 1000 K</a:t>
            </a:r>
          </a:p>
        </p:txBody>
      </p:sp>
      <p:sp>
        <p:nvSpPr>
          <p:cNvPr id="321" name="Setting 3"/>
          <p:cNvSpPr/>
          <p:nvPr/>
        </p:nvSpPr>
        <p:spPr>
          <a:xfrm>
            <a:off x="3794760" y="4645152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400 ps per run</a:t>
            </a:r>
          </a:p>
        </p:txBody>
      </p:sp>
      <p:sp>
        <p:nvSpPr>
          <p:cNvPr id="322" name="Setting 4"/>
          <p:cNvSpPr/>
          <p:nvPr/>
        </p:nvSpPr>
        <p:spPr>
          <a:xfrm>
            <a:off x="5440680" y="4645152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204 atoms</a:t>
            </a:r>
          </a:p>
        </p:txBody>
      </p:sp>
      <p:sp>
        <p:nvSpPr>
          <p:cNvPr id="323" name="Setting 5"/>
          <p:cNvSpPr/>
          <p:nvPr/>
        </p:nvSpPr>
        <p:spPr>
          <a:xfrm>
            <a:off x="7086600" y="4645152"/>
            <a:ext cx="1554480" cy="50292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40 runs (10×2×2)</a:t>
            </a:r>
          </a:p>
        </p:txBody>
      </p:sp>
      <p:sp>
        <p:nvSpPr>
          <p:cNvPr id="324" name="References"/>
          <p:cNvSpPr txBox="1"/>
          <p:nvPr/>
        </p:nvSpPr>
        <p:spPr>
          <a:xfrm>
            <a:off x="502920" y="5897880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Kahle, Energy Environ. Sci. 13, 928 (2020) · He, npj Comput. Mater. 4, 18 (2018) · Wood et al. (UMA), arXiv:2506.23971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temperature choice, status and limits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 (UMA, this cell): MSD never linear → no diffusivity reported.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1000 K chosen by a predefined probe (800 K failed the checks).</a:t>
            </a:r>
          </a:p>
        </p:txBody>
      </p:sp>
      <p:sp>
        <p:nvSpPr>
          <p:cNvPr id="325" name="Status panel"/>
          <p:cNvSpPr/>
          <p:nvPr/>
        </p:nvSpPr>
        <p:spPr>
          <a:xfrm>
            <a:off x="502920" y="2331720"/>
            <a:ext cx="4206240" cy="242316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26" name="Status title"/>
          <p:cNvSpPr txBox="1"/>
          <p:nvPr/>
        </p:nvSpPr>
        <p:spPr>
          <a:xfrm>
            <a:off x="640080" y="2404872"/>
            <a:ext cx="393192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2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Status (Oct 12)</a:t>
            </a:r>
          </a:p>
        </p:txBody>
      </p:sp>
      <p:sp>
        <p:nvSpPr>
          <p:cNvPr id="327" name="Big number"/>
          <p:cNvSpPr txBox="1"/>
          <p:nvPr/>
        </p:nvSpPr>
        <p:spPr>
          <a:xfrm>
            <a:off x="640080" y="2715768"/>
            <a:ext cx="3931920" cy="6400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36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/ 40 </a:t>
            </a:r>
            <a:r>
              <a:rPr kumimoji="1" lang="en-US" altLang="ko-KR" sz="3600" b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runs</a:t>
            </a:r>
          </a:p>
        </p:txBody>
      </p:sp>
      <p:sp>
        <p:nvSpPr>
          <p:cNvPr id="328" name="Bar1 label"/>
          <p:cNvSpPr txBox="1"/>
          <p:nvPr/>
        </p:nvSpPr>
        <p:spPr>
          <a:xfrm>
            <a:off x="640080" y="3520440"/>
            <a:ext cx="9144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Runs</a:t>
            </a:r>
          </a:p>
        </p:txBody>
      </p:sp>
      <p:sp>
        <p:nvSpPr>
          <p:cNvPr id="329" name="Bar1 bg"/>
          <p:cNvSpPr/>
          <p:nvPr/>
        </p:nvSpPr>
        <p:spPr>
          <a:xfrm>
            <a:off x="1554480" y="3547872"/>
            <a:ext cx="210312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30" name="Bar1 fg"/>
          <p:cNvSpPr/>
          <p:nvPr/>
        </p:nvSpPr>
        <p:spPr>
          <a:xfrm>
            <a:off x="1554480" y="3547872"/>
            <a:ext cx="630936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31" name="Bar1 value"/>
          <p:cNvSpPr txBox="1"/>
          <p:nvPr/>
        </p:nvSpPr>
        <p:spPr>
          <a:xfrm>
            <a:off x="3703320" y="350215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/ 40</a:t>
            </a:r>
          </a:p>
        </p:txBody>
      </p:sp>
      <p:sp>
        <p:nvSpPr>
          <p:cNvPr id="332" name="Bar2 label"/>
          <p:cNvSpPr txBox="1"/>
          <p:nvPr/>
        </p:nvSpPr>
        <p:spPr>
          <a:xfrm>
            <a:off x="640080" y="3840480"/>
            <a:ext cx="9144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GPU-hours</a:t>
            </a:r>
          </a:p>
        </p:txBody>
      </p:sp>
      <p:sp>
        <p:nvSpPr>
          <p:cNvPr id="333" name="Bar2 bg"/>
          <p:cNvSpPr/>
          <p:nvPr/>
        </p:nvSpPr>
        <p:spPr>
          <a:xfrm>
            <a:off x="1554480" y="3867912"/>
            <a:ext cx="2103120" cy="18288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34" name="Bar2 fg"/>
          <p:cNvSpPr/>
          <p:nvPr/>
        </p:nvSpPr>
        <p:spPr>
          <a:xfrm>
            <a:off x="1554480" y="3867912"/>
            <a:ext cx="460827" cy="18288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335" name="Bar2 value"/>
          <p:cNvSpPr txBox="1"/>
          <p:nvPr/>
        </p:nvSpPr>
        <p:spPr>
          <a:xfrm>
            <a:off x="3703320" y="3822192"/>
            <a:ext cx="96012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101 / 461</a:t>
            </a:r>
          </a:p>
        </p:txBody>
      </p:sp>
      <p:sp>
        <p:nvSpPr>
          <p:cNvPr id="336" name="Status text"/>
          <p:cNvSpPr txBox="1"/>
          <p:nvPr/>
        </p:nvSpPr>
        <p:spPr>
          <a:xfrm>
            <a:off x="640080" y="4206240"/>
            <a:ext cx="393192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5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≈ Oct 21 · the ratio is analysed once, after all 40 runs</a:t>
            </a:r>
          </a:p>
        </p:txBody>
      </p:sp>
      <p:sp>
        <p:nvSpPr>
          <p:cNvPr id="337" name="Takeaway"/>
          <p:cNvSpPr txBox="1"/>
          <p:nvPr/>
        </p:nvSpPr>
        <p:spPr>
          <a:xfrm>
            <a:off x="502920" y="4892040"/>
            <a:ext cx="4206240" cy="5486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5000"/>
              </a:lnSpc>
              <a:buNone/>
              <a:defRPr/>
            </a:pP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 ≈ 1.6 nm (&lt; 2 nm), 1000 K → </a:t>
            </a:r>
            <a:r>
              <a:rPr kumimoji="1" lang="en-US" altLang="ko-KR" sz="13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relative, condition-specific</a:t>
            </a:r>
          </a:p>
        </p:txBody>
      </p:sp>
      <p:pic>
        <p:nvPicPr>
          <p:cNvPr id="338" name="Jung 2026 Fig 5b" descr="Li diffusivity vs 1000/T, Jung 2026 Fig. 5b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240280"/>
            <a:ext cx="3291840" cy="2923522"/>
          </a:xfrm>
          <a:prstGeom prst="rect">
            <a:avLst/>
          </a:prstGeom>
        </p:spPr>
      </p:pic>
      <p:sp>
        <p:nvSpPr>
          <p:cNvPr id="339" name="Caption"/>
          <p:cNvSpPr txBox="1"/>
          <p:nvPr/>
        </p:nvSpPr>
        <p:spPr>
          <a:xfrm>
            <a:off x="4937760" y="5209522"/>
            <a:ext cx="365760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the order at 1300 K flips by 700 K &gt;</a:t>
            </a:r>
          </a:p>
        </p:txBody>
      </p:sp>
      <p:sp>
        <p:nvSpPr>
          <p:cNvPr id="340" name="Credit right"/>
          <p:cNvSpPr txBox="1"/>
          <p:nvPr/>
        </p:nvSpPr>
        <p:spPr>
          <a:xfrm>
            <a:off x="4937760" y="5483842"/>
            <a:ext cx="36576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341" name="References"/>
          <p:cNvSpPr txBox="1"/>
          <p:nvPr/>
        </p:nvSpPr>
        <p:spPr>
          <a:xfrm>
            <a:off x="502920" y="5870448"/>
            <a:ext cx="81381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 · Jung et al., eTransportation 28, 100570 (2026)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Next: from the pilot verdict to a shortlist</a:t>
            </a:r>
          </a:p>
        </p:txBody>
      </p:sp>
      <p:sp>
        <p:nvSpPr>
          <p:cNvPr id="342" name="Stage 1"/>
          <p:cNvSpPr/>
          <p:nvPr/>
        </p:nvSpPr>
        <p:spPr>
          <a:xfrm>
            <a:off x="512064" y="1572768"/>
            <a:ext cx="2706624" cy="566928"/>
          </a:xfrm>
          <a:prstGeom prst="homePlate">
            <a:avLst/>
          </a:prstGeom>
          <a:solidFill>
            <a:srgbClr val="0070C0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Late Oct</a:t>
            </a:r>
          </a:p>
        </p:txBody>
      </p:sp>
      <p:sp>
        <p:nvSpPr>
          <p:cNvPr id="343" name="Stage 1 text"/>
          <p:cNvSpPr txBox="1"/>
          <p:nvPr/>
        </p:nvSpPr>
        <p:spPr>
          <a:xfrm>
            <a:off x="621792" y="2286000"/>
            <a:ext cx="2432304" cy="2331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Pilot verdict: 40 runs, analysed once</a:t>
            </a:r>
          </a:p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step for each outcome written in advance</a:t>
            </a:r>
          </a:p>
        </p:txBody>
      </p:sp>
      <p:sp>
        <p:nvSpPr>
          <p:cNvPr id="344" name="Stage 2"/>
          <p:cNvSpPr/>
          <p:nvPr/>
        </p:nvSpPr>
        <p:spPr>
          <a:xfrm>
            <a:off x="3218688" y="1572768"/>
            <a:ext cx="2706624" cy="566928"/>
          </a:xfrm>
          <a:prstGeom prst="chevron">
            <a:avLst/>
          </a:prstGeom>
          <a:solidFill>
            <a:srgbClr val="1F497D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Nov–Dec</a:t>
            </a:r>
          </a:p>
        </p:txBody>
      </p:sp>
      <p:sp>
        <p:nvSpPr>
          <p:cNvPr id="345" name="Stage 2 text"/>
          <p:cNvSpPr txBox="1"/>
          <p:nvPr/>
        </p:nvSpPr>
        <p:spPr>
          <a:xfrm>
            <a:off x="3328416" y="2286000"/>
            <a:ext cx="2432304" cy="2331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Scope over the 237 roster + ranking margin δ, before results</a:t>
            </a:r>
          </a:p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 Stage-1 descriptors predict transport?</a:t>
            </a:r>
          </a:p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Windows &amp; interface redo (+As₂S₃) · C</a:t>
            </a:r>
            <a:r>
              <a:rPr kumimoji="1" lang="en-US" altLang="ko-KR" sz="125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</a:p>
        </p:txBody>
      </p:sp>
      <p:sp>
        <p:nvSpPr>
          <p:cNvPr id="346" name="Stage 3"/>
          <p:cNvSpPr/>
          <p:nvPr/>
        </p:nvSpPr>
        <p:spPr>
          <a:xfrm>
            <a:off x="5925312" y="1572768"/>
            <a:ext cx="2706624" cy="566928"/>
          </a:xfrm>
          <a:prstGeom prst="chevron">
            <a:avLst/>
          </a:prstGeom>
          <a:solidFill>
            <a:srgbClr val="A50021"/>
          </a:solidFill>
          <a:ln>
            <a:noFill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Then</a:t>
            </a:r>
          </a:p>
        </p:txBody>
      </p:sp>
      <p:sp>
        <p:nvSpPr>
          <p:cNvPr id="347" name="Stage 3 text"/>
          <p:cNvSpPr txBox="1"/>
          <p:nvPr/>
        </p:nvSpPr>
        <p:spPr>
          <a:xfrm>
            <a:off x="6035040" y="2286000"/>
            <a:ext cx="2432304" cy="2331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 on D</a:t>
            </a:r>
            <a:r>
              <a:rPr kumimoji="1" lang="en-US" altLang="ko-KR" sz="125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→ shortlist</a:t>
            </a:r>
          </a:p>
          <a:p>
            <a:pPr marL="182880" indent="-182880" latinLnBrk="0">
              <a:lnSpc>
                <a:spcPct val="110000"/>
              </a:lnSpc>
              <a:spcAft>
                <a:spcPts val="600"/>
              </a:spcAft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2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validation → experiments</a:t>
            </a:r>
          </a:p>
        </p:txBody>
      </p:sp>
      <p:sp>
        <p:nvSpPr>
          <p:cNvPr id="348" name="Upgrades"/>
          <p:cNvSpPr txBox="1"/>
          <p:nvPr/>
        </p:nvSpPr>
        <p:spPr>
          <a:xfrm>
            <a:off x="502920" y="4663440"/>
            <a:ext cx="813816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 upgrades: ≥ 2 nm cells · ≥ 0.3 ns · fine-tuned MLIP · ensemble uncertainty · defect thermodynamics</a:t>
            </a:r>
          </a:p>
        </p:txBody>
      </p:sp>
      <p:sp>
        <p:nvSpPr>
          <p:cNvPr id="349" name="Takeaway"/>
          <p:cNvSpPr txBox="1"/>
          <p:nvPr/>
        </p:nvSpPr>
        <p:spPr>
          <a:xfrm>
            <a:off x="502920" y="5120640"/>
            <a:ext cx="8138160" cy="4114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5000"/>
              </a:lnSpc>
              <a:buNone/>
              <a:defRPr/>
            </a:pPr>
            <a:r>
              <a:rPr kumimoji="1" lang="en-US" altLang="ko-KR" sz="14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Goal: a screen that </a:t>
            </a:r>
            <a:r>
              <a:rPr kumimoji="1" lang="en-US" altLang="ko-KR" sz="145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selects</a:t>
            </a:r>
            <a:r>
              <a:rPr kumimoji="1" lang="en-US" altLang="ko-KR" sz="14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precursor — with the rule stated in advance</a:t>
            </a:r>
          </a:p>
        </p:txBody>
      </p:sp>
      <p:sp>
        <p:nvSpPr>
          <p:cNvPr id="350" name="References"/>
          <p:cNvSpPr txBox="1"/>
          <p:nvPr/>
        </p:nvSpPr>
        <p:spPr>
          <a:xfrm>
            <a:off x="502920" y="5870448"/>
            <a:ext cx="81381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Phuthi, Chem. Mater. (2026) · Muy, Chem. Mater. 37, 2395 (2025) · Alghamdi, J. Phys. Energy 8, 025013 (2026) · Grasselli,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351" name="Summary icon 1"/>
          <p:cNvSpPr/>
          <p:nvPr/>
        </p:nvSpPr>
        <p:spPr>
          <a:xfrm>
            <a:off x="685800" y="1536192"/>
            <a:ext cx="512064" cy="512064"/>
          </a:xfrm>
          <a:prstGeom prst="ellipse">
            <a:avLst/>
          </a:prstGeom>
          <a:solidFill>
            <a:srgbClr val="1B7F3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✓</a:t>
            </a:r>
          </a:p>
        </p:txBody>
      </p:sp>
      <p:sp>
        <p:nvSpPr>
          <p:cNvPr id="352" name="Summary row 1"/>
          <p:cNvSpPr/>
          <p:nvPr/>
        </p:nvSpPr>
        <p:spPr>
          <a:xfrm>
            <a:off x="1417320" y="1417320"/>
            <a:ext cx="7223760" cy="74980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201168" tIns="45720" rIns="182880" bIns="45720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91 precursors screened — kept as exploratory data</a:t>
            </a:r>
          </a:p>
        </p:txBody>
      </p:sp>
      <p:sp>
        <p:nvSpPr>
          <p:cNvPr id="353" name="Summary icon 2"/>
          <p:cNvSpPr/>
          <p:nvPr/>
        </p:nvSpPr>
        <p:spPr>
          <a:xfrm>
            <a:off x="685800" y="2542032"/>
            <a:ext cx="512064" cy="512064"/>
          </a:xfrm>
          <a:prstGeom prst="ellipse">
            <a:avLst/>
          </a:prstGeom>
          <a:solidFill>
            <a:srgbClr val="1B7F3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✓</a:t>
            </a:r>
          </a:p>
        </p:txBody>
      </p:sp>
      <p:sp>
        <p:nvSpPr>
          <p:cNvPr id="354" name="Summary row 2"/>
          <p:cNvSpPr/>
          <p:nvPr/>
        </p:nvSpPr>
        <p:spPr>
          <a:xfrm>
            <a:off x="1417320" y="2423160"/>
            <a:ext cx="7223760" cy="74980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201168" tIns="45720" rIns="182880" bIns="45720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Audit: one readout and build rules, fixed before results</a:t>
            </a:r>
          </a:p>
        </p:txBody>
      </p:sp>
      <p:sp>
        <p:nvSpPr>
          <p:cNvPr id="355" name="Summary icon 3"/>
          <p:cNvSpPr/>
          <p:nvPr/>
        </p:nvSpPr>
        <p:spPr>
          <a:xfrm>
            <a:off x="685800" y="3547872"/>
            <a:ext cx="512064" cy="512064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FFFF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▶</a:t>
            </a:r>
          </a:p>
        </p:txBody>
      </p:sp>
      <p:sp>
        <p:nvSpPr>
          <p:cNvPr id="356" name="Summary row 3"/>
          <p:cNvSpPr/>
          <p:nvPr/>
        </p:nvSpPr>
        <p:spPr>
          <a:xfrm>
            <a:off x="1417320" y="3429000"/>
            <a:ext cx="7223760" cy="749808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>
            <a:noFill/>
          </a:ln>
        </p:spPr>
        <p:txBody>
          <a:bodyPr wrap="square" lIns="201168" tIns="45720" rIns="182880" bIns="45720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running: 12 of 40 MD runs, verdict ≈ late Oct</a:t>
            </a:r>
          </a:p>
        </p:txBody>
      </p:sp>
      <p:sp>
        <p:nvSpPr>
          <p:cNvPr id="357" name="Takeaway"/>
          <p:cNvSpPr txBox="1"/>
          <p:nvPr/>
        </p:nvSpPr>
        <p:spPr>
          <a:xfrm>
            <a:off x="502920" y="4709160"/>
            <a:ext cx="813816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5000"/>
              </a:lnSpc>
              <a:buNone/>
              <a:defRPr/>
            </a:pPr>
            <a:r>
              <a:rPr kumimoji="1" lang="en-US" altLang="ko-KR" sz="16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 — </a:t>
            </a:r>
            <a:r>
              <a:rPr kumimoji="1" lang="en-US" altLang="ko-KR" sz="1600" b="1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screen proposes, predefined tests decide.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358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</p:txBody>
      </p:sp>
      <p:sp>
        <p:nvSpPr>
          <p:cNvPr id="359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