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51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52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3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54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screening pipeline (June–August)</a:t>
            </a:r>
          </a:p>
        </p:txBody>
      </p:sp>
      <p:sp>
        <p:nvSpPr>
          <p:cNvPr id="238" name="Dashed frame"/>
          <p:cNvSpPr/>
          <p:nvPr/>
        </p:nvSpPr>
        <p:spPr>
          <a:xfrm>
            <a:off x="411480" y="1783080"/>
            <a:ext cx="8321040" cy="342900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9" name="Frame title"/>
          <p:cNvSpPr txBox="1"/>
          <p:nvPr/>
        </p:nvSpPr>
        <p:spPr>
          <a:xfrm>
            <a:off x="822960" y="1609344"/>
            <a:ext cx="1197864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Pipeline</a:t>
            </a:r>
          </a:p>
        </p:txBody>
      </p:sp>
      <p:sp>
        <p:nvSpPr>
          <p:cNvPr id="240" name="Item 1"/>
          <p:cNvSpPr txBox="1"/>
          <p:nvPr/>
        </p:nvSpPr>
        <p:spPr>
          <a:xfrm>
            <a:off x="777240" y="1965960"/>
            <a:ext cx="5338267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Site enumeration</a:t>
            </a:r>
          </a:p>
        </p:txBody>
      </p:sp>
      <p:sp>
        <p:nvSpPr>
          <p:cNvPr id="241" name="Note 1"/>
          <p:cNvSpPr txBox="1"/>
          <p:nvPr/>
        </p:nvSpPr>
        <p:spPr>
          <a:xfrm>
            <a:off x="6161227" y="1965960"/>
            <a:ext cx="2434133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2" name="Item 2"/>
          <p:cNvSpPr txBox="1"/>
          <p:nvPr/>
        </p:nvSpPr>
        <p:spPr>
          <a:xfrm>
            <a:off x="777240" y="2596896"/>
            <a:ext cx="5338267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UMA relaxation and volume filter</a:t>
            </a:r>
          </a:p>
        </p:txBody>
      </p:sp>
      <p:sp>
        <p:nvSpPr>
          <p:cNvPr id="243" name="Note 2"/>
          <p:cNvSpPr txBox="1"/>
          <p:nvPr/>
        </p:nvSpPr>
        <p:spPr>
          <a:xfrm>
            <a:off x="6161227" y="2596896"/>
            <a:ext cx="2434133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44" name="Item 3"/>
          <p:cNvSpPr txBox="1"/>
          <p:nvPr/>
        </p:nvSpPr>
        <p:spPr>
          <a:xfrm>
            <a:off x="777240" y="3227832"/>
            <a:ext cx="5338267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Short anneal (500 K, 50 ps) and re-relaxation</a:t>
            </a:r>
          </a:p>
        </p:txBody>
      </p:sp>
      <p:sp>
        <p:nvSpPr>
          <p:cNvPr id="245" name="Note 3"/>
          <p:cNvSpPr txBox="1"/>
          <p:nvPr/>
        </p:nvSpPr>
        <p:spPr>
          <a:xfrm>
            <a:off x="6161227" y="3227832"/>
            <a:ext cx="2434133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 selected structures</a:t>
            </a:r>
          </a:p>
        </p:txBody>
      </p:sp>
      <p:sp>
        <p:nvSpPr>
          <p:cNvPr id="246" name="Item 4"/>
          <p:cNvSpPr txBox="1"/>
          <p:nvPr/>
        </p:nvSpPr>
        <p:spPr>
          <a:xfrm>
            <a:off x="777240" y="3858768"/>
            <a:ext cx="5338267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Descriptors (Li-site landscape, elastic moduli, stability window, and interface reactivity)</a:t>
            </a:r>
          </a:p>
        </p:txBody>
      </p:sp>
      <p:sp>
        <p:nvSpPr>
          <p:cNvPr id="247" name="Note 4"/>
          <p:cNvSpPr txBox="1"/>
          <p:nvPr/>
        </p:nvSpPr>
        <p:spPr>
          <a:xfrm>
            <a:off x="6161227" y="3858768"/>
            <a:ext cx="2434133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8" name="Item 5"/>
          <p:cNvSpPr txBox="1"/>
          <p:nvPr/>
        </p:nvSpPr>
        <p:spPr>
          <a:xfrm>
            <a:off x="777240" y="4489704"/>
            <a:ext cx="5338267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Combined score and ranking</a:t>
            </a:r>
          </a:p>
        </p:txBody>
      </p:sp>
      <p:sp>
        <p:nvSpPr>
          <p:cNvPr id="249" name="Note 5"/>
          <p:cNvSpPr txBox="1"/>
          <p:nvPr/>
        </p:nvSpPr>
        <p:spPr>
          <a:xfrm>
            <a:off x="6161227" y="4489704"/>
            <a:ext cx="2434133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89 precursors</a:t>
            </a:r>
          </a:p>
        </p:txBody>
      </p:sp>
      <p:sp>
        <p:nvSpPr>
          <p:cNvPr id="250" name="Caption"/>
          <p:cNvSpPr txBox="1"/>
          <p:nvPr/>
        </p:nvSpPr>
        <p:spPr>
          <a:xfrm>
            <a:off x="502920" y="539496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pipeline, run from June to August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5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8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9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60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1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2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3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4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65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6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7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8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0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1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2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3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4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75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76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7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8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9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0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81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2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83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4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85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86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7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8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9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90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1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92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3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4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