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32" r:id="rId15"/>
    <p:sldId id="1337" r:id="rId20"/>
    <p:sldId id="1343" r:id="rId33"/>
    <p:sldId id="1344" r:id="rId34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3" Type="http://schemas.openxmlformats.org/officeDocument/2006/relationships/image" Target="../media/fig_p06_candidates_by_family.png"/><Relationship Id="rId4" Type="http://schemas.openxmlformats.org/officeDocument/2006/relationships/image" Target="../media/lit_jung2026_sio2_fig3d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coverage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13,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 solid electrolytes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are coupled.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Because these failure modes are coupled, improving one of them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degrade another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loss is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not 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457200" y="2057400"/>
          <a:ext cx="8229600" cy="283464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 (via Anderson)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45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elements already in the formula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— free coating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4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4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 (not a gate)</a:t>
                      </a: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br>
                        <a:rPr lang="en-US" sz="14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endParaRPr sz="14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9144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this study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fills a cation and an anion site.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4206240" y="850392"/>
            <a:ext cx="4480560" cy="38404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 27, 4040 (2015) · Adv. Energy Mater. 14, 2304025 (2024)</a:t>
            </a:r>
          </a:p>
          <a:p>
            <a:pPr marL="0" indent="0" latinLnBrk="0" algn="r">
              <a:lnSpc>
                <a:spcPct val="100000"/>
              </a:lnSpc>
              <a:buNone/>
              <a:defRPr/>
            </a:pPr>
            <a:r>
              <a:rPr kumimoji="1" lang="en-US" altLang="ko-KR" sz="95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 12, 7272 (2024) · Joule 3, 1252 (2019)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Cations +1 to +6 paired with anions O²⁻ to I⁻; only existing compounds.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All 91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were relaxed.</a:t>
            </a:r>
          </a:p>
        </p:txBody>
      </p:sp>
      <p:pic>
        <p:nvPicPr>
          <p:cNvPr id="238" name="Precursors per anion family" descr="Precursors per anion fami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31720"/>
            <a:ext cx="3337560" cy="2651760"/>
          </a:xfrm>
          <a:prstGeom prst="rect">
            <a:avLst/>
          </a:prstGeom>
        </p:spPr>
      </p:pic>
      <p:pic>
        <p:nvPicPr>
          <p:cNvPr id="239" name="Jung 2026 Fig. 3d" descr="Jung 2026 Fig. 3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3063240"/>
            <a:ext cx="4663440" cy="1215122"/>
          </a:xfrm>
          <a:prstGeom prst="rect">
            <a:avLst/>
          </a:prstGeom>
        </p:spPr>
      </p:pic>
      <p:sp>
        <p:nvSpPr>
          <p:cNvPr id="240" name="Caption"/>
          <p:cNvSpPr txBox="1"/>
          <p:nvPr/>
        </p:nvSpPr>
        <p:spPr>
          <a:xfrm>
            <a:off x="502920" y="5010912"/>
            <a:ext cx="33375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per anion family &gt;</a:t>
            </a:r>
          </a:p>
        </p:txBody>
      </p:sp>
      <p:sp>
        <p:nvSpPr>
          <p:cNvPr id="241" name="Literature tag"/>
          <p:cNvSpPr txBox="1"/>
          <p:nvPr/>
        </p:nvSpPr>
        <p:spPr>
          <a:xfrm>
            <a:off x="4023360" y="2770632"/>
            <a:ext cx="46634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 example: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SiO₂ co-doping</a:t>
            </a:r>
          </a:p>
        </p:txBody>
      </p:sp>
      <p:sp>
        <p:nvSpPr>
          <p:cNvPr id="242" name="Credit"/>
          <p:cNvSpPr txBox="1"/>
          <p:nvPr/>
        </p:nvSpPr>
        <p:spPr>
          <a:xfrm>
            <a:off x="4023360" y="4305794"/>
            <a:ext cx="466344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Adv. Funct. Mater. (2026), Fig. 3d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46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47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48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49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0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simulations so far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16916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0025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2095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16916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0025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2095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16916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0025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2095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16916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0025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2095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37490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0599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2669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37490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 (SEI component)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0599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2669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V</a:t>
            </a:r>
            <a:r>
              <a:rPr kumimoji="1" lang="en-US" altLang="ko-KR" sz="10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</a:t>
            </a: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migration · cell size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37490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0599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2669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→ DEM contacts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37490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0599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2669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Computational screening of dopant precursors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unit of screening is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(91 candidates).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24028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066544"/>
            <a:ext cx="1856232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Project stages</a:t>
            </a:r>
          </a:p>
        </p:txBody>
      </p:sp>
      <p:sp>
        <p:nvSpPr>
          <p:cNvPr id="227" name="Item 1"/>
          <p:cNvSpPr txBox="1"/>
          <p:nvPr/>
        </p:nvSpPr>
        <p:spPr>
          <a:xfrm>
            <a:off x="886968" y="24231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Stage 1 exploration screen (Jun–Aug)</a:t>
            </a:r>
          </a:p>
        </p:txBody>
      </p:sp>
      <p:sp>
        <p:nvSpPr>
          <p:cNvPr id="228" name="Note 1"/>
          <p:cNvSpPr txBox="1"/>
          <p:nvPr/>
        </p:nvSpPr>
        <p:spPr>
          <a:xfrm>
            <a:off x="5068519" y="24231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(91 precursors, 3,675 structures)</a:t>
            </a:r>
          </a:p>
        </p:txBody>
      </p:sp>
      <p:sp>
        <p:nvSpPr>
          <p:cNvPr id="229" name="Item 2"/>
          <p:cNvSpPr txBox="1"/>
          <p:nvPr/>
        </p:nvSpPr>
        <p:spPr>
          <a:xfrm>
            <a:off x="886968" y="28803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Audit of Stage 1 (Sep)</a:t>
            </a:r>
          </a:p>
        </p:txBody>
      </p:sp>
      <p:sp>
        <p:nvSpPr>
          <p:cNvPr id="230" name="Note 2"/>
          <p:cNvSpPr txBox="1"/>
          <p:nvPr/>
        </p:nvSpPr>
        <p:spPr>
          <a:xfrm>
            <a:off x="5068519" y="28803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(rules fixed before new results)</a:t>
            </a:r>
          </a:p>
        </p:txBody>
      </p:sp>
      <p:sp>
        <p:nvSpPr>
          <p:cNvPr id="231" name="Item 3"/>
          <p:cNvSpPr txBox="1"/>
          <p:nvPr/>
        </p:nvSpPr>
        <p:spPr>
          <a:xfrm>
            <a:off x="886968" y="33375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Stage 2 pilot: MLIP-MD (Oct)</a:t>
            </a:r>
          </a:p>
        </p:txBody>
      </p:sp>
      <p:sp>
        <p:nvSpPr>
          <p:cNvPr id="232" name="Note 3"/>
          <p:cNvSpPr txBox="1"/>
          <p:nvPr/>
        </p:nvSpPr>
        <p:spPr>
          <a:xfrm>
            <a:off x="5068519" y="33375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(12 of 40 runs done)</a:t>
            </a:r>
          </a:p>
        </p:txBody>
      </p:sp>
      <p:sp>
        <p:nvSpPr>
          <p:cNvPr id="233" name="Item 4"/>
          <p:cNvSpPr txBox="1"/>
          <p:nvPr/>
        </p:nvSpPr>
        <p:spPr>
          <a:xfrm>
            <a:off x="886968" y="3794760"/>
            <a:ext cx="4135831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Shortlist → DFT → experiments</a:t>
            </a:r>
          </a:p>
        </p:txBody>
      </p:sp>
      <p:sp>
        <p:nvSpPr>
          <p:cNvPr id="234" name="Note 4"/>
          <p:cNvSpPr txBox="1"/>
          <p:nvPr/>
        </p:nvSpPr>
        <p:spPr>
          <a:xfrm>
            <a:off x="5068519" y="3794760"/>
            <a:ext cx="3417113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5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(after the pilot verdict)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44398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19379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audited.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in progress.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258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calculation coverage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charge-balanced placement was relaxed with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UMA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693 selected structures were then annealed (500 K, 50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Descriptors: Li-site landscape, EOS/elastic (DFT),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window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interface.</a:t>
            </a:r>
          </a:p>
        </p:txBody>
      </p:sp>
      <p:pic>
        <p:nvPicPr>
          <p:cNvPr id="243" name="Precursors held by each Stage-1 table" descr="Precursors held by each Stage-1 ta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395728"/>
            <a:ext cx="7315200" cy="2788920"/>
          </a:xfrm>
          <a:prstGeom prst="rect">
            <a:avLst/>
          </a:prstGeom>
        </p:spPr>
      </p:pic>
      <p:sp>
        <p:nvSpPr>
          <p:cNvPr id="244" name="Caption"/>
          <p:cNvSpPr txBox="1"/>
          <p:nvPr/>
        </p:nvSpPr>
        <p:spPr>
          <a:xfrm>
            <a:off x="502920" y="521208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precursors held by each Stage-1 table &gt;</a:t>
            </a:r>
          </a:p>
        </p:txBody>
      </p:sp>
      <p:sp>
        <p:nvSpPr>
          <p:cNvPr id="245" name="Conclusion"/>
          <p:cNvSpPr txBox="1"/>
          <p:nvPr/>
        </p:nvSpPr>
        <p:spPr>
          <a:xfrm>
            <a:off x="365760" y="553212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and AlI₃ came from an August re-run; </a:t>
            </a:r>
            <a:r>
              <a:rPr kumimoji="1" lang="en-US" altLang="ko-KR" sz="135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As₂S₃ is not yet in the window and interface tables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90 precursors with this definition.</a:t>
            </a:r>
          </a:p>
        </p:txBody>
      </p:sp>
      <p:pic>
        <p:nvPicPr>
          <p:cNvPr id="251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2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53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54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55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56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57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58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59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Volume filter: host reference ~40 % above the DFT volume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descriptor: spread within a precursor ≈ between precursors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merged without a primary objective</a:t>
            </a:r>
          </a:p>
        </p:txBody>
      </p:sp>
      <p:sp>
        <p:nvSpPr>
          <p:cNvPr id="260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61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2" name="Decisions recorded on Sep 12 items"/>
          <p:cNvSpPr txBox="1"/>
          <p:nvPr/>
        </p:nvSpPr>
        <p:spPr>
          <a:xfrm>
            <a:off x="4617720" y="2432304"/>
            <a:ext cx="402336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readout: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Design roster: 237 (one design = one composition)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Build rules: parent sites fixed,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Representative: the median-energy configuration</a:t>
            </a:r>
          </a:p>
        </p:txBody>
      </p:sp>
      <p:sp>
        <p:nvSpPr>
          <p:cNvPr id="263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δ: proposed, not yet set</a:t>
            </a:r>
          </a:p>
        </p:txBody>
      </p:sp>
      <p:sp>
        <p:nvSpPr>
          <p:cNvPr id="264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65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66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67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68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Progress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69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70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71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72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73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74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75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76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7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78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79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80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81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82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83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84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85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86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87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88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89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