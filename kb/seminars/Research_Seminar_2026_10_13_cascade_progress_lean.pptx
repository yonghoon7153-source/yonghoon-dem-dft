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coverage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sulfide-based all-solid-state batteries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reinforce each other.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dopant that suppresses one mode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worsen the 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trade-off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goes undetected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365760" y="2240280"/>
          <a:ext cx="8412480" cy="312724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 (Li, La, Zr)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128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br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(coating layer)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P-site cations and halides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Muy 2025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(Li₇PS₆)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element, site-resolved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Jung 2026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LGPS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two elements, chosen independently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2,550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ML-predicted G and G/K</a:t>
                      </a:r>
                      <a:b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(used for screening)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3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</a:t>
                      </a:r>
                      <a:b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(not used for screening)</a:t>
                      </a:r>
                      <a:endParaRPr sz="13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what this study adds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varied elements, or a coating compound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adds its cation and anion together, in its formula ratio.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5120640" y="18288"/>
            <a:ext cx="3566160" cy="7863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27, 4040 (2015).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Joule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3, 1252 (2019).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12, 7272 (2024).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37, 2395 (2025).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eTransportation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28, 100570 (2026).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692619" y="2636912"/>
          <a:ext cx="7758761" cy="309676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17441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0495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3287315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230450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5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anion vs.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O²⁻, smaller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4777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Cl⁻, already in the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S²⁻, already in the host</a:t>
                      </a:r>
                      <a:endParaRPr lang="ko-KR" altLang="en-US" sz="15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F⁻, smaller than Cl⁻</a:t>
                      </a:r>
                      <a:endParaRPr lang="ko-KR" altLang="en-US" sz="15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Br⁻,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N³⁻, higher charge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I⁻, much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5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precursor is an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existing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with a cation from +1 to +6.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Al, Li, and Mg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appear in all seven families, so their partner anions can be compared.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1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468880"/>
            <a:ext cx="4572000" cy="2204673"/>
          </a:xfrm>
          <a:prstGeom prst="rect">
            <a:avLst/>
          </a:prstGeom>
        </p:spPr>
      </p:pic>
      <p:sp>
        <p:nvSpPr>
          <p:cNvPr id="242" name="Caption left"/>
          <p:cNvSpPr txBox="1"/>
          <p:nvPr/>
        </p:nvSpPr>
        <p:spPr>
          <a:xfrm>
            <a:off x="502920" y="4691841"/>
            <a:ext cx="45720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43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2697480"/>
            <a:ext cx="2834640" cy="2090612"/>
          </a:xfrm>
          <a:prstGeom prst="rect">
            <a:avLst/>
          </a:prstGeom>
        </p:spPr>
      </p:pic>
      <p:sp>
        <p:nvSpPr>
          <p:cNvPr id="244" name="Caption right"/>
          <p:cNvSpPr txBox="1"/>
          <p:nvPr/>
        </p:nvSpPr>
        <p:spPr>
          <a:xfrm>
            <a:off x="5394960" y="4806380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45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DFT studies: the basis of this screening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Top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bulk materials and their doped or coated forms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Bottom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SEI components, interfaces, and binders in a battery cell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elasticity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glass model · MLIP-MD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Choosing a dopant precursor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 the lab, dopants are added 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compounds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not as bare elements.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 screens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candidate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by simulation before synthesis.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37744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203704"/>
            <a:ext cx="109728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 example</a:t>
            </a:r>
          </a:p>
        </p:txBody>
      </p:sp>
      <p:sp>
        <p:nvSpPr>
          <p:cNvPr id="227" name="Precursor Al₂O₃"/>
          <p:cNvSpPr/>
          <p:nvPr/>
        </p:nvSpPr>
        <p:spPr>
          <a:xfrm>
            <a:off x="914400" y="2706624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</a:t>
            </a:r>
          </a:p>
        </p:txBody>
      </p:sp>
      <p:sp>
        <p:nvSpPr>
          <p:cNvPr id="228" name="Arrow 228"/>
          <p:cNvSpPr/>
          <p:nvPr/>
        </p:nvSpPr>
        <p:spPr>
          <a:xfrm>
            <a:off x="2432304" y="2862072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9" name="Brings O"/>
          <p:cNvSpPr txBox="1"/>
          <p:nvPr/>
        </p:nvSpPr>
        <p:spPr>
          <a:xfrm>
            <a:off x="2971800" y="2706624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</a:t>
            </a:r>
          </a:p>
        </p:txBody>
      </p:sp>
      <p:sp>
        <p:nvSpPr>
          <p:cNvPr id="230" name="Precursor Al₂S₃"/>
          <p:cNvSpPr/>
          <p:nvPr/>
        </p:nvSpPr>
        <p:spPr>
          <a:xfrm>
            <a:off x="914400" y="3602736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</a:t>
            </a:r>
          </a:p>
        </p:txBody>
      </p:sp>
      <p:sp>
        <p:nvSpPr>
          <p:cNvPr id="231" name="Arrow 231"/>
          <p:cNvSpPr/>
          <p:nvPr/>
        </p:nvSpPr>
        <p:spPr>
          <a:xfrm>
            <a:off x="2432304" y="3758184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2" name="Brings S"/>
          <p:cNvSpPr txBox="1"/>
          <p:nvPr/>
        </p:nvSpPr>
        <p:spPr>
          <a:xfrm>
            <a:off x="2971800" y="3602736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</a:t>
            </a:r>
          </a:p>
        </p:txBody>
      </p:sp>
      <p:sp>
        <p:nvSpPr>
          <p:cNvPr id="233" name="Brace"/>
          <p:cNvSpPr/>
          <p:nvPr/>
        </p:nvSpPr>
        <p:spPr>
          <a:xfrm>
            <a:off x="4224528" y="2706624"/>
            <a:ext cx="219456" cy="1463040"/>
          </a:xfrm>
          <a:prstGeom prst="rightBrace">
            <a:avLst/>
          </a:prstGeom>
          <a:noFill/>
          <a:ln w="19050">
            <a:solidFill>
              <a:srgbClr val="9CA3AF"/>
            </a:solidFill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4" name="Question"/>
          <p:cNvSpPr txBox="1"/>
          <p:nvPr/>
        </p:nvSpPr>
        <p:spPr>
          <a:xfrm>
            <a:off x="4617720" y="2651760"/>
            <a:ext cx="3840480" cy="157276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Al, different partner anion</a:t>
            </a:r>
          </a:p>
          <a:p>
            <a:pPr marL="0" indent="0" latinLnBrk="0" algn="l">
              <a:lnSpc>
                <a:spcPct val="110000"/>
              </a:lnSpc>
              <a:spcBef>
                <a:spcPts val="900"/>
              </a:spcBef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Does the anion change</a:t>
            </a:r>
          </a:p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or Li transport?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581144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33095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answer this question, we must check electrochemical stability, mechanical stability, and Li transport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separately.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calculation coverage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charge-balanced placement was relaxed with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693 selected structures were then annealed (500 K, 50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Descriptors: Li-site landscape, EOS/elastic (DFT),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interface.</a:t>
            </a:r>
          </a:p>
        </p:txBody>
      </p:sp>
      <p:pic>
        <p:nvPicPr>
          <p:cNvPr id="238" name="Precursors held by each Stage-1 table" descr="Precursors held by each Stage-1 ta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95728"/>
            <a:ext cx="7315200" cy="2788920"/>
          </a:xfrm>
          <a:prstGeom prst="rect">
            <a:avLst/>
          </a:prstGeom>
        </p:spPr>
      </p:pic>
      <p:sp>
        <p:nvSpPr>
          <p:cNvPr id="239" name="Caption"/>
          <p:cNvSpPr txBox="1"/>
          <p:nvPr/>
        </p:nvSpPr>
        <p:spPr>
          <a:xfrm>
            <a:off x="502920" y="521208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precursors held by each Stage-1 table &gt;</a:t>
            </a:r>
          </a:p>
        </p:txBody>
      </p:sp>
      <p:sp>
        <p:nvSpPr>
          <p:cNvPr id="240" name="Conclusion"/>
          <p:cNvSpPr txBox="1"/>
          <p:nvPr/>
        </p:nvSpPr>
        <p:spPr>
          <a:xfrm>
            <a:off x="365760" y="553212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came from an August re-run; </a:t>
            </a:r>
            <a:r>
              <a:rPr kumimoji="1" lang="en-US" altLang="ko-KR" sz="13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is not yet in the window and interface tables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definition.</a:t>
            </a:r>
          </a:p>
        </p:txBody>
      </p:sp>
      <p:pic>
        <p:nvPicPr>
          <p:cNvPr id="246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47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48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49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50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51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52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53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4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Volume filter: host reference ~40 % above the DFT volume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descriptor: spread within a precursor ≈ between precursors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merged without a primary objective</a:t>
            </a:r>
          </a:p>
        </p:txBody>
      </p:sp>
      <p:sp>
        <p:nvSpPr>
          <p:cNvPr id="255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56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7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readout: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roster: 237 (one design = one composition)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rules: parent sites fixed,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Representative: the median-energy configuration</a:t>
            </a:r>
          </a:p>
        </p:txBody>
      </p:sp>
      <p:sp>
        <p:nvSpPr>
          <p:cNvPr id="258" name="Conclusion"/>
          <p:cNvSpPr txBox="1"/>
          <p:nvPr/>
        </p:nvSpPr>
        <p:spPr>
          <a:xfrm>
            <a:off x="365760" y="5074920"/>
            <a:ext cx="8412480" cy="34747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δ: proposed, not yet set</a:t>
            </a:r>
          </a:p>
        </p:txBody>
      </p:sp>
      <p:sp>
        <p:nvSpPr>
          <p:cNvPr id="259" name="Conclusion"/>
          <p:cNvSpPr txBox="1"/>
          <p:nvPr/>
        </p:nvSpPr>
        <p:spPr>
          <a:xfrm>
            <a:off x="365760" y="551383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60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61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62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63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64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65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66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67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68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69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70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71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2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73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74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75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76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77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78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79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80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81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82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83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84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