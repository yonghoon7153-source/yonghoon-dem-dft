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1071" r:id="rId5"/>
    <p:sldId id="1340" r:id="rId30"/>
    <p:sldId id="1341" r:id="rId31"/>
    <p:sldId id="1197" r:id="rId7"/>
    <p:sldId id="1327" r:id="rId11"/>
    <p:sldId id="1328" r:id="rId12"/>
    <p:sldId id="1342" r:id="rId32"/>
    <p:sldId id="1332" r:id="rId15"/>
    <p:sldId id="1337" r:id="rId20"/>
    <p:sldId id="1343" r:id="rId33"/>
    <p:sldId id="1344" r:id="rId34"/>
    <p:sldId id="1345" r:id="rId35"/>
    <p:sldId id="1346" r:id="rId36"/>
    <p:sldId id="1347" r:id="rId37"/>
    <p:sldId id="1348" r:id="rId38"/>
    <p:sldId id="1263" r:id="rId23"/>
    <p:sldId id="1349" r:id="rId39"/>
    <p:sldId id="1330" r:id="rId14"/>
    <p:sldId id="1336" r:id="rId19"/>
  </p:sldIdLst>
  <p:sldSz cx="9144000" cy="6858000" type="screen4x3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4D4D"/>
    <a:srgbClr val="4D4DFF"/>
    <a:srgbClr val="070717"/>
    <a:srgbClr val="1AFF1A"/>
    <a:srgbClr val="8080FF"/>
    <a:srgbClr val="FF8080"/>
    <a:srgbClr val="64C5FF"/>
    <a:srgbClr val="FDAAAA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39" autoAdjust="0"/>
    <p:restoredTop sz="95260" autoAdjust="0"/>
  </p:normalViewPr>
  <p:slideViewPr>
    <p:cSldViewPr showGuides="1">
      <p:cViewPr varScale="1">
        <p:scale>
          <a:sx n="107" d="100"/>
          <a:sy n="107" d="100"/>
        </p:scale>
        <p:origin x="1674" y="114"/>
      </p:cViewPr>
      <p:guideLst>
        <p:guide orient="horz" pos="89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0.xml"/><Relationship Id="rId27" Type="http://schemas.openxmlformats.org/officeDocument/2006/relationships/viewProps" Target="viewProps.xml"/>  <Relationship Id="rId30" Type="http://schemas.openxmlformats.org/officeDocument/2006/relationships/slide" Target="slides/slide20.xml"/>
  <Relationship Id="rId31" Type="http://schemas.openxmlformats.org/officeDocument/2006/relationships/slide" Target="slides/slide21.xml"/>
  <Relationship Id="rId32" Type="http://schemas.openxmlformats.org/officeDocument/2006/relationships/slide" Target="slides/slide22.xml"/>
  <Relationship Id="rId33" Type="http://schemas.openxmlformats.org/officeDocument/2006/relationships/slide" Target="slides/slide23.xml"/>
  <Relationship Id="rId34" Type="http://schemas.openxmlformats.org/officeDocument/2006/relationships/slide" Target="slides/slide24.xml"/>
  <Relationship Id="rId35" Type="http://schemas.openxmlformats.org/officeDocument/2006/relationships/slide" Target="slides/slide25.xml"/>
  <Relationship Id="rId36" Type="http://schemas.openxmlformats.org/officeDocument/2006/relationships/slide" Target="slides/slide26.xml"/>
  <Relationship Id="rId37" Type="http://schemas.openxmlformats.org/officeDocument/2006/relationships/slide" Target="slides/slide27.xml"/>
  <Relationship Id="rId38" Type="http://schemas.openxmlformats.org/officeDocument/2006/relationships/slide" Target="slides/slide28.xml"/>
  <Relationship Id="rId39" Type="http://schemas.openxmlformats.org/officeDocument/2006/relationships/slide" Target="slides/slide2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4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8" y="3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/>
          <a:lstStyle>
            <a:lvl1pPr algn="r">
              <a:defRPr sz="1100"/>
            </a:lvl1pPr>
          </a:lstStyle>
          <a:p>
            <a:fld id="{785B0769-355D-4F7A-9BBB-FB4B4242278C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4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8" y="9429308"/>
            <a:ext cx="2945862" cy="497334"/>
          </a:xfrm>
          <a:prstGeom prst="rect">
            <a:avLst/>
          </a:prstGeom>
        </p:spPr>
        <p:txBody>
          <a:bodyPr vert="horz" lIns="88221" tIns="44110" rIns="88221" bIns="44110" rtlCol="0" anchor="b"/>
          <a:lstStyle>
            <a:lvl1pPr algn="r">
              <a:defRPr sz="1100"/>
            </a:lvl1pPr>
          </a:lstStyle>
          <a:p>
            <a:fld id="{6F53F785-4121-48C3-9976-6CF0E478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7542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4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/>
          <a:lstStyle>
            <a:lvl1pPr algn="r">
              <a:defRPr sz="1100"/>
            </a:lvl1pPr>
          </a:lstStyle>
          <a:p>
            <a:fld id="{3C888668-3DAB-4CC6-8B29-40D6FCB1E1B6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98" tIns="45501" rIns="90998" bIns="4550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52"/>
            <a:ext cx="5438140" cy="3908860"/>
          </a:xfrm>
          <a:prstGeom prst="rect">
            <a:avLst/>
          </a:prstGeom>
        </p:spPr>
        <p:txBody>
          <a:bodyPr vert="horz" lIns="90998" tIns="45501" rIns="90998" bIns="4550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9125"/>
            <a:ext cx="2945659" cy="497521"/>
          </a:xfrm>
          <a:prstGeom prst="rect">
            <a:avLst/>
          </a:prstGeom>
        </p:spPr>
        <p:txBody>
          <a:bodyPr vert="horz" lIns="90998" tIns="45501" rIns="90998" bIns="45501" rtlCol="0" anchor="b"/>
          <a:lstStyle>
            <a:lvl1pPr algn="r">
              <a:defRPr sz="1100"/>
            </a:lvl1pPr>
          </a:lstStyle>
          <a:p>
            <a:fld id="{C0D08264-4636-41C1-92C7-DB593C8879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881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75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368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FB9E0-84BB-6BF0-7C76-5720795F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166425-AFEF-D8BE-DB9D-332A20173B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B4ABA9-2CA8-758F-F435-4B2AA671F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0C356F-D644-D96B-B7B2-119D4B2F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896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50C56-97F1-0C2D-59B2-2EEDF981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F8ED04-8644-14E5-47B3-8FB93C186E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581641-571E-3450-2A72-BD298ABE8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0B8407-1A67-D791-1ACC-3A1562BFE8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42525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B2DFA-28FB-2DB8-6056-A0362927F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3F2D18-1C80-644C-B629-58D4FF13B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1713C5F-5797-44CC-9623-B9492CA77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9E592A-634A-1571-9CB1-67AEDA3AC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721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71E33-E642-E6D1-B25C-24876B5FA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27DA37-B4BD-43B1-9A36-E35F1D4CA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CAB87B-63A6-2839-D7B7-665705119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BE0FD4-513A-50E8-34D9-E88190B73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147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4B18-5A8C-85AC-DF59-3B26FF713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836F6-9962-9919-D40D-AF335CAAA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20BA0E-6DF6-922B-564B-AE7430DBF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F7258-AE70-4394-1157-E89B86DE1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239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77164-A1B4-2A14-F7B8-62948810F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DBBD54-FA15-E343-8F97-E4CEB8C68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CF295B0-86EF-ADE1-D20A-C1597BA5A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37624-B3F4-EB6C-0F67-DF32B4862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D08264-4636-41C1-92C7-DB593C88791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844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44E79-B82E-470C-9377-0AC7F4542FB2}" type="datetimeFigureOut">
              <a:rPr lang="ko-KR" altLang="en-US" smtClean="0"/>
              <a:pPr/>
              <a:t>2026-10-12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1"/>
          <p:cNvSpPr txBox="1">
            <a:spLocks/>
          </p:cNvSpPr>
          <p:nvPr userDrawn="1"/>
        </p:nvSpPr>
        <p:spPr>
          <a:xfrm>
            <a:off x="8604448" y="6571815"/>
            <a:ext cx="432048" cy="19174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085439E-65BC-4904-94CE-9CE86FCE3B8A}" type="slidenum">
              <a:rPr lang="ko-KR" altLang="en-US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바른돋움 1" pitchFamily="18" charset="-127"/>
                <a:cs typeface="Arial" panose="020B0604020202020204" pitchFamily="34" charset="0"/>
              </a:rPr>
              <a:pPr>
                <a:defRPr/>
              </a:pPr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latin typeface="Arial" panose="020B0604020202020204" pitchFamily="34" charset="0"/>
              <a:ea typeface="바른돋움 1" pitchFamily="18" charset="-127"/>
              <a:cs typeface="Arial" panose="020B0604020202020204" pitchFamily="34" charset="0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5FB8FCC-2F2C-42E2-A25B-47C1D550EB32}"/>
              </a:ext>
            </a:extLst>
          </p:cNvPr>
          <p:cNvCxnSpPr/>
          <p:nvPr userDrawn="1"/>
        </p:nvCxnSpPr>
        <p:spPr>
          <a:xfrm>
            <a:off x="386910" y="836712"/>
            <a:ext cx="8351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2CBE823-65F2-459A-8192-8848CACE68B6}"/>
              </a:ext>
            </a:extLst>
          </p:cNvPr>
          <p:cNvSpPr/>
          <p:nvPr userDrawn="1"/>
        </p:nvSpPr>
        <p:spPr>
          <a:xfrm>
            <a:off x="1835696" y="6465849"/>
            <a:ext cx="146899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latinLnBrk="0"/>
            <a:r>
              <a:rPr lang="en-US" altLang="ko-KR" sz="1100" i="0" kern="0" spc="-30" dirty="0">
                <a:solidFill>
                  <a:schemeClr val="bg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Battery Materials Lab.</a:t>
            </a:r>
            <a:endParaRPr kumimoji="0" lang="ko-KR" altLang="en-US" sz="1400" i="0" u="none" strike="noStrike" kern="0" cap="none" spc="-30" normalizeH="0" baseline="0" noProof="0" dirty="0">
              <a:ln>
                <a:noFill/>
              </a:ln>
              <a:solidFill>
                <a:schemeClr val="bg1">
                  <a:lumMod val="50000"/>
                  <a:lumOff val="50000"/>
                </a:schemeClr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DFA539-8737-C042-478D-D3B5D9943A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2" t="-7082" r="-1"/>
          <a:stretch/>
        </p:blipFill>
        <p:spPr>
          <a:xfrm>
            <a:off x="106678" y="6372426"/>
            <a:ext cx="1683211" cy="41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917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685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44E79-B82E-470C-9377-0AC7F4542FB2}" type="datetimeFigureOut">
              <a:rPr lang="ko-KR" altLang="en-US" smtClean="0"/>
              <a:pPr/>
              <a:t>2026-10-12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8800F-F144-45EF-8F69-C5766E900F6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16" r:id="rId2"/>
    <p:sldLayoutId id="2147483725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oleObject" Target="../embeddings/oleObject5.bin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9.xml.rels><?xml version='1.0' encoding='UTF-8' standalone='yes'?>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g_p07_stage1_coverage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g_p10_host_window.png"/><Relationship Id="rId4" Type="http://schemas.openxmlformats.org/officeDocument/2006/relationships/image" Target="../media/lit_schwietert2021_fig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lit_he2018_fig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ig_p13_run_roster.png"/><Relationship Id="rId4" Type="http://schemas.openxmlformats.org/officeDocument/2006/relationships/image" Target="../media/jung2026_fig5b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lit_phuthi2026_fig1a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622244" y="2364248"/>
            <a:ext cx="5893972" cy="1294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0" cap="none" spc="-3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Yonghoon</a:t>
            </a:r>
            <a:r>
              <a:rPr kumimoji="0" lang="en-US" altLang="ko-KR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An</a:t>
            </a: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0" cap="none" spc="-3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Division of Materials Science &amp; Engineering, </a:t>
            </a:r>
            <a:r>
              <a:rPr kumimoji="0" lang="en-US" altLang="ko-KR" sz="1600" b="0" i="0" u="none" strike="noStrike" kern="0" cap="none" spc="-3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Hanyang</a:t>
            </a:r>
            <a:r>
              <a:rPr kumimoji="0" lang="en-US" altLang="ko-KR" sz="16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University</a:t>
            </a:r>
            <a:endParaRPr lang="en-US" altLang="ko-KR" sz="1600" kern="0" spc="-3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-3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(E-mail : yonghoon71@hanyang.ac.kr)</a:t>
            </a:r>
            <a:endParaRPr kumimoji="0" lang="en-US" altLang="ko-KR" b="0" i="0" u="none" strike="noStrike" kern="0" cap="none" spc="-3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0" y="0"/>
            <a:ext cx="9144000" cy="1166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2400" b="0" i="0" u="none" strike="noStrike" kern="0" cap="none" spc="-3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578166" y="265455"/>
            <a:ext cx="14302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en-US" sz="14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October 13, 2026</a:t>
            </a:r>
          </a:p>
        </p:txBody>
      </p:sp>
      <p:sp>
        <p:nvSpPr>
          <p:cNvPr id="8" name="Rectangle 4"/>
          <p:cNvSpPr/>
          <p:nvPr/>
        </p:nvSpPr>
        <p:spPr>
          <a:xfrm>
            <a:off x="596606" y="928311"/>
            <a:ext cx="8295874" cy="1311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latinLnBrk="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altLang="en-US" sz="26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Research</a:t>
            </a:r>
            <a:r>
              <a:rPr lang="ko-KR" altLang="en-US" sz="26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 </a:t>
            </a:r>
            <a:r>
              <a:rPr lang="en-US" altLang="ko-KR" sz="26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Seminar</a:t>
            </a:r>
            <a:endParaRPr lang="en-US" altLang="en-US" sz="2600" b="1" kern="0" spc="-30" dirty="0">
              <a:solidFill>
                <a:schemeClr val="bg2"/>
              </a:solidFill>
              <a:latin typeface="Arial" panose="020B0604020202020204" pitchFamily="34" charset="0"/>
              <a:ea typeface="굴림" pitchFamily="50" charset="-127"/>
              <a:cs typeface="Arial" panose="020B0604020202020204" pitchFamily="34" charset="0"/>
            </a:endParaRPr>
          </a:p>
          <a:p>
            <a:pPr lvl="0" latinLnBrk="0">
              <a:lnSpc>
                <a:spcPct val="110000"/>
              </a:lnSpc>
              <a:spcBef>
                <a:spcPts val="1000"/>
              </a:spcBef>
              <a:defRPr/>
            </a:pP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 Report on DFT/MLIP Screening:</a:t>
            </a:r>
            <a:b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Dopants in Li</a:t>
            </a:r>
            <a:r>
              <a:rPr lang="en-US" altLang="en-US" sz="2000" kern="0" spc="-30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</a:t>
            </a:r>
            <a:r>
              <a:rPr lang="en-US" altLang="en-US" sz="2000" kern="0" spc="-30" baseline="-2500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altLang="en-US" sz="2000" kern="0" spc="-30" dirty="0">
                <a:solidFill>
                  <a:prstClr val="black">
                    <a:lumMod val="75000"/>
                    <a:lumOff val="25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endParaRPr lang="en-US" altLang="en-US" sz="1600" kern="0" spc="-30" baseline="-25000" dirty="0">
              <a:solidFill>
                <a:prstClr val="black">
                  <a:lumMod val="75000"/>
                  <a:lumOff val="25000"/>
                </a:prst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40B598B-5336-6FA5-A460-2647B0AC86A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30" b="3861"/>
          <a:stretch/>
        </p:blipFill>
        <p:spPr>
          <a:xfrm>
            <a:off x="1331640" y="3513009"/>
            <a:ext cx="7812360" cy="33003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328DD2C-F625-D5F3-08CF-A81105451DE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2" t="-7082" r="-1"/>
          <a:stretch/>
        </p:blipFill>
        <p:spPr>
          <a:xfrm>
            <a:off x="622244" y="5791624"/>
            <a:ext cx="2184820" cy="53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72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7066A78-0FC5-8E2C-3989-9137FF6B0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655" y="984937"/>
            <a:ext cx="8081689" cy="1938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65113" indent="-265113" latinLnBrk="0">
              <a:lnSpc>
                <a:spcPct val="15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Failure modes in sulfide-based all-solid-state batteries</a:t>
            </a:r>
          </a:p>
          <a:p>
            <a:pPr marL="573750" lvl="0" indent="-285750" latinLnBrk="0">
              <a:lnSpc>
                <a:spcPct val="15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Electrochemical and mechanical degradation reinforce each other.</a:t>
            </a:r>
          </a:p>
          <a:p>
            <a:pPr marL="573750" indent="-285750" latinLnBrk="0">
              <a:lnSpc>
                <a:spcPct val="15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 dopant that suppresses one mode can </a:t>
            </a:r>
            <a:r>
              <a:rPr kumimoji="1" lang="en-US" altLang="ko-KR" sz="15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worsen the other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and the trade-off </a:t>
            </a:r>
            <a:r>
              <a:rPr kumimoji="1" lang="en-US" altLang="ko-KR" sz="15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goes undetected 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unless each mode is evaluated separately.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11C517E-9288-4768-8246-2A85EE861919}"/>
              </a:ext>
            </a:extLst>
          </p:cNvPr>
          <p:cNvSpPr txBox="1"/>
          <p:nvPr/>
        </p:nvSpPr>
        <p:spPr>
          <a:xfrm>
            <a:off x="5499882" y="850103"/>
            <a:ext cx="3329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ko-KR" sz="10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Chem</a:t>
            </a:r>
            <a:r>
              <a:rPr lang="ko-KR" altLang="ko-KR" sz="10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ko-KR" altLang="ko-KR" sz="1000" i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</a:t>
            </a:r>
            <a:r>
              <a:rPr lang="ko-KR" altLang="ko-KR" sz="1000" i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ko-KR" altLang="ko-KR" sz="1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 62, 10277 (2026).</a:t>
            </a:r>
            <a:endParaRPr lang="ko-KR" altLang="en-US" sz="1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New picture">
            <a:extLst>
              <a:ext uri="{FF2B5EF4-FFF2-40B4-BE49-F238E27FC236}">
                <a16:creationId xmlns:a16="http://schemas.microsoft.com/office/drawing/2014/main" id="{D4B1D358-A7F2-2C5D-AF78-DAB901B280C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02457" y="2909737"/>
            <a:ext cx="7575660" cy="291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F2A4-5F8E-A5A8-11B3-9CC209362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3A95070-A868-DD8E-9496-E071698C9DE4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Introduction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8F6EADF-D0C7-6C11-6E0A-553D2D127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6953962"/>
              </p:ext>
            </p:extLst>
          </p:nvPr>
        </p:nvGraphicFramePr>
        <p:xfrm>
          <a:off x="365760" y="2240280"/>
          <a:ext cx="8412480" cy="3127248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65446376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24248005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10195377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175527287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330018153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study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host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what is varied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mechanical axis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663989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Miara 2015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garnet oxide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one cation, 3 sites (Li, La, Zr)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128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492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Xiao 2019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 host</a:t>
                      </a:r>
                      <a:br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(coating layer)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the compound itself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104,082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1218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Lee 2024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argyrodite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P-site cations and halides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84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623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Muy 2025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argyrodite (Li₇PS₆)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one element, site-resolved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FF505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none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623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Jung 2026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LGPS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two elements, chosen independently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2,550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ML-predicted G and G/K</a:t>
                      </a:r>
                      <a:br>
                        <a:rPr sz="1300" kern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sz="1300" kern="12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(used for screening)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623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this work</a:t>
                      </a:r>
                    </a:p>
                  </a:txBody>
                  <a:tcPr marL="64008" marR="64008" marT="18288" marB="18288"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argyrodite sulfide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sz="130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an added precursor compound</a:t>
                      </a: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30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</a:t>
                      </a:r>
                      <a:r>
                        <a:rPr lang="en-US"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/>
                      </a:r>
                      <a:r>
                        <a:rPr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/>
                      </a:r>
                      <a:r>
                        <a:rPr lang="en-US" sz="130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/>
                      </a:r>
                      <a:endParaRPr sz="130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sz="130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DFT reference + MLIP descriptor</a:t>
                      </a:r>
                      <a:br>
                        <a:rPr lang="en-US" sz="130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US" sz="1300" kern="1200" dirty="0">
                          <a:solidFill>
                            <a:srgbClr val="0070C0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(not used for screening)</a:t>
                      </a:r>
                      <a:endParaRPr sz="1300" kern="1200" dirty="0">
                        <a:solidFill>
                          <a:srgbClr val="0070C0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64008" marR="64008" marT="18288" marB="18288"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266399"/>
                  </a:ext>
                </a:extLst>
              </a:tr>
            </a:tbl>
          </a:graphicData>
        </a:graphic>
      </p:graphicFrame>
      <p:sp>
        <p:nvSpPr>
          <p:cNvPr id="150" name="Rectangle 4"/>
          <p:cNvSpPr txBox="1"/>
          <p:nvPr/>
        </p:nvSpPr>
        <p:spPr>
          <a:xfrm>
            <a:off x="557784" y="987552"/>
            <a:ext cx="8083296" cy="12344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Prior dopant screens and what this study adds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Earlier screens varied elements, or a coating compound without a host.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Here one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precursor compound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adds its cation and anion together, in its formula ratio.</a:t>
            </a:r>
          </a:p>
        </p:txBody>
      </p:sp>
      <p:sp>
        <p:nvSpPr>
          <p:cNvPr id="237" name="References top"/>
          <p:cNvSpPr txBox="1"/>
          <p:nvPr/>
        </p:nvSpPr>
        <p:spPr>
          <a:xfrm>
            <a:off x="5120640" y="18288"/>
            <a:ext cx="3566160" cy="78638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r">
              <a:lnSpc>
                <a:spcPct val="95000"/>
              </a:lnSpc>
              <a:buNone/>
              <a:defRPr/>
            </a:pPr>
            <a:r>
              <a:rPr kumimoji="1" lang="en-US" altLang="ko-KR" sz="750" i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Chem. Mater.</a:t>
            </a:r>
            <a:r>
              <a:rPr kumimoji="1" lang="en-US" altLang="ko-KR" sz="7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27, 4040 (2015).</a:t>
            </a:r>
          </a:p>
          <a:p>
            <a:pPr marL="0" indent="0" latinLnBrk="0" algn="r">
              <a:lnSpc>
                <a:spcPct val="95000"/>
              </a:lnSpc>
              <a:buNone/>
              <a:defRPr/>
            </a:pPr>
            <a:r>
              <a:rPr kumimoji="1" lang="en-US" altLang="ko-KR" sz="750" i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Joule</a:t>
            </a:r>
            <a:r>
              <a:rPr kumimoji="1" lang="en-US" altLang="ko-KR" sz="7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3, 1252 (2019).</a:t>
            </a:r>
          </a:p>
          <a:p>
            <a:pPr marL="0" indent="0" latinLnBrk="0" algn="r">
              <a:lnSpc>
                <a:spcPct val="95000"/>
              </a:lnSpc>
              <a:buNone/>
              <a:defRPr/>
            </a:pPr>
            <a:r>
              <a:rPr kumimoji="1" lang="en-US" altLang="ko-KR" sz="750" i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J. Mater. Chem. A</a:t>
            </a:r>
            <a:r>
              <a:rPr kumimoji="1" lang="en-US" altLang="ko-KR" sz="7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12, 7272 (2024).</a:t>
            </a:r>
          </a:p>
          <a:p>
            <a:pPr marL="0" indent="0" latinLnBrk="0" algn="r">
              <a:lnSpc>
                <a:spcPct val="95000"/>
              </a:lnSpc>
              <a:buNone/>
              <a:defRPr/>
            </a:pPr>
            <a:r>
              <a:rPr kumimoji="1" lang="en-US" altLang="ko-KR" sz="750" i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Chem. Mater.</a:t>
            </a:r>
            <a:r>
              <a:rPr kumimoji="1" lang="en-US" altLang="ko-KR" sz="7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37, 2395 (2025).</a:t>
            </a:r>
          </a:p>
          <a:p>
            <a:pPr marL="0" indent="0" latinLnBrk="0" algn="r">
              <a:lnSpc>
                <a:spcPct val="95000"/>
              </a:lnSpc>
              <a:buNone/>
              <a:defRPr/>
            </a:pPr>
            <a:r>
              <a:rPr kumimoji="1" lang="en-US" altLang="ko-KR" sz="750" i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eTransportation</a:t>
            </a:r>
            <a:r>
              <a:rPr kumimoji="1" lang="en-US" altLang="ko-KR" sz="7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28, 100570 (2026).</a:t>
            </a:r>
          </a:p>
        </p:txBody>
      </p:sp>
    </p:spTree>
    <p:extLst>
      <p:ext uri="{BB962C8B-B14F-4D97-AF65-F5344CB8AC3E}">
        <p14:creationId xmlns:p14="http://schemas.microsoft.com/office/powerpoint/2010/main" val="316625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3D0B-FED4-9032-6D29-2D720174F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48E4B6-8CD9-9604-026D-4CEBACAB4DEB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89FB887-B765-8021-42AC-B00421339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492758"/>
              </p:ext>
            </p:extLst>
          </p:nvPr>
        </p:nvGraphicFramePr>
        <p:xfrm>
          <a:off x="692619" y="2636912"/>
          <a:ext cx="7758761" cy="309676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117441">
                  <a:extLst>
                    <a:ext uri="{9D8B030D-6E8A-4147-A177-3AD203B41FA5}">
                      <a16:colId xmlns:a16="http://schemas.microsoft.com/office/drawing/2014/main" val="654463765"/>
                    </a:ext>
                  </a:extLst>
                </a:gridCol>
                <a:gridCol w="1049500">
                  <a:extLst>
                    <a:ext uri="{9D8B030D-6E8A-4147-A177-3AD203B41FA5}">
                      <a16:colId xmlns:a16="http://schemas.microsoft.com/office/drawing/2014/main" val="1242480053"/>
                    </a:ext>
                  </a:extLst>
                </a:gridCol>
                <a:gridCol w="3287315">
                  <a:extLst>
                    <a:ext uri="{9D8B030D-6E8A-4147-A177-3AD203B41FA5}">
                      <a16:colId xmlns:a16="http://schemas.microsoft.com/office/drawing/2014/main" val="2101953771"/>
                    </a:ext>
                  </a:extLst>
                </a:gridCol>
                <a:gridCol w="2304505">
                  <a:extLst>
                    <a:ext uri="{9D8B030D-6E8A-4147-A177-3AD203B41FA5}">
                      <a16:colId xmlns:a16="http://schemas.microsoft.com/office/drawing/2014/main" val="1175527287"/>
                    </a:ext>
                  </a:extLst>
                </a:gridCol>
              </a:tblGrid>
              <a:tr h="374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family</a:t>
                      </a:r>
                      <a:endParaRPr lang="ko-KR" altLang="en-US" sz="1500" b="1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anion vs. host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49285"/>
                  </a:ext>
                </a:extLst>
              </a:tr>
              <a:tr h="374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oxides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O²⁻, smaller than S²⁻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Ag₂O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Al₂O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B₂O₃,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BaO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627560"/>
                  </a:ext>
                </a:extLst>
              </a:tr>
              <a:tr h="4777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chlorides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Cl⁻, already in the host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AlCl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BaCl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CaCl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₂, CrCl₃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2447746"/>
                  </a:ext>
                </a:extLst>
              </a:tr>
              <a:tr h="374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sulfides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S²⁻, already in the host</a:t>
                      </a:r>
                      <a:endParaRPr lang="ko-KR" altLang="en-US" sz="1500" b="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Al₂S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CaS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Ga₂S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303475"/>
                  </a:ext>
                </a:extLst>
              </a:tr>
              <a:tr h="374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fluorides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F⁻, smaller than Cl⁻</a:t>
                      </a:r>
                      <a:endParaRPr lang="ko-KR" altLang="en-US" sz="1500" b="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AlF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CaF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LaF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LiF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0287229"/>
                  </a:ext>
                </a:extLst>
              </a:tr>
              <a:tr h="374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bromides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Br⁻, larger than Cl⁻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AlBr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₃, CaBr₂,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LiBr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MgBr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₂ 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62311"/>
                  </a:ext>
                </a:extLst>
              </a:tr>
              <a:tr h="374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nitrides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N³⁻, higher charge than S²⁻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AlN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Ca₃N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₂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GaN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Li₃N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121889"/>
                  </a:ext>
                </a:extLst>
              </a:tr>
              <a:tr h="37414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iodides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I⁻, much larger than Cl⁻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AlI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₃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LiI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MgI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₂</a:t>
                      </a:r>
                      <a:r>
                        <a:rPr lang="en-US" altLang="ko-KR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ko-KR" altLang="en-US" sz="1500" b="0" kern="12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ko-KR" sz="1500" b="0" kern="120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NaI</a:t>
                      </a:r>
                      <a:endParaRPr lang="ko-KR" altLang="en-US" sz="1500" b="0" kern="12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266399"/>
                  </a:ext>
                </a:extLst>
              </a:tr>
            </a:tbl>
          </a:graphicData>
        </a:graphic>
      </p:graphicFrame>
      <p:sp>
        <p:nvSpPr>
          <p:cNvPr id="150" name="Rectangle 4"/>
          <p:cNvSpPr txBox="1"/>
          <p:nvPr/>
        </p:nvSpPr>
        <p:spPr>
          <a:xfrm>
            <a:off x="557784" y="987552"/>
            <a:ext cx="8083296" cy="12801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91 precursors in seven anion families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Every precursor is an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existing compound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with a cation from +1 to +6.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Al, Li, and Mg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appear in all seven families, so their partner anions can be compared.</a:t>
            </a:r>
          </a:p>
        </p:txBody>
      </p:sp>
    </p:spTree>
    <p:extLst>
      <p:ext uri="{BB962C8B-B14F-4D97-AF65-F5344CB8AC3E}">
        <p14:creationId xmlns:p14="http://schemas.microsoft.com/office/powerpoint/2010/main" val="1360759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7EFB-B864-7462-FC3F-CE3F3B1A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84A3F26-F0B2-32AA-F525-8E2098345FEE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Backup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E8170-8738-17D4-21D5-F27A8CE5277E}"/>
              </a:ext>
            </a:extLst>
          </p:cNvPr>
          <p:cNvSpPr txBox="1"/>
          <p:nvPr/>
        </p:nvSpPr>
        <p:spPr>
          <a:xfrm>
            <a:off x="502920" y="5909911"/>
            <a:ext cx="81381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 Si always takes the P framework; 19 of 26 always take Li; </a:t>
            </a:r>
            <a:r>
              <a:rPr lang="en-US" altLang="ko-KR" sz="1400" dirty="0">
                <a:solidFill>
                  <a:srgbClr val="FF5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 switch with the doping level</a:t>
            </a:r>
            <a:r>
              <a:rPr lang="en-US" altLang="ko-KR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ctr"/>
            <a:endParaRPr lang="en-US" altLang="ko-KR" sz="1400" dirty="0">
              <a:solidFill>
                <a:srgbClr val="1F293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32">
            <a:extLst>
              <a:ext uri="{FF2B5EF4-FFF2-40B4-BE49-F238E27FC236}">
                <a16:creationId xmlns:a16="http://schemas.microsoft.com/office/drawing/2014/main" id="{34FAC330-978C-C4D5-8C64-6AEE33630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313" y="2271609"/>
            <a:ext cx="6001373" cy="33972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44B02DB-560A-025E-C3E1-79D4427F0A35}"/>
              </a:ext>
            </a:extLst>
          </p:cNvPr>
          <p:cNvSpPr txBox="1"/>
          <p:nvPr/>
        </p:nvSpPr>
        <p:spPr>
          <a:xfrm>
            <a:off x="3422376" y="5668880"/>
            <a:ext cx="26040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 preference vs ionic radius </a:t>
            </a:r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0972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2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Site preference vs ionic radius (MLIP relative energies)</a:t>
            </a:r>
          </a:p>
          <a:p>
            <a:pPr marL="573750" indent="-285750" latinLnBrk="0">
              <a:lnSpc>
                <a:spcPct val="12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 precursor fills one cation and one anion site; every charge-balancing placement is a new structure.</a:t>
            </a:r>
          </a:p>
        </p:txBody>
      </p:sp>
    </p:spTree>
    <p:extLst>
      <p:ext uri="{BB962C8B-B14F-4D97-AF65-F5344CB8AC3E}">
        <p14:creationId xmlns:p14="http://schemas.microsoft.com/office/powerpoint/2010/main" val="166013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9BD26-6FA6-1744-4810-C11226E9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B31BBE8-BA8A-78EF-0B51-18F9FFC79F48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2801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Configuration sampling and MLIP relaxation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 site was assumed: every charge-balanced placement was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built and relaxed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 short anneal (500 K, 50 ps) moves selected structures out of their local minimum.</a:t>
            </a:r>
          </a:p>
        </p:txBody>
      </p:sp>
      <p:pic>
        <p:nvPicPr>
          <p:cNvPr id="241" name="Site-pair heatmap" descr="Configurations per cation-anion site pai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468880"/>
            <a:ext cx="4572000" cy="2204673"/>
          </a:xfrm>
          <a:prstGeom prst="rect">
            <a:avLst/>
          </a:prstGeom>
        </p:spPr>
      </p:pic>
      <p:sp>
        <p:nvSpPr>
          <p:cNvPr id="242" name="Caption left"/>
          <p:cNvSpPr txBox="1"/>
          <p:nvPr/>
        </p:nvSpPr>
        <p:spPr>
          <a:xfrm>
            <a:off x="502920" y="4691841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configurations per cation–anion site pair: main batch 3,615 (+60 in the August re-run) &gt;</a:t>
            </a:r>
          </a:p>
        </p:txBody>
      </p:sp>
      <p:pic>
        <p:nvPicPr>
          <p:cNvPr id="243" name="Anneal schematic" descr="What a short anneal do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2697480"/>
            <a:ext cx="2834640" cy="2090612"/>
          </a:xfrm>
          <a:prstGeom prst="rect">
            <a:avLst/>
          </a:prstGeom>
        </p:spPr>
      </p:pic>
      <p:sp>
        <p:nvSpPr>
          <p:cNvPr id="244" name="Caption right"/>
          <p:cNvSpPr txBox="1"/>
          <p:nvPr/>
        </p:nvSpPr>
        <p:spPr>
          <a:xfrm>
            <a:off x="5394960" y="4806380"/>
            <a:ext cx="3108960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what the short anneal does &gt;</a:t>
            </a:r>
          </a:p>
        </p:txBody>
      </p:sp>
    </p:spTree>
    <p:extLst>
      <p:ext uri="{BB962C8B-B14F-4D97-AF65-F5344CB8AC3E}">
        <p14:creationId xmlns:p14="http://schemas.microsoft.com/office/powerpoint/2010/main" val="3461600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D4BD2-C760-E162-D305-A594AAD33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8AABA79-CE00-FB15-E530-4C98B69D15AA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Backup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AEF9AD-537E-0BBB-59DC-66FF6D23B1D7}"/>
              </a:ext>
            </a:extLst>
          </p:cNvPr>
          <p:cNvSpPr txBox="1"/>
          <p:nvPr/>
        </p:nvSpPr>
        <p:spPr>
          <a:xfrm>
            <a:off x="2555776" y="6217688"/>
            <a:ext cx="6301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※ a worked example from our other DFT study, </a:t>
            </a:r>
            <a:r>
              <a:rPr lang="en-US" altLang="ko-KR" sz="1000" dirty="0">
                <a:solidFill>
                  <a:srgbClr val="FF5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a screened candidate</a:t>
            </a:r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valleys are low-energy regions, not channels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8E82BB-CAF3-6F1E-C4EF-C1DB98194ED8}"/>
              </a:ext>
            </a:extLst>
          </p:cNvPr>
          <p:cNvSpPr txBox="1"/>
          <p:nvPr/>
        </p:nvSpPr>
        <p:spPr>
          <a:xfrm>
            <a:off x="1849042" y="5668880"/>
            <a:ext cx="544591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 landscape on the annealed geometry, undoped versus B₂O₃-doped </a:t>
            </a:r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pic>
        <p:nvPicPr>
          <p:cNvPr id="2" name="Picture 18">
            <a:extLst>
              <a:ext uri="{FF2B5EF4-FFF2-40B4-BE49-F238E27FC236}">
                <a16:creationId xmlns:a16="http://schemas.microsoft.com/office/drawing/2014/main" id="{00503CD8-1201-38B1-27BF-CC5DF9796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049" y="2428617"/>
            <a:ext cx="6191901" cy="2999232"/>
          </a:xfrm>
          <a:prstGeom prst="rect">
            <a:avLst/>
          </a:prstGeom>
        </p:spPr>
      </p:pic>
      <p:sp>
        <p:nvSpPr>
          <p:cNvPr id="150" name="Rectangle 4"/>
          <p:cNvSpPr txBox="1"/>
          <p:nvPr/>
        </p:nvSpPr>
        <p:spPr>
          <a:xfrm>
            <a:off x="557784" y="987552"/>
            <a:ext cx="8083296" cy="10972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2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Bond-valence Li landscape (method illustration)</a:t>
            </a:r>
          </a:p>
          <a:p>
            <a:pPr marL="573750" indent="-285750" latinLnBrk="0">
              <a:lnSpc>
                <a:spcPct val="12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Low bond-valence site energy marks Li-accessible regions; it is a structural proxy for Li pathways.</a:t>
            </a:r>
          </a:p>
        </p:txBody>
      </p:sp>
    </p:spTree>
    <p:extLst>
      <p:ext uri="{BB962C8B-B14F-4D97-AF65-F5344CB8AC3E}">
        <p14:creationId xmlns:p14="http://schemas.microsoft.com/office/powerpoint/2010/main" val="2165760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B1304-840B-20EF-A7D2-E1DBE742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33AACFF-F51E-C81F-CA81-12BDED1D4FFC}"/>
              </a:ext>
            </a:extLst>
          </p:cNvPr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01676-E8DD-7912-49FC-66A305AA2CB3}"/>
              </a:ext>
            </a:extLst>
          </p:cNvPr>
          <p:cNvSpPr txBox="1"/>
          <p:nvPr/>
        </p:nvSpPr>
        <p:spPr>
          <a:xfrm>
            <a:off x="2916171" y="6217688"/>
            <a:ext cx="630132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※ DFT (Quantum ESPRESSO); the screening itself used the MLIP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E1435A-4E49-DEFE-37EE-DE8B4801EAC9}"/>
              </a:ext>
            </a:extLst>
          </p:cNvPr>
          <p:cNvSpPr txBox="1"/>
          <p:nvPr/>
        </p:nvSpPr>
        <p:spPr>
          <a:xfrm>
            <a:off x="2420096" y="5151237"/>
            <a:ext cx="430380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 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equation of state, undoped </a:t>
            </a:r>
            <a:r>
              <a:rPr lang="en-US" altLang="ko-KR" sz="1400" dirty="0" err="1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Li₆PS₅Cl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Cl-rich LPSCl</a:t>
            </a:r>
            <a:r>
              <a:rPr lang="en-US" altLang="ko-KR" sz="1400" baseline="-25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1.6</a:t>
            </a:r>
            <a:r>
              <a:rPr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410712A8-59DF-B4EE-5873-932A37168585}"/>
              </a:ext>
            </a:extLst>
          </p:cNvPr>
          <p:cNvGrpSpPr/>
          <p:nvPr/>
        </p:nvGrpSpPr>
        <p:grpSpPr>
          <a:xfrm>
            <a:off x="275796" y="2595220"/>
            <a:ext cx="8592407" cy="2321483"/>
            <a:chOff x="773553" y="2695181"/>
            <a:chExt cx="7298056" cy="1971777"/>
          </a:xfrm>
        </p:grpSpPr>
        <p:graphicFrame>
          <p:nvGraphicFramePr>
            <p:cNvPr id="4" name="개체 3">
              <a:extLst>
                <a:ext uri="{FF2B5EF4-FFF2-40B4-BE49-F238E27FC236}">
                  <a16:creationId xmlns:a16="http://schemas.microsoft.com/office/drawing/2014/main" id="{0632CD38-6FA3-CDFD-DB7E-792B698215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6652845"/>
                </p:ext>
              </p:extLst>
            </p:nvPr>
          </p:nvGraphicFramePr>
          <p:xfrm>
            <a:off x="773553" y="2920566"/>
            <a:ext cx="3433258" cy="1721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Graph" r:id="rId3" imgW="28155539" imgH="14173123" progId="Origin95.Graph">
                    <p:embed/>
                  </p:oleObj>
                </mc:Choice>
                <mc:Fallback>
                  <p:oleObj name="Graph" r:id="rId3" imgW="28155539" imgH="14173123" progId="Origin95.Graph">
                    <p:embed/>
                    <p:pic>
                      <p:nvPicPr>
                        <p:cNvPr id="5" name="개체 4">
                          <a:extLst>
                            <a:ext uri="{FF2B5EF4-FFF2-40B4-BE49-F238E27FC236}">
                              <a16:creationId xmlns:a16="http://schemas.microsoft.com/office/drawing/2014/main" id="{6C784BFE-900C-A8CB-F3B8-FD3F6C6BBA6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73553" y="2920566"/>
                          <a:ext cx="3433258" cy="172120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D70C35-7253-70A7-FA00-D78DBDFC3280}"/>
                </a:ext>
              </a:extLst>
            </p:cNvPr>
            <p:cNvSpPr txBox="1"/>
            <p:nvPr/>
          </p:nvSpPr>
          <p:spPr>
            <a:xfrm>
              <a:off x="1938505" y="2937037"/>
              <a:ext cx="1543148" cy="486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</a:t>
              </a:r>
              <a:r>
                <a:rPr lang="en-US" altLang="ko-KR" sz="100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</a:t>
              </a:r>
              <a:r>
                <a:rPr lang="en-US" altLang="ko-KR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= </a:t>
              </a:r>
              <a:r>
                <a:rPr lang="en-US" altLang="ko-KR" sz="1000" dirty="0">
                  <a:solidFill>
                    <a:srgbClr val="0070C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26.2</a:t>
              </a:r>
              <a:r>
                <a:rPr lang="en-US" altLang="ko-KR" sz="1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ko-KR" sz="10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GPa</a:t>
              </a:r>
              <a:endParaRPr lang="ko-KR" altLang="en-US" sz="1000" dirty="0">
                <a:solidFill>
                  <a:schemeClr val="bg1"/>
                </a:solidFill>
                <a:latin typeface="Calibri" panose="020F0502020204030204" pitchFamily="34" charset="0"/>
                <a:ea typeface="Pretendard" panose="02000503000000020004" pitchFamily="2" charset="-127"/>
                <a:cs typeface="Calibri" panose="020F0502020204030204" pitchFamily="34" charset="0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 / </a:t>
              </a:r>
              <a:r>
                <a:rPr lang="en-US" altLang="ko-KR" sz="800" dirty="0" err="1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f.u</a:t>
              </a:r>
              <a:r>
                <a:rPr lang="en-US" altLang="ko-KR" sz="8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. = 254.16 Å</a:t>
              </a:r>
              <a:r>
                <a:rPr lang="en-US" altLang="ko-KR" sz="800" baseline="30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F47DF9-2D93-D333-AD8E-9374438125C6}"/>
                </a:ext>
              </a:extLst>
            </p:cNvPr>
            <p:cNvSpPr txBox="1"/>
            <p:nvPr/>
          </p:nvSpPr>
          <p:spPr>
            <a:xfrm>
              <a:off x="2271493" y="2696177"/>
              <a:ext cx="9332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5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Li</a:t>
              </a:r>
              <a:r>
                <a:rPr lang="en-US" altLang="ko-KR" sz="1500" b="1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6</a:t>
              </a:r>
              <a:r>
                <a:rPr lang="en-US" altLang="ko-KR" sz="15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PS</a:t>
              </a:r>
              <a:r>
                <a:rPr lang="en-US" altLang="ko-KR" sz="1500" b="1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</a:t>
              </a:r>
              <a:r>
                <a:rPr lang="en-US" altLang="ko-KR" sz="1500" b="1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</a:t>
              </a:r>
              <a:endParaRPr lang="ko-KR" alt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Pretendard" panose="02000503000000020004" pitchFamily="2" charset="-127"/>
                <a:cs typeface="Calibri" panose="020F0502020204030204" pitchFamily="34" charset="0"/>
              </a:endParaRP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11F5750-01CE-014C-7BD6-B017BE82D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16185" y="3412029"/>
              <a:ext cx="1483194" cy="1022893"/>
            </a:xfrm>
            <a:prstGeom prst="rect">
              <a:avLst/>
            </a:prstGeom>
          </p:spPr>
        </p:pic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3782147A-3192-0A41-F17E-54986C56CA36}"/>
                </a:ext>
              </a:extLst>
            </p:cNvPr>
            <p:cNvGrpSpPr/>
            <p:nvPr/>
          </p:nvGrpSpPr>
          <p:grpSpPr>
            <a:xfrm>
              <a:off x="4416357" y="2695181"/>
              <a:ext cx="3655252" cy="1971777"/>
              <a:chOff x="4832527" y="2695181"/>
              <a:chExt cx="3655252" cy="1971777"/>
            </a:xfrm>
          </p:grpSpPr>
          <p:graphicFrame>
            <p:nvGraphicFramePr>
              <p:cNvPr id="16" name="개체 15">
                <a:extLst>
                  <a:ext uri="{FF2B5EF4-FFF2-40B4-BE49-F238E27FC236}">
                    <a16:creationId xmlns:a16="http://schemas.microsoft.com/office/drawing/2014/main" id="{C85D30E0-9786-3000-6E9B-AA654129FFF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028933200"/>
                  </p:ext>
                </p:extLst>
              </p:nvPr>
            </p:nvGraphicFramePr>
            <p:xfrm>
              <a:off x="4832527" y="2950523"/>
              <a:ext cx="3425130" cy="17164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Graph" r:id="rId6" imgW="28155539" imgH="14173123" progId="Origin95.Graph">
                      <p:embed/>
                    </p:oleObj>
                  </mc:Choice>
                  <mc:Fallback>
                    <p:oleObj name="Graph" r:id="rId6" imgW="28155539" imgH="14173123" progId="Origin95.Graph">
                      <p:embed/>
                      <p:pic>
                        <p:nvPicPr>
                          <p:cNvPr id="13" name="개체 12">
                            <a:extLst>
                              <a:ext uri="{FF2B5EF4-FFF2-40B4-BE49-F238E27FC236}">
                                <a16:creationId xmlns:a16="http://schemas.microsoft.com/office/drawing/2014/main" id="{5D6CB32A-0B57-FB03-E4C8-C575B93856E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4832527" y="2950523"/>
                            <a:ext cx="3425130" cy="171643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89776BE-1002-6646-6CDD-15CF37F0F402}"/>
                  </a:ext>
                </a:extLst>
              </p:cNvPr>
              <p:cNvSpPr txBox="1"/>
              <p:nvPr/>
            </p:nvSpPr>
            <p:spPr>
              <a:xfrm>
                <a:off x="6224990" y="2695181"/>
                <a:ext cx="135966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5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</a:t>
                </a:r>
                <a:r>
                  <a:rPr lang="en-US" altLang="ko-KR" sz="15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5.4</a:t>
                </a:r>
                <a:r>
                  <a:rPr lang="en-US" altLang="ko-KR" sz="15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PS</a:t>
                </a:r>
                <a:r>
                  <a:rPr lang="en-US" altLang="ko-KR" sz="15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4.4</a:t>
                </a:r>
                <a:r>
                  <a:rPr lang="en-US" altLang="ko-KR" sz="1500" b="1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Cl</a:t>
                </a:r>
                <a:r>
                  <a:rPr lang="en-US" altLang="ko-KR" sz="1500" b="1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1.6</a:t>
                </a:r>
                <a:endParaRPr lang="ko-KR" altLang="en-US" sz="1500" b="1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Pretendard" panose="02000503000000020004" pitchFamily="2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9FDAE6C-9440-C213-967A-3627E3ED3F71}"/>
                  </a:ext>
                </a:extLst>
              </p:cNvPr>
              <p:cNvSpPr txBox="1"/>
              <p:nvPr/>
            </p:nvSpPr>
            <p:spPr>
              <a:xfrm>
                <a:off x="5993228" y="2972180"/>
                <a:ext cx="1818275" cy="486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1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</a:t>
                </a:r>
                <a:r>
                  <a:rPr lang="en-US" altLang="ko-KR" sz="1000" baseline="-25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0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</a:t>
                </a:r>
                <a:r>
                  <a:rPr lang="en-US" altLang="ko-KR" sz="1000" dirty="0">
                    <a:solidFill>
                      <a:srgbClr val="FF5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21.7</a:t>
                </a:r>
                <a:r>
                  <a:rPr lang="en-US" altLang="ko-KR" sz="1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altLang="ko-KR" sz="1000" dirty="0" err="1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GPa</a:t>
                </a:r>
                <a:endParaRPr lang="ko-KR" altLang="en-US" sz="1000" dirty="0">
                  <a:solidFill>
                    <a:schemeClr val="bg1"/>
                  </a:solidFill>
                  <a:latin typeface="Calibri" panose="020F0502020204030204" pitchFamily="34" charset="0"/>
                  <a:ea typeface="Pretendard" panose="02000503000000020004" pitchFamily="2" charset="-127"/>
                  <a:cs typeface="Calibri" panose="020F0502020204030204" pitchFamily="34" charset="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 / </a:t>
                </a:r>
                <a:r>
                  <a:rPr lang="en-US" altLang="ko-KR" sz="800" dirty="0" err="1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f.u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= 243.29 Å</a:t>
                </a:r>
                <a:r>
                  <a:rPr lang="en-US" altLang="ko-KR" sz="800" baseline="300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3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altLang="ko-KR" sz="800" dirty="0">
                    <a:solidFill>
                      <a:srgbClr val="FF505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-4.3%</a:t>
                </a:r>
                <a:r>
                  <a:rPr lang="en-US" altLang="ko-KR" sz="800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</a:t>
                </a:r>
                <a:endParaRPr lang="en-US" altLang="ko-KR" sz="800" baseline="300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85C14735-8D4F-3CDA-C487-0EE9FDA555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10200" y="3579764"/>
                <a:ext cx="1177579" cy="812124"/>
              </a:xfrm>
              <a:prstGeom prst="rect">
                <a:avLst/>
              </a:prstGeom>
            </p:spPr>
          </p:pic>
        </p:grpSp>
      </p:grpSp>
      <p:sp>
        <p:nvSpPr>
          <p:cNvPr id="150" name="Rectangle 4"/>
          <p:cNvSpPr txBox="1"/>
          <p:nvPr/>
        </p:nvSpPr>
        <p:spPr>
          <a:xfrm>
            <a:off x="557784" y="987552"/>
            <a:ext cx="8083296" cy="13716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5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DFT reference calculations: equation of state and elastic constants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B₀ and equilibrium volume from a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Birch–Murnaghan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equation-of-state fit.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Elastic constants (C</a:t>
            </a:r>
            <a:r>
              <a:rPr kumimoji="1" lang="en-US" altLang="ko-KR" sz="1500" baseline="-250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ij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) from finite strains are running on GPU.</a:t>
            </a:r>
          </a:p>
        </p:txBody>
      </p:sp>
      <p:sp>
        <p:nvSpPr>
          <p:cNvPr id="245" name="References"/>
          <p:cNvSpPr txBox="1"/>
          <p:nvPr/>
        </p:nvSpPr>
        <p:spPr>
          <a:xfrm>
            <a:off x="502920" y="5577840"/>
            <a:ext cx="8138160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Deng, J. Electrochem. Soc. 163, A67 (2016) · Torii, J. Phys. Chem. C 129, 17882 (2025)</a:t>
            </a:r>
          </a:p>
        </p:txBody>
      </p:sp>
    </p:spTree>
    <p:extLst>
      <p:ext uri="{BB962C8B-B14F-4D97-AF65-F5344CB8AC3E}">
        <p14:creationId xmlns:p14="http://schemas.microsoft.com/office/powerpoint/2010/main" val="3721658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bPdL">
            <a:extLst>
              <a:ext uri="{FF2B5EF4-FFF2-40B4-BE49-F238E27FC236}">
                <a16:creationId xmlns:a16="http://schemas.microsoft.com/office/drawing/2014/main" id="{3B17D448-2A89-D6F6-1FBF-A20CD72F5E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" r="11525"/>
          <a:stretch/>
        </p:blipFill>
        <p:spPr bwMode="auto">
          <a:xfrm>
            <a:off x="0" y="-1"/>
            <a:ext cx="9144000" cy="686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799044-D92C-4DE1-A4B8-C461DA0FCA77}"/>
              </a:ext>
            </a:extLst>
          </p:cNvPr>
          <p:cNvSpPr txBox="1"/>
          <p:nvPr/>
        </p:nvSpPr>
        <p:spPr>
          <a:xfrm>
            <a:off x="94867" y="372568"/>
            <a:ext cx="2694026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6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바른돋움 2" pitchFamily="18" charset="-127"/>
                <a:cs typeface="Calibri" panose="020F0502020204030204" pitchFamily="34" charset="0"/>
              </a:rPr>
              <a:t>Thank you</a:t>
            </a:r>
            <a:endParaRPr kumimoji="0" lang="ko-KR" altLang="en-US" sz="36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바른돋움 2" pitchFamily="18" charset="-127"/>
              <a:cs typeface="Calibri" panose="020F0502020204030204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595FEE-778A-47ED-B15D-CB748EFB50AD}"/>
              </a:ext>
            </a:extLst>
          </p:cNvPr>
          <p:cNvSpPr/>
          <p:nvPr/>
        </p:nvSpPr>
        <p:spPr>
          <a:xfrm>
            <a:off x="505369" y="1201457"/>
            <a:ext cx="392261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For more information or any questions, please e-mail at yonghoon71@</a:t>
            </a:r>
            <a:r>
              <a:rPr lang="en-US" altLang="ko-KR" sz="1600" kern="0" dirty="0" err="1">
                <a:solidFill>
                  <a:prstClr val="white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hanyang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rPr>
              <a:t>.ac.kr</a:t>
            </a:r>
          </a:p>
        </p:txBody>
      </p:sp>
    </p:spTree>
    <p:extLst>
      <p:ext uri="{BB962C8B-B14F-4D97-AF65-F5344CB8AC3E}">
        <p14:creationId xmlns:p14="http://schemas.microsoft.com/office/powerpoint/2010/main" val="2683091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Background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2344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Earlier DFT studies: the basis of this screening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Top row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bulk materials and their doped or coated forms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Bottom row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SEI components, interfaces, and binders in a battery cell</a:t>
            </a:r>
          </a:p>
        </p:txBody>
      </p:sp>
      <p:sp>
        <p:nvSpPr>
          <p:cNvPr id="201" name="Tile 1 title"/>
          <p:cNvSpPr txBox="1"/>
          <p:nvPr/>
        </p:nvSpPr>
        <p:spPr>
          <a:xfrm>
            <a:off x="502920" y="224028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Li₆PS₅Cl baseline</a:t>
            </a:r>
          </a:p>
        </p:txBody>
      </p:sp>
      <p:sp>
        <p:nvSpPr>
          <p:cNvPr id="202" name="Tile 1 figure"/>
          <p:cNvSpPr/>
          <p:nvPr/>
        </p:nvSpPr>
        <p:spPr>
          <a:xfrm>
            <a:off x="557784" y="255117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03" name="Tile 1 caption"/>
          <p:cNvSpPr txBox="1"/>
          <p:nvPr/>
        </p:nvSpPr>
        <p:spPr>
          <a:xfrm>
            <a:off x="502920" y="375818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band gap · EOS · elasticity &gt;</a:t>
            </a:r>
          </a:p>
        </p:txBody>
      </p:sp>
      <p:sp>
        <p:nvSpPr>
          <p:cNvPr id="204" name="Tile 2 title"/>
          <p:cNvSpPr txBox="1"/>
          <p:nvPr/>
        </p:nvSpPr>
        <p:spPr>
          <a:xfrm>
            <a:off x="2569464" y="224028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Nd/O co-doping (Nd₂O₃)</a:t>
            </a:r>
          </a:p>
        </p:txBody>
      </p:sp>
      <p:sp>
        <p:nvSpPr>
          <p:cNvPr id="205" name="Tile 2 figure"/>
          <p:cNvSpPr/>
          <p:nvPr/>
        </p:nvSpPr>
        <p:spPr>
          <a:xfrm>
            <a:off x="2624328" y="255117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06" name="Tile 2 caption"/>
          <p:cNvSpPr txBox="1"/>
          <p:nvPr/>
        </p:nvSpPr>
        <p:spPr>
          <a:xfrm>
            <a:off x="2569464" y="375818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band edges · ICOHP · CEI &gt;</a:t>
            </a:r>
          </a:p>
        </p:txBody>
      </p:sp>
      <p:sp>
        <p:nvSpPr>
          <p:cNvPr id="207" name="Tile 3 title"/>
          <p:cNvSpPr txBox="1"/>
          <p:nvPr/>
        </p:nvSpPr>
        <p:spPr>
          <a:xfrm>
            <a:off x="4636008" y="224028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B₂O₃ and O doping</a:t>
            </a:r>
          </a:p>
        </p:txBody>
      </p:sp>
      <p:sp>
        <p:nvSpPr>
          <p:cNvPr id="208" name="Tile 3 figure"/>
          <p:cNvSpPr/>
          <p:nvPr/>
        </p:nvSpPr>
        <p:spPr>
          <a:xfrm>
            <a:off x="4690872" y="255117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09" name="Tile 3 caption"/>
          <p:cNvSpPr txBox="1"/>
          <p:nvPr/>
        </p:nvSpPr>
        <p:spPr>
          <a:xfrm>
            <a:off x="4636008" y="375818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EOS · BVSE · MLIP-MD &gt;</a:t>
            </a:r>
          </a:p>
        </p:txBody>
      </p:sp>
      <p:sp>
        <p:nvSpPr>
          <p:cNvPr id="210" name="Tile 4 title"/>
          <p:cNvSpPr txBox="1"/>
          <p:nvPr/>
        </p:nvSpPr>
        <p:spPr>
          <a:xfrm>
            <a:off x="6702552" y="224028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h-BN on carbon fiber</a:t>
            </a:r>
          </a:p>
        </p:txBody>
      </p:sp>
      <p:sp>
        <p:nvSpPr>
          <p:cNvPr id="211" name="Tile 4 figure"/>
          <p:cNvSpPr/>
          <p:nvPr/>
        </p:nvSpPr>
        <p:spPr>
          <a:xfrm>
            <a:off x="6757416" y="255117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12" name="Tile 4 caption"/>
          <p:cNvSpPr txBox="1"/>
          <p:nvPr/>
        </p:nvSpPr>
        <p:spPr>
          <a:xfrm>
            <a:off x="6702552" y="375818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Li adsorption · NEB &gt;</a:t>
            </a:r>
          </a:p>
        </p:txBody>
      </p:sp>
      <p:sp>
        <p:nvSpPr>
          <p:cNvPr id="213" name="Tile 5 title"/>
          <p:cNvSpPr txBox="1"/>
          <p:nvPr/>
        </p:nvSpPr>
        <p:spPr>
          <a:xfrm>
            <a:off x="502920" y="420624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Li₃N (SEI component)</a:t>
            </a:r>
          </a:p>
        </p:txBody>
      </p:sp>
      <p:sp>
        <p:nvSpPr>
          <p:cNvPr id="214" name="Tile 5 figure"/>
          <p:cNvSpPr/>
          <p:nvPr/>
        </p:nvSpPr>
        <p:spPr>
          <a:xfrm>
            <a:off x="557784" y="451713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15" name="Tile 5 caption"/>
          <p:cNvSpPr txBox="1"/>
          <p:nvPr/>
        </p:nvSpPr>
        <p:spPr>
          <a:xfrm>
            <a:off x="502920" y="572414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Li migration (NEB) &gt;</a:t>
            </a:r>
          </a:p>
        </p:txBody>
      </p:sp>
      <p:sp>
        <p:nvSpPr>
          <p:cNvPr id="216" name="Tile 6 title"/>
          <p:cNvSpPr txBox="1"/>
          <p:nvPr/>
        </p:nvSpPr>
        <p:spPr>
          <a:xfrm>
            <a:off x="2569464" y="420624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Li₂S–Li₆PS₅Cl interphase</a:t>
            </a:r>
          </a:p>
        </p:txBody>
      </p:sp>
      <p:sp>
        <p:nvSpPr>
          <p:cNvPr id="217" name="Tile 6 figure"/>
          <p:cNvSpPr/>
          <p:nvPr/>
        </p:nvSpPr>
        <p:spPr>
          <a:xfrm>
            <a:off x="2624328" y="451713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18" name="Tile 6 caption"/>
          <p:cNvSpPr txBox="1"/>
          <p:nvPr/>
        </p:nvSpPr>
        <p:spPr>
          <a:xfrm>
            <a:off x="2569464" y="572414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glass model · MLIP-MD &gt;</a:t>
            </a:r>
          </a:p>
        </p:txBody>
      </p:sp>
      <p:sp>
        <p:nvSpPr>
          <p:cNvPr id="219" name="Tile 7 title"/>
          <p:cNvSpPr txBox="1"/>
          <p:nvPr/>
        </p:nvSpPr>
        <p:spPr>
          <a:xfrm>
            <a:off x="4636008" y="420624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Interfacial adhesion</a:t>
            </a:r>
          </a:p>
        </p:txBody>
      </p:sp>
      <p:sp>
        <p:nvSpPr>
          <p:cNvPr id="220" name="Tile 7 figure"/>
          <p:cNvSpPr/>
          <p:nvPr/>
        </p:nvSpPr>
        <p:spPr>
          <a:xfrm>
            <a:off x="4690872" y="451713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21" name="Tile 7 caption"/>
          <p:cNvSpPr txBox="1"/>
          <p:nvPr/>
        </p:nvSpPr>
        <p:spPr>
          <a:xfrm>
            <a:off x="4636008" y="572414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adhesion &gt;</a:t>
            </a:r>
          </a:p>
        </p:txBody>
      </p:sp>
      <p:sp>
        <p:nvSpPr>
          <p:cNvPr id="222" name="Tile 8 title"/>
          <p:cNvSpPr txBox="1"/>
          <p:nvPr/>
        </p:nvSpPr>
        <p:spPr>
          <a:xfrm>
            <a:off x="6702552" y="4206240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b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Binder (SDCP) adsorption</a:t>
            </a:r>
          </a:p>
        </p:txBody>
      </p:sp>
      <p:sp>
        <p:nvSpPr>
          <p:cNvPr id="223" name="Tile 8 figure"/>
          <p:cNvSpPr/>
          <p:nvPr/>
        </p:nvSpPr>
        <p:spPr>
          <a:xfrm>
            <a:off x="6757416" y="4517136"/>
            <a:ext cx="1828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dash"/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Figure</a:t>
            </a:r>
          </a:p>
        </p:txBody>
      </p:sp>
      <p:sp>
        <p:nvSpPr>
          <p:cNvPr id="224" name="Tile 8 caption"/>
          <p:cNvSpPr txBox="1"/>
          <p:nvPr/>
        </p:nvSpPr>
        <p:spPr>
          <a:xfrm>
            <a:off x="6702552" y="5724144"/>
            <a:ext cx="1938528" cy="2743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spin-state adsorption &gt;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2344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Choosing a dopant precursor for Li₆PS₅Cl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In the lab, dopants are added as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compounds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not as bare elements.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This work screens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91 candidate precursors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by simulation before synthesis.</a:t>
            </a:r>
          </a:p>
        </p:txBody>
      </p:sp>
      <p:sp>
        <p:nvSpPr>
          <p:cNvPr id="225" name="Dashed frame"/>
          <p:cNvSpPr/>
          <p:nvPr/>
        </p:nvSpPr>
        <p:spPr>
          <a:xfrm>
            <a:off x="521208" y="2377440"/>
            <a:ext cx="8101584" cy="210312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FF5050"/>
            </a:solidFill>
            <a:prstDash val="dash"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26" name="Frame title"/>
          <p:cNvSpPr txBox="1"/>
          <p:nvPr/>
        </p:nvSpPr>
        <p:spPr>
          <a:xfrm>
            <a:off x="932688" y="2203704"/>
            <a:ext cx="1097280" cy="329184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500" b="1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An example</a:t>
            </a:r>
          </a:p>
        </p:txBody>
      </p:sp>
      <p:sp>
        <p:nvSpPr>
          <p:cNvPr id="227" name="Precursor Al₂O₃"/>
          <p:cNvSpPr/>
          <p:nvPr/>
        </p:nvSpPr>
        <p:spPr>
          <a:xfrm>
            <a:off x="914400" y="2706624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20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Al₂O₃</a:t>
            </a:r>
          </a:p>
        </p:txBody>
      </p:sp>
      <p:sp>
        <p:nvSpPr>
          <p:cNvPr id="228" name="Arrow 228"/>
          <p:cNvSpPr/>
          <p:nvPr/>
        </p:nvSpPr>
        <p:spPr>
          <a:xfrm>
            <a:off x="2432304" y="2862072"/>
            <a:ext cx="457200" cy="25603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29" name="Brings O"/>
          <p:cNvSpPr txBox="1"/>
          <p:nvPr/>
        </p:nvSpPr>
        <p:spPr>
          <a:xfrm>
            <a:off x="2971800" y="2706624"/>
            <a:ext cx="1234440" cy="5669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 algn="l">
              <a:lnSpc>
                <a:spcPct val="100000"/>
              </a:lnSpc>
              <a:buNone/>
              <a:defRPr/>
            </a:pPr>
            <a:r>
              <a:rPr kumimoji="1" lang="en-US" altLang="ko-KR" sz="2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 + </a:t>
            </a:r>
            <a:r>
              <a:rPr kumimoji="1" lang="en-US" altLang="ko-KR" sz="20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O</a:t>
            </a:r>
          </a:p>
        </p:txBody>
      </p:sp>
      <p:sp>
        <p:nvSpPr>
          <p:cNvPr id="230" name="Precursor Al₂S₃"/>
          <p:cNvSpPr/>
          <p:nvPr/>
        </p:nvSpPr>
        <p:spPr>
          <a:xfrm>
            <a:off x="914400" y="3602736"/>
            <a:ext cx="1371600" cy="566928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9CA3AF"/>
            </a:solidFill>
          </a:ln>
        </p:spPr>
        <p:txBody>
          <a:bodyPr wrap="square" lIns="91440" tIns="64008" rIns="91440" bIns="64008" rtlCol="0" anchor="ctr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20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Al₂S₃</a:t>
            </a:r>
          </a:p>
        </p:txBody>
      </p:sp>
      <p:sp>
        <p:nvSpPr>
          <p:cNvPr id="231" name="Arrow 231"/>
          <p:cNvSpPr/>
          <p:nvPr/>
        </p:nvSpPr>
        <p:spPr>
          <a:xfrm>
            <a:off x="2432304" y="3758184"/>
            <a:ext cx="457200" cy="256032"/>
          </a:xfrm>
          <a:prstGeom prst="rightArrow">
            <a:avLst/>
          </a:prstGeom>
          <a:solidFill>
            <a:srgbClr val="9CA3AF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32" name="Brings S"/>
          <p:cNvSpPr txBox="1"/>
          <p:nvPr/>
        </p:nvSpPr>
        <p:spPr>
          <a:xfrm>
            <a:off x="2971800" y="3602736"/>
            <a:ext cx="1234440" cy="5669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 algn="l">
              <a:lnSpc>
                <a:spcPct val="100000"/>
              </a:lnSpc>
              <a:buNone/>
              <a:defRPr/>
            </a:pPr>
            <a:r>
              <a:rPr kumimoji="1" lang="en-US" altLang="ko-KR" sz="2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 + </a:t>
            </a:r>
            <a:r>
              <a:rPr kumimoji="1" lang="en-US" altLang="ko-KR" sz="20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33" name="Brace"/>
          <p:cNvSpPr/>
          <p:nvPr/>
        </p:nvSpPr>
        <p:spPr>
          <a:xfrm>
            <a:off x="4224528" y="2706624"/>
            <a:ext cx="219456" cy="1463040"/>
          </a:xfrm>
          <a:prstGeom prst="rightBrace">
            <a:avLst/>
          </a:prstGeom>
          <a:noFill/>
          <a:ln w="19050">
            <a:solidFill>
              <a:srgbClr val="9CA3AF"/>
            </a:solidFill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34" name="Question"/>
          <p:cNvSpPr txBox="1"/>
          <p:nvPr/>
        </p:nvSpPr>
        <p:spPr>
          <a:xfrm>
            <a:off x="4617720" y="2651760"/>
            <a:ext cx="3840480" cy="157276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0" indent="0" latinLnBrk="0" algn="l">
              <a:lnSpc>
                <a:spcPct val="110000"/>
              </a:lnSpc>
              <a:buNone/>
              <a:defRPr/>
            </a:pPr>
            <a:r>
              <a:rPr kumimoji="1" lang="en-US" altLang="ko-KR" sz="18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Same Al, different partner anion</a:t>
            </a:r>
          </a:p>
          <a:p>
            <a:pPr marL="0" indent="0" latinLnBrk="0" algn="l">
              <a:lnSpc>
                <a:spcPct val="110000"/>
              </a:lnSpc>
              <a:spcBef>
                <a:spcPts val="900"/>
              </a:spcBef>
              <a:buNone/>
              <a:defRPr/>
            </a:pPr>
            <a:r>
              <a:rPr kumimoji="1" lang="en-US" altLang="ko-KR" sz="18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Does the anion change</a:t>
            </a:r>
          </a:p>
          <a:p>
            <a:pPr marL="0" indent="0" latinLnBrk="0" algn="l">
              <a:lnSpc>
                <a:spcPct val="110000"/>
              </a:lnSpc>
              <a:buNone/>
              <a:defRPr/>
            </a:pPr>
            <a:r>
              <a:rPr kumimoji="1" lang="en-US" altLang="ko-KR" sz="18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stability or Li transport?</a:t>
            </a:r>
          </a:p>
        </p:txBody>
      </p:sp>
      <p:pic>
        <p:nvPicPr>
          <p:cNvPr id="235" name="Down arrow" descr=""/>
          <p:cNvPicPr>
            <a:picLocks noChangeAspect="1"/>
          </p:cNvPicPr>
          <p:nvPr/>
        </p:nvPicPr>
        <p:blipFill>
          <a:blip r:embed="rId2"/>
          <a:srcRect l="46859" t="52346" r="43846" b="38064"/>
          <a:stretch/>
        </p:blipFill>
        <p:spPr>
          <a:xfrm>
            <a:off x="3287268" y="4581144"/>
            <a:ext cx="2569464" cy="658368"/>
          </a:xfrm>
          <a:prstGeom prst="rect">
            <a:avLst/>
          </a:prstGeom>
        </p:spPr>
      </p:pic>
      <p:sp>
        <p:nvSpPr>
          <p:cNvPr id="236" name="Conclusion"/>
          <p:cNvSpPr txBox="1"/>
          <p:nvPr/>
        </p:nvSpPr>
        <p:spPr>
          <a:xfrm>
            <a:off x="365760" y="5330952"/>
            <a:ext cx="8412480" cy="365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3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To answer this question, we must check electrochemical stability, mechanical stability, and Li transport </a:t>
            </a:r>
            <a:r>
              <a:rPr kumimoji="1" lang="en-US" altLang="ko-KR" sz="13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separately.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3258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1: calculation coverage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Every charge-balanced placement was relaxed with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UMA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(3,675 structures); 693 selected structures were then annealed (500 K, 50 ps).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Descriptors: Li-site landscape, EOS/elastic (DFT),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stability window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interface.</a:t>
            </a:r>
          </a:p>
        </p:txBody>
      </p:sp>
      <p:pic>
        <p:nvPicPr>
          <p:cNvPr id="238" name="Precursors held by each Stage-1 table" descr="Precursors held by each Stage-1 ta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395728"/>
            <a:ext cx="7315200" cy="2788920"/>
          </a:xfrm>
          <a:prstGeom prst="rect">
            <a:avLst/>
          </a:prstGeom>
        </p:spPr>
      </p:pic>
      <p:sp>
        <p:nvSpPr>
          <p:cNvPr id="239" name="Caption"/>
          <p:cNvSpPr txBox="1"/>
          <p:nvPr/>
        </p:nvSpPr>
        <p:spPr>
          <a:xfrm>
            <a:off x="502920" y="5212080"/>
            <a:ext cx="8138160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precursors held by each Stage-1 table &gt;</a:t>
            </a:r>
          </a:p>
        </p:txBody>
      </p:sp>
      <p:sp>
        <p:nvSpPr>
          <p:cNvPr id="240" name="Conclusion"/>
          <p:cNvSpPr txBox="1"/>
          <p:nvPr/>
        </p:nvSpPr>
        <p:spPr>
          <a:xfrm>
            <a:off x="365760" y="5532120"/>
            <a:ext cx="8412480" cy="365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3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As₂S₃ and AlI₃ came from an August re-run; </a:t>
            </a:r>
            <a:r>
              <a:rPr kumimoji="1" lang="en-US" altLang="ko-KR" sz="135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As₂S₃ is not yet in the window and interface tables</a:t>
            </a:r>
            <a:r>
              <a:rPr kumimoji="1" lang="en-US" altLang="ko-KR" sz="13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Approach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3716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Decomposition stability window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 Li chemical potential is scanned as a voltage on a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grand-potential phase diagram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(MP phases, 0 K).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Recomputed for 90 precursors with this definition.</a:t>
            </a:r>
          </a:p>
        </p:txBody>
      </p:sp>
      <p:pic>
        <p:nvPicPr>
          <p:cNvPr id="246" name="Host stability window" descr="Host stability wind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164841"/>
            <a:ext cx="4023360" cy="1737360"/>
          </a:xfrm>
          <a:prstGeom prst="rect">
            <a:avLst/>
          </a:prstGeom>
        </p:spPr>
      </p:pic>
      <p:pic>
        <p:nvPicPr>
          <p:cNvPr id="247" name="Schwietert 2021 Fig. 1" descr="Schwietert 2021 Fig.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715768"/>
            <a:ext cx="3383280" cy="2955546"/>
          </a:xfrm>
          <a:prstGeom prst="rect">
            <a:avLst/>
          </a:prstGeom>
        </p:spPr>
      </p:pic>
      <p:sp>
        <p:nvSpPr>
          <p:cNvPr id="248" name="Caption"/>
          <p:cNvSpPr txBox="1"/>
          <p:nvPr/>
        </p:nvSpPr>
        <p:spPr>
          <a:xfrm>
            <a:off x="502920" y="4929633"/>
            <a:ext cx="4023360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Li₆PS₅Cl host (MP phases, 0 K) &gt;</a:t>
            </a:r>
          </a:p>
        </p:txBody>
      </p:sp>
      <p:sp>
        <p:nvSpPr>
          <p:cNvPr id="249" name="Literature tag"/>
          <p:cNvSpPr txBox="1"/>
          <p:nvPr/>
        </p:nvSpPr>
        <p:spPr>
          <a:xfrm>
            <a:off x="4572000" y="2423160"/>
            <a:ext cx="411480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3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Literature:</a:t>
            </a: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decomposition and intrinsic windows</a:t>
            </a:r>
          </a:p>
        </p:txBody>
      </p:sp>
      <p:sp>
        <p:nvSpPr>
          <p:cNvPr id="250" name="Credit"/>
          <p:cNvSpPr txBox="1"/>
          <p:nvPr/>
        </p:nvSpPr>
        <p:spPr>
          <a:xfrm>
            <a:off x="4572000" y="5698746"/>
            <a:ext cx="411480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Reproduced from Schwietert et al., JACS Au 1, 1488 (2021), Fig. 1</a:t>
            </a:r>
          </a:p>
        </p:txBody>
      </p:sp>
      <p:sp>
        <p:nvSpPr>
          <p:cNvPr id="251" name="References"/>
          <p:cNvSpPr txBox="1"/>
          <p:nvPr/>
        </p:nvSpPr>
        <p:spPr>
          <a:xfrm>
            <a:off x="502920" y="5943600"/>
            <a:ext cx="8138160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9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Zhu, ACS Appl. Mater. Interfaces 7, 23685 (2015) · Schwietert, JACS Au 1, 1488 (2021) · Richards, Chem. Mater. 28, 266 (2016) · Xiao, Nat. Rev. Mater. 5, 105 (2020)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Progress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86868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September audit of Stage 1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1 was re-checked against the ledger.</a:t>
            </a:r>
          </a:p>
        </p:txBody>
      </p:sp>
      <p:sp>
        <p:nvSpPr>
          <p:cNvPr id="252" name="Audit findings"/>
          <p:cNvSpPr txBox="1"/>
          <p:nvPr/>
        </p:nvSpPr>
        <p:spPr>
          <a:xfrm>
            <a:off x="502920" y="2011680"/>
            <a:ext cx="3886200" cy="32918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4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Audit findings</a:t>
            </a:r>
          </a:p>
        </p:txBody>
      </p:sp>
      <p:sp>
        <p:nvSpPr>
          <p:cNvPr id="253" name="Audit findings rule"/>
          <p:cNvSpPr/>
          <p:nvPr/>
        </p:nvSpPr>
        <p:spPr>
          <a:xfrm>
            <a:off x="548640" y="2359152"/>
            <a:ext cx="3794760" cy="1280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54" name="Audit findings items"/>
          <p:cNvSpPr txBox="1"/>
          <p:nvPr/>
        </p:nvSpPr>
        <p:spPr>
          <a:xfrm>
            <a:off x="502920" y="2432304"/>
            <a:ext cx="3886200" cy="25146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Concentration labels did not change the dopant level</a:t>
            </a:r>
          </a:p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Volume filter: host reference ~40 % above the DFT volume</a:t>
            </a:r>
          </a:p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Elastic descriptor: spread within a precursor ≈ between precursors</a:t>
            </a:r>
          </a:p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Several descriptors merged without a primary objective</a:t>
            </a:r>
          </a:p>
        </p:txBody>
      </p:sp>
      <p:sp>
        <p:nvSpPr>
          <p:cNvPr id="255" name="Decisions recorded on Sep 12"/>
          <p:cNvSpPr txBox="1"/>
          <p:nvPr/>
        </p:nvSpPr>
        <p:spPr>
          <a:xfrm>
            <a:off x="4617720" y="2011680"/>
            <a:ext cx="4023360" cy="32918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4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Decisions recorded on Sep 12</a:t>
            </a:r>
          </a:p>
        </p:txBody>
      </p:sp>
      <p:sp>
        <p:nvSpPr>
          <p:cNvPr id="256" name="Decisions recorded on Sep 12 rule"/>
          <p:cNvSpPr/>
          <p:nvPr/>
        </p:nvSpPr>
        <p:spPr>
          <a:xfrm>
            <a:off x="4663440" y="2359152"/>
            <a:ext cx="3931920" cy="1280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57" name="Decisions recorded on Sep 12 items"/>
          <p:cNvSpPr txBox="1"/>
          <p:nvPr/>
        </p:nvSpPr>
        <p:spPr>
          <a:xfrm>
            <a:off x="4617720" y="2432304"/>
            <a:ext cx="4023360" cy="25146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One primary readout: D</a:t>
            </a:r>
            <a:r>
              <a:rPr kumimoji="1" lang="en-US" altLang="ko-KR" sz="1400" baseline="-25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rel</a:t>
            </a: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= D*(design) / D*(host)</a:t>
            </a:r>
          </a:p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Design roster: 237 (one design = one composition)</a:t>
            </a:r>
          </a:p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Build rules: parent sites fixed, full charge balance</a:t>
            </a:r>
          </a:p>
          <a:p>
            <a:pPr marL="182880" indent="-182880" latinLnBrk="0">
              <a:lnSpc>
                <a:spcPct val="110000"/>
              </a:lnSpc>
              <a:spcBef>
                <a:spcPts val="700"/>
              </a:spcBef>
              <a:buClr>
                <a:srgbClr val="1F2937"/>
              </a:buClr>
              <a:buSzPct val="80000"/>
              <a:buFont typeface="Arial" panose="020B0604020202020204" pitchFamily="34" charset="0"/>
              <a:buChar char="•"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Representative: the median-energy configuration</a:t>
            </a:r>
          </a:p>
        </p:txBody>
      </p:sp>
      <p:sp>
        <p:nvSpPr>
          <p:cNvPr id="258" name="Conclusion"/>
          <p:cNvSpPr txBox="1"/>
          <p:nvPr/>
        </p:nvSpPr>
        <p:spPr>
          <a:xfrm>
            <a:off x="365760" y="5074920"/>
            <a:ext cx="8412480" cy="34747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4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Ranking margin δ: proposed, not yet set</a:t>
            </a:r>
          </a:p>
        </p:txBody>
      </p:sp>
      <p:sp>
        <p:nvSpPr>
          <p:cNvPr id="259" name="Conclusion"/>
          <p:cNvSpPr txBox="1"/>
          <p:nvPr/>
        </p:nvSpPr>
        <p:spPr>
          <a:xfrm>
            <a:off x="365760" y="5513832"/>
            <a:ext cx="8412480" cy="365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3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 run scope is set after the pilot.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Progress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1887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2 pilot: does the precursor anion change Li transport?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Al₂O₃- vs Al₂S₃-derived Al doping in the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same host configuration and cell volume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Reported: </a:t>
            </a: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D(Al₂O₃) / D(Al₂S₃)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; checks and an equivalence test (±ln 1.5) fixed before the runs.</a:t>
            </a:r>
          </a:p>
        </p:txBody>
      </p:sp>
      <p:pic>
        <p:nvPicPr>
          <p:cNvPr id="260" name="He 2018 Fig. 3" descr="He 2018 Fig.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514600"/>
            <a:ext cx="6035040" cy="2373558"/>
          </a:xfrm>
          <a:prstGeom prst="rect">
            <a:avLst/>
          </a:prstGeom>
        </p:spPr>
      </p:pic>
      <p:sp>
        <p:nvSpPr>
          <p:cNvPr id="261" name="Literature tag"/>
          <p:cNvSpPr txBox="1"/>
          <p:nvPr/>
        </p:nvSpPr>
        <p:spPr>
          <a:xfrm>
            <a:off x="1554480" y="2221992"/>
            <a:ext cx="603504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3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Literature:</a:t>
            </a: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run-to-run spread and fit-window sensitivity</a:t>
            </a:r>
          </a:p>
        </p:txBody>
      </p:sp>
      <p:sp>
        <p:nvSpPr>
          <p:cNvPr id="262" name="Credit"/>
          <p:cNvSpPr txBox="1"/>
          <p:nvPr/>
        </p:nvSpPr>
        <p:spPr>
          <a:xfrm>
            <a:off x="502920" y="4915590"/>
            <a:ext cx="813816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Reproduced from He et al., npj Comput. Mater. 4, 18 (2018), Fig. 3</a:t>
            </a:r>
          </a:p>
        </p:txBody>
      </p:sp>
      <p:sp>
        <p:nvSpPr>
          <p:cNvPr id="263" name="Conclusion"/>
          <p:cNvSpPr txBox="1"/>
          <p:nvPr/>
        </p:nvSpPr>
        <p:spPr>
          <a:xfrm>
            <a:off x="365760" y="5349240"/>
            <a:ext cx="8412480" cy="365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Our pilot: </a:t>
            </a:r>
            <a:r>
              <a:rPr kumimoji="1" lang="en-US" altLang="ko-KR" sz="14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10 start configurations × 2 seeds</a:t>
            </a: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per precursor; 2–50 ps fit window.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Progress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118872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2 pilot at 1000 K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600 K, this UMA cell: no diffusivity reported (</a:t>
            </a:r>
            <a:r>
              <a:rPr kumimoji="1" lang="en-US" altLang="ko-KR" sz="1500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non-linear MSD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, 2–100 ps).</a:t>
            </a:r>
          </a:p>
          <a:p>
            <a:pPr marL="573750" indent="-285750" latinLnBrk="0">
              <a:lnSpc>
                <a:spcPct val="130000"/>
              </a:lnSpc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5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Predefined probe</a:t>
            </a:r>
            <a:r>
              <a:rPr kumimoji="1" lang="en-US" altLang="ko-KR" sz="15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: 800 K failed; 1000 K was selected.</a:t>
            </a:r>
          </a:p>
        </p:txBody>
      </p:sp>
      <p:pic>
        <p:nvPicPr>
          <p:cNvPr id="264" name="40-run roster on Oct 12" descr="40-run roster on Oct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816352"/>
            <a:ext cx="4251960" cy="2174298"/>
          </a:xfrm>
          <a:prstGeom prst="rect">
            <a:avLst/>
          </a:prstGeom>
        </p:spPr>
      </p:pic>
      <p:sp>
        <p:nvSpPr>
          <p:cNvPr id="265" name="Caption"/>
          <p:cNvSpPr txBox="1"/>
          <p:nvPr/>
        </p:nvSpPr>
        <p:spPr>
          <a:xfrm>
            <a:off x="502920" y="5018082"/>
            <a:ext cx="4251960" cy="292608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1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&lt; 40-run roster on Oct 12 &gt;</a:t>
            </a:r>
          </a:p>
        </p:txBody>
      </p:sp>
      <p:sp>
        <p:nvSpPr>
          <p:cNvPr id="266" name="Literature tag"/>
          <p:cNvSpPr txBox="1"/>
          <p:nvPr/>
        </p:nvSpPr>
        <p:spPr>
          <a:xfrm>
            <a:off x="4800600" y="2221992"/>
            <a:ext cx="384048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3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Literature:</a:t>
            </a: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temperature-dependent ordering</a:t>
            </a:r>
          </a:p>
        </p:txBody>
      </p:sp>
      <p:pic>
        <p:nvPicPr>
          <p:cNvPr id="267" name="Jung 2026 Fig 5b" descr="Li diffusivity vs 1000/T, Jung 2026 Fig. 5b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514600"/>
            <a:ext cx="3200400" cy="2842313"/>
          </a:xfrm>
          <a:prstGeom prst="rect">
            <a:avLst/>
          </a:prstGeom>
        </p:spPr>
      </p:pic>
      <p:sp>
        <p:nvSpPr>
          <p:cNvPr id="268" name="Credit"/>
          <p:cNvSpPr txBox="1"/>
          <p:nvPr/>
        </p:nvSpPr>
        <p:spPr>
          <a:xfrm>
            <a:off x="4800600" y="5384345"/>
            <a:ext cx="384048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Reproduced from Jung et al., eTransportation 28, 100570 (2026), Fig. 5b</a:t>
            </a:r>
          </a:p>
        </p:txBody>
      </p:sp>
      <p:sp>
        <p:nvSpPr>
          <p:cNvPr id="269" name="Conclusion"/>
          <p:cNvSpPr txBox="1"/>
          <p:nvPr/>
        </p:nvSpPr>
        <p:spPr>
          <a:xfrm>
            <a:off x="365760" y="5641848"/>
            <a:ext cx="8412480" cy="365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3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Cell ≈ 1.6 nm at 1000 K: the result will be </a:t>
            </a:r>
            <a:r>
              <a:rPr kumimoji="1" lang="en-US" altLang="ko-KR" sz="135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relative and condition-specific</a:t>
            </a:r>
            <a:r>
              <a:rPr kumimoji="1" lang="en-US" altLang="ko-KR" sz="135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70" name="References"/>
          <p:cNvSpPr txBox="1"/>
          <p:nvPr/>
        </p:nvSpPr>
        <p:spPr>
          <a:xfrm>
            <a:off x="502920" y="6035040"/>
            <a:ext cx="813816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buNone/>
              <a:defRPr/>
            </a:pPr>
            <a:r>
              <a:rPr kumimoji="1" lang="en-US" altLang="ko-KR" sz="10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Phuthi et al., Chem. Mater. (2026), Perspective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Plan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4572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Next calculations</a:t>
            </a:r>
          </a:p>
        </p:txBody>
      </p:sp>
      <p:sp>
        <p:nvSpPr>
          <p:cNvPr id="271" name="Dashed frame"/>
          <p:cNvSpPr/>
          <p:nvPr/>
        </p:nvSpPr>
        <p:spPr>
          <a:xfrm>
            <a:off x="411480" y="1783080"/>
            <a:ext cx="4069080" cy="3246120"/>
          </a:xfrm>
          <a:prstGeom prst="roundRect">
            <a:avLst>
              <a:gd name="adj" fmla="val 5000"/>
            </a:avLst>
          </a:prstGeom>
          <a:noFill/>
          <a:ln w="22225">
            <a:solidFill>
              <a:srgbClr val="FF5050"/>
            </a:solidFill>
            <a:prstDash val="dash"/>
          </a:ln>
        </p:spPr>
        <p:txBody>
          <a:bodyPr wrap="square" lIns="91440" tIns="64008" rIns="91440" bIns="64008" rtlCol="0" anchor="t">
            <a:noAutofit/>
          </a:bodyPr>
          <a:lstStyle/>
          <a:p>
            <a:endParaRPr lang="en-US" dirty="0"/>
          </a:p>
        </p:txBody>
      </p:sp>
      <p:sp>
        <p:nvSpPr>
          <p:cNvPr id="272" name="Frame title"/>
          <p:cNvSpPr txBox="1"/>
          <p:nvPr/>
        </p:nvSpPr>
        <p:spPr>
          <a:xfrm>
            <a:off x="822960" y="1609344"/>
            <a:ext cx="1417320" cy="329184"/>
          </a:xfrm>
          <a:prstGeom prst="rect">
            <a:avLst/>
          </a:prstGeom>
          <a:solidFill>
            <a:srgbClr val="FFFFFF"/>
          </a:solidFill>
        </p:spPr>
        <p:txBody>
          <a:bodyPr wrap="square" lIns="36576" tIns="18288" rIns="36576" bIns="18288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500" b="1" dirty="0">
                <a:solidFill>
                  <a:srgbClr val="FF505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Milestones</a:t>
            </a:r>
          </a:p>
        </p:txBody>
      </p:sp>
      <p:sp>
        <p:nvSpPr>
          <p:cNvPr id="273" name="Item 1"/>
          <p:cNvSpPr txBox="1"/>
          <p:nvPr/>
        </p:nvSpPr>
        <p:spPr>
          <a:xfrm>
            <a:off x="777240" y="1965960"/>
            <a:ext cx="3429000" cy="594360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274320" indent="-274320" latinLnBrk="0">
              <a:lnSpc>
                <a:spcPct val="100000"/>
              </a:lnSpc>
              <a:buNone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1.	Pilot verdict (late Oct)</a:t>
            </a:r>
          </a:p>
        </p:txBody>
      </p:sp>
      <p:sp>
        <p:nvSpPr>
          <p:cNvPr id="274" name="Item 2"/>
          <p:cNvSpPr txBox="1"/>
          <p:nvPr/>
        </p:nvSpPr>
        <p:spPr>
          <a:xfrm>
            <a:off x="777240" y="2560320"/>
            <a:ext cx="3429000" cy="594360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274320" indent="-274320" latinLnBrk="0">
              <a:lnSpc>
                <a:spcPct val="100000"/>
              </a:lnSpc>
              <a:buNone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2.	Run scope and ranking margin δ</a:t>
            </a:r>
          </a:p>
        </p:txBody>
      </p:sp>
      <p:sp>
        <p:nvSpPr>
          <p:cNvPr id="275" name="Item 3"/>
          <p:cNvSpPr txBox="1"/>
          <p:nvPr/>
        </p:nvSpPr>
        <p:spPr>
          <a:xfrm>
            <a:off x="777240" y="3154680"/>
            <a:ext cx="3429000" cy="594360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274320" indent="-274320" latinLnBrk="0">
              <a:lnSpc>
                <a:spcPct val="100000"/>
              </a:lnSpc>
              <a:buNone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3.	Do Stage-1 descriptors predict transport?</a:t>
            </a:r>
          </a:p>
        </p:txBody>
      </p:sp>
      <p:sp>
        <p:nvSpPr>
          <p:cNvPr id="276" name="Item 4"/>
          <p:cNvSpPr txBox="1"/>
          <p:nvPr/>
        </p:nvSpPr>
        <p:spPr>
          <a:xfrm>
            <a:off x="777240" y="3749040"/>
            <a:ext cx="3429000" cy="594360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274320" indent="-274320" latinLnBrk="0">
              <a:lnSpc>
                <a:spcPct val="100000"/>
              </a:lnSpc>
              <a:buNone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4.	Windows, interfaces (+As₂S₃), elastic constants</a:t>
            </a:r>
          </a:p>
        </p:txBody>
      </p:sp>
      <p:sp>
        <p:nvSpPr>
          <p:cNvPr id="277" name="Item 5"/>
          <p:cNvSpPr txBox="1"/>
          <p:nvPr/>
        </p:nvSpPr>
        <p:spPr>
          <a:xfrm>
            <a:off x="777240" y="4343400"/>
            <a:ext cx="3429000" cy="594360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 marL="274320" indent="-274320" latinLnBrk="0">
              <a:lnSpc>
                <a:spcPct val="100000"/>
              </a:lnSpc>
              <a:buNone/>
              <a:defRPr/>
            </a:pPr>
            <a:r>
              <a:rPr kumimoji="1" lang="en-US" altLang="ko-KR" sz="14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5.	Shortlist → DFT validation → experiments</a:t>
            </a:r>
          </a:p>
        </p:txBody>
      </p:sp>
      <p:pic>
        <p:nvPicPr>
          <p:cNvPr id="278" name="Phuthi 2026 Fig. 1a" descr="Phuthi 2026 Fig. 1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993392"/>
            <a:ext cx="3840480" cy="3210893"/>
          </a:xfrm>
          <a:prstGeom prst="rect">
            <a:avLst/>
          </a:prstGeom>
        </p:spPr>
      </p:pic>
      <p:sp>
        <p:nvSpPr>
          <p:cNvPr id="279" name="Literature tag"/>
          <p:cNvSpPr txBox="1"/>
          <p:nvPr/>
        </p:nvSpPr>
        <p:spPr>
          <a:xfrm>
            <a:off x="4663440" y="1700784"/>
            <a:ext cx="4114800" cy="256032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1300" b="1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Literature:</a:t>
            </a: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length and time scales</a:t>
            </a:r>
          </a:p>
        </p:txBody>
      </p:sp>
      <p:sp>
        <p:nvSpPr>
          <p:cNvPr id="280" name="Credit"/>
          <p:cNvSpPr txBox="1"/>
          <p:nvPr/>
        </p:nvSpPr>
        <p:spPr>
          <a:xfrm>
            <a:off x="4663440" y="5231717"/>
            <a:ext cx="4114800" cy="237744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00000"/>
              </a:lnSpc>
              <a:buNone/>
              <a:defRPr/>
            </a:pPr>
            <a:r>
              <a:rPr kumimoji="1" lang="en-US" altLang="ko-KR" sz="900" i="1" dirty="0">
                <a:solidFill>
                  <a:srgbClr val="6B728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Reproduced from Phuthi et al., Chem. Mater. (2026), Fig. 1a</a:t>
            </a:r>
          </a:p>
        </p:txBody>
      </p:sp>
      <p:sp>
        <p:nvSpPr>
          <p:cNvPr id="281" name="Conclusion"/>
          <p:cNvSpPr txBox="1"/>
          <p:nvPr/>
        </p:nvSpPr>
        <p:spPr>
          <a:xfrm>
            <a:off x="4663440" y="5532120"/>
            <a:ext cx="4114800" cy="36576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Planned for our runs: </a:t>
            </a:r>
            <a:r>
              <a:rPr kumimoji="1" lang="en-US" altLang="ko-KR" sz="13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cells ≥ 2 nm</a:t>
            </a:r>
            <a:r>
              <a:rPr kumimoji="1" lang="en-US" altLang="ko-KR" sz="13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(now ≈ 1.6 nm).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150" name="Rectangle 4"/>
          <p:cNvSpPr txBox="1"/>
          <p:nvPr/>
        </p:nvSpPr>
        <p:spPr>
          <a:xfrm>
            <a:off x="557784" y="987552"/>
            <a:ext cx="8083296" cy="27432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265113" indent="-265113" latinLnBrk="0">
              <a:lnSpc>
                <a:spcPct val="130000"/>
              </a:lnSpc>
              <a:buClr>
                <a:srgbClr val="A50021"/>
              </a:buClr>
              <a:buSzPct val="75000"/>
              <a:buFont typeface="Wingdings" pitchFamily="2" charset="2"/>
              <a:buChar char="n"/>
              <a:defRPr/>
            </a:pPr>
            <a:r>
              <a:rPr kumimoji="1" lang="en-US" altLang="ko-KR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Current status</a:t>
            </a:r>
          </a:p>
          <a:p>
            <a:pPr marL="573750" indent="-285750" latinLnBrk="0">
              <a:lnSpc>
                <a:spcPct val="140000"/>
              </a:lnSpc>
              <a:spcBef>
                <a:spcPts val="6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8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Stage 1 screened </a:t>
            </a:r>
            <a:r>
              <a:rPr kumimoji="1" lang="en-US" altLang="ko-KR" sz="18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91 precursors</a:t>
            </a:r>
            <a:r>
              <a:rPr kumimoji="1" lang="en-US" altLang="ko-KR" sz="18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(3,675 structures); the results are used as exploratory data.</a:t>
            </a:r>
          </a:p>
          <a:p>
            <a:pPr marL="573750" indent="-285750" latinLnBrk="0">
              <a:lnSpc>
                <a:spcPct val="140000"/>
              </a:lnSpc>
              <a:spcBef>
                <a:spcPts val="6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8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 September audit fixed </a:t>
            </a:r>
            <a:r>
              <a:rPr kumimoji="1" lang="en-US" altLang="ko-KR" sz="18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one readout and the build rules</a:t>
            </a:r>
            <a:r>
              <a:rPr kumimoji="1" lang="en-US" altLang="ko-KR" sz="18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before any new result.</a:t>
            </a:r>
          </a:p>
          <a:p>
            <a:pPr marL="573750" indent="-285750" latinLnBrk="0">
              <a:lnSpc>
                <a:spcPct val="140000"/>
              </a:lnSpc>
              <a:spcBef>
                <a:spcPts val="6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/>
            </a:pPr>
            <a:r>
              <a:rPr kumimoji="1" lang="en-US" altLang="ko-KR" sz="18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The Stage 2 pilot is running (</a:t>
            </a:r>
            <a:r>
              <a:rPr kumimoji="1" lang="en-US" altLang="ko-KR" sz="18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12 of 40</a:t>
            </a:r>
            <a:r>
              <a:rPr kumimoji="1" lang="en-US" altLang="ko-KR" sz="1800" dirty="0">
                <a:solidFill>
                  <a:schemeClr val="bg1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MD runs); the verdict comes around late October.</a:t>
            </a:r>
          </a:p>
        </p:txBody>
      </p:sp>
      <p:sp>
        <p:nvSpPr>
          <p:cNvPr id="282" name="Conclusion"/>
          <p:cNvSpPr txBox="1"/>
          <p:nvPr/>
        </p:nvSpPr>
        <p:spPr>
          <a:xfrm>
            <a:off x="365760" y="4114800"/>
            <a:ext cx="8412480" cy="45720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 algn="ctr">
              <a:lnSpc>
                <a:spcPct val="110000"/>
              </a:lnSpc>
              <a:buNone/>
              <a:defRPr/>
            </a:pPr>
            <a:r>
              <a:rPr kumimoji="1" lang="en-US" altLang="ko-KR" sz="1700" dirty="0">
                <a:solidFill>
                  <a:srgbClr val="0070C0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No dopant ranking yet.</a:t>
            </a:r>
            <a:r>
              <a:rPr kumimoji="1" lang="en-US" altLang="ko-KR" sz="17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 The ranking margin remains to be set.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530926" y="324246"/>
            <a:ext cx="7992888" cy="36933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1270" h="1270"/>
              <a:bevelB w="1270" h="1270"/>
            </a:sp3d>
          </a:bodyPr>
          <a:lstStyle/>
          <a:p>
            <a:pPr latinLnBrk="0">
              <a:defRPr/>
            </a:pPr>
            <a:r>
              <a:rPr lang="en-US" altLang="en-US" sz="2400" b="1" kern="0" spc="-30" dirty="0">
                <a:solidFill>
                  <a:schemeClr val="bg2"/>
                </a:solidFill>
                <a:latin typeface="Arial" panose="020B0604020202020204" pitchFamily="34" charset="0"/>
                <a:ea typeface="굴림" pitchFamily="50" charset="-127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283" name="Refs left"/>
          <p:cNvSpPr txBox="1"/>
          <p:nvPr/>
        </p:nvSpPr>
        <p:spPr>
          <a:xfrm>
            <a:off x="457200" y="914400"/>
            <a:ext cx="4069080" cy="53492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Motivation and screening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[1] Kang et al., Chem. Commun. 62, 10277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[2] Xiao et al., Joule 3, 1252 (2019)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[3] Kahle et al., Energy Environ. Sci. 13, 928 (2020)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[4] Sendek et al., Energy Environ. Sci. 10, 306 (2017)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[5] Miara et al., Chem. Mater. 27, 4040 (2015)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[6] Anderson et al., Adv. Energy Mater. 14, 2304025 (2024)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[7] Lee et al., J. Mater. Chem. A 12, 7272 (2024)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[8] Jung et al., eTransportation 28, 100570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[9] Park et al., Adv. Sci. 2026, e76305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[10] Muy et al., Chem. Mater. 37, 2395 (2025)</a:t>
            </a:r>
          </a:p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Precursor-derived co-doping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[11] Taklu et al., Nano Energy 90, 106542 (2021)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[12] Liu et al., Angew. Chem. Int. Ed. 62, e202302655 (2023)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[13] Jang et al., J. Alloys Compd. 957, 170273 (2023)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[14] Yang et al., Electrochim. Acta 535, 146619 (2025)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[15] Xu et al., Nano Energy 157, 112246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[16] Jung et al., Adv. Funct. Mater. (2026), doi:10.1002/adfm.78249</a:t>
            </a:r>
          </a:p>
        </p:txBody>
      </p:sp>
      <p:sp>
        <p:nvSpPr>
          <p:cNvPr id="284" name="Refs right"/>
          <p:cNvSpPr txBox="1"/>
          <p:nvPr/>
        </p:nvSpPr>
        <p:spPr>
          <a:xfrm>
            <a:off x="4617720" y="914400"/>
            <a:ext cx="4069080" cy="5349240"/>
          </a:xfrm>
          <a:prstGeom prst="rect">
            <a:avLst/>
          </a:prstGeom>
          <a:noFill/>
        </p:spPr>
        <p:txBody>
          <a:bodyPr wrap="square" lIns="45720" tIns="27432" rIns="45720" bIns="27432" rtlCol="0" anchor="t">
            <a:noAutofit/>
          </a:bodyPr>
          <a:lstStyle/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Methods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[17] Wood et al. (UMA), arXiv:2506.23971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[18] Rao et al., Phys. Status Solidi A 208, 1804 (2011)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[19] Deng et al., J. Electrochem. Soc. 163, A67 (2016)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[20] Torii et al., J. Phys. Chem. C 129, 17882 (2025)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[21] Zhu et al., ACS Appl. Mater. Interfaces 7, 23685 (2015)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[22] Richards et al., Chem. Mater. 28, 266 (2016)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[23] Xiao et al., Nat. Rev. Mater. 5, 105 (2020)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[24] Schwietert et al., Nat. Mater. 19, 428 (2020)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[25] Schwietert et al., JACS Au 1, 1488 (2021)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[26] Sundar et al., Adv. Sci. 12, e13191 (2025)</a:t>
            </a:r>
          </a:p>
          <a:p>
            <a:pPr marL="0" indent="0" latinLnBrk="0">
              <a:lnSpc>
                <a:spcPct val="100000"/>
              </a:lnSpc>
              <a:spcBef>
                <a:spcPts val="500"/>
              </a:spcBef>
              <a:spcAft>
                <a:spcPts val="150"/>
              </a:spcAft>
              <a:buNone/>
              <a:defRPr/>
            </a:pPr>
            <a:r>
              <a:rPr kumimoji="1" lang="en-US" altLang="ko-KR" sz="1100" b="1" dirty="0">
                <a:solidFill>
                  <a:srgbClr val="1F497D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Transport statistics and limits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[27] He et al., npj Comput. Mater. 4, 18 (2018)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[28] Phuthi et al., Chem. Mater. (2026), Perspective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[29] Marcolongo et al., Phys. Rev. Materials 1, 025402 (2017)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[30] Alghamdi et al., J. Phys. Energy 8, 025013 (2026)</a:t>
            </a:r>
          </a:p>
          <a:p>
            <a:pPr marL="0" indent="0" latinLnBrk="0">
              <a:lnSpc>
                <a:spcPct val="100000"/>
              </a:lnSpc>
              <a:spcAft>
                <a:spcPts val="80"/>
              </a:spcAft>
              <a:buNone/>
              <a:defRPr/>
            </a:pPr>
            <a:r>
              <a:rPr kumimoji="1" lang="en-US" altLang="ko-KR" sz="1000" dirty="0">
                <a:solidFill>
                  <a:srgbClr val="1F2937"/>
                </a:solidFill>
                <a:latin typeface="Calibri" panose="020F0502020204030204" pitchFamily="34" charset="0"/>
                <a:ea typeface="-윤고딕340" pitchFamily="18" charset="-127"/>
                <a:cs typeface="Calibri" panose="020F0502020204030204" pitchFamily="34" charset="0"/>
              </a:rPr>
              <a:t>[31] Grasselli et al., Digital Discovery 4, 2654 (2025)</a:t>
            </a:r>
          </a:p>
        </p:txBody>
      </p:sp>
    </p:spTree>
    <p:extLst>
      <p:ext uri="{BB962C8B-B14F-4D97-AF65-F5344CB8AC3E}">
        <p14:creationId xmlns:p14="http://schemas.microsoft.com/office/powerpoint/2010/main" val="393722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6AFE5361305704485C7D500A4632ABE" ma:contentTypeVersion="11" ma:contentTypeDescription="새 문서를 만듭니다." ma:contentTypeScope="" ma:versionID="ee2f9e464ea0d9b90a4fba868166d8d5">
  <xsd:schema xmlns:xsd="http://www.w3.org/2001/XMLSchema" xmlns:xs="http://www.w3.org/2001/XMLSchema" xmlns:p="http://schemas.microsoft.com/office/2006/metadata/properties" xmlns:ns3="8618cbce-88c9-49f3-9f20-59c1fddbfdd1" targetNamespace="http://schemas.microsoft.com/office/2006/metadata/properties" ma:root="true" ma:fieldsID="d2e4f78982f91351a718f3a14bdce4a6" ns3:_="">
    <xsd:import namespace="8618cbce-88c9-49f3-9f20-59c1fddbfdd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8cbce-88c9-49f3-9f20-59c1fddbf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A4CB31-0D99-4B37-8F6C-83B70069D72B}">
  <ds:schemaRefs>
    <ds:schemaRef ds:uri="http://purl.org/dc/dcmitype/"/>
    <ds:schemaRef ds:uri="http://schemas.openxmlformats.org/package/2006/metadata/core-properties"/>
    <ds:schemaRef ds:uri="http://www.w3.org/XML/1998/namespace"/>
    <ds:schemaRef ds:uri="http://purl.org/dc/elements/1.1/"/>
    <ds:schemaRef ds:uri="8618cbce-88c9-49f3-9f20-59c1fddbfdd1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12DA5A3-25CB-4F0F-8A4E-1A578D0207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18cbce-88c9-49f3-9f20-59c1fddbfd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27F94D-CF2A-433F-BFD9-BDAC2A5C0A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51965</TotalTime>
  <Words>1665</Words>
  <Application>Microsoft Office PowerPoint</Application>
  <PresentationFormat>화면 슬라이드 쇼(4:3)</PresentationFormat>
  <Paragraphs>209</Paragraphs>
  <Slides>19</Slides>
  <Notes>17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용훈 안</cp:lastModifiedBy>
  <cp:revision>3212</cp:revision>
  <cp:lastPrinted>2026-06-12T05:34:39Z</cp:lastPrinted>
  <dcterms:created xsi:type="dcterms:W3CDTF">2013-09-11T08:33:43Z</dcterms:created>
  <dcterms:modified xsi:type="dcterms:W3CDTF">2026-10-12T16:00:45Z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0x010100A6AFE5361305704485C7D500A4632ABE</vt:lpwstr>
  </property>
</Properties>
</file>