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44" r:id="rId34"/>
    <p:sldId id="1332" r:id="rId15"/>
    <p:sldId id="1337" r:id="rId20"/>
    <p:sldId id="1343" r:id="rId33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score_top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16,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365760" y="2240280"/>
          <a:ext cx="8412480" cy="3127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br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(coating layer)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Muy 2025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(Li₇PS₆)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element, site-resolved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Jung 2026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LGPS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two elements, chosen independently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2,550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ML-predicted G and G/K</a:t>
                      </a:r>
                      <a:b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(used for screening)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what this study adds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5120640" y="18288"/>
            <a:ext cx="3566160" cy="7863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27, 4040 (2015).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Joule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3, 1252 (2019).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12, 7272 (2024).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37, 2395 (2025).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eTransportation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28, 100570 (2026).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636912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5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4777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53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54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5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56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7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screening pipeline (June–August)</a:t>
            </a:r>
          </a:p>
        </p:txBody>
      </p:sp>
      <p:sp>
        <p:nvSpPr>
          <p:cNvPr id="238" name="Dashed frame"/>
          <p:cNvSpPr/>
          <p:nvPr/>
        </p:nvSpPr>
        <p:spPr>
          <a:xfrm>
            <a:off x="411480" y="1783080"/>
            <a:ext cx="5120640" cy="342900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9" name="Frame title"/>
          <p:cNvSpPr txBox="1"/>
          <p:nvPr/>
        </p:nvSpPr>
        <p:spPr>
          <a:xfrm>
            <a:off x="822960" y="1609344"/>
            <a:ext cx="1197864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Pipeline</a:t>
            </a:r>
          </a:p>
        </p:txBody>
      </p:sp>
      <p:sp>
        <p:nvSpPr>
          <p:cNvPr id="240" name="Item 1"/>
          <p:cNvSpPr txBox="1"/>
          <p:nvPr/>
        </p:nvSpPr>
        <p:spPr>
          <a:xfrm>
            <a:off x="777240" y="1965960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Site enumeration</a:t>
            </a:r>
          </a:p>
        </p:txBody>
      </p:sp>
      <p:sp>
        <p:nvSpPr>
          <p:cNvPr id="241" name="Note 1"/>
          <p:cNvSpPr txBox="1"/>
          <p:nvPr/>
        </p:nvSpPr>
        <p:spPr>
          <a:xfrm>
            <a:off x="3882542" y="1965960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42" name="Item 2"/>
          <p:cNvSpPr txBox="1"/>
          <p:nvPr/>
        </p:nvSpPr>
        <p:spPr>
          <a:xfrm>
            <a:off x="777240" y="2596896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UMA relaxation and volume filter</a:t>
            </a:r>
          </a:p>
        </p:txBody>
      </p:sp>
      <p:sp>
        <p:nvSpPr>
          <p:cNvPr id="243" name="Note 2"/>
          <p:cNvSpPr txBox="1"/>
          <p:nvPr/>
        </p:nvSpPr>
        <p:spPr>
          <a:xfrm>
            <a:off x="3882542" y="2596896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3,675 structures</a:t>
            </a:r>
          </a:p>
        </p:txBody>
      </p:sp>
      <p:sp>
        <p:nvSpPr>
          <p:cNvPr id="244" name="Item 3"/>
          <p:cNvSpPr txBox="1"/>
          <p:nvPr/>
        </p:nvSpPr>
        <p:spPr>
          <a:xfrm>
            <a:off x="777240" y="3227832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Short anneal (500 K, 50 ps) and re-relaxation</a:t>
            </a:r>
          </a:p>
        </p:txBody>
      </p:sp>
      <p:sp>
        <p:nvSpPr>
          <p:cNvPr id="245" name="Note 3"/>
          <p:cNvSpPr txBox="1"/>
          <p:nvPr/>
        </p:nvSpPr>
        <p:spPr>
          <a:xfrm>
            <a:off x="3882542" y="3227832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693 selected</a:t>
            </a:r>
          </a:p>
        </p:txBody>
      </p:sp>
      <p:sp>
        <p:nvSpPr>
          <p:cNvPr id="246" name="Item 4"/>
          <p:cNvSpPr txBox="1"/>
          <p:nvPr/>
        </p:nvSpPr>
        <p:spPr>
          <a:xfrm>
            <a:off x="777240" y="3858768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Descriptors (Li-site landscape, elastic moduli, stability window, and interface reactivity)</a:t>
            </a:r>
          </a:p>
        </p:txBody>
      </p:sp>
      <p:sp>
        <p:nvSpPr>
          <p:cNvPr id="247" name="Note 4"/>
          <p:cNvSpPr txBox="1"/>
          <p:nvPr/>
        </p:nvSpPr>
        <p:spPr>
          <a:xfrm>
            <a:off x="3882542" y="3858768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48" name="Item 5"/>
          <p:cNvSpPr txBox="1"/>
          <p:nvPr/>
        </p:nvSpPr>
        <p:spPr>
          <a:xfrm>
            <a:off x="777240" y="4489704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Combined score and ranking</a:t>
            </a:r>
          </a:p>
        </p:txBody>
      </p:sp>
      <p:sp>
        <p:nvSpPr>
          <p:cNvPr id="249" name="Note 5"/>
          <p:cNvSpPr txBox="1"/>
          <p:nvPr/>
        </p:nvSpPr>
        <p:spPr>
          <a:xfrm>
            <a:off x="3882542" y="4489704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50" name="Caption"/>
          <p:cNvSpPr txBox="1"/>
          <p:nvPr/>
        </p:nvSpPr>
        <p:spPr>
          <a:xfrm>
            <a:off x="411480" y="5376672"/>
            <a:ext cx="51206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Stage-1 pipeline, run from June to August &gt;</a:t>
            </a:r>
          </a:p>
        </p:txBody>
      </p:sp>
      <p:pic>
        <p:nvPicPr>
          <p:cNvPr id="251" name="Stage-1 composite score, top 10 of 91" descr="Stage-1 composite score, top 10 of 9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810512"/>
            <a:ext cx="3017520" cy="3283772"/>
          </a:xfrm>
          <a:prstGeom prst="rect">
            <a:avLst/>
          </a:prstGeom>
        </p:spPr>
      </p:pic>
      <p:sp>
        <p:nvSpPr>
          <p:cNvPr id="252" name="Caption"/>
          <p:cNvSpPr txBox="1"/>
          <p:nvPr/>
        </p:nvSpPr>
        <p:spPr>
          <a:xfrm>
            <a:off x="5577840" y="5376672"/>
            <a:ext cx="32918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Stage-1 composite score, top 10 of 91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91 precursors with this definition.</a:t>
            </a:r>
          </a:p>
        </p:txBody>
      </p:sp>
      <p:pic>
        <p:nvPicPr>
          <p:cNvPr id="258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9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60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61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62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63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64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65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6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67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68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9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70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71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72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73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74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75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76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77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78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9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80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81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82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83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84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85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86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87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88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9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90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91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92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93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94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9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9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