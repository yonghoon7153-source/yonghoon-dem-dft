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32" r:id="rId15"/>
    <p:sldId id="1337" r:id="rId20"/>
    <p:sldId id="1343" r:id="rId33"/>
    <p:sldId id="1344" r:id="rId34"/>
    <p:sldId id="1345" r:id="rId35"/>
    <p:sldId id="1346" r:id="rId36"/>
    <p:sldId id="1347" r:id="rId37"/>
    <p:sldId id="1348" r:id="rId38"/>
    <p:sldId id="1263" r:id="rId23"/>
    <p:sldId id="1349" r:id="rId39"/>
    <p:sldId id="1330" r:id="rId14"/>
    <p:sldId id="1336" r:id="rId19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<Relationship Id="rId35" Type="http://schemas.openxmlformats.org/officeDocument/2006/relationships/slide" Target="slides/slide25.xml"/>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lit_jung2026_sio2_fig3d.png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07_stage1_coverage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0_host_window.png"/><Relationship Id="rId4" Type="http://schemas.openxmlformats.org/officeDocument/2006/relationships/image" Target="../media/lit_schwietert2021_fig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he2018_fig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3_run_roster.png"/><Relationship Id="rId4" Type="http://schemas.openxmlformats.org/officeDocument/2006/relationships/image" Target="../media/jung2026_fig5b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phuthi2026_fig1a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13,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 solid electrolytes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are coupled.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Because these failure modes are coupled, improving one of them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degrade another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loss is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not 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457200" y="2057400"/>
          <a:ext cx="8229600" cy="283464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 (via Anderson)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45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elements already in the formula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— free coating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40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 (not a gate)</a:t>
                      </a:r>
                      <a:b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b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endParaRPr sz="140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9144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dopant screens and this study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one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fills a cation and an anion site.</a:t>
            </a:r>
          </a:p>
        </p:txBody>
      </p:sp>
      <p:sp>
        <p:nvSpPr>
          <p:cNvPr id="237" name="References top"/>
          <p:cNvSpPr txBox="1"/>
          <p:nvPr/>
        </p:nvSpPr>
        <p:spPr>
          <a:xfrm>
            <a:off x="4206240" y="850392"/>
            <a:ext cx="44805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 27, 4040 (2015) · Adv. Energy Mater. 14, 2304025 (2024)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J. Mater. Chem. A 12, 7272 (2024) · Joule 3, 1252 (2019)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89FB887-B765-8021-42AC-B004213393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492758"/>
              </p:ext>
            </p:extLst>
          </p:nvPr>
        </p:nvGraphicFramePr>
        <p:xfrm>
          <a:off x="502920" y="2286000"/>
          <a:ext cx="4343400" cy="292608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family</a:t>
                      </a:r>
                      <a:endParaRPr lang="ko-KR" altLang="en-US" sz="1400" b="1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oxides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Ag₂O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B₂O₃,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62756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chlorides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CrCl₃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44774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sulfides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Ga₂S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330347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fluorides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28722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bromides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CaBr₂,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nitrides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AlN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Ca₃N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GaN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Li₃N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iodides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₃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LiI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MgI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NaI</a:t>
                      </a:r>
                      <a:endParaRPr lang="ko-KR" altLang="en-US" sz="14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Cations +1 to +6 paired with anions O²⁻ to I⁻; only existing compounds.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All 91 precursors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were relaxed.</a:t>
            </a:r>
          </a:p>
        </p:txBody>
      </p:sp>
      <p:pic>
        <p:nvPicPr>
          <p:cNvPr id="238" name="Jung 2026 Fig. 3d" descr="Jung 2026 Fig. 3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3285819"/>
            <a:ext cx="3520440" cy="917298"/>
          </a:xfrm>
          <a:prstGeom prst="rect">
            <a:avLst/>
          </a:prstGeom>
        </p:spPr>
      </p:pic>
      <p:sp>
        <p:nvSpPr>
          <p:cNvPr id="239" name="Literature tag"/>
          <p:cNvSpPr txBox="1"/>
          <p:nvPr/>
        </p:nvSpPr>
        <p:spPr>
          <a:xfrm>
            <a:off x="4937760" y="2993211"/>
            <a:ext cx="38862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 example: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SiO₂ co-doping</a:t>
            </a:r>
          </a:p>
        </p:txBody>
      </p:sp>
      <p:sp>
        <p:nvSpPr>
          <p:cNvPr id="240" name="Credit"/>
          <p:cNvSpPr txBox="1"/>
          <p:nvPr/>
        </p:nvSpPr>
        <p:spPr>
          <a:xfrm>
            <a:off x="4937760" y="4230549"/>
            <a:ext cx="38862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Adv. Funct. Mater. (2026), Fig. 3d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selected structures out of their local minimum.</a:t>
            </a:r>
          </a:p>
        </p:txBody>
      </p:sp>
      <p:pic>
        <p:nvPicPr>
          <p:cNvPr id="244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2468880"/>
            <a:ext cx="4572000" cy="2204673"/>
          </a:xfrm>
          <a:prstGeom prst="rect">
            <a:avLst/>
          </a:prstGeom>
        </p:spPr>
      </p:pic>
      <p:sp>
        <p:nvSpPr>
          <p:cNvPr id="245" name="Caption left"/>
          <p:cNvSpPr txBox="1"/>
          <p:nvPr/>
        </p:nvSpPr>
        <p:spPr>
          <a:xfrm>
            <a:off x="502920" y="4691841"/>
            <a:ext cx="457200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pair: main batch 3,615 (+60 in the August re-run) &gt;</a:t>
            </a:r>
          </a:p>
        </p:txBody>
      </p:sp>
      <p:pic>
        <p:nvPicPr>
          <p:cNvPr id="246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0" y="2697480"/>
            <a:ext cx="2834640" cy="2090612"/>
          </a:xfrm>
          <a:prstGeom prst="rect">
            <a:avLst/>
          </a:prstGeom>
        </p:spPr>
      </p:pic>
      <p:sp>
        <p:nvSpPr>
          <p:cNvPr id="247" name="Caption right"/>
          <p:cNvSpPr txBox="1"/>
          <p:nvPr/>
        </p:nvSpPr>
        <p:spPr>
          <a:xfrm>
            <a:off x="5394960" y="4806380"/>
            <a:ext cx="3108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regions; it is a structural proxy for Li pathways.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48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DFT studies: the basis of this screening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Top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bulk materials and their doped or coated forms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Bottom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SEI components, interfaces, and binders in a battery cell</a:t>
            </a:r>
          </a:p>
        </p:txBody>
      </p:sp>
      <p:sp>
        <p:nvSpPr>
          <p:cNvPr id="201" name="Tile 1 title"/>
          <p:cNvSpPr txBox="1"/>
          <p:nvPr/>
        </p:nvSpPr>
        <p:spPr>
          <a:xfrm>
            <a:off x="502920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2" name="Tile 1 figure"/>
          <p:cNvSpPr/>
          <p:nvPr/>
        </p:nvSpPr>
        <p:spPr>
          <a:xfrm>
            <a:off x="557784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3" name="Tile 1 caption"/>
          <p:cNvSpPr txBox="1"/>
          <p:nvPr/>
        </p:nvSpPr>
        <p:spPr>
          <a:xfrm>
            <a:off x="502920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gap · EOS · elasticity &gt;</a:t>
            </a:r>
          </a:p>
        </p:txBody>
      </p:sp>
      <p:sp>
        <p:nvSpPr>
          <p:cNvPr id="204" name="Tile 2 title"/>
          <p:cNvSpPr txBox="1"/>
          <p:nvPr/>
        </p:nvSpPr>
        <p:spPr>
          <a:xfrm>
            <a:off x="2569464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5" name="Tile 2 figure"/>
          <p:cNvSpPr/>
          <p:nvPr/>
        </p:nvSpPr>
        <p:spPr>
          <a:xfrm>
            <a:off x="2624328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6" name="Tile 2 caption"/>
          <p:cNvSpPr txBox="1"/>
          <p:nvPr/>
        </p:nvSpPr>
        <p:spPr>
          <a:xfrm>
            <a:off x="2569464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edges · ICOHP · CEI &gt;</a:t>
            </a:r>
          </a:p>
        </p:txBody>
      </p:sp>
      <p:sp>
        <p:nvSpPr>
          <p:cNvPr id="207" name="Tile 3 title"/>
          <p:cNvSpPr txBox="1"/>
          <p:nvPr/>
        </p:nvSpPr>
        <p:spPr>
          <a:xfrm>
            <a:off x="4636008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08" name="Tile 3 figure"/>
          <p:cNvSpPr/>
          <p:nvPr/>
        </p:nvSpPr>
        <p:spPr>
          <a:xfrm>
            <a:off x="4690872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3 caption"/>
          <p:cNvSpPr txBox="1"/>
          <p:nvPr/>
        </p:nvSpPr>
        <p:spPr>
          <a:xfrm>
            <a:off x="4636008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EOS · BVSE · MLIP-MD &gt;</a:t>
            </a:r>
          </a:p>
        </p:txBody>
      </p:sp>
      <p:sp>
        <p:nvSpPr>
          <p:cNvPr id="210" name="Tile 4 title"/>
          <p:cNvSpPr txBox="1"/>
          <p:nvPr/>
        </p:nvSpPr>
        <p:spPr>
          <a:xfrm>
            <a:off x="6702552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1" name="Tile 4 figure"/>
          <p:cNvSpPr/>
          <p:nvPr/>
        </p:nvSpPr>
        <p:spPr>
          <a:xfrm>
            <a:off x="6757416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2" name="Tile 4 caption"/>
          <p:cNvSpPr txBox="1"/>
          <p:nvPr/>
        </p:nvSpPr>
        <p:spPr>
          <a:xfrm>
            <a:off x="6702552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adsorption · NEB &gt;</a:t>
            </a:r>
          </a:p>
        </p:txBody>
      </p:sp>
      <p:sp>
        <p:nvSpPr>
          <p:cNvPr id="213" name="Tile 5 title"/>
          <p:cNvSpPr txBox="1"/>
          <p:nvPr/>
        </p:nvSpPr>
        <p:spPr>
          <a:xfrm>
            <a:off x="502920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14" name="Tile 5 figure"/>
          <p:cNvSpPr/>
          <p:nvPr/>
        </p:nvSpPr>
        <p:spPr>
          <a:xfrm>
            <a:off x="557784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5" name="Tile 5 caption"/>
          <p:cNvSpPr txBox="1"/>
          <p:nvPr/>
        </p:nvSpPr>
        <p:spPr>
          <a:xfrm>
            <a:off x="502920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migration (NEB) &gt;</a:t>
            </a:r>
          </a:p>
        </p:txBody>
      </p:sp>
      <p:sp>
        <p:nvSpPr>
          <p:cNvPr id="216" name="Tile 6 title"/>
          <p:cNvSpPr txBox="1"/>
          <p:nvPr/>
        </p:nvSpPr>
        <p:spPr>
          <a:xfrm>
            <a:off x="2569464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Li₂S–Li₆PS₅Cl interphase</a:t>
            </a:r>
          </a:p>
        </p:txBody>
      </p:sp>
      <p:sp>
        <p:nvSpPr>
          <p:cNvPr id="217" name="Tile 6 figure"/>
          <p:cNvSpPr/>
          <p:nvPr/>
        </p:nvSpPr>
        <p:spPr>
          <a:xfrm>
            <a:off x="2624328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8" name="Tile 6 caption"/>
          <p:cNvSpPr txBox="1"/>
          <p:nvPr/>
        </p:nvSpPr>
        <p:spPr>
          <a:xfrm>
            <a:off x="2569464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glass model · MLIP-MD &gt;</a:t>
            </a:r>
          </a:p>
        </p:txBody>
      </p:sp>
      <p:sp>
        <p:nvSpPr>
          <p:cNvPr id="219" name="Tile 7 title"/>
          <p:cNvSpPr txBox="1"/>
          <p:nvPr/>
        </p:nvSpPr>
        <p:spPr>
          <a:xfrm>
            <a:off x="4636008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0" name="Tile 7 figure"/>
          <p:cNvSpPr/>
          <p:nvPr/>
        </p:nvSpPr>
        <p:spPr>
          <a:xfrm>
            <a:off x="4690872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7 caption"/>
          <p:cNvSpPr txBox="1"/>
          <p:nvPr/>
        </p:nvSpPr>
        <p:spPr>
          <a:xfrm>
            <a:off x="4636008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adhesion &gt;</a:t>
            </a:r>
          </a:p>
        </p:txBody>
      </p:sp>
      <p:sp>
        <p:nvSpPr>
          <p:cNvPr id="222" name="Tile 8 title"/>
          <p:cNvSpPr txBox="1"/>
          <p:nvPr/>
        </p:nvSpPr>
        <p:spPr>
          <a:xfrm>
            <a:off x="6702552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(SDCP) adsorption</a:t>
            </a:r>
          </a:p>
        </p:txBody>
      </p:sp>
      <p:sp>
        <p:nvSpPr>
          <p:cNvPr id="223" name="Tile 8 figure"/>
          <p:cNvSpPr/>
          <p:nvPr/>
        </p:nvSpPr>
        <p:spPr>
          <a:xfrm>
            <a:off x="6757416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4" name="Tile 8 caption"/>
          <p:cNvSpPr txBox="1"/>
          <p:nvPr/>
        </p:nvSpPr>
        <p:spPr>
          <a:xfrm>
            <a:off x="6702552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spin-state adsorption &gt;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Choosing a dopant precursor for Li₆PS₅Cl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 the lab, dopants are added 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compounds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not as bare elements.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This work screens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candidate precursors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by simulation before synthesis.</a:t>
            </a:r>
          </a:p>
        </p:txBody>
      </p:sp>
      <p:sp>
        <p:nvSpPr>
          <p:cNvPr id="225" name="Dashed frame"/>
          <p:cNvSpPr/>
          <p:nvPr/>
        </p:nvSpPr>
        <p:spPr>
          <a:xfrm>
            <a:off x="521208" y="2377440"/>
            <a:ext cx="8101584" cy="2103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6" name="Frame title"/>
          <p:cNvSpPr txBox="1"/>
          <p:nvPr/>
        </p:nvSpPr>
        <p:spPr>
          <a:xfrm>
            <a:off x="932688" y="2203704"/>
            <a:ext cx="109728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An example</a:t>
            </a:r>
          </a:p>
        </p:txBody>
      </p:sp>
      <p:sp>
        <p:nvSpPr>
          <p:cNvPr id="227" name="Precursor Al₂O₃"/>
          <p:cNvSpPr/>
          <p:nvPr/>
        </p:nvSpPr>
        <p:spPr>
          <a:xfrm>
            <a:off x="914400" y="2706624"/>
            <a:ext cx="1371600" cy="56692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2700">
            <a:solidFill>
              <a:srgbClr val="9CA3AF"/>
            </a:solidFill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20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</a:t>
            </a:r>
          </a:p>
        </p:txBody>
      </p:sp>
      <p:sp>
        <p:nvSpPr>
          <p:cNvPr id="228" name="Arrow 228"/>
          <p:cNvSpPr/>
          <p:nvPr/>
        </p:nvSpPr>
        <p:spPr>
          <a:xfrm>
            <a:off x="2432304" y="2862072"/>
            <a:ext cx="457200" cy="256032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9" name="Brings O"/>
          <p:cNvSpPr txBox="1"/>
          <p:nvPr/>
        </p:nvSpPr>
        <p:spPr>
          <a:xfrm>
            <a:off x="2971800" y="2706624"/>
            <a:ext cx="1234440" cy="56692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00000"/>
              </a:lnSpc>
              <a:buNone/>
              <a:defRPr/>
            </a:pPr>
            <a:r>
              <a:rPr kumimoji="1" lang="en-US" altLang="ko-KR" sz="2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 + </a:t>
            </a:r>
            <a:r>
              <a:rPr kumimoji="1" lang="en-US" altLang="ko-KR" sz="20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</a:t>
            </a:r>
          </a:p>
        </p:txBody>
      </p:sp>
      <p:sp>
        <p:nvSpPr>
          <p:cNvPr id="230" name="Precursor Al₂S₃"/>
          <p:cNvSpPr/>
          <p:nvPr/>
        </p:nvSpPr>
        <p:spPr>
          <a:xfrm>
            <a:off x="914400" y="3602736"/>
            <a:ext cx="1371600" cy="56692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2700">
            <a:solidFill>
              <a:srgbClr val="9CA3AF"/>
            </a:solidFill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20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Al₂S₃</a:t>
            </a:r>
          </a:p>
        </p:txBody>
      </p:sp>
      <p:sp>
        <p:nvSpPr>
          <p:cNvPr id="231" name="Arrow 231"/>
          <p:cNvSpPr/>
          <p:nvPr/>
        </p:nvSpPr>
        <p:spPr>
          <a:xfrm>
            <a:off x="2432304" y="3758184"/>
            <a:ext cx="457200" cy="256032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2" name="Brings S"/>
          <p:cNvSpPr txBox="1"/>
          <p:nvPr/>
        </p:nvSpPr>
        <p:spPr>
          <a:xfrm>
            <a:off x="2971800" y="3602736"/>
            <a:ext cx="1234440" cy="56692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00000"/>
              </a:lnSpc>
              <a:buNone/>
              <a:defRPr/>
            </a:pPr>
            <a:r>
              <a:rPr kumimoji="1" lang="en-US" altLang="ko-KR" sz="2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 + </a:t>
            </a:r>
            <a:r>
              <a:rPr kumimoji="1" lang="en-US" altLang="ko-KR" sz="20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</a:t>
            </a:r>
          </a:p>
        </p:txBody>
      </p:sp>
      <p:sp>
        <p:nvSpPr>
          <p:cNvPr id="233" name="Brace"/>
          <p:cNvSpPr/>
          <p:nvPr/>
        </p:nvSpPr>
        <p:spPr>
          <a:xfrm>
            <a:off x="4224528" y="2706624"/>
            <a:ext cx="219456" cy="1463040"/>
          </a:xfrm>
          <a:prstGeom prst="rightBrace">
            <a:avLst/>
          </a:prstGeom>
          <a:noFill/>
          <a:ln w="19050">
            <a:solidFill>
              <a:srgbClr val="9CA3AF"/>
            </a:solidFill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4" name="Question"/>
          <p:cNvSpPr txBox="1"/>
          <p:nvPr/>
        </p:nvSpPr>
        <p:spPr>
          <a:xfrm>
            <a:off x="4617720" y="2651760"/>
            <a:ext cx="3840480" cy="157276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10000"/>
              </a:lnSpc>
              <a:buNone/>
              <a:defRPr/>
            </a:pPr>
            <a:r>
              <a:rPr kumimoji="1" lang="en-US" altLang="ko-KR" sz="18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Al, different partner anion</a:t>
            </a:r>
          </a:p>
          <a:p>
            <a:pPr marL="0" indent="0" latinLnBrk="0" algn="l">
              <a:lnSpc>
                <a:spcPct val="110000"/>
              </a:lnSpc>
              <a:spcBef>
                <a:spcPts val="900"/>
              </a:spcBef>
              <a:buNone/>
              <a:defRPr/>
            </a:pP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Does the anion change</a:t>
            </a:r>
          </a:p>
          <a:p>
            <a:pPr marL="0" indent="0" latinLnBrk="0" algn="l">
              <a:lnSpc>
                <a:spcPct val="110000"/>
              </a:lnSpc>
              <a:buNone/>
              <a:defRPr/>
            </a:pP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or Li transport?</a:t>
            </a:r>
          </a:p>
        </p:txBody>
      </p:sp>
      <p:pic>
        <p:nvPicPr>
          <p:cNvPr id="235" name="Down arrow" descr=""/>
          <p:cNvPicPr>
            <a:picLocks noChangeAspect="1"/>
          </p:cNvPicPr>
          <p:nvPr/>
        </p:nvPicPr>
        <p:blipFill>
          <a:blip r:embed="rId2"/>
          <a:srcRect l="46859" t="52346" r="43846" b="38064"/>
          <a:stretch/>
        </p:blipFill>
        <p:spPr>
          <a:xfrm>
            <a:off x="3287268" y="4581144"/>
            <a:ext cx="2569464" cy="658368"/>
          </a:xfrm>
          <a:prstGeom prst="rect">
            <a:avLst/>
          </a:prstGeom>
        </p:spPr>
      </p:pic>
      <p:sp>
        <p:nvSpPr>
          <p:cNvPr id="236" name="Conclusion"/>
          <p:cNvSpPr txBox="1"/>
          <p:nvPr/>
        </p:nvSpPr>
        <p:spPr>
          <a:xfrm>
            <a:off x="365760" y="533095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 answer this question, we must check electrochemical stability, mechanical stability, and Li transport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separately.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258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calculation coverage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Every charge-balanced placement was relaxed with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UMA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693 selected structures were then annealed (500 K, 50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Descriptors: Li-site landscape, EOS/elastic (DFT),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interface.</a:t>
            </a:r>
          </a:p>
        </p:txBody>
      </p:sp>
      <p:pic>
        <p:nvPicPr>
          <p:cNvPr id="241" name="Precursors held by each Stage-1 table" descr="Precursors held by each Stage-1 tab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395728"/>
            <a:ext cx="7315200" cy="2788920"/>
          </a:xfrm>
          <a:prstGeom prst="rect">
            <a:avLst/>
          </a:prstGeom>
        </p:spPr>
      </p:pic>
      <p:sp>
        <p:nvSpPr>
          <p:cNvPr id="242" name="Caption"/>
          <p:cNvSpPr txBox="1"/>
          <p:nvPr/>
        </p:nvSpPr>
        <p:spPr>
          <a:xfrm>
            <a:off x="502920" y="521208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precursors held by each Stage-1 table &gt;</a:t>
            </a:r>
          </a:p>
        </p:txBody>
      </p:sp>
      <p:sp>
        <p:nvSpPr>
          <p:cNvPr id="243" name="Conclusion"/>
          <p:cNvSpPr txBox="1"/>
          <p:nvPr/>
        </p:nvSpPr>
        <p:spPr>
          <a:xfrm>
            <a:off x="365760" y="553212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and AlI₃ came from an August re-run; </a:t>
            </a:r>
            <a:r>
              <a:rPr kumimoji="1" lang="en-US" altLang="ko-KR" sz="135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is not yet in the window and interface tables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Decomposition stability window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Li chemical potential is scanned as a voltage on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(MP phases, 0 K).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90 precursors with this definition.</a:t>
            </a:r>
          </a:p>
        </p:txBody>
      </p:sp>
      <p:pic>
        <p:nvPicPr>
          <p:cNvPr id="249" name="Host stability window" descr="Host stability windo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64841"/>
            <a:ext cx="4023360" cy="1737360"/>
          </a:xfrm>
          <a:prstGeom prst="rect">
            <a:avLst/>
          </a:prstGeom>
        </p:spPr>
      </p:pic>
      <p:pic>
        <p:nvPicPr>
          <p:cNvPr id="250" name="Schwietert 2021 Fig. 1" descr="Schwietert 2021 Fig.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715768"/>
            <a:ext cx="3383280" cy="2955546"/>
          </a:xfrm>
          <a:prstGeom prst="rect">
            <a:avLst/>
          </a:prstGeom>
        </p:spPr>
      </p:pic>
      <p:sp>
        <p:nvSpPr>
          <p:cNvPr id="251" name="Caption"/>
          <p:cNvSpPr txBox="1"/>
          <p:nvPr/>
        </p:nvSpPr>
        <p:spPr>
          <a:xfrm>
            <a:off x="502920" y="4929633"/>
            <a:ext cx="40233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Li₆PS₅Cl host (MP phases, 0 K) &gt;</a:t>
            </a:r>
          </a:p>
        </p:txBody>
      </p:sp>
      <p:sp>
        <p:nvSpPr>
          <p:cNvPr id="252" name="Literature tag"/>
          <p:cNvSpPr txBox="1"/>
          <p:nvPr/>
        </p:nvSpPr>
        <p:spPr>
          <a:xfrm>
            <a:off x="4572000" y="2423160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decomposition and intrinsic windows</a:t>
            </a:r>
          </a:p>
        </p:txBody>
      </p:sp>
      <p:sp>
        <p:nvSpPr>
          <p:cNvPr id="253" name="Credit"/>
          <p:cNvSpPr txBox="1"/>
          <p:nvPr/>
        </p:nvSpPr>
        <p:spPr>
          <a:xfrm>
            <a:off x="4572000" y="5698746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Schwietert et al., JACS Au 1, 1488 (2021), Fig. 1</a:t>
            </a:r>
          </a:p>
        </p:txBody>
      </p:sp>
      <p:sp>
        <p:nvSpPr>
          <p:cNvPr id="254" name="References"/>
          <p:cNvSpPr txBox="1"/>
          <p:nvPr/>
        </p:nvSpPr>
        <p:spPr>
          <a:xfrm>
            <a:off x="502920" y="594360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Schwietert, JACS Au 1, 1488 (2021) · Richards, Chem. Mater. 28, 266 (2016) · Xiao, Nat. Rev. Mater. 5, 105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868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of Stage 1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was re-checked against the ledger.</a:t>
            </a:r>
          </a:p>
        </p:txBody>
      </p:sp>
      <p:sp>
        <p:nvSpPr>
          <p:cNvPr id="255" name="Audit findings"/>
          <p:cNvSpPr txBox="1"/>
          <p:nvPr/>
        </p:nvSpPr>
        <p:spPr>
          <a:xfrm>
            <a:off x="502920" y="2011680"/>
            <a:ext cx="388620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Audit findings</a:t>
            </a:r>
          </a:p>
        </p:txBody>
      </p:sp>
      <p:sp>
        <p:nvSpPr>
          <p:cNvPr id="256" name="Audit findings rule"/>
          <p:cNvSpPr/>
          <p:nvPr/>
        </p:nvSpPr>
        <p:spPr>
          <a:xfrm>
            <a:off x="548640" y="2359152"/>
            <a:ext cx="379476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57" name="Audit findings items"/>
          <p:cNvSpPr txBox="1"/>
          <p:nvPr/>
        </p:nvSpPr>
        <p:spPr>
          <a:xfrm>
            <a:off x="502920" y="2432304"/>
            <a:ext cx="388620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Concentration labels did not change the dopant level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Volume filter: host reference ~40 % above the DFT volume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descriptor: spread within a precursor ≈ between precursors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Several descriptors merged without a primary objective</a:t>
            </a:r>
          </a:p>
        </p:txBody>
      </p:sp>
      <p:sp>
        <p:nvSpPr>
          <p:cNvPr id="258" name="Decisions recorded on Sep 12"/>
          <p:cNvSpPr txBox="1"/>
          <p:nvPr/>
        </p:nvSpPr>
        <p:spPr>
          <a:xfrm>
            <a:off x="4617720" y="2011680"/>
            <a:ext cx="40233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Decisions recorded on Sep 12</a:t>
            </a:r>
          </a:p>
        </p:txBody>
      </p:sp>
      <p:sp>
        <p:nvSpPr>
          <p:cNvPr id="259" name="Decisions recorded on Sep 12 rule"/>
          <p:cNvSpPr/>
          <p:nvPr/>
        </p:nvSpPr>
        <p:spPr>
          <a:xfrm>
            <a:off x="4663440" y="2359152"/>
            <a:ext cx="393192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60" name="Decisions recorded on Sep 12 items"/>
          <p:cNvSpPr txBox="1"/>
          <p:nvPr/>
        </p:nvSpPr>
        <p:spPr>
          <a:xfrm>
            <a:off x="4617720" y="2432304"/>
            <a:ext cx="402336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primary readout: D</a:t>
            </a:r>
            <a:r>
              <a:rPr kumimoji="1"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D*(design) / D*(host)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Design roster: 237 (one design = one composition)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Build rules: parent sites fixed, full charge balance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Representative: the median-energy configuration</a:t>
            </a:r>
          </a:p>
        </p:txBody>
      </p:sp>
      <p:sp>
        <p:nvSpPr>
          <p:cNvPr id="261" name="Conclusion"/>
          <p:cNvSpPr txBox="1"/>
          <p:nvPr/>
        </p:nvSpPr>
        <p:spPr>
          <a:xfrm>
            <a:off x="365760" y="5074920"/>
            <a:ext cx="8412480" cy="34747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Ranking margin δ: proposed, not yet set</a:t>
            </a:r>
          </a:p>
        </p:txBody>
      </p:sp>
      <p:sp>
        <p:nvSpPr>
          <p:cNvPr id="262" name="Conclusion"/>
          <p:cNvSpPr txBox="1"/>
          <p:nvPr/>
        </p:nvSpPr>
        <p:spPr>
          <a:xfrm>
            <a:off x="365760" y="551383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run scope is set after the pilot.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does the precursor anion change Li transport?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 vs Al₂S₃-derived Al doping in the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Reported: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D(Al₂O₃) / D(Al₂S₃)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checks and an equivalence test (±ln 1.5) fixed before the runs.</a:t>
            </a:r>
          </a:p>
        </p:txBody>
      </p:sp>
      <p:pic>
        <p:nvPicPr>
          <p:cNvPr id="263" name="He 2018 Fig. 3" descr="He 2018 Fig.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514600"/>
            <a:ext cx="6035040" cy="2373558"/>
          </a:xfrm>
          <a:prstGeom prst="rect">
            <a:avLst/>
          </a:prstGeom>
        </p:spPr>
      </p:pic>
      <p:sp>
        <p:nvSpPr>
          <p:cNvPr id="264" name="Literature tag"/>
          <p:cNvSpPr txBox="1"/>
          <p:nvPr/>
        </p:nvSpPr>
        <p:spPr>
          <a:xfrm>
            <a:off x="1554480" y="2221992"/>
            <a:ext cx="603504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run-to-run spread and fit-window sensitivity</a:t>
            </a:r>
          </a:p>
        </p:txBody>
      </p:sp>
      <p:sp>
        <p:nvSpPr>
          <p:cNvPr id="265" name="Credit"/>
          <p:cNvSpPr txBox="1"/>
          <p:nvPr/>
        </p:nvSpPr>
        <p:spPr>
          <a:xfrm>
            <a:off x="502920" y="4915590"/>
            <a:ext cx="81381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He et al., npj Comput. Mater. 4, 18 (2018), Fig. 3</a:t>
            </a:r>
          </a:p>
        </p:txBody>
      </p:sp>
      <p:sp>
        <p:nvSpPr>
          <p:cNvPr id="266" name="Conclusion"/>
          <p:cNvSpPr txBox="1"/>
          <p:nvPr/>
        </p:nvSpPr>
        <p:spPr>
          <a:xfrm>
            <a:off x="365760" y="534924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Our pilot: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 start configurations × 2 seeds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per precursor; 2–50 ps fit window.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at 1000 K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K, this UMA cell: no diffusivity reported (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non-linear MSD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2–100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Predefined probe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800 K failed; 1000 K was selected.</a:t>
            </a:r>
          </a:p>
        </p:txBody>
      </p:sp>
      <p:pic>
        <p:nvPicPr>
          <p:cNvPr id="267" name="40-run roster on Oct 12" descr="40-run roster on Oct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16352"/>
            <a:ext cx="4251960" cy="2174298"/>
          </a:xfrm>
          <a:prstGeom prst="rect">
            <a:avLst/>
          </a:prstGeom>
        </p:spPr>
      </p:pic>
      <p:sp>
        <p:nvSpPr>
          <p:cNvPr id="268" name="Caption"/>
          <p:cNvSpPr txBox="1"/>
          <p:nvPr/>
        </p:nvSpPr>
        <p:spPr>
          <a:xfrm>
            <a:off x="502920" y="5018082"/>
            <a:ext cx="4251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40-run roster on Oct 12 &gt;</a:t>
            </a:r>
          </a:p>
        </p:txBody>
      </p:sp>
      <p:sp>
        <p:nvSpPr>
          <p:cNvPr id="269" name="Literature tag"/>
          <p:cNvSpPr txBox="1"/>
          <p:nvPr/>
        </p:nvSpPr>
        <p:spPr>
          <a:xfrm>
            <a:off x="4800600" y="2221992"/>
            <a:ext cx="384048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temperature-dependent ordering</a:t>
            </a:r>
          </a:p>
        </p:txBody>
      </p:sp>
      <p:pic>
        <p:nvPicPr>
          <p:cNvPr id="270" name="Jung 2026 Fig 5b" descr="Li diffusivity vs 1000/T, Jung 2026 Fig. 5b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514600"/>
            <a:ext cx="3200400" cy="2842313"/>
          </a:xfrm>
          <a:prstGeom prst="rect">
            <a:avLst/>
          </a:prstGeom>
        </p:spPr>
      </p:pic>
      <p:sp>
        <p:nvSpPr>
          <p:cNvPr id="271" name="Credit"/>
          <p:cNvSpPr txBox="1"/>
          <p:nvPr/>
        </p:nvSpPr>
        <p:spPr>
          <a:xfrm>
            <a:off x="4800600" y="5384345"/>
            <a:ext cx="384048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eTransportation 28, 100570 (2026), Fig. 5b</a:t>
            </a:r>
          </a:p>
        </p:txBody>
      </p:sp>
      <p:sp>
        <p:nvSpPr>
          <p:cNvPr id="272" name="Conclusion"/>
          <p:cNvSpPr txBox="1"/>
          <p:nvPr/>
        </p:nvSpPr>
        <p:spPr>
          <a:xfrm>
            <a:off x="365760" y="5641848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 ≈ 1.6 nm at 1000 K: the result will be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relative and condition-specific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273" name="References"/>
          <p:cNvSpPr txBox="1"/>
          <p:nvPr/>
        </p:nvSpPr>
        <p:spPr>
          <a:xfrm>
            <a:off x="502920" y="6035040"/>
            <a:ext cx="813816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calculations</a:t>
            </a:r>
          </a:p>
        </p:txBody>
      </p:sp>
      <p:sp>
        <p:nvSpPr>
          <p:cNvPr id="274" name="Dashed frame"/>
          <p:cNvSpPr/>
          <p:nvPr/>
        </p:nvSpPr>
        <p:spPr>
          <a:xfrm>
            <a:off x="411480" y="1783080"/>
            <a:ext cx="4069080" cy="3246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75" name="Frame title"/>
          <p:cNvSpPr txBox="1"/>
          <p:nvPr/>
        </p:nvSpPr>
        <p:spPr>
          <a:xfrm>
            <a:off x="822960" y="1609344"/>
            <a:ext cx="141732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Milestones</a:t>
            </a:r>
          </a:p>
        </p:txBody>
      </p:sp>
      <p:sp>
        <p:nvSpPr>
          <p:cNvPr id="276" name="Item 1"/>
          <p:cNvSpPr txBox="1"/>
          <p:nvPr/>
        </p:nvSpPr>
        <p:spPr>
          <a:xfrm>
            <a:off x="777240" y="196596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	Pilot verdict (late Oct)</a:t>
            </a:r>
          </a:p>
        </p:txBody>
      </p:sp>
      <p:sp>
        <p:nvSpPr>
          <p:cNvPr id="277" name="Item 2"/>
          <p:cNvSpPr txBox="1"/>
          <p:nvPr/>
        </p:nvSpPr>
        <p:spPr>
          <a:xfrm>
            <a:off x="777240" y="256032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	Run scope and ranking margin δ</a:t>
            </a:r>
          </a:p>
        </p:txBody>
      </p:sp>
      <p:sp>
        <p:nvSpPr>
          <p:cNvPr id="278" name="Item 3"/>
          <p:cNvSpPr txBox="1"/>
          <p:nvPr/>
        </p:nvSpPr>
        <p:spPr>
          <a:xfrm>
            <a:off x="777240" y="315468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	Do Stage-1 descriptors predict transport?</a:t>
            </a:r>
          </a:p>
        </p:txBody>
      </p:sp>
      <p:sp>
        <p:nvSpPr>
          <p:cNvPr id="279" name="Item 4"/>
          <p:cNvSpPr txBox="1"/>
          <p:nvPr/>
        </p:nvSpPr>
        <p:spPr>
          <a:xfrm>
            <a:off x="777240" y="374904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	Windows, interfaces (+As₂S₃), elastic constants</a:t>
            </a:r>
          </a:p>
        </p:txBody>
      </p:sp>
      <p:sp>
        <p:nvSpPr>
          <p:cNvPr id="280" name="Item 5"/>
          <p:cNvSpPr txBox="1"/>
          <p:nvPr/>
        </p:nvSpPr>
        <p:spPr>
          <a:xfrm>
            <a:off x="777240" y="434340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5.	Shortlist → DFT validation → experiments</a:t>
            </a:r>
          </a:p>
        </p:txBody>
      </p:sp>
      <p:pic>
        <p:nvPicPr>
          <p:cNvPr id="281" name="Phuthi 2026 Fig. 1a" descr="Phuthi 2026 Fig. 1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93392"/>
            <a:ext cx="3840480" cy="3210893"/>
          </a:xfrm>
          <a:prstGeom prst="rect">
            <a:avLst/>
          </a:prstGeom>
        </p:spPr>
      </p:pic>
      <p:sp>
        <p:nvSpPr>
          <p:cNvPr id="282" name="Literature tag"/>
          <p:cNvSpPr txBox="1"/>
          <p:nvPr/>
        </p:nvSpPr>
        <p:spPr>
          <a:xfrm>
            <a:off x="4663440" y="1700784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length and time scales</a:t>
            </a:r>
          </a:p>
        </p:txBody>
      </p:sp>
      <p:sp>
        <p:nvSpPr>
          <p:cNvPr id="283" name="Credit"/>
          <p:cNvSpPr txBox="1"/>
          <p:nvPr/>
        </p:nvSpPr>
        <p:spPr>
          <a:xfrm>
            <a:off x="4663440" y="5231717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Phuthi et al., Chem. Mater. (2026), Fig. 1a</a:t>
            </a:r>
          </a:p>
        </p:txBody>
      </p:sp>
      <p:sp>
        <p:nvSpPr>
          <p:cNvPr id="284" name="Conclusion"/>
          <p:cNvSpPr txBox="1"/>
          <p:nvPr/>
        </p:nvSpPr>
        <p:spPr>
          <a:xfrm>
            <a:off x="4663440" y="5532120"/>
            <a:ext cx="411480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Planned for our runs: </a:t>
            </a: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cells ≥ 2 nm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(now ≈ 1.6 nm).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2743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Current status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screened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the results are used as exploratory data.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September audit fixed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readout and the build rules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before any new result.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Stage 2 pilot is running (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of 40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MD runs); the verdict comes around late October.</a:t>
            </a:r>
          </a:p>
        </p:txBody>
      </p:sp>
      <p:sp>
        <p:nvSpPr>
          <p:cNvPr id="285" name="Conclusion"/>
          <p:cNvSpPr txBox="1"/>
          <p:nvPr/>
        </p:nvSpPr>
        <p:spPr>
          <a:xfrm>
            <a:off x="365760" y="4114800"/>
            <a:ext cx="841248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7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yet.</a:t>
            </a:r>
            <a:r>
              <a:rPr kumimoji="1" lang="en-US" altLang="ko-KR" sz="17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ranking margin remains to be set.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286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Jung et al., Adv. Funct. Mater. (2026), doi:10.1002/adfm.78249</a:t>
            </a:r>
          </a:p>
        </p:txBody>
      </p:sp>
      <p:sp>
        <p:nvSpPr>
          <p:cNvPr id="287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Schwietert et al., JACS Au 1, 1488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[30]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[31]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