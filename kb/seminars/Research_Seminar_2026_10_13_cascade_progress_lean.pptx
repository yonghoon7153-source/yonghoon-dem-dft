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fig_p06_candidates_by_family.png"/><Relationship Id="rId4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ale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4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468880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put one element on one site, or screened compounds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38" name="References"/>
          <p:cNvSpPr txBox="1"/>
          <p:nvPr/>
        </p:nvSpPr>
        <p:spPr>
          <a:xfrm>
            <a:off x="502920" y="5669280"/>
            <a:ext cx="8138160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screens: Sendek, Energy Environ. Sci. 10, 306 (2017) · Kahle, Energy Environ. Sci. 13, 928 (2020) · Jung, eTransportation 28, 100570 (2026) · Park, Adv. Sci. 2026, e76305 · Muy,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were relaxed; As₂S₃ and AlI₃ were completed in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re-run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39" name="Precursors per anion family" descr="Precursors per anion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3657600" cy="2466753"/>
          </a:xfrm>
          <a:prstGeom prst="rect">
            <a:avLst/>
          </a:prstGeom>
        </p:spPr>
      </p:pic>
      <p:pic>
        <p:nvPicPr>
          <p:cNvPr id="240" name="Jung 2026 Fig. 3d" descr="Jung 2026 Fig. 3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14600"/>
            <a:ext cx="4206240" cy="1095992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4734465"/>
            <a:ext cx="36576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per anion family &gt;</a:t>
            </a:r>
          </a:p>
        </p:txBody>
      </p:sp>
      <p:sp>
        <p:nvSpPr>
          <p:cNvPr id="242" name="Caption"/>
          <p:cNvSpPr txBox="1"/>
          <p:nvPr/>
        </p:nvSpPr>
        <p:spPr>
          <a:xfrm>
            <a:off x="4343400" y="3656312"/>
            <a:ext cx="438912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one precursor (SiO₂) in Li₆PS₅Cl: capacity over 500 cycles &gt;</a:t>
            </a:r>
          </a:p>
        </p:txBody>
      </p:sp>
      <p:sp>
        <p:nvSpPr>
          <p:cNvPr id="243" name="Credit right"/>
          <p:cNvSpPr txBox="1"/>
          <p:nvPr/>
        </p:nvSpPr>
        <p:spPr>
          <a:xfrm>
            <a:off x="4343400" y="3948920"/>
            <a:ext cx="438912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  <p:sp>
        <p:nvSpPr>
          <p:cNvPr id="244" name="Conclusion"/>
          <p:cNvSpPr txBox="1"/>
          <p:nvPr/>
        </p:nvSpPr>
        <p:spPr>
          <a:xfrm>
            <a:off x="365760" y="49560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co-doping has experimental precedent;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91 precursors are screened by calculation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5" name="References"/>
          <p:cNvSpPr txBox="1"/>
          <p:nvPr/>
        </p:nvSpPr>
        <p:spPr>
          <a:xfrm>
            <a:off x="502920" y="54406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CuCl, Taklu, Nano Energy 90, 106542 (2021) · MgF₂, Liu, Angew. Chem. Int. Ed. 62, e202302655 (2023) · ZnO, Jang, J. Alloys Compd. 957, 170273 (2023) · La₂O₃, Yang, Electrochim. Acta 535, 146619 (2025) · Nd₂O₃, Xu, Nano Energy 157, 112246 (2026) · SiO₂, Jung, Adv. Funct. Mater.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50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1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2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3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4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For some descriptors the spread </a:t>
            </a:r>
            <a:r>
              <a:rPr kumimoji="1" lang="en-US" altLang="ko-KR" sz="12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within one precursor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matches the spread between precursors, so they are used for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of these calculations became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step of the screening workflow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dopant precursors for Li₆PS₅Cl, selected by calculation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selection rule is fixed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results are seen.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6060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432304"/>
            <a:ext cx="196596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Progress so far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7889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7889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32461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32461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7033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7033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41605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41605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773168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4406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the ranking rule is set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 the results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(Jun–Aug): exploration screen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charge-balanced placement: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 relaxation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then a 500 K / 50 ps anneal.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6" name="Stage-1 structures and coverage" descr="Stage-1 structures and cover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14600"/>
            <a:ext cx="7863840" cy="2514600"/>
          </a:xfrm>
          <a:prstGeom prst="rect">
            <a:avLst/>
          </a:prstGeom>
        </p:spPr>
      </p:pic>
      <p:sp>
        <p:nvSpPr>
          <p:cNvPr id="247" name="Caption"/>
          <p:cNvSpPr txBox="1"/>
          <p:nvPr/>
        </p:nvSpPr>
        <p:spPr>
          <a:xfrm>
            <a:off x="502920" y="505663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structures per anion family  ·  precursors held by each Stage-1 table &gt;</a:t>
            </a:r>
          </a:p>
        </p:txBody>
      </p:sp>
      <p:sp>
        <p:nvSpPr>
          <p:cNvPr id="248" name="Conclusion"/>
          <p:cNvSpPr txBox="1"/>
          <p:nvPr/>
        </p:nvSpPr>
        <p:spPr>
          <a:xfrm>
            <a:off x="365760" y="536752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9" name="Conclusion"/>
          <p:cNvSpPr txBox="1"/>
          <p:nvPr/>
        </p:nvSpPr>
        <p:spPr>
          <a:xfrm>
            <a:off x="365760" y="56692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Since September these results are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for choosing the next calculations.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window: voltage range without Li exchange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definition; the earlier one gave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wider windows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5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4402"/>
            <a:ext cx="4114800" cy="1776845"/>
          </a:xfrm>
          <a:prstGeom prst="rect">
            <a:avLst/>
          </a:prstGeom>
        </p:spPr>
      </p:pic>
      <p:pic>
        <p:nvPicPr>
          <p:cNvPr id="25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514600"/>
            <a:ext cx="2697480" cy="2356449"/>
          </a:xfrm>
          <a:prstGeom prst="rect">
            <a:avLst/>
          </a:prstGeom>
        </p:spPr>
      </p:pic>
      <p:sp>
        <p:nvSpPr>
          <p:cNvPr id="258" name="Caption"/>
          <p:cNvSpPr txBox="1"/>
          <p:nvPr/>
        </p:nvSpPr>
        <p:spPr>
          <a:xfrm>
            <a:off x="502920" y="4608679"/>
            <a:ext cx="41148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9" name="Caption"/>
          <p:cNvSpPr txBox="1"/>
          <p:nvPr/>
        </p:nvSpPr>
        <p:spPr>
          <a:xfrm>
            <a:off x="4754880" y="4898481"/>
            <a:ext cx="406908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decomposition vs intrinsic windows &gt;</a:t>
            </a:r>
          </a:p>
        </p:txBody>
      </p:sp>
      <p:sp>
        <p:nvSpPr>
          <p:cNvPr id="260" name="Credit right"/>
          <p:cNvSpPr txBox="1"/>
          <p:nvPr/>
        </p:nvSpPr>
        <p:spPr>
          <a:xfrm>
            <a:off x="4754880" y="5172801"/>
            <a:ext cx="40690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376672"/>
            <a:ext cx="8412480" cy="47548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window follows the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decomposition-window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definition; interface products are being re-derived with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ground-state phases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62" name="References"/>
          <p:cNvSpPr txBox="1"/>
          <p:nvPr/>
        </p:nvSpPr>
        <p:spPr>
          <a:xfrm>
            <a:off x="502920" y="587044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3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4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5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66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7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8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70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1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2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3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4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5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76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77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8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9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80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1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282" name="Dashed frame"/>
          <p:cNvSpPr/>
          <p:nvPr/>
        </p:nvSpPr>
        <p:spPr>
          <a:xfrm>
            <a:off x="411480" y="1783080"/>
            <a:ext cx="4846320" cy="25603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3" name="Frame title"/>
          <p:cNvSpPr txBox="1"/>
          <p:nvPr/>
        </p:nvSpPr>
        <p:spPr>
          <a:xfrm>
            <a:off x="822960" y="1609344"/>
            <a:ext cx="75895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</a:t>
            </a:r>
          </a:p>
        </p:txBody>
      </p:sp>
      <p:sp>
        <p:nvSpPr>
          <p:cNvPr id="284" name="Item 1"/>
          <p:cNvSpPr txBox="1"/>
          <p:nvPr/>
        </p:nvSpPr>
        <p:spPr>
          <a:xfrm>
            <a:off x="777240" y="19659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Pilot verdict (late Oct), analysed once</a:t>
            </a:r>
          </a:p>
        </p:txBody>
      </p:sp>
      <p:sp>
        <p:nvSpPr>
          <p:cNvPr id="285" name="Item 2"/>
          <p:cNvSpPr txBox="1"/>
          <p:nvPr/>
        </p:nvSpPr>
        <p:spPr>
          <a:xfrm>
            <a:off x="777240" y="24231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Run scope and ranking margin δ, before results</a:t>
            </a:r>
          </a:p>
        </p:txBody>
      </p:sp>
      <p:sp>
        <p:nvSpPr>
          <p:cNvPr id="286" name="Item 3"/>
          <p:cNvSpPr txBox="1"/>
          <p:nvPr/>
        </p:nvSpPr>
        <p:spPr>
          <a:xfrm>
            <a:off x="777240" y="28803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Do Stage-1 descriptors predict transport?</a:t>
            </a:r>
          </a:p>
        </p:txBody>
      </p:sp>
      <p:sp>
        <p:nvSpPr>
          <p:cNvPr id="287" name="Item 4"/>
          <p:cNvSpPr txBox="1"/>
          <p:nvPr/>
        </p:nvSpPr>
        <p:spPr>
          <a:xfrm>
            <a:off x="777240" y="33375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Windows, interfaces (+As₂S₃), elastic constants</a:t>
            </a:r>
          </a:p>
        </p:txBody>
      </p:sp>
      <p:sp>
        <p:nvSpPr>
          <p:cNvPr id="288" name="Item 5"/>
          <p:cNvSpPr txBox="1"/>
          <p:nvPr/>
        </p:nvSpPr>
        <p:spPr>
          <a:xfrm>
            <a:off x="777240" y="37947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  Shortlist → DFT validation → experiments</a:t>
            </a:r>
          </a:p>
        </p:txBody>
      </p:sp>
      <p:pic>
        <p:nvPicPr>
          <p:cNvPr id="289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1549908" y="4462272"/>
            <a:ext cx="2569464" cy="658368"/>
          </a:xfrm>
          <a:prstGeom prst="rect">
            <a:avLst/>
          </a:prstGeom>
        </p:spPr>
      </p:pic>
      <p:pic>
        <p:nvPicPr>
          <p:cNvPr id="290" name="Phuthi 2026 Fig. 1a" descr="Phuthi 2026 Fig. 1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600200"/>
            <a:ext cx="3108960" cy="2599294"/>
          </a:xfrm>
          <a:prstGeom prst="rect">
            <a:avLst/>
          </a:prstGeom>
        </p:spPr>
      </p:pic>
      <p:sp>
        <p:nvSpPr>
          <p:cNvPr id="291" name="Caption"/>
          <p:cNvSpPr txBox="1"/>
          <p:nvPr/>
        </p:nvSpPr>
        <p:spPr>
          <a:xfrm>
            <a:off x="5349240" y="4226926"/>
            <a:ext cx="347472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length and time scales per property &gt;</a:t>
            </a:r>
          </a:p>
        </p:txBody>
      </p:sp>
      <p:sp>
        <p:nvSpPr>
          <p:cNvPr id="292" name="Credit right"/>
          <p:cNvSpPr txBox="1"/>
          <p:nvPr/>
        </p:nvSpPr>
        <p:spPr>
          <a:xfrm>
            <a:off x="5349240" y="4482958"/>
            <a:ext cx="347472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3" name="Conclusion"/>
          <p:cNvSpPr txBox="1"/>
          <p:nvPr/>
        </p:nvSpPr>
        <p:spPr>
          <a:xfrm>
            <a:off x="365760" y="516636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 the precursor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the selection rule stated in advance.</a:t>
            </a:r>
          </a:p>
        </p:txBody>
      </p:sp>
      <p:sp>
        <p:nvSpPr>
          <p:cNvPr id="294" name="Upgrades"/>
          <p:cNvSpPr txBox="1"/>
          <p:nvPr/>
        </p:nvSpPr>
        <p:spPr>
          <a:xfrm>
            <a:off x="502920" y="553212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upgrades: ≥ 2 nm cells · ≥ 0.3 ns · fine-tuned MLIP · ensemble uncertainty · defect thermodynamics</a:t>
            </a:r>
          </a:p>
        </p:txBody>
      </p:sp>
      <p:sp>
        <p:nvSpPr>
          <p:cNvPr id="295" name="References"/>
          <p:cNvSpPr txBox="1"/>
          <p:nvPr/>
        </p:nvSpPr>
        <p:spPr>
          <a:xfrm>
            <a:off x="502920" y="592531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Summary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pic>
        <p:nvPicPr>
          <p:cNvPr id="296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2696" y="3886200"/>
            <a:ext cx="2569464" cy="658368"/>
          </a:xfrm>
          <a:prstGeom prst="rect">
            <a:avLst/>
          </a:prstGeom>
        </p:spPr>
      </p:pic>
      <p:sp>
        <p:nvSpPr>
          <p:cNvPr id="297" name="Conclusion"/>
          <p:cNvSpPr txBox="1"/>
          <p:nvPr/>
        </p:nvSpPr>
        <p:spPr>
          <a:xfrm>
            <a:off x="365760" y="4663440"/>
            <a:ext cx="841248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</a:t>
            </a: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ranking rule is set before the results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