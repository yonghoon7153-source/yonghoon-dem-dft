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fig_p06_candidates_by_family.png"/><Relationship Id="rId4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scale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4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468880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put one element on one site, or screened compounds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  <p:sp>
        <p:nvSpPr>
          <p:cNvPr id="238" name="References"/>
          <p:cNvSpPr txBox="1"/>
          <p:nvPr/>
        </p:nvSpPr>
        <p:spPr>
          <a:xfrm>
            <a:off x="502920" y="5669280"/>
            <a:ext cx="8138160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screens: Sendek, Energy Environ. Sci. 10, 306 (2017) · Kahle, Energy Environ. Sci. 13, 928 (2020) · Jung, eTransportation 28, 100570 (2026) · Park, Adv. Sci. 2026, e76305 · Muy,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 set: 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were relaxed; As₂S₃ and AlI₃ were completed in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re-run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239" name="Precursors per anion family" descr="Precursors per anion fami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40280"/>
            <a:ext cx="3657600" cy="2466753"/>
          </a:xfrm>
          <a:prstGeom prst="rect">
            <a:avLst/>
          </a:prstGeom>
        </p:spPr>
      </p:pic>
      <p:pic>
        <p:nvPicPr>
          <p:cNvPr id="240" name="Jung 2026 Fig. 3d" descr="Jung 2026 Fig. 3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514600"/>
            <a:ext cx="4206240" cy="1095992"/>
          </a:xfrm>
          <a:prstGeom prst="rect">
            <a:avLst/>
          </a:prstGeom>
        </p:spPr>
      </p:pic>
      <p:sp>
        <p:nvSpPr>
          <p:cNvPr id="241" name="Caption"/>
          <p:cNvSpPr txBox="1"/>
          <p:nvPr/>
        </p:nvSpPr>
        <p:spPr>
          <a:xfrm>
            <a:off x="502920" y="4734465"/>
            <a:ext cx="365760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per anion family &gt;</a:t>
            </a:r>
          </a:p>
        </p:txBody>
      </p:sp>
      <p:sp>
        <p:nvSpPr>
          <p:cNvPr id="242" name="Caption"/>
          <p:cNvSpPr txBox="1"/>
          <p:nvPr/>
        </p:nvSpPr>
        <p:spPr>
          <a:xfrm>
            <a:off x="4343400" y="3656312"/>
            <a:ext cx="438912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one precursor (SiO₂) in Li₆PS₅Cl: capacity over 500 cycles &gt;</a:t>
            </a:r>
          </a:p>
        </p:txBody>
      </p:sp>
      <p:sp>
        <p:nvSpPr>
          <p:cNvPr id="243" name="Credit right"/>
          <p:cNvSpPr txBox="1"/>
          <p:nvPr/>
        </p:nvSpPr>
        <p:spPr>
          <a:xfrm>
            <a:off x="4343400" y="3948920"/>
            <a:ext cx="438912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  <p:sp>
        <p:nvSpPr>
          <p:cNvPr id="244" name="Conclusion"/>
          <p:cNvSpPr txBox="1"/>
          <p:nvPr/>
        </p:nvSpPr>
        <p:spPr>
          <a:xfrm>
            <a:off x="365760" y="49560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co-doping has experimental precedent;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91 precursors are screened by calculation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45" name="References"/>
          <p:cNvSpPr txBox="1"/>
          <p:nvPr/>
        </p:nvSpPr>
        <p:spPr>
          <a:xfrm>
            <a:off x="502920" y="54406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CuCl, Taklu, Nano Energy 90, 106542 (2021) · MgF₂, Liu, Angew. Chem. Int. Ed. 62, e202302655 (2023) · ZnO, Jang, J. Alloys Compd. 957, 170273 (2023) · La₂O₃, Yang, Electrochim. Acta 535, 146619 (2025) · Nd₂O₃, Xu, Nano Energy 157, 112246 (2026) · SiO₂, Jung, Adv. Funct. Mater.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each structure out of its local minimum.</a:t>
            </a:r>
          </a:p>
        </p:txBody>
      </p:sp>
      <p:pic>
        <p:nvPicPr>
          <p:cNvPr id="250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1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2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3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4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For some descriptors the spread </a:t>
            </a:r>
            <a:r>
              <a:rPr kumimoji="1" lang="en-US" altLang="ko-KR" sz="12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within one precursor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matches the spread between precursors, so they are used for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5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Each of these calculations became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step of the screening workflow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1920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231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438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1920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231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438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1920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231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438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1920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231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438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388620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19709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40410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388620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 (SEI component)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19709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40410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V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migration · cell size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388620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19709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40410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→ DEM contacts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388620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19709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40410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dopant precursors for Li₆PS₅Cl, selected by calculation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unit of screening is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(91 candidates).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selection rule is fixed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before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results are seen.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6060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432304"/>
            <a:ext cx="196596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Progress so far</a:t>
            </a:r>
          </a:p>
        </p:txBody>
      </p:sp>
      <p:sp>
        <p:nvSpPr>
          <p:cNvPr id="227" name="Item 1"/>
          <p:cNvSpPr txBox="1"/>
          <p:nvPr/>
        </p:nvSpPr>
        <p:spPr>
          <a:xfrm>
            <a:off x="886968" y="27889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  Stage 1 exploration screen (Jun–Aug)</a:t>
            </a:r>
          </a:p>
        </p:txBody>
      </p:sp>
      <p:sp>
        <p:nvSpPr>
          <p:cNvPr id="228" name="Note 1"/>
          <p:cNvSpPr txBox="1"/>
          <p:nvPr/>
        </p:nvSpPr>
        <p:spPr>
          <a:xfrm>
            <a:off x="5068519" y="27889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(91 precursors, 3,675 structures)</a:t>
            </a:r>
          </a:p>
        </p:txBody>
      </p:sp>
      <p:sp>
        <p:nvSpPr>
          <p:cNvPr id="229" name="Item 2"/>
          <p:cNvSpPr txBox="1"/>
          <p:nvPr/>
        </p:nvSpPr>
        <p:spPr>
          <a:xfrm>
            <a:off x="886968" y="32461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  Audit of Stage 1 (Sep)</a:t>
            </a:r>
          </a:p>
        </p:txBody>
      </p:sp>
      <p:sp>
        <p:nvSpPr>
          <p:cNvPr id="230" name="Note 2"/>
          <p:cNvSpPr txBox="1"/>
          <p:nvPr/>
        </p:nvSpPr>
        <p:spPr>
          <a:xfrm>
            <a:off x="5068519" y="32461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(rules fixed before new results)</a:t>
            </a:r>
          </a:p>
        </p:txBody>
      </p:sp>
      <p:sp>
        <p:nvSpPr>
          <p:cNvPr id="231" name="Item 3"/>
          <p:cNvSpPr txBox="1"/>
          <p:nvPr/>
        </p:nvSpPr>
        <p:spPr>
          <a:xfrm>
            <a:off x="886968" y="37033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  Stage 2 pilot: MLIP-MD (Oct)</a:t>
            </a:r>
          </a:p>
        </p:txBody>
      </p:sp>
      <p:sp>
        <p:nvSpPr>
          <p:cNvPr id="232" name="Note 3"/>
          <p:cNvSpPr txBox="1"/>
          <p:nvPr/>
        </p:nvSpPr>
        <p:spPr>
          <a:xfrm>
            <a:off x="5068519" y="37033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(12 of 40 runs done)</a:t>
            </a:r>
          </a:p>
        </p:txBody>
      </p:sp>
      <p:sp>
        <p:nvSpPr>
          <p:cNvPr id="233" name="Item 4"/>
          <p:cNvSpPr txBox="1"/>
          <p:nvPr/>
        </p:nvSpPr>
        <p:spPr>
          <a:xfrm>
            <a:off x="886968" y="416052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  Shortlist → DFT → experiments</a:t>
            </a:r>
          </a:p>
        </p:txBody>
      </p:sp>
      <p:sp>
        <p:nvSpPr>
          <p:cNvPr id="234" name="Note 4"/>
          <p:cNvSpPr txBox="1"/>
          <p:nvPr/>
        </p:nvSpPr>
        <p:spPr>
          <a:xfrm>
            <a:off x="5068519" y="416052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(after the pilot verdict)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773168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44068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yet: the ranking rule is set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before the results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(Jun–Aug): exploration screen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Each charge-balanced placement: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 relaxation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then a 500 K / 50 ps anneal.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6" name="Stage-1 structures and coverage" descr="Stage-1 structures and cover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14600"/>
            <a:ext cx="7863840" cy="2514600"/>
          </a:xfrm>
          <a:prstGeom prst="rect">
            <a:avLst/>
          </a:prstGeom>
        </p:spPr>
      </p:pic>
      <p:sp>
        <p:nvSpPr>
          <p:cNvPr id="247" name="Caption"/>
          <p:cNvSpPr txBox="1"/>
          <p:nvPr/>
        </p:nvSpPr>
        <p:spPr>
          <a:xfrm>
            <a:off x="502920" y="5056632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structures per anion family  ·  precursors held by each Stage-1 table &gt;</a:t>
            </a:r>
          </a:p>
        </p:txBody>
      </p:sp>
      <p:sp>
        <p:nvSpPr>
          <p:cNvPr id="248" name="Conclusion"/>
          <p:cNvSpPr txBox="1"/>
          <p:nvPr/>
        </p:nvSpPr>
        <p:spPr>
          <a:xfrm>
            <a:off x="365760" y="536752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49" name="Conclusion"/>
          <p:cNvSpPr txBox="1"/>
          <p:nvPr/>
        </p:nvSpPr>
        <p:spPr>
          <a:xfrm>
            <a:off x="365760" y="566928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Since September these results are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for choosing the next calculations.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554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window: voltage range without Li exchange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definition; the earlier one gave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wider windows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256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04402"/>
            <a:ext cx="4114800" cy="1776845"/>
          </a:xfrm>
          <a:prstGeom prst="rect">
            <a:avLst/>
          </a:prstGeom>
        </p:spPr>
      </p:pic>
      <p:pic>
        <p:nvPicPr>
          <p:cNvPr id="257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2514600"/>
            <a:ext cx="2697480" cy="2356449"/>
          </a:xfrm>
          <a:prstGeom prst="rect">
            <a:avLst/>
          </a:prstGeom>
        </p:spPr>
      </p:pic>
      <p:sp>
        <p:nvSpPr>
          <p:cNvPr id="258" name="Caption"/>
          <p:cNvSpPr txBox="1"/>
          <p:nvPr/>
        </p:nvSpPr>
        <p:spPr>
          <a:xfrm>
            <a:off x="502920" y="4608679"/>
            <a:ext cx="411480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9" name="Caption"/>
          <p:cNvSpPr txBox="1"/>
          <p:nvPr/>
        </p:nvSpPr>
        <p:spPr>
          <a:xfrm>
            <a:off x="4754880" y="4898481"/>
            <a:ext cx="406908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decomposition vs intrinsic windows &gt;</a:t>
            </a:r>
          </a:p>
        </p:txBody>
      </p:sp>
      <p:sp>
        <p:nvSpPr>
          <p:cNvPr id="260" name="Credit right"/>
          <p:cNvSpPr txBox="1"/>
          <p:nvPr/>
        </p:nvSpPr>
        <p:spPr>
          <a:xfrm>
            <a:off x="4754880" y="5172801"/>
            <a:ext cx="40690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376672"/>
            <a:ext cx="8412480" cy="47548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window follows the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decomposition-window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definition; interface products are being re-derived with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ground-state phases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62" name="References"/>
          <p:cNvSpPr txBox="1"/>
          <p:nvPr/>
        </p:nvSpPr>
        <p:spPr>
          <a:xfrm>
            <a:off x="502920" y="587044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1: rules fixed before new results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ledger; the rules below were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 on Sep 12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graphicFrame>
        <p:nvGraphicFramePr>
          <p:cNvPr id="263" name="Audit table"/>
          <p:cNvGraphicFramePr>
            <a:graphicFrameLocks noGrp="1"/>
          </p:cNvGraphicFramePr>
          <p:nvPr/>
        </p:nvGraphicFramePr>
        <p:xfrm>
          <a:off x="502920" y="2011680"/>
          <a:ext cx="8138160" cy="294436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65760"/>
                <a:gridCol w="3840480"/>
                <a:gridCol w="3931920"/>
              </a:tblGrid>
              <a:tr h="38404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3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Found in Stage 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3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Fixed before new results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Concentration labels did not change the dopant level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One primary readout: D</a:t>
                      </a:r>
                      <a:r>
                        <a:rPr kumimoji="1" lang="en-US" altLang="ko-KR" sz="1250" baseline="-250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</a:t>
                      </a: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= D*(design) / D*(host)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Volume filter: host reference ~40 % above the DFT volume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Design roster: 237 (one design = one composition)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Elastic descriptor: spread within a precursor ≈ between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Build rules: parent sites fixed, full charge balance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Several descriptors merged without a primary objective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Representative: the median-energy configuration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Ranking margin δ: proposed, not yet set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4" name="Caption"/>
          <p:cNvSpPr txBox="1"/>
          <p:nvPr/>
        </p:nvSpPr>
        <p:spPr>
          <a:xfrm>
            <a:off x="502920" y="50292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audit found and what was fixed before any new result &gt;</a:t>
            </a:r>
          </a:p>
        </p:txBody>
      </p:sp>
      <p:sp>
        <p:nvSpPr>
          <p:cNvPr id="265" name="Conclusion"/>
          <p:cNvSpPr txBox="1"/>
          <p:nvPr/>
        </p:nvSpPr>
        <p:spPr>
          <a:xfrm>
            <a:off x="365760" y="5358384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has been approved;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is the design roster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554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6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487168"/>
            <a:ext cx="6035040" cy="2373558"/>
          </a:xfrm>
          <a:prstGeom prst="rect">
            <a:avLst/>
          </a:prstGeom>
        </p:spPr>
      </p:pic>
      <p:sp>
        <p:nvSpPr>
          <p:cNvPr id="267" name="Caption"/>
          <p:cNvSpPr txBox="1"/>
          <p:nvPr/>
        </p:nvSpPr>
        <p:spPr>
          <a:xfrm>
            <a:off x="502920" y="4897302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one structure, ten independent AIMD runs: MSD spread and fit quality vs fit range &gt;</a:t>
            </a:r>
          </a:p>
        </p:txBody>
      </p:sp>
      <p:sp>
        <p:nvSpPr>
          <p:cNvPr id="268" name="Credit"/>
          <p:cNvSpPr txBox="1"/>
          <p:nvPr/>
        </p:nvSpPr>
        <p:spPr>
          <a:xfrm>
            <a:off x="502920" y="5171622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9" name="Conclusion"/>
          <p:cNvSpPr txBox="1"/>
          <p:nvPr/>
        </p:nvSpPr>
        <p:spPr>
          <a:xfrm>
            <a:off x="365760" y="544594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Hence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 fixed fit window (2–50 ps) and checks before any fit.</a:t>
            </a:r>
          </a:p>
        </p:txBody>
      </p:sp>
      <p:sp>
        <p:nvSpPr>
          <p:cNvPr id="270" name="Settings"/>
          <p:cNvSpPr txBox="1"/>
          <p:nvPr/>
        </p:nvSpPr>
        <p:spPr>
          <a:xfrm>
            <a:off x="502920" y="5775126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 · NVT, 1000 K · 400 ps · 204 atoms, common volume · 2 Al + 3 O + 4 V</a:t>
            </a:r>
            <a:r>
              <a:rPr kumimoji="1" lang="en-US" altLang="ko-KR" sz="1050" baseline="-25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</a:t>
            </a: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vs 2 Al + 4 V</a:t>
            </a:r>
            <a:r>
              <a:rPr kumimoji="1" lang="en-US" altLang="ko-KR" sz="1050" baseline="-25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</a:t>
            </a: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· 40 runs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554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temperature choice, status and limits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(UMA, this cell): the MSD stayed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within 2–100 ps, so no diffusivity was reported.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1000 K was chosen by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800 K failed the checks.</a:t>
            </a:r>
          </a:p>
        </p:txBody>
      </p:sp>
      <p:pic>
        <p:nvPicPr>
          <p:cNvPr id="271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4069080" cy="2080780"/>
          </a:xfrm>
          <a:prstGeom prst="rect">
            <a:avLst/>
          </a:prstGeom>
        </p:spPr>
      </p:pic>
      <p:sp>
        <p:nvSpPr>
          <p:cNvPr id="272" name="Caption"/>
          <p:cNvSpPr txBox="1"/>
          <p:nvPr/>
        </p:nvSpPr>
        <p:spPr>
          <a:xfrm>
            <a:off x="502920" y="4851412"/>
            <a:ext cx="406908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pic>
        <p:nvPicPr>
          <p:cNvPr id="273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487168"/>
            <a:ext cx="2788920" cy="2476873"/>
          </a:xfrm>
          <a:prstGeom prst="rect">
            <a:avLst/>
          </a:prstGeom>
        </p:spPr>
      </p:pic>
      <p:sp>
        <p:nvSpPr>
          <p:cNvPr id="274" name="Caption"/>
          <p:cNvSpPr txBox="1"/>
          <p:nvPr/>
        </p:nvSpPr>
        <p:spPr>
          <a:xfrm>
            <a:off x="4846320" y="5000617"/>
            <a:ext cx="37947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ordering at 1300 K vs 700 K, Jung et al. 2026 &gt;</a:t>
            </a:r>
          </a:p>
        </p:txBody>
      </p:sp>
      <p:sp>
        <p:nvSpPr>
          <p:cNvPr id="275" name="Conclusion"/>
          <p:cNvSpPr txBox="1"/>
          <p:nvPr/>
        </p:nvSpPr>
        <p:spPr>
          <a:xfrm>
            <a:off x="365760" y="54132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(≈ Oct 21).</a:t>
            </a:r>
          </a:p>
        </p:txBody>
      </p:sp>
      <p:sp>
        <p:nvSpPr>
          <p:cNvPr id="276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</a:t>
            </a:r>
          </a:p>
        </p:txBody>
      </p:sp>
      <p:sp>
        <p:nvSpPr>
          <p:cNvPr id="277" name="Dashed frame"/>
          <p:cNvSpPr/>
          <p:nvPr/>
        </p:nvSpPr>
        <p:spPr>
          <a:xfrm>
            <a:off x="411480" y="1783080"/>
            <a:ext cx="4846320" cy="25603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8" name="Frame title"/>
          <p:cNvSpPr txBox="1"/>
          <p:nvPr/>
        </p:nvSpPr>
        <p:spPr>
          <a:xfrm>
            <a:off x="822960" y="1609344"/>
            <a:ext cx="758952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</a:t>
            </a:r>
          </a:p>
        </p:txBody>
      </p:sp>
      <p:sp>
        <p:nvSpPr>
          <p:cNvPr id="279" name="Item 1"/>
          <p:cNvSpPr txBox="1"/>
          <p:nvPr/>
        </p:nvSpPr>
        <p:spPr>
          <a:xfrm>
            <a:off x="777240" y="1965960"/>
            <a:ext cx="420624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  Pilot verdict (late Oct), analysed once</a:t>
            </a:r>
          </a:p>
        </p:txBody>
      </p:sp>
      <p:sp>
        <p:nvSpPr>
          <p:cNvPr id="280" name="Item 2"/>
          <p:cNvSpPr txBox="1"/>
          <p:nvPr/>
        </p:nvSpPr>
        <p:spPr>
          <a:xfrm>
            <a:off x="777240" y="2423160"/>
            <a:ext cx="420624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  Run scope and ranking margin δ, before results</a:t>
            </a:r>
          </a:p>
        </p:txBody>
      </p:sp>
      <p:sp>
        <p:nvSpPr>
          <p:cNvPr id="281" name="Item 3"/>
          <p:cNvSpPr txBox="1"/>
          <p:nvPr/>
        </p:nvSpPr>
        <p:spPr>
          <a:xfrm>
            <a:off x="777240" y="2880360"/>
            <a:ext cx="420624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  Do Stage-1 descriptors predict transport?</a:t>
            </a:r>
          </a:p>
        </p:txBody>
      </p:sp>
      <p:sp>
        <p:nvSpPr>
          <p:cNvPr id="282" name="Item 4"/>
          <p:cNvSpPr txBox="1"/>
          <p:nvPr/>
        </p:nvSpPr>
        <p:spPr>
          <a:xfrm>
            <a:off x="777240" y="3337560"/>
            <a:ext cx="420624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  Windows, interfaces (+As₂S₃), elastic constants</a:t>
            </a:r>
          </a:p>
        </p:txBody>
      </p:sp>
      <p:sp>
        <p:nvSpPr>
          <p:cNvPr id="283" name="Item 5"/>
          <p:cNvSpPr txBox="1"/>
          <p:nvPr/>
        </p:nvSpPr>
        <p:spPr>
          <a:xfrm>
            <a:off x="777240" y="3794760"/>
            <a:ext cx="420624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  Shortlist → DFT validation → experiments</a:t>
            </a:r>
          </a:p>
        </p:txBody>
      </p:sp>
      <p:pic>
        <p:nvPicPr>
          <p:cNvPr id="284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1549908" y="4462272"/>
            <a:ext cx="2569464" cy="658368"/>
          </a:xfrm>
          <a:prstGeom prst="rect">
            <a:avLst/>
          </a:prstGeom>
        </p:spPr>
      </p:pic>
      <p:pic>
        <p:nvPicPr>
          <p:cNvPr id="285" name="Phuthi 2026 Fig. 1a" descr="Phuthi 2026 Fig. 1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600200"/>
            <a:ext cx="3108960" cy="2599294"/>
          </a:xfrm>
          <a:prstGeom prst="rect">
            <a:avLst/>
          </a:prstGeom>
        </p:spPr>
      </p:pic>
      <p:sp>
        <p:nvSpPr>
          <p:cNvPr id="286" name="Caption"/>
          <p:cNvSpPr txBox="1"/>
          <p:nvPr/>
        </p:nvSpPr>
        <p:spPr>
          <a:xfrm>
            <a:off x="5349240" y="4226926"/>
            <a:ext cx="347472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length and time scales per property &gt;</a:t>
            </a:r>
          </a:p>
        </p:txBody>
      </p:sp>
      <p:sp>
        <p:nvSpPr>
          <p:cNvPr id="287" name="Credit right"/>
          <p:cNvSpPr txBox="1"/>
          <p:nvPr/>
        </p:nvSpPr>
        <p:spPr>
          <a:xfrm>
            <a:off x="5349240" y="4482958"/>
            <a:ext cx="347472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8" name="Conclusion"/>
          <p:cNvSpPr txBox="1"/>
          <p:nvPr/>
        </p:nvSpPr>
        <p:spPr>
          <a:xfrm>
            <a:off x="365760" y="516636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 the precursor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the selection rule stated in advance.</a:t>
            </a:r>
          </a:p>
        </p:txBody>
      </p:sp>
      <p:sp>
        <p:nvSpPr>
          <p:cNvPr id="289" name="Upgrades"/>
          <p:cNvSpPr txBox="1"/>
          <p:nvPr/>
        </p:nvSpPr>
        <p:spPr>
          <a:xfrm>
            <a:off x="502920" y="553212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upgrades: ≥ 2 nm cells · ≥ 0.3 ns · fine-tuned MLIP · ensemble uncertainty · defect thermodynamics</a:t>
            </a:r>
          </a:p>
        </p:txBody>
      </p:sp>
      <p:sp>
        <p:nvSpPr>
          <p:cNvPr id="290" name="References"/>
          <p:cNvSpPr txBox="1"/>
          <p:nvPr/>
        </p:nvSpPr>
        <p:spPr>
          <a:xfrm>
            <a:off x="502920" y="5925312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Summary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pic>
        <p:nvPicPr>
          <p:cNvPr id="291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2696" y="3886200"/>
            <a:ext cx="2569464" cy="658368"/>
          </a:xfrm>
          <a:prstGeom prst="rect">
            <a:avLst/>
          </a:prstGeom>
        </p:spPr>
      </p:pic>
      <p:sp>
        <p:nvSpPr>
          <p:cNvPr id="292" name="Conclusion"/>
          <p:cNvSpPr txBox="1"/>
          <p:nvPr/>
        </p:nvSpPr>
        <p:spPr>
          <a:xfrm>
            <a:off x="365760" y="4663440"/>
            <a:ext cx="8412480" cy="411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yet: </a:t>
            </a: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ranking rule is set before the results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93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94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