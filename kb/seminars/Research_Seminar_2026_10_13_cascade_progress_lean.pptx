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lit_jung2026_sio2_fig3d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sulfide-based all-solid-state batteries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reinforce each other.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dopant that suppresses one mode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worsen the 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trade-off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goes undetected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365760" y="2240280"/>
          <a:ext cx="8412480" cy="312724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 (Li, La, Zr)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128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br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(coating layer)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P-site cations and halides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Muy 2025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(Li₇PS₆)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element, site-resolved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Jung 2026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LGPS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two elements, chosen independently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2,550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ML-predicted G and G/K (gate)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3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3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what this study adds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its cation and anion together, in its formula ratio.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5120640" y="18288"/>
            <a:ext cx="3566160" cy="7863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27, 4040 (2015).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Joule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3, 1252 (2019).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12, 7272 (2024).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37, 2395 (2025).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eTransportation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28, 100570 (2026).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502920" y="2286000"/>
          <a:ext cx="4343400" cy="29260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4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4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 paired with anions O²⁻ to I⁻; only existing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were relaxed.</a:t>
            </a:r>
          </a:p>
        </p:txBody>
      </p:sp>
      <p:pic>
        <p:nvPicPr>
          <p:cNvPr id="238" name="Jung 2026 Fig. 3d" descr="Jung 2026 Fig. 3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285819"/>
            <a:ext cx="3520440" cy="917298"/>
          </a:xfrm>
          <a:prstGeom prst="rect">
            <a:avLst/>
          </a:prstGeom>
        </p:spPr>
      </p:pic>
      <p:sp>
        <p:nvSpPr>
          <p:cNvPr id="239" name="Literature tag"/>
          <p:cNvSpPr txBox="1"/>
          <p:nvPr/>
        </p:nvSpPr>
        <p:spPr>
          <a:xfrm>
            <a:off x="4937760" y="2993211"/>
            <a:ext cx="38862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 example: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SiO₂ co-doping</a:t>
            </a:r>
          </a:p>
        </p:txBody>
      </p:sp>
      <p:sp>
        <p:nvSpPr>
          <p:cNvPr id="240" name="Credit"/>
          <p:cNvSpPr txBox="1"/>
          <p:nvPr/>
        </p:nvSpPr>
        <p:spPr>
          <a:xfrm>
            <a:off x="4937760" y="4230549"/>
            <a:ext cx="38862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Adv. Funct. Mater. (2026), Fig. 3d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4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45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46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47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48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studies: the basis of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doped or coated forms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interfaces, and binders in a battery cell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elasticity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glass model · MLIP-MD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Choosing a dopant precursor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 the lab, dopants are added 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compounds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as bare elements.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 screens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candidate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by simulation before synthesis.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37744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203704"/>
            <a:ext cx="109728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 example</a:t>
            </a:r>
          </a:p>
        </p:txBody>
      </p:sp>
      <p:sp>
        <p:nvSpPr>
          <p:cNvPr id="227" name="Precursor Al₂O₃"/>
          <p:cNvSpPr/>
          <p:nvPr/>
        </p:nvSpPr>
        <p:spPr>
          <a:xfrm>
            <a:off x="914400" y="2706624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</a:t>
            </a:r>
          </a:p>
        </p:txBody>
      </p:sp>
      <p:sp>
        <p:nvSpPr>
          <p:cNvPr id="228" name="Arrow 228"/>
          <p:cNvSpPr/>
          <p:nvPr/>
        </p:nvSpPr>
        <p:spPr>
          <a:xfrm>
            <a:off x="2432304" y="2862072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9" name="Brings O"/>
          <p:cNvSpPr txBox="1"/>
          <p:nvPr/>
        </p:nvSpPr>
        <p:spPr>
          <a:xfrm>
            <a:off x="2971800" y="2706624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</a:t>
            </a:r>
          </a:p>
        </p:txBody>
      </p:sp>
      <p:sp>
        <p:nvSpPr>
          <p:cNvPr id="230" name="Precursor Al₂S₃"/>
          <p:cNvSpPr/>
          <p:nvPr/>
        </p:nvSpPr>
        <p:spPr>
          <a:xfrm>
            <a:off x="914400" y="3602736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</a:t>
            </a:r>
          </a:p>
        </p:txBody>
      </p:sp>
      <p:sp>
        <p:nvSpPr>
          <p:cNvPr id="231" name="Arrow 231"/>
          <p:cNvSpPr/>
          <p:nvPr/>
        </p:nvSpPr>
        <p:spPr>
          <a:xfrm>
            <a:off x="2432304" y="3758184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2" name="Brings S"/>
          <p:cNvSpPr txBox="1"/>
          <p:nvPr/>
        </p:nvSpPr>
        <p:spPr>
          <a:xfrm>
            <a:off x="2971800" y="3602736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</a:t>
            </a:r>
          </a:p>
        </p:txBody>
      </p:sp>
      <p:sp>
        <p:nvSpPr>
          <p:cNvPr id="233" name="Brace"/>
          <p:cNvSpPr/>
          <p:nvPr/>
        </p:nvSpPr>
        <p:spPr>
          <a:xfrm>
            <a:off x="4224528" y="2706624"/>
            <a:ext cx="219456" cy="1463040"/>
          </a:xfrm>
          <a:prstGeom prst="rightBrace">
            <a:avLst/>
          </a:prstGeom>
          <a:noFill/>
          <a:ln w="19050">
            <a:solidFill>
              <a:srgbClr val="9CA3AF"/>
            </a:solidFill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4" name="Question"/>
          <p:cNvSpPr txBox="1"/>
          <p:nvPr/>
        </p:nvSpPr>
        <p:spPr>
          <a:xfrm>
            <a:off x="4617720" y="2651760"/>
            <a:ext cx="3840480" cy="157276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Al, different partner anion</a:t>
            </a:r>
          </a:p>
          <a:p>
            <a:pPr marL="0" indent="0" latinLnBrk="0" algn="l">
              <a:lnSpc>
                <a:spcPct val="110000"/>
              </a:lnSpc>
              <a:spcBef>
                <a:spcPts val="900"/>
              </a:spcBef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Does the anion change</a:t>
            </a:r>
          </a:p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or Li transport?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58114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33095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answer this question, we must check electrochemical stability, mechanical stability, and Li transport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separately.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calculation coverage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charge-balanced placement was relaxed with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693 selected structures were then annealed (500 K, 50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41" name="Precursors held by each Stage-1 table" descr="Precursors held by each Stage-1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95728"/>
            <a:ext cx="7315200" cy="2788920"/>
          </a:xfrm>
          <a:prstGeom prst="rect">
            <a:avLst/>
          </a:prstGeom>
        </p:spPr>
      </p:pic>
      <p:sp>
        <p:nvSpPr>
          <p:cNvPr id="242" name="Caption"/>
          <p:cNvSpPr txBox="1"/>
          <p:nvPr/>
        </p:nvSpPr>
        <p:spPr>
          <a:xfrm>
            <a:off x="502920" y="521208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held by each Stage-1 table &gt;</a:t>
            </a:r>
          </a:p>
        </p:txBody>
      </p:sp>
      <p:sp>
        <p:nvSpPr>
          <p:cNvPr id="243" name="Conclusion"/>
          <p:cNvSpPr txBox="1"/>
          <p:nvPr/>
        </p:nvSpPr>
        <p:spPr>
          <a:xfrm>
            <a:off x="365760" y="553212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definition.</a:t>
            </a:r>
          </a:p>
        </p:txBody>
      </p:sp>
      <p:pic>
        <p:nvPicPr>
          <p:cNvPr id="249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50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51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52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53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55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56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7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58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59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0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61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62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63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64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65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66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67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68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69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70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71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72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73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74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5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76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77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78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79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80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81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82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83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84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85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86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87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