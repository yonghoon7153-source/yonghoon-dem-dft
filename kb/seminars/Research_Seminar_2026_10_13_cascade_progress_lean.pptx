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fig_p06_candidates_by_family.png"/><Relationship Id="rId4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8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9" name="Precursors per anion family" descr="Precursors per anion fami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31720"/>
            <a:ext cx="3337560" cy="2651760"/>
          </a:xfrm>
          <a:prstGeom prst="rect">
            <a:avLst/>
          </a:prstGeom>
        </p:spPr>
      </p:pic>
      <p:pic>
        <p:nvPicPr>
          <p:cNvPr id="240" name="Jung 2026 Fig. 3d" descr="Jung 2026 Fig. 3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3063240"/>
            <a:ext cx="4663440" cy="1215122"/>
          </a:xfrm>
          <a:prstGeom prst="rect">
            <a:avLst/>
          </a:prstGeom>
        </p:spPr>
      </p:pic>
      <p:sp>
        <p:nvSpPr>
          <p:cNvPr id="241" name="Caption"/>
          <p:cNvSpPr txBox="1"/>
          <p:nvPr/>
        </p:nvSpPr>
        <p:spPr>
          <a:xfrm>
            <a:off x="502920" y="5010912"/>
            <a:ext cx="33375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per anion family &gt;</a:t>
            </a:r>
          </a:p>
        </p:txBody>
      </p:sp>
      <p:sp>
        <p:nvSpPr>
          <p:cNvPr id="242" name="Literature tag"/>
          <p:cNvSpPr txBox="1"/>
          <p:nvPr/>
        </p:nvSpPr>
        <p:spPr>
          <a:xfrm>
            <a:off x="4023360" y="2770632"/>
            <a:ext cx="46634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3" name="Credit"/>
          <p:cNvSpPr txBox="1"/>
          <p:nvPr/>
        </p:nvSpPr>
        <p:spPr>
          <a:xfrm>
            <a:off x="4023360" y="4305794"/>
            <a:ext cx="46634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7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8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9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50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1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16916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0025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2095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16916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0025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2095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16916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0025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2095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16916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0025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2095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37490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0599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2669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37490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0599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2669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V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migration · cell size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37490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0599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2669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→ DEM contacts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37490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0599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2669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Computational screening of dopant precursors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unit of screening is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(91 candidates).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24028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066544"/>
            <a:ext cx="1856232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Project stages</a:t>
            </a:r>
          </a:p>
        </p:txBody>
      </p:sp>
      <p:sp>
        <p:nvSpPr>
          <p:cNvPr id="227" name="Item 1"/>
          <p:cNvSpPr txBox="1"/>
          <p:nvPr/>
        </p:nvSpPr>
        <p:spPr>
          <a:xfrm>
            <a:off x="886968" y="24231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Stage 1 exploration screen (Jun–Aug)</a:t>
            </a:r>
          </a:p>
        </p:txBody>
      </p:sp>
      <p:sp>
        <p:nvSpPr>
          <p:cNvPr id="228" name="Note 1"/>
          <p:cNvSpPr txBox="1"/>
          <p:nvPr/>
        </p:nvSpPr>
        <p:spPr>
          <a:xfrm>
            <a:off x="5068519" y="24231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(91 precursors, 3,675 structures)</a:t>
            </a:r>
          </a:p>
        </p:txBody>
      </p:sp>
      <p:sp>
        <p:nvSpPr>
          <p:cNvPr id="229" name="Item 2"/>
          <p:cNvSpPr txBox="1"/>
          <p:nvPr/>
        </p:nvSpPr>
        <p:spPr>
          <a:xfrm>
            <a:off x="886968" y="28803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Audit of Stage 1 (Sep)</a:t>
            </a:r>
          </a:p>
        </p:txBody>
      </p:sp>
      <p:sp>
        <p:nvSpPr>
          <p:cNvPr id="230" name="Note 2"/>
          <p:cNvSpPr txBox="1"/>
          <p:nvPr/>
        </p:nvSpPr>
        <p:spPr>
          <a:xfrm>
            <a:off x="5068519" y="28803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(rules fixed before new results)</a:t>
            </a:r>
          </a:p>
        </p:txBody>
      </p:sp>
      <p:sp>
        <p:nvSpPr>
          <p:cNvPr id="231" name="Item 3"/>
          <p:cNvSpPr txBox="1"/>
          <p:nvPr/>
        </p:nvSpPr>
        <p:spPr>
          <a:xfrm>
            <a:off x="886968" y="33375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Stage 2 pilot: MLIP-MD (Oct)</a:t>
            </a:r>
          </a:p>
        </p:txBody>
      </p:sp>
      <p:sp>
        <p:nvSpPr>
          <p:cNvPr id="232" name="Note 3"/>
          <p:cNvSpPr txBox="1"/>
          <p:nvPr/>
        </p:nvSpPr>
        <p:spPr>
          <a:xfrm>
            <a:off x="5068519" y="33375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(12 of 40 runs done)</a:t>
            </a:r>
          </a:p>
        </p:txBody>
      </p:sp>
      <p:sp>
        <p:nvSpPr>
          <p:cNvPr id="233" name="Item 4"/>
          <p:cNvSpPr txBox="1"/>
          <p:nvPr/>
        </p:nvSpPr>
        <p:spPr>
          <a:xfrm>
            <a:off x="886968" y="37947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Shortlist → DFT → experiments</a:t>
            </a:r>
          </a:p>
        </p:txBody>
      </p:sp>
      <p:sp>
        <p:nvSpPr>
          <p:cNvPr id="234" name="Note 4"/>
          <p:cNvSpPr txBox="1"/>
          <p:nvPr/>
        </p:nvSpPr>
        <p:spPr>
          <a:xfrm>
            <a:off x="5068519" y="37947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(after the pilot verdict)</a:t>
            </a:r>
          </a:p>
        </p:txBody>
      </p:sp>
      <p:sp>
        <p:nvSpPr>
          <p:cNvPr id="235" name="Arrow band"/>
          <p:cNvSpPr/>
          <p:nvPr/>
        </p:nvSpPr>
        <p:spPr>
          <a:xfrm>
            <a:off x="3287268" y="4500416"/>
            <a:ext cx="2569464" cy="112863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34000">
                <a:srgbClr val="C9D4EA"/>
              </a:gs>
              <a:gs pos="66000">
                <a:srgbClr val="C9D4EA"/>
              </a:gs>
              <a:gs pos="100000">
                <a:srgbClr val="FFFFFF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6" name="Down arrow"/>
          <p:cNvSpPr/>
          <p:nvPr/>
        </p:nvSpPr>
        <p:spPr>
          <a:xfrm>
            <a:off x="3287268" y="4443984"/>
            <a:ext cx="2569464" cy="658368"/>
          </a:xfrm>
          <a:custGeom>
            <a:avLst/>
            <a:gdLst/>
            <a:ahLst/>
            <a:cxnLst/>
            <a:rect l="0" t="0" r="r" b="b"/>
            <a:pathLst>
              <a:path w="880" h="350">
                <a:moveTo>
                  <a:pt x="300" y="86"/>
                </a:moveTo>
                <a:lnTo>
                  <a:pt x="300" y="90"/>
                </a:lnTo>
                <a:quadBezTo>
                  <a:pt x="350" y="90"/>
                  <a:pt x="350" y="140"/>
                </a:quadBezTo>
                <a:lnTo>
                  <a:pt x="350" y="180"/>
                </a:lnTo>
                <a:lnTo>
                  <a:pt x="295" y="180"/>
                </a:lnTo>
                <a:lnTo>
                  <a:pt x="445" y="346"/>
                </a:lnTo>
                <a:lnTo>
                  <a:pt x="595" y="180"/>
                </a:lnTo>
                <a:lnTo>
                  <a:pt x="540" y="180"/>
                </a:lnTo>
                <a:lnTo>
                  <a:pt x="540" y="140"/>
                </a:lnTo>
                <a:quadBezTo>
                  <a:pt x="540" y="90"/>
                  <a:pt x="590" y="90"/>
                </a:quadBezTo>
                <a:lnTo>
                  <a:pt x="590" y="86"/>
                </a:lnTo>
                <a:close/>
              </a:path>
            </a:pathLst>
          </a:custGeom>
          <a:gradFill rotWithShape="1">
            <a:gsLst>
              <a:gs pos="0">
                <a:srgbClr val="C9D4EA"/>
              </a:gs>
              <a:gs pos="30000">
                <a:srgbClr val="C9D4EA"/>
              </a:gs>
              <a:gs pos="100000">
                <a:srgbClr val="A3B6DB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7" name="Conclusion"/>
          <p:cNvSpPr txBox="1"/>
          <p:nvPr/>
        </p:nvSpPr>
        <p:spPr>
          <a:xfrm>
            <a:off x="365760" y="519379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audited.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in progress.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4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5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6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52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3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4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5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6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7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8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9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61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62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3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4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5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6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7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8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9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70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71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72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3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4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5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6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7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8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9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80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81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82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3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4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5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6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7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8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9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90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