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44" r:id="rId34"/>
    <p:sldId id="1332" r:id="rId15"/>
    <p:sldId id="1337" r:id="rId20"/>
    <p:sldId id="1343" r:id="rId33"/>
    <p:sldId id="1346" r:id="rId36"/>
    <p:sldId id="1347" r:id="rId37"/>
    <p:sldId id="1348" r:id="rId38"/>
    <p:sldId id="1349" r:id="rId39"/>
    <p:sldId id="1263" r:id="rId23"/>
    <p:sldId id="1350" r:id="rId40"/>
    <p:sldId id="1330" r:id="rId14"/>
    <p:sldId id="1336" r:id="rId19"/>
    <p:sldId id="1333" r:id="rId16"/>
    <p:sldId id="1334" r:id="rId17"/>
    <p:sldId id="1335" r:id="rId18"/>
    <p:sldId id="1338" r:id="rId21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  <Relationship Id="rId40" Type="http://schemas.openxmlformats.org/officeDocument/2006/relationships/slide" Target="slides/slide30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65E55-4F5A-BD57-6522-074A82BF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2B6AF0-8B66-DE61-92DD-D07FEC9599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FF00DF-15BC-5A80-6961-CA38F232C2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86FB2F-2A18-9479-5B82-05510DC9EC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5275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074E6-4D3B-D3B3-A694-6076AE451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4CC3FC-4F6C-84B6-C093-994A5D324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785D4B-FD82-036B-D0EC-9246FD7801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E851D-5BF5-4B79-3C01-960CA83B3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31716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9E5F4-7E04-0B17-059A-AE6EA63FF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CA70358-7EE7-475E-5569-9B222F8B2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524E5A7-8AA7-979C-C978-0E632261E4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3AB625-D888-E05A-E344-E98D16E1C9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3821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7AF95-5F62-3026-5B33-C2AF9BC6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212462-EEA3-5803-74FC-22E5BD003F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386BF8-242D-DDF6-8071-B09EA3CB6E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31F4A-7789-FD89-8217-F1221D022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6777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Relationship Id="rId7" Type="http://schemas.openxmlformats.org/officeDocument/2006/relationships/image" Target="../media/fig_p08_anneal_energy_hist.png"/></Relationships>
</file>

<file path=ppt/slides/_rels/slide12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emf"/></Relationships>
</file>

<file path=ppt/slides/_rels/slide13.xml.rels><?xml version='1.0' encoding='UTF-8' standalone='yes'?>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emf"/><Relationship Id="rId4" Type="http://schemas.openxmlformats.org/officeDocument/2006/relationships/oleObject" Target="../embeddings/oleObject4.bin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7.xml.rels><?xml version='1.0' encoding='UTF-8' standalone='yes'?>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score_top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16,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sulfide-based all-solid-state batteries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reinforce each other.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dopant that suppresses one mode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worsen the 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trade-off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goes undetected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365760" y="2240280"/>
          <a:ext cx="8412480" cy="312724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br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(coating layer)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Muy 2025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(Li₇PS₆)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element, site-resolved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Jung 2026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LGPS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two elements, chosen independently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2,550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ML-predicted G and G/K</a:t>
                      </a:r>
                      <a:b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(used for screening)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what this study adds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5120640" y="18288"/>
            <a:ext cx="3566160" cy="7863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27, 4040 (2015).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Joule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3, 1252 (2019).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12, 7272 (2024).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37, 2395 (2025).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eTransportation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28, 100570 (2026).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636912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5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4777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53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286000"/>
            <a:ext cx="4206240" cy="2028299"/>
          </a:xfrm>
          <a:prstGeom prst="rect">
            <a:avLst/>
          </a:prstGeom>
        </p:spPr>
      </p:pic>
      <p:sp>
        <p:nvSpPr>
          <p:cNvPr id="254" name="Caption left"/>
          <p:cNvSpPr txBox="1"/>
          <p:nvPr/>
        </p:nvSpPr>
        <p:spPr>
          <a:xfrm>
            <a:off x="502920" y="4332587"/>
            <a:ext cx="420624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 (main batch 3,615; +60 in the August re-run) &gt;</a:t>
            </a:r>
          </a:p>
        </p:txBody>
      </p:sp>
      <p:pic>
        <p:nvPicPr>
          <p:cNvPr id="255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2084832"/>
            <a:ext cx="2011680" cy="1483660"/>
          </a:xfrm>
          <a:prstGeom prst="rect">
            <a:avLst/>
          </a:prstGeom>
        </p:spPr>
      </p:pic>
      <p:sp>
        <p:nvSpPr>
          <p:cNvPr id="256" name="Caption right"/>
          <p:cNvSpPr txBox="1"/>
          <p:nvPr/>
        </p:nvSpPr>
        <p:spPr>
          <a:xfrm>
            <a:off x="5669280" y="3586780"/>
            <a:ext cx="228600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pic>
        <p:nvPicPr>
          <p:cNvPr id="257" name="Energy change from the short anneal" descr="Energy change from the short annea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2080" y="3895344"/>
            <a:ext cx="2834640" cy="1600200"/>
          </a:xfrm>
          <a:prstGeom prst="rect">
            <a:avLst/>
          </a:prstGeom>
        </p:spPr>
      </p:pic>
      <p:sp>
        <p:nvSpPr>
          <p:cNvPr id="258" name="Caption hist"/>
          <p:cNvSpPr txBox="1"/>
          <p:nvPr/>
        </p:nvSpPr>
        <p:spPr>
          <a:xfrm>
            <a:off x="5074920" y="5513832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energy change from the short anneal &gt;</a:t>
            </a:r>
          </a:p>
        </p:txBody>
      </p:sp>
      <p:sp>
        <p:nvSpPr>
          <p:cNvPr id="259" name="Conclusion"/>
          <p:cNvSpPr txBox="1"/>
          <p:nvPr/>
        </p:nvSpPr>
        <p:spPr>
          <a:xfrm>
            <a:off x="365760" y="5815584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693 annealed structures found a lower arrangement (median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0.81 eV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supercell).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1634E-0C88-F9AE-BDBF-D3BF98EA0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C992210-435B-888B-A323-F005D64A5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3: Machine-learned potential screening before DFT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relax 3,615 structures within budget,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machine-learned potential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was used.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Structures were removed by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geometry (volume)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not by energy.</a:t>
            </a: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B7D7EC-12AD-79CB-D24F-E24166AD0C5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0EE2AC-FECB-9D39-F25B-65C016AE7F0F}"/>
              </a:ext>
            </a:extLst>
          </p:cNvPr>
          <p:cNvSpPr txBox="1"/>
          <p:nvPr/>
        </p:nvSpPr>
        <p:spPr>
          <a:xfrm>
            <a:off x="502920" y="5909911"/>
            <a:ext cx="8138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 of 3,615 changed by more than 25 %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their energies look like the rest.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79C089-2CE4-8B1E-6E50-6B772E05F650}"/>
              </a:ext>
            </a:extLst>
          </p:cNvPr>
          <p:cNvSpPr txBox="1"/>
          <p:nvPr/>
        </p:nvSpPr>
        <p:spPr>
          <a:xfrm>
            <a:off x="1628021" y="5668880"/>
            <a:ext cx="588795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far each structure moved · the same structures on both screening axes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A55E1C26-3D16-0608-DE03-F93D0A17DFAC}"/>
              </a:ext>
            </a:extLst>
          </p:cNvPr>
          <p:cNvGrpSpPr/>
          <p:nvPr/>
        </p:nvGrpSpPr>
        <p:grpSpPr>
          <a:xfrm>
            <a:off x="689384" y="2658684"/>
            <a:ext cx="7765233" cy="2552556"/>
            <a:chOff x="758580" y="2658684"/>
            <a:chExt cx="7765233" cy="2552556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60D299CC-9953-22B3-C5DF-B80173CCE5E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10442199"/>
                </p:ext>
              </p:extLst>
            </p:nvPr>
          </p:nvGraphicFramePr>
          <p:xfrm>
            <a:off x="758580" y="2658684"/>
            <a:ext cx="3181722" cy="25525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4384116" imgH="19564067" progId="Origin95.Graph">
                    <p:embed/>
                  </p:oleObj>
                </mc:Choice>
                <mc:Fallback>
                  <p:oleObj name="Graph" r:id="rId3" imgW="24384116" imgH="19564067" progId="Origin95.Grap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58580" y="2658684"/>
                          <a:ext cx="3181722" cy="2552556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6E37340C-C92E-10AD-243F-D5777BABA3EA}"/>
                </a:ext>
              </a:extLst>
            </p:cNvPr>
            <p:cNvGrpSpPr/>
            <p:nvPr/>
          </p:nvGrpSpPr>
          <p:grpSpPr>
            <a:xfrm>
              <a:off x="2740947" y="2699382"/>
              <a:ext cx="1199355" cy="384602"/>
              <a:chOff x="3372644" y="2495171"/>
              <a:chExt cx="1199355" cy="384602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F3065879-B6D3-A551-E875-D8B4EB0D841D}"/>
                  </a:ext>
                </a:extLst>
              </p:cNvPr>
              <p:cNvSpPr/>
              <p:nvPr/>
            </p:nvSpPr>
            <p:spPr>
              <a:xfrm>
                <a:off x="3372644" y="2595573"/>
                <a:ext cx="191244" cy="45719"/>
              </a:xfrm>
              <a:prstGeom prst="rect">
                <a:avLst/>
              </a:prstGeom>
              <a:solidFill>
                <a:srgbClr val="4D4D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2BF54B0-DE15-9237-3A89-3B6FAFA40FFF}"/>
                  </a:ext>
                </a:extLst>
              </p:cNvPr>
              <p:cNvSpPr txBox="1"/>
              <p:nvPr/>
            </p:nvSpPr>
            <p:spPr>
              <a:xfrm>
                <a:off x="3513589" y="2495171"/>
                <a:ext cx="72008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Kept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21" name="그룹 20">
                <a:extLst>
                  <a:ext uri="{FF2B5EF4-FFF2-40B4-BE49-F238E27FC236}">
                    <a16:creationId xmlns:a16="http://schemas.microsoft.com/office/drawing/2014/main" id="{6AF45EC5-FAB4-B92A-4076-90B0CF0B6C23}"/>
                  </a:ext>
                </a:extLst>
              </p:cNvPr>
              <p:cNvGrpSpPr/>
              <p:nvPr/>
            </p:nvGrpSpPr>
            <p:grpSpPr>
              <a:xfrm>
                <a:off x="3372644" y="2633552"/>
                <a:ext cx="1199355" cy="246221"/>
                <a:chOff x="3372644" y="2608929"/>
                <a:chExt cx="1199355" cy="246221"/>
              </a:xfrm>
            </p:grpSpPr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6DCDBB52-3736-1788-EC9D-621744EB838F}"/>
                    </a:ext>
                  </a:extLst>
                </p:cNvPr>
                <p:cNvSpPr/>
                <p:nvPr/>
              </p:nvSpPr>
              <p:spPr>
                <a:xfrm>
                  <a:off x="3372644" y="2709181"/>
                  <a:ext cx="191244" cy="45719"/>
                </a:xfrm>
                <a:prstGeom prst="rect">
                  <a:avLst/>
                </a:prstGeom>
                <a:solidFill>
                  <a:srgbClr val="FF4D4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solidFill>
                      <a:srgbClr val="FF4D4D"/>
                    </a:solidFill>
                  </a:endParaRP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26D56A00-1E60-9817-73E3-2F3156B4D74C}"/>
                    </a:ext>
                  </a:extLst>
                </p:cNvPr>
                <p:cNvSpPr txBox="1"/>
                <p:nvPr/>
              </p:nvSpPr>
              <p:spPr>
                <a:xfrm>
                  <a:off x="3513588" y="2608929"/>
                  <a:ext cx="1058411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1000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Dropped (&gt; 25 %)</a:t>
                  </a:r>
                  <a:endParaRPr lang="ko-KR" altLang="en-US" sz="1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pic>
          <p:nvPicPr>
            <p:cNvPr id="38" name="Picture 39" descr="step3_screen_axes.png">
              <a:extLst>
                <a:ext uri="{FF2B5EF4-FFF2-40B4-BE49-F238E27FC236}">
                  <a16:creationId xmlns:a16="http://schemas.microsoft.com/office/drawing/2014/main" id="{CC5D2632-F081-2880-238D-97159E8765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84294" y="2658684"/>
              <a:ext cx="4139519" cy="2451278"/>
            </a:xfrm>
            <a:prstGeom prst="rect">
              <a:avLst/>
            </a:prstGeom>
          </p:spPr>
        </p:pic>
      </p:grpSp>
      <p:sp>
        <p:nvSpPr>
          <p:cNvPr id="300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reference was not the DFT equilibrium (slide 8).</a:t>
            </a:r>
          </a:p>
        </p:txBody>
      </p:sp>
    </p:spTree>
    <p:extLst>
      <p:ext uri="{BB962C8B-B14F-4D97-AF65-F5344CB8AC3E}">
        <p14:creationId xmlns:p14="http://schemas.microsoft.com/office/powerpoint/2010/main" val="1359904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87E04-B723-3C46-497D-F9A1802AC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5A778A3-DC95-F75F-1202-B2544A40D5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4: One structure per compound is kept for the full calculations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combined score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energy alone, picked which configuration was kept.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Each compound produced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15 to 150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candidates, so this selection is not a ranking of elements.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68ED5B-4877-5BDC-995B-5D7349873F0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783410-EC2F-5FA5-5A0E-5EB126161791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median spread </a:t>
            </a:r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0.04 eV / atom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for the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of 88 above 0.10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the choice of structure matters.</a:t>
            </a:r>
          </a:p>
          <a:p>
            <a:pPr algn="ctr"/>
            <a:endParaRPr lang="en-US" altLang="ko-KR" sz="14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3369F6-0F96-890D-43E4-27FB93B7FE25}"/>
              </a:ext>
            </a:extLst>
          </p:cNvPr>
          <p:cNvSpPr txBox="1"/>
          <p:nvPr/>
        </p:nvSpPr>
        <p:spPr>
          <a:xfrm>
            <a:off x="2406696" y="5668880"/>
            <a:ext cx="433060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spread of the three top-ranked structures per species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4AA1A2AF-D714-5820-C858-22569B377FCE}"/>
              </a:ext>
            </a:extLst>
          </p:cNvPr>
          <p:cNvGrpSpPr/>
          <p:nvPr/>
        </p:nvGrpSpPr>
        <p:grpSpPr>
          <a:xfrm>
            <a:off x="675645" y="2574565"/>
            <a:ext cx="7792711" cy="3094315"/>
            <a:chOff x="557655" y="2574565"/>
            <a:chExt cx="7792711" cy="3094315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0A393EE3-40D6-939F-EC14-D06EC874E6AA}"/>
                </a:ext>
              </a:extLst>
            </p:cNvPr>
            <p:cNvGrpSpPr/>
            <p:nvPr/>
          </p:nvGrpSpPr>
          <p:grpSpPr>
            <a:xfrm>
              <a:off x="557655" y="2574565"/>
              <a:ext cx="7068293" cy="3094315"/>
              <a:chOff x="663709" y="2574565"/>
              <a:chExt cx="7068293" cy="3094315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9F89C004-51AA-953C-1462-181D16B89E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0146"/>
              <a:stretch>
                <a:fillRect/>
              </a:stretch>
            </p:blipFill>
            <p:spPr>
              <a:xfrm>
                <a:off x="663709" y="2574565"/>
                <a:ext cx="6199390" cy="3094315"/>
              </a:xfrm>
              <a:prstGeom prst="rect">
                <a:avLst/>
              </a:prstGeom>
            </p:spPr>
          </p:pic>
          <p:pic>
            <p:nvPicPr>
              <p:cNvPr id="12" name="그림 11">
                <a:extLst>
                  <a:ext uri="{FF2B5EF4-FFF2-40B4-BE49-F238E27FC236}">
                    <a16:creationId xmlns:a16="http://schemas.microsoft.com/office/drawing/2014/main" id="{1FFB9154-1931-79F5-A72B-3D10BCC134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85133" y="3080758"/>
                <a:ext cx="1046869" cy="1788402"/>
              </a:xfrm>
              <a:prstGeom prst="rect">
                <a:avLst/>
              </a:prstGeom>
            </p:spPr>
          </p:pic>
        </p:grpSp>
        <p:graphicFrame>
          <p:nvGraphicFramePr>
            <p:cNvPr id="23" name="개체 22">
              <a:extLst>
                <a:ext uri="{FF2B5EF4-FFF2-40B4-BE49-F238E27FC236}">
                  <a16:creationId xmlns:a16="http://schemas.microsoft.com/office/drawing/2014/main" id="{75A384F0-6AF5-CAA7-9E17-698FD56E63D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15759032"/>
                </p:ext>
              </p:extLst>
            </p:nvPr>
          </p:nvGraphicFramePr>
          <p:xfrm>
            <a:off x="6757045" y="2722921"/>
            <a:ext cx="1593321" cy="279760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5" imgW="8381942" imgH="14716318" progId="Origin95.Graph">
                    <p:embed/>
                  </p:oleObj>
                </mc:Choice>
                <mc:Fallback>
                  <p:oleObj name="Graph" r:id="rId5" imgW="8381942" imgH="14716318" progId="Origin95.Grap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757045" y="2722921"/>
                          <a:ext cx="1593321" cy="2797601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1931BEF8-400F-33E0-5308-056F7AFE2A58}"/>
              </a:ext>
            </a:extLst>
          </p:cNvPr>
          <p:cNvSpPr txBox="1"/>
          <p:nvPr/>
        </p:nvSpPr>
        <p:spPr>
          <a:xfrm>
            <a:off x="7552813" y="4403739"/>
            <a:ext cx="9060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Median 0.037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1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a top three; the energy axis lacks element references (slide 8).</a:t>
            </a:r>
          </a:p>
        </p:txBody>
      </p:sp>
    </p:spTree>
    <p:extLst>
      <p:ext uri="{BB962C8B-B14F-4D97-AF65-F5344CB8AC3E}">
        <p14:creationId xmlns:p14="http://schemas.microsoft.com/office/powerpoint/2010/main" val="3279904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00AD1-2A25-79E8-19AE-CF5815F33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1BC55F2-E6D6-FADE-1AEB-2398AAA34C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5: A short anneal tests whether the arrangement survives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escape the nearest local minimum, each structure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heated briefly and relaxed again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trajectory is not an equilibrium structure and not a conductivity measurement.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B01698-CB8C-8ED1-8F2A-FA43C2836E0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F80F9-6F73-3800-0B72-36710E19FA4D}"/>
              </a:ext>
            </a:extLst>
          </p:cNvPr>
          <p:cNvSpPr txBox="1"/>
          <p:nvPr/>
        </p:nvSpPr>
        <p:spPr>
          <a:xfrm>
            <a:off x="502920" y="5909911"/>
            <a:ext cx="8138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681 of 681 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found a lower arrangement, median </a:t>
            </a:r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0.81 eV per cell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the top ten of the ranking did not change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12F198-98CA-A3D2-DDDA-C3B3D4825577}"/>
              </a:ext>
            </a:extLst>
          </p:cNvPr>
          <p:cNvSpPr txBox="1"/>
          <p:nvPr/>
        </p:nvSpPr>
        <p:spPr>
          <a:xfrm>
            <a:off x="2406696" y="5668880"/>
            <a:ext cx="433060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a short anneal does  ·  the energy it recovered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8F48083-6A1B-E7C6-F1AB-0EDAF854AB18}"/>
              </a:ext>
            </a:extLst>
          </p:cNvPr>
          <p:cNvGrpSpPr/>
          <p:nvPr/>
        </p:nvGrpSpPr>
        <p:grpSpPr>
          <a:xfrm>
            <a:off x="571562" y="2467981"/>
            <a:ext cx="8000876" cy="2926858"/>
            <a:chOff x="502920" y="2320191"/>
            <a:chExt cx="8000876" cy="2926858"/>
          </a:xfrm>
        </p:grpSpPr>
        <p:pic>
          <p:nvPicPr>
            <p:cNvPr id="3" name="Picture 38" descr="step5_anneal_scheme.png">
              <a:extLst>
                <a:ext uri="{FF2B5EF4-FFF2-40B4-BE49-F238E27FC236}">
                  <a16:creationId xmlns:a16="http://schemas.microsoft.com/office/drawing/2014/main" id="{C97C5351-11EA-28C7-61F2-D5D1B0EC36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2920" y="2320192"/>
              <a:ext cx="3968496" cy="2926857"/>
            </a:xfrm>
            <a:prstGeom prst="rect">
              <a:avLst/>
            </a:prstGeom>
          </p:spPr>
        </p:pic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406E02E7-8A0B-AAB1-EAEA-D4FB4F153A5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08227965"/>
                </p:ext>
              </p:extLst>
            </p:nvPr>
          </p:nvGraphicFramePr>
          <p:xfrm>
            <a:off x="4672585" y="2320191"/>
            <a:ext cx="3831211" cy="29268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4" imgW="26422516" imgH="20183372" progId="Origin95.Graph">
                    <p:embed/>
                  </p:oleObj>
                </mc:Choice>
                <mc:Fallback>
                  <p:oleObj name="Graph" r:id="rId4" imgW="26422516" imgH="20183372" progId="Origin95.Grap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4672585" y="2320191"/>
                          <a:ext cx="3831211" cy="292685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02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'The top ten did not change' is withdrawn; current counts are on slide 9.</a:t>
            </a:r>
          </a:p>
        </p:txBody>
      </p:sp>
    </p:spTree>
    <p:extLst>
      <p:ext uri="{BB962C8B-B14F-4D97-AF65-F5344CB8AC3E}">
        <p14:creationId xmlns:p14="http://schemas.microsoft.com/office/powerpoint/2010/main" val="8628814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60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67EEF-8DD6-E073-7B56-D103AF03B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4F364FD-764F-4D68-A25C-026A20B26E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8: The oxidation onset from a grand-potential construction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locate decomposition,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was scanned as a voltage axis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result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0 K bulk thermodynamics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 rate and not a passivation prediction.</a:t>
            </a:r>
          </a:p>
          <a:p>
            <a:pPr marL="288000" lvl="0" latinLnBrk="0">
              <a:lnSpc>
                <a:spcPct val="150000"/>
              </a:lnSpc>
              <a:buClr>
                <a:schemeClr val="bg1"/>
              </a:buClr>
              <a:buSzPct val="75000"/>
              <a:defRPr/>
            </a:pP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758251-D715-ACE5-4D91-64C5FDD63700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A2A530-FF1D-B4D5-5967-40590F4AD862}"/>
              </a:ext>
            </a:extLst>
          </p:cNvPr>
          <p:cNvSpPr txBox="1"/>
          <p:nvPr/>
        </p:nvSpPr>
        <p:spPr>
          <a:xfrm>
            <a:off x="1746546" y="5668880"/>
            <a:ext cx="56509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stability window of every candidate  ·  window width by chemical group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15" name="Picture 31" descr="step8_oxidation_windows.png">
            <a:extLst>
              <a:ext uri="{FF2B5EF4-FFF2-40B4-BE49-F238E27FC236}">
                <a16:creationId xmlns:a16="http://schemas.microsoft.com/office/drawing/2014/main" id="{BAB65E8C-4A9A-4855-0F08-99E0819B2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398" y="2669648"/>
            <a:ext cx="6959203" cy="29992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DB857DE-B9DF-9806-A0DD-CBEAE544B4A6}"/>
              </a:ext>
            </a:extLst>
          </p:cNvPr>
          <p:cNvSpPr txBox="1"/>
          <p:nvPr/>
        </p:nvSpPr>
        <p:spPr>
          <a:xfrm>
            <a:off x="161195" y="5909911"/>
            <a:ext cx="88216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five windows collapse below 0.05 V 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(3d metals Mn to Ni); </a:t>
            </a:r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width falls steadily from alkali metals to transition metals</a:t>
            </a:r>
          </a:p>
        </p:txBody>
      </p:sp>
      <p:sp>
        <p:nvSpPr>
          <p:cNvPr id="303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window definition changed; current windows are on slide 11.</a:t>
            </a:r>
          </a:p>
        </p:txBody>
      </p:sp>
    </p:spTree>
    <p:extLst>
      <p:ext uri="{BB962C8B-B14F-4D97-AF65-F5344CB8AC3E}">
        <p14:creationId xmlns:p14="http://schemas.microsoft.com/office/powerpoint/2010/main" val="11276070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must check electrochemical stability, mechanical stability, and Li transport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screening pipeline (June–August)</a:t>
            </a:r>
          </a:p>
        </p:txBody>
      </p:sp>
      <p:sp>
        <p:nvSpPr>
          <p:cNvPr id="238" name="Dashed frame"/>
          <p:cNvSpPr/>
          <p:nvPr/>
        </p:nvSpPr>
        <p:spPr>
          <a:xfrm>
            <a:off x="411480" y="1783080"/>
            <a:ext cx="5120640" cy="342900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9" name="Frame title"/>
          <p:cNvSpPr txBox="1"/>
          <p:nvPr/>
        </p:nvSpPr>
        <p:spPr>
          <a:xfrm>
            <a:off x="822960" y="1609344"/>
            <a:ext cx="1197864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Pipeline</a:t>
            </a:r>
          </a:p>
        </p:txBody>
      </p:sp>
      <p:sp>
        <p:nvSpPr>
          <p:cNvPr id="240" name="Item 1"/>
          <p:cNvSpPr txBox="1"/>
          <p:nvPr/>
        </p:nvSpPr>
        <p:spPr>
          <a:xfrm>
            <a:off x="777240" y="1965960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Site enumeration</a:t>
            </a:r>
          </a:p>
        </p:txBody>
      </p:sp>
      <p:sp>
        <p:nvSpPr>
          <p:cNvPr id="241" name="Note 1"/>
          <p:cNvSpPr txBox="1"/>
          <p:nvPr/>
        </p:nvSpPr>
        <p:spPr>
          <a:xfrm>
            <a:off x="3882542" y="1965960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</a:p>
        </p:txBody>
      </p:sp>
      <p:sp>
        <p:nvSpPr>
          <p:cNvPr id="242" name="Item 2"/>
          <p:cNvSpPr txBox="1"/>
          <p:nvPr/>
        </p:nvSpPr>
        <p:spPr>
          <a:xfrm>
            <a:off x="777240" y="2596896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UMA relaxation and volume filter</a:t>
            </a:r>
          </a:p>
        </p:txBody>
      </p:sp>
      <p:sp>
        <p:nvSpPr>
          <p:cNvPr id="243" name="Note 2"/>
          <p:cNvSpPr txBox="1"/>
          <p:nvPr/>
        </p:nvSpPr>
        <p:spPr>
          <a:xfrm>
            <a:off x="3882542" y="2596896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3,675 structures</a:t>
            </a:r>
          </a:p>
        </p:txBody>
      </p:sp>
      <p:sp>
        <p:nvSpPr>
          <p:cNvPr id="244" name="Item 3"/>
          <p:cNvSpPr txBox="1"/>
          <p:nvPr/>
        </p:nvSpPr>
        <p:spPr>
          <a:xfrm>
            <a:off x="777240" y="3227832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Short anneal (500 K, 50 ps) and re-relaxation</a:t>
            </a:r>
          </a:p>
        </p:txBody>
      </p:sp>
      <p:sp>
        <p:nvSpPr>
          <p:cNvPr id="245" name="Note 3"/>
          <p:cNvSpPr txBox="1"/>
          <p:nvPr/>
        </p:nvSpPr>
        <p:spPr>
          <a:xfrm>
            <a:off x="3882542" y="3227832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693 selected</a:t>
            </a:r>
          </a:p>
        </p:txBody>
      </p:sp>
      <p:sp>
        <p:nvSpPr>
          <p:cNvPr id="246" name="Item 4"/>
          <p:cNvSpPr txBox="1"/>
          <p:nvPr/>
        </p:nvSpPr>
        <p:spPr>
          <a:xfrm>
            <a:off x="777240" y="3858768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Descriptors (Li-site landscape, elastic moduli, stability window, and interface reactivity)</a:t>
            </a:r>
          </a:p>
        </p:txBody>
      </p:sp>
      <p:sp>
        <p:nvSpPr>
          <p:cNvPr id="247" name="Note 4"/>
          <p:cNvSpPr txBox="1"/>
          <p:nvPr/>
        </p:nvSpPr>
        <p:spPr>
          <a:xfrm>
            <a:off x="3882542" y="3858768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</a:p>
        </p:txBody>
      </p:sp>
      <p:sp>
        <p:nvSpPr>
          <p:cNvPr id="248" name="Item 5"/>
          <p:cNvSpPr txBox="1"/>
          <p:nvPr/>
        </p:nvSpPr>
        <p:spPr>
          <a:xfrm>
            <a:off x="777240" y="4489704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Combined score and ranking</a:t>
            </a:r>
          </a:p>
        </p:txBody>
      </p:sp>
      <p:sp>
        <p:nvSpPr>
          <p:cNvPr id="249" name="Note 5"/>
          <p:cNvSpPr txBox="1"/>
          <p:nvPr/>
        </p:nvSpPr>
        <p:spPr>
          <a:xfrm>
            <a:off x="3882542" y="4489704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</a:p>
        </p:txBody>
      </p:sp>
      <p:sp>
        <p:nvSpPr>
          <p:cNvPr id="250" name="Caption"/>
          <p:cNvSpPr txBox="1"/>
          <p:nvPr/>
        </p:nvSpPr>
        <p:spPr>
          <a:xfrm>
            <a:off x="411480" y="5376672"/>
            <a:ext cx="51206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Stage-1 pipeline, run from June to August &gt;</a:t>
            </a:r>
          </a:p>
        </p:txBody>
      </p:sp>
      <p:pic>
        <p:nvPicPr>
          <p:cNvPr id="251" name="Stage-1 composite score, top 10 of 91" descr="Stage-1 composite score, top 10 of 9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810512"/>
            <a:ext cx="3017520" cy="3283772"/>
          </a:xfrm>
          <a:prstGeom prst="rect">
            <a:avLst/>
          </a:prstGeom>
        </p:spPr>
      </p:pic>
      <p:sp>
        <p:nvSpPr>
          <p:cNvPr id="252" name="Caption"/>
          <p:cNvSpPr txBox="1"/>
          <p:nvPr/>
        </p:nvSpPr>
        <p:spPr>
          <a:xfrm>
            <a:off x="5577840" y="5376672"/>
            <a:ext cx="32918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Stage-1 composite score, top 10 of 91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91 precursors with this definition.</a:t>
            </a:r>
          </a:p>
        </p:txBody>
      </p:sp>
      <p:pic>
        <p:nvPicPr>
          <p:cNvPr id="261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62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63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64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66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67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68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9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level.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volume ~40 % above the DFT value.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moduli varied as much within a precursor as between precursors.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without a primary objective.</a:t>
            </a:r>
          </a:p>
        </p:txBody>
      </p:sp>
      <p:sp>
        <p:nvSpPr>
          <p:cNvPr id="270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71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2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readout,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roster of 237 designs, one composition each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parent sites and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median-energy configuration per design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ranking margin δ, proposed but not yet set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5029200"/>
            <a:ext cx="8138160" cy="47548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4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outputs are kept as </a:t>
            </a:r>
            <a:r>
              <a:rPr kumimoji="1" lang="en-US" altLang="ko-KR" sz="14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4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no dopant ranking has been approved.</a:t>
            </a:r>
          </a:p>
        </p:txBody>
      </p:sp>
      <p:sp>
        <p:nvSpPr>
          <p:cNvPr id="274" name="Conclusion"/>
          <p:cNvSpPr txBox="1"/>
          <p:nvPr/>
        </p:nvSpPr>
        <p:spPr>
          <a:xfrm>
            <a:off x="365760" y="55778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75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76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77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78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79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80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81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82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83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85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86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87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88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89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90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91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92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93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94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95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96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97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98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99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