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ale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2_msd_check_schematic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468880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put one element on one site, or screened compounds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38" name="References"/>
          <p:cNvSpPr txBox="1"/>
          <p:nvPr/>
        </p:nvSpPr>
        <p:spPr>
          <a:xfrm>
            <a:off x="502920" y="5669280"/>
            <a:ext cx="8138160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screens: Sendek, Energy Environ. Sci. 10, 306 (2017) · Kahle, Energy Environ. Sci. 13, 928 (2020) · Jung, eTransportation 28, 100570 (2026) · Park, Adv. Sci. 2026, e76305 · Muy,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were relaxed; As₂S₃ and AlI₃ were completed in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re-run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39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co-doping: CuCl, Taklu, Nano Energy 90, 106542 (2021) · MgF₂, Liu, Angew. Chem. Int. Ed. 62, e202302655 (2023) · ZnO, Jang, J. Alloys Compd. 957, 170273 (2023) · La₂O₃, Yang, Electrochim. Acta 535, 146619 (2025) · Nd₂O₃,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48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For some descriptors the spread </a:t>
            </a:r>
            <a:r>
              <a:rPr kumimoji="1" lang="en-US" altLang="ko-KR" sz="12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within one precursor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matches the spread between precursors, so they are used for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9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of these calculations became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step of the screening workflow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dopant precursors for Li₆PS₅Cl, selected by calculation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selection rule is fixed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results are seen.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6060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432304"/>
            <a:ext cx="196596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Progress so far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7889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7889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32461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32461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7033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7033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41605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41605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2696" y="4773168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4406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the ranking rule is set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 the results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(Jun–Aug): exploration screen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charge-balanced placement: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 relaxation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then a 500 K / 50 ps anneal.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0" name="Stage-1 structures and coverage" descr="Stage-1 structures and cover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14600"/>
            <a:ext cx="7863840" cy="2514600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505663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structures per anion family  ·  precursors held by each Stage-1 table &gt;</a:t>
            </a:r>
          </a:p>
        </p:txBody>
      </p:sp>
      <p:sp>
        <p:nvSpPr>
          <p:cNvPr id="242" name="Conclusion"/>
          <p:cNvSpPr txBox="1"/>
          <p:nvPr/>
        </p:nvSpPr>
        <p:spPr>
          <a:xfrm>
            <a:off x="365760" y="536752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6692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Since September these results are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for choosing the next calculations.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window: voltage range without Li exchange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definition; the earlier one gave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wider windows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50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97480"/>
            <a:ext cx="4114800" cy="1730086"/>
          </a:xfrm>
          <a:prstGeom prst="rect">
            <a:avLst/>
          </a:prstGeom>
        </p:spPr>
      </p:pic>
      <p:pic>
        <p:nvPicPr>
          <p:cNvPr id="251" name="Sundar 2025 Fig 2" descr="Coating reaction energy at four interfac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697480"/>
            <a:ext cx="3886200" cy="1477050"/>
          </a:xfrm>
          <a:prstGeom prst="rect">
            <a:avLst/>
          </a:prstGeom>
        </p:spPr>
      </p:pic>
      <p:sp>
        <p:nvSpPr>
          <p:cNvPr id="252" name="Credit right"/>
          <p:cNvSpPr txBox="1"/>
          <p:nvPr/>
        </p:nvSpPr>
        <p:spPr>
          <a:xfrm>
            <a:off x="4754880" y="4220250"/>
            <a:ext cx="39776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53" name="Caption"/>
          <p:cNvSpPr txBox="1"/>
          <p:nvPr/>
        </p:nvSpPr>
        <p:spPr>
          <a:xfrm>
            <a:off x="502920" y="449457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stability window of the Li₆PS₅Cl host  ·  coating reaction energy at four interfaces &gt;</a:t>
            </a:r>
          </a:p>
        </p:txBody>
      </p:sp>
      <p:sp>
        <p:nvSpPr>
          <p:cNvPr id="254" name="Conclusion"/>
          <p:cNvSpPr txBox="1"/>
          <p:nvPr/>
        </p:nvSpPr>
        <p:spPr>
          <a:xfrm>
            <a:off x="365760" y="4823754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Host window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1.717–2.140 V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interface products are being re-derived with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ground-state phases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55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1: rules fixed before new results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ledger; the rules below were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 on Sep 12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graphicFrame>
        <p:nvGraphicFramePr>
          <p:cNvPr id="256" name="Audit table"/>
          <p:cNvGraphicFramePr>
            <a:graphicFrameLocks noGrp="1"/>
          </p:cNvGraphicFramePr>
          <p:nvPr/>
        </p:nvGraphicFramePr>
        <p:xfrm>
          <a:off x="502920" y="2011680"/>
          <a:ext cx="8138160" cy="294436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5760"/>
                <a:gridCol w="3840480"/>
                <a:gridCol w="3931920"/>
              </a:tblGrid>
              <a:tr h="38404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3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Found in Stage 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3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Fixed before new results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Concentration labels did not change the dopant level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One primary readout: D</a:t>
                      </a:r>
                      <a:r>
                        <a:rPr kumimoji="1" lang="en-US" altLang="ko-KR" sz="1250" baseline="-250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</a:t>
                      </a: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= D*(design) / D*(host)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Volume filter: host reference ~40 % above the DFT volume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Design roster: 237 (one design = one composition)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Elastic descriptor: spread within a precursor ≈ between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Build rules: parent sites fixed, full charge balance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Several descriptors merged without a primary objective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Representative: the median-energy configuration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Ranking margin δ: proposed, not yet set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7" name="Caption"/>
          <p:cNvSpPr txBox="1"/>
          <p:nvPr/>
        </p:nvSpPr>
        <p:spPr>
          <a:xfrm>
            <a:off x="502920" y="50292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audit found and what was fixed before any new result &gt;</a:t>
            </a:r>
          </a:p>
        </p:txBody>
      </p:sp>
      <p:sp>
        <p:nvSpPr>
          <p:cNvPr id="258" name="Conclusion"/>
          <p:cNvSpPr txBox="1"/>
          <p:nvPr/>
        </p:nvSpPr>
        <p:spPr>
          <a:xfrm>
            <a:off x="365760" y="5358384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has been approved;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is the design roster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rule fixed before the runs: diffusive-regime checks, then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equivalence test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(±ln 1.5).</a:t>
            </a:r>
          </a:p>
        </p:txBody>
      </p:sp>
      <p:graphicFrame>
        <p:nvGraphicFramePr>
          <p:cNvPr id="259" name="Settings table"/>
          <p:cNvGraphicFramePr>
            <a:graphicFrameLocks noGrp="1"/>
          </p:cNvGraphicFramePr>
          <p:nvPr/>
        </p:nvGraphicFramePr>
        <p:xfrm>
          <a:off x="502920" y="2697480"/>
          <a:ext cx="4069080" cy="252374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/>
                <a:gridCol w="2971800"/>
              </a:tblGrid>
              <a:tr h="32918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Langevin, 1000 K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Recipes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 Al + 3 O + 4 V</a:t>
                      </a:r>
                      <a:r>
                        <a:rPr kumimoji="1" lang="en-US" altLang="ko-KR" sz="1150" baseline="-250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</a:t>
                      </a: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 vs  2 Al + 4 V</a:t>
                      </a:r>
                      <a:r>
                        <a:rPr kumimoji="1" lang="en-US" altLang="ko-KR" sz="1150" baseline="-250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starts × 2 recipes × 2 seeds = 40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60" name="Diffusive-regime check (schematic)" descr="Diffusive-regime check (schematic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606040"/>
            <a:ext cx="3931920" cy="2331720"/>
          </a:xfrm>
          <a:prstGeom prst="rect">
            <a:avLst/>
          </a:prstGeom>
        </p:spPr>
      </p:pic>
      <p:sp>
        <p:nvSpPr>
          <p:cNvPr id="261" name="Caption"/>
          <p:cNvSpPr txBox="1"/>
          <p:nvPr/>
        </p:nvSpPr>
        <p:spPr>
          <a:xfrm>
            <a:off x="4663440" y="4965192"/>
            <a:ext cx="41148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diffusive-regime check looks for (schematic) &gt;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 ratio of Li tracer diffusivities.</a:t>
            </a:r>
          </a:p>
        </p:txBody>
      </p:sp>
      <p:sp>
        <p:nvSpPr>
          <p:cNvPr id="26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temperature choice, status and limits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(UMA, this cell): the MSD stayed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within 2–100 ps, so no diffusivity was reported.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1000 K was chosen by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800 K failed the checks.</a:t>
            </a:r>
          </a:p>
        </p:txBody>
      </p:sp>
      <p:pic>
        <p:nvPicPr>
          <p:cNvPr id="264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4069080" cy="2080780"/>
          </a:xfrm>
          <a:prstGeom prst="rect">
            <a:avLst/>
          </a:prstGeom>
        </p:spPr>
      </p:pic>
      <p:sp>
        <p:nvSpPr>
          <p:cNvPr id="265" name="Caption"/>
          <p:cNvSpPr txBox="1"/>
          <p:nvPr/>
        </p:nvSpPr>
        <p:spPr>
          <a:xfrm>
            <a:off x="502920" y="4851412"/>
            <a:ext cx="406908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pic>
        <p:nvPicPr>
          <p:cNvPr id="266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487168"/>
            <a:ext cx="2788920" cy="2476873"/>
          </a:xfrm>
          <a:prstGeom prst="rect">
            <a:avLst/>
          </a:prstGeom>
        </p:spPr>
      </p:pic>
      <p:sp>
        <p:nvSpPr>
          <p:cNvPr id="267" name="Caption"/>
          <p:cNvSpPr txBox="1"/>
          <p:nvPr/>
        </p:nvSpPr>
        <p:spPr>
          <a:xfrm>
            <a:off x="4846320" y="5000617"/>
            <a:ext cx="37947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ordering at 1300 K vs 700 K, Jung et al. 2026 &gt;</a:t>
            </a:r>
          </a:p>
        </p:txBody>
      </p:sp>
      <p:sp>
        <p:nvSpPr>
          <p:cNvPr id="268" name="Conclusion"/>
          <p:cNvSpPr txBox="1"/>
          <p:nvPr/>
        </p:nvSpPr>
        <p:spPr>
          <a:xfrm>
            <a:off x="365760" y="54132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(≈ Oct 21).</a:t>
            </a:r>
          </a:p>
        </p:txBody>
      </p:sp>
      <p:sp>
        <p:nvSpPr>
          <p:cNvPr id="26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270" name="Dashed frame"/>
          <p:cNvSpPr/>
          <p:nvPr/>
        </p:nvSpPr>
        <p:spPr>
          <a:xfrm>
            <a:off x="521208" y="1783080"/>
            <a:ext cx="8101584" cy="25603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1" name="Frame title"/>
          <p:cNvSpPr txBox="1"/>
          <p:nvPr/>
        </p:nvSpPr>
        <p:spPr>
          <a:xfrm>
            <a:off x="932688" y="1609344"/>
            <a:ext cx="75895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</a:t>
            </a:r>
          </a:p>
        </p:txBody>
      </p:sp>
      <p:sp>
        <p:nvSpPr>
          <p:cNvPr id="272" name="Item 1"/>
          <p:cNvSpPr txBox="1"/>
          <p:nvPr/>
        </p:nvSpPr>
        <p:spPr>
          <a:xfrm>
            <a:off x="886968" y="19659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Pilot verdict (late Oct)</a:t>
            </a:r>
          </a:p>
        </p:txBody>
      </p:sp>
      <p:sp>
        <p:nvSpPr>
          <p:cNvPr id="273" name="Note 1"/>
          <p:cNvSpPr txBox="1"/>
          <p:nvPr/>
        </p:nvSpPr>
        <p:spPr>
          <a:xfrm>
            <a:off x="5068519" y="19659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(40 runs, analysed once)</a:t>
            </a:r>
          </a:p>
        </p:txBody>
      </p:sp>
      <p:sp>
        <p:nvSpPr>
          <p:cNvPr id="274" name="Item 2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Run scope and ranking margin δ</a:t>
            </a:r>
          </a:p>
        </p:txBody>
      </p:sp>
      <p:sp>
        <p:nvSpPr>
          <p:cNvPr id="275" name="Note 2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(set before the results)</a:t>
            </a:r>
          </a:p>
        </p:txBody>
      </p:sp>
      <p:sp>
        <p:nvSpPr>
          <p:cNvPr id="276" name="Item 3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Descriptor check vs transport</a:t>
            </a:r>
          </a:p>
        </p:txBody>
      </p:sp>
      <p:sp>
        <p:nvSpPr>
          <p:cNvPr id="277" name="Note 3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(rank correlation, CI)</a:t>
            </a:r>
          </a:p>
        </p:txBody>
      </p:sp>
      <p:sp>
        <p:nvSpPr>
          <p:cNvPr id="278" name="Item 4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Windows, interfaces (+As₂S₃), elastic</a:t>
            </a:r>
          </a:p>
        </p:txBody>
      </p:sp>
      <p:sp>
        <p:nvSpPr>
          <p:cNvPr id="279" name="Note 4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(1–2 months)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  Shortlist → DFT → experiments</a:t>
            </a:r>
          </a:p>
        </p:txBody>
      </p:sp>
      <p:sp>
        <p:nvSpPr>
          <p:cNvPr id="281" name="Note 5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(with the experimental team)</a:t>
            </a:r>
          </a:p>
        </p:txBody>
      </p:sp>
      <p:pic>
        <p:nvPicPr>
          <p:cNvPr id="282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2696" y="4462272"/>
            <a:ext cx="2569464" cy="658368"/>
          </a:xfrm>
          <a:prstGeom prst="rect">
            <a:avLst/>
          </a:prstGeom>
        </p:spPr>
      </p:pic>
      <p:sp>
        <p:nvSpPr>
          <p:cNvPr id="283" name="Conclusion"/>
          <p:cNvSpPr txBox="1"/>
          <p:nvPr/>
        </p:nvSpPr>
        <p:spPr>
          <a:xfrm>
            <a:off x="365760" y="516636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 the precursor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the selection rule stated in advance.</a:t>
            </a:r>
          </a:p>
        </p:txBody>
      </p:sp>
      <p:sp>
        <p:nvSpPr>
          <p:cNvPr id="284" name="Upgrades"/>
          <p:cNvSpPr txBox="1"/>
          <p:nvPr/>
        </p:nvSpPr>
        <p:spPr>
          <a:xfrm>
            <a:off x="502920" y="553212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upgrades: ≥ 2 nm cells · ≥ 0.3 ns · fine-tuned MLIP · ensemble uncertainty · defect thermodynamics</a:t>
            </a:r>
          </a:p>
        </p:txBody>
      </p:sp>
      <p:sp>
        <p:nvSpPr>
          <p:cNvPr id="285" name="References"/>
          <p:cNvSpPr txBox="1"/>
          <p:nvPr/>
        </p:nvSpPr>
        <p:spPr>
          <a:xfrm>
            <a:off x="502920" y="592531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Summary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pic>
        <p:nvPicPr>
          <p:cNvPr id="286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2696" y="3886200"/>
            <a:ext cx="2569464" cy="658368"/>
          </a:xfrm>
          <a:prstGeom prst="rect">
            <a:avLst/>
          </a:prstGeom>
        </p:spPr>
      </p:pic>
      <p:sp>
        <p:nvSpPr>
          <p:cNvPr id="287" name="Conclusion"/>
          <p:cNvSpPr txBox="1"/>
          <p:nvPr/>
        </p:nvSpPr>
        <p:spPr>
          <a:xfrm>
            <a:off x="365760" y="4663440"/>
            <a:ext cx="841248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</a:t>
            </a: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ranking rule is set before the results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</p:txBody>
      </p:sp>
      <p:sp>
        <p:nvSpPr>
          <p:cNvPr id="28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