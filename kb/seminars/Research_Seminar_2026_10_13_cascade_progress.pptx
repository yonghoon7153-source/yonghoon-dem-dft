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1071" r:id="rId5"/>
    <p:sldId id="1340" r:id="rId30"/>
    <p:sldId id="1341" r:id="rId31"/>
    <p:sldId id="1197" r:id="rId7"/>
    <p:sldId id="1327" r:id="rId11"/>
    <p:sldId id="1328" r:id="rId12"/>
    <p:sldId id="1342" r:id="rId32"/>
    <p:sldId id="1332" r:id="rId15"/>
    <p:sldId id="1337" r:id="rId20"/>
    <p:sldId id="1343" r:id="rId33"/>
    <p:sldId id="1344" r:id="rId34"/>
    <p:sldId id="1345" r:id="rId35"/>
    <p:sldId id="1346" r:id="rId36"/>
    <p:sldId id="1347" r:id="rId37"/>
    <p:sldId id="1348" r:id="rId38"/>
    <p:sldId id="1263" r:id="rId23"/>
    <p:sldId id="1349" r:id="rId39"/>
    <p:sldId id="1330" r:id="rId14"/>
    <p:sldId id="1336" r:id="rId19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4D4D"/>
    <a:srgbClr val="4D4DFF"/>
    <a:srgbClr val="070717"/>
    <a:srgbClr val="1AFF1A"/>
    <a:srgbClr val="8080FF"/>
    <a:srgbClr val="FF8080"/>
    <a:srgbClr val="64C5FF"/>
    <a:srgbClr val="FDAAA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39" autoAdjust="0"/>
    <p:restoredTop sz="95260" autoAdjust="0"/>
  </p:normalViewPr>
  <p:slideViewPr>
    <p:cSldViewPr showGuides="1">
      <p:cViewPr varScale="1">
        <p:scale>
          <a:sx n="107" d="100"/>
          <a:sy n="107" d="100"/>
        </p:scale>
        <p:origin x="1674" y="114"/>
      </p:cViewPr>
      <p:guideLst>
        <p:guide orient="horz" pos="89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7" Type="http://schemas.openxmlformats.org/officeDocument/2006/relationships/viewProps" Target="viewProps.xml"/>  <Relationship Id="rId30" Type="http://schemas.openxmlformats.org/officeDocument/2006/relationships/slide" Target="slides/slide20.xml"/>
  <Relationship Id="rId31" Type="http://schemas.openxmlformats.org/officeDocument/2006/relationships/slide" Target="slides/slide21.xml"/>
  <Relationship Id="rId32" Type="http://schemas.openxmlformats.org/officeDocument/2006/relationships/slide" Target="slides/slide22.xml"/>
  <Relationship Id="rId33" Type="http://schemas.openxmlformats.org/officeDocument/2006/relationships/slide" Target="slides/slide23.xml"/>
  <Relationship Id="rId34" Type="http://schemas.openxmlformats.org/officeDocument/2006/relationships/slide" Target="slides/slide24.xml"/>
  <Relationship Id="rId35" Type="http://schemas.openxmlformats.org/officeDocument/2006/relationships/slide" Target="slides/slide25.xml"/>
  <Relationship Id="rId36" Type="http://schemas.openxmlformats.org/officeDocument/2006/relationships/slide" Target="slides/slide26.xml"/>
  <Relationship Id="rId37" Type="http://schemas.openxmlformats.org/officeDocument/2006/relationships/slide" Target="slides/slide27.xml"/>
  <Relationship Id="rId38" Type="http://schemas.openxmlformats.org/officeDocument/2006/relationships/slide" Target="slides/slide28.xml"/>
  <Relationship Id="rId39" Type="http://schemas.openxmlformats.org/officeDocument/2006/relationships/slide" Target="slides/slide2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8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r">
              <a:defRPr sz="1100"/>
            </a:lvl1pPr>
          </a:lstStyle>
          <a:p>
            <a:fld id="{785B0769-355D-4F7A-9BBB-FB4B4242278C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8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r">
              <a:defRPr sz="1100"/>
            </a:lvl1pPr>
          </a:lstStyle>
          <a:p>
            <a:fld id="{6F53F785-4121-48C3-9976-6CF0E478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54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r">
              <a:defRPr sz="1100"/>
            </a:lvl1pPr>
          </a:lstStyle>
          <a:p>
            <a:fld id="{3C888668-3DAB-4CC6-8B29-40D6FCB1E1B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8" tIns="45501" rIns="90998" bIns="455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52"/>
            <a:ext cx="5438140" cy="3908860"/>
          </a:xfrm>
          <a:prstGeom prst="rect">
            <a:avLst/>
          </a:prstGeom>
        </p:spPr>
        <p:txBody>
          <a:bodyPr vert="horz" lIns="90998" tIns="45501" rIns="90998" bIns="4550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r">
              <a:defRPr sz="1100"/>
            </a:lvl1pPr>
          </a:lstStyle>
          <a:p>
            <a:fld id="{C0D08264-4636-41C1-92C7-DB593C887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8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75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368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B9E0-84BB-6BF0-7C76-5720795F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166425-AFEF-D8BE-DB9D-332A20173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B4ABA9-2CA8-758F-F435-4B2AA671F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C356F-D644-D96B-B7B2-119D4B2F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896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0C56-97F1-0C2D-59B2-2EEDF981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F8ED04-8644-14E5-47B3-8FB93C186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581641-571E-3450-2A72-BD298ABE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0B8407-1A67-D791-1ACC-3A1562BFE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252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B2DFA-28FB-2DB8-6056-A0362927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3F2D18-1C80-644C-B629-58D4FF13B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713C5F-5797-44CC-9623-B9492CA77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9E592A-634A-1571-9CB1-67AEDA3AC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721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71E33-E642-E6D1-B25C-24876B5F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27DA37-B4BD-43B1-9A36-E35F1D4CA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CAB87B-63A6-2839-D7B7-665705119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BE0FD4-513A-50E8-34D9-E88190B73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147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4B18-5A8C-85AC-DF59-3B26FF71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36F6-9962-9919-D40D-AF335CAAA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20BA0E-6DF6-922B-564B-AE7430DBF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F7258-AE70-4394-1157-E89B86DE1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239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7164-A1B4-2A14-F7B8-62948810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DBBD54-FA15-E343-8F97-E4CEB8C68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F295B0-86EF-ADE1-D20A-C1597BA5A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37624-B3F4-EB6C-0F67-DF32B4862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844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4E79-B82E-470C-9377-0AC7F4542FB2}" type="datetimeFigureOut">
              <a:rPr lang="ko-KR" altLang="en-US" smtClean="0"/>
              <a:pPr/>
              <a:t>2026-10-12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/>
          <p:cNvSpPr txBox="1">
            <a:spLocks/>
          </p:cNvSpPr>
          <p:nvPr userDrawn="1"/>
        </p:nvSpPr>
        <p:spPr>
          <a:xfrm>
            <a:off x="8604448" y="6571815"/>
            <a:ext cx="432048" cy="19174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85439E-65BC-4904-94CE-9CE86FCE3B8A}" type="slidenum">
              <a:rPr lang="ko-KR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바른돋움 1" pitchFamily="18" charset="-127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바른돋움 1" pitchFamily="18" charset="-127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5FB8FCC-2F2C-42E2-A25B-47C1D550EB32}"/>
              </a:ext>
            </a:extLst>
          </p:cNvPr>
          <p:cNvCxnSpPr/>
          <p:nvPr userDrawn="1"/>
        </p:nvCxnSpPr>
        <p:spPr>
          <a:xfrm>
            <a:off x="386910" y="836712"/>
            <a:ext cx="8351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CBE823-65F2-459A-8192-8848CACE68B6}"/>
              </a:ext>
            </a:extLst>
          </p:cNvPr>
          <p:cNvSpPr/>
          <p:nvPr userDrawn="1"/>
        </p:nvSpPr>
        <p:spPr>
          <a:xfrm>
            <a:off x="1835696" y="6465849"/>
            <a:ext cx="146899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latinLnBrk="0"/>
            <a:r>
              <a:rPr lang="en-US" altLang="ko-KR" sz="1100" i="0" kern="0" spc="-3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Battery Materials Lab.</a:t>
            </a:r>
            <a:endParaRPr kumimoji="0" lang="ko-KR" altLang="en-US" sz="1400" i="0" u="none" strike="noStrike" kern="0" cap="none" spc="-30" normalizeH="0" baseline="0" noProof="0" dirty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DFA539-8737-C042-478D-D3B5D9943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2" t="-7082" r="-1"/>
          <a:stretch/>
        </p:blipFill>
        <p:spPr>
          <a:xfrm>
            <a:off x="106678" y="6372426"/>
            <a:ext cx="1683211" cy="4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9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685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44E79-B82E-470C-9377-0AC7F4542FB2}" type="datetimeFigureOut">
              <a:rPr lang="ko-KR" altLang="en-US" smtClean="0"/>
              <a:pPr/>
              <a:t>2026-10-12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6" r:id="rId2"/>
    <p:sldLayoutId id="214748372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jung2026_fig5b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622244" y="2364248"/>
            <a:ext cx="5893972" cy="1294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0" cap="none" spc="-3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Yonghoon</a:t>
            </a:r>
            <a:r>
              <a:rPr kumimoji="0" lang="en-US" altLang="ko-KR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An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0" cap="none" spc="-3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Division of Materials Science &amp; Engineering, </a:t>
            </a:r>
            <a:r>
              <a:rPr kumimoji="0" lang="en-US" altLang="ko-KR" sz="1600" b="0" i="0" u="none" strike="noStrike" kern="0" cap="none" spc="-3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Hanyang</a:t>
            </a:r>
            <a:r>
              <a:rPr kumimoji="0" lang="en-US" altLang="ko-KR" sz="16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University</a:t>
            </a:r>
            <a:endParaRPr lang="en-US" altLang="ko-KR" sz="1600" kern="0" spc="-3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(E-mail : yonghoon71@hanyang.ac.kr)</a:t>
            </a:r>
            <a:endParaRPr kumimoji="0" lang="en-US" altLang="ko-KR" b="0" i="0" u="none" strike="noStrike" kern="0" cap="none" spc="-3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0" y="0"/>
            <a:ext cx="9144000" cy="1166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0" cap="none" spc="-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578166" y="265455"/>
            <a:ext cx="14302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en-US" sz="14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October 13, 2026</a:t>
            </a:r>
          </a:p>
        </p:txBody>
      </p:sp>
      <p:sp>
        <p:nvSpPr>
          <p:cNvPr id="8" name="Rectangle 4"/>
          <p:cNvSpPr/>
          <p:nvPr/>
        </p:nvSpPr>
        <p:spPr>
          <a:xfrm>
            <a:off x="596606" y="928311"/>
            <a:ext cx="8295874" cy="1311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altLang="en-US" sz="26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Research</a:t>
            </a:r>
            <a:r>
              <a:rPr lang="ko-KR" altLang="en-US" sz="26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 </a:t>
            </a:r>
            <a:r>
              <a:rPr lang="en-US" altLang="ko-KR" sz="26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Seminar</a:t>
            </a:r>
            <a:endParaRPr lang="en-US" altLang="en-US" sz="2600" b="1" kern="0" spc="-30" dirty="0">
              <a:solidFill>
                <a:schemeClr val="bg2"/>
              </a:solidFill>
              <a:latin typeface="Arial" panose="020B0604020202020204" pitchFamily="34" charset="0"/>
              <a:ea typeface="굴림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 Report on DFT/MLIP Screening:</a:t>
            </a:r>
            <a:b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Dopants in Li</a:t>
            </a:r>
            <a:r>
              <a:rPr lang="en-US" altLang="en-US" sz="2000" kern="0" spc="-30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r>
              <a:rPr lang="en-US" altLang="en-US" sz="2000" kern="0" spc="-30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endParaRPr lang="en-US" altLang="en-US" sz="1600" kern="0" spc="-30" baseline="-250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0B598B-5336-6FA5-A460-2647B0AC86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30" b="3861"/>
          <a:stretch/>
        </p:blipFill>
        <p:spPr>
          <a:xfrm>
            <a:off x="1331640" y="3513009"/>
            <a:ext cx="7812360" cy="33003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328DD2C-F625-D5F3-08CF-A81105451DE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" t="-7082" r="-1"/>
          <a:stretch/>
        </p:blipFill>
        <p:spPr>
          <a:xfrm>
            <a:off x="622244" y="5791624"/>
            <a:ext cx="2184820" cy="53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72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066A78-0FC5-8E2C-3989-9137FF6B0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55" y="984937"/>
            <a:ext cx="8081689" cy="1938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65113" indent="-265113" latinLnBrk="0">
              <a:lnSpc>
                <a:spcPct val="15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 modes in sulfide solid electrolytes</a:t>
            </a:r>
          </a:p>
          <a:p>
            <a:pPr marL="573750" lvl="0" indent="-285750" latinLnBrk="0">
              <a:lnSpc>
                <a:spcPct val="15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Electrochemical and mechanical degradation are coupled.</a:t>
            </a:r>
          </a:p>
          <a:p>
            <a:pPr marL="573750" indent="-285750" latinLnBrk="0">
              <a:lnSpc>
                <a:spcPct val="15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Because these failure modes are coupled, improving one of them can </a:t>
            </a:r>
            <a:r>
              <a:rPr kumimoji="1" lang="en-US" altLang="ko-KR" sz="15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degrade another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and the loss is </a:t>
            </a:r>
            <a:r>
              <a:rPr kumimoji="1" lang="en-US" altLang="ko-KR" sz="15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not detected 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unless each mode is evaluated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1C517E-9288-4768-8246-2A85EE861919}"/>
              </a:ext>
            </a:extLst>
          </p:cNvPr>
          <p:cNvSpPr txBox="1"/>
          <p:nvPr/>
        </p:nvSpPr>
        <p:spPr>
          <a:xfrm>
            <a:off x="5499882" y="850103"/>
            <a:ext cx="3329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ko-KR" sz="10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Chem</a:t>
            </a:r>
            <a:r>
              <a:rPr lang="ko-KR" altLang="ko-KR" sz="10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ko-KR" altLang="ko-KR" sz="10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</a:t>
            </a:r>
            <a:r>
              <a:rPr lang="ko-KR" altLang="ko-KR" sz="10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 62, 10277 (2026).</a:t>
            </a:r>
            <a:endParaRPr lang="ko-KR" alt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New picture">
            <a:extLst>
              <a:ext uri="{FF2B5EF4-FFF2-40B4-BE49-F238E27FC236}">
                <a16:creationId xmlns:a16="http://schemas.microsoft.com/office/drawing/2014/main" id="{D4B1D358-A7F2-2C5D-AF78-DAB901B280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2457" y="2909737"/>
            <a:ext cx="7575660" cy="291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F2A4-5F8E-A5A8-11B3-9CC20936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3A95070-A868-DD8E-9496-E071698C9DE4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Introduction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8F6EADF-D0C7-6C11-6E0A-553D2D127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953962"/>
              </p:ext>
            </p:extLst>
          </p:nvPr>
        </p:nvGraphicFramePr>
        <p:xfrm>
          <a:off x="452922" y="2395728"/>
          <a:ext cx="8238157" cy="14081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94866">
                  <a:extLst>
                    <a:ext uri="{9D8B030D-6E8A-4147-A177-3AD203B41FA5}">
                      <a16:colId xmlns:a16="http://schemas.microsoft.com/office/drawing/2014/main" val="654463765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242480053"/>
                    </a:ext>
                  </a:extLst>
                </a:gridCol>
                <a:gridCol w="1937101">
                  <a:extLst>
                    <a:ext uri="{9D8B030D-6E8A-4147-A177-3AD203B41FA5}">
                      <a16:colId xmlns:a16="http://schemas.microsoft.com/office/drawing/2014/main" val="2101953771"/>
                    </a:ext>
                  </a:extLst>
                </a:gridCol>
                <a:gridCol w="1633015">
                  <a:extLst>
                    <a:ext uri="{9D8B030D-6E8A-4147-A177-3AD203B41FA5}">
                      <a16:colId xmlns:a16="http://schemas.microsoft.com/office/drawing/2014/main" val="1175527287"/>
                    </a:ext>
                  </a:extLst>
                </a:gridCol>
                <a:gridCol w="1633015">
                  <a:extLst>
                    <a:ext uri="{9D8B030D-6E8A-4147-A177-3AD203B41FA5}">
                      <a16:colId xmlns:a16="http://schemas.microsoft.com/office/drawing/2014/main" val="3300181533"/>
                    </a:ext>
                  </a:extLst>
                </a:gridCol>
              </a:tblGrid>
              <a:tr h="166441"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study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host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what is varied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mechanical axis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639899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Miara 2015 (via Anderson)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garnet oxide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one cation, 3 sites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45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49285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Lee 2024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argyrodite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elements already in the formula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84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62311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Xiao 2019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host</a:t>
                      </a:r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— free coating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 compound itself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104,082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121889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this work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argyrodite sulfide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an added precursor compound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</a:t>
                      </a:r>
                      <a:r>
                        <a:rPr lang="en-US"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/>
                      </a:r>
                      <a:r>
                        <a:rPr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/>
                      </a:r>
                      <a:r>
                        <a:rPr lang="en-US" sz="105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/>
                      </a:r>
                      <a:endParaRPr sz="105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DFT reference + MLIP descriptor (not a gate)</a:t>
                      </a:r>
                      <a:br>
                        <a:rPr lang="en-US" sz="105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br>
                        <a:rPr lang="en-US" sz="105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endParaRPr sz="1050" kern="1200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266399"/>
                  </a:ext>
                </a:extLst>
              </a:tr>
            </a:tbl>
          </a:graphicData>
        </a:graphic>
      </p:graphicFrame>
      <p:sp>
        <p:nvSpPr>
          <p:cNvPr id="150" name="Rectangle 4"/>
          <p:cNvSpPr txBox="1"/>
          <p:nvPr/>
        </p:nvSpPr>
        <p:spPr>
          <a:xfrm>
            <a:off x="557784" y="987552"/>
            <a:ext cx="8083296" cy="13258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Prior work: what dopant screens vary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Earlier screens place one element on a site, or screen hostless compounds.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Here a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precursor compound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fills one cation and one anion site at once.</a:t>
            </a:r>
          </a:p>
        </p:txBody>
      </p:sp>
      <p:sp>
        <p:nvSpPr>
          <p:cNvPr id="241" name="References top"/>
          <p:cNvSpPr txBox="1"/>
          <p:nvPr/>
        </p:nvSpPr>
        <p:spPr>
          <a:xfrm>
            <a:off x="4206240" y="850392"/>
            <a:ext cx="4480560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r">
              <a:lnSpc>
                <a:spcPct val="100000"/>
              </a:lnSpc>
              <a:buNone/>
              <a:defRPr/>
            </a:pPr>
            <a:r>
              <a:rPr kumimoji="1" lang="en-US" altLang="ko-KR" sz="95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Chem. Mater. 27, 4040 (2015) · Adv. Energy Mater. 14, 2304025 (2024)</a:t>
            </a:r>
          </a:p>
          <a:p>
            <a:pPr marL="0" indent="0" latinLnBrk="0" algn="r">
              <a:lnSpc>
                <a:spcPct val="100000"/>
              </a:lnSpc>
              <a:buNone/>
              <a:defRPr/>
            </a:pPr>
            <a:r>
              <a:rPr kumimoji="1" lang="en-US" altLang="ko-KR" sz="95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J. Mater. Chem. A 12, 7272 (2024) · Joule 3, 1252 (2019)</a:t>
            </a:r>
          </a:p>
        </p:txBody>
      </p:sp>
      <p:sp>
        <p:nvSpPr>
          <p:cNvPr id="242" name="Related screens"/>
          <p:cNvSpPr txBox="1"/>
          <p:nvPr/>
        </p:nvSpPr>
        <p:spPr>
          <a:xfrm>
            <a:off x="548640" y="4462272"/>
            <a:ext cx="8092440" cy="13716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15000"/>
              </a:lnSpc>
              <a:buNone/>
              <a:defRPr/>
            </a:pPr>
            <a:r>
              <a:rPr kumimoji="1" lang="en-US" altLang="ko-KR" sz="13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Related screens</a:t>
            </a:r>
          </a:p>
          <a:p>
            <a:pPr marL="182880" indent="-182880" latinLnBrk="0">
              <a:lnSpc>
                <a:spcPct val="115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Holistic screening of Li-ion conductors (Sendek 2017) and high-throughput MD (Kahle 2020)</a:t>
            </a:r>
          </a:p>
          <a:p>
            <a:pPr marL="182880" indent="-182880" latinLnBrk="0">
              <a:lnSpc>
                <a:spcPct val="115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Dual-dopant screening of LGPS-type conductors (Jung 2026) · ML interface-stability screening (Park 2026)</a:t>
            </a:r>
          </a:p>
          <a:p>
            <a:pPr marL="182880" indent="-182880" latinLnBrk="0">
              <a:lnSpc>
                <a:spcPct val="115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Site-resolved dopant defect thermodynamics in argyrodites (Muy 2025)</a:t>
            </a:r>
          </a:p>
        </p:txBody>
      </p:sp>
      <p:sp>
        <p:nvSpPr>
          <p:cNvPr id="243" name="References"/>
          <p:cNvSpPr txBox="1"/>
          <p:nvPr/>
        </p:nvSpPr>
        <p:spPr>
          <a:xfrm>
            <a:off x="502920" y="5897880"/>
            <a:ext cx="8138160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Energy Environ. Sci. 10, 306 (2017) · Energy Environ. Sci. 13, 928 (2020) · eTransportation 28, 100570 (2026) · Adv. Sci. 2026, e76305 · Chem. Mater. 37, 2395 (2025)</a:t>
            </a:r>
          </a:p>
        </p:txBody>
      </p:sp>
    </p:spTree>
    <p:extLst>
      <p:ext uri="{BB962C8B-B14F-4D97-AF65-F5344CB8AC3E}">
        <p14:creationId xmlns:p14="http://schemas.microsoft.com/office/powerpoint/2010/main" val="316625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3D0B-FED4-9032-6D29-2D720174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48E4B6-8CD9-9604-026D-4CEBACAB4DEB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89FB887-B765-8021-42AC-B00421339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492758"/>
              </p:ext>
            </p:extLst>
          </p:nvPr>
        </p:nvGraphicFramePr>
        <p:xfrm>
          <a:off x="692619" y="2286000"/>
          <a:ext cx="7758761" cy="309676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7441">
                  <a:extLst>
                    <a:ext uri="{9D8B030D-6E8A-4147-A177-3AD203B41FA5}">
                      <a16:colId xmlns:a16="http://schemas.microsoft.com/office/drawing/2014/main" val="654463765"/>
                    </a:ext>
                  </a:extLst>
                </a:gridCol>
                <a:gridCol w="1049500">
                  <a:extLst>
                    <a:ext uri="{9D8B030D-6E8A-4147-A177-3AD203B41FA5}">
                      <a16:colId xmlns:a16="http://schemas.microsoft.com/office/drawing/2014/main" val="1242480053"/>
                    </a:ext>
                  </a:extLst>
                </a:gridCol>
                <a:gridCol w="3287315">
                  <a:extLst>
                    <a:ext uri="{9D8B030D-6E8A-4147-A177-3AD203B41FA5}">
                      <a16:colId xmlns:a16="http://schemas.microsoft.com/office/drawing/2014/main" val="2101953771"/>
                    </a:ext>
                  </a:extLst>
                </a:gridCol>
                <a:gridCol w="2304505">
                  <a:extLst>
                    <a:ext uri="{9D8B030D-6E8A-4147-A177-3AD203B41FA5}">
                      <a16:colId xmlns:a16="http://schemas.microsoft.com/office/drawing/2014/main" val="117552728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family</a:t>
                      </a:r>
                      <a:endParaRPr lang="ko-KR" altLang="en-US" sz="13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role in the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4928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oxides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strong M–O bonds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Ag₂O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Al₂O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B₂O₃,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BaO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62756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chlorides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host already has 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AlCl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BaCl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CaCl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₂, CrCl₃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44774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sulfides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same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anion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host</a:t>
                      </a:r>
                      <a:endParaRPr lang="ko-KR" altLang="en-US" sz="1300" b="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Al₂S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Ga₂S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30347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fluorides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strongest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bonds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mobility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</a:t>
                      </a:r>
                      <a:endParaRPr lang="ko-KR" altLang="en-US" sz="1300" b="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AlF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CaF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LaF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LiF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28722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bromides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 larger halide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AlBr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CaBr₂,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LiBr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MgBr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623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nitrides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 higher anion charge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AlN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Ca₃N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₂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GaN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Li₃N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12188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iodides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 largest halide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₃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LiI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MgI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₂</a:t>
                      </a:r>
                      <a:r>
                        <a:rPr lang="en-US" altLang="ko-KR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3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3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NaI</a:t>
                      </a:r>
                      <a:endParaRPr lang="ko-KR" altLang="en-US" sz="1300" b="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266399"/>
                  </a:ext>
                </a:extLst>
              </a:tr>
            </a:tbl>
          </a:graphicData>
        </a:graphic>
      </p:graphicFrame>
      <p:sp>
        <p:nvSpPr>
          <p:cNvPr id="150" name="Rectangle 4"/>
          <p:cNvSpPr txBox="1"/>
          <p:nvPr/>
        </p:nvSpPr>
        <p:spPr>
          <a:xfrm>
            <a:off x="557784" y="987552"/>
            <a:ext cx="8083296" cy="12801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Candidate set: 91 precursor compounds in seven anion families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Cations +1 to +6, anions O²⁻ to I⁻; only existing compounds are used.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All 91 relaxed — As₂S₃ and AlI₃ were completed in an August re-run.</a:t>
            </a:r>
          </a:p>
        </p:txBody>
      </p:sp>
      <p:sp>
        <p:nvSpPr>
          <p:cNvPr id="244" name="References"/>
          <p:cNvSpPr txBox="1"/>
          <p:nvPr/>
        </p:nvSpPr>
        <p:spPr>
          <a:xfrm>
            <a:off x="502920" y="5230368"/>
            <a:ext cx="8138160" cy="7315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Precursor-derived co-doping of argyrodites: CuCl — Taklu, Nano Energy 90, 106542 (2021) · MgF₂ — Liu, Angew. Chem. Int. Ed. 62, e202302655 (2023) · ZnO — Jang, J. Alloys Compd. 957, 170273 (2023) · La₂O₃ — Yang, Electrochim. Acta 535, 146619 (2025) · Nd₂O₃ — Xu, Nano Energy 157, 112246 (2026)</a:t>
            </a:r>
          </a:p>
        </p:txBody>
      </p:sp>
    </p:spTree>
    <p:extLst>
      <p:ext uri="{BB962C8B-B14F-4D97-AF65-F5344CB8AC3E}">
        <p14:creationId xmlns:p14="http://schemas.microsoft.com/office/powerpoint/2010/main" val="136075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7EFB-B864-7462-FC3F-CE3F3B1A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84A3F26-F0B2-32AA-F525-8E2098345FEE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Backup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E8170-8738-17D4-21D5-F27A8CE5277E}"/>
              </a:ext>
            </a:extLst>
          </p:cNvPr>
          <p:cNvSpPr txBox="1"/>
          <p:nvPr/>
        </p:nvSpPr>
        <p:spPr>
          <a:xfrm>
            <a:off x="502920" y="5909911"/>
            <a:ext cx="8138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Si always takes the P framework; 19 of 26 always take Li; </a:t>
            </a:r>
            <a:r>
              <a:rPr lang="en-US" altLang="ko-KR" sz="1400" dirty="0">
                <a:solidFill>
                  <a:srgbClr val="FF5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switch with the doping level</a:t>
            </a:r>
            <a:r>
              <a:rPr lang="en-US" altLang="ko-KR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endParaRPr lang="en-US" altLang="ko-KR" sz="1400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32">
            <a:extLst>
              <a:ext uri="{FF2B5EF4-FFF2-40B4-BE49-F238E27FC236}">
                <a16:creationId xmlns:a16="http://schemas.microsoft.com/office/drawing/2014/main" id="{34FAC330-978C-C4D5-8C64-6AEE33630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13" y="2271609"/>
            <a:ext cx="6001373" cy="3397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4B02DB-560A-025E-C3E1-79D4427F0A35}"/>
              </a:ext>
            </a:extLst>
          </p:cNvPr>
          <p:cNvSpPr txBox="1"/>
          <p:nvPr/>
        </p:nvSpPr>
        <p:spPr>
          <a:xfrm>
            <a:off x="3422376" y="5668880"/>
            <a:ext cx="26040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 preference vs ionic radius </a:t>
            </a:r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0972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2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Site preference vs ionic radius (MLIP relative energies)</a:t>
            </a:r>
          </a:p>
          <a:p>
            <a:pPr marL="573750" indent="-285750" latinLnBrk="0">
              <a:lnSpc>
                <a:spcPct val="12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 precursor fills one cation and one anion site; every charge-balancing placement is a new structure.</a:t>
            </a:r>
          </a:p>
        </p:txBody>
      </p:sp>
    </p:spTree>
    <p:extLst>
      <p:ext uri="{BB962C8B-B14F-4D97-AF65-F5344CB8AC3E}">
        <p14:creationId xmlns:p14="http://schemas.microsoft.com/office/powerpoint/2010/main" val="166013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BD26-6FA6-1744-4810-C11226E9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B31BBE8-BA8A-78EF-0B51-18F9FFC79F48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2801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Configuration sampling and MLIP relaxation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 site was assumed: every charge-balanced placement was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built and relaxed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 short anneal (500 K, 50 ps) moves each structure out of its local minimum.</a:t>
            </a:r>
          </a:p>
        </p:txBody>
      </p:sp>
      <p:pic>
        <p:nvPicPr>
          <p:cNvPr id="249" name="Site-pair heatmap" descr="Configurations per cation-anion site pai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77440"/>
            <a:ext cx="4206240" cy="2028299"/>
          </a:xfrm>
          <a:prstGeom prst="rect">
            <a:avLst/>
          </a:prstGeom>
        </p:spPr>
      </p:pic>
      <p:sp>
        <p:nvSpPr>
          <p:cNvPr id="250" name="Caption left"/>
          <p:cNvSpPr txBox="1"/>
          <p:nvPr/>
        </p:nvSpPr>
        <p:spPr>
          <a:xfrm>
            <a:off x="457200" y="4424027"/>
            <a:ext cx="4206240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configurations per cation–anion site pair: main batch 3,615 (+60 in the August re-run) &gt;</a:t>
            </a:r>
          </a:p>
        </p:txBody>
      </p:sp>
      <p:pic>
        <p:nvPicPr>
          <p:cNvPr id="251" name="Anneal schematic" descr="What a short anneal do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377440"/>
            <a:ext cx="3291840" cy="2427808"/>
          </a:xfrm>
          <a:prstGeom prst="rect">
            <a:avLst/>
          </a:prstGeom>
        </p:spPr>
      </p:pic>
      <p:sp>
        <p:nvSpPr>
          <p:cNvPr id="252" name="Caption right"/>
          <p:cNvSpPr txBox="1"/>
          <p:nvPr/>
        </p:nvSpPr>
        <p:spPr>
          <a:xfrm>
            <a:off x="4983480" y="4823536"/>
            <a:ext cx="3566160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what the short anneal does &gt;</a:t>
            </a:r>
          </a:p>
        </p:txBody>
      </p:sp>
      <p:sp>
        <p:nvSpPr>
          <p:cNvPr id="253" name="Bottom note"/>
          <p:cNvSpPr txBox="1"/>
          <p:nvPr/>
        </p:nvSpPr>
        <p:spPr>
          <a:xfrm>
            <a:off x="502920" y="5669280"/>
            <a:ext cx="8138160" cy="5486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5000"/>
              </a:lnSpc>
              <a:buNone/>
              <a:defRPr/>
            </a:pPr>
            <a:r>
              <a:rPr kumimoji="1" lang="en-US" altLang="ko-KR" sz="12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Configurations of the same precursor can differ as much as different precursors for some descriptors → </a:t>
            </a:r>
            <a:r>
              <a:rPr kumimoji="1" lang="en-US" altLang="ko-KR" sz="125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descriptors are used for exploration, not for ranking.</a:t>
            </a:r>
          </a:p>
        </p:txBody>
      </p:sp>
    </p:spTree>
    <p:extLst>
      <p:ext uri="{BB962C8B-B14F-4D97-AF65-F5344CB8AC3E}">
        <p14:creationId xmlns:p14="http://schemas.microsoft.com/office/powerpoint/2010/main" val="346160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4BD2-C760-E162-D305-A594AAD33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8AABA79-CE00-FB15-E530-4C98B69D15AA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Backup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EF9AD-537E-0BBB-59DC-66FF6D23B1D7}"/>
              </a:ext>
            </a:extLst>
          </p:cNvPr>
          <p:cNvSpPr txBox="1"/>
          <p:nvPr/>
        </p:nvSpPr>
        <p:spPr>
          <a:xfrm>
            <a:off x="2555776" y="6217688"/>
            <a:ext cx="6301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※ a worked example from our other DFT study, </a:t>
            </a:r>
            <a:r>
              <a:rPr lang="en-US" altLang="ko-KR" sz="1000" dirty="0">
                <a:solidFill>
                  <a:srgbClr val="FF5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 screened candidate</a:t>
            </a:r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valleys are low-energy regions, not channels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E82BB-CAF3-6F1E-C4EF-C1DB98194ED8}"/>
              </a:ext>
            </a:extLst>
          </p:cNvPr>
          <p:cNvSpPr txBox="1"/>
          <p:nvPr/>
        </p:nvSpPr>
        <p:spPr>
          <a:xfrm>
            <a:off x="1849042" y="5668880"/>
            <a:ext cx="54459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 landscape on the annealed geometry, undoped versus B₂O₃-doped </a:t>
            </a:r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00503CD8-1201-38B1-27BF-CC5DF9796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049" y="2428617"/>
            <a:ext cx="6191901" cy="2999232"/>
          </a:xfrm>
          <a:prstGeom prst="rect">
            <a:avLst/>
          </a:prstGeom>
        </p:spPr>
      </p:pic>
      <p:sp>
        <p:nvSpPr>
          <p:cNvPr id="150" name="Rectangle 4"/>
          <p:cNvSpPr txBox="1"/>
          <p:nvPr/>
        </p:nvSpPr>
        <p:spPr>
          <a:xfrm>
            <a:off x="557784" y="987552"/>
            <a:ext cx="8083296" cy="10972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2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Bond-valence Li landscape (method illustration)</a:t>
            </a:r>
          </a:p>
          <a:p>
            <a:pPr marL="573750" indent="-285750" latinLnBrk="0">
              <a:lnSpc>
                <a:spcPct val="12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Low bond-valence site energy marks Li-accessible regions; it is a structural proxy for Li pathways.</a:t>
            </a:r>
          </a:p>
        </p:txBody>
      </p:sp>
    </p:spTree>
    <p:extLst>
      <p:ext uri="{BB962C8B-B14F-4D97-AF65-F5344CB8AC3E}">
        <p14:creationId xmlns:p14="http://schemas.microsoft.com/office/powerpoint/2010/main" val="2165760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1304-840B-20EF-A7D2-E1DBE742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33AACFF-F51E-C81F-CA81-12BDED1D4FFC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01676-E8DD-7912-49FC-66A305AA2CB3}"/>
              </a:ext>
            </a:extLst>
          </p:cNvPr>
          <p:cNvSpPr txBox="1"/>
          <p:nvPr/>
        </p:nvSpPr>
        <p:spPr>
          <a:xfrm>
            <a:off x="2916171" y="6217688"/>
            <a:ext cx="6301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※ DFT (Quantum ESPRESSO); the screening itself used the MLIP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1435A-4E49-DEFE-37EE-DE8B4801EAC9}"/>
              </a:ext>
            </a:extLst>
          </p:cNvPr>
          <p:cNvSpPr txBox="1"/>
          <p:nvPr/>
        </p:nvSpPr>
        <p:spPr>
          <a:xfrm>
            <a:off x="2420096" y="5151237"/>
            <a:ext cx="430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equation of state, undoped </a:t>
            </a:r>
            <a:r>
              <a:rPr lang="en-US" altLang="ko-KR" sz="14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Li₆PS₅Cl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Cl-rich LPSCl</a:t>
            </a:r>
            <a:r>
              <a:rPr lang="en-US" altLang="ko-KR" sz="1400" baseline="-25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1.6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10712A8-59DF-B4EE-5873-932A37168585}"/>
              </a:ext>
            </a:extLst>
          </p:cNvPr>
          <p:cNvGrpSpPr/>
          <p:nvPr/>
        </p:nvGrpSpPr>
        <p:grpSpPr>
          <a:xfrm>
            <a:off x="275796" y="2595220"/>
            <a:ext cx="8592407" cy="2321483"/>
            <a:chOff x="773553" y="2695181"/>
            <a:chExt cx="7298056" cy="1971777"/>
          </a:xfrm>
        </p:grpSpPr>
        <p:graphicFrame>
          <p:nvGraphicFramePr>
            <p:cNvPr id="4" name="개체 3">
              <a:extLst>
                <a:ext uri="{FF2B5EF4-FFF2-40B4-BE49-F238E27FC236}">
                  <a16:creationId xmlns:a16="http://schemas.microsoft.com/office/drawing/2014/main" id="{0632CD38-6FA3-CDFD-DB7E-792B698215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6652845"/>
                </p:ext>
              </p:extLst>
            </p:nvPr>
          </p:nvGraphicFramePr>
          <p:xfrm>
            <a:off x="773553" y="2920566"/>
            <a:ext cx="3433258" cy="1721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8155539" imgH="14173123" progId="Origin95.Graph">
                    <p:embed/>
                  </p:oleObj>
                </mc:Choice>
                <mc:Fallback>
                  <p:oleObj name="Graph" r:id="rId3" imgW="28155539" imgH="14173123" progId="Origin95.Graph">
                    <p:embed/>
                    <p:pic>
                      <p:nvPicPr>
                        <p:cNvPr id="5" name="개체 4">
                          <a:extLst>
                            <a:ext uri="{FF2B5EF4-FFF2-40B4-BE49-F238E27FC236}">
                              <a16:creationId xmlns:a16="http://schemas.microsoft.com/office/drawing/2014/main" id="{6C784BFE-900C-A8CB-F3B8-FD3F6C6BBA6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3553" y="2920566"/>
                          <a:ext cx="3433258" cy="17212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D70C35-7253-70A7-FA00-D78DBDFC3280}"/>
                </a:ext>
              </a:extLst>
            </p:cNvPr>
            <p:cNvSpPr txBox="1"/>
            <p:nvPr/>
          </p:nvSpPr>
          <p:spPr>
            <a:xfrm>
              <a:off x="1938505" y="2937037"/>
              <a:ext cx="1543148" cy="486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</a:t>
              </a:r>
              <a:r>
                <a:rPr lang="en-US" altLang="ko-KR" sz="100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n-US" altLang="ko-KR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= </a:t>
              </a:r>
              <a:r>
                <a:rPr lang="en-US" altLang="ko-KR" sz="10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26.2</a:t>
              </a:r>
              <a:r>
                <a:rPr lang="en-US" altLang="ko-KR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GPa</a:t>
              </a:r>
              <a:endParaRPr lang="ko-KR" altLang="en-US" sz="1000" dirty="0">
                <a:solidFill>
                  <a:schemeClr val="bg1"/>
                </a:solidFill>
                <a:latin typeface="Calibri" panose="020F0502020204030204" pitchFamily="34" charset="0"/>
                <a:ea typeface="Pretendard" panose="02000503000000020004" pitchFamily="2" charset="-127"/>
                <a:cs typeface="Calibri" panose="020F050202020403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 / </a:t>
              </a:r>
              <a:r>
                <a:rPr lang="en-US" altLang="ko-KR" sz="8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f.u</a:t>
              </a:r>
              <a:r>
                <a:rPr lang="en-US" altLang="ko-KR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= 254.16 Å</a:t>
              </a:r>
              <a:r>
                <a:rPr lang="en-US" altLang="ko-KR" sz="800" baseline="30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F47DF9-2D93-D333-AD8E-9374438125C6}"/>
                </a:ext>
              </a:extLst>
            </p:cNvPr>
            <p:cNvSpPr txBox="1"/>
            <p:nvPr/>
          </p:nvSpPr>
          <p:spPr>
            <a:xfrm>
              <a:off x="2271493" y="2696177"/>
              <a:ext cx="933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</a:t>
              </a:r>
              <a:r>
                <a:rPr lang="en-US" altLang="ko-KR" sz="1500" b="1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</a:t>
              </a:r>
              <a:r>
                <a:rPr lang="en-US" altLang="ko-KR" sz="15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PS</a:t>
              </a:r>
              <a:r>
                <a:rPr lang="en-US" altLang="ko-KR" sz="1500" b="1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  <a:r>
                <a:rPr lang="en-US" altLang="ko-KR" sz="15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</a:t>
              </a:r>
              <a:endParaRPr lang="ko-KR" alt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Pretendard" panose="02000503000000020004" pitchFamily="2" charset="-127"/>
                <a:cs typeface="Calibri" panose="020F0502020204030204" pitchFamily="34" charset="0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11F5750-01CE-014C-7BD6-B017BE82D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6185" y="3412029"/>
              <a:ext cx="1483194" cy="1022893"/>
            </a:xfrm>
            <a:prstGeom prst="rect">
              <a:avLst/>
            </a:prstGeom>
          </p:spPr>
        </p:pic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782147A-3192-0A41-F17E-54986C56CA36}"/>
                </a:ext>
              </a:extLst>
            </p:cNvPr>
            <p:cNvGrpSpPr/>
            <p:nvPr/>
          </p:nvGrpSpPr>
          <p:grpSpPr>
            <a:xfrm>
              <a:off x="4416357" y="2695181"/>
              <a:ext cx="3655252" cy="1971777"/>
              <a:chOff x="4832527" y="2695181"/>
              <a:chExt cx="3655252" cy="1971777"/>
            </a:xfrm>
          </p:grpSpPr>
          <p:graphicFrame>
            <p:nvGraphicFramePr>
              <p:cNvPr id="16" name="개체 15">
                <a:extLst>
                  <a:ext uri="{FF2B5EF4-FFF2-40B4-BE49-F238E27FC236}">
                    <a16:creationId xmlns:a16="http://schemas.microsoft.com/office/drawing/2014/main" id="{C85D30E0-9786-3000-6E9B-AA654129FF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8933200"/>
                  </p:ext>
                </p:extLst>
              </p:nvPr>
            </p:nvGraphicFramePr>
            <p:xfrm>
              <a:off x="4832527" y="2950523"/>
              <a:ext cx="3425130" cy="17164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6" imgW="28155539" imgH="14173123" progId="Origin95.Graph">
                      <p:embed/>
                    </p:oleObj>
                  </mc:Choice>
                  <mc:Fallback>
                    <p:oleObj name="Graph" r:id="rId6" imgW="28155539" imgH="14173123" progId="Origin95.Graph">
                      <p:embed/>
                      <p:pic>
                        <p:nvPicPr>
                          <p:cNvPr id="13" name="개체 12">
                            <a:extLst>
                              <a:ext uri="{FF2B5EF4-FFF2-40B4-BE49-F238E27FC236}">
                                <a16:creationId xmlns:a16="http://schemas.microsoft.com/office/drawing/2014/main" id="{5D6CB32A-0B57-FB03-E4C8-C575B93856E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832527" y="2950523"/>
                            <a:ext cx="3425130" cy="171643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776BE-1002-6646-6CDD-15CF37F0F402}"/>
                  </a:ext>
                </a:extLst>
              </p:cNvPr>
              <p:cNvSpPr txBox="1"/>
              <p:nvPr/>
            </p:nvSpPr>
            <p:spPr>
              <a:xfrm>
                <a:off x="6224990" y="2695181"/>
                <a:ext cx="1359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5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</a:t>
                </a:r>
                <a:r>
                  <a:rPr lang="en-US" altLang="ko-KR" sz="15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5.4</a:t>
                </a:r>
                <a:r>
                  <a:rPr lang="en-US" altLang="ko-KR" sz="15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PS</a:t>
                </a:r>
                <a:r>
                  <a:rPr lang="en-US" altLang="ko-KR" sz="15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4.4</a:t>
                </a:r>
                <a:r>
                  <a:rPr lang="en-US" altLang="ko-KR" sz="15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</a:t>
                </a:r>
                <a:r>
                  <a:rPr lang="en-US" altLang="ko-KR" sz="15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1.6</a:t>
                </a:r>
                <a:endParaRPr lang="ko-KR" altLang="en-US" sz="1500" b="1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Pretendard" panose="02000503000000020004" pitchFamily="2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FDAE6C-9440-C213-967A-3627E3ED3F71}"/>
                  </a:ext>
                </a:extLst>
              </p:cNvPr>
              <p:cNvSpPr txBox="1"/>
              <p:nvPr/>
            </p:nvSpPr>
            <p:spPr>
              <a:xfrm>
                <a:off x="5993228" y="2972180"/>
                <a:ext cx="1818275" cy="486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altLang="ko-KR" sz="1000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n-US" altLang="ko-KR" sz="1000" dirty="0">
                    <a:solidFill>
                      <a:srgbClr val="FF5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21.7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ko-KR" sz="1000" dirty="0" err="1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GPa</a:t>
                </a:r>
                <a:endParaRPr lang="ko-KR" altLang="en-US" sz="1000" dirty="0">
                  <a:solidFill>
                    <a:schemeClr val="bg1"/>
                  </a:solidFill>
                  <a:latin typeface="Calibri" panose="020F0502020204030204" pitchFamily="34" charset="0"/>
                  <a:ea typeface="Pretendard" panose="02000503000000020004" pitchFamily="2" charset="-127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 / </a:t>
                </a:r>
                <a:r>
                  <a:rPr lang="en-US" altLang="ko-KR" sz="800" dirty="0" err="1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f.u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= 243.29 Å</a:t>
                </a:r>
                <a:r>
                  <a:rPr lang="en-US" altLang="ko-KR" sz="800" baseline="30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altLang="ko-KR" sz="800" dirty="0">
                    <a:solidFill>
                      <a:srgbClr val="FF5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-4.3%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en-US" altLang="ko-KR" sz="800" baseline="30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85C14735-8D4F-3CDA-C487-0EE9FDA55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10200" y="3579764"/>
                <a:ext cx="1177579" cy="812124"/>
              </a:xfrm>
              <a:prstGeom prst="rect">
                <a:avLst/>
              </a:prstGeom>
            </p:spPr>
          </p:pic>
        </p:grpSp>
      </p:grpSp>
      <p:sp>
        <p:nvSpPr>
          <p:cNvPr id="150" name="Rectangle 4"/>
          <p:cNvSpPr txBox="1"/>
          <p:nvPr/>
        </p:nvSpPr>
        <p:spPr>
          <a:xfrm>
            <a:off x="557784" y="987552"/>
            <a:ext cx="8083296" cy="13716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5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DFT reference calculations: equation of state and elastic constants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B₀ and equilibrium volume from a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Birch–Murnaghan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equation-of-state fit.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Elastic constants (C</a:t>
            </a:r>
            <a:r>
              <a:rPr kumimoji="1" lang="en-US" altLang="ko-KR" sz="1500" baseline="-250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ij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) from finite strains are running on GPU.</a:t>
            </a:r>
          </a:p>
        </p:txBody>
      </p:sp>
      <p:sp>
        <p:nvSpPr>
          <p:cNvPr id="254" name="References"/>
          <p:cNvSpPr txBox="1"/>
          <p:nvPr/>
        </p:nvSpPr>
        <p:spPr>
          <a:xfrm>
            <a:off x="502920" y="5577840"/>
            <a:ext cx="813816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Deng, J. Electrochem. Soc. 163, A67 (2016) · Torii, J. Phys. Chem. C 129, 17882 (2025)</a:t>
            </a:r>
          </a:p>
        </p:txBody>
      </p:sp>
    </p:spTree>
    <p:extLst>
      <p:ext uri="{BB962C8B-B14F-4D97-AF65-F5344CB8AC3E}">
        <p14:creationId xmlns:p14="http://schemas.microsoft.com/office/powerpoint/2010/main" val="3721658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bPdL">
            <a:extLst>
              <a:ext uri="{FF2B5EF4-FFF2-40B4-BE49-F238E27FC236}">
                <a16:creationId xmlns:a16="http://schemas.microsoft.com/office/drawing/2014/main" id="{3B17D448-2A89-D6F6-1FBF-A20CD72F5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" r="11525"/>
          <a:stretch/>
        </p:blipFill>
        <p:spPr bwMode="auto">
          <a:xfrm>
            <a:off x="0" y="-1"/>
            <a:ext cx="9144000" cy="686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799044-D92C-4DE1-A4B8-C461DA0FCA77}"/>
              </a:ext>
            </a:extLst>
          </p:cNvPr>
          <p:cNvSpPr txBox="1"/>
          <p:nvPr/>
        </p:nvSpPr>
        <p:spPr>
          <a:xfrm>
            <a:off x="94867" y="372568"/>
            <a:ext cx="269402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바른돋움 2" pitchFamily="18" charset="-127"/>
                <a:cs typeface="Calibri" panose="020F0502020204030204" pitchFamily="34" charset="0"/>
              </a:rPr>
              <a:t>Thank you</a:t>
            </a:r>
            <a:endParaRPr kumimoji="0" lang="ko-KR" altLang="en-US" sz="36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바른돋움 2" pitchFamily="18" charset="-127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595FEE-778A-47ED-B15D-CB748EFB50AD}"/>
              </a:ext>
            </a:extLst>
          </p:cNvPr>
          <p:cNvSpPr/>
          <p:nvPr/>
        </p:nvSpPr>
        <p:spPr>
          <a:xfrm>
            <a:off x="505369" y="1201457"/>
            <a:ext cx="39226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For more information or any questions, please e-mail at yonghoon71@</a:t>
            </a:r>
            <a:r>
              <a:rPr lang="en-US" altLang="ko-KR" sz="1600" kern="0" dirty="0" err="1">
                <a:solidFill>
                  <a:prstClr val="white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hanyang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.ac.kr</a:t>
            </a:r>
          </a:p>
        </p:txBody>
      </p:sp>
    </p:spTree>
    <p:extLst>
      <p:ext uri="{BB962C8B-B14F-4D97-AF65-F5344CB8AC3E}">
        <p14:creationId xmlns:p14="http://schemas.microsoft.com/office/powerpoint/2010/main" val="2683091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201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DFT simulations so far — the experience behind this screening</a:t>
            </a:r>
          </a:p>
        </p:txBody>
      </p:sp>
      <p:sp>
        <p:nvSpPr>
          <p:cNvPr id="202" name="Tile 1"/>
          <p:cNvSpPr/>
          <p:nvPr/>
        </p:nvSpPr>
        <p:spPr>
          <a:xfrm>
            <a:off x="457200" y="1371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03" name="Tile 1 title"/>
          <p:cNvSpPr txBox="1"/>
          <p:nvPr/>
        </p:nvSpPr>
        <p:spPr>
          <a:xfrm>
            <a:off x="512064" y="1408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Li₆PS₅Cl baseline</a:t>
            </a:r>
          </a:p>
        </p:txBody>
      </p:sp>
      <p:sp>
        <p:nvSpPr>
          <p:cNvPr id="204" name="Tile 1 figure"/>
          <p:cNvSpPr/>
          <p:nvPr/>
        </p:nvSpPr>
        <p:spPr>
          <a:xfrm>
            <a:off x="548640" y="1828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05" name="Tile 1 text"/>
          <p:cNvSpPr txBox="1"/>
          <p:nvPr/>
        </p:nvSpPr>
        <p:spPr>
          <a:xfrm>
            <a:off x="512064" y="2889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Band gap (fixed-occupation NSCF), EOS, elastic constants — reference for every doped model</a:t>
            </a:r>
          </a:p>
        </p:txBody>
      </p:sp>
      <p:sp>
        <p:nvSpPr>
          <p:cNvPr id="206" name="Tile 2"/>
          <p:cNvSpPr/>
          <p:nvPr/>
        </p:nvSpPr>
        <p:spPr>
          <a:xfrm>
            <a:off x="2542032" y="1371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07" name="Tile 2 title"/>
          <p:cNvSpPr txBox="1"/>
          <p:nvPr/>
        </p:nvSpPr>
        <p:spPr>
          <a:xfrm>
            <a:off x="2596896" y="1408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Nd/O co-doping (Nd₂O₃)</a:t>
            </a:r>
          </a:p>
        </p:txBody>
      </p:sp>
      <p:sp>
        <p:nvSpPr>
          <p:cNvPr id="208" name="Tile 2 figure"/>
          <p:cNvSpPr/>
          <p:nvPr/>
        </p:nvSpPr>
        <p:spPr>
          <a:xfrm>
            <a:off x="2633472" y="1828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09" name="Tile 2 text"/>
          <p:cNvSpPr txBox="1"/>
          <p:nvPr/>
        </p:nvSpPr>
        <p:spPr>
          <a:xfrm>
            <a:off x="2596896" y="2889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Band edges (Nd 5d vs 4f), −ICOHP bonding, cathode-interface (CEI) models — with the experimental team</a:t>
            </a:r>
          </a:p>
        </p:txBody>
      </p:sp>
      <p:sp>
        <p:nvSpPr>
          <p:cNvPr id="210" name="Tile 3"/>
          <p:cNvSpPr/>
          <p:nvPr/>
        </p:nvSpPr>
        <p:spPr>
          <a:xfrm>
            <a:off x="4626864" y="1371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11" name="Tile 3 title"/>
          <p:cNvSpPr txBox="1"/>
          <p:nvPr/>
        </p:nvSpPr>
        <p:spPr>
          <a:xfrm>
            <a:off x="4681728" y="1408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B₂O₃ and O doping</a:t>
            </a:r>
          </a:p>
        </p:txBody>
      </p:sp>
      <p:sp>
        <p:nvSpPr>
          <p:cNvPr id="212" name="Tile 3 figure"/>
          <p:cNvSpPr/>
          <p:nvPr/>
        </p:nvSpPr>
        <p:spPr>
          <a:xfrm>
            <a:off x="4718304" y="1828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13" name="Tile 3 text"/>
          <p:cNvSpPr txBox="1"/>
          <p:nvPr/>
        </p:nvSpPr>
        <p:spPr>
          <a:xfrm>
            <a:off x="4681728" y="2889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Equation of state, bond-valence Li pathways, MLIP-MD Li transport (multi-seed, relative)</a:t>
            </a:r>
          </a:p>
        </p:txBody>
      </p:sp>
      <p:sp>
        <p:nvSpPr>
          <p:cNvPr id="214" name="Tile 4"/>
          <p:cNvSpPr/>
          <p:nvPr/>
        </p:nvSpPr>
        <p:spPr>
          <a:xfrm>
            <a:off x="6711696" y="1371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15" name="Tile 4 title"/>
          <p:cNvSpPr txBox="1"/>
          <p:nvPr/>
        </p:nvSpPr>
        <p:spPr>
          <a:xfrm>
            <a:off x="6766560" y="1408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h-BN on carbon fiber</a:t>
            </a:r>
          </a:p>
        </p:txBody>
      </p:sp>
      <p:sp>
        <p:nvSpPr>
          <p:cNvPr id="216" name="Tile 4 figure"/>
          <p:cNvSpPr/>
          <p:nvPr/>
        </p:nvSpPr>
        <p:spPr>
          <a:xfrm>
            <a:off x="6803136" y="1828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17" name="Tile 4 text"/>
          <p:cNvSpPr txBox="1"/>
          <p:nvPr/>
        </p:nvSpPr>
        <p:spPr>
          <a:xfrm>
            <a:off x="6766560" y="2889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 adsorption and migration (NEB) on h-BN-coated VGCF; layer-number (confinement) effect</a:t>
            </a:r>
          </a:p>
        </p:txBody>
      </p:sp>
      <p:sp>
        <p:nvSpPr>
          <p:cNvPr id="218" name="Tile 5"/>
          <p:cNvSpPr/>
          <p:nvPr/>
        </p:nvSpPr>
        <p:spPr>
          <a:xfrm>
            <a:off x="457200" y="3657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19" name="Tile 5 title"/>
          <p:cNvSpPr txBox="1"/>
          <p:nvPr/>
        </p:nvSpPr>
        <p:spPr>
          <a:xfrm>
            <a:off x="512064" y="3694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Li₃N (SEI component)</a:t>
            </a:r>
          </a:p>
        </p:txBody>
      </p:sp>
      <p:sp>
        <p:nvSpPr>
          <p:cNvPr id="220" name="Tile 5 figure"/>
          <p:cNvSpPr/>
          <p:nvPr/>
        </p:nvSpPr>
        <p:spPr>
          <a:xfrm>
            <a:off x="548640" y="4114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21" name="Tile 5 text"/>
          <p:cNvSpPr txBox="1"/>
          <p:nvPr/>
        </p:nvSpPr>
        <p:spPr>
          <a:xfrm>
            <a:off x="512064" y="5175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 migration barriers (NEB); universal MLIP found biased for Li₃N → DFT only</a:t>
            </a:r>
          </a:p>
        </p:txBody>
      </p:sp>
      <p:sp>
        <p:nvSpPr>
          <p:cNvPr id="222" name="Tile 6"/>
          <p:cNvSpPr/>
          <p:nvPr/>
        </p:nvSpPr>
        <p:spPr>
          <a:xfrm>
            <a:off x="2542032" y="3657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23" name="Tile 6 title"/>
          <p:cNvSpPr txBox="1"/>
          <p:nvPr/>
        </p:nvSpPr>
        <p:spPr>
          <a:xfrm>
            <a:off x="2596896" y="3694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Li₂S (SEI component)</a:t>
            </a:r>
          </a:p>
        </p:txBody>
      </p:sp>
      <p:sp>
        <p:nvSpPr>
          <p:cNvPr id="224" name="Tile 6 figure"/>
          <p:cNvSpPr/>
          <p:nvPr/>
        </p:nvSpPr>
        <p:spPr>
          <a:xfrm>
            <a:off x="2633472" y="4114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25" name="Tile 6 text"/>
          <p:cNvSpPr txBox="1"/>
          <p:nvPr/>
        </p:nvSpPr>
        <p:spPr>
          <a:xfrm>
            <a:off x="2596896" y="5175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Li-vacancy migration barrier (NEB, charged cell) and supercell-size convergence</a:t>
            </a:r>
          </a:p>
        </p:txBody>
      </p:sp>
      <p:sp>
        <p:nvSpPr>
          <p:cNvPr id="226" name="Tile 7"/>
          <p:cNvSpPr/>
          <p:nvPr/>
        </p:nvSpPr>
        <p:spPr>
          <a:xfrm>
            <a:off x="4626864" y="3657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27" name="Tile 7 title"/>
          <p:cNvSpPr txBox="1"/>
          <p:nvPr/>
        </p:nvSpPr>
        <p:spPr>
          <a:xfrm>
            <a:off x="4681728" y="3694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Interfacial adhesion</a:t>
            </a:r>
          </a:p>
        </p:txBody>
      </p:sp>
      <p:sp>
        <p:nvSpPr>
          <p:cNvPr id="228" name="Tile 7 figure"/>
          <p:cNvSpPr/>
          <p:nvPr/>
        </p:nvSpPr>
        <p:spPr>
          <a:xfrm>
            <a:off x="4718304" y="4114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29" name="Tile 7 text"/>
          <p:cNvSpPr txBox="1"/>
          <p:nvPr/>
        </p:nvSpPr>
        <p:spPr>
          <a:xfrm>
            <a:off x="4681728" y="5175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Work of adhesion of SE|SE and SE|graphite interfaces (slab DFT, MLIP cross-check) → contact input for DEM</a:t>
            </a:r>
          </a:p>
        </p:txBody>
      </p:sp>
      <p:sp>
        <p:nvSpPr>
          <p:cNvPr id="230" name="Tile 8"/>
          <p:cNvSpPr/>
          <p:nvPr/>
        </p:nvSpPr>
        <p:spPr>
          <a:xfrm>
            <a:off x="6711696" y="3657600"/>
            <a:ext cx="1975104" cy="21945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31" name="Tile 8 title"/>
          <p:cNvSpPr txBox="1"/>
          <p:nvPr/>
        </p:nvSpPr>
        <p:spPr>
          <a:xfrm>
            <a:off x="6766560" y="3694176"/>
            <a:ext cx="1865376" cy="402336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Binder adsorption (SDCP)</a:t>
            </a:r>
          </a:p>
        </p:txBody>
      </p:sp>
      <p:sp>
        <p:nvSpPr>
          <p:cNvPr id="232" name="Tile 8 figure"/>
          <p:cNvSpPr/>
          <p:nvPr/>
        </p:nvSpPr>
        <p:spPr>
          <a:xfrm>
            <a:off x="6803136" y="4114800"/>
            <a:ext cx="17922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33" name="Tile 8 text"/>
          <p:cNvSpPr txBox="1"/>
          <p:nvPr/>
        </p:nvSpPr>
        <p:spPr>
          <a:xfrm>
            <a:off x="6766560" y="5175504"/>
            <a:ext cx="1865376" cy="65836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Spin-state-resolved adsorption of a binder molecule on LiNiO₂ surfaces</a:t>
            </a:r>
          </a:p>
        </p:txBody>
      </p:sp>
      <p:sp>
        <p:nvSpPr>
          <p:cNvPr id="234" name="Carried over"/>
          <p:cNvSpPr txBox="1"/>
          <p:nvPr/>
        </p:nvSpPr>
        <p:spPr>
          <a:xfrm>
            <a:off x="457200" y="5897880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0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Carried into this work:</a:t>
            </a:r>
            <a:r>
              <a:rPr kumimoji="1" lang="en-US" altLang="ko-KR" sz="11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DFT EOS/elastic · band-edge analysis · bond-valence maps · MLIP-MD protocol (multi-seed, relative) · NEB · grand-potential stability · interface energetics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235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This work: purpose, what has run, what comes next</a:t>
            </a:r>
          </a:p>
        </p:txBody>
      </p:sp>
      <p:sp>
        <p:nvSpPr>
          <p:cNvPr id="236" name="Card Purpose"/>
          <p:cNvSpPr/>
          <p:nvPr/>
        </p:nvSpPr>
        <p:spPr>
          <a:xfrm>
            <a:off x="502920" y="1417320"/>
            <a:ext cx="4005072" cy="2057400"/>
          </a:xfrm>
          <a:prstGeom prst="roundRect">
            <a:avLst>
              <a:gd name="adj" fmla="val 6000"/>
            </a:avLst>
          </a:prstGeom>
          <a:solidFill>
            <a:srgbClr val="FDF1F1"/>
          </a:solidFill>
          <a:ln>
            <a:noFill/>
          </a:ln>
        </p:spPr>
        <p:txBody>
          <a:bodyPr wrap="square" lIns="146304" tIns="109728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kumimoji="1" lang="en-US" altLang="ko-KR" sz="1600" b="1" dirty="0">
                <a:solidFill>
                  <a:srgbClr val="A5002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Purpose</a:t>
            </a:r>
          </a:p>
          <a:p>
            <a:pPr marL="0" indent="0" latinLnBrk="0">
              <a:lnSpc>
                <a:spcPct val="110000"/>
              </a:lnSpc>
              <a:spcAft>
                <a:spcPts val="300"/>
              </a:spcAft>
              <a:buNone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Select dopant precursors for Li₆PS₅Cl that raise electrochemical and mechanical stability without slowing Li-ion transport.</a:t>
            </a:r>
          </a:p>
          <a:p>
            <a:pPr marL="0" indent="0" latinLnBrk="0">
              <a:lnSpc>
                <a:spcPct val="110000"/>
              </a:lnSpc>
              <a:spcAft>
                <a:spcPts val="300"/>
              </a:spcAft>
              <a:buNone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Let the computation make the selection, with the selection rule stated in advance.</a:t>
            </a:r>
          </a:p>
        </p:txBody>
      </p:sp>
      <p:sp>
        <p:nvSpPr>
          <p:cNvPr id="237" name="Card Completed"/>
          <p:cNvSpPr/>
          <p:nvPr/>
        </p:nvSpPr>
        <p:spPr>
          <a:xfrm>
            <a:off x="4636008" y="1417320"/>
            <a:ext cx="4005072" cy="2057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146304" tIns="109728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kumimoji="1" lang="en-US" altLang="ko-KR" sz="16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Completed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1: all 91 precursors enumerated and relaxed (3,675 configurations)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DFT equation of state; stability windows recomputed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September audit → Stage 2 with one primary readout</a:t>
            </a:r>
          </a:p>
        </p:txBody>
      </p:sp>
      <p:sp>
        <p:nvSpPr>
          <p:cNvPr id="238" name="Card Running"/>
          <p:cNvSpPr/>
          <p:nvPr/>
        </p:nvSpPr>
        <p:spPr>
          <a:xfrm>
            <a:off x="502920" y="3611880"/>
            <a:ext cx="4005072" cy="2057400"/>
          </a:xfrm>
          <a:prstGeom prst="roundRect">
            <a:avLst>
              <a:gd name="adj" fmla="val 6000"/>
            </a:avLst>
          </a:prstGeom>
          <a:solidFill>
            <a:srgbClr val="E8F4FB"/>
          </a:solidFill>
          <a:ln>
            <a:noFill/>
          </a:ln>
        </p:spPr>
        <p:txBody>
          <a:bodyPr wrap="square" lIns="146304" tIns="109728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kumimoji="1" lang="en-US" altLang="ko-KR" sz="160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Running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2 pilot: MLIP-MD Li diffusivity, Al₂O₃- vs Al₂S₃-derived doping (12 of 40 runs)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DFT elastic constants of the reference compositions</a:t>
            </a:r>
          </a:p>
        </p:txBody>
      </p:sp>
      <p:sp>
        <p:nvSpPr>
          <p:cNvPr id="239" name="Card Next"/>
          <p:cNvSpPr/>
          <p:nvPr/>
        </p:nvSpPr>
        <p:spPr>
          <a:xfrm>
            <a:off x="4636008" y="3611880"/>
            <a:ext cx="4005072" cy="2057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46304" tIns="109728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kumimoji="1" lang="en-US" altLang="ko-KR" sz="1600" b="1" dirty="0">
                <a:solidFill>
                  <a:srgbClr val="37415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Next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Scope over the 237-design roster and the ranking margin, fixed in advance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Check whether Stage-1 descriptors predict the measured transport</a:t>
            </a:r>
          </a:p>
          <a:p>
            <a:pPr marL="182880" indent="-182880" latinLnBrk="0">
              <a:lnSpc>
                <a:spcPct val="110000"/>
              </a:lnSpc>
              <a:spcAft>
                <a:spcPts val="3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Shortlist → DFT validation → experiments</a:t>
            </a:r>
          </a:p>
        </p:txBody>
      </p:sp>
      <p:sp>
        <p:nvSpPr>
          <p:cNvPr id="240" name="Status note"/>
          <p:cNvSpPr txBox="1"/>
          <p:nvPr/>
        </p:nvSpPr>
        <p:spPr>
          <a:xfrm>
            <a:off x="502920" y="5833872"/>
            <a:ext cx="8138160" cy="365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3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Stage-1 descriptors are used for exploration; </a:t>
            </a:r>
            <a:r>
              <a:rPr kumimoji="1" lang="en-US" altLang="ko-KR" sz="130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 dopant ranking is claimed.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245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1 — exploration screen (Jun–Aug): workflow and status</a:t>
            </a:r>
          </a:p>
        </p:txBody>
      </p:sp>
      <p:graphicFrame>
        <p:nvGraphicFramePr>
          <p:cNvPr id="246" name="Workflow table"/>
          <p:cNvGraphicFramePr>
            <a:graphicFrameLocks noGrp="1"/>
          </p:cNvGraphicFramePr>
          <p:nvPr/>
        </p:nvGraphicFramePr>
        <p:xfrm>
          <a:off x="411480" y="1389888"/>
          <a:ext cx="8321040" cy="367588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20040"/>
                <a:gridCol w="1554480"/>
                <a:gridCol w="3429000"/>
                <a:gridCol w="1600200"/>
                <a:gridCol w="1417320"/>
              </a:tblGrid>
              <a:tr h="347472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25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25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Step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25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25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Scale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25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Site enumeration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Charge-balanced placement of precursor cation and anion on Li, P, S, Cl sites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91 precursors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B5E20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Relaxation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Universal MLIP (UMA), FIRE optimizer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3,675 configurations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B5E20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Short anneal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MLIP-MD at 500 K for 50 ps, then re-relaxation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693 configurations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B5E20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Li-site landscape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Bond-valence site energy (softBV)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per precursor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B5E20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Done (structural proxy)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EOS / elastic constants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DFT (Quantum ESPRESSO): Birch–Murnaghan fit; finite strains with ionic relaxation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reference compositions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0B5394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EOS done · C</a:t>
                      </a:r>
                      <a:r>
                        <a:rPr kumimoji="1" lang="en-US" altLang="ko-KR" sz="1150" baseline="-25000" dirty="0">
                          <a:solidFill>
                            <a:srgbClr val="0B5394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ij</a:t>
                      </a:r>
                      <a:r>
                        <a:rPr kumimoji="1" lang="en-US" altLang="ko-KR" sz="1150" dirty="0">
                          <a:solidFill>
                            <a:srgbClr val="0B5394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 running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Stability window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Grand-potential phase diagram from Materials Project phases (0 K)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90 precursors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8A5A00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Recomputed (Oct)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Interface reactivity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Reaction energy of each doped composition vs cathodes, Li metal, carbon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90 precursors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50" dirty="0">
                          <a:solidFill>
                            <a:srgbClr val="4B5563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Done · products redo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47" name="Stage note"/>
          <p:cNvSpPr txBox="1"/>
          <p:nvPr/>
        </p:nvSpPr>
        <p:spPr>
          <a:xfrm>
            <a:off x="411480" y="5138928"/>
            <a:ext cx="8321040" cy="5486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10000"/>
              </a:lnSpc>
              <a:buNone/>
              <a:defRPr/>
            </a:pPr>
            <a:r>
              <a:rPr kumimoji="1" lang="en-US" altLang="ko-KR" sz="11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As₂S₃ and AlI₃ were completed in an August re-run; As₂S₃ is not yet in the stability and interface tables (rows 6–7). Since the September audit these outputs are </a:t>
            </a:r>
            <a:r>
              <a:rPr kumimoji="1" lang="en-US" altLang="ko-KR" sz="115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exploratory data</a:t>
            </a:r>
            <a:r>
              <a:rPr kumimoji="1" lang="en-US" altLang="ko-KR" sz="11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— Li transport is measured in Stage 2.</a:t>
            </a:r>
          </a:p>
        </p:txBody>
      </p:sp>
      <p:sp>
        <p:nvSpPr>
          <p:cNvPr id="248" name="Abbreviations"/>
          <p:cNvSpPr txBox="1"/>
          <p:nvPr/>
        </p:nvSpPr>
        <p:spPr>
          <a:xfrm>
            <a:off x="411480" y="5715000"/>
            <a:ext cx="8321040" cy="5029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5000"/>
              </a:lnSpc>
              <a:buNone/>
              <a:defRPr/>
            </a:pPr>
            <a:r>
              <a:rPr kumimoji="1" lang="en-US" altLang="ko-KR" sz="105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MLIP: machine-learning interatomic potential (UMA, a universal model) · EOS: equation of state · all Stage-1 configurations use one dopant level (one precursor unit per four formula units)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255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Electrochemical stability window and interfacial reactivity</a:t>
            </a:r>
          </a:p>
        </p:txBody>
      </p:sp>
      <p:sp>
        <p:nvSpPr>
          <p:cNvPr id="256" name="Window bullets"/>
          <p:cNvSpPr txBox="1"/>
          <p:nvPr/>
        </p:nvSpPr>
        <p:spPr>
          <a:xfrm>
            <a:off x="502920" y="1371600"/>
            <a:ext cx="4160520" cy="23317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182880" indent="-182880" latinLnBrk="0">
              <a:lnSpc>
                <a:spcPct val="110000"/>
              </a:lnSpc>
              <a:spcAft>
                <a:spcPts val="5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Grand-potential phase diagram: the Li chemical potential is scanned as a voltage (0 K, bulk thermodynamics).</a:t>
            </a:r>
          </a:p>
          <a:p>
            <a:pPr marL="182880" indent="-182880" latinLnBrk="0">
              <a:lnSpc>
                <a:spcPct val="110000"/>
              </a:lnSpc>
              <a:spcAft>
                <a:spcPts val="5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Stable window = voltage range where the composition decomposes </a:t>
            </a:r>
            <a:r>
              <a:rPr kumimoji="1" lang="en-US" altLang="ko-KR" sz="12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without Li exchange</a:t>
            </a: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; if no such range exists, no stable window.</a:t>
            </a:r>
          </a:p>
          <a:p>
            <a:pPr marL="182880" indent="-182880" latinLnBrk="0">
              <a:lnSpc>
                <a:spcPct val="110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Recomputed for the 90 precursors in the stability table with this definition (Oct); the earlier definition overestimated window widths.</a:t>
            </a:r>
          </a:p>
        </p:txBody>
      </p:sp>
      <p:sp>
        <p:nvSpPr>
          <p:cNvPr id="257" name="Schematic title"/>
          <p:cNvSpPr txBox="1"/>
          <p:nvPr/>
        </p:nvSpPr>
        <p:spPr>
          <a:xfrm>
            <a:off x="548640" y="3730752"/>
            <a:ext cx="402336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1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Example: Li₆PS₅Cl host (MP phases, 0 K)</a:t>
            </a:r>
          </a:p>
        </p:txBody>
      </p:sp>
      <p:sp>
        <p:nvSpPr>
          <p:cNvPr id="258" name="Window label"/>
          <p:cNvSpPr txBox="1"/>
          <p:nvPr/>
        </p:nvSpPr>
        <p:spPr>
          <a:xfrm>
            <a:off x="1481203" y="404164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50" b="1" dirty="0">
                <a:solidFill>
                  <a:srgbClr val="1B5E2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stable window 0.423 V</a:t>
            </a:r>
          </a:p>
        </p:txBody>
      </p:sp>
      <p:sp>
        <p:nvSpPr>
          <p:cNvPr id="259" name="Reduction zone"/>
          <p:cNvSpPr/>
          <p:nvPr/>
        </p:nvSpPr>
        <p:spPr>
          <a:xfrm>
            <a:off x="685800" y="4315968"/>
            <a:ext cx="1080405" cy="384048"/>
          </a:xfrm>
          <a:prstGeom prst="rect">
            <a:avLst/>
          </a:prstGeom>
          <a:solidFill>
            <a:srgbClr val="FBE3E3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7F1D1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 uptake</a:t>
            </a:r>
          </a:p>
        </p:txBody>
      </p:sp>
      <p:sp>
        <p:nvSpPr>
          <p:cNvPr id="260" name="Window zone"/>
          <p:cNvSpPr/>
          <p:nvPr/>
        </p:nvSpPr>
        <p:spPr>
          <a:xfrm>
            <a:off x="1766205" y="4315968"/>
            <a:ext cx="1441676" cy="384048"/>
          </a:xfrm>
          <a:prstGeom prst="rect">
            <a:avLst/>
          </a:prstGeom>
          <a:solidFill>
            <a:srgbClr val="DFF2E3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B5E2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 Li exchange</a:t>
            </a:r>
          </a:p>
        </p:txBody>
      </p:sp>
      <p:sp>
        <p:nvSpPr>
          <p:cNvPr id="261" name="Oxidation zone"/>
          <p:cNvSpPr/>
          <p:nvPr/>
        </p:nvSpPr>
        <p:spPr>
          <a:xfrm>
            <a:off x="3207881" y="4315968"/>
            <a:ext cx="1226959" cy="384048"/>
          </a:xfrm>
          <a:prstGeom prst="rect">
            <a:avLst/>
          </a:prstGeom>
          <a:solidFill>
            <a:srgbClr val="FBE3E3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7F1D1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 release</a:t>
            </a:r>
          </a:p>
        </p:txBody>
      </p:sp>
      <p:sp>
        <p:nvSpPr>
          <p:cNvPr id="262" name="Tick low"/>
          <p:cNvSpPr txBox="1"/>
          <p:nvPr/>
        </p:nvSpPr>
        <p:spPr>
          <a:xfrm>
            <a:off x="1354725" y="4718304"/>
            <a:ext cx="82296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1.717 V</a:t>
            </a:r>
          </a:p>
        </p:txBody>
      </p:sp>
      <p:sp>
        <p:nvSpPr>
          <p:cNvPr id="263" name="Tick high"/>
          <p:cNvSpPr txBox="1"/>
          <p:nvPr/>
        </p:nvSpPr>
        <p:spPr>
          <a:xfrm>
            <a:off x="2796401" y="4718304"/>
            <a:ext cx="82296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2.140 V</a:t>
            </a:r>
          </a:p>
        </p:txBody>
      </p:sp>
      <p:sp>
        <p:nvSpPr>
          <p:cNvPr id="264" name="Axis label"/>
          <p:cNvSpPr txBox="1"/>
          <p:nvPr/>
        </p:nvSpPr>
        <p:spPr>
          <a:xfrm>
            <a:off x="685800" y="4956048"/>
            <a:ext cx="374904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voltage vs Li/Li⁺ →</a:t>
            </a:r>
          </a:p>
        </p:txBody>
      </p:sp>
      <p:sp>
        <p:nvSpPr>
          <p:cNvPr id="265" name="Reactions"/>
          <p:cNvSpPr txBox="1"/>
          <p:nvPr/>
        </p:nvSpPr>
        <p:spPr>
          <a:xfrm>
            <a:off x="548640" y="5212080"/>
            <a:ext cx="4114800" cy="5029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5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Inside the window: Li₆PS₅Cl → Li₃PS₄ + Li₂S + LiCl (no Li exchange); above 2.140 V: oxidation with Li release</a:t>
            </a:r>
          </a:p>
        </p:txBody>
      </p:sp>
      <p:pic>
        <p:nvPicPr>
          <p:cNvPr id="266" name="Sundar 2025 Fig 2" descr="Coating reaction energy at four interf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3794760" cy="1442295"/>
          </a:xfrm>
          <a:prstGeom prst="rect">
            <a:avLst/>
          </a:prstGeom>
        </p:spPr>
      </p:pic>
      <p:sp>
        <p:nvSpPr>
          <p:cNvPr id="267" name="Caption right"/>
          <p:cNvSpPr txBox="1"/>
          <p:nvPr/>
        </p:nvSpPr>
        <p:spPr>
          <a:xfrm>
            <a:off x="4846320" y="2898648"/>
            <a:ext cx="379476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coating reaction energy at four interfaces &gt;</a:t>
            </a:r>
          </a:p>
        </p:txBody>
      </p:sp>
      <p:sp>
        <p:nvSpPr>
          <p:cNvPr id="268" name="Credit right"/>
          <p:cNvSpPr txBox="1"/>
          <p:nvPr/>
        </p:nvSpPr>
        <p:spPr>
          <a:xfrm>
            <a:off x="4846320" y="3136392"/>
            <a:ext cx="379476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5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Reproduced from Sundar et al., Adv. Sci. 12, e13191 (2025)</a:t>
            </a:r>
          </a:p>
        </p:txBody>
      </p:sp>
      <p:sp>
        <p:nvSpPr>
          <p:cNvPr id="269" name="Interface bullets"/>
          <p:cNvSpPr txBox="1"/>
          <p:nvPr/>
        </p:nvSpPr>
        <p:spPr>
          <a:xfrm>
            <a:off x="4846320" y="3520440"/>
            <a:ext cx="3794760" cy="20116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182880" indent="-182880" latinLnBrk="0">
              <a:lnSpc>
                <a:spcPct val="110000"/>
              </a:lnSpc>
              <a:spcAft>
                <a:spcPts val="5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Same phase data: reaction energy of each doped composition against LiCoO₂, LiNiO₂, LiMn₂O₄, Li metal and carbon.</a:t>
            </a:r>
          </a:p>
          <a:p>
            <a:pPr marL="182880" indent="-182880" latinLnBrk="0">
              <a:lnSpc>
                <a:spcPct val="110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 separate table treats the precursor itself as a second phase (coating view, as in the figure); its product band gaps are being </a:t>
            </a:r>
            <a:r>
              <a:rPr kumimoji="1" lang="en-US" altLang="ko-KR" sz="12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re-derived with ground-state phases</a:t>
            </a: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(E</a:t>
            </a:r>
            <a:r>
              <a:rPr kumimoji="1" lang="en-US" altLang="ko-KR" sz="1250" baseline="-25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hull</a:t>
            </a: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= 0).</a:t>
            </a:r>
          </a:p>
        </p:txBody>
      </p:sp>
      <p:sp>
        <p:nvSpPr>
          <p:cNvPr id="270" name="References"/>
          <p:cNvSpPr txBox="1"/>
          <p:nvPr/>
        </p:nvSpPr>
        <p:spPr>
          <a:xfrm>
            <a:off x="502920" y="5852160"/>
            <a:ext cx="8138160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Zhu, ACS Appl. Mater. Interfaces 7, 23685 (2015) · Richards, Chem. Mater. 28, 266 (2016) · Xiao, Nat. Rev. Mater. 5, 105 (2020) · Schwietert, Nat. Mater. 19, 428 (2020)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Progress</a:t>
            </a:r>
          </a:p>
        </p:txBody>
      </p:sp>
      <p:sp>
        <p:nvSpPr>
          <p:cNvPr id="271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September audit → Stage 2: rules fixed before new results</a:t>
            </a:r>
          </a:p>
        </p:txBody>
      </p:sp>
      <p:sp>
        <p:nvSpPr>
          <p:cNvPr id="272" name="Audit findings"/>
          <p:cNvSpPr/>
          <p:nvPr/>
        </p:nvSpPr>
        <p:spPr>
          <a:xfrm>
            <a:off x="502920" y="1417320"/>
            <a:ext cx="3931920" cy="32918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txBody>
          <a:bodyPr wrap="square" lIns="146304" tIns="109728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kumimoji="1" lang="en-US" altLang="ko-KR" sz="13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What the audit of Stage 1 found</a:t>
            </a:r>
          </a:p>
          <a:p>
            <a:pPr marL="182880" indent="-182880" latinLnBrk="0">
              <a:lnSpc>
                <a:spcPct val="108000"/>
              </a:lnSpc>
              <a:spcAft>
                <a:spcPts val="45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Concentration labels did not change the dopant level: every configuration has one precursor unit per four formula units.</a:t>
            </a:r>
          </a:p>
          <a:p>
            <a:pPr marL="182880" indent="-182880" latinLnBrk="0">
              <a:lnSpc>
                <a:spcPct val="108000"/>
              </a:lnSpc>
              <a:spcAft>
                <a:spcPts val="45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 volume filter used a host reference ~40 % above the DFT equilibrium volume of the same composition → Stage 2 builds from the DFT-equilibrium host.</a:t>
            </a:r>
          </a:p>
          <a:p>
            <a:pPr marL="182880" indent="-182880" latinLnBrk="0">
              <a:lnSpc>
                <a:spcPct val="108000"/>
              </a:lnSpc>
              <a:spcAft>
                <a:spcPts val="45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Young's modulus: scatter among configurations of one precursor ≈ spread between precursors (ratio 1.1; substitution energy 0.2).</a:t>
            </a:r>
          </a:p>
          <a:p>
            <a:pPr marL="182880" indent="-182880" latinLnBrk="0">
              <a:lnSpc>
                <a:spcPct val="108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Several descriptors were merged into one score without a stated primary objective.</a:t>
            </a:r>
          </a:p>
        </p:txBody>
      </p:sp>
      <p:sp>
        <p:nvSpPr>
          <p:cNvPr id="273" name="Audit verdict"/>
          <p:cNvSpPr/>
          <p:nvPr/>
        </p:nvSpPr>
        <p:spPr>
          <a:xfrm>
            <a:off x="502920" y="4818888"/>
            <a:ext cx="3931920" cy="566928"/>
          </a:xfrm>
          <a:prstGeom prst="roundRect">
            <a:avLst>
              <a:gd name="adj" fmla="val 6000"/>
            </a:avLst>
          </a:prstGeom>
          <a:solidFill>
            <a:srgbClr val="FDF1F1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>
              <a:lnSpc>
                <a:spcPct val="105000"/>
              </a:lnSpc>
              <a:buNone/>
              <a:defRPr/>
            </a:pPr>
            <a:r>
              <a:rPr kumimoji="1" lang="en-US" altLang="ko-KR" sz="1150" dirty="0">
                <a:solidFill>
                  <a:srgbClr val="A5002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→ Stage-1 outputs are kept as </a:t>
            </a:r>
            <a:r>
              <a:rPr kumimoji="1" lang="en-US" altLang="ko-KR" sz="1150" b="1" dirty="0">
                <a:solidFill>
                  <a:srgbClr val="A5002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exploratory data</a:t>
            </a:r>
            <a:r>
              <a:rPr kumimoji="1" lang="en-US" altLang="ko-KR" sz="1150" dirty="0">
                <a:solidFill>
                  <a:srgbClr val="A5002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; approved dopant ranking: none.</a:t>
            </a:r>
          </a:p>
        </p:txBody>
      </p:sp>
      <p:sp>
        <p:nvSpPr>
          <p:cNvPr id="274" name="Rules title"/>
          <p:cNvSpPr txBox="1"/>
          <p:nvPr/>
        </p:nvSpPr>
        <p:spPr>
          <a:xfrm>
            <a:off x="4617720" y="1371600"/>
            <a:ext cx="4023360" cy="310896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3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Fixed before any new result (Sep 12–19)</a:t>
            </a:r>
          </a:p>
        </p:txBody>
      </p:sp>
      <p:sp>
        <p:nvSpPr>
          <p:cNvPr id="275" name="Rule 1"/>
          <p:cNvSpPr/>
          <p:nvPr/>
        </p:nvSpPr>
        <p:spPr>
          <a:xfrm>
            <a:off x="4617720" y="1737360"/>
            <a:ext cx="402336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</p:spPr>
        <p:txBody>
          <a:bodyPr wrap="square" lIns="109728" tIns="45720" rIns="109728" bIns="4572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300"/>
              </a:spcAft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Primary readout</a:t>
            </a: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</a:t>
            </a:r>
            <a:r>
              <a:rPr kumimoji="1" lang="en-US" altLang="ko-KR" sz="1000" baseline="-25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rel</a:t>
            </a: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= D*(design) / D*(host): Li tracer diffusivity relative to the host, compared across designs</a:t>
            </a:r>
          </a:p>
        </p:txBody>
      </p:sp>
      <p:sp>
        <p:nvSpPr>
          <p:cNvPr id="276" name="Rule 1 status"/>
          <p:cNvSpPr/>
          <p:nvPr/>
        </p:nvSpPr>
        <p:spPr>
          <a:xfrm>
            <a:off x="7086600" y="1783080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8F3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b="1" dirty="0">
                <a:solidFill>
                  <a:srgbClr val="1B5E2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Ratified</a:t>
            </a:r>
          </a:p>
        </p:txBody>
      </p:sp>
      <p:sp>
        <p:nvSpPr>
          <p:cNvPr id="277" name="Rule 2"/>
          <p:cNvSpPr/>
          <p:nvPr/>
        </p:nvSpPr>
        <p:spPr>
          <a:xfrm>
            <a:off x="4617720" y="2487168"/>
            <a:ext cx="402336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</p:spPr>
        <p:txBody>
          <a:bodyPr wrap="square" lIns="109728" tIns="45720" rIns="109728" bIns="4572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300"/>
              </a:spcAft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Design roster</a:t>
            </a: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237 designs; one design = one composition (file names are not identifiers)</a:t>
            </a:r>
          </a:p>
        </p:txBody>
      </p:sp>
      <p:sp>
        <p:nvSpPr>
          <p:cNvPr id="278" name="Rule 2 status"/>
          <p:cNvSpPr/>
          <p:nvPr/>
        </p:nvSpPr>
        <p:spPr>
          <a:xfrm>
            <a:off x="7086600" y="2532888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8F3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b="1" dirty="0">
                <a:solidFill>
                  <a:srgbClr val="1B5E2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Ratified</a:t>
            </a:r>
          </a:p>
        </p:txBody>
      </p:sp>
      <p:sp>
        <p:nvSpPr>
          <p:cNvPr id="279" name="Rule 3"/>
          <p:cNvSpPr/>
          <p:nvPr/>
        </p:nvSpPr>
        <p:spPr>
          <a:xfrm>
            <a:off x="4617720" y="3236976"/>
            <a:ext cx="402336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</p:spPr>
        <p:txBody>
          <a:bodyPr wrap="square" lIns="109728" tIns="45720" rIns="109728" bIns="4572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300"/>
              </a:spcAft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Build rules</a:t>
            </a: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Parent sites fixed before substitution · full charge balance incl. vacancies · refusals counted separately</a:t>
            </a:r>
          </a:p>
        </p:txBody>
      </p:sp>
      <p:sp>
        <p:nvSpPr>
          <p:cNvPr id="280" name="Rule 3 status"/>
          <p:cNvSpPr/>
          <p:nvPr/>
        </p:nvSpPr>
        <p:spPr>
          <a:xfrm>
            <a:off x="7086600" y="3282696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8F3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b="1" dirty="0">
                <a:solidFill>
                  <a:srgbClr val="1B5E2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Ratified</a:t>
            </a:r>
          </a:p>
        </p:txBody>
      </p:sp>
      <p:sp>
        <p:nvSpPr>
          <p:cNvPr id="281" name="Rule 4"/>
          <p:cNvSpPr/>
          <p:nvPr/>
        </p:nvSpPr>
        <p:spPr>
          <a:xfrm>
            <a:off x="4617720" y="3986784"/>
            <a:ext cx="402336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</p:spPr>
        <p:txBody>
          <a:bodyPr wrap="square" lIns="109728" tIns="45720" rIns="109728" bIns="4572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300"/>
              </a:spcAft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Representative</a:t>
            </a: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 configuration with the median substitution energy stands for its design</a:t>
            </a:r>
          </a:p>
        </p:txBody>
      </p:sp>
      <p:sp>
        <p:nvSpPr>
          <p:cNvPr id="282" name="Rule 4 status"/>
          <p:cNvSpPr/>
          <p:nvPr/>
        </p:nvSpPr>
        <p:spPr>
          <a:xfrm>
            <a:off x="7086600" y="4032504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8F3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b="1" dirty="0">
                <a:solidFill>
                  <a:srgbClr val="1B5E2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Ratified</a:t>
            </a:r>
          </a:p>
        </p:txBody>
      </p:sp>
      <p:sp>
        <p:nvSpPr>
          <p:cNvPr id="283" name="Rule 5"/>
          <p:cNvSpPr/>
          <p:nvPr/>
        </p:nvSpPr>
        <p:spPr>
          <a:xfrm>
            <a:off x="4617720" y="4736592"/>
            <a:ext cx="402336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</p:spPr>
        <p:txBody>
          <a:bodyPr wrap="square" lIns="109728" tIns="45720" rIns="109728" bIns="4572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300"/>
              </a:spcAft>
              <a:buNone/>
              <a:defRPr/>
            </a:pPr>
            <a:r>
              <a:rPr kumimoji="1" lang="en-US" altLang="ko-KR" sz="115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Ranking margin</a:t>
            </a: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How large a difference must be before one design is called better (δ)</a:t>
            </a:r>
          </a:p>
        </p:txBody>
      </p:sp>
      <p:sp>
        <p:nvSpPr>
          <p:cNvPr id="284" name="Rule 5 status"/>
          <p:cNvSpPr/>
          <p:nvPr/>
        </p:nvSpPr>
        <p:spPr>
          <a:xfrm>
            <a:off x="7086600" y="4782312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b="1" dirty="0">
                <a:solidFill>
                  <a:srgbClr val="8A5A0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Proposed · δ open</a:t>
            </a:r>
          </a:p>
        </p:txBody>
      </p:sp>
      <p:sp>
        <p:nvSpPr>
          <p:cNvPr id="285" name="Scope note"/>
          <p:cNvSpPr txBox="1"/>
          <p:nvPr/>
        </p:nvSpPr>
        <p:spPr>
          <a:xfrm>
            <a:off x="502920" y="5623560"/>
            <a:ext cx="8138160" cy="4572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5000"/>
              </a:lnSpc>
              <a:buNone/>
              <a:defRPr/>
            </a:pPr>
            <a:r>
              <a:rPr kumimoji="1" lang="en-US" altLang="ko-KR" sz="12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237 designs ≠ 237 runs: the execution scope is decided </a:t>
            </a:r>
            <a:r>
              <a:rPr kumimoji="1" lang="en-US" altLang="ko-KR" sz="120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after the pilot</a:t>
            </a:r>
            <a:r>
              <a:rPr kumimoji="1" lang="en-US" altLang="ko-KR" sz="12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— the pilot tests the protocol on two Al precursors (next slides).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Progress</a:t>
            </a:r>
          </a:p>
        </p:txBody>
      </p:sp>
      <p:sp>
        <p:nvSpPr>
          <p:cNvPr id="286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2 pilot — Li transport by MLIP molecular dynamics: setup</a:t>
            </a:r>
          </a:p>
        </p:txBody>
      </p:sp>
      <p:sp>
        <p:nvSpPr>
          <p:cNvPr id="287" name="Setup bullets"/>
          <p:cNvSpPr txBox="1"/>
          <p:nvPr/>
        </p:nvSpPr>
        <p:spPr>
          <a:xfrm>
            <a:off x="502920" y="1371600"/>
            <a:ext cx="4206240" cy="2651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182880" indent="-182880" latinLnBrk="0">
              <a:lnSpc>
                <a:spcPct val="110000"/>
              </a:lnSpc>
              <a:spcAft>
                <a:spcPts val="6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Pilot question</a:t>
            </a: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does the precursor anion (Al₂O₃ vs Al₂S₃) change Li diffusivity in Al-doped Li₆PS₅Cl — and can the protocol resolve it?</a:t>
            </a:r>
          </a:p>
          <a:p>
            <a:pPr marL="182880" indent="-182880" latinLnBrk="0">
              <a:lnSpc>
                <a:spcPct val="110000"/>
              </a:lnSpc>
              <a:spcAft>
                <a:spcPts val="6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Reported quantity</a:t>
            </a: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ratio of Li tracer diffusivities from MSD slopes — relative, not an absolute conductivity.</a:t>
            </a:r>
          </a:p>
          <a:p>
            <a:pPr marL="182880" indent="-182880" latinLnBrk="0">
              <a:lnSpc>
                <a:spcPct val="110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Analysis plan fixed before the runs</a:t>
            </a: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diffusive-regime checks, then an equivalence test (margin ±ln 1.5) on the log-ratio.</a:t>
            </a:r>
          </a:p>
        </p:txBody>
      </p:sp>
      <p:sp>
        <p:nvSpPr>
          <p:cNvPr id="288" name="Recipe A"/>
          <p:cNvSpPr/>
          <p:nvPr/>
        </p:nvSpPr>
        <p:spPr>
          <a:xfrm>
            <a:off x="548640" y="411480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2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Al₂O₃-derived</a:t>
            </a:r>
          </a:p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2 Al + 3 O + 4 Li vacancies</a:t>
            </a:r>
          </a:p>
        </p:txBody>
      </p:sp>
      <p:sp>
        <p:nvSpPr>
          <p:cNvPr id="289" name="Recipe B"/>
          <p:cNvSpPr/>
          <p:nvPr/>
        </p:nvSpPr>
        <p:spPr>
          <a:xfrm>
            <a:off x="2697480" y="411480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200" b="1" dirty="0">
                <a:solidFill>
                  <a:srgbClr val="37415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Al₂S₃-derived</a:t>
            </a:r>
          </a:p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2 Al + 4 Li vacancies (S unchanged)</a:t>
            </a:r>
          </a:p>
        </p:txBody>
      </p:sp>
      <p:sp>
        <p:nvSpPr>
          <p:cNvPr id="290" name="Recipe note"/>
          <p:cNvSpPr txBox="1"/>
          <p:nvPr/>
        </p:nvSpPr>
        <p:spPr>
          <a:xfrm>
            <a:off x="548640" y="5047488"/>
            <a:ext cx="4069080" cy="6858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5000"/>
              </a:lnSpc>
              <a:buNone/>
              <a:defRPr/>
            </a:pPr>
            <a:r>
              <a:rPr kumimoji="1" lang="en-US" altLang="ko-KR" sz="105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Same host configuration and cell volume — only the precursor anion differs</a:t>
            </a:r>
          </a:p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30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→ D(Al₂O₃) / D(Al₂S₃)</a:t>
            </a:r>
          </a:p>
        </p:txBody>
      </p:sp>
      <p:graphicFrame>
        <p:nvGraphicFramePr>
          <p:cNvPr id="291" name="Settings table"/>
          <p:cNvGraphicFramePr>
            <a:graphicFrameLocks noGrp="1"/>
          </p:cNvGraphicFramePr>
          <p:nvPr/>
        </p:nvGraphicFramePr>
        <p:xfrm>
          <a:off x="4846320" y="1371600"/>
          <a:ext cx="3794760" cy="3657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80160"/>
                <a:gridCol w="2514600"/>
              </a:tblGrid>
              <a:tr h="310896"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20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Setting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20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Value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Potential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UMA (universal MLIP)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Ensemble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NVT, Langevin thermostat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Temperature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1000 K (selected in a pilot)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Run length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400 ps production; MSD fit 2–50 ps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Cell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204 atoms, common volume (edge ≈ 1.6 nm)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Sampling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10 start configurations × 2 precursors × 2 seeds = 40 runs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Diffusive-regime checks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kumimoji="1" lang="en-US" altLang="ko-KR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-윤고딕340" pitchFamily="18" charset="-127"/>
                          <a:cs typeface="Calibri" panose="020F0502020204030204" pitchFamily="34" charset="0"/>
                        </a:rPr>
                        <a:t>sub-window MSD slope ratio 0.8–1.2 · D spread ≤ 10 % · ≥ 50 Li hops · framework intact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2" name="References"/>
          <p:cNvSpPr txBox="1"/>
          <p:nvPr/>
        </p:nvSpPr>
        <p:spPr>
          <a:xfrm>
            <a:off x="502920" y="5897880"/>
            <a:ext cx="8138160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Kahle, Energy Environ. Sci. 13, 928 (2020) · He, npj Comput. Mater. 4, 18 (2018) · Wood et al. (UMA), arXiv:2506.23971 (2026)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Progress</a:t>
            </a:r>
          </a:p>
        </p:txBody>
      </p:sp>
      <p:sp>
        <p:nvSpPr>
          <p:cNvPr id="293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2 pilot — temperature choice, status and limits</a:t>
            </a:r>
          </a:p>
        </p:txBody>
      </p:sp>
      <p:sp>
        <p:nvSpPr>
          <p:cNvPr id="294" name="Status bullets"/>
          <p:cNvSpPr txBox="1"/>
          <p:nvPr/>
        </p:nvSpPr>
        <p:spPr>
          <a:xfrm>
            <a:off x="502920" y="1371600"/>
            <a:ext cx="4343400" cy="28346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182880" indent="-182880" latinLnBrk="0">
              <a:lnSpc>
                <a:spcPct val="108000"/>
              </a:lnSpc>
              <a:spcAft>
                <a:spcPts val="5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600 K pilot</a:t>
            </a:r>
            <a:r>
              <a:rPr kumimoji="1" lang="en-US" altLang="ko-KR" sz="12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(40 runs, 200 ps): Li hopped (~4,000 hops per run) but the MSD never became linear over 2–100 ps → no diffusivity reported (UMA, this cell and volume).</a:t>
            </a:r>
          </a:p>
          <a:p>
            <a:pPr marL="182880" indent="-182880" latinLnBrk="0">
              <a:lnSpc>
                <a:spcPct val="108000"/>
              </a:lnSpc>
              <a:spcAft>
                <a:spcPts val="5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Temperature</a:t>
            </a:r>
            <a:r>
              <a:rPr kumimoji="1" lang="en-US" altLang="ko-KR" sz="12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then chosen by a predefined pilot: 800 K failed and 1000 K passed the diffusive-regime checks.</a:t>
            </a:r>
          </a:p>
          <a:p>
            <a:pPr marL="182880" indent="-182880" latinLnBrk="0">
              <a:lnSpc>
                <a:spcPct val="108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Limits</a:t>
            </a:r>
            <a:r>
              <a:rPr kumimoji="1" lang="en-US" altLang="ko-KR" sz="12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the ~1.6-nm cell is below the ~2-nm bulk minimum suggested for MLIP transport, and rankings at high T need not hold at room temperature → relative, condition-specific result.</a:t>
            </a:r>
          </a:p>
        </p:txBody>
      </p:sp>
      <p:sp>
        <p:nvSpPr>
          <p:cNvPr id="295" name="Status panel"/>
          <p:cNvSpPr/>
          <p:nvPr/>
        </p:nvSpPr>
        <p:spPr>
          <a:xfrm>
            <a:off x="502920" y="4297680"/>
            <a:ext cx="4343400" cy="14630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96" name="Status title"/>
          <p:cNvSpPr txBox="1"/>
          <p:nvPr/>
        </p:nvSpPr>
        <p:spPr>
          <a:xfrm>
            <a:off x="640080" y="4352544"/>
            <a:ext cx="402336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2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Status (Oct 12)</a:t>
            </a:r>
          </a:p>
        </p:txBody>
      </p:sp>
      <p:sp>
        <p:nvSpPr>
          <p:cNvPr id="297" name="Bar1 label"/>
          <p:cNvSpPr txBox="1"/>
          <p:nvPr/>
        </p:nvSpPr>
        <p:spPr>
          <a:xfrm>
            <a:off x="640080" y="4663440"/>
            <a:ext cx="82296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Runs</a:t>
            </a:r>
          </a:p>
        </p:txBody>
      </p:sp>
      <p:sp>
        <p:nvSpPr>
          <p:cNvPr id="298" name="Bar1 bg"/>
          <p:cNvSpPr/>
          <p:nvPr/>
        </p:nvSpPr>
        <p:spPr>
          <a:xfrm>
            <a:off x="1463040" y="4690872"/>
            <a:ext cx="2377440" cy="182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99" name="Bar1 fg"/>
          <p:cNvSpPr/>
          <p:nvPr/>
        </p:nvSpPr>
        <p:spPr>
          <a:xfrm>
            <a:off x="1463040" y="4690872"/>
            <a:ext cx="713232" cy="182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300" name="Bar1 value"/>
          <p:cNvSpPr txBox="1"/>
          <p:nvPr/>
        </p:nvSpPr>
        <p:spPr>
          <a:xfrm>
            <a:off x="3886200" y="4645152"/>
            <a:ext cx="96012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12 / 40</a:t>
            </a:r>
          </a:p>
        </p:txBody>
      </p:sp>
      <p:sp>
        <p:nvSpPr>
          <p:cNvPr id="301" name="Bar2 label"/>
          <p:cNvSpPr txBox="1"/>
          <p:nvPr/>
        </p:nvSpPr>
        <p:spPr>
          <a:xfrm>
            <a:off x="640080" y="4983480"/>
            <a:ext cx="82296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GPU-hours</a:t>
            </a:r>
          </a:p>
        </p:txBody>
      </p:sp>
      <p:sp>
        <p:nvSpPr>
          <p:cNvPr id="302" name="Bar2 bg"/>
          <p:cNvSpPr/>
          <p:nvPr/>
        </p:nvSpPr>
        <p:spPr>
          <a:xfrm>
            <a:off x="1463040" y="5010912"/>
            <a:ext cx="2377440" cy="182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303" name="Bar2 fg"/>
          <p:cNvSpPr/>
          <p:nvPr/>
        </p:nvSpPr>
        <p:spPr>
          <a:xfrm>
            <a:off x="1463040" y="5010912"/>
            <a:ext cx="520935" cy="182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304" name="Bar2 value"/>
          <p:cNvSpPr txBox="1"/>
          <p:nvPr/>
        </p:nvSpPr>
        <p:spPr>
          <a:xfrm>
            <a:off x="3886200" y="4965192"/>
            <a:ext cx="96012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101 / 461</a:t>
            </a:r>
          </a:p>
        </p:txBody>
      </p:sp>
      <p:sp>
        <p:nvSpPr>
          <p:cNvPr id="305" name="Status text"/>
          <p:cNvSpPr txBox="1"/>
          <p:nvPr/>
        </p:nvSpPr>
        <p:spPr>
          <a:xfrm>
            <a:off x="640080" y="5285232"/>
            <a:ext cx="4114800" cy="4572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5000"/>
              </a:lnSpc>
              <a:buNone/>
              <a:defRPr/>
            </a:pPr>
            <a:r>
              <a:rPr kumimoji="1" lang="en-US" altLang="ko-KR" sz="10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Completion expected around Oct 21; the ratio is analysed once, after all 40 runs.</a:t>
            </a:r>
          </a:p>
        </p:txBody>
      </p:sp>
      <p:pic>
        <p:nvPicPr>
          <p:cNvPr id="306" name="Jung 2026 Fig 5b" descr="Li diffusivity vs 1000/T, Jung 2026 Fig. 5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3611880" cy="3207754"/>
          </a:xfrm>
          <a:prstGeom prst="rect">
            <a:avLst/>
          </a:prstGeom>
        </p:spPr>
      </p:pic>
      <p:sp>
        <p:nvSpPr>
          <p:cNvPr id="307" name="Caption right"/>
          <p:cNvSpPr txBox="1"/>
          <p:nvPr/>
        </p:nvSpPr>
        <p:spPr>
          <a:xfrm>
            <a:off x="4937760" y="4597642"/>
            <a:ext cx="3703320" cy="5029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Li diffusivity vs 1000/T in four LGPS-type compounds: the ordering changes between 700 and 1300 K &gt;</a:t>
            </a:r>
          </a:p>
        </p:txBody>
      </p:sp>
      <p:sp>
        <p:nvSpPr>
          <p:cNvPr id="308" name="Credit right"/>
          <p:cNvSpPr txBox="1"/>
          <p:nvPr/>
        </p:nvSpPr>
        <p:spPr>
          <a:xfrm>
            <a:off x="4937760" y="5100562"/>
            <a:ext cx="370332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5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Reproduced from Jung et al., eTransportation 28, 100570 (2026), Fig. 5b</a:t>
            </a:r>
          </a:p>
        </p:txBody>
      </p:sp>
      <p:sp>
        <p:nvSpPr>
          <p:cNvPr id="309" name="References"/>
          <p:cNvSpPr txBox="1"/>
          <p:nvPr/>
        </p:nvSpPr>
        <p:spPr>
          <a:xfrm>
            <a:off x="502920" y="5870448"/>
            <a:ext cx="8138160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Phuthi et al., Chem. Mater. (2026), Perspective · Jung et al., eTransportation 28, 100570 (2026)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310" name="Rectangle 4"/>
          <p:cNvSpPr txBox="1"/>
          <p:nvPr/>
        </p:nvSpPr>
        <p:spPr>
          <a:xfrm>
            <a:off x="557784" y="896112"/>
            <a:ext cx="8083296" cy="43891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0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Next steps and purpose</a:t>
            </a:r>
          </a:p>
        </p:txBody>
      </p:sp>
      <p:sp>
        <p:nvSpPr>
          <p:cNvPr id="311" name="Label Now → late Oct"/>
          <p:cNvSpPr/>
          <p:nvPr/>
        </p:nvSpPr>
        <p:spPr>
          <a:xfrm>
            <a:off x="502920" y="141732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250" b="1" dirty="0">
                <a:solidFill>
                  <a:srgbClr val="FFFFFF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Now → late Oct</a:t>
            </a:r>
          </a:p>
        </p:txBody>
      </p:sp>
      <p:sp>
        <p:nvSpPr>
          <p:cNvPr id="312" name="Content Now → late Oct"/>
          <p:cNvSpPr/>
          <p:nvPr/>
        </p:nvSpPr>
        <p:spPr>
          <a:xfrm>
            <a:off x="2194560" y="1417320"/>
            <a:ext cx="6446520" cy="8686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txBody>
          <a:bodyPr wrap="square" lIns="137160" tIns="54864" rIns="137160" bIns="54864" rtlCol="0" anchor="ctr">
            <a:noAutofit/>
          </a:bodyPr>
          <a:lstStyle/>
          <a:p>
            <a:pPr marL="0" indent="0" latinLnBrk="0">
              <a:lnSpc>
                <a:spcPct val="110000"/>
              </a:lnSpc>
              <a:buNone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Finish the 40 MD runs and analyse once with the predefined criteria. The follow-up for each outcome (difference · equivalent · inconclusive · criteria not met) is written down before the analysis.</a:t>
            </a:r>
          </a:p>
        </p:txBody>
      </p:sp>
      <p:sp>
        <p:nvSpPr>
          <p:cNvPr id="313" name="Label Next 1–2 months"/>
          <p:cNvSpPr/>
          <p:nvPr/>
        </p:nvSpPr>
        <p:spPr>
          <a:xfrm>
            <a:off x="502920" y="2395728"/>
            <a:ext cx="1600200" cy="1298448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250" b="1" dirty="0">
                <a:solidFill>
                  <a:srgbClr val="FFFFFF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Next 1–2 months</a:t>
            </a:r>
          </a:p>
        </p:txBody>
      </p:sp>
      <p:sp>
        <p:nvSpPr>
          <p:cNvPr id="314" name="Content Next 1–2 months"/>
          <p:cNvSpPr/>
          <p:nvPr/>
        </p:nvSpPr>
        <p:spPr>
          <a:xfrm>
            <a:off x="2194560" y="2395728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txBody>
          <a:bodyPr wrap="square" lIns="137160" tIns="54864" rIns="137160" bIns="54864" rtlCol="0" anchor="ctr">
            <a:noAutofit/>
          </a:bodyPr>
          <a:lstStyle/>
          <a:p>
            <a:pPr marL="182880" indent="-182880" latinLnBrk="0">
              <a:lnSpc>
                <a:spcPct val="105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Execution scope over the 237-design roster and the ranking margin δ — fixed before any result</a:t>
            </a:r>
          </a:p>
          <a:p>
            <a:pPr marL="182880" indent="-182880" latinLnBrk="0">
              <a:lnSpc>
                <a:spcPct val="105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Do Stage-1 descriptors predict the measured transport? (rank correlation with a confidence interval)</a:t>
            </a:r>
          </a:p>
          <a:p>
            <a:pPr marL="182880" indent="-182880" latinLnBrk="0">
              <a:lnSpc>
                <a:spcPct val="105000"/>
              </a:lnSpc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Stability windows and interface products with ground-state phases (As₂S₃ added) · DFT elastic constants</a:t>
            </a:r>
          </a:p>
        </p:txBody>
      </p:sp>
      <p:sp>
        <p:nvSpPr>
          <p:cNvPr id="315" name="Label Then"/>
          <p:cNvSpPr/>
          <p:nvPr/>
        </p:nvSpPr>
        <p:spPr>
          <a:xfrm>
            <a:off x="502920" y="3785616"/>
            <a:ext cx="1600200" cy="731520"/>
          </a:xfrm>
          <a:prstGeom prst="roundRect">
            <a:avLst>
              <a:gd name="adj" fmla="val 6000"/>
            </a:avLst>
          </a:prstGeom>
          <a:solidFill>
            <a:srgbClr val="A50021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250" b="1" dirty="0">
                <a:solidFill>
                  <a:srgbClr val="FFFFFF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Then</a:t>
            </a:r>
          </a:p>
        </p:txBody>
      </p:sp>
      <p:sp>
        <p:nvSpPr>
          <p:cNvPr id="316" name="Content Then"/>
          <p:cNvSpPr/>
          <p:nvPr/>
        </p:nvSpPr>
        <p:spPr>
          <a:xfrm>
            <a:off x="2194560" y="3785616"/>
            <a:ext cx="6446520" cy="7315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txBody>
          <a:bodyPr wrap="square" lIns="137160" tIns="54864" rIns="137160" bIns="54864" rtlCol="0" anchor="ctr">
            <a:noAutofit/>
          </a:bodyPr>
          <a:lstStyle/>
          <a:p>
            <a:pPr marL="0" indent="0" latinLnBrk="0">
              <a:lnSpc>
                <a:spcPct val="110000"/>
              </a:lnSpc>
              <a:buNone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Rank designs on the primary readout with its uncertainty → shortlist → DFT validation → synthesis and testing with the experimental team.</a:t>
            </a:r>
          </a:p>
        </p:txBody>
      </p:sp>
      <p:sp>
        <p:nvSpPr>
          <p:cNvPr id="317" name="Label Method upgrades"/>
          <p:cNvSpPr/>
          <p:nvPr/>
        </p:nvSpPr>
        <p:spPr>
          <a:xfrm>
            <a:off x="502920" y="4626864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>
            <a:noFill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250" b="1" dirty="0">
                <a:solidFill>
                  <a:srgbClr val="FFFFFF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Method upgrades</a:t>
            </a:r>
          </a:p>
        </p:txBody>
      </p:sp>
      <p:sp>
        <p:nvSpPr>
          <p:cNvPr id="318" name="Content Method upgrades"/>
          <p:cNvSpPr/>
          <p:nvPr/>
        </p:nvSpPr>
        <p:spPr>
          <a:xfrm>
            <a:off x="2194560" y="4626864"/>
            <a:ext cx="6446520" cy="8686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</p:spPr>
        <p:txBody>
          <a:bodyPr wrap="square" lIns="137160" tIns="54864" rIns="137160" bIns="54864" rtlCol="0" anchor="ctr">
            <a:noAutofit/>
          </a:bodyPr>
          <a:lstStyle/>
          <a:p>
            <a:pPr marL="0" indent="0" latinLnBrk="0">
              <a:lnSpc>
                <a:spcPct val="110000"/>
              </a:lnSpc>
              <a:buNone/>
              <a:defRPr/>
            </a:pPr>
            <a:r>
              <a:rPr kumimoji="1" lang="en-US" altLang="ko-KR" sz="12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Larger cells (≥ 2 nm) and longer runs (≥ 0.3 ns) · fine-tuned MLIP · ensemble uncertainty · dopant concentration from charge-neutral defect thermodynamics</a:t>
            </a:r>
          </a:p>
        </p:txBody>
      </p:sp>
      <p:sp>
        <p:nvSpPr>
          <p:cNvPr id="319" name="Goal"/>
          <p:cNvSpPr txBox="1"/>
          <p:nvPr/>
        </p:nvSpPr>
        <p:spPr>
          <a:xfrm>
            <a:off x="502920" y="5559552"/>
            <a:ext cx="8138160" cy="32918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2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Goal: a screen that </a:t>
            </a:r>
            <a:r>
              <a:rPr kumimoji="1" lang="en-US" altLang="ko-KR" sz="125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selects</a:t>
            </a:r>
            <a:r>
              <a:rPr kumimoji="1" lang="en-US" altLang="ko-KR" sz="12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the precursor, with the selection rule stated in advance.</a:t>
            </a:r>
          </a:p>
        </p:txBody>
      </p:sp>
      <p:sp>
        <p:nvSpPr>
          <p:cNvPr id="320" name="References"/>
          <p:cNvSpPr txBox="1"/>
          <p:nvPr/>
        </p:nvSpPr>
        <p:spPr>
          <a:xfrm>
            <a:off x="502920" y="5961888"/>
            <a:ext cx="8138160" cy="32918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Phuthi, Chem. Mater. (2026) · Muy, Chem. Mater. 37, 2395 (2025) · Alghamdi, J. Phys. Energy 8, 025013 (2026) · Grasselli, Digital Discovery 4, 2654 (2025)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21" name="Summary Done"/>
          <p:cNvSpPr/>
          <p:nvPr/>
        </p:nvSpPr>
        <p:spPr>
          <a:xfrm>
            <a:off x="502920" y="1051560"/>
            <a:ext cx="2651760" cy="3977640"/>
          </a:xfrm>
          <a:prstGeom prst="roundRect">
            <a:avLst>
              <a:gd name="adj" fmla="val 6000"/>
            </a:avLst>
          </a:prstGeom>
          <a:solidFill>
            <a:srgbClr val="E8F3EA"/>
          </a:solidFill>
          <a:ln>
            <a:noFill/>
          </a:ln>
        </p:spPr>
        <p:txBody>
          <a:bodyPr wrap="square" lIns="146304" tIns="128016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900"/>
              </a:spcAft>
              <a:buNone/>
              <a:defRPr/>
            </a:pPr>
            <a:r>
              <a:rPr kumimoji="1" lang="en-US" altLang="ko-KR" sz="1800" b="1" dirty="0">
                <a:solidFill>
                  <a:srgbClr val="1B5E2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Done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1: all 91 precursors enumerated and relaxed (3,675 configurations)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DFT equation of state; stability windows recomputed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September audit → Stage-2 rules fixed before new results</a:t>
            </a:r>
          </a:p>
        </p:txBody>
      </p:sp>
      <p:sp>
        <p:nvSpPr>
          <p:cNvPr id="322" name="Summary Running"/>
          <p:cNvSpPr/>
          <p:nvPr/>
        </p:nvSpPr>
        <p:spPr>
          <a:xfrm>
            <a:off x="3310128" y="1051560"/>
            <a:ext cx="2651760" cy="3977640"/>
          </a:xfrm>
          <a:prstGeom prst="roundRect">
            <a:avLst>
              <a:gd name="adj" fmla="val 6000"/>
            </a:avLst>
          </a:prstGeom>
          <a:solidFill>
            <a:srgbClr val="E3EEF9"/>
          </a:solidFill>
          <a:ln>
            <a:noFill/>
          </a:ln>
        </p:spPr>
        <p:txBody>
          <a:bodyPr wrap="square" lIns="146304" tIns="128016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900"/>
              </a:spcAft>
              <a:buNone/>
              <a:defRPr/>
            </a:pPr>
            <a:r>
              <a:rPr kumimoji="1" lang="en-US" altLang="ko-KR" sz="1800" b="1" dirty="0">
                <a:solidFill>
                  <a:srgbClr val="0B5394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Running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Stage-2 pilot: Li diffusivity ratio, Al₂O₃ vs Al₂S₃ (40 runs; ~Oct 21)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DFT elastic constants</a:t>
            </a:r>
          </a:p>
        </p:txBody>
      </p:sp>
      <p:sp>
        <p:nvSpPr>
          <p:cNvPr id="323" name="Summary Next"/>
          <p:cNvSpPr/>
          <p:nvPr/>
        </p:nvSpPr>
        <p:spPr>
          <a:xfrm>
            <a:off x="6117336" y="1051560"/>
            <a:ext cx="2651760" cy="39776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46304" tIns="128016" rIns="146304" bIns="91440" rtlCol="0" anchor="t">
            <a:noAutofit/>
          </a:bodyPr>
          <a:lstStyle/>
          <a:p>
            <a:pPr marL="0" indent="0" latinLnBrk="0">
              <a:lnSpc>
                <a:spcPct val="100000"/>
              </a:lnSpc>
              <a:spcAft>
                <a:spcPts val="900"/>
              </a:spcAft>
              <a:buNone/>
              <a:defRPr/>
            </a:pPr>
            <a:r>
              <a:rPr kumimoji="1" lang="en-US" altLang="ko-KR" sz="1800" b="1" dirty="0">
                <a:solidFill>
                  <a:srgbClr val="37415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Next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Execution scope and ranking margin, fixed in advance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Check Stage-1 descriptors against the measured transport</a:t>
            </a:r>
          </a:p>
          <a:p>
            <a:pPr marL="182880" indent="-182880" latinLnBrk="0">
              <a:lnSpc>
                <a:spcPct val="115000"/>
              </a:lnSpc>
              <a:spcAft>
                <a:spcPts val="700"/>
              </a:spcAft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Shortlist → DFT → experiment</a:t>
            </a:r>
          </a:p>
        </p:txBody>
      </p:sp>
      <p:sp>
        <p:nvSpPr>
          <p:cNvPr id="324" name="Bottom line"/>
          <p:cNvSpPr txBox="1"/>
          <p:nvPr/>
        </p:nvSpPr>
        <p:spPr>
          <a:xfrm>
            <a:off x="502920" y="5257800"/>
            <a:ext cx="8138160" cy="5029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 dopant ranking is claimed yet — </a:t>
            </a:r>
            <a:r>
              <a:rPr kumimoji="1" lang="en-US" altLang="ko-KR" sz="1500" b="1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 screen proposes, predefined tests decide.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25" name="Refs left"/>
          <p:cNvSpPr txBox="1"/>
          <p:nvPr/>
        </p:nvSpPr>
        <p:spPr>
          <a:xfrm>
            <a:off x="457200" y="914400"/>
            <a:ext cx="4069080" cy="53492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Motivation and screening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[1] Kang et al., Chem. Commun. 62, 10277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[2] Xiao et al., Joule 3, 1252 (2019)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[3] Kahle et al., Energy Environ. Sci. 13, 928 (2020)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[4] Sendek et al., Energy Environ. Sci. 10, 306 (2017)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[5] Miara et al., Chem. Mater. 27, 4040 (2015)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[6] Anderson et al., Adv. Energy Mater. 14, 2304025 (2024)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[7] Lee et al., J. Mater. Chem. A 12, 7272 (2024)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[8] Jung et al., eTransportation 28, 100570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[9] Park et al., Adv. Sci. 2026, e76305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[10] Muy et al., Chem. Mater. 37, 2395 (2025)</a:t>
            </a:r>
          </a:p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Precursor-derived co-doping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[11] Taklu et al., Nano Energy 90, 106542 (2021)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[12] Liu et al., Angew. Chem. Int. Ed. 62, e202302655 (2023)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[13] Jang et al., J. Alloys Compd. 957, 170273 (2023)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[14] Yang et al., Electrochim. Acta 535, 146619 (2025)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[15] Xu et al., Nano Energy 157, 112246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[16] Jung et al., Adv. Funct. Mater. (2026), doi:10.1002/adfm.78249</a:t>
            </a:r>
          </a:p>
        </p:txBody>
      </p:sp>
      <p:sp>
        <p:nvSpPr>
          <p:cNvPr id="326" name="Refs right"/>
          <p:cNvSpPr txBox="1"/>
          <p:nvPr/>
        </p:nvSpPr>
        <p:spPr>
          <a:xfrm>
            <a:off x="4617720" y="914400"/>
            <a:ext cx="4069080" cy="53492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Methods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[17] Wood et al. (UMA), arXiv:2506.23971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[18] Rao et al., Phys. Status Solidi A 208, 1804 (2011)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[19] Deng et al., J. Electrochem. Soc. 163, A67 (2016)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[20] Torii et al., J. Phys. Chem. C 129, 17882 (2025)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[21] Zhu et al., ACS Appl. Mater. Interfaces 7, 23685 (2015)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[22] Richards et al., Chem. Mater. 28, 266 (2016)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[23] Xiao et al., Nat. Rev. Mater. 5, 105 (2020)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[24] Schwietert et al., Nat. Mater. 19, 428 (2020)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[25] Schwietert et al., JACS Au 1, 1488 (2021)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[26] Sundar et al., Adv. Sci. 12, e13191 (2025)</a:t>
            </a:r>
          </a:p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Transport statistics and limits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[27] He et al., npj Comput. Mater. 4, 18 (2018)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[28] Phuthi et al., Chem. Mater. (2026), Perspective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[29] Marcolongo et al., Phys. Rev. Materials 1, 025402 (2017)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[30] Alghamdi et al., J. Phys. Energy 8, 025013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[31] Grasselli et al., Digital Discovery 4, 2654 (2025)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6AFE5361305704485C7D500A4632ABE" ma:contentTypeVersion="11" ma:contentTypeDescription="새 문서를 만듭니다." ma:contentTypeScope="" ma:versionID="ee2f9e464ea0d9b90a4fba868166d8d5">
  <xsd:schema xmlns:xsd="http://www.w3.org/2001/XMLSchema" xmlns:xs="http://www.w3.org/2001/XMLSchema" xmlns:p="http://schemas.microsoft.com/office/2006/metadata/properties" xmlns:ns3="8618cbce-88c9-49f3-9f20-59c1fddbfdd1" targetNamespace="http://schemas.microsoft.com/office/2006/metadata/properties" ma:root="true" ma:fieldsID="d2e4f78982f91351a718f3a14bdce4a6" ns3:_="">
    <xsd:import namespace="8618cbce-88c9-49f3-9f20-59c1fddbfd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8cbce-88c9-49f3-9f20-59c1fddbf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A4CB31-0D99-4B37-8F6C-83B70069D72B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8618cbce-88c9-49f3-9f20-59c1fddbfdd1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12DA5A3-25CB-4F0F-8A4E-1A578D020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8cbce-88c9-49f3-9f20-59c1fddbf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27F94D-CF2A-433F-BFD9-BDAC2A5C0A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51965</TotalTime>
  <Words>1665</Words>
  <Application>Microsoft Office PowerPoint</Application>
  <PresentationFormat>화면 슬라이드 쇼(4:3)</PresentationFormat>
  <Paragraphs>209</Paragraphs>
  <Slides>19</Slides>
  <Notes>17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용훈 안</cp:lastModifiedBy>
  <cp:revision>3212</cp:revision>
  <cp:lastPrinted>2026-06-12T05:34:39Z</cp:lastPrinted>
  <dcterms:created xsi:type="dcterms:W3CDTF">2013-09-11T08:33:43Z</dcterms:created>
  <dcterms:modified xsi:type="dcterms:W3CDTF">2026-10-12T16:00:45Z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0x010100A6AFE5361305704485C7D500A4632ABE</vt:lpwstr>
  </property>
</Properties>
</file>