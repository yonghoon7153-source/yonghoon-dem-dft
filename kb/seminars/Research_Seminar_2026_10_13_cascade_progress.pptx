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16,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coating layer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Joule 3, 1252 (2019)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9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50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1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2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3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Amorphous interphase in Li₂S composite cathodes: glass model, DFT-checked MLIP, MLIP-MD — with a collaborator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 with one primary readout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MLIP-MD Li diffusivity,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237-design roster and the ranking margin, fixed in advance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whether Stage-1 descriptors predict the measured transport</a:t>
            </a:r>
          </a:p>
          <a:p>
            <a:pPr marL="182880" indent="-182880" latinLnBrk="0">
              <a:lnSpc>
                <a:spcPct val="110000"/>
              </a:lnSpc>
              <a:spcAft>
                <a:spcPts val="3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Stage-1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— exploration screen (Jun–Aug):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367588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precursor cation and anion on Li, P, S, Cl sites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3,675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693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 (Oct)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Interface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Reaction energy of each doped composition vs cathodes, Li metal, carbon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· products redo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47" name="Stage note"/>
          <p:cNvSpPr txBox="1"/>
          <p:nvPr/>
        </p:nvSpPr>
        <p:spPr>
          <a:xfrm>
            <a:off x="411480" y="5138928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were completed in an August re-run; As₂S₃ is not yet in the stability and interface tables (rows 6–7). Since the September audit these outputs are </a:t>
            </a:r>
            <a:r>
              <a:rPr kumimoji="1" lang="en-US" altLang="ko-KR" sz="11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Li transport is measured in Stage 2.</a:t>
            </a:r>
          </a:p>
        </p:txBody>
      </p:sp>
      <p:sp>
        <p:nvSpPr>
          <p:cNvPr id="248" name="Abbreviations"/>
          <p:cNvSpPr txBox="1"/>
          <p:nvPr/>
        </p:nvSpPr>
        <p:spPr>
          <a:xfrm>
            <a:off x="411480" y="5715000"/>
            <a:ext cx="832104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EOS: equation of state · all Stage-1 configurations use one dopant level (one precursor unit per four formula units)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5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6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the 90 precursors in the stability table with this definition (Oct); the earlier definition overestimated window widths.</a:t>
            </a:r>
          </a:p>
        </p:txBody>
      </p:sp>
      <p:sp>
        <p:nvSpPr>
          <p:cNvPr id="257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8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9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60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1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2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3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4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5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6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7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8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9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phase data: reaction energy of each doped composition against LiCoO₂, LiNiO₂, LiMn₂O₄, Li metal and carbon.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separate table treats the precursor itself as a second phase (coating view, as in the figure); its product band gaps are being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0).</a:t>
            </a:r>
          </a:p>
        </p:txBody>
      </p:sp>
      <p:sp>
        <p:nvSpPr>
          <p:cNvPr id="270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7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72" name="Audit findings"/>
          <p:cNvSpPr/>
          <p:nvPr/>
        </p:nvSpPr>
        <p:spPr>
          <a:xfrm>
            <a:off x="502920" y="1417320"/>
            <a:ext cx="3931920" cy="32918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What the audit of Stage 1 found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level: every configuration has one precursor unit per four formula units.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reference ~40 % above the DFT equilibrium volume of the same composition → Stage 2 builds from the DFT-equilibrium host.</a:t>
            </a:r>
          </a:p>
          <a:p>
            <a:pPr marL="182880" indent="-182880" latinLnBrk="0">
              <a:lnSpc>
                <a:spcPct val="108000"/>
              </a:lnSpc>
              <a:spcAft>
                <a:spcPts val="45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Young's modulus: scatter among configurations of one precursor ≈ spread between precursors (ratio 1.1; substitution energy 0.2).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into one score without a stated primary objective.</a:t>
            </a:r>
          </a:p>
        </p:txBody>
      </p:sp>
      <p:sp>
        <p:nvSpPr>
          <p:cNvPr id="273" name="Audit verdict"/>
          <p:cNvSpPr/>
          <p:nvPr/>
        </p:nvSpPr>
        <p:spPr>
          <a:xfrm>
            <a:off x="502920" y="4818888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Stage-1 outputs are kept as </a:t>
            </a:r>
            <a:r>
              <a:rPr kumimoji="1" lang="en-US" altLang="ko-KR" sz="115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150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approved dopant ranking: none.</a:t>
            </a:r>
          </a:p>
        </p:txBody>
      </p:sp>
      <p:sp>
        <p:nvSpPr>
          <p:cNvPr id="274" name="Rules title"/>
          <p:cNvSpPr txBox="1"/>
          <p:nvPr/>
        </p:nvSpPr>
        <p:spPr>
          <a:xfrm>
            <a:off x="4617720" y="1371600"/>
            <a:ext cx="4023360" cy="310896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any new result (Sep 12–19)</a:t>
            </a:r>
          </a:p>
        </p:txBody>
      </p:sp>
      <p:sp>
        <p:nvSpPr>
          <p:cNvPr id="275" name="Rule 1"/>
          <p:cNvSpPr/>
          <p:nvPr/>
        </p:nvSpPr>
        <p:spPr>
          <a:xfrm>
            <a:off x="4617720" y="1737360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Primary readout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D*(host): Li tracer diffusivity relative to the host, compared across designs</a:t>
            </a:r>
          </a:p>
        </p:txBody>
      </p:sp>
      <p:sp>
        <p:nvSpPr>
          <p:cNvPr id="276" name="Rule 1 status"/>
          <p:cNvSpPr/>
          <p:nvPr/>
        </p:nvSpPr>
        <p:spPr>
          <a:xfrm>
            <a:off x="7086600" y="1783080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7" name="Rule 2"/>
          <p:cNvSpPr/>
          <p:nvPr/>
        </p:nvSpPr>
        <p:spPr>
          <a:xfrm>
            <a:off x="4617720" y="2487168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designs; one design = one composition (file names are not identifiers)</a:t>
            </a:r>
          </a:p>
        </p:txBody>
      </p:sp>
      <p:sp>
        <p:nvSpPr>
          <p:cNvPr id="278" name="Rule 2 status"/>
          <p:cNvSpPr/>
          <p:nvPr/>
        </p:nvSpPr>
        <p:spPr>
          <a:xfrm>
            <a:off x="7086600" y="2532888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79" name="Rule 3"/>
          <p:cNvSpPr/>
          <p:nvPr/>
        </p:nvSpPr>
        <p:spPr>
          <a:xfrm>
            <a:off x="4617720" y="3236976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Parent sites fixed before substitution · full charge balance incl. vacancies · refusals counted separately</a:t>
            </a:r>
          </a:p>
        </p:txBody>
      </p:sp>
      <p:sp>
        <p:nvSpPr>
          <p:cNvPr id="280" name="Rule 3 status"/>
          <p:cNvSpPr/>
          <p:nvPr/>
        </p:nvSpPr>
        <p:spPr>
          <a:xfrm>
            <a:off x="7086600" y="3282696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1" name="Rule 4"/>
          <p:cNvSpPr/>
          <p:nvPr/>
        </p:nvSpPr>
        <p:spPr>
          <a:xfrm>
            <a:off x="4617720" y="3986784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configuration with the median substitution energy stands for its design</a:t>
            </a:r>
          </a:p>
        </p:txBody>
      </p:sp>
      <p:sp>
        <p:nvSpPr>
          <p:cNvPr id="282" name="Rule 4 status"/>
          <p:cNvSpPr/>
          <p:nvPr/>
        </p:nvSpPr>
        <p:spPr>
          <a:xfrm>
            <a:off x="7086600" y="4032504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E8F3EA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Ratified</a:t>
            </a:r>
          </a:p>
        </p:txBody>
      </p:sp>
      <p:sp>
        <p:nvSpPr>
          <p:cNvPr id="283" name="Rule 5"/>
          <p:cNvSpPr/>
          <p:nvPr/>
        </p:nvSpPr>
        <p:spPr>
          <a:xfrm>
            <a:off x="4617720" y="4736592"/>
            <a:ext cx="4023360" cy="6766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9D3E3"/>
            </a:solidFill>
          </a:ln>
        </p:spPr>
        <p:txBody>
          <a:bodyPr wrap="square" lIns="109728" tIns="45720" rIns="109728" bIns="4572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300"/>
              </a:spcAft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</a:t>
            </a:r>
          </a:p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How large a difference must be before one design is called better (δ)</a:t>
            </a:r>
          </a:p>
        </p:txBody>
      </p:sp>
      <p:sp>
        <p:nvSpPr>
          <p:cNvPr id="284" name="Rule 5 status"/>
          <p:cNvSpPr/>
          <p:nvPr/>
        </p:nvSpPr>
        <p:spPr>
          <a:xfrm>
            <a:off x="7086600" y="4782312"/>
            <a:ext cx="1481328" cy="21945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Proposed · δ open</a:t>
            </a:r>
          </a:p>
        </p:txBody>
      </p:sp>
      <p:sp>
        <p:nvSpPr>
          <p:cNvPr id="285" name="Scope note"/>
          <p:cNvSpPr txBox="1"/>
          <p:nvPr/>
        </p:nvSpPr>
        <p:spPr>
          <a:xfrm>
            <a:off x="502920" y="56235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runs: the execution scope is decided </a:t>
            </a:r>
            <a:r>
              <a:rPr kumimoji="1" lang="en-US" altLang="ko-KR" sz="12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after the pilot</a:t>
            </a:r>
            <a:r>
              <a:rPr kumimoji="1" lang="en-US" altLang="ko-KR" sz="12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the pilot tests the protocol on two Al precursors (next slides).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86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Li transport by MLIP molecular dynamics: setup</a:t>
            </a:r>
          </a:p>
        </p:txBody>
      </p:sp>
      <p:sp>
        <p:nvSpPr>
          <p:cNvPr id="287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 — and can the protocol resolve it?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88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89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90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91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2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293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— temperature choice, status and limits</a:t>
            </a:r>
          </a:p>
        </p:txBody>
      </p:sp>
      <p:sp>
        <p:nvSpPr>
          <p:cNvPr id="294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95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6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97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98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9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0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01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02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3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04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05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306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307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308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09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31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311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312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313" name="Label Next 1–2 months"/>
          <p:cNvSpPr/>
          <p:nvPr/>
        </p:nvSpPr>
        <p:spPr>
          <a:xfrm>
            <a:off x="502920" y="2395728"/>
            <a:ext cx="1600200" cy="1298448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314" name="Content Next 1–2 months"/>
          <p:cNvSpPr/>
          <p:nvPr/>
        </p:nvSpPr>
        <p:spPr>
          <a:xfrm>
            <a:off x="2194560" y="2395728"/>
            <a:ext cx="6446520" cy="129844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over the 237-design roster and the ranking margin δ — fixed before any result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the measured transport? (rank correlation with a confidence interval)</a:t>
            </a:r>
          </a:p>
          <a:p>
            <a:pPr marL="182880" indent="-182880" latinLnBrk="0">
              <a:lnSpc>
                <a:spcPct val="10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and interface products with ground-state phases (As₂S₃ added) · DFT elastic constants</a:t>
            </a:r>
          </a:p>
        </p:txBody>
      </p:sp>
      <p:sp>
        <p:nvSpPr>
          <p:cNvPr id="315" name="Label Then"/>
          <p:cNvSpPr/>
          <p:nvPr/>
        </p:nvSpPr>
        <p:spPr>
          <a:xfrm>
            <a:off x="502920" y="3785616"/>
            <a:ext cx="1600200" cy="73152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16" name="Content Then"/>
          <p:cNvSpPr/>
          <p:nvPr/>
        </p:nvSpPr>
        <p:spPr>
          <a:xfrm>
            <a:off x="2194560" y="3785616"/>
            <a:ext cx="6446520" cy="7315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designs on the primary readout with its uncertainty → shortlist → DFT validation → synthesis and testing with the experimental team.</a:t>
            </a:r>
          </a:p>
        </p:txBody>
      </p:sp>
      <p:sp>
        <p:nvSpPr>
          <p:cNvPr id="317" name="Label Method upgrades"/>
          <p:cNvSpPr/>
          <p:nvPr/>
        </p:nvSpPr>
        <p:spPr>
          <a:xfrm>
            <a:off x="502920" y="462686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18" name="Content Method upgrades"/>
          <p:cNvSpPr/>
          <p:nvPr/>
        </p:nvSpPr>
        <p:spPr>
          <a:xfrm>
            <a:off x="2194560" y="462686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19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20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21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all 91 precursors enumerated and relaxed (3,675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state; stability windows recomputed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Stage-2 rules fixed before new results</a:t>
            </a:r>
          </a:p>
        </p:txBody>
      </p:sp>
      <p:sp>
        <p:nvSpPr>
          <p:cNvPr id="322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Stage-2 pilot: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23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Execution scope and ranking margin, fixed in advance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Check Stage-1 descriptors against the measured transport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→ experiment</a:t>
            </a:r>
          </a:p>
        </p:txBody>
      </p:sp>
      <p:sp>
        <p:nvSpPr>
          <p:cNvPr id="324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25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326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