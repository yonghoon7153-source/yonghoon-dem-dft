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2922" y="2395728"/>
          <a:ext cx="8238157" cy="140817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94866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1937101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166441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05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05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work: what dopant screens vary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place one element on a site, or screen hostless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one cation and one anion site at once.</a:t>
            </a:r>
          </a:p>
        </p:txBody>
      </p:sp>
      <p:sp>
        <p:nvSpPr>
          <p:cNvPr id="241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  <p:sp>
        <p:nvSpPr>
          <p:cNvPr id="242" name="Related screens"/>
          <p:cNvSpPr txBox="1"/>
          <p:nvPr/>
        </p:nvSpPr>
        <p:spPr>
          <a:xfrm>
            <a:off x="548640" y="4462272"/>
            <a:ext cx="8092440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5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Related screens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Holistic screening of Li-ion conductors (Sendek 2017) and high-throughput MD (Kahle 2020)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Dual-dopant screening of LGPS-type conductors (Jung 2026) · ML interface-stability screening (Park 2026)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Site-resolved dopant defect thermodynamics in argyrodites (Muy 2025)</a:t>
            </a:r>
          </a:p>
        </p:txBody>
      </p:sp>
      <p:sp>
        <p:nvSpPr>
          <p:cNvPr id="243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Energy Environ. Sci. 10, 306 (2017) · Energy Environ. Sci. 13, 928 (2020) · eTransportation 28, 100570 (2026) · Adv. Sci. 2026, e76305 · Chem. Mater. 37, 2395 (2025)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286000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3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role in the design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strong M–O bonds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the host already has Cl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same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as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the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host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strongest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bonds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mobility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risk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larger halide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higher anion charge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largest halide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Candidate set: 91 precursor compounds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+6, anions O²⁻ to I⁻; only existing compounds are used.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relaxed — As₂S₃ and AlI₃ were completed in an August re-run.</a:t>
            </a:r>
          </a:p>
        </p:txBody>
      </p:sp>
      <p:sp>
        <p:nvSpPr>
          <p:cNvPr id="244" name="References"/>
          <p:cNvSpPr txBox="1"/>
          <p:nvPr/>
        </p:nvSpPr>
        <p:spPr>
          <a:xfrm>
            <a:off x="502920" y="5230368"/>
            <a:ext cx="8138160" cy="7315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 of argyrodites: CuCl — Taklu, Nano Energy 90, 106542 (2021) · MgF₂ — Liu, Angew. Chem. Int. Ed. 62, e202302655 (2023) · ZnO — Jang, J. Alloys Compd. 957, 170273 (2023) · La₂O₃ — Yang, Electrochim. Acta 535, 146619 (2025) · Nd₂O₃ — Xu, Nano Energy 157, 112246 (2026)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each structure out of its local minimum.</a:t>
            </a:r>
          </a:p>
        </p:txBody>
      </p:sp>
      <p:pic>
        <p:nvPicPr>
          <p:cNvPr id="249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77440"/>
            <a:ext cx="4206240" cy="2028299"/>
          </a:xfrm>
          <a:prstGeom prst="rect">
            <a:avLst/>
          </a:prstGeom>
        </p:spPr>
      </p:pic>
      <p:sp>
        <p:nvSpPr>
          <p:cNvPr id="250" name="Caption left"/>
          <p:cNvSpPr txBox="1"/>
          <p:nvPr/>
        </p:nvSpPr>
        <p:spPr>
          <a:xfrm>
            <a:off x="457200" y="4424027"/>
            <a:ext cx="42062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51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377440"/>
            <a:ext cx="3291840" cy="2427808"/>
          </a:xfrm>
          <a:prstGeom prst="rect">
            <a:avLst/>
          </a:prstGeom>
        </p:spPr>
      </p:pic>
      <p:sp>
        <p:nvSpPr>
          <p:cNvPr id="252" name="Caption right"/>
          <p:cNvSpPr txBox="1"/>
          <p:nvPr/>
        </p:nvSpPr>
        <p:spPr>
          <a:xfrm>
            <a:off x="4983480" y="4823536"/>
            <a:ext cx="3566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  <p:sp>
        <p:nvSpPr>
          <p:cNvPr id="253" name="Bottom note"/>
          <p:cNvSpPr txBox="1"/>
          <p:nvPr/>
        </p:nvSpPr>
        <p:spPr>
          <a:xfrm>
            <a:off x="502920" y="566928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Configurations of the same precursor can differ as much as different precursors for some descriptors →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 are used for exploration, not for ranking.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20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 — the experience behind this screening</a:t>
            </a:r>
          </a:p>
        </p:txBody>
      </p:sp>
      <p:sp>
        <p:nvSpPr>
          <p:cNvPr id="202" name="Tile 1"/>
          <p:cNvSpPr/>
          <p:nvPr/>
        </p:nvSpPr>
        <p:spPr>
          <a:xfrm>
            <a:off x="457200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3" name="Tile 1 title"/>
          <p:cNvSpPr txBox="1"/>
          <p:nvPr/>
        </p:nvSpPr>
        <p:spPr>
          <a:xfrm>
            <a:off x="512064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4" name="Tile 1 figure"/>
          <p:cNvSpPr/>
          <p:nvPr/>
        </p:nvSpPr>
        <p:spPr>
          <a:xfrm>
            <a:off x="548640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5" name="Tile 1 text"/>
          <p:cNvSpPr txBox="1"/>
          <p:nvPr/>
        </p:nvSpPr>
        <p:spPr>
          <a:xfrm>
            <a:off x="512064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gap (fixed-occupation NSCF), EOS, elastic constants — reference for every doped model</a:t>
            </a:r>
          </a:p>
        </p:txBody>
      </p:sp>
      <p:sp>
        <p:nvSpPr>
          <p:cNvPr id="206" name="Tile 2"/>
          <p:cNvSpPr/>
          <p:nvPr/>
        </p:nvSpPr>
        <p:spPr>
          <a:xfrm>
            <a:off x="2542032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7" name="Tile 2 title"/>
          <p:cNvSpPr txBox="1"/>
          <p:nvPr/>
        </p:nvSpPr>
        <p:spPr>
          <a:xfrm>
            <a:off x="2596896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8" name="Tile 2 figure"/>
          <p:cNvSpPr/>
          <p:nvPr/>
        </p:nvSpPr>
        <p:spPr>
          <a:xfrm>
            <a:off x="2633472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2 text"/>
          <p:cNvSpPr txBox="1"/>
          <p:nvPr/>
        </p:nvSpPr>
        <p:spPr>
          <a:xfrm>
            <a:off x="2596896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edges (Nd 5d vs 4f), −ICOHP bonding, cathode-interface (CEI) models — with the experimental team</a:t>
            </a:r>
          </a:p>
        </p:txBody>
      </p:sp>
      <p:sp>
        <p:nvSpPr>
          <p:cNvPr id="210" name="Tile 3"/>
          <p:cNvSpPr/>
          <p:nvPr/>
        </p:nvSpPr>
        <p:spPr>
          <a:xfrm>
            <a:off x="4626864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1" name="Tile 3 title"/>
          <p:cNvSpPr txBox="1"/>
          <p:nvPr/>
        </p:nvSpPr>
        <p:spPr>
          <a:xfrm>
            <a:off x="4681728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12" name="Tile 3 figure"/>
          <p:cNvSpPr/>
          <p:nvPr/>
        </p:nvSpPr>
        <p:spPr>
          <a:xfrm>
            <a:off x="4718304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3" name="Tile 3 text"/>
          <p:cNvSpPr txBox="1"/>
          <p:nvPr/>
        </p:nvSpPr>
        <p:spPr>
          <a:xfrm>
            <a:off x="4681728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Equation of state, bond-valence Li pathways, MLIP-MD Li transport (multi-seed, relative)</a:t>
            </a:r>
          </a:p>
        </p:txBody>
      </p:sp>
      <p:sp>
        <p:nvSpPr>
          <p:cNvPr id="214" name="Tile 4"/>
          <p:cNvSpPr/>
          <p:nvPr/>
        </p:nvSpPr>
        <p:spPr>
          <a:xfrm>
            <a:off x="6711696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5" name="Tile 4 title"/>
          <p:cNvSpPr txBox="1"/>
          <p:nvPr/>
        </p:nvSpPr>
        <p:spPr>
          <a:xfrm>
            <a:off x="6766560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6" name="Tile 4 figure"/>
          <p:cNvSpPr/>
          <p:nvPr/>
        </p:nvSpPr>
        <p:spPr>
          <a:xfrm>
            <a:off x="6803136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7" name="Tile 4 text"/>
          <p:cNvSpPr txBox="1"/>
          <p:nvPr/>
        </p:nvSpPr>
        <p:spPr>
          <a:xfrm>
            <a:off x="6766560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adsorption and migration (NEB) on h-BN-coated VGCF; layer-number (confinement) effect</a:t>
            </a:r>
          </a:p>
        </p:txBody>
      </p:sp>
      <p:sp>
        <p:nvSpPr>
          <p:cNvPr id="218" name="Tile 5"/>
          <p:cNvSpPr/>
          <p:nvPr/>
        </p:nvSpPr>
        <p:spPr>
          <a:xfrm>
            <a:off x="457200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9" name="Tile 5 title"/>
          <p:cNvSpPr txBox="1"/>
          <p:nvPr/>
        </p:nvSpPr>
        <p:spPr>
          <a:xfrm>
            <a:off x="512064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20" name="Tile 5 figure"/>
          <p:cNvSpPr/>
          <p:nvPr/>
        </p:nvSpPr>
        <p:spPr>
          <a:xfrm>
            <a:off x="548640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5 text"/>
          <p:cNvSpPr txBox="1"/>
          <p:nvPr/>
        </p:nvSpPr>
        <p:spPr>
          <a:xfrm>
            <a:off x="512064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migration barriers (NEB); universal MLIP found biased for Li₃N → DFT only</a:t>
            </a:r>
          </a:p>
        </p:txBody>
      </p:sp>
      <p:sp>
        <p:nvSpPr>
          <p:cNvPr id="222" name="Tile 6"/>
          <p:cNvSpPr/>
          <p:nvPr/>
        </p:nvSpPr>
        <p:spPr>
          <a:xfrm>
            <a:off x="2542032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3" name="Tile 6 title"/>
          <p:cNvSpPr txBox="1"/>
          <p:nvPr/>
        </p:nvSpPr>
        <p:spPr>
          <a:xfrm>
            <a:off x="2596896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 (SEI component)</a:t>
            </a:r>
          </a:p>
        </p:txBody>
      </p:sp>
      <p:sp>
        <p:nvSpPr>
          <p:cNvPr id="224" name="Tile 6 figure"/>
          <p:cNvSpPr/>
          <p:nvPr/>
        </p:nvSpPr>
        <p:spPr>
          <a:xfrm>
            <a:off x="2633472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5" name="Tile 6 text"/>
          <p:cNvSpPr txBox="1"/>
          <p:nvPr/>
        </p:nvSpPr>
        <p:spPr>
          <a:xfrm>
            <a:off x="2596896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Li-vacancy migration barrier (NEB, charged cell) and supercell-size convergence</a:t>
            </a:r>
          </a:p>
        </p:txBody>
      </p:sp>
      <p:sp>
        <p:nvSpPr>
          <p:cNvPr id="226" name="Tile 7"/>
          <p:cNvSpPr/>
          <p:nvPr/>
        </p:nvSpPr>
        <p:spPr>
          <a:xfrm>
            <a:off x="4626864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7" name="Tile 7 title"/>
          <p:cNvSpPr txBox="1"/>
          <p:nvPr/>
        </p:nvSpPr>
        <p:spPr>
          <a:xfrm>
            <a:off x="4681728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8" name="Tile 7 figure"/>
          <p:cNvSpPr/>
          <p:nvPr/>
        </p:nvSpPr>
        <p:spPr>
          <a:xfrm>
            <a:off x="4718304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9" name="Tile 7 text"/>
          <p:cNvSpPr txBox="1"/>
          <p:nvPr/>
        </p:nvSpPr>
        <p:spPr>
          <a:xfrm>
            <a:off x="4681728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Work of adhesion of SE|SE and SE|graphite interfaces (slab DFT, MLIP cross-check) → contact input for DEM</a:t>
            </a:r>
          </a:p>
        </p:txBody>
      </p:sp>
      <p:sp>
        <p:nvSpPr>
          <p:cNvPr id="230" name="Tile 8"/>
          <p:cNvSpPr/>
          <p:nvPr/>
        </p:nvSpPr>
        <p:spPr>
          <a:xfrm>
            <a:off x="6711696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1" name="Tile 8 title"/>
          <p:cNvSpPr txBox="1"/>
          <p:nvPr/>
        </p:nvSpPr>
        <p:spPr>
          <a:xfrm>
            <a:off x="6766560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adsorption (SDCP)</a:t>
            </a:r>
          </a:p>
        </p:txBody>
      </p:sp>
      <p:sp>
        <p:nvSpPr>
          <p:cNvPr id="232" name="Tile 8 figure"/>
          <p:cNvSpPr/>
          <p:nvPr/>
        </p:nvSpPr>
        <p:spPr>
          <a:xfrm>
            <a:off x="6803136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33" name="Tile 8 text"/>
          <p:cNvSpPr txBox="1"/>
          <p:nvPr/>
        </p:nvSpPr>
        <p:spPr>
          <a:xfrm>
            <a:off x="6766560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Spin-state-resolved adsorption of a binder molecule on LiNiO₂ surfaces</a:t>
            </a:r>
          </a:p>
        </p:txBody>
      </p:sp>
      <p:sp>
        <p:nvSpPr>
          <p:cNvPr id="234" name="Carried over"/>
          <p:cNvSpPr txBox="1"/>
          <p:nvPr/>
        </p:nvSpPr>
        <p:spPr>
          <a:xfrm>
            <a:off x="457200" y="5897880"/>
            <a:ext cx="822960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Carried into this work:</a:t>
            </a:r>
            <a:r>
              <a:rPr kumimoji="1" lang="en-US" altLang="ko-KR" sz="11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DFT EOS/elastic · band-edge analysis · bond-valence maps · MLIP-MD protocol (multi-seed, relative) · NEB · grand-potential stability · interface energetics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3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work: purpose, what has run, what comes next</a:t>
            </a:r>
          </a:p>
        </p:txBody>
      </p:sp>
      <p:sp>
        <p:nvSpPr>
          <p:cNvPr id="236" name="Card Purpose"/>
          <p:cNvSpPr/>
          <p:nvPr/>
        </p:nvSpPr>
        <p:spPr>
          <a:xfrm>
            <a:off x="502920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Purpose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 dopant precursors for Li₆PS₅Cl that raise electrochemical and mechanical stability without slowing Li-ion transport.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Let the computation make the selection, with the selection rule stated in advance.</a:t>
            </a:r>
          </a:p>
        </p:txBody>
      </p:sp>
      <p:sp>
        <p:nvSpPr>
          <p:cNvPr id="237" name="Card Completed"/>
          <p:cNvSpPr/>
          <p:nvPr/>
        </p:nvSpPr>
        <p:spPr>
          <a:xfrm>
            <a:off x="4636008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 with one primary readout</a:t>
            </a:r>
          </a:p>
        </p:txBody>
      </p:sp>
      <p:sp>
        <p:nvSpPr>
          <p:cNvPr id="238" name="Card Running"/>
          <p:cNvSpPr/>
          <p:nvPr/>
        </p:nvSpPr>
        <p:spPr>
          <a:xfrm>
            <a:off x="502920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8F4FB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MLIP-MD Li diffusivity, Al₂O₃- vs Al₂S₃-derived doping (12 of 40 runs)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 of the reference compositions</a:t>
            </a:r>
          </a:p>
        </p:txBody>
      </p:sp>
      <p:sp>
        <p:nvSpPr>
          <p:cNvPr id="239" name="Card Next"/>
          <p:cNvSpPr/>
          <p:nvPr/>
        </p:nvSpPr>
        <p:spPr>
          <a:xfrm>
            <a:off x="4636008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Scope over the 237-design roster and the ranking margin, fixed in advance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whether Stage-1 descriptors predict the measured transport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validation → experiments</a:t>
            </a:r>
          </a:p>
        </p:txBody>
      </p:sp>
      <p:sp>
        <p:nvSpPr>
          <p:cNvPr id="240" name="Status note"/>
          <p:cNvSpPr txBox="1"/>
          <p:nvPr/>
        </p:nvSpPr>
        <p:spPr>
          <a:xfrm>
            <a:off x="502920" y="5833872"/>
            <a:ext cx="813816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Stage-1 descriptors are used for exploration; </a:t>
            </a: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24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— exploration screen (Jun–Aug): workflow and status</a:t>
            </a:r>
          </a:p>
        </p:txBody>
      </p:sp>
      <p:graphicFrame>
        <p:nvGraphicFramePr>
          <p:cNvPr id="246" name="Workflow table"/>
          <p:cNvGraphicFramePr>
            <a:graphicFrameLocks noGrp="1"/>
          </p:cNvGraphicFramePr>
          <p:nvPr/>
        </p:nvGraphicFramePr>
        <p:xfrm>
          <a:off x="411480" y="1389888"/>
          <a:ext cx="8321040" cy="367588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20040"/>
                <a:gridCol w="1554480"/>
                <a:gridCol w="3429000"/>
                <a:gridCol w="1600200"/>
                <a:gridCol w="1417320"/>
              </a:tblGrid>
              <a:tr h="347472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Scale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Site enumeration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Charge-balanced placement of precursor cation and anion on Li, P, S, Cl sites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Universal MLIP (UMA), FIRE optimizer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3,675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Short anneal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MLIP-MD at 500 K for 50 ps, then re-relaxation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693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Li-site landscape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Bond-valence site energy (softBV)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per precursor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(structural proxy)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/ elastic constants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DFT (Quantum ESPRESSO): Birch–Murnaghan fit; finite strains with ionic 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reference compositions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done · C</a:t>
                      </a:r>
                      <a:r>
                        <a:rPr kumimoji="1" lang="en-US" altLang="ko-KR" sz="1150" baseline="-2500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ij</a:t>
                      </a: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 running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Stability window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Grand-potential phase diagram from Materials Project phases (0 K)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90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8A5A0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Recomputed (Oct)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Interface reactivity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Reaction energy of each doped composition vs cathodes, Li metal, carbon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90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4B5563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· products redo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47" name="Stage note"/>
          <p:cNvSpPr txBox="1"/>
          <p:nvPr/>
        </p:nvSpPr>
        <p:spPr>
          <a:xfrm>
            <a:off x="411480" y="5138928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were completed in an August re-run; As₂S₃ is not yet in the stability and interface tables (rows 6–7). Since the September audit these outputs are </a:t>
            </a:r>
            <a:r>
              <a:rPr kumimoji="1" lang="en-US" altLang="ko-KR" sz="11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Li transport is measured in Stage 2.</a:t>
            </a:r>
          </a:p>
        </p:txBody>
      </p:sp>
      <p:sp>
        <p:nvSpPr>
          <p:cNvPr id="248" name="Abbreviations"/>
          <p:cNvSpPr txBox="1"/>
          <p:nvPr/>
        </p:nvSpPr>
        <p:spPr>
          <a:xfrm>
            <a:off x="411480" y="5715000"/>
            <a:ext cx="832104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MLIP: machine-learning interatomic potential (UMA, a universal model) · EOS: equation of state · all Stage-1 configurations use one dopant level (one precursor unit per four formula units)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25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stability window and interfacial reactivity</a:t>
            </a:r>
          </a:p>
        </p:txBody>
      </p:sp>
      <p:sp>
        <p:nvSpPr>
          <p:cNvPr id="256" name="Window bullets"/>
          <p:cNvSpPr txBox="1"/>
          <p:nvPr/>
        </p:nvSpPr>
        <p:spPr>
          <a:xfrm>
            <a:off x="502920" y="1371600"/>
            <a:ext cx="4160520" cy="2331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diagram: the Li chemical potential is scanned as a voltage (0 K, bulk thermodynamics).</a:t>
            </a:r>
          </a:p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= voltage range where the composition decomposes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without Li exchange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if no such range exists, no stable window.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the 90 precursors in the stability table with this definition (Oct); the earlier definition overestimated window widths.</a:t>
            </a:r>
          </a:p>
        </p:txBody>
      </p:sp>
      <p:sp>
        <p:nvSpPr>
          <p:cNvPr id="257" name="Schematic title"/>
          <p:cNvSpPr txBox="1"/>
          <p:nvPr/>
        </p:nvSpPr>
        <p:spPr>
          <a:xfrm>
            <a:off x="548640" y="3730752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Example: Li₆PS₅Cl host (MP phases, 0 K)</a:t>
            </a:r>
          </a:p>
        </p:txBody>
      </p:sp>
      <p:sp>
        <p:nvSpPr>
          <p:cNvPr id="258" name="Window label"/>
          <p:cNvSpPr txBox="1"/>
          <p:nvPr/>
        </p:nvSpPr>
        <p:spPr>
          <a:xfrm>
            <a:off x="1481203" y="4041648"/>
            <a:ext cx="20116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0.423 V</a:t>
            </a:r>
          </a:p>
        </p:txBody>
      </p:sp>
      <p:sp>
        <p:nvSpPr>
          <p:cNvPr id="259" name="Reduction zone"/>
          <p:cNvSpPr/>
          <p:nvPr/>
        </p:nvSpPr>
        <p:spPr>
          <a:xfrm>
            <a:off x="685800" y="4315968"/>
            <a:ext cx="1080405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uptake</a:t>
            </a:r>
          </a:p>
        </p:txBody>
      </p:sp>
      <p:sp>
        <p:nvSpPr>
          <p:cNvPr id="260" name="Window zone"/>
          <p:cNvSpPr/>
          <p:nvPr/>
        </p:nvSpPr>
        <p:spPr>
          <a:xfrm>
            <a:off x="1766205" y="4315968"/>
            <a:ext cx="1441676" cy="384048"/>
          </a:xfrm>
          <a:prstGeom prst="rect">
            <a:avLst/>
          </a:prstGeom>
          <a:solidFill>
            <a:srgbClr val="DFF2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Li exchange</a:t>
            </a:r>
          </a:p>
        </p:txBody>
      </p:sp>
      <p:sp>
        <p:nvSpPr>
          <p:cNvPr id="261" name="Oxidation zone"/>
          <p:cNvSpPr/>
          <p:nvPr/>
        </p:nvSpPr>
        <p:spPr>
          <a:xfrm>
            <a:off x="3207881" y="4315968"/>
            <a:ext cx="1226959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release</a:t>
            </a:r>
          </a:p>
        </p:txBody>
      </p:sp>
      <p:sp>
        <p:nvSpPr>
          <p:cNvPr id="262" name="Tick low"/>
          <p:cNvSpPr txBox="1"/>
          <p:nvPr/>
        </p:nvSpPr>
        <p:spPr>
          <a:xfrm>
            <a:off x="1354725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1.717 V</a:t>
            </a:r>
          </a:p>
        </p:txBody>
      </p:sp>
      <p:sp>
        <p:nvSpPr>
          <p:cNvPr id="263" name="Tick high"/>
          <p:cNvSpPr txBox="1"/>
          <p:nvPr/>
        </p:nvSpPr>
        <p:spPr>
          <a:xfrm>
            <a:off x="2796401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2.140 V</a:t>
            </a:r>
          </a:p>
        </p:txBody>
      </p:sp>
      <p:sp>
        <p:nvSpPr>
          <p:cNvPr id="264" name="Axis label"/>
          <p:cNvSpPr txBox="1"/>
          <p:nvPr/>
        </p:nvSpPr>
        <p:spPr>
          <a:xfrm>
            <a:off x="685800" y="4956048"/>
            <a:ext cx="374904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voltage vs Li/Li⁺ →</a:t>
            </a:r>
          </a:p>
        </p:txBody>
      </p:sp>
      <p:sp>
        <p:nvSpPr>
          <p:cNvPr id="265" name="Reactions"/>
          <p:cNvSpPr txBox="1"/>
          <p:nvPr/>
        </p:nvSpPr>
        <p:spPr>
          <a:xfrm>
            <a:off x="548640" y="5212080"/>
            <a:ext cx="411480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Inside the window: Li₆PS₅Cl → Li₃PS₄ + Li₂S + LiCl (no Li exchange); above 2.140 V: oxidation with Li release</a:t>
            </a:r>
          </a:p>
        </p:txBody>
      </p:sp>
      <p:pic>
        <p:nvPicPr>
          <p:cNvPr id="266" name="Sundar 2025 Fig 2" descr="Coating reaction energy at four interf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3794760" cy="1442295"/>
          </a:xfrm>
          <a:prstGeom prst="rect">
            <a:avLst/>
          </a:prstGeom>
        </p:spPr>
      </p:pic>
      <p:sp>
        <p:nvSpPr>
          <p:cNvPr id="267" name="Caption right"/>
          <p:cNvSpPr txBox="1"/>
          <p:nvPr/>
        </p:nvSpPr>
        <p:spPr>
          <a:xfrm>
            <a:off x="4846320" y="2898648"/>
            <a:ext cx="37947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coating reaction energy at four interfaces &gt;</a:t>
            </a:r>
          </a:p>
        </p:txBody>
      </p:sp>
      <p:sp>
        <p:nvSpPr>
          <p:cNvPr id="268" name="Credit right"/>
          <p:cNvSpPr txBox="1"/>
          <p:nvPr/>
        </p:nvSpPr>
        <p:spPr>
          <a:xfrm>
            <a:off x="4846320" y="3136392"/>
            <a:ext cx="37947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Sundar et al., Adv. Sci. 12, e13191 (2025)</a:t>
            </a:r>
          </a:p>
        </p:txBody>
      </p:sp>
      <p:sp>
        <p:nvSpPr>
          <p:cNvPr id="269" name="Interface bullets"/>
          <p:cNvSpPr txBox="1"/>
          <p:nvPr/>
        </p:nvSpPr>
        <p:spPr>
          <a:xfrm>
            <a:off x="4846320" y="3520440"/>
            <a:ext cx="3794760" cy="2011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phase data: reaction energy of each doped composition against LiCoO₂, LiNiO₂, LiMn₂O₄, Li metal and carbon.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separate table treats the precursor itself as a second phase (coating view, as in the figure); its product band gaps are being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re-derived with ground-state phases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(E</a:t>
            </a:r>
            <a:r>
              <a:rPr kumimoji="1" lang="en-US" altLang="ko-KR" sz="125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hull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0).</a:t>
            </a:r>
          </a:p>
        </p:txBody>
      </p:sp>
      <p:sp>
        <p:nvSpPr>
          <p:cNvPr id="270" name="References"/>
          <p:cNvSpPr txBox="1"/>
          <p:nvPr/>
        </p:nvSpPr>
        <p:spPr>
          <a:xfrm>
            <a:off x="502920" y="585216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Richards, Chem. Mater. 28, 266 (2016) · Xiao, Nat. Rev. Mater. 5, 105 (2020) · Schwietert, Nat. Mater. 19, 428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7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2: rules fixed before new results</a:t>
            </a:r>
          </a:p>
        </p:txBody>
      </p:sp>
      <p:sp>
        <p:nvSpPr>
          <p:cNvPr id="272" name="Audit findings"/>
          <p:cNvSpPr/>
          <p:nvPr/>
        </p:nvSpPr>
        <p:spPr>
          <a:xfrm>
            <a:off x="502920" y="1417320"/>
            <a:ext cx="3931920" cy="329184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What the audit of Stage 1 found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level: every configuration has one precursor unit per four formula units.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volume filter used a host reference ~40 % above the DFT equilibrium volume of the same composition → Stage 2 builds from the DFT-equilibrium host.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Young's modulus: scatter among configurations of one precursor ≈ spread between precursors (ratio 1.1; substitution energy 0.2).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were merged into one score without a stated primary objective.</a:t>
            </a:r>
          </a:p>
        </p:txBody>
      </p:sp>
      <p:sp>
        <p:nvSpPr>
          <p:cNvPr id="273" name="Audit verdict"/>
          <p:cNvSpPr/>
          <p:nvPr/>
        </p:nvSpPr>
        <p:spPr>
          <a:xfrm>
            <a:off x="502920" y="4818888"/>
            <a:ext cx="3931920" cy="566928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Stage-1 outputs are kept as </a:t>
            </a:r>
            <a:r>
              <a:rPr kumimoji="1" lang="en-US" altLang="ko-KR" sz="11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approved dopant ranking: none.</a:t>
            </a:r>
          </a:p>
        </p:txBody>
      </p:sp>
      <p:sp>
        <p:nvSpPr>
          <p:cNvPr id="274" name="Rules title"/>
          <p:cNvSpPr txBox="1"/>
          <p:nvPr/>
        </p:nvSpPr>
        <p:spPr>
          <a:xfrm>
            <a:off x="4617720" y="1371600"/>
            <a:ext cx="4023360" cy="310896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Fixed before any new result (Sep 12–19)</a:t>
            </a:r>
          </a:p>
        </p:txBody>
      </p:sp>
      <p:sp>
        <p:nvSpPr>
          <p:cNvPr id="275" name="Rule 1"/>
          <p:cNvSpPr/>
          <p:nvPr/>
        </p:nvSpPr>
        <p:spPr>
          <a:xfrm>
            <a:off x="4617720" y="1737360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Primary readout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D*(host): Li tracer diffusivity relative to the host, compared across designs</a:t>
            </a:r>
          </a:p>
        </p:txBody>
      </p:sp>
      <p:sp>
        <p:nvSpPr>
          <p:cNvPr id="276" name="Rule 1 status"/>
          <p:cNvSpPr/>
          <p:nvPr/>
        </p:nvSpPr>
        <p:spPr>
          <a:xfrm>
            <a:off x="7086600" y="1783080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7" name="Rule 2"/>
          <p:cNvSpPr/>
          <p:nvPr/>
        </p:nvSpPr>
        <p:spPr>
          <a:xfrm>
            <a:off x="4617720" y="2487168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designs; one design = one composition (file names are not identifiers)</a:t>
            </a:r>
          </a:p>
        </p:txBody>
      </p:sp>
      <p:sp>
        <p:nvSpPr>
          <p:cNvPr id="278" name="Rule 2 status"/>
          <p:cNvSpPr/>
          <p:nvPr/>
        </p:nvSpPr>
        <p:spPr>
          <a:xfrm>
            <a:off x="7086600" y="2532888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9" name="Rule 3"/>
          <p:cNvSpPr/>
          <p:nvPr/>
        </p:nvSpPr>
        <p:spPr>
          <a:xfrm>
            <a:off x="4617720" y="3236976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Parent sites fixed before substitution · full charge balance incl. vacancies · refusals counted separately</a:t>
            </a:r>
          </a:p>
        </p:txBody>
      </p:sp>
      <p:sp>
        <p:nvSpPr>
          <p:cNvPr id="280" name="Rule 3 status"/>
          <p:cNvSpPr/>
          <p:nvPr/>
        </p:nvSpPr>
        <p:spPr>
          <a:xfrm>
            <a:off x="7086600" y="3282696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1" name="Rule 4"/>
          <p:cNvSpPr/>
          <p:nvPr/>
        </p:nvSpPr>
        <p:spPr>
          <a:xfrm>
            <a:off x="4617720" y="3986784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configuration with the median substitution energy stands for its design</a:t>
            </a:r>
          </a:p>
        </p:txBody>
      </p:sp>
      <p:sp>
        <p:nvSpPr>
          <p:cNvPr id="282" name="Rule 4 status"/>
          <p:cNvSpPr/>
          <p:nvPr/>
        </p:nvSpPr>
        <p:spPr>
          <a:xfrm>
            <a:off x="7086600" y="4032504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3" name="Rule 5"/>
          <p:cNvSpPr/>
          <p:nvPr/>
        </p:nvSpPr>
        <p:spPr>
          <a:xfrm>
            <a:off x="4617720" y="4736592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How large a difference must be before one design is called better (δ)</a:t>
            </a:r>
          </a:p>
        </p:txBody>
      </p:sp>
      <p:sp>
        <p:nvSpPr>
          <p:cNvPr id="284" name="Rule 5 status"/>
          <p:cNvSpPr/>
          <p:nvPr/>
        </p:nvSpPr>
        <p:spPr>
          <a:xfrm>
            <a:off x="7086600" y="4782312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8A5A0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Proposed · δ open</a:t>
            </a:r>
          </a:p>
        </p:txBody>
      </p:sp>
      <p:sp>
        <p:nvSpPr>
          <p:cNvPr id="285" name="Scope note"/>
          <p:cNvSpPr txBox="1"/>
          <p:nvPr/>
        </p:nvSpPr>
        <p:spPr>
          <a:xfrm>
            <a:off x="502920" y="5623560"/>
            <a:ext cx="813816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 ≠ 237 runs: the execution scope is decided </a:t>
            </a:r>
            <a:r>
              <a:rPr kumimoji="1" lang="en-US" altLang="ko-KR" sz="12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after the pilot</a:t>
            </a: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the pilot tests the protocol on two Al precursors (next slides).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86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Li transport by MLIP molecular dynamics: setup</a:t>
            </a:r>
          </a:p>
        </p:txBody>
      </p:sp>
      <p:sp>
        <p:nvSpPr>
          <p:cNvPr id="287" name="Setup bullets"/>
          <p:cNvSpPr txBox="1"/>
          <p:nvPr/>
        </p:nvSpPr>
        <p:spPr>
          <a:xfrm>
            <a:off x="502920" y="1371600"/>
            <a:ext cx="4206240" cy="2651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Pilot question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does the precursor anion (Al₂O₃ vs Al₂S₃) change Li diffusivity in Al-doped Li₆PS₅Cl — and can the protocol resolve it?</a:t>
            </a:r>
          </a:p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 quantity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ratio of Li tracer diffusivities from MSD slopes — relative, not an absolute conductivity.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Analysis plan fixed before the runs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diffusive-regime checks, then an equivalence test (margin ±ln 1.5) on the log-ratio.</a:t>
            </a:r>
          </a:p>
        </p:txBody>
      </p:sp>
      <p:sp>
        <p:nvSpPr>
          <p:cNvPr id="288" name="Recipe A"/>
          <p:cNvSpPr/>
          <p:nvPr/>
        </p:nvSpPr>
        <p:spPr>
          <a:xfrm>
            <a:off x="54864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+ 3 O + 4 Li vacancies</a:t>
            </a:r>
          </a:p>
        </p:txBody>
      </p:sp>
      <p:sp>
        <p:nvSpPr>
          <p:cNvPr id="289" name="Recipe B"/>
          <p:cNvSpPr/>
          <p:nvPr/>
        </p:nvSpPr>
        <p:spPr>
          <a:xfrm>
            <a:off x="269748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+ 4 Li vacancies (S unchanged)</a:t>
            </a:r>
          </a:p>
        </p:txBody>
      </p:sp>
      <p:sp>
        <p:nvSpPr>
          <p:cNvPr id="290" name="Recipe note"/>
          <p:cNvSpPr txBox="1"/>
          <p:nvPr/>
        </p:nvSpPr>
        <p:spPr>
          <a:xfrm>
            <a:off x="548640" y="5047488"/>
            <a:ext cx="4069080" cy="6858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 — only the precursor anion differs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D(Al₂O₃) / D(Al₂S₃)</a:t>
            </a:r>
          </a:p>
        </p:txBody>
      </p:sp>
      <p:graphicFrame>
        <p:nvGraphicFramePr>
          <p:cNvPr id="291" name="Settings table"/>
          <p:cNvGraphicFramePr>
            <a:graphicFrameLocks noGrp="1"/>
          </p:cNvGraphicFramePr>
          <p:nvPr/>
        </p:nvGraphicFramePr>
        <p:xfrm>
          <a:off x="4846320" y="1371600"/>
          <a:ext cx="3794760" cy="3657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280160"/>
                <a:gridCol w="2514600"/>
              </a:tblGrid>
              <a:tr h="310896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Setting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Potential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UMA (universal MLIP)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Ensemble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NVT, Langevin thermostat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Temperature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1000 K (selected in a pilot)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Run length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400 ps production; MSD fit 2–50 ps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Cell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204 atoms, common volume (edge ≈ 1.6 nm)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Sampling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 start configurations × 2 precursors × 2 seeds = 40 runs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Diffusive-regime checks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sub-window MSD slope ratio 0.8–1.2 · D spread ≤ 10 % · ≥ 50 Li hops · framework intact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2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Kahle, Energy Environ. Sci. 13, 928 (2020) · He, npj Comput. Mater. 4, 18 (2018) · Wood et al. (UMA), arXiv:2506.23971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93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temperature choice, status and limits</a:t>
            </a:r>
          </a:p>
        </p:txBody>
      </p:sp>
      <p:sp>
        <p:nvSpPr>
          <p:cNvPr id="294" name="Status bullets"/>
          <p:cNvSpPr txBox="1"/>
          <p:nvPr/>
        </p:nvSpPr>
        <p:spPr>
          <a:xfrm>
            <a:off x="502920" y="1371600"/>
            <a:ext cx="4343400" cy="2834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 pilot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(40 runs, 200 ps): Li hopped (~4,000 hops per run) but the MSD never became linear over 2–100 ps → no diffusivity reported (UMA, this cell and volume).</a:t>
            </a:r>
          </a:p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Temperature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then chosen by a predefined pilot: 800 K failed and 1000 K passed the diffusive-regime checks.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Limits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the ~1.6-nm cell is below the ~2-nm bulk minimum suggested for MLIP transport, and rankings at high T need not hold at room temperature → relative, condition-specific result.</a:t>
            </a:r>
          </a:p>
        </p:txBody>
      </p:sp>
      <p:sp>
        <p:nvSpPr>
          <p:cNvPr id="295" name="Status panel"/>
          <p:cNvSpPr/>
          <p:nvPr/>
        </p:nvSpPr>
        <p:spPr>
          <a:xfrm>
            <a:off x="502920" y="4297680"/>
            <a:ext cx="4343400" cy="14630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6" name="Status title"/>
          <p:cNvSpPr txBox="1"/>
          <p:nvPr/>
        </p:nvSpPr>
        <p:spPr>
          <a:xfrm>
            <a:off x="640080" y="4352544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Status (Oct 12)</a:t>
            </a:r>
          </a:p>
        </p:txBody>
      </p:sp>
      <p:sp>
        <p:nvSpPr>
          <p:cNvPr id="297" name="Bar1 label"/>
          <p:cNvSpPr txBox="1"/>
          <p:nvPr/>
        </p:nvSpPr>
        <p:spPr>
          <a:xfrm>
            <a:off x="640080" y="466344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Runs</a:t>
            </a:r>
          </a:p>
        </p:txBody>
      </p:sp>
      <p:sp>
        <p:nvSpPr>
          <p:cNvPr id="298" name="Bar1 bg"/>
          <p:cNvSpPr/>
          <p:nvPr/>
        </p:nvSpPr>
        <p:spPr>
          <a:xfrm>
            <a:off x="1463040" y="469087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9" name="Bar1 fg"/>
          <p:cNvSpPr/>
          <p:nvPr/>
        </p:nvSpPr>
        <p:spPr>
          <a:xfrm>
            <a:off x="1463040" y="4690872"/>
            <a:ext cx="713232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0" name="Bar1 value"/>
          <p:cNvSpPr txBox="1"/>
          <p:nvPr/>
        </p:nvSpPr>
        <p:spPr>
          <a:xfrm>
            <a:off x="3886200" y="464515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/ 40</a:t>
            </a:r>
          </a:p>
        </p:txBody>
      </p:sp>
      <p:sp>
        <p:nvSpPr>
          <p:cNvPr id="301" name="Bar2 label"/>
          <p:cNvSpPr txBox="1"/>
          <p:nvPr/>
        </p:nvSpPr>
        <p:spPr>
          <a:xfrm>
            <a:off x="640080" y="498348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GPU-hours</a:t>
            </a:r>
          </a:p>
        </p:txBody>
      </p:sp>
      <p:sp>
        <p:nvSpPr>
          <p:cNvPr id="302" name="Bar2 bg"/>
          <p:cNvSpPr/>
          <p:nvPr/>
        </p:nvSpPr>
        <p:spPr>
          <a:xfrm>
            <a:off x="1463040" y="501091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3" name="Bar2 fg"/>
          <p:cNvSpPr/>
          <p:nvPr/>
        </p:nvSpPr>
        <p:spPr>
          <a:xfrm>
            <a:off x="1463040" y="5010912"/>
            <a:ext cx="520935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4" name="Bar2 value"/>
          <p:cNvSpPr txBox="1"/>
          <p:nvPr/>
        </p:nvSpPr>
        <p:spPr>
          <a:xfrm>
            <a:off x="3886200" y="496519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101 / 461</a:t>
            </a:r>
          </a:p>
        </p:txBody>
      </p:sp>
      <p:sp>
        <p:nvSpPr>
          <p:cNvPr id="305" name="Status text"/>
          <p:cNvSpPr txBox="1"/>
          <p:nvPr/>
        </p:nvSpPr>
        <p:spPr>
          <a:xfrm>
            <a:off x="640080" y="5285232"/>
            <a:ext cx="41148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Completion expected around Oct 21; the ratio is analysed once, after all 40 runs.</a:t>
            </a:r>
          </a:p>
        </p:txBody>
      </p:sp>
      <p:pic>
        <p:nvPicPr>
          <p:cNvPr id="306" name="Jung 2026 Fig 5b" descr="Li diffusivity vs 1000/T, Jung 2026 Fig. 5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611880" cy="3207754"/>
          </a:xfrm>
          <a:prstGeom prst="rect">
            <a:avLst/>
          </a:prstGeom>
        </p:spPr>
      </p:pic>
      <p:sp>
        <p:nvSpPr>
          <p:cNvPr id="307" name="Caption right"/>
          <p:cNvSpPr txBox="1"/>
          <p:nvPr/>
        </p:nvSpPr>
        <p:spPr>
          <a:xfrm>
            <a:off x="4937760" y="4597642"/>
            <a:ext cx="370332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diffusivity vs 1000/T in four LGPS-type compounds: the ordering changes between 700 and 1300 K &gt;</a:t>
            </a:r>
          </a:p>
        </p:txBody>
      </p:sp>
      <p:sp>
        <p:nvSpPr>
          <p:cNvPr id="308" name="Credit right"/>
          <p:cNvSpPr txBox="1"/>
          <p:nvPr/>
        </p:nvSpPr>
        <p:spPr>
          <a:xfrm>
            <a:off x="4937760" y="5100562"/>
            <a:ext cx="37033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309" name="References"/>
          <p:cNvSpPr txBox="1"/>
          <p:nvPr/>
        </p:nvSpPr>
        <p:spPr>
          <a:xfrm>
            <a:off x="502920" y="5870448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 · Jung et al., eTransportation 28, 100570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310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steps and purpose</a:t>
            </a:r>
          </a:p>
        </p:txBody>
      </p:sp>
      <p:sp>
        <p:nvSpPr>
          <p:cNvPr id="311" name="Label Now → late Oct"/>
          <p:cNvSpPr/>
          <p:nvPr/>
        </p:nvSpPr>
        <p:spPr>
          <a:xfrm>
            <a:off x="502920" y="1417320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Now → late Oct</a:t>
            </a:r>
          </a:p>
        </p:txBody>
      </p:sp>
      <p:sp>
        <p:nvSpPr>
          <p:cNvPr id="312" name="Content Now → late Oct"/>
          <p:cNvSpPr/>
          <p:nvPr/>
        </p:nvSpPr>
        <p:spPr>
          <a:xfrm>
            <a:off x="2194560" y="1417320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Finish the 40 MD runs and analyse once with the predefined criteria. The follow-up for each outcome (difference · equivalent · inconclusive · criteria not met) is written down before the analysis.</a:t>
            </a:r>
          </a:p>
        </p:txBody>
      </p:sp>
      <p:sp>
        <p:nvSpPr>
          <p:cNvPr id="313" name="Label Next 1–2 months"/>
          <p:cNvSpPr/>
          <p:nvPr/>
        </p:nvSpPr>
        <p:spPr>
          <a:xfrm>
            <a:off x="502920" y="2395728"/>
            <a:ext cx="1600200" cy="129844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1–2 months</a:t>
            </a:r>
          </a:p>
        </p:txBody>
      </p:sp>
      <p:sp>
        <p:nvSpPr>
          <p:cNvPr id="314" name="Content Next 1–2 months"/>
          <p:cNvSpPr/>
          <p:nvPr/>
        </p:nvSpPr>
        <p:spPr>
          <a:xfrm>
            <a:off x="2194560" y="2395728"/>
            <a:ext cx="6446520" cy="129844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over the 237-design roster and the ranking margin δ — fixed before any result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 Stage-1 descriptors predict the measured transport? (rank correlation with a confidence interval)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windows and interface products with ground-state phases (As₂S₃ added) · DFT elastic constants</a:t>
            </a:r>
          </a:p>
        </p:txBody>
      </p:sp>
      <p:sp>
        <p:nvSpPr>
          <p:cNvPr id="315" name="Label Then"/>
          <p:cNvSpPr/>
          <p:nvPr/>
        </p:nvSpPr>
        <p:spPr>
          <a:xfrm>
            <a:off x="502920" y="3785616"/>
            <a:ext cx="1600200" cy="731520"/>
          </a:xfrm>
          <a:prstGeom prst="roundRect">
            <a:avLst>
              <a:gd name="adj" fmla="val 6000"/>
            </a:avLst>
          </a:prstGeom>
          <a:solidFill>
            <a:srgbClr val="A5002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Then</a:t>
            </a:r>
          </a:p>
        </p:txBody>
      </p:sp>
      <p:sp>
        <p:nvSpPr>
          <p:cNvPr id="316" name="Content Then"/>
          <p:cNvSpPr/>
          <p:nvPr/>
        </p:nvSpPr>
        <p:spPr>
          <a:xfrm>
            <a:off x="2194560" y="3785616"/>
            <a:ext cx="6446520" cy="7315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 designs on the primary readout with its uncertainty → shortlist → DFT validation → synthesis and testing with the experimental team.</a:t>
            </a:r>
          </a:p>
        </p:txBody>
      </p:sp>
      <p:sp>
        <p:nvSpPr>
          <p:cNvPr id="317" name="Label Method upgrades"/>
          <p:cNvSpPr/>
          <p:nvPr/>
        </p:nvSpPr>
        <p:spPr>
          <a:xfrm>
            <a:off x="502920" y="4626864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6B728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 upgrades</a:t>
            </a:r>
          </a:p>
        </p:txBody>
      </p:sp>
      <p:sp>
        <p:nvSpPr>
          <p:cNvPr id="318" name="Content Method upgrades"/>
          <p:cNvSpPr/>
          <p:nvPr/>
        </p:nvSpPr>
        <p:spPr>
          <a:xfrm>
            <a:off x="2194560" y="4626864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Larger cells (≥ 2 nm) and longer runs (≥ 0.3 ns) · fine-tuned MLIP · ensemble uncertainty · dopant concentration from charge-neutral defect thermodynamics</a:t>
            </a:r>
          </a:p>
        </p:txBody>
      </p:sp>
      <p:sp>
        <p:nvSpPr>
          <p:cNvPr id="319" name="Goal"/>
          <p:cNvSpPr txBox="1"/>
          <p:nvPr/>
        </p:nvSpPr>
        <p:spPr>
          <a:xfrm>
            <a:off x="502920" y="5559552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Goal: a screen that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selects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precursor, with the selection rule stated in advance.</a:t>
            </a:r>
          </a:p>
        </p:txBody>
      </p:sp>
      <p:sp>
        <p:nvSpPr>
          <p:cNvPr id="320" name="References"/>
          <p:cNvSpPr txBox="1"/>
          <p:nvPr/>
        </p:nvSpPr>
        <p:spPr>
          <a:xfrm>
            <a:off x="502920" y="5961888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Phuthi, Chem. Mater. (2026) · Muy, Chem. Mater. 37, 2395 (2025) · Alghamdi, J. Phys. Energy 8, 025013 (2026) · Grasselli,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321" name="Summary Done"/>
          <p:cNvSpPr/>
          <p:nvPr/>
        </p:nvSpPr>
        <p:spPr>
          <a:xfrm>
            <a:off x="502920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8F3EA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Done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Stage-2 rules fixed before new results</a:t>
            </a:r>
          </a:p>
        </p:txBody>
      </p:sp>
      <p:sp>
        <p:nvSpPr>
          <p:cNvPr id="322" name="Summary Running"/>
          <p:cNvSpPr/>
          <p:nvPr/>
        </p:nvSpPr>
        <p:spPr>
          <a:xfrm>
            <a:off x="3310128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3EEF9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0B5394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Stage-2 pilot: Li diffusivity ratio, Al₂O₃ vs Al₂S₃ (40 runs; ~Oct 21)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</a:t>
            </a:r>
          </a:p>
        </p:txBody>
      </p:sp>
      <p:sp>
        <p:nvSpPr>
          <p:cNvPr id="323" name="Summary Next"/>
          <p:cNvSpPr/>
          <p:nvPr/>
        </p:nvSpPr>
        <p:spPr>
          <a:xfrm>
            <a:off x="6117336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and ranking margin, fixed in advance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Stage-1 descriptors against the measured transport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→ experiment</a:t>
            </a:r>
          </a:p>
        </p:txBody>
      </p:sp>
      <p:sp>
        <p:nvSpPr>
          <p:cNvPr id="324" name="Bottom line"/>
          <p:cNvSpPr txBox="1"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 yet — </a:t>
            </a:r>
            <a:r>
              <a:rPr kumimoji="1" lang="en-US" altLang="ko-KR" sz="15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screen proposes, predefined tests decide.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325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</p:txBody>
      </p:sp>
      <p:sp>
        <p:nvSpPr>
          <p:cNvPr id="326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