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44" r:id="rId34"/>
    <p:sldId id="1332" r:id="rId15"/>
    <p:sldId id="1337" r:id="rId20"/>
    <p:sldId id="1343" r:id="rId33"/>
    <p:sldId id="1346" r:id="rId36"/>
    <p:sldId id="1347" r:id="rId37"/>
    <p:sldId id="1348" r:id="rId38"/>
    <p:sldId id="1349" r:id="rId39"/>
    <p:sldId id="1263" r:id="rId23"/>
    <p:sldId id="1350" r:id="rId40"/>
    <p:sldId id="1330" r:id="rId14"/>
    <p:sldId id="1336" r:id="rId19"/>
    <p:sldId id="1333" r:id="rId16"/>
    <p:sldId id="1334" r:id="rId17"/>
    <p:sldId id="1335" r:id="rId18"/>
    <p:sldId id="1338" r:id="rId21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  <Relationship Id="rId40" Type="http://schemas.openxmlformats.org/officeDocument/2006/relationships/slide" Target="slides/slide30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65E55-4F5A-BD57-6522-074A82BF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2B6AF0-8B66-DE61-92DD-D07FEC9599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FF00DF-15BC-5A80-6961-CA38F232C2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86FB2F-2A18-9479-5B82-05510DC9EC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5275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074E6-4D3B-D3B3-A694-6076AE451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4CC3FC-4F6C-84B6-C093-994A5D324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785D4B-FD82-036B-D0EC-9246FD7801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DE851D-5BF5-4B79-3C01-960CA83B3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31716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9E5F4-7E04-0B17-059A-AE6EA63FF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CA70358-7EE7-475E-5569-9B222F8B2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524E5A7-8AA7-979C-C978-0E632261E4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3AB625-D888-E05A-E344-E98D16E1C9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3821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7AF95-5F62-3026-5B33-C2AF9BC6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212462-EEA3-5803-74FC-22E5BD003F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386BF8-242D-DDF6-8071-B09EA3CB6E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31F4A-7789-FD89-8217-F1221D022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6777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emf"/></Relationships>
</file>

<file path=ppt/slides/_rels/slide13.xml.rels><?xml version='1.0' encoding='UTF-8' standalone='yes'?>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emf"/><Relationship Id="rId4" Type="http://schemas.openxmlformats.org/officeDocument/2006/relationships/oleObject" Target="../embeddings/oleObject4.bin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7.xml.rels><?xml version='1.0' encoding='UTF-8' standalone='yes'?>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16,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395728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166441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coating layer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05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05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41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Joule 3, 1252 (2019)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</a:t>
            </a:r>
          </a:p>
        </p:txBody>
      </p:sp>
      <p:sp>
        <p:nvSpPr>
          <p:cNvPr id="242" name="Related screens"/>
          <p:cNvSpPr txBox="1"/>
          <p:nvPr/>
        </p:nvSpPr>
        <p:spPr>
          <a:xfrm>
            <a:off x="548640" y="4462272"/>
            <a:ext cx="8092440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5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Holistic screening of Li-ion conductors (Sendek 2017) and high-throughput MD (Kahle 2020)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Dual-dopant screening of LGPS-type conductors (Jung 2026) · ML interface-stability screening (Park 2026)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Site-resolved dopant defect thermodynamics in argyrodites (Muy 2025)</a:t>
            </a:r>
          </a:p>
        </p:txBody>
      </p:sp>
      <p:sp>
        <p:nvSpPr>
          <p:cNvPr id="24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Energy Environ. Sci. 10, 306 (2017) · Energy Environ. Sci. 13, 928 (2020) · eTransportation 28, 100570 (2026) · Adv. Sci. 2026, e76305 ·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  <p:sp>
        <p:nvSpPr>
          <p:cNvPr id="244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 of argyrodites: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9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0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 (main batch 3,615; +60 in the August re-run) &gt;</a:t>
            </a:r>
          </a:p>
        </p:txBody>
      </p:sp>
      <p:pic>
        <p:nvPicPr>
          <p:cNvPr id="251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2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3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Configurations of the same precursor can differ as much as different precursors for some descriptors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 are used for exploration, not for ranking.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1634E-0C88-F9AE-BDBF-D3BF98EA0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C992210-435B-888B-A323-F005D64A5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3: Machine-learned potential screening before DFT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relax 3,615 structures within budget,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machine-learned potential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was used.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Structures were removed by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geometry (volume)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not by energy.</a:t>
            </a:r>
            <a:endParaRPr kumimoji="1" lang="en-US" altLang="ko-KR" sz="1300" dirty="0">
              <a:solidFill>
                <a:schemeClr val="bg1"/>
              </a:solidFill>
              <a:latin typeface="Calibri" panose="020F0502020204030204" pitchFamily="34" charset="0"/>
              <a:ea typeface="-윤고딕340" pitchFamily="18" charset="-127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B7D7EC-12AD-79CB-D24F-E24166AD0C5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0EE2AC-FECB-9D39-F25B-65C016AE7F0F}"/>
              </a:ext>
            </a:extLst>
          </p:cNvPr>
          <p:cNvSpPr txBox="1"/>
          <p:nvPr/>
        </p:nvSpPr>
        <p:spPr>
          <a:xfrm>
            <a:off x="502920" y="5909911"/>
            <a:ext cx="8138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 of 3,615 changed by more than 25 %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their energies look like the rest.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79C089-2CE4-8B1E-6E50-6B772E05F650}"/>
              </a:ext>
            </a:extLst>
          </p:cNvPr>
          <p:cNvSpPr txBox="1"/>
          <p:nvPr/>
        </p:nvSpPr>
        <p:spPr>
          <a:xfrm>
            <a:off x="1628021" y="5668880"/>
            <a:ext cx="588795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far each structure moved · the same structures on both screening axes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A55E1C26-3D16-0608-DE03-F93D0A17DFAC}"/>
              </a:ext>
            </a:extLst>
          </p:cNvPr>
          <p:cNvGrpSpPr/>
          <p:nvPr/>
        </p:nvGrpSpPr>
        <p:grpSpPr>
          <a:xfrm>
            <a:off x="689384" y="2658684"/>
            <a:ext cx="7765233" cy="2552556"/>
            <a:chOff x="758580" y="2658684"/>
            <a:chExt cx="7765233" cy="2552556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60D299CC-9953-22B3-C5DF-B80173CCE5E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10442199"/>
                </p:ext>
              </p:extLst>
            </p:nvPr>
          </p:nvGraphicFramePr>
          <p:xfrm>
            <a:off x="758580" y="2658684"/>
            <a:ext cx="3181722" cy="25525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4384116" imgH="19564067" progId="Origin95.Graph">
                    <p:embed/>
                  </p:oleObj>
                </mc:Choice>
                <mc:Fallback>
                  <p:oleObj name="Graph" r:id="rId3" imgW="24384116" imgH="19564067" progId="Origin95.Grap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58580" y="2658684"/>
                          <a:ext cx="3181722" cy="2552556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6E37340C-C92E-10AD-243F-D5777BABA3EA}"/>
                </a:ext>
              </a:extLst>
            </p:cNvPr>
            <p:cNvGrpSpPr/>
            <p:nvPr/>
          </p:nvGrpSpPr>
          <p:grpSpPr>
            <a:xfrm>
              <a:off x="2740947" y="2699382"/>
              <a:ext cx="1199355" cy="384602"/>
              <a:chOff x="3372644" y="2495171"/>
              <a:chExt cx="1199355" cy="384602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F3065879-B6D3-A551-E875-D8B4EB0D841D}"/>
                  </a:ext>
                </a:extLst>
              </p:cNvPr>
              <p:cNvSpPr/>
              <p:nvPr/>
            </p:nvSpPr>
            <p:spPr>
              <a:xfrm>
                <a:off x="3372644" y="2595573"/>
                <a:ext cx="191244" cy="45719"/>
              </a:xfrm>
              <a:prstGeom prst="rect">
                <a:avLst/>
              </a:prstGeom>
              <a:solidFill>
                <a:srgbClr val="4D4D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2BF54B0-DE15-9237-3A89-3B6FAFA40FFF}"/>
                  </a:ext>
                </a:extLst>
              </p:cNvPr>
              <p:cNvSpPr txBox="1"/>
              <p:nvPr/>
            </p:nvSpPr>
            <p:spPr>
              <a:xfrm>
                <a:off x="3513589" y="2495171"/>
                <a:ext cx="72008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Kept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21" name="그룹 20">
                <a:extLst>
                  <a:ext uri="{FF2B5EF4-FFF2-40B4-BE49-F238E27FC236}">
                    <a16:creationId xmlns:a16="http://schemas.microsoft.com/office/drawing/2014/main" id="{6AF45EC5-FAB4-B92A-4076-90B0CF0B6C23}"/>
                  </a:ext>
                </a:extLst>
              </p:cNvPr>
              <p:cNvGrpSpPr/>
              <p:nvPr/>
            </p:nvGrpSpPr>
            <p:grpSpPr>
              <a:xfrm>
                <a:off x="3372644" y="2633552"/>
                <a:ext cx="1199355" cy="246221"/>
                <a:chOff x="3372644" y="2608929"/>
                <a:chExt cx="1199355" cy="246221"/>
              </a:xfrm>
            </p:grpSpPr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6DCDBB52-3736-1788-EC9D-621744EB838F}"/>
                    </a:ext>
                  </a:extLst>
                </p:cNvPr>
                <p:cNvSpPr/>
                <p:nvPr/>
              </p:nvSpPr>
              <p:spPr>
                <a:xfrm>
                  <a:off x="3372644" y="2709181"/>
                  <a:ext cx="191244" cy="45719"/>
                </a:xfrm>
                <a:prstGeom prst="rect">
                  <a:avLst/>
                </a:prstGeom>
                <a:solidFill>
                  <a:srgbClr val="FF4D4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solidFill>
                      <a:srgbClr val="FF4D4D"/>
                    </a:solidFill>
                  </a:endParaRPr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26D56A00-1E60-9817-73E3-2F3156B4D74C}"/>
                    </a:ext>
                  </a:extLst>
                </p:cNvPr>
                <p:cNvSpPr txBox="1"/>
                <p:nvPr/>
              </p:nvSpPr>
              <p:spPr>
                <a:xfrm>
                  <a:off x="3513588" y="2608929"/>
                  <a:ext cx="1058411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1000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Dropped (&gt; 25 %)</a:t>
                  </a:r>
                  <a:endParaRPr lang="ko-KR" altLang="en-US" sz="1000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pic>
          <p:nvPicPr>
            <p:cNvPr id="38" name="Picture 39" descr="step3_screen_axes.png">
              <a:extLst>
                <a:ext uri="{FF2B5EF4-FFF2-40B4-BE49-F238E27FC236}">
                  <a16:creationId xmlns:a16="http://schemas.microsoft.com/office/drawing/2014/main" id="{CC5D2632-F081-2880-238D-97159E8765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84294" y="2658684"/>
              <a:ext cx="4139519" cy="2451278"/>
            </a:xfrm>
            <a:prstGeom prst="rect">
              <a:avLst/>
            </a:prstGeom>
          </p:spPr>
        </p:pic>
      </p:grpSp>
      <p:sp>
        <p:nvSpPr>
          <p:cNvPr id="327" name="Superseded banner"/>
          <p:cNvSpPr txBox="1"/>
          <p:nvPr/>
        </p:nvSpPr>
        <p:spPr>
          <a:xfrm>
            <a:off x="4480560" y="256032"/>
            <a:ext cx="4251960" cy="60350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18 version, superseded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reference was not the DFT equilibrium (slide 8).</a:t>
            </a:r>
          </a:p>
        </p:txBody>
      </p:sp>
    </p:spTree>
    <p:extLst>
      <p:ext uri="{BB962C8B-B14F-4D97-AF65-F5344CB8AC3E}">
        <p14:creationId xmlns:p14="http://schemas.microsoft.com/office/powerpoint/2010/main" val="1359904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87E04-B723-3C46-497D-F9A1802AC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5A778A3-DC95-F75F-1202-B2544A40D5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4: One structure per compound is kept for the full calculations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combined score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energy alone, picked which configuration was kept.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Each compound produced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15 to 150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candidates, so this selection is not a ranking of elements.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endParaRPr kumimoji="1" lang="en-US" altLang="ko-KR" sz="1300" dirty="0">
              <a:solidFill>
                <a:schemeClr val="bg1"/>
              </a:solidFill>
              <a:latin typeface="Calibri" panose="020F0502020204030204" pitchFamily="34" charset="0"/>
              <a:ea typeface="-윤고딕340" pitchFamily="18" charset="-127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68ED5B-4877-5BDC-995B-5D7349873F0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783410-EC2F-5FA5-5A0E-5EB126161791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median spread </a:t>
            </a:r>
            <a:r>
              <a:rPr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0.04 eV / atom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for the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of 88 above 0.10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the choice of structure matters.</a:t>
            </a:r>
          </a:p>
          <a:p>
            <a:pPr algn="ctr"/>
            <a:endParaRPr lang="en-US" altLang="ko-KR" sz="14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3369F6-0F96-890D-43E4-27FB93B7FE25}"/>
              </a:ext>
            </a:extLst>
          </p:cNvPr>
          <p:cNvSpPr txBox="1"/>
          <p:nvPr/>
        </p:nvSpPr>
        <p:spPr>
          <a:xfrm>
            <a:off x="2406696" y="5668880"/>
            <a:ext cx="433060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spread of the three top-ranked structures per species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4AA1A2AF-D714-5820-C858-22569B377FCE}"/>
              </a:ext>
            </a:extLst>
          </p:cNvPr>
          <p:cNvGrpSpPr/>
          <p:nvPr/>
        </p:nvGrpSpPr>
        <p:grpSpPr>
          <a:xfrm>
            <a:off x="675645" y="2574565"/>
            <a:ext cx="7792711" cy="3094315"/>
            <a:chOff x="557655" y="2574565"/>
            <a:chExt cx="7792711" cy="3094315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0A393EE3-40D6-939F-EC14-D06EC874E6AA}"/>
                </a:ext>
              </a:extLst>
            </p:cNvPr>
            <p:cNvGrpSpPr/>
            <p:nvPr/>
          </p:nvGrpSpPr>
          <p:grpSpPr>
            <a:xfrm>
              <a:off x="557655" y="2574565"/>
              <a:ext cx="7068293" cy="3094315"/>
              <a:chOff x="663709" y="2574565"/>
              <a:chExt cx="7068293" cy="3094315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9F89C004-51AA-953C-1462-181D16B89E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0146"/>
              <a:stretch>
                <a:fillRect/>
              </a:stretch>
            </p:blipFill>
            <p:spPr>
              <a:xfrm>
                <a:off x="663709" y="2574565"/>
                <a:ext cx="6199390" cy="3094315"/>
              </a:xfrm>
              <a:prstGeom prst="rect">
                <a:avLst/>
              </a:prstGeom>
            </p:spPr>
          </p:pic>
          <p:pic>
            <p:nvPicPr>
              <p:cNvPr id="12" name="그림 11">
                <a:extLst>
                  <a:ext uri="{FF2B5EF4-FFF2-40B4-BE49-F238E27FC236}">
                    <a16:creationId xmlns:a16="http://schemas.microsoft.com/office/drawing/2014/main" id="{1FFB9154-1931-79F5-A72B-3D10BCC134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85133" y="3080758"/>
                <a:ext cx="1046869" cy="1788402"/>
              </a:xfrm>
              <a:prstGeom prst="rect">
                <a:avLst/>
              </a:prstGeom>
            </p:spPr>
          </p:pic>
        </p:grpSp>
        <p:graphicFrame>
          <p:nvGraphicFramePr>
            <p:cNvPr id="23" name="개체 22">
              <a:extLst>
                <a:ext uri="{FF2B5EF4-FFF2-40B4-BE49-F238E27FC236}">
                  <a16:creationId xmlns:a16="http://schemas.microsoft.com/office/drawing/2014/main" id="{75A384F0-6AF5-CAA7-9E17-698FD56E63D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015759032"/>
                </p:ext>
              </p:extLst>
            </p:nvPr>
          </p:nvGraphicFramePr>
          <p:xfrm>
            <a:off x="6757045" y="2722921"/>
            <a:ext cx="1593321" cy="279760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5" imgW="8381942" imgH="14716318" progId="Origin95.Graph">
                    <p:embed/>
                  </p:oleObj>
                </mc:Choice>
                <mc:Fallback>
                  <p:oleObj name="Graph" r:id="rId5" imgW="8381942" imgH="14716318" progId="Origin95.Grap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757045" y="2722921"/>
                          <a:ext cx="1593321" cy="2797601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1931BEF8-400F-33E0-5308-056F7AFE2A58}"/>
              </a:ext>
            </a:extLst>
          </p:cNvPr>
          <p:cNvSpPr txBox="1"/>
          <p:nvPr/>
        </p:nvSpPr>
        <p:spPr>
          <a:xfrm>
            <a:off x="7552813" y="4403739"/>
            <a:ext cx="9060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Median 0.037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8" name="Superseded banner"/>
          <p:cNvSpPr txBox="1"/>
          <p:nvPr/>
        </p:nvSpPr>
        <p:spPr>
          <a:xfrm>
            <a:off x="4480560" y="256032"/>
            <a:ext cx="4251960" cy="60350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18 version, superseded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a top three; the energy axis lacks element references (slide 8).</a:t>
            </a:r>
          </a:p>
        </p:txBody>
      </p:sp>
    </p:spTree>
    <p:extLst>
      <p:ext uri="{BB962C8B-B14F-4D97-AF65-F5344CB8AC3E}">
        <p14:creationId xmlns:p14="http://schemas.microsoft.com/office/powerpoint/2010/main" val="3279904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00AD1-2A25-79E8-19AE-CF5815F33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1BC55F2-E6D6-FADE-1AEB-2398AAA34C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5: A short anneal tests whether the arrangement survives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escape the nearest local minimum, each structure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heated briefly and relaxed again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trajectory is not an equilibrium structure and not a conductivity measurement.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endParaRPr kumimoji="1" lang="en-US" altLang="ko-KR" sz="1300" dirty="0">
              <a:solidFill>
                <a:schemeClr val="bg1"/>
              </a:solidFill>
              <a:latin typeface="Calibri" panose="020F0502020204030204" pitchFamily="34" charset="0"/>
              <a:ea typeface="-윤고딕340" pitchFamily="18" charset="-127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B01698-CB8C-8ED1-8F2A-FA43C2836E0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F80F9-6F73-3800-0B72-36710E19FA4D}"/>
              </a:ext>
            </a:extLst>
          </p:cNvPr>
          <p:cNvSpPr txBox="1"/>
          <p:nvPr/>
        </p:nvSpPr>
        <p:spPr>
          <a:xfrm>
            <a:off x="502920" y="5909911"/>
            <a:ext cx="8138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681 of 681 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found a lower arrangement, median </a:t>
            </a:r>
            <a:r>
              <a:rPr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0.81 eV per cell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the top ten of the ranking did not change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12F198-98CA-A3D2-DDDA-C3B3D4825577}"/>
              </a:ext>
            </a:extLst>
          </p:cNvPr>
          <p:cNvSpPr txBox="1"/>
          <p:nvPr/>
        </p:nvSpPr>
        <p:spPr>
          <a:xfrm>
            <a:off x="2406696" y="5668880"/>
            <a:ext cx="433060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a short anneal does  ·  the energy it recovered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8F48083-6A1B-E7C6-F1AB-0EDAF854AB18}"/>
              </a:ext>
            </a:extLst>
          </p:cNvPr>
          <p:cNvGrpSpPr/>
          <p:nvPr/>
        </p:nvGrpSpPr>
        <p:grpSpPr>
          <a:xfrm>
            <a:off x="571562" y="2467981"/>
            <a:ext cx="8000876" cy="2926858"/>
            <a:chOff x="502920" y="2320191"/>
            <a:chExt cx="8000876" cy="2926858"/>
          </a:xfrm>
        </p:grpSpPr>
        <p:pic>
          <p:nvPicPr>
            <p:cNvPr id="3" name="Picture 38" descr="step5_anneal_scheme.png">
              <a:extLst>
                <a:ext uri="{FF2B5EF4-FFF2-40B4-BE49-F238E27FC236}">
                  <a16:creationId xmlns:a16="http://schemas.microsoft.com/office/drawing/2014/main" id="{C97C5351-11EA-28C7-61F2-D5D1B0EC36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2920" y="2320192"/>
              <a:ext cx="3968496" cy="2926857"/>
            </a:xfrm>
            <a:prstGeom prst="rect">
              <a:avLst/>
            </a:prstGeom>
          </p:spPr>
        </p:pic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406E02E7-8A0B-AAB1-EAEA-D4FB4F153A5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08227965"/>
                </p:ext>
              </p:extLst>
            </p:nvPr>
          </p:nvGraphicFramePr>
          <p:xfrm>
            <a:off x="4672585" y="2320191"/>
            <a:ext cx="3831211" cy="292685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4" imgW="26422516" imgH="20183372" progId="Origin95.Graph">
                    <p:embed/>
                  </p:oleObj>
                </mc:Choice>
                <mc:Fallback>
                  <p:oleObj name="Graph" r:id="rId4" imgW="26422516" imgH="20183372" progId="Origin95.Grap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4672585" y="2320191"/>
                          <a:ext cx="3831211" cy="292685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29" name="Superseded banner"/>
          <p:cNvSpPr txBox="1"/>
          <p:nvPr/>
        </p:nvSpPr>
        <p:spPr>
          <a:xfrm>
            <a:off x="4480560" y="256032"/>
            <a:ext cx="4251960" cy="60350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18 version, superseded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'The top ten did not change' is withdrawn; current counts are on slide 9.</a:t>
            </a:r>
          </a:p>
        </p:txBody>
      </p:sp>
    </p:spTree>
    <p:extLst>
      <p:ext uri="{BB962C8B-B14F-4D97-AF65-F5344CB8AC3E}">
        <p14:creationId xmlns:p14="http://schemas.microsoft.com/office/powerpoint/2010/main" val="8628814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67EEF-8DD6-E073-7B56-D103AF03B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4F364FD-764F-4D68-A25C-026A20B26E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8: The oxidation onset from a grand-potential construction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locate decomposition,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was scanned as a voltage axis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result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0 K bulk thermodynamics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 rate and not a passivation prediction.</a:t>
            </a:r>
          </a:p>
          <a:p>
            <a:pPr marL="288000" lvl="0" latinLnBrk="0">
              <a:lnSpc>
                <a:spcPct val="150000"/>
              </a:lnSpc>
              <a:buClr>
                <a:schemeClr val="bg1"/>
              </a:buClr>
              <a:buSzPct val="75000"/>
              <a:defRPr/>
            </a:pPr>
            <a:endParaRPr kumimoji="1" lang="en-US" altLang="ko-KR" sz="1300" dirty="0">
              <a:solidFill>
                <a:schemeClr val="bg1"/>
              </a:solidFill>
              <a:latin typeface="Calibri" panose="020F0502020204030204" pitchFamily="34" charset="0"/>
              <a:ea typeface="-윤고딕340" pitchFamily="18" charset="-127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758251-D715-ACE5-4D91-64C5FDD63700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A2A530-FF1D-B4D5-5967-40590F4AD862}"/>
              </a:ext>
            </a:extLst>
          </p:cNvPr>
          <p:cNvSpPr txBox="1"/>
          <p:nvPr/>
        </p:nvSpPr>
        <p:spPr>
          <a:xfrm>
            <a:off x="1746546" y="5668880"/>
            <a:ext cx="56509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stability window of every candidate  ·  window width by chemical group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15" name="Picture 31" descr="step8_oxidation_windows.png">
            <a:extLst>
              <a:ext uri="{FF2B5EF4-FFF2-40B4-BE49-F238E27FC236}">
                <a16:creationId xmlns:a16="http://schemas.microsoft.com/office/drawing/2014/main" id="{BAB65E8C-4A9A-4855-0F08-99E0819B2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398" y="2669648"/>
            <a:ext cx="6959203" cy="29992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DB857DE-B9DF-9806-A0DD-CBEAE544B4A6}"/>
              </a:ext>
            </a:extLst>
          </p:cNvPr>
          <p:cNvSpPr txBox="1"/>
          <p:nvPr/>
        </p:nvSpPr>
        <p:spPr>
          <a:xfrm>
            <a:off x="161195" y="5909911"/>
            <a:ext cx="88216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five windows collapse below 0.05 V 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(3d metals Mn to Ni); </a:t>
            </a:r>
            <a:r>
              <a:rPr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width falls steadily from alkali metals to transition metals</a:t>
            </a:r>
          </a:p>
        </p:txBody>
      </p:sp>
      <p:sp>
        <p:nvSpPr>
          <p:cNvPr id="330" name="Superseded banner"/>
          <p:cNvSpPr txBox="1"/>
          <p:nvPr/>
        </p:nvSpPr>
        <p:spPr>
          <a:xfrm>
            <a:off x="4480560" y="256032"/>
            <a:ext cx="4251960" cy="60350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18 version, superseded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window definition changed; current windows are on slide 11.</a:t>
            </a:r>
          </a:p>
        </p:txBody>
      </p:sp>
    </p:spTree>
    <p:extLst>
      <p:ext uri="{BB962C8B-B14F-4D97-AF65-F5344CB8AC3E}">
        <p14:creationId xmlns:p14="http://schemas.microsoft.com/office/powerpoint/2010/main" val="11276070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20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experience behind this screening</a:t>
            </a:r>
          </a:p>
        </p:txBody>
      </p:sp>
      <p:sp>
        <p:nvSpPr>
          <p:cNvPr id="202" name="Tile 1"/>
          <p:cNvSpPr/>
          <p:nvPr/>
        </p:nvSpPr>
        <p:spPr>
          <a:xfrm>
            <a:off x="457200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3" name="Tile 1 title"/>
          <p:cNvSpPr txBox="1"/>
          <p:nvPr/>
        </p:nvSpPr>
        <p:spPr>
          <a:xfrm>
            <a:off x="512064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4" name="Tile 1 figure"/>
          <p:cNvSpPr/>
          <p:nvPr/>
        </p:nvSpPr>
        <p:spPr>
          <a:xfrm>
            <a:off x="548640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5" name="Tile 1 text"/>
          <p:cNvSpPr txBox="1"/>
          <p:nvPr/>
        </p:nvSpPr>
        <p:spPr>
          <a:xfrm>
            <a:off x="512064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(fixed-occupation NSCF), EOS, elastic constants — reference for every doped model</a:t>
            </a:r>
          </a:p>
        </p:txBody>
      </p:sp>
      <p:sp>
        <p:nvSpPr>
          <p:cNvPr id="206" name="Tile 2"/>
          <p:cNvSpPr/>
          <p:nvPr/>
        </p:nvSpPr>
        <p:spPr>
          <a:xfrm>
            <a:off x="2542032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7" name="Tile 2 title"/>
          <p:cNvSpPr txBox="1"/>
          <p:nvPr/>
        </p:nvSpPr>
        <p:spPr>
          <a:xfrm>
            <a:off x="2596896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8" name="Tile 2 figure"/>
          <p:cNvSpPr/>
          <p:nvPr/>
        </p:nvSpPr>
        <p:spPr>
          <a:xfrm>
            <a:off x="2633472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2 text"/>
          <p:cNvSpPr txBox="1"/>
          <p:nvPr/>
        </p:nvSpPr>
        <p:spPr>
          <a:xfrm>
            <a:off x="2596896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(Nd 5d vs 4f), −ICOHP bonding, cathode-interface (CEI) models — with the experimental team</a:t>
            </a:r>
          </a:p>
        </p:txBody>
      </p:sp>
      <p:sp>
        <p:nvSpPr>
          <p:cNvPr id="210" name="Tile 3"/>
          <p:cNvSpPr/>
          <p:nvPr/>
        </p:nvSpPr>
        <p:spPr>
          <a:xfrm>
            <a:off x="4626864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1" name="Tile 3 title"/>
          <p:cNvSpPr txBox="1"/>
          <p:nvPr/>
        </p:nvSpPr>
        <p:spPr>
          <a:xfrm>
            <a:off x="4681728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2" name="Tile 3 figure"/>
          <p:cNvSpPr/>
          <p:nvPr/>
        </p:nvSpPr>
        <p:spPr>
          <a:xfrm>
            <a:off x="4718304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3" name="Tile 3 text"/>
          <p:cNvSpPr txBox="1"/>
          <p:nvPr/>
        </p:nvSpPr>
        <p:spPr>
          <a:xfrm>
            <a:off x="4681728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Equation of state, bond-valence Li pathways, MLIP-MD Li transport (multi-seed, relative)</a:t>
            </a:r>
          </a:p>
        </p:txBody>
      </p:sp>
      <p:sp>
        <p:nvSpPr>
          <p:cNvPr id="214" name="Tile 4"/>
          <p:cNvSpPr/>
          <p:nvPr/>
        </p:nvSpPr>
        <p:spPr>
          <a:xfrm>
            <a:off x="6711696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5" name="Tile 4 title"/>
          <p:cNvSpPr txBox="1"/>
          <p:nvPr/>
        </p:nvSpPr>
        <p:spPr>
          <a:xfrm>
            <a:off x="6766560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6" name="Tile 4 figure"/>
          <p:cNvSpPr/>
          <p:nvPr/>
        </p:nvSpPr>
        <p:spPr>
          <a:xfrm>
            <a:off x="6803136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7" name="Tile 4 text"/>
          <p:cNvSpPr txBox="1"/>
          <p:nvPr/>
        </p:nvSpPr>
        <p:spPr>
          <a:xfrm>
            <a:off x="6766560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and migration (NEB) on h-BN-coated VGCF; layer-number (confinement) effect</a:t>
            </a:r>
          </a:p>
        </p:txBody>
      </p:sp>
      <p:sp>
        <p:nvSpPr>
          <p:cNvPr id="218" name="Tile 5"/>
          <p:cNvSpPr/>
          <p:nvPr/>
        </p:nvSpPr>
        <p:spPr>
          <a:xfrm>
            <a:off x="457200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9" name="Tile 5 title"/>
          <p:cNvSpPr txBox="1"/>
          <p:nvPr/>
        </p:nvSpPr>
        <p:spPr>
          <a:xfrm>
            <a:off x="512064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20" name="Tile 5 figure"/>
          <p:cNvSpPr/>
          <p:nvPr/>
        </p:nvSpPr>
        <p:spPr>
          <a:xfrm>
            <a:off x="548640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5 text"/>
          <p:cNvSpPr txBox="1"/>
          <p:nvPr/>
        </p:nvSpPr>
        <p:spPr>
          <a:xfrm>
            <a:off x="512064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barriers (NEB); universal MLIP found biased for Li₃N → DFT only</a:t>
            </a:r>
          </a:p>
        </p:txBody>
      </p:sp>
      <p:sp>
        <p:nvSpPr>
          <p:cNvPr id="222" name="Tile 6"/>
          <p:cNvSpPr/>
          <p:nvPr/>
        </p:nvSpPr>
        <p:spPr>
          <a:xfrm>
            <a:off x="2542032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3" name="Tile 6 title"/>
          <p:cNvSpPr txBox="1"/>
          <p:nvPr/>
        </p:nvSpPr>
        <p:spPr>
          <a:xfrm>
            <a:off x="2596896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24" name="Tile 6 figure"/>
          <p:cNvSpPr/>
          <p:nvPr/>
        </p:nvSpPr>
        <p:spPr>
          <a:xfrm>
            <a:off x="2633472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5" name="Tile 6 text"/>
          <p:cNvSpPr txBox="1"/>
          <p:nvPr/>
        </p:nvSpPr>
        <p:spPr>
          <a:xfrm>
            <a:off x="2596896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Amorphous interphase in Li₂S composite cathodes: glass model, DFT-checked MLIP, MLIP-MD — with a collaborator</a:t>
            </a:r>
          </a:p>
        </p:txBody>
      </p:sp>
      <p:sp>
        <p:nvSpPr>
          <p:cNvPr id="226" name="Tile 7"/>
          <p:cNvSpPr/>
          <p:nvPr/>
        </p:nvSpPr>
        <p:spPr>
          <a:xfrm>
            <a:off x="4626864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7" name="Tile 7 title"/>
          <p:cNvSpPr txBox="1"/>
          <p:nvPr/>
        </p:nvSpPr>
        <p:spPr>
          <a:xfrm>
            <a:off x="4681728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8" name="Tile 7 figure"/>
          <p:cNvSpPr/>
          <p:nvPr/>
        </p:nvSpPr>
        <p:spPr>
          <a:xfrm>
            <a:off x="4718304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9" name="Tile 7 text"/>
          <p:cNvSpPr txBox="1"/>
          <p:nvPr/>
        </p:nvSpPr>
        <p:spPr>
          <a:xfrm>
            <a:off x="4681728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of SE|SE and SE|graphite interfaces (slab DFT, MLIP cross-check) → contact input for DEM</a:t>
            </a:r>
          </a:p>
        </p:txBody>
      </p:sp>
      <p:sp>
        <p:nvSpPr>
          <p:cNvPr id="230" name="Tile 8"/>
          <p:cNvSpPr/>
          <p:nvPr/>
        </p:nvSpPr>
        <p:spPr>
          <a:xfrm>
            <a:off x="6711696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1" name="Tile 8 title"/>
          <p:cNvSpPr txBox="1"/>
          <p:nvPr/>
        </p:nvSpPr>
        <p:spPr>
          <a:xfrm>
            <a:off x="6766560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2" name="Tile 8 figure"/>
          <p:cNvSpPr/>
          <p:nvPr/>
        </p:nvSpPr>
        <p:spPr>
          <a:xfrm>
            <a:off x="6803136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3" name="Tile 8 text"/>
          <p:cNvSpPr txBox="1"/>
          <p:nvPr/>
        </p:nvSpPr>
        <p:spPr>
          <a:xfrm>
            <a:off x="6766560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Spin-state-resolved adsorption of a binder molecule on LiNiO₂ surfaces</a:t>
            </a:r>
          </a:p>
        </p:txBody>
      </p:sp>
      <p:sp>
        <p:nvSpPr>
          <p:cNvPr id="234" name="Carried over"/>
          <p:cNvSpPr txBox="1"/>
          <p:nvPr/>
        </p:nvSpPr>
        <p:spPr>
          <a:xfrm>
            <a:off x="457200" y="589788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Carried into this work:</a:t>
            </a:r>
            <a:r>
              <a:rPr kumimoji="1" lang="en-US" altLang="ko-KR" sz="11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DFT EOS/elastic · band-edge analysis · bond-valence maps · MLIP-MD protocol (multi-seed, relative) · NEB · grand-potential stability · interface energetics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3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purpose, what has run, what comes next</a:t>
            </a:r>
          </a:p>
        </p:txBody>
      </p:sp>
      <p:sp>
        <p:nvSpPr>
          <p:cNvPr id="236" name="Card Purpose"/>
          <p:cNvSpPr/>
          <p:nvPr/>
        </p:nvSpPr>
        <p:spPr>
          <a:xfrm>
            <a:off x="502920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Purpose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 dopant precursors for Li₆PS₅Cl that raise electrochemical and mechanical stability without slowing Li-ion transport.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Let the computation make the selection, with the selection rule stated in advance.</a:t>
            </a:r>
          </a:p>
        </p:txBody>
      </p:sp>
      <p:sp>
        <p:nvSpPr>
          <p:cNvPr id="237" name="Card Completed"/>
          <p:cNvSpPr/>
          <p:nvPr/>
        </p:nvSpPr>
        <p:spPr>
          <a:xfrm>
            <a:off x="4636008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 with one primary readout</a:t>
            </a:r>
          </a:p>
        </p:txBody>
      </p:sp>
      <p:sp>
        <p:nvSpPr>
          <p:cNvPr id="238" name="Card Running"/>
          <p:cNvSpPr/>
          <p:nvPr/>
        </p:nvSpPr>
        <p:spPr>
          <a:xfrm>
            <a:off x="502920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8F4FB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MLIP-MD Li diffusivity, Al₂O₃- vs Al₂S₃-derived doping (12 of 40 runs)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39" name="Card Next"/>
          <p:cNvSpPr/>
          <p:nvPr/>
        </p:nvSpPr>
        <p:spPr>
          <a:xfrm>
            <a:off x="4636008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Scope over the 237-design roster and the ranking margin, fixed in advance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whether Stage-1 descriptors predict the measured transport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validation → experiments</a:t>
            </a:r>
          </a:p>
        </p:txBody>
      </p:sp>
      <p:sp>
        <p:nvSpPr>
          <p:cNvPr id="240" name="Status note"/>
          <p:cNvSpPr txBox="1"/>
          <p:nvPr/>
        </p:nvSpPr>
        <p:spPr>
          <a:xfrm>
            <a:off x="502920" y="5833872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descriptors are used for exploration;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4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— exploration screen (Jun–Aug): workflow and status</a:t>
            </a:r>
          </a:p>
        </p:txBody>
      </p:sp>
      <p:graphicFrame>
        <p:nvGraphicFramePr>
          <p:cNvPr id="246" name="Workflow table"/>
          <p:cNvGraphicFramePr>
            <a:graphicFrameLocks noGrp="1"/>
          </p:cNvGraphicFramePr>
          <p:nvPr/>
        </p:nvGraphicFramePr>
        <p:xfrm>
          <a:off x="411480" y="1389888"/>
          <a:ext cx="8321040" cy="36758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20040"/>
                <a:gridCol w="1554480"/>
                <a:gridCol w="3429000"/>
                <a:gridCol w="1600200"/>
                <a:gridCol w="1417320"/>
              </a:tblGrid>
              <a:tr h="347472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Scale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Site enumeration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Charge-balanced placement of precursor cation and anion on Li, P, S, Cl sites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Universal MLIP (UMA), FIRE optimizer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3,675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Short anneal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at 500 K for 50 ps, then re-relaxation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693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Li-site landscape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Bond-valence site energy (softBV)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per precursor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(structural proxy)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/ elastic constants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DFT (Quantum ESPRESSO): Birch–Murnaghan fit; finite strains with ionic 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reference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done · C</a:t>
                      </a:r>
                      <a:r>
                        <a:rPr kumimoji="1" lang="en-US" altLang="ko-KR" sz="1150" baseline="-2500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ij</a:t>
                      </a: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running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Stability window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Grand-potential phase diagram from Materials Project phases (0 K)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8A5A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Recomputed (Oct)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Interface reactivity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Reaction energy of each doped composition vs cathodes, Li metal, carbon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4B5563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· product statistics on hold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47" name="Stage note"/>
          <p:cNvSpPr txBox="1"/>
          <p:nvPr/>
        </p:nvSpPr>
        <p:spPr>
          <a:xfrm>
            <a:off x="411480" y="5138928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were completed in an August re-run, and As₂S₃ was added to the stability and interface tables on October 14. Since the September audit these outputs are </a:t>
            </a:r>
            <a:r>
              <a:rPr kumimoji="1" lang="en-US" altLang="ko-KR" sz="11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Li transport is measured in Stage 2.</a:t>
            </a:r>
          </a:p>
        </p:txBody>
      </p:sp>
      <p:sp>
        <p:nvSpPr>
          <p:cNvPr id="248" name="Abbreviations"/>
          <p:cNvSpPr txBox="1"/>
          <p:nvPr/>
        </p:nvSpPr>
        <p:spPr>
          <a:xfrm>
            <a:off x="411480" y="5715000"/>
            <a:ext cx="832104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MLIP: machine-learning interatomic potential (UMA, a universal model) · EOS: equation of state · all Stage-1 configurations use one dopant level (one precursor unit per four formula units)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5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stability window and interfacial reactivity</a:t>
            </a:r>
          </a:p>
        </p:txBody>
      </p:sp>
      <p:sp>
        <p:nvSpPr>
          <p:cNvPr id="256" name="Window bullets"/>
          <p:cNvSpPr txBox="1"/>
          <p:nvPr/>
        </p:nvSpPr>
        <p:spPr>
          <a:xfrm>
            <a:off x="502920" y="1371600"/>
            <a:ext cx="4160520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diagram: the Li chemical potential is scanned as a voltage (0 K, bulk thermodynamics).</a:t>
            </a:r>
          </a:p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= voltage range where the composition decomposes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without Li exchange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if no such range exists, no stable window.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the 91 precursors in the stability table with this definition (Oct); the earlier definition overestimated window widths.</a:t>
            </a:r>
          </a:p>
        </p:txBody>
      </p:sp>
      <p:sp>
        <p:nvSpPr>
          <p:cNvPr id="257" name="Schematic title"/>
          <p:cNvSpPr txBox="1"/>
          <p:nvPr/>
        </p:nvSpPr>
        <p:spPr>
          <a:xfrm>
            <a:off x="548640" y="37307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Li₆PS₅Cl host (MP phases, 0 K)</a:t>
            </a:r>
          </a:p>
        </p:txBody>
      </p:sp>
      <p:sp>
        <p:nvSpPr>
          <p:cNvPr id="258" name="Window label"/>
          <p:cNvSpPr txBox="1"/>
          <p:nvPr/>
        </p:nvSpPr>
        <p:spPr>
          <a:xfrm>
            <a:off x="1481203" y="4041648"/>
            <a:ext cx="20116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0.423 V</a:t>
            </a:r>
          </a:p>
        </p:txBody>
      </p:sp>
      <p:sp>
        <p:nvSpPr>
          <p:cNvPr id="259" name="Reduction zone"/>
          <p:cNvSpPr/>
          <p:nvPr/>
        </p:nvSpPr>
        <p:spPr>
          <a:xfrm>
            <a:off x="685800" y="4315968"/>
            <a:ext cx="1080405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60" name="Window zone"/>
          <p:cNvSpPr/>
          <p:nvPr/>
        </p:nvSpPr>
        <p:spPr>
          <a:xfrm>
            <a:off x="1766205" y="4315968"/>
            <a:ext cx="1441676" cy="384048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61" name="Oxidation zone"/>
          <p:cNvSpPr/>
          <p:nvPr/>
        </p:nvSpPr>
        <p:spPr>
          <a:xfrm>
            <a:off x="3207881" y="4315968"/>
            <a:ext cx="1226959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62" name="Tick low"/>
          <p:cNvSpPr txBox="1"/>
          <p:nvPr/>
        </p:nvSpPr>
        <p:spPr>
          <a:xfrm>
            <a:off x="1354725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63" name="Tick high"/>
          <p:cNvSpPr txBox="1"/>
          <p:nvPr/>
        </p:nvSpPr>
        <p:spPr>
          <a:xfrm>
            <a:off x="2796401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64" name="Axis label"/>
          <p:cNvSpPr txBox="1"/>
          <p:nvPr/>
        </p:nvSpPr>
        <p:spPr>
          <a:xfrm>
            <a:off x="685800" y="495604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65" name="Reactions"/>
          <p:cNvSpPr txBox="1"/>
          <p:nvPr/>
        </p:nvSpPr>
        <p:spPr>
          <a:xfrm>
            <a:off x="548640" y="5212080"/>
            <a:ext cx="411480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Inside the window: Li₆PS₅Cl → Li₃PS₄ + Li₂S + LiCl (no Li exchange); above 2.140 V: oxidation with Li release</a:t>
            </a:r>
          </a:p>
        </p:txBody>
      </p:sp>
      <p:pic>
        <p:nvPicPr>
          <p:cNvPr id="266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794760" cy="1442295"/>
          </a:xfrm>
          <a:prstGeom prst="rect">
            <a:avLst/>
          </a:prstGeom>
        </p:spPr>
      </p:pic>
      <p:sp>
        <p:nvSpPr>
          <p:cNvPr id="267" name="Caption right"/>
          <p:cNvSpPr txBox="1"/>
          <p:nvPr/>
        </p:nvSpPr>
        <p:spPr>
          <a:xfrm>
            <a:off x="4846320" y="2898648"/>
            <a:ext cx="37947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reaction energy at four interfaces &gt;</a:t>
            </a:r>
          </a:p>
        </p:txBody>
      </p:sp>
      <p:sp>
        <p:nvSpPr>
          <p:cNvPr id="268" name="Credit right"/>
          <p:cNvSpPr txBox="1"/>
          <p:nvPr/>
        </p:nvSpPr>
        <p:spPr>
          <a:xfrm>
            <a:off x="4846320" y="3136392"/>
            <a:ext cx="37947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69" name="Interface bullets"/>
          <p:cNvSpPr txBox="1"/>
          <p:nvPr/>
        </p:nvSpPr>
        <p:spPr>
          <a:xfrm>
            <a:off x="4846320" y="3520440"/>
            <a:ext cx="3794760" cy="2011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phase data: reaction energy of each doped composition against LiCoO₂, LiNiO₂, LiMn₂O₄, Li metal and carbon.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separate table treats the precursor itself as a second phase (coating view, as in the figure); its product band gaps were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re-derived with ground-state phases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(E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hull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0) on October 14 and are not used yet, because the metal or insulator call depends on MP band-gap values.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7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2: rules fixed before new results</a:t>
            </a:r>
          </a:p>
        </p:txBody>
      </p:sp>
      <p:sp>
        <p:nvSpPr>
          <p:cNvPr id="272" name="Audit findings"/>
          <p:cNvSpPr/>
          <p:nvPr/>
        </p:nvSpPr>
        <p:spPr>
          <a:xfrm>
            <a:off x="502920" y="1417320"/>
            <a:ext cx="3931920" cy="32918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What the audit of Stage 1 found</a:t>
            </a:r>
          </a:p>
          <a:p>
            <a:pPr marL="182880" indent="-182880" latinLnBrk="0">
              <a:lnSpc>
                <a:spcPct val="108000"/>
              </a:lnSpc>
              <a:spcAft>
                <a:spcPts val="33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level: every configuration has one precursor unit per four formula units.</a:t>
            </a:r>
          </a:p>
          <a:p>
            <a:pPr marL="182880" indent="-182880" latinLnBrk="0">
              <a:lnSpc>
                <a:spcPct val="108000"/>
              </a:lnSpc>
              <a:spcAft>
                <a:spcPts val="33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reference ~40 % above the DFT equilibrium volume of the same composition → Stage 2 builds from the DFT-equilibrium host.</a:t>
            </a:r>
          </a:p>
          <a:p>
            <a:pPr marL="182880" indent="-182880" latinLnBrk="0">
              <a:lnSpc>
                <a:spcPct val="108000"/>
              </a:lnSpc>
              <a:spcAft>
                <a:spcPts val="33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Young's modulus scattered among configurations of one precursor as much as between precursors (ratio 1.1; substitution energy 0.2).</a:t>
            </a:r>
          </a:p>
          <a:p>
            <a:pPr marL="182880" indent="-182880" latinLnBrk="0">
              <a:lnSpc>
                <a:spcPct val="108000"/>
              </a:lnSpc>
              <a:spcAft>
                <a:spcPts val="33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into one score without a stated primary objective.</a:t>
            </a:r>
          </a:p>
          <a:p>
            <a:pPr marL="182880" indent="-182880" latinLnBrk="0">
              <a:lnSpc>
                <a:spcPct val="108000"/>
              </a:lnSpc>
              <a:buClr>
                <a:srgbClr val="0070C0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Found on Oct 14 while rescoring — the energy term had no reference for the added elements, so part of the oxide lead reflects bond strength.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4818888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Stage-1 outputs are kept as </a:t>
            </a:r>
            <a:r>
              <a:rPr kumimoji="1" lang="en-US" altLang="ko-KR" sz="11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approved dopant ranking: none.</a:t>
            </a:r>
          </a:p>
        </p:txBody>
      </p:sp>
      <p:sp>
        <p:nvSpPr>
          <p:cNvPr id="274" name="Rules title"/>
          <p:cNvSpPr txBox="1"/>
          <p:nvPr/>
        </p:nvSpPr>
        <p:spPr>
          <a:xfrm>
            <a:off x="4617720" y="1371600"/>
            <a:ext cx="4023360" cy="310896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before any new result (Sep 12–19)</a:t>
            </a:r>
          </a:p>
        </p:txBody>
      </p:sp>
      <p:sp>
        <p:nvSpPr>
          <p:cNvPr id="275" name="Rule 1"/>
          <p:cNvSpPr/>
          <p:nvPr/>
        </p:nvSpPr>
        <p:spPr>
          <a:xfrm>
            <a:off x="4617720" y="1737360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Primary readout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D*(host): Li tracer diffusivity relative to the host, compared across designs</a:t>
            </a:r>
          </a:p>
        </p:txBody>
      </p:sp>
      <p:sp>
        <p:nvSpPr>
          <p:cNvPr id="276" name="Rule 1 status"/>
          <p:cNvSpPr/>
          <p:nvPr/>
        </p:nvSpPr>
        <p:spPr>
          <a:xfrm>
            <a:off x="7086600" y="1783080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7" name="Rule 2"/>
          <p:cNvSpPr/>
          <p:nvPr/>
        </p:nvSpPr>
        <p:spPr>
          <a:xfrm>
            <a:off x="4617720" y="2487168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designs; one design = one composition (file names are not identifiers)</a:t>
            </a:r>
          </a:p>
        </p:txBody>
      </p:sp>
      <p:sp>
        <p:nvSpPr>
          <p:cNvPr id="278" name="Rule 2 status"/>
          <p:cNvSpPr/>
          <p:nvPr/>
        </p:nvSpPr>
        <p:spPr>
          <a:xfrm>
            <a:off x="7086600" y="253288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9" name="Rule 3"/>
          <p:cNvSpPr/>
          <p:nvPr/>
        </p:nvSpPr>
        <p:spPr>
          <a:xfrm>
            <a:off x="4617720" y="3236976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Parent sites fixed before substitution · full charge balance incl. vacancies · refusals counted separately</a:t>
            </a:r>
          </a:p>
        </p:txBody>
      </p:sp>
      <p:sp>
        <p:nvSpPr>
          <p:cNvPr id="280" name="Rule 3 status"/>
          <p:cNvSpPr/>
          <p:nvPr/>
        </p:nvSpPr>
        <p:spPr>
          <a:xfrm>
            <a:off x="7086600" y="3282696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1" name="Rule 4"/>
          <p:cNvSpPr/>
          <p:nvPr/>
        </p:nvSpPr>
        <p:spPr>
          <a:xfrm>
            <a:off x="4617720" y="3986784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configuration with the median substitution energy stands for its design</a:t>
            </a:r>
          </a:p>
        </p:txBody>
      </p:sp>
      <p:sp>
        <p:nvSpPr>
          <p:cNvPr id="282" name="Rule 4 status"/>
          <p:cNvSpPr/>
          <p:nvPr/>
        </p:nvSpPr>
        <p:spPr>
          <a:xfrm>
            <a:off x="7086600" y="4032504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3" name="Rule 5"/>
          <p:cNvSpPr/>
          <p:nvPr/>
        </p:nvSpPr>
        <p:spPr>
          <a:xfrm>
            <a:off x="4617720" y="4736592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How large a difference must be before one design is called better (δ)</a:t>
            </a:r>
          </a:p>
        </p:txBody>
      </p:sp>
      <p:sp>
        <p:nvSpPr>
          <p:cNvPr id="284" name="Rule 5 status"/>
          <p:cNvSpPr/>
          <p:nvPr/>
        </p:nvSpPr>
        <p:spPr>
          <a:xfrm>
            <a:off x="7086600" y="4782312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8A5A0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Proposed · δ open</a:t>
            </a:r>
          </a:p>
        </p:txBody>
      </p:sp>
      <p:sp>
        <p:nvSpPr>
          <p:cNvPr id="285" name="Scope note"/>
          <p:cNvSpPr txBox="1"/>
          <p:nvPr/>
        </p:nvSpPr>
        <p:spPr>
          <a:xfrm>
            <a:off x="502920" y="5623560"/>
            <a:ext cx="813816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≠ 237 runs: the execution scope is decided </a:t>
            </a:r>
            <a:r>
              <a:rPr kumimoji="1" lang="en-US" altLang="ko-KR" sz="12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after the pilot</a:t>
            </a: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the pilot tests the protocol on two Al precursors (next slides).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86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Li transport by MLIP molecular dynamics: setup</a:t>
            </a:r>
          </a:p>
        </p:txBody>
      </p:sp>
      <p:sp>
        <p:nvSpPr>
          <p:cNvPr id="287" name="Setup bullets"/>
          <p:cNvSpPr txBox="1"/>
          <p:nvPr/>
        </p:nvSpPr>
        <p:spPr>
          <a:xfrm>
            <a:off x="502920" y="1371600"/>
            <a:ext cx="4206240" cy="2651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Pilot question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does the precursor anion (Al₂O₃ vs Al₂S₃) change Li diffusivity in Al-doped Li₆PS₅Cl — and can the protocol resolve it?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ratio of Li tracer diffusivities from MSD slopes — relative, not an absolute conductivity.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plan fixed before the runs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diffusive-regime checks, then an equivalence test (margin ±ln 1.5) on the log-ratio.</a:t>
            </a:r>
          </a:p>
        </p:txBody>
      </p:sp>
      <p:sp>
        <p:nvSpPr>
          <p:cNvPr id="288" name="Recipe A"/>
          <p:cNvSpPr/>
          <p:nvPr/>
        </p:nvSpPr>
        <p:spPr>
          <a:xfrm>
            <a:off x="54864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Li vacancies</a:t>
            </a:r>
          </a:p>
        </p:txBody>
      </p:sp>
      <p:sp>
        <p:nvSpPr>
          <p:cNvPr id="289" name="Recipe B"/>
          <p:cNvSpPr/>
          <p:nvPr/>
        </p:nvSpPr>
        <p:spPr>
          <a:xfrm>
            <a:off x="269748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Li vacancies (S unchanged)</a:t>
            </a:r>
          </a:p>
        </p:txBody>
      </p:sp>
      <p:sp>
        <p:nvSpPr>
          <p:cNvPr id="290" name="Recipe note"/>
          <p:cNvSpPr txBox="1"/>
          <p:nvPr/>
        </p:nvSpPr>
        <p:spPr>
          <a:xfrm>
            <a:off x="548640" y="5047488"/>
            <a:ext cx="4069080" cy="6858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 — only the precursor anion differs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D(Al₂O₃) / D(Al₂S₃)</a:t>
            </a:r>
          </a:p>
        </p:txBody>
      </p:sp>
      <p:graphicFrame>
        <p:nvGraphicFramePr>
          <p:cNvPr id="291" name="Settings table"/>
          <p:cNvGraphicFramePr>
            <a:graphicFrameLocks noGrp="1"/>
          </p:cNvGraphicFramePr>
          <p:nvPr/>
        </p:nvGraphicFramePr>
        <p:xfrm>
          <a:off x="4846320" y="1371600"/>
          <a:ext cx="3794760" cy="3657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80160"/>
                <a:gridCol w="2514600"/>
              </a:tblGrid>
              <a:tr h="310896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 thermostat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Temperature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1000 K (selected in a pilot)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 production;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 (edge ≈ 1.6 nm)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 configurations × 2 precursors × 2 seeds = 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Diffusive-regime checks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sub-window MSD slope ratio 0.8–1.2 · D spread ≤ 10 % · ≥ 50 Li hops · framework intact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2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93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temperature choice, status and limits</a:t>
            </a:r>
          </a:p>
        </p:txBody>
      </p:sp>
      <p:sp>
        <p:nvSpPr>
          <p:cNvPr id="294" name="Status bullets"/>
          <p:cNvSpPr txBox="1"/>
          <p:nvPr/>
        </p:nvSpPr>
        <p:spPr>
          <a:xfrm>
            <a:off x="502920" y="1371600"/>
            <a:ext cx="4343400" cy="2834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pilot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(40 runs, 200 ps): Li hopped (~4,000 hops per run) but the MSD never became linear over 2–100 ps → no diffusivity reported (UMA, this cell and volume).</a:t>
            </a:r>
          </a:p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Temperature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then chosen by a predefined pilot: 800 K failed and 1000 K passed the diffusive-regime checks.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Limits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the ~1.6-nm cell is below the ~2-nm bulk minimum suggested for MLIP transport, and rankings at high T need not hold at room temperature → relative, condition-specific result.</a:t>
            </a:r>
          </a:p>
        </p:txBody>
      </p:sp>
      <p:sp>
        <p:nvSpPr>
          <p:cNvPr id="295" name="Status panel"/>
          <p:cNvSpPr/>
          <p:nvPr/>
        </p:nvSpPr>
        <p:spPr>
          <a:xfrm>
            <a:off x="502920" y="4297680"/>
            <a:ext cx="4343400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6" name="Status title"/>
          <p:cNvSpPr txBox="1"/>
          <p:nvPr/>
        </p:nvSpPr>
        <p:spPr>
          <a:xfrm>
            <a:off x="640080" y="4352544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297" name="Bar1 label"/>
          <p:cNvSpPr txBox="1"/>
          <p:nvPr/>
        </p:nvSpPr>
        <p:spPr>
          <a:xfrm>
            <a:off x="640080" y="466344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298" name="Bar1 bg"/>
          <p:cNvSpPr/>
          <p:nvPr/>
        </p:nvSpPr>
        <p:spPr>
          <a:xfrm>
            <a:off x="1463040" y="469087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9" name="Bar1 fg"/>
          <p:cNvSpPr/>
          <p:nvPr/>
        </p:nvSpPr>
        <p:spPr>
          <a:xfrm>
            <a:off x="1463040" y="4690872"/>
            <a:ext cx="71323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0" name="Bar1 value"/>
          <p:cNvSpPr txBox="1"/>
          <p:nvPr/>
        </p:nvSpPr>
        <p:spPr>
          <a:xfrm>
            <a:off x="3886200" y="4645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301" name="Bar2 label"/>
          <p:cNvSpPr txBox="1"/>
          <p:nvPr/>
        </p:nvSpPr>
        <p:spPr>
          <a:xfrm>
            <a:off x="640080" y="498348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302" name="Bar2 bg"/>
          <p:cNvSpPr/>
          <p:nvPr/>
        </p:nvSpPr>
        <p:spPr>
          <a:xfrm>
            <a:off x="1463040" y="501091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3" name="Bar2 fg"/>
          <p:cNvSpPr/>
          <p:nvPr/>
        </p:nvSpPr>
        <p:spPr>
          <a:xfrm>
            <a:off x="1463040" y="5010912"/>
            <a:ext cx="52093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4" name="Bar2 value"/>
          <p:cNvSpPr txBox="1"/>
          <p:nvPr/>
        </p:nvSpPr>
        <p:spPr>
          <a:xfrm>
            <a:off x="3886200" y="4965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305" name="Status text"/>
          <p:cNvSpPr txBox="1"/>
          <p:nvPr/>
        </p:nvSpPr>
        <p:spPr>
          <a:xfrm>
            <a:off x="640080" y="5285232"/>
            <a:ext cx="41148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Completion expected around Oct 21; the ratio is analysed once, after all 40 runs.</a:t>
            </a:r>
          </a:p>
        </p:txBody>
      </p:sp>
      <p:pic>
        <p:nvPicPr>
          <p:cNvPr id="306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11880" cy="3207754"/>
          </a:xfrm>
          <a:prstGeom prst="rect">
            <a:avLst/>
          </a:prstGeom>
        </p:spPr>
      </p:pic>
      <p:sp>
        <p:nvSpPr>
          <p:cNvPr id="307" name="Caption right"/>
          <p:cNvSpPr txBox="1"/>
          <p:nvPr/>
        </p:nvSpPr>
        <p:spPr>
          <a:xfrm>
            <a:off x="4937760" y="4597642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diffusivity vs 1000/T in four LGPS-type compounds: the ordering changes between 700 and 1300 K &gt;</a:t>
            </a:r>
          </a:p>
        </p:txBody>
      </p:sp>
      <p:sp>
        <p:nvSpPr>
          <p:cNvPr id="308" name="Credit right"/>
          <p:cNvSpPr txBox="1"/>
          <p:nvPr/>
        </p:nvSpPr>
        <p:spPr>
          <a:xfrm>
            <a:off x="4937760" y="5100562"/>
            <a:ext cx="37033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309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310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 and purpose</a:t>
            </a:r>
          </a:p>
        </p:txBody>
      </p:sp>
      <p:sp>
        <p:nvSpPr>
          <p:cNvPr id="311" name="Label Now → late Oct"/>
          <p:cNvSpPr/>
          <p:nvPr/>
        </p:nvSpPr>
        <p:spPr>
          <a:xfrm>
            <a:off x="502920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Now → late Oct</a:t>
            </a:r>
          </a:p>
        </p:txBody>
      </p:sp>
      <p:sp>
        <p:nvSpPr>
          <p:cNvPr id="312" name="Content Now → late Oct"/>
          <p:cNvSpPr/>
          <p:nvPr/>
        </p:nvSpPr>
        <p:spPr>
          <a:xfrm>
            <a:off x="2194560" y="1417320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Finish the 40 MD runs and analyse once with the predefined criteria. The follow-up for each outcome (difference · equivalent · inconclusive · criteria not met) is written down before the analysis.</a:t>
            </a:r>
          </a:p>
        </p:txBody>
      </p:sp>
      <p:sp>
        <p:nvSpPr>
          <p:cNvPr id="313" name="Label Next 1–2 months"/>
          <p:cNvSpPr/>
          <p:nvPr/>
        </p:nvSpPr>
        <p:spPr>
          <a:xfrm>
            <a:off x="502920" y="2395728"/>
            <a:ext cx="1600200" cy="12984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1–2 months</a:t>
            </a:r>
          </a:p>
        </p:txBody>
      </p:sp>
      <p:sp>
        <p:nvSpPr>
          <p:cNvPr id="314" name="Content Next 1–2 months"/>
          <p:cNvSpPr/>
          <p:nvPr/>
        </p:nvSpPr>
        <p:spPr>
          <a:xfrm>
            <a:off x="2194560" y="2395728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over the 237-design roster and the ranking margin δ — fixed before any result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 Stage-1 descriptors predict the measured transport? (rank correlation with a confidence interval)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and interface products with ground-state phases (As₂S₃ added) · DFT elastic constants</a:t>
            </a:r>
          </a:p>
        </p:txBody>
      </p:sp>
      <p:sp>
        <p:nvSpPr>
          <p:cNvPr id="315" name="Label Then"/>
          <p:cNvSpPr/>
          <p:nvPr/>
        </p:nvSpPr>
        <p:spPr>
          <a:xfrm>
            <a:off x="502920" y="3785616"/>
            <a:ext cx="1600200" cy="731520"/>
          </a:xfrm>
          <a:prstGeom prst="roundRect">
            <a:avLst>
              <a:gd name="adj" fmla="val 6000"/>
            </a:avLst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16" name="Content Then"/>
          <p:cNvSpPr/>
          <p:nvPr/>
        </p:nvSpPr>
        <p:spPr>
          <a:xfrm>
            <a:off x="2194560" y="3785616"/>
            <a:ext cx="6446520" cy="7315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Combine the axes with a selection rule fixed in advance → shortlist → DFT validation → synthesis and testing with the experimental team.</a:t>
            </a:r>
          </a:p>
        </p:txBody>
      </p:sp>
      <p:sp>
        <p:nvSpPr>
          <p:cNvPr id="317" name="Label Method upgrades"/>
          <p:cNvSpPr/>
          <p:nvPr/>
        </p:nvSpPr>
        <p:spPr>
          <a:xfrm>
            <a:off x="502920" y="4626864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6B728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</a:t>
            </a:r>
          </a:p>
        </p:txBody>
      </p:sp>
      <p:sp>
        <p:nvSpPr>
          <p:cNvPr id="318" name="Content Method upgrades"/>
          <p:cNvSpPr/>
          <p:nvPr/>
        </p:nvSpPr>
        <p:spPr>
          <a:xfrm>
            <a:off x="2194560" y="4626864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Larger cells (≥ 2 nm) and longer runs (≥ 0.3 ns) · fine-tuned MLIP · ensemble uncertainty · dopant concentration from charge-neutral defect thermodynamics</a:t>
            </a:r>
          </a:p>
        </p:txBody>
      </p:sp>
      <p:sp>
        <p:nvSpPr>
          <p:cNvPr id="319" name="Goal"/>
          <p:cNvSpPr txBox="1"/>
          <p:nvPr/>
        </p:nvSpPr>
        <p:spPr>
          <a:xfrm>
            <a:off x="502920" y="555955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precursor, with the selection rule stated in advance.</a:t>
            </a:r>
          </a:p>
        </p:txBody>
      </p:sp>
      <p:sp>
        <p:nvSpPr>
          <p:cNvPr id="320" name="References"/>
          <p:cNvSpPr txBox="1"/>
          <p:nvPr/>
        </p:nvSpPr>
        <p:spPr>
          <a:xfrm>
            <a:off x="502920" y="596188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21" name="Summary Done"/>
          <p:cNvSpPr/>
          <p:nvPr/>
        </p:nvSpPr>
        <p:spPr>
          <a:xfrm>
            <a:off x="502920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8F3EA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Stage-2 rules fixed before new results</a:t>
            </a:r>
          </a:p>
        </p:txBody>
      </p:sp>
      <p:sp>
        <p:nvSpPr>
          <p:cNvPr id="322" name="Summary Running"/>
          <p:cNvSpPr/>
          <p:nvPr/>
        </p:nvSpPr>
        <p:spPr>
          <a:xfrm>
            <a:off x="3310128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3EEF9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Stage-2 pilot: Li diffusivity ratio, Al₂O₃ vs Al₂S₃ (40 runs; ~Oct 21)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</a:t>
            </a:r>
          </a:p>
        </p:txBody>
      </p:sp>
      <p:sp>
        <p:nvSpPr>
          <p:cNvPr id="323" name="Summary Next"/>
          <p:cNvSpPr/>
          <p:nvPr/>
        </p:nvSpPr>
        <p:spPr>
          <a:xfrm>
            <a:off x="6117336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and ranking margin, fixed in advance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Stage-1 descriptors against the measured transport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→ experiment</a:t>
            </a:r>
          </a:p>
        </p:txBody>
      </p:sp>
      <p:sp>
        <p:nvSpPr>
          <p:cNvPr id="324" name="Bottom line"/>
          <p:cNvSpPr txBox="1"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2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32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