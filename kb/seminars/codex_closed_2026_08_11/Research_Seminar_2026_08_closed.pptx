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9fdde8e7264fcf" /><Relationship Type="http://schemas.openxmlformats.org/officeDocument/2006/relationships/extended-properties" Target="/docProps/app.xml" Id="R26b3978c70e04ed5" /><Relationship Type="http://schemas.openxmlformats.org/officeDocument/2006/relationships/officeDocument" Target="/ppt/presentation.xml" Id="R281ae17e4884477a" /></Relationships>
</file>

<file path=ppt/presentation.xml><?xml version="1.0" encoding="utf-8"?>
<p:presentation xmlns:p="http://schemas.openxmlformats.org/presentationml/2006/main">
  <p:sldMasterIdLst>
    <p:sldMasterId xmlns:r="http://schemas.openxmlformats.org/officeDocument/2006/relationships" id="2147483648" r:id="R072e157e6a2148a2"/>
  </p:sldMasterIdLst>
  <p:notesMasterIdLst>
    <p:notesMasterId xmlns:r="http://schemas.openxmlformats.org/officeDocument/2006/relationships" r:id="R8c6be93213614245"/>
  </p:notesMasterIdLst>
  <p:sldIdLst>
    <p:sldId xmlns:r="http://schemas.openxmlformats.org/officeDocument/2006/relationships" id="256" r:id="R7d310728a6664776"/>
    <p:sldId xmlns:r="http://schemas.openxmlformats.org/officeDocument/2006/relationships" id="257" r:id="Rcf9a5959e368433e"/>
    <p:sldId xmlns:r="http://schemas.openxmlformats.org/officeDocument/2006/relationships" id="258" r:id="Rf34153f278764d25"/>
    <p:sldId xmlns:r="http://schemas.openxmlformats.org/officeDocument/2006/relationships" id="259" r:id="R130f4fd1d59c45f8"/>
    <p:sldId xmlns:r="http://schemas.openxmlformats.org/officeDocument/2006/relationships" id="260" r:id="R58d71ad771df4f75"/>
    <p:sldId xmlns:r="http://schemas.openxmlformats.org/officeDocument/2006/relationships" id="261" r:id="Rf6a6d258c8ea4566"/>
    <p:sldId xmlns:r="http://schemas.openxmlformats.org/officeDocument/2006/relationships" id="262" r:id="R1b688a109e3a4810"/>
    <p:sldId xmlns:r="http://schemas.openxmlformats.org/officeDocument/2006/relationships" id="263" r:id="R411fc961ba5e4945"/>
    <p:sldId xmlns:r="http://schemas.openxmlformats.org/officeDocument/2006/relationships" id="264" r:id="R2ef1649be3fe4b90"/>
    <p:sldId xmlns:r="http://schemas.openxmlformats.org/officeDocument/2006/relationships" id="265" r:id="R3826ea62c3c249ce"/>
    <p:sldId xmlns:r="http://schemas.openxmlformats.org/officeDocument/2006/relationships" id="266" r:id="R0d12fec3dd444381"/>
    <p:sldId xmlns:r="http://schemas.openxmlformats.org/officeDocument/2006/relationships" id="267" r:id="Rcedd644c93ea4aec"/>
    <p:sldId xmlns:r="http://schemas.openxmlformats.org/officeDocument/2006/relationships" id="268" r:id="R291ff99c36cd44a2"/>
    <p:sldId xmlns:r="http://schemas.openxmlformats.org/officeDocument/2006/relationships" id="269" r:id="R7aa8cfb9f5214d41"/>
    <p:sldId xmlns:r="http://schemas.openxmlformats.org/officeDocument/2006/relationships" id="270" r:id="R9b600bef74e54822"/>
    <p:sldId xmlns:r="http://schemas.openxmlformats.org/officeDocument/2006/relationships" id="271" r:id="Rd20655c4cdf34489"/>
    <p:sldId xmlns:r="http://schemas.openxmlformats.org/officeDocument/2006/relationships" id="272" r:id="R194fe89afedf41bc"/>
    <p:sldId xmlns:r="http://schemas.openxmlformats.org/officeDocument/2006/relationships" id="273" r:id="Rb4a7b18347324069"/>
    <p:sldId xmlns:r="http://schemas.openxmlformats.org/officeDocument/2006/relationships" id="274" r:id="Rb3dc08d61fd34783"/>
    <p:sldId xmlns:r="http://schemas.openxmlformats.org/officeDocument/2006/relationships" id="275" r:id="Re03a2768efaf45bd"/>
    <p:sldId xmlns:r="http://schemas.openxmlformats.org/officeDocument/2006/relationships" id="276" r:id="Rd4db5b96517c4154"/>
    <p:sldId xmlns:r="http://schemas.openxmlformats.org/officeDocument/2006/relationships" id="277" r:id="R61a6ab8e6e464728"/>
    <p:sldId xmlns:r="http://schemas.openxmlformats.org/officeDocument/2006/relationships" id="278" r:id="Rc1a3242d7f034ae7"/>
    <p:sldId xmlns:r="http://schemas.openxmlformats.org/officeDocument/2006/relationships" id="279" r:id="Rdcd2fb72914c4208"/>
    <p:sldId xmlns:r="http://schemas.openxmlformats.org/officeDocument/2006/relationships" id="280" r:id="R3fc1a6e67ae54b83"/>
    <p:sldId xmlns:r="http://schemas.openxmlformats.org/officeDocument/2006/relationships" id="281" r:id="Refcac9e346dc46a8"/>
    <p:sldId xmlns:r="http://schemas.openxmlformats.org/officeDocument/2006/relationships" id="282" r:id="R16a849aba8af4c44"/>
    <p:sldId xmlns:r="http://schemas.openxmlformats.org/officeDocument/2006/relationships" id="283" r:id="Ra7ad489eb7054536"/>
    <p:sldId xmlns:r="http://schemas.openxmlformats.org/officeDocument/2006/relationships" id="284" r:id="R3edb6f37b3054e04"/>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d2e3aee04234fed" /><Relationship Type="http://schemas.openxmlformats.org/officeDocument/2006/relationships/slideMaster" Target="/ppt/slideMasters/slideMaster1.xml" Id="R072e157e6a2148a2" /><Relationship Type="http://schemas.openxmlformats.org/officeDocument/2006/relationships/notesMaster" Target="/ppt/notesMasters/notesMaster1.xml" Id="R8c6be93213614245" /><Relationship Type="http://schemas.openxmlformats.org/officeDocument/2006/relationships/presProps" Target="/ppt/presProps.xml" Id="R2e469e2999404ed9" /><Relationship Type="http://schemas.openxmlformats.org/officeDocument/2006/relationships/viewProps" Target="/ppt/viewProps.xml" Id="Re4bf7e51779640ba" /><Relationship Type="http://schemas.openxmlformats.org/officeDocument/2006/relationships/tableStyles" Target="/ppt/tableStyles.xml" Id="R1c3a1ff500a247dd" /><Relationship Type="http://schemas.openxmlformats.org/officeDocument/2006/relationships/slide" Target="/ppt/slides/slide1.xml" Id="R7d310728a6664776" /><Relationship Type="http://schemas.openxmlformats.org/officeDocument/2006/relationships/slide" Target="/ppt/slides/slide2.xml" Id="Rcf9a5959e368433e" /><Relationship Type="http://schemas.openxmlformats.org/officeDocument/2006/relationships/slide" Target="/ppt/slides/slide3.xml" Id="Rf34153f278764d25" /><Relationship Type="http://schemas.openxmlformats.org/officeDocument/2006/relationships/slide" Target="/ppt/slides/slide4.xml" Id="R130f4fd1d59c45f8" /><Relationship Type="http://schemas.openxmlformats.org/officeDocument/2006/relationships/slide" Target="/ppt/slides/slide5.xml" Id="R58d71ad771df4f75" /><Relationship Type="http://schemas.openxmlformats.org/officeDocument/2006/relationships/slide" Target="/ppt/slides/slide6.xml" Id="Rf6a6d258c8ea4566" /><Relationship Type="http://schemas.openxmlformats.org/officeDocument/2006/relationships/slide" Target="/ppt/slides/slide7.xml" Id="R1b688a109e3a4810" /><Relationship Type="http://schemas.openxmlformats.org/officeDocument/2006/relationships/slide" Target="/ppt/slides/slide8.xml" Id="R411fc961ba5e4945" /><Relationship Type="http://schemas.openxmlformats.org/officeDocument/2006/relationships/slide" Target="/ppt/slides/slide9.xml" Id="R2ef1649be3fe4b90" /><Relationship Type="http://schemas.openxmlformats.org/officeDocument/2006/relationships/slide" Target="/ppt/slides/slide10.xml" Id="R3826ea62c3c249ce" /><Relationship Type="http://schemas.openxmlformats.org/officeDocument/2006/relationships/slide" Target="/ppt/slides/slide11.xml" Id="R0d12fec3dd444381" /><Relationship Type="http://schemas.openxmlformats.org/officeDocument/2006/relationships/slide" Target="/ppt/slides/slide12.xml" Id="Rcedd644c93ea4aec" /><Relationship Type="http://schemas.openxmlformats.org/officeDocument/2006/relationships/slide" Target="/ppt/slides/slide13.xml" Id="R291ff99c36cd44a2" /><Relationship Type="http://schemas.openxmlformats.org/officeDocument/2006/relationships/slide" Target="/ppt/slides/slide14.xml" Id="R7aa8cfb9f5214d41" /><Relationship Type="http://schemas.openxmlformats.org/officeDocument/2006/relationships/slide" Target="/ppt/slides/slide15.xml" Id="R9b600bef74e54822" /><Relationship Type="http://schemas.openxmlformats.org/officeDocument/2006/relationships/slide" Target="/ppt/slides/slide16.xml" Id="Rd20655c4cdf34489" /><Relationship Type="http://schemas.openxmlformats.org/officeDocument/2006/relationships/slide" Target="/ppt/slides/slide17.xml" Id="R194fe89afedf41bc" /><Relationship Type="http://schemas.openxmlformats.org/officeDocument/2006/relationships/slide" Target="/ppt/slides/slide18.xml" Id="Rb4a7b18347324069" /><Relationship Type="http://schemas.openxmlformats.org/officeDocument/2006/relationships/slide" Target="/ppt/slides/slide19.xml" Id="Rb3dc08d61fd34783" /><Relationship Type="http://schemas.openxmlformats.org/officeDocument/2006/relationships/slide" Target="/ppt/slides/slide20.xml" Id="Re03a2768efaf45bd" /><Relationship Type="http://schemas.openxmlformats.org/officeDocument/2006/relationships/slide" Target="/ppt/slides/slide21.xml" Id="Rd4db5b96517c4154" /><Relationship Type="http://schemas.openxmlformats.org/officeDocument/2006/relationships/slide" Target="/ppt/slides/slide22.xml" Id="R61a6ab8e6e464728" /><Relationship Type="http://schemas.openxmlformats.org/officeDocument/2006/relationships/slide" Target="/ppt/slides/slide23.xml" Id="Rc1a3242d7f034ae7" /><Relationship Type="http://schemas.openxmlformats.org/officeDocument/2006/relationships/slide" Target="/ppt/slides/slide24.xml" Id="Rdcd2fb72914c4208" /><Relationship Type="http://schemas.openxmlformats.org/officeDocument/2006/relationships/slide" Target="/ppt/slides/slide25.xml" Id="R3fc1a6e67ae54b83" /><Relationship Type="http://schemas.openxmlformats.org/officeDocument/2006/relationships/slide" Target="/ppt/slides/slide26.xml" Id="Refcac9e346dc46a8" /><Relationship Type="http://schemas.openxmlformats.org/officeDocument/2006/relationships/slide" Target="/ppt/slides/slide27.xml" Id="R16a849aba8af4c44" /><Relationship Type="http://schemas.openxmlformats.org/officeDocument/2006/relationships/slide" Target="/ppt/slides/slide28.xml" Id="Ra7ad489eb7054536" /><Relationship Type="http://schemas.openxmlformats.org/officeDocument/2006/relationships/slide" Target="/ppt/slides/slide29.xml" Id="R3edb6f37b3054e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ccdc7c8def4a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38c9ffc7894924" /><Relationship Type="http://schemas.openxmlformats.org/officeDocument/2006/relationships/notesMaster" Target="/ppt/notesMasters/notesMaster1.xml" Id="R0a528ed2505e41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7a65c03bbf4342" /><Relationship Type="http://schemas.openxmlformats.org/officeDocument/2006/relationships/notesMaster" Target="/ppt/notesMasters/notesMaster1.xml" Id="Rac9d971c7cc54b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657951f0374e65" /><Relationship Type="http://schemas.openxmlformats.org/officeDocument/2006/relationships/notesMaster" Target="/ppt/notesMasters/notesMaster1.xml" Id="R5c24d28e8afb45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74017b87b848dd" /><Relationship Type="http://schemas.openxmlformats.org/officeDocument/2006/relationships/notesMaster" Target="/ppt/notesMasters/notesMaster1.xml" Id="R5ed2355a86924e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4aa93005c24346" /><Relationship Type="http://schemas.openxmlformats.org/officeDocument/2006/relationships/notesMaster" Target="/ppt/notesMasters/notesMaster1.xml" Id="Re5e455fc1c5c4c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557639ccf94d6e" /><Relationship Type="http://schemas.openxmlformats.org/officeDocument/2006/relationships/notesMaster" Target="/ppt/notesMasters/notesMaster1.xml" Id="Ra01772ffca304d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546057955e4164" /><Relationship Type="http://schemas.openxmlformats.org/officeDocument/2006/relationships/notesMaster" Target="/ppt/notesMasters/notesMaster1.xml" Id="Rdb15631198e44e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45ab79d22942f8" /><Relationship Type="http://schemas.openxmlformats.org/officeDocument/2006/relationships/notesMaster" Target="/ppt/notesMasters/notesMaster1.xml" Id="R061bbf2e7db342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5911d468094744" /><Relationship Type="http://schemas.openxmlformats.org/officeDocument/2006/relationships/notesMaster" Target="/ppt/notesMasters/notesMaster1.xml" Id="R4e0abdc9ddf14d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508c1d0e37403d" /><Relationship Type="http://schemas.openxmlformats.org/officeDocument/2006/relationships/notesMaster" Target="/ppt/notesMasters/notesMaster1.xml" Id="R1aa38fad3f1d46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5bf41ec5694fb8" /><Relationship Type="http://schemas.openxmlformats.org/officeDocument/2006/relationships/notesMaster" Target="/ppt/notesMasters/notesMaster1.xml" Id="Rded29185d2ea49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61306e19164eaa" /><Relationship Type="http://schemas.openxmlformats.org/officeDocument/2006/relationships/notesMaster" Target="/ppt/notesMasters/notesMaster1.xml" Id="R920cc1ad77ee43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398cab243e4808" /><Relationship Type="http://schemas.openxmlformats.org/officeDocument/2006/relationships/notesMaster" Target="/ppt/notesMasters/notesMaster1.xml" Id="Rfe077a6bb18848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69e97fce69447c" /><Relationship Type="http://schemas.openxmlformats.org/officeDocument/2006/relationships/notesMaster" Target="/ppt/notesMasters/notesMaster1.xml" Id="R061dec26bafa42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7d983c8aed4249" /><Relationship Type="http://schemas.openxmlformats.org/officeDocument/2006/relationships/notesMaster" Target="/ppt/notesMasters/notesMaster1.xml" Id="Rd17435d9111946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761362b6b54677" /><Relationship Type="http://schemas.openxmlformats.org/officeDocument/2006/relationships/notesMaster" Target="/ppt/notesMasters/notesMaster1.xml" Id="R523acae947f54b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6198e5cb4a4de1" /><Relationship Type="http://schemas.openxmlformats.org/officeDocument/2006/relationships/notesMaster" Target="/ppt/notesMasters/notesMaster1.xml" Id="Rc331783e071c49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e7f494f5e143fb" /><Relationship Type="http://schemas.openxmlformats.org/officeDocument/2006/relationships/notesMaster" Target="/ppt/notesMasters/notesMaster1.xml" Id="Rc67a8209080a43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8898489de940c4" /><Relationship Type="http://schemas.openxmlformats.org/officeDocument/2006/relationships/notesMaster" Target="/ppt/notesMasters/notesMaster1.xml" Id="Rdb9d5dd8f28546e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fdbdf9cd0a4461" /><Relationship Type="http://schemas.openxmlformats.org/officeDocument/2006/relationships/notesMaster" Target="/ppt/notesMasters/notesMaster1.xml" Id="Rb81daa4829734ed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318b165034e41cc" /><Relationship Type="http://schemas.openxmlformats.org/officeDocument/2006/relationships/notesMaster" Target="/ppt/notesMasters/notesMaster1.xml" Id="R92e3172ad3a4469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49722737aff4add" /><Relationship Type="http://schemas.openxmlformats.org/officeDocument/2006/relationships/notesMaster" Target="/ppt/notesMasters/notesMaster1.xml" Id="Re8a4df56f62a45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c689b7e50a24d93" /><Relationship Type="http://schemas.openxmlformats.org/officeDocument/2006/relationships/notesMaster" Target="/ppt/notesMasters/notesMaster1.xml" Id="R4e26dc611e9343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a3f57372e3e4482" /><Relationship Type="http://schemas.openxmlformats.org/officeDocument/2006/relationships/notesMaster" Target="/ppt/notesMasters/notesMaster1.xml" Id="Rf21008c9f11a4d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5c4cff6766a4889" /><Relationship Type="http://schemas.openxmlformats.org/officeDocument/2006/relationships/notesMaster" Target="/ppt/notesMasters/notesMaster1.xml" Id="R7094b0fee40a4e5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9fe548d74cf47bc" /><Relationship Type="http://schemas.openxmlformats.org/officeDocument/2006/relationships/notesMaster" Target="/ppt/notesMasters/notesMaster1.xml" Id="Ra041952e9b3140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e64ccee27324d44" /><Relationship Type="http://schemas.openxmlformats.org/officeDocument/2006/relationships/notesMaster" Target="/ppt/notesMasters/notesMaster1.xml" Id="Rf417a3292430486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ae008779dc4b2f" /><Relationship Type="http://schemas.openxmlformats.org/officeDocument/2006/relationships/notesMaster" Target="/ppt/notesMasters/notesMaster1.xml" Id="Ra490033355c44d4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e6f717f2754470" /><Relationship Type="http://schemas.openxmlformats.org/officeDocument/2006/relationships/notesMaster" Target="/ppt/notesMasters/notesMaster1.xml" Id="R033e1f32bf314b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발표의 핵심은 후보 하나를 골랐다는 이야기가 아니에요. 황화물 고체전해질의 치환 후보를 계산으로 줄이는 동안, 어떤 주장까지 허용되는지 gate로 제한하고 틀린 결론을 다시 철회한 과정을 보여드리려 해요. 그래서 결과보다도 ‘어떤 근거가 어떤 문장을 허용하는가’를 중심으로 보시면 돼요.</a:t>
            </a:r>
            <a:endParaRPr/>
          </a:p>
          <a:p xmlns:a="http://schemas.openxmlformats.org/drawingml/2006/main">
            <a:r>
              <a:t/>
            </a:r>
            <a:endParaRPr/>
          </a:p>
          <a:p xmlns:a="http://schemas.openxmlformats.org/drawingml/2006/main">
            <a:r>
              <a:t>[Sources]</a:t>
            </a:r>
            <a:endParaRPr/>
          </a:p>
          <a:p xmlns:a="http://schemas.openxmlformats.org/drawingml/2006/main">
            <a:r>
              <a:t>- kb/seminars/cascade_seminar_2026_08_spec.md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LPSCl 같은 host에서도 할로겐 종류, 비율, 치환종, campaign label이 곱으로 늘어나요. 실험은 합성부터 구조·임피던스·셀 평가까지 시간이 오래 걸리니까, 계산의 역할은 실험을 대체하는 게 아니라 우선순위를 줄이는 거예요. 다만 오른쪽 waterfall은 273에서 47이 물리적으로 걸러졌다는 뜻이 아니고, 47종 snapshot에서 한 사후 gate audit이에요.</a:t>
            </a:r>
            <a:endParaRPr/>
          </a:p>
          <a:p xmlns:a="http://schemas.openxmlformats.org/drawingml/2006/main">
            <a:r>
              <a:t/>
            </a:r>
            <a:endParaRPr/>
          </a:p>
          <a:p xmlns:a="http://schemas.openxmlformats.org/drawingml/2006/main">
            <a:r>
              <a:t>[Sources]</a:t>
            </a:r>
            <a:endParaRPr/>
          </a:p>
          <a:p xmlns:a="http://schemas.openxmlformats.org/drawingml/2006/main">
            <a:r>
              <a:t>- db/properties/cascade_v23_ranked.csv</a:t>
            </a:r>
            <a:endParaRPr/>
          </a:p>
          <a:p xmlns:a="http://schemas.openxmlformats.org/drawingml/2006/main">
            <a:r>
              <a:t>- db/properties/cascade_screening_funnel.json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좋은 screening은 rank가 예쁜지가 아니라, 실패했을 때 왜 실패했는지 남기는지가 중요해요. 이 발표에서는 잘못된 gap 판독, 단일 seed 수송 결론, MLIP 반응 해석 같은 사례를 gate로 바꿨어요. 즉 self-auditing은 사후 변명이 아니라 다음 계산에서 자동으로 작동하는 규칙이에요.</a:t>
            </a:r>
            <a:endParaRPr/>
          </a:p>
          <a:p xmlns:a="http://schemas.openxmlformats.org/drawingml/2006/main">
            <a:r>
              <a:t/>
            </a:r>
            <a:endParaRPr/>
          </a:p>
          <a:p xmlns:a="http://schemas.openxmlformats.org/drawingml/2006/main">
            <a:r>
              <a:t>[Sources]</a:t>
            </a:r>
            <a:endParaRPr/>
          </a:p>
          <a:p xmlns:a="http://schemas.openxmlformats.org/drawingml/2006/main">
            <a:r>
              <a:t>- kb/seminars/cascade_seminar_2026_08_spec.md</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흐름은 curate, compute, verify, screen의 반복이에요. compute에서 숫자가 나와도 바로 screening에 넣지 않고, verify에서 방법·source·status가 맞는지 확인해요. screen 뒤에는 다시 어떤 라벨이 부족한지 계산해 다음 구조를 고릅니다. 뒤의 co-doping은 바로 이 마지막 feedback 단계예요.</a:t>
            </a:r>
            <a:endParaRPr/>
          </a:p>
          <a:p xmlns:a="http://schemas.openxmlformats.org/drawingml/2006/main">
            <a:r>
              <a:t/>
            </a:r>
            <a:endParaRPr/>
          </a:p>
          <a:p xmlns:a="http://schemas.openxmlformats.org/drawingml/2006/main">
            <a:r>
              <a:t>[Sources]</a:t>
            </a:r>
            <a:endParaRPr/>
          </a:p>
          <a:p xmlns:a="http://schemas.openxmlformats.org/drawingml/2006/main">
            <a:r>
              <a:t>- kb/seminars/cascade_seminar_2026_08_spec.md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여기는 반드시 단위를 분리해서 말씀드릴게요. 273은 91종에 세 개 nominal label을 곱한 실행 슬롯이에요. 현재 versioned canonical table은 2026년 6월 25일 snapshot으로, oxide 37종과 fluoride 10종, 총 47종의 141개 record만 들어 있어요. 나머지 44종이 물리적으로 탈락한 건 아니고, 개별 실패 manifest가 없어서 현재는 미분류예요. 따라서 273에서 47로 떨어졌다는 discovery funnel 해석은 하지 않습니다.</a:t>
            </a:r>
            <a:endParaRPr/>
          </a:p>
          <a:p xmlns:a="http://schemas.openxmlformats.org/drawingml/2006/main">
            <a:r>
              <a:t/>
            </a:r>
            <a:endParaRPr/>
          </a:p>
          <a:p xmlns:a="http://schemas.openxmlformats.org/drawingml/2006/main">
            <a:r>
              <a:t>[Sources]</a:t>
            </a:r>
            <a:endParaRPr/>
          </a:p>
          <a:p xmlns:a="http://schemas.openxmlformats.org/drawingml/2006/main">
            <a:r>
              <a:t>- db/properties/cascade_v23_champions.csv</a:t>
            </a:r>
            <a:endParaRPr/>
          </a:p>
          <a:p xmlns:a="http://schemas.openxmlformats.org/drawingml/2006/main">
            <a:r>
              <a:t>- db/properties/cascade_v23_ranked.csv</a:t>
            </a:r>
            <a:endParaRPr/>
          </a:p>
          <a:p xmlns:a="http://schemas.openxmlformats.org/drawingml/2006/main">
            <a:r>
              <a:t>- kb/seminars/cascade_seminar_2026_08_spec.md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계산마다 말할 수 있는 문장이 달라요. UMA는 많은 구조와 상대 경향을 빠르게 보고, BVSE는 빈 격자에서 정적 경로를 보며, MLIP-MD는 확산 구간을 통과한 동역학을 보고, DFT는 전자상태와 최종 후보를 확인해요. 이 경계를 섞으면 빠른 계산의 숫자가 곧바로 열역학이나 실험 물성처럼 보이는 문제가 생깁니다.</a:t>
            </a:r>
            <a:endParaRPr/>
          </a:p>
          <a:p xmlns:a="http://schemas.openxmlformats.org/drawingml/2006/main">
            <a:r>
              <a:t/>
            </a:r>
            <a:endParaRPr/>
          </a:p>
          <a:p xmlns:a="http://schemas.openxmlformats.org/drawingml/2006/main">
            <a:r>
              <a:t>[Sources]</a:t>
            </a:r>
            <a:endParaRPr/>
          </a:p>
          <a:p xmlns:a="http://schemas.openxmlformats.org/drawingml/2006/main">
            <a:r>
              <a:t>- kb/seminars/cascade_seminar_2026_08_spec.md</a:t>
            </a:r>
            <a:endParaRPr/>
          </a:p>
          <a:p xmlns:a="http://schemas.openxmlformats.org/drawingml/2006/main">
            <a:r>
              <a:t>- kb/results/mlip_md_diffusive_gate_2026_08_01.md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MLIP의 장점은 DFT보다 훨씬 많은 configuration을 탐색할 수 있다는 점이에요. 하지만 charge state를 직접 선택할 수 없고, 결합이 끊기거나 Li가 추출되는 사건의 에너지 의미를 자동으로 보장하지 않아요. 그래서 여기서는 구조 탐색과 상대 screening에 쓰고, 반응이나 최종 adsorption 해석은 DFT 단계로 넘깁니다.</a:t>
            </a:r>
            <a:endParaRPr/>
          </a:p>
          <a:p xmlns:a="http://schemas.openxmlformats.org/drawingml/2006/main">
            <a:r>
              <a:t/>
            </a:r>
            <a:endParaRPr/>
          </a:p>
          <a:p xmlns:a="http://schemas.openxmlformats.org/drawingml/2006/main">
            <a:r>
              <a:t>[Sources]</a:t>
            </a:r>
            <a:endParaRPr/>
          </a:p>
          <a:p xmlns:a="http://schemas.openxmlformats.org/drawingml/2006/main">
            <a:r>
              <a:t>- kb/results/mlip_md_diffusive_gate_2026_08_01.md</a:t>
            </a:r>
            <a:endParaRPr/>
          </a:p>
          <a:p xmlns:a="http://schemas.openxmlformats.org/drawingml/2006/main">
            <a:r>
              <a:t>- kb/projects/sdcp_phaseB_direction_2026_08_06.md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comp1과 Cl-rich modelc의 fixed-occupation gap은 각각 2.066과 2.099 eV로 차이가 0.033 eV예요. PBE 절대값을 실험 gap처럼 주장하려는 게 아니라, 같은 protocol에서 변화가 작다는 걸 보는 겁니다. 따라서 electronic axis가 주된 설계 신호라기보다, 구조·결함 쪽으로 시선을 옮기는 guardrail 역할을 해요.</a:t>
            </a:r>
            <a:endParaRPr/>
          </a:p>
          <a:p xmlns:a="http://schemas.openxmlformats.org/drawingml/2006/main">
            <a:r>
              <a:t/>
            </a:r>
            <a:endParaRPr/>
          </a:p>
          <a:p xmlns:a="http://schemas.openxmlformats.org/drawingml/2006/main">
            <a:r>
              <a:t>[Sources]</a:t>
            </a:r>
            <a:endParaRPr/>
          </a:p>
          <a:p xmlns:a="http://schemas.openxmlformats.org/drawingml/2006/main">
            <a:r>
              <a:t>- db/properties/electronic.json</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Cl-rich 조성에는 Li vacancy와 4d-Cl antisite가 같이 들어가요. 정적 BVSE 채널은 오히려 줄고, MLIP-MD에서는 더 큰 Li motion이 보입니다. 이 차이는 disorder-sensitive descriptor를 선택할 이유는 되지만, composition과 defect population이 함께 바뀌었기 때문에 인과를 분리한 증거는 아니에요. 또 comp1에는 인용 가능한 multi-seed Ea가 없어서 비교 수송 향상을 확정하지 않습니다.</a:t>
            </a:r>
            <a:endParaRPr/>
          </a:p>
          <a:p xmlns:a="http://schemas.openxmlformats.org/drawingml/2006/main">
            <a:r>
              <a:t/>
            </a:r>
            <a:endParaRPr/>
          </a:p>
          <a:p xmlns:a="http://schemas.openxmlformats.org/drawingml/2006/main">
            <a:r>
              <a:t>[Sources]</a:t>
            </a:r>
            <a:endParaRPr/>
          </a:p>
          <a:p xmlns:a="http://schemas.openxmlformats.org/drawingml/2006/main">
            <a:r>
              <a:t>- db/properties/canonical_registry.json</a:t>
            </a:r>
            <a:endParaRPr/>
          </a:p>
          <a:p xmlns:a="http://schemas.openxmlformats.org/drawingml/2006/main">
            <a:r>
              <a:t>- kb/results/mlip_md_diffusive_gate_2026_08_01.md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Sendek 연구에서는 1만 종이 넘는 후보에 먼저 안정성·gap·전압 같은 싼 prerequisite gate를 적용하고, 40개의 측정 전도도로 학습한 classifier를 뒤에 썼어요. 중요한 점은 classifier보다 앞의 physics gate가 더 크게 후보를 줄였다는 거예요. 우리 47종과 데이터 크기가 같다는 뜻은 아니고, 작은 라벨에서는 grouped validation과 prospective test가 필요하다는 교훈만 가져옵니다.</a:t>
            </a:r>
            <a:endParaRPr/>
          </a:p>
          <a:p xmlns:a="http://schemas.openxmlformats.org/drawingml/2006/main">
            <a:r>
              <a:t/>
            </a:r>
            <a:endParaRPr/>
          </a:p>
          <a:p xmlns:a="http://schemas.openxmlformats.org/drawingml/2006/main">
            <a:r>
              <a:t>[Sources]</a:t>
            </a:r>
            <a:endParaRPr/>
          </a:p>
          <a:p xmlns:a="http://schemas.openxmlformats.org/drawingml/2006/main">
            <a:r>
              <a:t>- litdb/papers/sendek2017_ml_screening_12k_conductors.md</a:t>
            </a:r>
            <a:endParaRPr/>
          </a:p>
          <a:p xmlns:a="http://schemas.openxmlformats.org/drawingml/2006/main">
            <a:r>
              <a:t>- litdb/papers/xiao2019_cathode_coating_screening.md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G1은 세 campaign-label champion의 평균 상대에너지, G2는 window 존재, G3는 host 이상의 oxidation onset, G4는 정적 BVSE proxy, G5는 softness와 ductility 순위예요. 여기서 G1은 47종 모두 통과해서 현재 pool에서는 gate power가 없고, G2의 네 탈락은 전부 G3에도 걸립니다. G4 두 cutoff는 heuristic이고, G5는 roster median이라 ranking-only예요.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db/properties/cascade_v23_ranked.csv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47에서 43, 25, 11로 줄어드는 구간까지가 G4까지의 결과예요. 마지막 1은 G5 순위 cutoff가 만든 값이라 winner로 부르지 않습니다. 120개 gate 순서를 전부 바꿔도 최종 Boolean intersection은 같았지만, 중간 count와 어느 gate가 탈락시켰는지는 달라져요. 즉 waterfall 모양은 설명 방식이고, terminal set만 논리적으로 invariant합니다.</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47종 snapshot에서 oxidation onset을 높인 여섯 후보가 모두 같은 G4 정적 경로 heuristic에서 멈췄어요. 이건 데이터셋 수준의 trade-off이고, M–O 결합이 Li blocking을 일으킨다는 인과 증명은 아닙니다. 그리고 BVSE는 conductivity가 아니에요. 다만 한 후보의 약점과 다른 후보의 강점을 조합해 볼 이유는 충분히 줍니다.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db/properties/cascade_seminar_oxidation_transport_47.csv</a:t>
            </a:r>
            <a:endParaRPr/>
          </a:p>
          <a:p xmlns:a="http://schemas.openxmlformats.org/drawingml/2006/main">
            <a:r>
              <a:t>- docs/figures/cascade/cascade_seminar_oxidation_transport_47.png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funnel은 한 축의 약점을 이유로 후보를 완전히 버려요. 그런데 oxidation은 좋고 pathway proxy는 약한 후보가 co-doping에서는 필요한 cathode-side half일 수 있어요. B2O3처럼 지표마다 방향이 다른 후보도 하나의 score로 좋다·나쁘다를 말하기 어렵습니다. 그래서 14축 구조를 유지하고, combination을 실제 계산하는 쪽으로 넘어갑니다.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litdb/papers/zhu2020_air_stable_se_design_principles.md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+0.360 V는 실제 Cr2O3–HfO2 co-doped 구조 계산값이 아니에요. single-dopant의 reduction edge와 oxidation edge를 조합한 end-member proxy입니다. Cr oxide가 높은 oxidation edge를, HfO2가 낮은 reduction edge를 주는 조합이에요. 더구나 두 single-dopant champion이 모두 Li_24g라 site competition 위험이 있습니다. 구조를 만들기 전에는 chemistry가 검증된 게 아닙니다.</a:t>
            </a:r>
            <a:endParaRPr/>
          </a:p>
          <a:p xmlns:a="http://schemas.openxmlformats.org/drawingml/2006/main">
            <a:r>
              <a:t/>
            </a:r>
            <a:endParaRPr/>
          </a:p>
          <a:p xmlns:a="http://schemas.openxmlformats.org/drawingml/2006/main">
            <a:r>
              <a:t>[Sources]</a:t>
            </a:r>
            <a:endParaRPr/>
          </a:p>
          <a:p xmlns:a="http://schemas.openxmlformats.org/drawingml/2006/main">
            <a:r>
              <a:t>- db/properties/codoping_ml_v2.csv</a:t>
            </a:r>
            <a:endParaRPr/>
          </a:p>
          <a:p xmlns:a="http://schemas.openxmlformats.org/drawingml/2006/main">
            <a:r>
              <a:t>- db/properties/codoping_ml_v2_meta.json</a:t>
            </a:r>
            <a:endParaRPr/>
          </a:p>
          <a:p xmlns:a="http://schemas.openxmlformats.org/drawingml/2006/main">
            <a:r>
              <a:t>- tools/cascade/codoping_ml.py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single-dopant score 공식을 다시 맞추는 stage 1은 R²가 0.9998로 높아요. 하지만 pair hypothesis에 들어가면 pair-LOOCV가 0.0892, dopant를 통째로 빼는 LODO와 L2DO는 음수가 됩니다. 지금은 1,081개 H0 가설이 있지만 실제 pair structure와 pair target은 0개예요. 따라서 predictor가 아니라 다음 계산을 정하는 hypothesis generator로만 씁니다.</a:t>
            </a:r>
            <a:endParaRPr/>
          </a:p>
          <a:p xmlns:a="http://schemas.openxmlformats.org/drawingml/2006/main">
            <a:r>
              <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tools/cascade/codoping_ml.py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단계는 숫자 농도를 가정하는 게 아니라, explicit co-substituted structure를 만드는 거예요. x002, x005, x010은 nominal campaign label이므로 실제 stoichiometry를 먼저 닫아야 합니다. 각 pair에서 site, charge/Li-count, formation energy를 정하고 prospective holdout으로 검사해요. 모델이 맞으면 다음 구조 선택 효율이 좋아지고, 틀리면 complementarity 가설을 버리면 됩니다.</a:t>
            </a:r>
            <a:endParaRPr/>
          </a:p>
          <a:p xmlns:a="http://schemas.openxmlformats.org/drawingml/2006/main">
            <a:r>
              <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kb/seminars/cascade_seminar_2026_08_spec.md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실패를 숨기지 않고 claim과 gate를 연결한 ledger예요. SDCP는 세 숫자를 분리해야 합니다. 9 meV는 site-pose 비교, −32/−26 meV는 old doped–neutral adsorption 비교, +0.336/+0.340 eV는 Li-transfer endpoint 비교예요. 마지막 값도 old protocol의 provisional endpoint라 v2 재검 전에는 반응 자유에너지나 barrier로 부르지 않습니다.</a:t>
            </a:r>
            <a:endParaRPr/>
          </a:p>
          <a:p xmlns:a="http://schemas.openxmlformats.org/drawingml/2006/main">
            <a:r>
              <a:t/>
            </a:r>
            <a:endParaRPr/>
          </a:p>
          <a:p xmlns:a="http://schemas.openxmlformats.org/drawingml/2006/main">
            <a:r>
              <a:t>[Sources]</a:t>
            </a:r>
            <a:endParaRPr/>
          </a:p>
          <a:p xmlns:a="http://schemas.openxmlformats.org/drawingml/2006/main">
            <a:r>
              <a:t>- kb/projects/sdcp_phaseB_direction_2026_08_06.md</a:t>
            </a:r>
            <a:endParaRPr/>
          </a:p>
          <a:p xmlns:a="http://schemas.openxmlformats.org/drawingml/2006/main">
            <a:r>
              <a:t>- kb/results/sdcp_master_summary_2026_07_16.md</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결론은 winner가 아니라 세 가지 산출물이에요. 첫째, provenance가 분리된 47종 versioned snapshot. 둘째, heuristic임을 공개한 11종 G4 shortlist와 G5 ranking. 셋째, real pair label을 얻기 위한 acquisition plan입니다. 그리고 11개 감사 판정 중 9개는 철회했고, 하나는 hold, 하나는 provenance-open 상태로 값과 함께 표시합니다.</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db/properties/codoping_ml_v2_meta.json</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처음의 loop로 돌아오면, 지금 위치는 screen에서 verify와 label acquisition으로 넘어가는 지점이에요. explicit pair structure를 만들고 UMA로 configuration space를 줄인 뒤, 필요한 후보만 DFT와 실험으로 확인합니다. 이후 새 라벨이 쌓이면 모델을 다시 학습해 다음 계산을 고르는 active-learning loop로 확장할 수 있어요.</a:t>
            </a:r>
            <a:endParaRPr/>
          </a:p>
          <a:p xmlns:a="http://schemas.openxmlformats.org/drawingml/2006/main">
            <a:r>
              <a:t/>
            </a:r>
            <a:endParaRPr/>
          </a:p>
          <a:p xmlns:a="http://schemas.openxmlformats.org/drawingml/2006/main">
            <a:r>
              <a:t>[Sources]</a:t>
            </a:r>
            <a:endParaRPr/>
          </a:p>
          <a:p xmlns:a="http://schemas.openxmlformats.org/drawingml/2006/main">
            <a:r>
              <a:t>- kb/seminars/cascade_seminar_2026_08_spec.md</a:t>
            </a:r>
            <a:endParaRPr/>
          </a:p>
          <a:p xmlns:a="http://schemas.openxmlformats.org/drawingml/2006/main">
            <a:r>
              <a:t>- tools/cascade/codoping_ml.py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나오면 DFT, exchange-correlation, U, k-point, fixed occupations를 이 표로 짧게 정의하면 돼요. 핵심은 모든 숫자에 method tag를 붙이고, 서로 다른 protocol의 절대값을 한 축에 섞지 않는다는 겁니다.</a:t>
            </a:r>
            <a:endParaRPr/>
          </a:p>
          <a:p xmlns:a="http://schemas.openxmlformats.org/drawingml/2006/main">
            <a:r>
              <a:t/>
            </a:r>
            <a:endParaRPr/>
          </a:p>
          <a:p xmlns:a="http://schemas.openxmlformats.org/drawingml/2006/main">
            <a:r>
              <a:t>[Sources]</a:t>
            </a:r>
            <a:endParaRPr/>
          </a:p>
          <a:p xmlns:a="http://schemas.openxmlformats.org/drawingml/2006/main">
            <a:r>
              <a:t>- db/properties/electronic.json</a:t>
            </a:r>
            <a:endParaRPr/>
          </a:p>
          <a:p xmlns:a="http://schemas.openxmlformats.org/drawingml/2006/main">
            <a:r>
              <a:t>- kb/seminars/cascade_seminar_2026_08_spec.md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window, oxidation onset, BVSE, elastic 지표가 무엇을 뜻하는지 묻는 질문용이에요. 각 항목은 서로 다른 물성을 보므로, 하나의 universal score로 합치는 순간 해석이 바뀐다는 점을 강조하면 됩니다.</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db/properties/cascade_seminar_scorecard_47.csv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method-to-claim 계약의 세부 버전이에요. 입력, 기준 구조, 허용 claim, 금지 claim을 함께 보고 답하면 됩니다. 특히 screen 값과 DFT case study를 같은 validation coverage처럼 말하지 않는 게 중요해요.</a:t>
            </a:r>
            <a:endParaRPr/>
          </a:p>
          <a:p xmlns:a="http://schemas.openxmlformats.org/drawingml/2006/main">
            <a:r>
              <a:t/>
            </a:r>
            <a:endParaRPr/>
          </a:p>
          <a:p xmlns:a="http://schemas.openxmlformats.org/drawingml/2006/main">
            <a:r>
              <a:t>[Sources]</a:t>
            </a:r>
            <a:endParaRPr/>
          </a:p>
          <a:p xmlns:a="http://schemas.openxmlformats.org/drawingml/2006/main">
            <a:r>
              <a:t>- kb/seminars/cascade_seminar_2026_08_spec.md</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β는 MSD가 확산 구간인지 확인하는 지표예요. 0.8에서 1.2 사이가 아니면 cage rattling을 D로 잘못 맞출 수 있습니다. 판정은 600, 800, 1000 K와 2–50 ps 창을 사용하고, 절대 conductivity는 인용하지 않으며 비율도 multi-seed 판정일 때만 씁니다. β 자체가 특정 saddle을 알려주는 건 아니에요.</a:t>
            </a:r>
            <a:endParaRPr/>
          </a:p>
          <a:p xmlns:a="http://schemas.openxmlformats.org/drawingml/2006/main">
            <a:r>
              <a:t/>
            </a:r>
            <a:endParaRPr/>
          </a:p>
          <a:p xmlns:a="http://schemas.openxmlformats.org/drawingml/2006/main">
            <a:r>
              <a:t>[Sources]</a:t>
            </a:r>
            <a:endParaRPr/>
          </a:p>
          <a:p xmlns:a="http://schemas.openxmlformats.org/drawingml/2006/main">
            <a:r>
              <a:t>- kb/results/mlip_md_diffusive_gate_2026_08_01.md</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후보별 전체 축을 묻는 질문에 쓰는 backup이에요. percentile과 theme 내부 geometric mean은 표시용 비교이고, theme를 가로지르는 universal score는 없습니다. missing은 0으로 채우지 않고 제외·flag 처리했고, air와 HSAB 관련 축은 아직 descriptive 또는 provisional입니다.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docs/figures/cascade/cascade_seminar_scorecard_47.png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질문에는 먼저 한 문장으로 범위를 닫고, 필요할 때 숫자를 추가하세요. 특히 WO3는 winner가 아니라 G5 top rank, 2/47은 targeted DFT case study, co-doping은 explicit structure가 없는 hypothesis라는 세 문장을 먼저 기억하면 대부분의 과장을 막을 수 있어요.</a:t>
            </a:r>
            <a:endParaRPr/>
          </a:p>
          <a:p xmlns:a="http://schemas.openxmlformats.org/drawingml/2006/main">
            <a:r>
              <a:t/>
            </a:r>
            <a:endParaRPr/>
          </a:p>
          <a:p xmlns:a="http://schemas.openxmlformats.org/drawingml/2006/main">
            <a:r>
              <a:t>[Sources]</a:t>
            </a:r>
            <a:endParaRPr/>
          </a:p>
          <a:p xmlns:a="http://schemas.openxmlformats.org/drawingml/2006/main">
            <a:r>
              <a:t>- kb/seminars/cascade_seminar_2026_08_spec.md</a:t>
            </a:r>
            <a:endParaRPr/>
          </a:p>
          <a:p xmlns:a="http://schemas.openxmlformats.org/drawingml/2006/main">
            <a:r>
              <a:t>- db/properties/codoping_ml_v2_meta.json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어려운 질문에서는 모르는 걸 분명히 말하는 게 답이에요. Ea는 Arrhenius slope이지 자동으로 특정 saddle이 아니고, UMA의 상대 geometry 활용과 charge-state 한계를 분리해야 합니다. 그리고 44종 provenance gap 때문에 273-slot campaign의 discovery rate를 계산할 수 없다고 명확히 답하면 됩니다.</a:t>
            </a:r>
            <a:endParaRPr/>
          </a:p>
          <a:p xmlns:a="http://schemas.openxmlformats.org/drawingml/2006/main">
            <a:r>
              <a:t/>
            </a:r>
            <a:endParaRPr/>
          </a:p>
          <a:p xmlns:a="http://schemas.openxmlformats.org/drawingml/2006/main">
            <a:r>
              <a:t>[Sources]</a:t>
            </a:r>
            <a:endParaRPr/>
          </a:p>
          <a:p xmlns:a="http://schemas.openxmlformats.org/drawingml/2006/main">
            <a:r>
              <a:t>- kb/results/mlip_md_diffusive_gate_2026_08_01.md</a:t>
            </a:r>
            <a:endParaRPr/>
          </a:p>
          <a:p xmlns:a="http://schemas.openxmlformats.org/drawingml/2006/main">
            <a:r>
              <a:t>- kb/seminars/cascade_seminar_2026_08_spec.md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수치를 요구하면 stage 1과 stage 3을 분리하세요. 0.9998은 만든 공식을 다시 찾은 결과이고, pair prediction 성능은 0.0892입니다. 새로운 dopant를 통째로 빼면 R²가 음수라 일반화에 실패해요. 그래서 real pair structure와 prospective label이 다음 병목입니다.</a:t>
            </a:r>
            <a:endParaRPr/>
          </a:p>
          <a:p xmlns:a="http://schemas.openxmlformats.org/drawingml/2006/main">
            <a:r>
              <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tools/cascade/codoping_ml.py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참고문헌은 로컬 litdb에 실제로 보유한 논문만 넣었어요. 발표에서는 숫자를 기억으로 옮기지 않고, digest와 figure crop이 있는 자료만 method와 함께 인용합니다.</a:t>
            </a:r>
            <a:endParaRPr/>
          </a:p>
          <a:p xmlns:a="http://schemas.openxmlformats.org/drawingml/2006/main">
            <a:r>
              <a:t/>
            </a:r>
            <a:endParaRPr/>
          </a:p>
          <a:p xmlns:a="http://schemas.openxmlformats.org/drawingml/2006/main">
            <a:r>
              <a:t>[Sources]</a:t>
            </a:r>
            <a:endParaRPr/>
          </a:p>
          <a:p xmlns:a="http://schemas.openxmlformats.org/drawingml/2006/main">
            <a:r>
              <a:t>- litdb/papers/sendek2017_ml_screening_12k_conductors.md</a:t>
            </a:r>
            <a:endParaRPr/>
          </a:p>
          <a:p xmlns:a="http://schemas.openxmlformats.org/drawingml/2006/main">
            <a:r>
              <a:t>- litdb/papers/xiao2019_cathode_coating_screening.md</a:t>
            </a:r>
            <a:endParaRPr/>
          </a:p>
          <a:p xmlns:a="http://schemas.openxmlformats.org/drawingml/2006/main">
            <a:r>
              <a:t>- litdb/papers/zhu2020_air_stable_se_design_principles.md</a:t>
            </a:r>
            <a:endParaRPr/>
          </a:p>
          <a:p xmlns:a="http://schemas.openxmlformats.org/drawingml/2006/main">
            <a:r>
              <a:t>- litdb/papers/kahle2020_ht_aimd_screening.md</a:t>
            </a:r>
            <a:endParaRPr/>
          </a:p>
          <a:p xmlns:a="http://schemas.openxmlformats.org/drawingml/2006/main">
            <a:r>
              <a:t>- litdb/papers/liyaru_gaf3_codoping_argyrodite.md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796924c861477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aa7aa9b2854fbf" /><Relationship Type="http://schemas.openxmlformats.org/officeDocument/2006/relationships/slideLayout" Target="/ppt/slideLayouts/slideLayout1.xml" Id="Rcee46bbc97d844f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e46bbc97d844f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90cfe0df024d95" /><Relationship Type="http://schemas.openxmlformats.org/officeDocument/2006/relationships/notesSlide" Target="/ppt/notesSlides/notesSlide1.xml" Id="Re275bdf20fb04d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49139f1f2f4a0c" /><Relationship Type="http://schemas.openxmlformats.org/officeDocument/2006/relationships/notesSlide" Target="/ppt/notesSlides/notesSlide2.xml" Id="Rc8c559dc304945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659c6dae5b47f1" /><Relationship Type="http://schemas.openxmlformats.org/officeDocument/2006/relationships/notesSlide" Target="/ppt/notesSlides/notesSlide3.xml" Id="Race569c2dffa48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29717477e74279" /><Relationship Type="http://schemas.openxmlformats.org/officeDocument/2006/relationships/notesSlide" Target="/ppt/notesSlides/notesSlide4.xml" Id="R36031127ec5947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1dbd0b8aed4b06" /><Relationship Type="http://schemas.openxmlformats.org/officeDocument/2006/relationships/notesSlide" Target="/ppt/notesSlides/notesSlide5.xml" Id="R14c7f3cfa0e048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6dd36a64d04db4" /><Relationship Type="http://schemas.openxmlformats.org/officeDocument/2006/relationships/notesSlide" Target="/ppt/notesSlides/notesSlide6.xml" Id="R402a38bfcd864f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e6496b192a4618" /><Relationship Type="http://schemas.openxmlformats.org/officeDocument/2006/relationships/image" Target="/ppt/media/image.png" Id="R770011339e9449c4" /><Relationship Type="http://schemas.openxmlformats.org/officeDocument/2006/relationships/notesSlide" Target="/ppt/notesSlides/notesSlide7.xml" Id="Rfabe18aa8dfb45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7087bf96b244c6" /><Relationship Type="http://schemas.openxmlformats.org/officeDocument/2006/relationships/image" Target="/ppt/media/image2.png" Id="Rc08007e4fa52407e" /><Relationship Type="http://schemas.openxmlformats.org/officeDocument/2006/relationships/image" Target="/ppt/media/image3.png" Id="R027e627358f64975" /><Relationship Type="http://schemas.openxmlformats.org/officeDocument/2006/relationships/notesSlide" Target="/ppt/notesSlides/notesSlide8.xml" Id="R23ccec61c53c4c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4cb6b5ed174218" /><Relationship Type="http://schemas.openxmlformats.org/officeDocument/2006/relationships/image" Target="/ppt/media/image4.png" Id="R5dbc18aa0a7c4335" /><Relationship Type="http://schemas.openxmlformats.org/officeDocument/2006/relationships/notesSlide" Target="/ppt/notesSlides/notesSlide9.xml" Id="R2e193712c5b34e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25bd1e333f42e3" /><Relationship Type="http://schemas.openxmlformats.org/officeDocument/2006/relationships/image" Target="/ppt/media/image5.png" Id="R99247757dc904c23" /><Relationship Type="http://schemas.openxmlformats.org/officeDocument/2006/relationships/notesSlide" Target="/ppt/notesSlides/notesSlide10.xml" Id="R5388cc56769846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94c48cfee94a0a" /><Relationship Type="http://schemas.openxmlformats.org/officeDocument/2006/relationships/notesSlide" Target="/ppt/notesSlides/notesSlide11.xml" Id="Rb3b7a47de8ac44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a7c8ea199c46a8" /><Relationship Type="http://schemas.openxmlformats.org/officeDocument/2006/relationships/chart" Target="/ppt/slides/charts/chart1.xml" Id="Rc803654ec1794fcb" /><Relationship Type="http://schemas.openxmlformats.org/officeDocument/2006/relationships/notesSlide" Target="/ppt/notesSlides/notesSlide12.xml" Id="Rc7d0b32930dc45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710a7f23d784ffa" /><Relationship Type="http://schemas.openxmlformats.org/officeDocument/2006/relationships/image" Target="/ppt/media/image6.png" Id="R79bd27ea86ac4e5e" /><Relationship Type="http://schemas.openxmlformats.org/officeDocument/2006/relationships/notesSlide" Target="/ppt/notesSlides/notesSlide13.xml" Id="Rc7f04c77631b44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6c1679c5894749" /><Relationship Type="http://schemas.openxmlformats.org/officeDocument/2006/relationships/image" Target="/ppt/media/image7.png" Id="Rc698753162474f66" /><Relationship Type="http://schemas.openxmlformats.org/officeDocument/2006/relationships/notesSlide" Target="/ppt/notesSlides/notesSlide14.xml" Id="Rdeaf027667e843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db634a8acf480c" /><Relationship Type="http://schemas.openxmlformats.org/officeDocument/2006/relationships/notesSlide" Target="/ppt/notesSlides/notesSlide15.xml" Id="Ra43150ee354045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2f0b532f51450e" /><Relationship Type="http://schemas.openxmlformats.org/officeDocument/2006/relationships/notesSlide" Target="/ppt/notesSlides/notesSlide16.xml" Id="R269ed39932b648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51b7d164eeb4af5" /><Relationship Type="http://schemas.openxmlformats.org/officeDocument/2006/relationships/notesSlide" Target="/ppt/notesSlides/notesSlide17.xml" Id="R202b040edd7449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5b82121a5004a0d" /><Relationship Type="http://schemas.openxmlformats.org/officeDocument/2006/relationships/notesSlide" Target="/ppt/notesSlides/notesSlide18.xml" Id="R0ee03899050042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a5a8641200a4fa7" /><Relationship Type="http://schemas.openxmlformats.org/officeDocument/2006/relationships/notesSlide" Target="/ppt/notesSlides/notesSlide19.xml" Id="R8b58b33ff16343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d5755c6538d43e4" /><Relationship Type="http://schemas.openxmlformats.org/officeDocument/2006/relationships/notesSlide" Target="/ppt/notesSlides/notesSlide20.xml" Id="R72adbb824410445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36524b33b824d25" /><Relationship Type="http://schemas.openxmlformats.org/officeDocument/2006/relationships/notesSlide" Target="/ppt/notesSlides/notesSlide21.xml" Id="R119f278c7e074f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97db54e5ab84811" /><Relationship Type="http://schemas.openxmlformats.org/officeDocument/2006/relationships/notesSlide" Target="/ppt/notesSlides/notesSlide22.xml" Id="Re90e6b57354d423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2b65cf83c734b3c" /><Relationship Type="http://schemas.openxmlformats.org/officeDocument/2006/relationships/notesSlide" Target="/ppt/notesSlides/notesSlide23.xml" Id="R45ce15a991e547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28eb2747588484a" /><Relationship Type="http://schemas.openxmlformats.org/officeDocument/2006/relationships/image" Target="/ppt/media/image8.png" Id="R10ce9433cf4f4eb0" /><Relationship Type="http://schemas.openxmlformats.org/officeDocument/2006/relationships/notesSlide" Target="/ppt/notesSlides/notesSlide24.xml" Id="R3c694c2f208842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052e8fc2bbe4544" /><Relationship Type="http://schemas.openxmlformats.org/officeDocument/2006/relationships/image" Target="/ppt/media/image9.png" Id="Rf2f26e61820c4563" /><Relationship Type="http://schemas.openxmlformats.org/officeDocument/2006/relationships/notesSlide" Target="/ppt/notesSlides/notesSlide25.xml" Id="Rb1f8432caf2a46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7e3f4a81dc941e5" /><Relationship Type="http://schemas.openxmlformats.org/officeDocument/2006/relationships/notesSlide" Target="/ppt/notesSlides/notesSlide26.xml" Id="R2e94f4c03c884dd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884f75af7034eda" /><Relationship Type="http://schemas.openxmlformats.org/officeDocument/2006/relationships/notesSlide" Target="/ppt/notesSlides/notesSlide27.xml" Id="Rf5528c86d80e470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0efda3be12e4ad0" /><Relationship Type="http://schemas.openxmlformats.org/officeDocument/2006/relationships/notesSlide" Target="/ppt/notesSlides/notesSlide28.xml" Id="Rb9c0b51db7324a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d57ea20072e465d" /><Relationship Type="http://schemas.openxmlformats.org/officeDocument/2006/relationships/notesSlide" Target="/ppt/notesSlides/notesSlide29.xml" Id="R015c661fc1484327" /></Relationships>
</file>

<file path=ppt/slides/charts/chart1.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survivors</c:v>
                </c:pt>
              </c:strCache>
            </c:strRef>
          </c:tx>
          <c:spPr>
            <a:solidFill xmlns:a="http://schemas.openxmlformats.org/drawingml/2006/main">
              <a:srgbClr val="1F4E79"/>
            </a:solidFill>
          </c:spPr>
          <c:dLbls>
            <c:numFmt formatCode="#,##0" sourceLinked="0"/>
            <c:txPr>
              <a:bodyPr xmlns:a="http://schemas.openxmlformats.org/drawingml/2006/main" anchorCtr="1"/>
              <a:lstStyle xmlns:a="http://schemas.openxmlformats.org/drawingml/2006/main"/>
              <a:p xmlns:a="http://schemas.openxmlformats.org/drawingml/2006/main">
                <a:pPr>
                  <a:defRPr sz="1100" b="0" i="0" u="none">
                    <a:solidFill>
                      <a:srgbClr val="262626"/>
                    </a:solidFill>
                    <a:latin typeface="Arial"/>
                    <a:ea typeface="Arial"/>
                    <a:cs typeface="Arial"/>
                  </a:defRPr>
                </a:pPr>
              </a:p>
            </c:txPr>
            <c:showLegendKey val="0"/>
            <c:showVal val="1"/>
            <c:showCatName val="0"/>
            <c:showSerName val="0"/>
            <c:showPercent val="0"/>
            <c:showBubbleSize val="0"/>
            <c:showLeaderLines val="0"/>
          </c:dLbls>
          <c:cat>
            <c:strRef>
              <c:f>Sheet1!$A$2:$A$7</c:f>
              <c:strCache>
                <c:ptCount val="6"/>
                <c:pt idx="0">
                  <c:v>pool</c:v>
                </c:pt>
                <c:pt idx="1">
                  <c:v>G1 structural</c:v>
                </c:pt>
                <c:pt idx="2">
                  <c:v>G2 window</c:v>
                </c:pt>
                <c:pt idx="3">
                  <c:v>G3 oxidation</c:v>
                </c:pt>
                <c:pt idx="4">
                  <c:v>G4 transport</c:v>
                </c:pt>
                <c:pt idx="5">
                  <c:v>G5 mechanical</c:v>
                </c:pt>
              </c:strCache>
            </c:strRef>
          </c:cat>
          <c:val>
            <c:numRef>
              <c:f>Sheet1!$B$2:$B$7</c:f>
              <c:numCache>
                <c:formatCode>General</c:formatCode>
                <c:ptCount val="6"/>
                <c:pt idx="0">
                  <c:v>47</c:v>
                </c:pt>
                <c:pt idx="1">
                  <c:v>47</c:v>
                </c:pt>
                <c:pt idx="2">
                  <c:v>43</c:v>
                </c:pt>
                <c:pt idx="3">
                  <c:v>25</c:v>
                </c:pt>
                <c:pt idx="4">
                  <c:v>11</c:v>
                </c:pt>
                <c:pt idx="5">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0" i="0" u="none">
                  <a:solidFill>
                    <a:srgbClr val="262626"/>
                  </a:solidFill>
                  <a:latin typeface="Arial"/>
                  <a:ea typeface="Arial"/>
                  <a:cs typeface="Arial"/>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262626"/>
                </a:solidFill>
                <a:latin typeface="Arial"/>
                <a:ea typeface="Arial"/>
                <a:cs typeface="Arial"/>
              </a:defRPr>
            </a:pPr>
          </a:p>
        </c:txPr>
        <c:crossAx val="2094734552"/>
        <c:crosses val="autoZero"/>
      </c:catAx>
      <c:valAx>
        <c:axId val="2094734552"/>
        <c:scaling>
          <c:orientation val="minMax"/>
          <c:max val="52"/>
        </c:scaling>
        <c:delete val="1"/>
        <c:axPos val="l"/>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800" b="0" i="0" u="none">
                <a:solidFill>
                  <a:srgbClr val="7F7F7F"/>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4A5D1E-2F4D-47A2-BBFA-F950AABD1567}"/>
              </a:ext>
            </a:extLst>
          </p:cNvPr>
          <p:cNvSpPr>
            <a:spLocks xmlns:a="http://schemas.openxmlformats.org/drawingml/2006/main" noGrp="1"/>
          </p:cNvSpPr>
          <p:nvPr/>
        </p:nvSpPr>
        <p:spPr>
          <a:xfrm xmlns:a="http://schemas.openxmlformats.org/drawingml/2006/main">
            <a:off x="50292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42B9D2F5-503C-46C8-91A6-D68A93C163DA}"/>
              </a:ext>
            </a:extLst>
          </p:cNvPr>
          <p:cNvSpPr>
            <a:spLocks xmlns:a="http://schemas.openxmlformats.org/drawingml/2006/main" noGrp="1"/>
          </p:cNvSpPr>
          <p:nvPr/>
        </p:nvSpPr>
        <p:spPr>
          <a:xfrm xmlns:a="http://schemas.openxmlformats.org/drawingml/2006/main">
            <a:off x="502920" y="123444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1F4E79"/>
                </a:solidFill>
                <a:latin typeface="Arial"/>
                <a:ea typeface="Arial"/>
                <a:cs typeface="Arial"/>
              </a:rPr>
              <a:t>Research Seminar</a:t>
            </a:r>
            <a:endParaRPr sz="3400"/>
          </a:p>
        </p:txBody>
      </p:sp>
      <p:sp>
        <p:nvSpPr>
          <p:cNvPr id="4" name="Text 2">
            <a:extLst xmlns:a="http://schemas.openxmlformats.org/drawingml/2006/main">
              <a:ext uri="{FF2B5EF4-FFF2-40B4-BE49-F238E27FC236}">
                <a16:creationId xmlns:a16="http://schemas.microsoft.com/office/drawing/2014/main" id="{C17EF82F-07D7-4F44-ABA0-9CEF09A91F67}"/>
              </a:ext>
            </a:extLst>
          </p:cNvPr>
          <p:cNvSpPr>
            <a:spLocks xmlns:a="http://schemas.openxmlformats.org/drawingml/2006/main" noGrp="1"/>
          </p:cNvSpPr>
          <p:nvPr/>
        </p:nvSpPr>
        <p:spPr>
          <a:xfrm xmlns:a="http://schemas.openxmlformats.org/drawingml/2006/main">
            <a:off x="502920" y="2286000"/>
            <a:ext cx="8138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262626"/>
                </a:solidFill>
                <a:latin typeface="Arial"/>
                <a:ea typeface="Arial"/>
                <a:cs typeface="Arial"/>
              </a:rPr>
              <a:t>Self-Auditing Computational Screening of</a:t>
            </a:r>
            <a:endParaRPr sz="2400"/>
          </a:p>
          <a:p xmlns:a="http://schemas.openxmlformats.org/drawingml/2006/main">
            <a:pPr marL="0" indent="0">
              <a:buNone/>
            </a:pPr>
            <a:r>
              <a:rPr sz="2400" b="1">
                <a:solidFill>
                  <a:srgbClr val="262626"/>
                </a:solidFill>
                <a:latin typeface="Arial"/>
                <a:ea typeface="Arial"/>
                <a:cs typeface="Arial"/>
              </a:rPr>
              <a:t>Sulfide Solid Electrolytes</a:t>
            </a:r>
            <a:endParaRPr sz="2400"/>
          </a:p>
        </p:txBody>
      </p:sp>
      <p:sp>
        <p:nvSpPr>
          <p:cNvPr id="5" name="Text 3">
            <a:extLst xmlns:a="http://schemas.openxmlformats.org/drawingml/2006/main">
              <a:ext uri="{FF2B5EF4-FFF2-40B4-BE49-F238E27FC236}">
                <a16:creationId xmlns:a16="http://schemas.microsoft.com/office/drawing/2014/main" id="{21877021-BFC8-4885-9478-69047E5702CB}"/>
              </a:ext>
            </a:extLst>
          </p:cNvPr>
          <p:cNvSpPr>
            <a:spLocks xmlns:a="http://schemas.openxmlformats.org/drawingml/2006/main" noGrp="1"/>
          </p:cNvSpPr>
          <p:nvPr/>
        </p:nvSpPr>
        <p:spPr>
          <a:xfrm xmlns:a="http://schemas.openxmlformats.org/drawingml/2006/main">
            <a:off x="502920" y="3474720"/>
            <a:ext cx="8138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i="1">
                <a:solidFill>
                  <a:srgbClr val="7F7F7F"/>
                </a:solidFill>
                <a:latin typeface="Arial"/>
                <a:ea typeface="Arial"/>
                <a:cs typeface="Arial"/>
              </a:rPr>
              <a:t>— from DFT gates to dopant combinations</a:t>
            </a:r>
            <a:endParaRPr sz="1500"/>
          </a:p>
        </p:txBody>
      </p:sp>
      <p:sp>
        <p:nvSpPr>
          <p:cNvPr id="6" name="Text 4">
            <a:extLst xmlns:a="http://schemas.openxmlformats.org/drawingml/2006/main">
              <a:ext uri="{FF2B5EF4-FFF2-40B4-BE49-F238E27FC236}">
                <a16:creationId xmlns:a16="http://schemas.microsoft.com/office/drawing/2014/main" id="{0AEAA723-5DA5-4112-BDDA-87B1E1D17CFD}"/>
              </a:ext>
            </a:extLst>
          </p:cNvPr>
          <p:cNvSpPr>
            <a:spLocks xmlns:a="http://schemas.openxmlformats.org/drawingml/2006/main" noGrp="1"/>
          </p:cNvSpPr>
          <p:nvPr/>
        </p:nvSpPr>
        <p:spPr>
          <a:xfrm xmlns:a="http://schemas.openxmlformats.org/drawingml/2006/main">
            <a:off x="502920" y="4572000"/>
            <a:ext cx="8138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Yonghoon An</a:t>
            </a:r>
            <a:endParaRPr sz="1500"/>
          </a:p>
        </p:txBody>
      </p:sp>
      <p:sp>
        <p:nvSpPr>
          <p:cNvPr id="7" name="Text 5">
            <a:extLst xmlns:a="http://schemas.openxmlformats.org/drawingml/2006/main">
              <a:ext uri="{FF2B5EF4-FFF2-40B4-BE49-F238E27FC236}">
                <a16:creationId xmlns:a16="http://schemas.microsoft.com/office/drawing/2014/main" id="{491EE442-CCE8-4A61-8542-7F03EF5F41FD}"/>
              </a:ext>
            </a:extLst>
          </p:cNvPr>
          <p:cNvSpPr>
            <a:spLocks xmlns:a="http://schemas.openxmlformats.org/drawingml/2006/main" noGrp="1"/>
          </p:cNvSpPr>
          <p:nvPr/>
        </p:nvSpPr>
        <p:spPr>
          <a:xfrm xmlns:a="http://schemas.openxmlformats.org/drawingml/2006/main">
            <a:off x="502920" y="4919472"/>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Division of Materials Science &amp; Engineering, Hanyang University</a:t>
            </a:r>
            <a:endParaRPr sz="1100"/>
          </a:p>
          <a:p xmlns:a="http://schemas.openxmlformats.org/drawingml/2006/main">
            <a:pPr marL="0" indent="0">
              <a:buNone/>
            </a:pPr>
            <a:r>
              <a:rPr sz="1100">
                <a:solidFill>
                  <a:srgbClr val="7F7F7F"/>
                </a:solidFill>
                <a:latin typeface="Arial"/>
                <a:ea typeface="Arial"/>
                <a:cs typeface="Arial"/>
              </a:rPr>
              <a:t>(E-mail : yonghoon71@hanyang.ac.kr)</a:t>
            </a:r>
            <a:endParaRPr sz="1100"/>
          </a:p>
        </p:txBody>
      </p:sp>
      <p:sp>
        <p:nvSpPr>
          <p:cNvPr id="8" name="Text 6">
            <a:extLst xmlns:a="http://schemas.openxmlformats.org/drawingml/2006/main">
              <a:ext uri="{FF2B5EF4-FFF2-40B4-BE49-F238E27FC236}">
                <a16:creationId xmlns:a16="http://schemas.microsoft.com/office/drawing/2014/main" id="{0AF463B3-D01C-4DA9-B532-04F659FA65E7}"/>
              </a:ext>
            </a:extLst>
          </p:cNvPr>
          <p:cNvSpPr>
            <a:spLocks xmlns:a="http://schemas.openxmlformats.org/drawingml/2006/main" noGrp="1"/>
          </p:cNvSpPr>
          <p:nvPr/>
        </p:nvSpPr>
        <p:spPr>
          <a:xfrm xmlns:a="http://schemas.openxmlformats.org/drawingml/2006/main">
            <a:off x="502920" y="388620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7F7F7F"/>
                </a:solidFill>
                <a:latin typeface="Arial"/>
                <a:ea typeface="Arial"/>
                <a:cs typeface="Arial"/>
              </a:rPr>
              <a:t>An audited cascade: from 47-species screening to prospective co-doping labels</a:t>
            </a:r>
            <a:endParaRPr sz="1050"/>
          </a:p>
        </p:txBody>
      </p:sp>
      <p:sp>
        <p:nvSpPr>
          <p:cNvPr id="9" name="Text 7">
            <a:extLst xmlns:a="http://schemas.openxmlformats.org/drawingml/2006/main">
              <a:ext uri="{FF2B5EF4-FFF2-40B4-BE49-F238E27FC236}">
                <a16:creationId xmlns:a16="http://schemas.microsoft.com/office/drawing/2014/main" id="{DF17080E-8DF9-416C-8D48-7AB81300DB1B}"/>
              </a:ext>
            </a:extLst>
          </p:cNvPr>
          <p:cNvSpPr>
            <a:spLocks xmlns:a="http://schemas.openxmlformats.org/drawingml/2006/main" noGrp="1"/>
          </p:cNvSpPr>
          <p:nvPr/>
        </p:nvSpPr>
        <p:spPr>
          <a:xfrm xmlns:a="http://schemas.openxmlformats.org/drawingml/2006/main">
            <a:off x="502920" y="630936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F4E79"/>
                </a:solidFill>
                <a:latin typeface="Arial"/>
                <a:ea typeface="Arial"/>
                <a:cs typeface="Arial"/>
              </a:rPr>
              <a:t>HANYANG UNIVERSITY</a:t>
            </a:r>
            <a:endParaRPr sz="1000"/>
          </a:p>
        </p:txBody>
      </p:sp>
    </p:spTree>
    <p:extLst>
      <p:ext uri="{BB962C8B-B14F-4D97-AF65-F5344CB8AC3E}">
        <p14:creationId xmlns:p14="http://schemas.microsoft.com/office/powerpoint/2010/main" val="34077286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CDFFFEB-A48C-4AFA-B7E7-0BA8B779C762}"/>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Motivation</a:t>
            </a:r>
            <a:endParaRPr sz="1100"/>
          </a:p>
        </p:txBody>
      </p:sp>
      <p:sp>
        <p:nvSpPr>
          <p:cNvPr id="3" name="Text 1">
            <a:extLst xmlns:a="http://schemas.openxmlformats.org/drawingml/2006/main">
              <a:ext uri="{FF2B5EF4-FFF2-40B4-BE49-F238E27FC236}">
                <a16:creationId xmlns:a16="http://schemas.microsoft.com/office/drawing/2014/main" id="{B2E86CC7-5216-4337-B215-CDA539724DAC}"/>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Sendek et al., EES 2017 · EIS = impedance spectroscopy</a:t>
            </a:r>
            <a:endParaRPr sz="850"/>
          </a:p>
        </p:txBody>
      </p:sp>
      <p:sp>
        <p:nvSpPr>
          <p:cNvPr id="4" name="Text 2">
            <a:extLst xmlns:a="http://schemas.openxmlformats.org/drawingml/2006/main">
              <a:ext uri="{FF2B5EF4-FFF2-40B4-BE49-F238E27FC236}">
                <a16:creationId xmlns:a16="http://schemas.microsoft.com/office/drawing/2014/main" id="{59BF768C-549A-4A5F-B97B-C0134C7DFF29}"/>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The screening problem</a:t>
            </a:r>
            <a:endParaRPr sz="2000"/>
          </a:p>
        </p:txBody>
      </p:sp>
      <p:sp>
        <p:nvSpPr>
          <p:cNvPr id="5" name="Shape 3">
            <a:extLst xmlns:a="http://schemas.openxmlformats.org/drawingml/2006/main">
              <a:ext uri="{FF2B5EF4-FFF2-40B4-BE49-F238E27FC236}">
                <a16:creationId xmlns:a16="http://schemas.microsoft.com/office/drawing/2014/main" id="{D47039CF-D2C1-4118-A211-A24229053814}"/>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6" name="Shape 4">
            <a:extLst xmlns:a="http://schemas.openxmlformats.org/drawingml/2006/main">
              <a:ext uri="{FF2B5EF4-FFF2-40B4-BE49-F238E27FC236}">
                <a16:creationId xmlns:a16="http://schemas.microsoft.com/office/drawing/2014/main" id="{1AD5BAD4-E8B7-4B80-B58F-B217AB9EDB10}"/>
              </a:ext>
            </a:extLst>
          </p:cNvPr>
          <p:cNvSpPr>
            <a:spLocks xmlns:a="http://schemas.openxmlformats.org/drawingml/2006/main" noGrp="1"/>
          </p:cNvSpPr>
          <p:nvPr/>
        </p:nvSpPr>
        <p:spPr>
          <a:xfrm xmlns:a="http://schemas.openxmlformats.org/drawingml/2006/main">
            <a:off x="502920" y="2514600"/>
            <a:ext cx="1371600" cy="548640"/>
          </a:xfrm>
          <a:prstGeom xmlns:a="http://schemas.openxmlformats.org/drawingml/2006/main" prst="roundRect">
            <a:avLst>
              <a:gd name="adj" fmla="val 10000"/>
            </a:avLst>
          </a:prstGeom>
          <a:solidFill xmlns:a="http://schemas.openxmlformats.org/drawingml/2006/main">
            <a:srgbClr val="1F4E79"/>
          </a:solidFill>
        </p:spPr>
      </p:sp>
      <p:sp>
        <p:nvSpPr>
          <p:cNvPr id="7" name="Text 5">
            <a:extLst xmlns:a="http://schemas.openxmlformats.org/drawingml/2006/main">
              <a:ext uri="{FF2B5EF4-FFF2-40B4-BE49-F238E27FC236}">
                <a16:creationId xmlns:a16="http://schemas.microsoft.com/office/drawing/2014/main" id="{318BD3C0-C422-4B7C-A3DF-6C9F29824A61}"/>
              </a:ext>
            </a:extLst>
          </p:cNvPr>
          <p:cNvSpPr>
            <a:spLocks xmlns:a="http://schemas.openxmlformats.org/drawingml/2006/main" noGrp="1"/>
          </p:cNvSpPr>
          <p:nvPr/>
        </p:nvSpPr>
        <p:spPr>
          <a:xfrm xmlns:a="http://schemas.openxmlformats.org/drawingml/2006/main">
            <a:off x="502920" y="2514600"/>
            <a:ext cx="1371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Li₆PS₅Cl</a:t>
            </a:r>
            <a:endParaRPr sz="1000"/>
          </a:p>
          <a:p xmlns:a="http://schemas.openxmlformats.org/drawingml/2006/main">
            <a:pPr marL="0" indent="0" algn="ctr">
              <a:buNone/>
            </a:pPr>
            <a:r>
              <a:rPr sz="1000" b="1">
                <a:solidFill>
                  <a:srgbClr val="FFFFFF"/>
                </a:solidFill>
                <a:latin typeface="Arial"/>
                <a:ea typeface="Arial"/>
                <a:cs typeface="Arial"/>
              </a:rPr>
              <a:t>host</a:t>
            </a:r>
            <a:endParaRPr sz="1000"/>
          </a:p>
        </p:txBody>
      </p:sp>
      <p:sp>
        <p:nvSpPr>
          <p:cNvPr id="9" name="Shape 7">
            <a:extLst xmlns:a="http://schemas.openxmlformats.org/drawingml/2006/main">
              <a:ext uri="{FF2B5EF4-FFF2-40B4-BE49-F238E27FC236}">
                <a16:creationId xmlns:a16="http://schemas.microsoft.com/office/drawing/2014/main" id="{F0EFFC55-E122-4220-8718-2D2CB036CA4B}"/>
              </a:ext>
            </a:extLst>
          </p:cNvPr>
          <p:cNvSpPr>
            <a:spLocks xmlns:a="http://schemas.openxmlformats.org/drawingml/2006/main" noGrp="1"/>
          </p:cNvSpPr>
          <p:nvPr/>
        </p:nvSpPr>
        <p:spPr>
          <a:xfrm xmlns:a="http://schemas.openxmlformats.org/drawingml/2006/main">
            <a:off x="2377440" y="1554480"/>
            <a:ext cx="1600200" cy="493776"/>
          </a:xfrm>
          <a:prstGeom xmlns:a="http://schemas.openxmlformats.org/drawingml/2006/main" prst="roundRect">
            <a:avLst>
              <a:gd name="adj" fmla="val 9259"/>
            </a:avLst>
          </a:prstGeom>
          <a:solidFill xmlns:a="http://schemas.openxmlformats.org/drawingml/2006/main">
            <a:srgbClr val="EEF3F9"/>
          </a:solidFill>
          <a:ln xmlns:a="http://schemas.openxmlformats.org/drawingml/2006/main" w="12700">
            <a:solidFill>
              <a:srgbClr val="1F4E79"/>
            </a:solidFill>
            <a:prstDash val="solid"/>
          </a:ln>
        </p:spPr>
      </p:sp>
      <p:sp>
        <p:nvSpPr>
          <p:cNvPr id="10" name="Text 8">
            <a:extLst xmlns:a="http://schemas.openxmlformats.org/drawingml/2006/main">
              <a:ext uri="{FF2B5EF4-FFF2-40B4-BE49-F238E27FC236}">
                <a16:creationId xmlns:a16="http://schemas.microsoft.com/office/drawing/2014/main" id="{02962312-CAF8-4A2F-A2B6-E59A8CBD9057}"/>
              </a:ext>
            </a:extLst>
          </p:cNvPr>
          <p:cNvSpPr>
            <a:spLocks xmlns:a="http://schemas.openxmlformats.org/drawingml/2006/main" noGrp="1"/>
          </p:cNvSpPr>
          <p:nvPr/>
        </p:nvSpPr>
        <p:spPr>
          <a:xfrm xmlns:a="http://schemas.openxmlformats.org/drawingml/2006/main">
            <a:off x="2377440" y="1554480"/>
            <a:ext cx="16002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1F4E79"/>
                </a:solidFill>
                <a:latin typeface="Arial"/>
                <a:ea typeface="Arial"/>
                <a:cs typeface="Arial"/>
              </a:rPr>
              <a:t>halogen species</a:t>
            </a:r>
            <a:endParaRPr sz="950"/>
          </a:p>
        </p:txBody>
      </p:sp>
      <p:sp>
        <p:nvSpPr>
          <p:cNvPr id="12" name="Shape 10">
            <a:extLst xmlns:a="http://schemas.openxmlformats.org/drawingml/2006/main">
              <a:ext uri="{FF2B5EF4-FFF2-40B4-BE49-F238E27FC236}">
                <a16:creationId xmlns:a16="http://schemas.microsoft.com/office/drawing/2014/main" id="{D65B24D4-FA61-4D5E-89CF-1C21AB578BB0}"/>
              </a:ext>
            </a:extLst>
          </p:cNvPr>
          <p:cNvSpPr>
            <a:spLocks xmlns:a="http://schemas.openxmlformats.org/drawingml/2006/main" noGrp="1"/>
          </p:cNvSpPr>
          <p:nvPr/>
        </p:nvSpPr>
        <p:spPr>
          <a:xfrm xmlns:a="http://schemas.openxmlformats.org/drawingml/2006/main">
            <a:off x="2377440" y="2212848"/>
            <a:ext cx="1600200" cy="493776"/>
          </a:xfrm>
          <a:prstGeom xmlns:a="http://schemas.openxmlformats.org/drawingml/2006/main" prst="roundRect">
            <a:avLst>
              <a:gd name="adj" fmla="val 9259"/>
            </a:avLst>
          </a:prstGeom>
          <a:solidFill xmlns:a="http://schemas.openxmlformats.org/drawingml/2006/main">
            <a:srgbClr val="EEF3F9"/>
          </a:solidFill>
          <a:ln xmlns:a="http://schemas.openxmlformats.org/drawingml/2006/main" w="12700">
            <a:solidFill>
              <a:srgbClr val="1F4E79"/>
            </a:solidFill>
            <a:prstDash val="solid"/>
          </a:ln>
        </p:spPr>
      </p:sp>
      <p:sp>
        <p:nvSpPr>
          <p:cNvPr id="13" name="Text 11">
            <a:extLst xmlns:a="http://schemas.openxmlformats.org/drawingml/2006/main">
              <a:ext uri="{FF2B5EF4-FFF2-40B4-BE49-F238E27FC236}">
                <a16:creationId xmlns:a16="http://schemas.microsoft.com/office/drawing/2014/main" id="{BC1E9659-A8FD-4CF7-ACCC-B73DACCF5CB0}"/>
              </a:ext>
            </a:extLst>
          </p:cNvPr>
          <p:cNvSpPr>
            <a:spLocks xmlns:a="http://schemas.openxmlformats.org/drawingml/2006/main" noGrp="1"/>
          </p:cNvSpPr>
          <p:nvPr/>
        </p:nvSpPr>
        <p:spPr>
          <a:xfrm xmlns:a="http://schemas.openxmlformats.org/drawingml/2006/main">
            <a:off x="2377440" y="2212848"/>
            <a:ext cx="16002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1F4E79"/>
                </a:solidFill>
                <a:latin typeface="Arial"/>
                <a:ea typeface="Arial"/>
                <a:cs typeface="Arial"/>
              </a:rPr>
              <a:t>halogen ratio</a:t>
            </a:r>
            <a:endParaRPr sz="950"/>
          </a:p>
        </p:txBody>
      </p:sp>
      <p:sp>
        <p:nvSpPr>
          <p:cNvPr id="14" name="Shape 12">
            <a:extLst xmlns:a="http://schemas.openxmlformats.org/drawingml/2006/main">
              <a:ext uri="{FF2B5EF4-FFF2-40B4-BE49-F238E27FC236}">
                <a16:creationId xmlns:a16="http://schemas.microsoft.com/office/drawing/2014/main" id="{54E47F32-0A8C-4DFC-833F-B9FD1E70820F}"/>
              </a:ext>
            </a:extLst>
          </p:cNvPr>
          <p:cNvSpPr>
            <a:spLocks xmlns:a="http://schemas.openxmlformats.org/drawingml/2006/main" noGrp="1"/>
          </p:cNvSpPr>
          <p:nvPr/>
        </p:nvSpPr>
        <p:spPr>
          <a:xfrm xmlns:a="http://schemas.openxmlformats.org/drawingml/2006/main">
            <a:off x="1874520" y="2788920"/>
            <a:ext cx="502920" cy="329184"/>
          </a:xfrm>
          <a:prstGeom xmlns:a="http://schemas.openxmlformats.org/drawingml/2006/main" prst="line">
            <a:avLst/>
          </a:prstGeom>
          <a:noFill xmlns:a="http://schemas.openxmlformats.org/drawingml/2006/main"/>
          <a:ln xmlns:a="http://schemas.openxmlformats.org/drawingml/2006/main" w="12700">
            <a:solidFill>
              <a:srgbClr val="7F7F7F"/>
            </a:solidFill>
            <a:prstDash val="solid"/>
          </a:ln>
        </p:spPr>
      </p:sp>
      <p:sp>
        <p:nvSpPr>
          <p:cNvPr id="15" name="Shape 13">
            <a:extLst xmlns:a="http://schemas.openxmlformats.org/drawingml/2006/main">
              <a:ext uri="{FF2B5EF4-FFF2-40B4-BE49-F238E27FC236}">
                <a16:creationId xmlns:a16="http://schemas.microsoft.com/office/drawing/2014/main" id="{D9C3406D-B57D-45A9-9348-4921478F3A3A}"/>
              </a:ext>
            </a:extLst>
          </p:cNvPr>
          <p:cNvSpPr>
            <a:spLocks xmlns:a="http://schemas.openxmlformats.org/drawingml/2006/main" noGrp="1"/>
          </p:cNvSpPr>
          <p:nvPr/>
        </p:nvSpPr>
        <p:spPr>
          <a:xfrm xmlns:a="http://schemas.openxmlformats.org/drawingml/2006/main">
            <a:off x="2377440" y="2871216"/>
            <a:ext cx="1600200" cy="493776"/>
          </a:xfrm>
          <a:prstGeom xmlns:a="http://schemas.openxmlformats.org/drawingml/2006/main" prst="roundRect">
            <a:avLst>
              <a:gd name="adj" fmla="val 9259"/>
            </a:avLst>
          </a:prstGeom>
          <a:solidFill xmlns:a="http://schemas.openxmlformats.org/drawingml/2006/main">
            <a:srgbClr val="EEF3F9"/>
          </a:solidFill>
          <a:ln xmlns:a="http://schemas.openxmlformats.org/drawingml/2006/main" w="12700">
            <a:solidFill>
              <a:srgbClr val="1F4E79"/>
            </a:solidFill>
            <a:prstDash val="solid"/>
          </a:ln>
        </p:spPr>
      </p:sp>
      <p:sp>
        <p:nvSpPr>
          <p:cNvPr id="16" name="Text 14">
            <a:extLst xmlns:a="http://schemas.openxmlformats.org/drawingml/2006/main">
              <a:ext uri="{FF2B5EF4-FFF2-40B4-BE49-F238E27FC236}">
                <a16:creationId xmlns:a16="http://schemas.microsoft.com/office/drawing/2014/main" id="{96F31E12-4CED-4D9D-A857-6BFD2742E26E}"/>
              </a:ext>
            </a:extLst>
          </p:cNvPr>
          <p:cNvSpPr>
            <a:spLocks xmlns:a="http://schemas.openxmlformats.org/drawingml/2006/main" noGrp="1"/>
          </p:cNvSpPr>
          <p:nvPr/>
        </p:nvSpPr>
        <p:spPr>
          <a:xfrm xmlns:a="http://schemas.openxmlformats.org/drawingml/2006/main">
            <a:off x="2377440" y="2871216"/>
            <a:ext cx="16002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1F4E79"/>
                </a:solidFill>
                <a:latin typeface="Arial"/>
                <a:ea typeface="Arial"/>
                <a:cs typeface="Arial"/>
              </a:rPr>
              <a:t>dopant (47)</a:t>
            </a:r>
            <a:endParaRPr sz="950"/>
          </a:p>
        </p:txBody>
      </p:sp>
      <p:sp>
        <p:nvSpPr>
          <p:cNvPr id="17" name="Shape 15">
            <a:extLst xmlns:a="http://schemas.openxmlformats.org/drawingml/2006/main">
              <a:ext uri="{FF2B5EF4-FFF2-40B4-BE49-F238E27FC236}">
                <a16:creationId xmlns:a16="http://schemas.microsoft.com/office/drawing/2014/main" id="{1F5C9F4A-F5EA-4108-A3EE-CDFD42B2303E}"/>
              </a:ext>
            </a:extLst>
          </p:cNvPr>
          <p:cNvSpPr>
            <a:spLocks xmlns:a="http://schemas.openxmlformats.org/drawingml/2006/main" noGrp="1"/>
          </p:cNvSpPr>
          <p:nvPr/>
        </p:nvSpPr>
        <p:spPr>
          <a:xfrm xmlns:a="http://schemas.openxmlformats.org/drawingml/2006/main">
            <a:off x="1874520" y="2788920"/>
            <a:ext cx="502920" cy="987552"/>
          </a:xfrm>
          <a:prstGeom xmlns:a="http://schemas.openxmlformats.org/drawingml/2006/main" prst="line">
            <a:avLst/>
          </a:prstGeom>
          <a:noFill xmlns:a="http://schemas.openxmlformats.org/drawingml/2006/main"/>
          <a:ln xmlns:a="http://schemas.openxmlformats.org/drawingml/2006/main" w="12700">
            <a:solidFill>
              <a:srgbClr val="7F7F7F"/>
            </a:solidFill>
            <a:prstDash val="solid"/>
          </a:ln>
        </p:spPr>
      </p:sp>
      <p:sp>
        <p:nvSpPr>
          <p:cNvPr id="18" name="Shape 16">
            <a:extLst xmlns:a="http://schemas.openxmlformats.org/drawingml/2006/main">
              <a:ext uri="{FF2B5EF4-FFF2-40B4-BE49-F238E27FC236}">
                <a16:creationId xmlns:a16="http://schemas.microsoft.com/office/drawing/2014/main" id="{9EEE101B-00FA-4126-93D9-C19C086ABC16}"/>
              </a:ext>
            </a:extLst>
          </p:cNvPr>
          <p:cNvSpPr>
            <a:spLocks xmlns:a="http://schemas.openxmlformats.org/drawingml/2006/main" noGrp="1"/>
          </p:cNvSpPr>
          <p:nvPr/>
        </p:nvSpPr>
        <p:spPr>
          <a:xfrm xmlns:a="http://schemas.openxmlformats.org/drawingml/2006/main">
            <a:off x="2377440" y="3529584"/>
            <a:ext cx="1600200" cy="493776"/>
          </a:xfrm>
          <a:prstGeom xmlns:a="http://schemas.openxmlformats.org/drawingml/2006/main" prst="roundRect">
            <a:avLst>
              <a:gd name="adj" fmla="val 9259"/>
            </a:avLst>
          </a:prstGeom>
          <a:solidFill xmlns:a="http://schemas.openxmlformats.org/drawingml/2006/main">
            <a:srgbClr val="EEF3F9"/>
          </a:solidFill>
          <a:ln xmlns:a="http://schemas.openxmlformats.org/drawingml/2006/main" w="12700">
            <a:solidFill>
              <a:srgbClr val="1F4E79"/>
            </a:solidFill>
            <a:prstDash val="solid"/>
          </a:ln>
        </p:spPr>
      </p:sp>
      <p:sp>
        <p:nvSpPr>
          <p:cNvPr id="19" name="Text 17">
            <a:extLst xmlns:a="http://schemas.openxmlformats.org/drawingml/2006/main">
              <a:ext uri="{FF2B5EF4-FFF2-40B4-BE49-F238E27FC236}">
                <a16:creationId xmlns:a16="http://schemas.microsoft.com/office/drawing/2014/main" id="{6FDEB075-F0C4-47C9-84B6-BC948A52BB1D}"/>
              </a:ext>
            </a:extLst>
          </p:cNvPr>
          <p:cNvSpPr>
            <a:spLocks xmlns:a="http://schemas.openxmlformats.org/drawingml/2006/main" noGrp="1"/>
          </p:cNvSpPr>
          <p:nvPr/>
        </p:nvSpPr>
        <p:spPr>
          <a:xfrm xmlns:a="http://schemas.openxmlformats.org/drawingml/2006/main">
            <a:off x="2377440" y="3529584"/>
            <a:ext cx="16002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1F4E79"/>
                </a:solidFill>
                <a:latin typeface="Arial"/>
                <a:ea typeface="Arial"/>
                <a:cs typeface="Arial"/>
              </a:rPr>
              <a:t>campaign labels (3)</a:t>
            </a:r>
            <a:endParaRPr sz="950"/>
          </a:p>
        </p:txBody>
      </p:sp>
      <p:sp>
        <p:nvSpPr>
          <p:cNvPr id="20" name="Text 18">
            <a:extLst xmlns:a="http://schemas.openxmlformats.org/drawingml/2006/main">
              <a:ext uri="{FF2B5EF4-FFF2-40B4-BE49-F238E27FC236}">
                <a16:creationId xmlns:a16="http://schemas.microsoft.com/office/drawing/2014/main" id="{2024BF9F-F6A3-409E-BF09-23B07C3053F4}"/>
              </a:ext>
            </a:extLst>
          </p:cNvPr>
          <p:cNvSpPr>
            <a:spLocks xmlns:a="http://schemas.openxmlformats.org/drawingml/2006/main" noGrp="1"/>
          </p:cNvSpPr>
          <p:nvPr/>
        </p:nvSpPr>
        <p:spPr>
          <a:xfrm xmlns:a="http://schemas.openxmlformats.org/drawingml/2006/main">
            <a:off x="2377440" y="4297680"/>
            <a:ext cx="1600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9E2A2B"/>
                </a:solidFill>
                <a:latin typeface="Arial"/>
                <a:ea typeface="Arial"/>
                <a:cs typeface="Arial"/>
              </a:rPr>
              <a:t>× campaign expansion</a:t>
            </a:r>
            <a:endParaRPr sz="950"/>
          </a:p>
        </p:txBody>
      </p:sp>
      <p:sp>
        <p:nvSpPr>
          <p:cNvPr id="21" name="Text 19">
            <a:extLst xmlns:a="http://schemas.openxmlformats.org/drawingml/2006/main">
              <a:ext uri="{FF2B5EF4-FFF2-40B4-BE49-F238E27FC236}">
                <a16:creationId xmlns:a16="http://schemas.microsoft.com/office/drawing/2014/main" id="{BAACA7B3-CCCC-4C52-A353-E34224F95BBD}"/>
              </a:ext>
            </a:extLst>
          </p:cNvPr>
          <p:cNvSpPr>
            <a:spLocks xmlns:a="http://schemas.openxmlformats.org/drawingml/2006/main" noGrp="1"/>
          </p:cNvSpPr>
          <p:nvPr/>
        </p:nvSpPr>
        <p:spPr>
          <a:xfrm xmlns:a="http://schemas.openxmlformats.org/drawingml/2006/main">
            <a:off x="502920" y="4709160"/>
            <a:ext cx="3063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40" i="1">
                <a:solidFill>
                  <a:srgbClr val="7F7F7F"/>
                </a:solidFill>
                <a:latin typeface="Arial"/>
                <a:ea typeface="Arial"/>
                <a:cs typeface="Arial"/>
              </a:rPr>
              <a:t>Three physical design knobs plus one campaign-label axis — labels are not verified concentrations</a:t>
            </a:r>
            <a:endParaRPr sz="850"/>
          </a:p>
        </p:txBody>
      </p:sp>
      <p:sp>
        <p:nvSpPr>
          <p:cNvPr id="22" name="Text 20">
            <a:extLst xmlns:a="http://schemas.openxmlformats.org/drawingml/2006/main">
              <a:ext uri="{FF2B5EF4-FFF2-40B4-BE49-F238E27FC236}">
                <a16:creationId xmlns:a16="http://schemas.microsoft.com/office/drawing/2014/main" id="{0C078848-EE52-489C-B47B-A9BA462E06FF}"/>
              </a:ext>
            </a:extLst>
          </p:cNvPr>
          <p:cNvSpPr>
            <a:spLocks xmlns:a="http://schemas.openxmlformats.org/drawingml/2006/main" noGrp="1"/>
          </p:cNvSpPr>
          <p:nvPr/>
        </p:nvSpPr>
        <p:spPr>
          <a:xfrm xmlns:a="http://schemas.openxmlformats.org/drawingml/2006/main">
            <a:off x="3977640" y="1463040"/>
            <a:ext cx="46634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215" b="1">
                <a:solidFill>
                  <a:srgbClr val="262626"/>
                </a:solidFill>
                <a:latin typeface="Arial"/>
                <a:ea typeface="Arial"/>
                <a:cs typeface="Arial"/>
              </a:rPr>
              <a:t>One experiment = synthesis + XRD + EIS + cell ≈ weeks</a:t>
            </a:r>
            <a:endParaRPr sz="1250"/>
          </a:p>
          <a:p xmlns:a="http://schemas.openxmlformats.org/drawingml/2006/main">
            <a:pPr marL="127000" indent="-127000">
              <a:spcAft>
                <a:spcPts val="500"/>
              </a:spcAft>
              <a:buSzPct val="100000"/>
              <a:buChar char="·"/>
            </a:pPr>
            <a:r>
              <a:rPr sz="1215" b="1">
                <a:solidFill>
                  <a:srgbClr val="262626"/>
                </a:solidFill>
                <a:latin typeface="Arial"/>
                <a:ea typeface="Arial"/>
                <a:cs typeface="Arial"/>
              </a:rPr>
              <a:t>One calculation = hours–days</a:t>
            </a:r>
            <a:endParaRPr sz="1250"/>
          </a:p>
          <a:p xmlns:a="http://schemas.openxmlformats.org/drawingml/2006/main">
            <a:pPr marL="127000" indent="-127000">
              <a:spcAft>
                <a:spcPts val="500"/>
              </a:spcAft>
              <a:buSzPct val="100000"/>
              <a:buChar char="·"/>
            </a:pPr>
            <a:r>
              <a:rPr sz="1215" b="1">
                <a:solidFill>
                  <a:srgbClr val="1F4E79"/>
                </a:solidFill>
                <a:latin typeface="Arial"/>
                <a:ea typeface="Arial"/>
                <a:cs typeface="Arial"/>
              </a:rPr>
              <a:t>Computation does not replace experiments — it narrows where they go</a:t>
            </a:r>
            <a:endParaRPr sz="1250"/>
          </a:p>
          <a:p xmlns:a="http://schemas.openxmlformats.org/drawingml/2006/main">
            <a:pPr marL="127000" indent="-127000">
              <a:spcAft>
                <a:spcPts val="200"/>
              </a:spcAft>
              <a:buSzPct val="100000"/>
              <a:buChar char="·"/>
            </a:pPr>
            <a:r>
              <a:rPr sz="1215">
                <a:solidFill>
                  <a:srgbClr val="262626"/>
                </a:solidFill>
                <a:latin typeface="Arial"/>
                <a:ea typeface="Arial"/>
                <a:cs typeface="Arial"/>
              </a:rPr>
              <a:t>Post-hoc gate audit begins from the versioned 47-species snapshot:</a:t>
            </a:r>
            <a:endParaRPr sz="1250"/>
          </a:p>
        </p:txBody>
      </p:sp>
      <p:sp>
        <p:nvSpPr>
          <p:cNvPr id="23" name="Shape 21">
            <a:extLst xmlns:a="http://schemas.openxmlformats.org/drawingml/2006/main">
              <a:ext uri="{FF2B5EF4-FFF2-40B4-BE49-F238E27FC236}">
                <a16:creationId xmlns:a16="http://schemas.microsoft.com/office/drawing/2014/main" id="{59E49466-C296-4904-A5CB-2725640F568A}"/>
              </a:ext>
            </a:extLst>
          </p:cNvPr>
          <p:cNvSpPr>
            <a:spLocks xmlns:a="http://schemas.openxmlformats.org/drawingml/2006/main" noGrp="1"/>
          </p:cNvSpPr>
          <p:nvPr/>
        </p:nvSpPr>
        <p:spPr>
          <a:xfrm xmlns:a="http://schemas.openxmlformats.org/drawingml/2006/main">
            <a:off x="4206240" y="3566160"/>
            <a:ext cx="2606040" cy="365760"/>
          </a:xfrm>
          <a:prstGeom xmlns:a="http://schemas.openxmlformats.org/drawingml/2006/main" prst="rect">
            <a:avLst/>
          </a:prstGeom>
          <a:solidFill xmlns:a="http://schemas.openxmlformats.org/drawingml/2006/main">
            <a:srgbClr val="1F4E79"/>
          </a:solidFill>
        </p:spPr>
      </p:sp>
      <p:sp>
        <p:nvSpPr>
          <p:cNvPr id="24" name="Text 22">
            <a:extLst xmlns:a="http://schemas.openxmlformats.org/drawingml/2006/main">
              <a:ext uri="{FF2B5EF4-FFF2-40B4-BE49-F238E27FC236}">
                <a16:creationId xmlns:a16="http://schemas.microsoft.com/office/drawing/2014/main" id="{C4BCB846-6047-4724-BF3F-6D439ED5C18A}"/>
              </a:ext>
            </a:extLst>
          </p:cNvPr>
          <p:cNvSpPr>
            <a:spLocks xmlns:a="http://schemas.openxmlformats.org/drawingml/2006/main" noGrp="1"/>
          </p:cNvSpPr>
          <p:nvPr/>
        </p:nvSpPr>
        <p:spPr>
          <a:xfrm xmlns:a="http://schemas.openxmlformats.org/drawingml/2006/main">
            <a:off x="6885432" y="3602736"/>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62626"/>
                </a:solidFill>
                <a:latin typeface="Arial"/>
                <a:ea typeface="Arial"/>
                <a:cs typeface="Arial"/>
              </a:rPr>
              <a:t>pool  47</a:t>
            </a:r>
            <a:endParaRPr sz="1000"/>
          </a:p>
        </p:txBody>
      </p:sp>
      <p:sp>
        <p:nvSpPr>
          <p:cNvPr id="25" name="Shape 23">
            <a:extLst xmlns:a="http://schemas.openxmlformats.org/drawingml/2006/main">
              <a:ext uri="{FF2B5EF4-FFF2-40B4-BE49-F238E27FC236}">
                <a16:creationId xmlns:a16="http://schemas.microsoft.com/office/drawing/2014/main" id="{779E8136-4285-4895-9FC3-3A6A3863C6E4}"/>
              </a:ext>
            </a:extLst>
          </p:cNvPr>
          <p:cNvSpPr>
            <a:spLocks xmlns:a="http://schemas.openxmlformats.org/drawingml/2006/main" noGrp="1"/>
          </p:cNvSpPr>
          <p:nvPr/>
        </p:nvSpPr>
        <p:spPr>
          <a:xfrm xmlns:a="http://schemas.openxmlformats.org/drawingml/2006/main">
            <a:off x="4206240" y="4041648"/>
            <a:ext cx="2403705" cy="365760"/>
          </a:xfrm>
          <a:prstGeom xmlns:a="http://schemas.openxmlformats.org/drawingml/2006/main" prst="rect">
            <a:avLst/>
          </a:prstGeom>
          <a:solidFill xmlns:a="http://schemas.openxmlformats.org/drawingml/2006/main">
            <a:srgbClr val="1F4E79"/>
          </a:solidFill>
        </p:spPr>
      </p:sp>
      <p:sp>
        <p:nvSpPr>
          <p:cNvPr id="26" name="Text 24">
            <a:extLst xmlns:a="http://schemas.openxmlformats.org/drawingml/2006/main">
              <a:ext uri="{FF2B5EF4-FFF2-40B4-BE49-F238E27FC236}">
                <a16:creationId xmlns:a16="http://schemas.microsoft.com/office/drawing/2014/main" id="{42056807-BDA1-4794-B5CA-3439FE5120C7}"/>
              </a:ext>
            </a:extLst>
          </p:cNvPr>
          <p:cNvSpPr>
            <a:spLocks xmlns:a="http://schemas.openxmlformats.org/drawingml/2006/main" noGrp="1"/>
          </p:cNvSpPr>
          <p:nvPr/>
        </p:nvSpPr>
        <p:spPr>
          <a:xfrm xmlns:a="http://schemas.openxmlformats.org/drawingml/2006/main">
            <a:off x="6683097" y="407822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62626"/>
                </a:solidFill>
                <a:latin typeface="Arial"/>
                <a:ea typeface="Arial"/>
                <a:cs typeface="Arial"/>
              </a:rPr>
              <a:t>G2  43</a:t>
            </a:r>
            <a:endParaRPr sz="1000"/>
          </a:p>
        </p:txBody>
      </p:sp>
      <p:sp>
        <p:nvSpPr>
          <p:cNvPr id="27" name="Shape 25">
            <a:extLst xmlns:a="http://schemas.openxmlformats.org/drawingml/2006/main">
              <a:ext uri="{FF2B5EF4-FFF2-40B4-BE49-F238E27FC236}">
                <a16:creationId xmlns:a16="http://schemas.microsoft.com/office/drawing/2014/main" id="{C38B2252-A5D0-4595-A0BF-B2A0C0AB1430}"/>
              </a:ext>
            </a:extLst>
          </p:cNvPr>
          <p:cNvSpPr>
            <a:spLocks xmlns:a="http://schemas.openxmlformats.org/drawingml/2006/main" noGrp="1"/>
          </p:cNvSpPr>
          <p:nvPr/>
        </p:nvSpPr>
        <p:spPr>
          <a:xfrm xmlns:a="http://schemas.openxmlformats.org/drawingml/2006/main">
            <a:off x="4206240" y="4517136"/>
            <a:ext cx="1493196" cy="365760"/>
          </a:xfrm>
          <a:prstGeom xmlns:a="http://schemas.openxmlformats.org/drawingml/2006/main" prst="rect">
            <a:avLst/>
          </a:prstGeom>
          <a:solidFill xmlns:a="http://schemas.openxmlformats.org/drawingml/2006/main">
            <a:srgbClr val="1F4E79"/>
          </a:solidFill>
        </p:spPr>
      </p:sp>
      <p:sp>
        <p:nvSpPr>
          <p:cNvPr id="28" name="Text 26">
            <a:extLst xmlns:a="http://schemas.openxmlformats.org/drawingml/2006/main">
              <a:ext uri="{FF2B5EF4-FFF2-40B4-BE49-F238E27FC236}">
                <a16:creationId xmlns:a16="http://schemas.microsoft.com/office/drawing/2014/main" id="{ECCB9CAD-3FFA-4720-A07B-849F71196850}"/>
              </a:ext>
            </a:extLst>
          </p:cNvPr>
          <p:cNvSpPr>
            <a:spLocks xmlns:a="http://schemas.openxmlformats.org/drawingml/2006/main" noGrp="1"/>
          </p:cNvSpPr>
          <p:nvPr/>
        </p:nvSpPr>
        <p:spPr>
          <a:xfrm xmlns:a="http://schemas.openxmlformats.org/drawingml/2006/main">
            <a:off x="5772588" y="4553712"/>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62626"/>
                </a:solidFill>
                <a:latin typeface="Arial"/>
                <a:ea typeface="Arial"/>
                <a:cs typeface="Arial"/>
              </a:rPr>
              <a:t>G3  25</a:t>
            </a:r>
            <a:endParaRPr sz="1000"/>
          </a:p>
        </p:txBody>
      </p:sp>
      <p:sp>
        <p:nvSpPr>
          <p:cNvPr id="29" name="Shape 27">
            <a:extLst xmlns:a="http://schemas.openxmlformats.org/drawingml/2006/main">
              <a:ext uri="{FF2B5EF4-FFF2-40B4-BE49-F238E27FC236}">
                <a16:creationId xmlns:a16="http://schemas.microsoft.com/office/drawing/2014/main" id="{34684C0A-77EE-412C-BF45-F2EACF8E8A7B}"/>
              </a:ext>
            </a:extLst>
          </p:cNvPr>
          <p:cNvSpPr>
            <a:spLocks xmlns:a="http://schemas.openxmlformats.org/drawingml/2006/main" noGrp="1"/>
          </p:cNvSpPr>
          <p:nvPr/>
        </p:nvSpPr>
        <p:spPr>
          <a:xfrm xmlns:a="http://schemas.openxmlformats.org/drawingml/2006/main">
            <a:off x="4206240" y="4992624"/>
            <a:ext cx="785022" cy="365760"/>
          </a:xfrm>
          <a:prstGeom xmlns:a="http://schemas.openxmlformats.org/drawingml/2006/main" prst="rect">
            <a:avLst/>
          </a:prstGeom>
          <a:solidFill xmlns:a="http://schemas.openxmlformats.org/drawingml/2006/main">
            <a:srgbClr val="1F4E79"/>
          </a:solidFill>
        </p:spPr>
      </p:sp>
      <p:sp>
        <p:nvSpPr>
          <p:cNvPr id="30" name="Text 28">
            <a:extLst xmlns:a="http://schemas.openxmlformats.org/drawingml/2006/main">
              <a:ext uri="{FF2B5EF4-FFF2-40B4-BE49-F238E27FC236}">
                <a16:creationId xmlns:a16="http://schemas.microsoft.com/office/drawing/2014/main" id="{222B30A1-0700-45B4-AF84-AD367B9B2CB0}"/>
              </a:ext>
            </a:extLst>
          </p:cNvPr>
          <p:cNvSpPr>
            <a:spLocks xmlns:a="http://schemas.openxmlformats.org/drawingml/2006/main" noGrp="1"/>
          </p:cNvSpPr>
          <p:nvPr/>
        </p:nvSpPr>
        <p:spPr>
          <a:xfrm xmlns:a="http://schemas.openxmlformats.org/drawingml/2006/main">
            <a:off x="5064414" y="502920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62626"/>
                </a:solidFill>
                <a:latin typeface="Arial"/>
                <a:ea typeface="Arial"/>
                <a:cs typeface="Arial"/>
              </a:rPr>
              <a:t>G4  11</a:t>
            </a:r>
            <a:endParaRPr sz="1000"/>
          </a:p>
        </p:txBody>
      </p:sp>
      <p:sp>
        <p:nvSpPr>
          <p:cNvPr id="31" name="Shape 29">
            <a:extLst xmlns:a="http://schemas.openxmlformats.org/drawingml/2006/main">
              <a:ext uri="{FF2B5EF4-FFF2-40B4-BE49-F238E27FC236}">
                <a16:creationId xmlns:a16="http://schemas.microsoft.com/office/drawing/2014/main" id="{539E4495-DD66-49F3-BF17-3DC031948AFA}"/>
              </a:ext>
            </a:extLst>
          </p:cNvPr>
          <p:cNvSpPr>
            <a:spLocks xmlns:a="http://schemas.openxmlformats.org/drawingml/2006/main" noGrp="1"/>
          </p:cNvSpPr>
          <p:nvPr/>
        </p:nvSpPr>
        <p:spPr>
          <a:xfrm xmlns:a="http://schemas.openxmlformats.org/drawingml/2006/main">
            <a:off x="4206240" y="5468112"/>
            <a:ext cx="279184" cy="365760"/>
          </a:xfrm>
          <a:prstGeom xmlns:a="http://schemas.openxmlformats.org/drawingml/2006/main" prst="rect">
            <a:avLst/>
          </a:prstGeom>
          <a:solidFill xmlns:a="http://schemas.openxmlformats.org/drawingml/2006/main">
            <a:srgbClr val="9E2A2B"/>
          </a:solidFill>
        </p:spPr>
      </p:sp>
      <p:sp>
        <p:nvSpPr>
          <p:cNvPr id="32" name="Text 30">
            <a:extLst xmlns:a="http://schemas.openxmlformats.org/drawingml/2006/main">
              <a:ext uri="{FF2B5EF4-FFF2-40B4-BE49-F238E27FC236}">
                <a16:creationId xmlns:a16="http://schemas.microsoft.com/office/drawing/2014/main" id="{67D5C6D7-3820-4E78-A262-8A38ECE48A23}"/>
              </a:ext>
            </a:extLst>
          </p:cNvPr>
          <p:cNvSpPr>
            <a:spLocks xmlns:a="http://schemas.openxmlformats.org/drawingml/2006/main" noGrp="1"/>
          </p:cNvSpPr>
          <p:nvPr/>
        </p:nvSpPr>
        <p:spPr>
          <a:xfrm xmlns:a="http://schemas.openxmlformats.org/drawingml/2006/main">
            <a:off x="4558576" y="550468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62626"/>
                </a:solidFill>
                <a:latin typeface="Arial"/>
                <a:ea typeface="Arial"/>
                <a:cs typeface="Arial"/>
              </a:rPr>
              <a:t>G5  1</a:t>
            </a:r>
            <a:endParaRPr sz="1000"/>
          </a:p>
        </p:txBody>
      </p:sp>
      <p:sp>
        <p:nvSpPr>
          <p:cNvPr id="34" name="Text 31">
            <a:extLst xmlns:a="http://schemas.openxmlformats.org/drawingml/2006/main">
              <a:ext uri="{FF2B5EF4-FFF2-40B4-BE49-F238E27FC236}">
                <a16:creationId xmlns:a16="http://schemas.microsoft.com/office/drawing/2014/main" id="{33E586B0-3390-4481-9538-42506F3811B6}"/>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35" name="Text 32">
            <a:extLst xmlns:a="http://schemas.openxmlformats.org/drawingml/2006/main">
              <a:ext uri="{FF2B5EF4-FFF2-40B4-BE49-F238E27FC236}">
                <a16:creationId xmlns:a16="http://schemas.microsoft.com/office/drawing/2014/main" id="{E14CA27A-8F3F-4A69-A6C5-1450528F3C8E}"/>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sp>
        <p:nvSpPr>
          <p:cNvPr id="36" name="">
            <a:extLst xmlns:a="http://schemas.openxmlformats.org/drawingml/2006/main">
              <a:ext uri="{FF2B5EF4-FFF2-40B4-BE49-F238E27FC236}">
                <a16:creationId xmlns:a16="http://schemas.microsoft.com/office/drawing/2014/main" id="{3B15E211-BB8E-4C28-8C73-2EAC19C8ABA4}"/>
              </a:ext>
            </a:extLst>
          </p:cNvPr>
          <p:cNvSpPr>
            <a:spLocks xmlns:a="http://schemas.openxmlformats.org/drawingml/2006/main" noGrp="1"/>
          </p:cNvSpPr>
          <p:nvPr/>
        </p:nvSpPr>
        <p:spPr>
          <a:xfrm xmlns:a="http://schemas.openxmlformats.org/drawingml/2006/main">
            <a:off x="1874520" y="2788920"/>
            <a:ext cx="251460" cy="0"/>
          </a:xfrm>
          <a:prstGeom xmlns:a="http://schemas.openxmlformats.org/drawingml/2006/main" prst="line">
            <a:avLst/>
          </a:prstGeom>
          <a:noFill xmlns:a="http://schemas.openxmlformats.org/drawingml/2006/main"/>
          <a:ln xmlns:a="http://schemas.openxmlformats.org/drawingml/2006/main" w="12700">
            <a:solidFill>
              <a:srgbClr val="7F7F7F"/>
            </a:solidFill>
            <a:prstDash val="solid"/>
          </a:ln>
        </p:spPr>
      </p:sp>
      <p:sp>
        <p:nvSpPr>
          <p:cNvPr id="37" name="">
            <a:extLst xmlns:a="http://schemas.openxmlformats.org/drawingml/2006/main">
              <a:ext uri="{FF2B5EF4-FFF2-40B4-BE49-F238E27FC236}">
                <a16:creationId xmlns:a16="http://schemas.microsoft.com/office/drawing/2014/main" id="{5378AA10-6AC8-4F3C-8254-9A31616A528B}"/>
              </a:ext>
            </a:extLst>
          </p:cNvPr>
          <p:cNvSpPr>
            <a:spLocks xmlns:a="http://schemas.openxmlformats.org/drawingml/2006/main" noGrp="1"/>
          </p:cNvSpPr>
          <p:nvPr/>
        </p:nvSpPr>
        <p:spPr>
          <a:xfrm xmlns:a="http://schemas.openxmlformats.org/drawingml/2006/main">
            <a:off x="2125980" y="1801368"/>
            <a:ext cx="0" cy="987552"/>
          </a:xfrm>
          <a:prstGeom xmlns:a="http://schemas.openxmlformats.org/drawingml/2006/main" prst="line">
            <a:avLst/>
          </a:prstGeom>
          <a:noFill xmlns:a="http://schemas.openxmlformats.org/drawingml/2006/main"/>
          <a:ln xmlns:a="http://schemas.openxmlformats.org/drawingml/2006/main" w="12700">
            <a:solidFill>
              <a:srgbClr val="7F7F7F"/>
            </a:solidFill>
            <a:prstDash val="solid"/>
          </a:ln>
        </p:spPr>
      </p:sp>
      <p:sp>
        <p:nvSpPr>
          <p:cNvPr id="38" name="">
            <a:extLst xmlns:a="http://schemas.openxmlformats.org/drawingml/2006/main">
              <a:ext uri="{FF2B5EF4-FFF2-40B4-BE49-F238E27FC236}">
                <a16:creationId xmlns:a16="http://schemas.microsoft.com/office/drawing/2014/main" id="{2D657242-96B6-4BD2-8DDC-BBDCBA4188B1}"/>
              </a:ext>
            </a:extLst>
          </p:cNvPr>
          <p:cNvSpPr>
            <a:spLocks xmlns:a="http://schemas.openxmlformats.org/drawingml/2006/main" noGrp="1"/>
          </p:cNvSpPr>
          <p:nvPr/>
        </p:nvSpPr>
        <p:spPr>
          <a:xfrm xmlns:a="http://schemas.openxmlformats.org/drawingml/2006/main">
            <a:off x="2125980" y="1801368"/>
            <a:ext cx="251460" cy="0"/>
          </a:xfrm>
          <a:prstGeom xmlns:a="http://schemas.openxmlformats.org/drawingml/2006/main" prst="line">
            <a:avLst/>
          </a:prstGeom>
          <a:noFill xmlns:a="http://schemas.openxmlformats.org/drawingml/2006/main"/>
          <a:ln xmlns:a="http://schemas.openxmlformats.org/drawingml/2006/main" w="12700">
            <a:solidFill>
              <a:srgbClr val="7F7F7F"/>
            </a:solidFill>
            <a:prstDash val="solid"/>
          </a:ln>
        </p:spPr>
      </p:sp>
      <p:sp>
        <p:nvSpPr>
          <p:cNvPr id="39" name="">
            <a:extLst xmlns:a="http://schemas.openxmlformats.org/drawingml/2006/main">
              <a:ext uri="{FF2B5EF4-FFF2-40B4-BE49-F238E27FC236}">
                <a16:creationId xmlns:a16="http://schemas.microsoft.com/office/drawing/2014/main" id="{CF1E0101-B630-45FE-9B7F-0CEBAD962268}"/>
              </a:ext>
            </a:extLst>
          </p:cNvPr>
          <p:cNvSpPr>
            <a:spLocks xmlns:a="http://schemas.openxmlformats.org/drawingml/2006/main" noGrp="1"/>
          </p:cNvSpPr>
          <p:nvPr/>
        </p:nvSpPr>
        <p:spPr>
          <a:xfrm xmlns:a="http://schemas.openxmlformats.org/drawingml/2006/main">
            <a:off x="2125980" y="2459736"/>
            <a:ext cx="251460" cy="0"/>
          </a:xfrm>
          <a:prstGeom xmlns:a="http://schemas.openxmlformats.org/drawingml/2006/main" prst="line">
            <a:avLst/>
          </a:prstGeom>
          <a:noFill xmlns:a="http://schemas.openxmlformats.org/drawingml/2006/main"/>
          <a:ln xmlns:a="http://schemas.openxmlformats.org/drawingml/2006/main" w="12700">
            <a:solidFill>
              <a:srgbClr val="7F7F7F"/>
            </a:solidFill>
            <a:prstDash val="solid"/>
          </a:ln>
        </p:spPr>
      </p:sp>
    </p:spTree>
    <p:extLst>
      <p:ext uri="{BB962C8B-B14F-4D97-AF65-F5344CB8AC3E}">
        <p14:creationId xmlns:p14="http://schemas.microsoft.com/office/powerpoint/2010/main" val="145284901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36362E-6E5C-4FC7-8B75-869D7F3B8345}"/>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Motivation</a:t>
            </a:r>
            <a:endParaRPr sz="1100"/>
          </a:p>
        </p:txBody>
      </p:sp>
      <p:sp>
        <p:nvSpPr>
          <p:cNvPr id="3" name="Text 1">
            <a:extLst xmlns:a="http://schemas.openxmlformats.org/drawingml/2006/main">
              <a:ext uri="{FF2B5EF4-FFF2-40B4-BE49-F238E27FC236}">
                <a16:creationId xmlns:a16="http://schemas.microsoft.com/office/drawing/2014/main" id="{49080F0F-AAB1-4955-87CE-E109F8313CFA}"/>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Screening is only as good as its gates</a:t>
            </a:r>
            <a:endParaRPr sz="2000"/>
          </a:p>
        </p:txBody>
      </p:sp>
      <p:sp>
        <p:nvSpPr>
          <p:cNvPr id="4" name="Shape 2">
            <a:extLst xmlns:a="http://schemas.openxmlformats.org/drawingml/2006/main">
              <a:ext uri="{FF2B5EF4-FFF2-40B4-BE49-F238E27FC236}">
                <a16:creationId xmlns:a16="http://schemas.microsoft.com/office/drawing/2014/main" id="{947D2BEB-D816-4A0A-8503-26E0DC1D55B2}"/>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5" name="Text 3">
            <a:extLst xmlns:a="http://schemas.openxmlformats.org/drawingml/2006/main">
              <a:ext uri="{FF2B5EF4-FFF2-40B4-BE49-F238E27FC236}">
                <a16:creationId xmlns:a16="http://schemas.microsoft.com/office/drawing/2014/main" id="{A98F0650-BAC8-443B-BE35-0B59A3DFA949}"/>
              </a:ext>
            </a:extLst>
          </p:cNvPr>
          <p:cNvSpPr>
            <a:spLocks xmlns:a="http://schemas.openxmlformats.org/drawingml/2006/main" noGrp="1"/>
          </p:cNvSpPr>
          <p:nvPr/>
        </p:nvSpPr>
        <p:spPr>
          <a:xfrm xmlns:a="http://schemas.openxmlformats.org/drawingml/2006/main">
            <a:off x="502920" y="1371600"/>
            <a:ext cx="8138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300" b="1">
                <a:solidFill>
                  <a:srgbClr val="262626"/>
                </a:solidFill>
                <a:latin typeface="Arial"/>
                <a:ea typeface="Arial"/>
                <a:cs typeface="Arial"/>
              </a:rPr>
              <a:t>Screening talks end with “we found X out of N” — the pass side</a:t>
            </a:r>
            <a:endParaRPr sz="1300"/>
          </a:p>
          <a:p xmlns:a="http://schemas.openxmlformats.org/drawingml/2006/main">
            <a:pPr marL="127000" indent="-127000">
              <a:spcAft>
                <a:spcPts val="500"/>
              </a:spcAft>
              <a:buSzPct val="100000"/>
              <a:buChar char="·"/>
            </a:pPr>
            <a:r>
              <a:rPr sz="1300" b="1">
                <a:solidFill>
                  <a:srgbClr val="1F4E79"/>
                </a:solidFill>
                <a:latin typeface="Arial"/>
                <a:ea typeface="Arial"/>
                <a:cs typeface="Arial"/>
              </a:rPr>
              <a:t>The harder question: did the wrong ones actually fail?  That is rarely reported</a:t>
            </a:r>
            <a:endParaRPr sz="1300"/>
          </a:p>
          <a:p xmlns:a="http://schemas.openxmlformats.org/drawingml/2006/main">
            <a:pPr marL="127000" indent="-127000">
              <a:spcAft>
                <a:spcPts val="500"/>
              </a:spcAft>
              <a:buSzPct val="100000"/>
              <a:buChar char="·"/>
            </a:pPr>
            <a:r>
              <a:rPr sz="1300" b="1">
                <a:solidFill>
                  <a:srgbClr val="9E2A2B"/>
                </a:solidFill>
                <a:latin typeface="Arial"/>
                <a:ea typeface="Arial"/>
                <a:cs typeface="Arial"/>
              </a:rPr>
              <a:t>This talk puts 11 of our own verdicts under audit — 9 retracted — with the gate that caught each</a:t>
            </a:r>
            <a:endParaRPr sz="1300"/>
          </a:p>
          <a:p xmlns:a="http://schemas.openxmlformats.org/drawingml/2006/main">
            <a:pPr marL="127000" indent="-127000">
              <a:spcAft>
                <a:spcPts val="500"/>
              </a:spcAft>
              <a:buSzPct val="100000"/>
              <a:buChar char="·"/>
            </a:pPr>
            <a:r>
              <a:rPr sz="1300" i="1">
                <a:solidFill>
                  <a:srgbClr val="262626"/>
                </a:solidFill>
                <a:latin typeface="Arial"/>
                <a:ea typeface="Arial"/>
                <a:cs typeface="Arial"/>
              </a:rPr>
              <a:t>One of the 11 was presented as a conclusion in our previous seminar deck</a:t>
            </a:r>
            <a:endParaRPr sz="1300"/>
          </a:p>
        </p:txBody>
      </p:sp>
      <p:sp>
        <p:nvSpPr>
          <p:cNvPr id="6" name="Shape 4">
            <a:extLst xmlns:a="http://schemas.openxmlformats.org/drawingml/2006/main">
              <a:ext uri="{FF2B5EF4-FFF2-40B4-BE49-F238E27FC236}">
                <a16:creationId xmlns:a16="http://schemas.microsoft.com/office/drawing/2014/main" id="{DC215B72-99EC-4AB7-95F7-1363C96A9D9E}"/>
              </a:ext>
            </a:extLst>
          </p:cNvPr>
          <p:cNvSpPr>
            <a:spLocks xmlns:a="http://schemas.openxmlformats.org/drawingml/2006/main" noGrp="1"/>
          </p:cNvSpPr>
          <p:nvPr/>
        </p:nvSpPr>
        <p:spPr>
          <a:xfrm xmlns:a="http://schemas.openxmlformats.org/drawingml/2006/main">
            <a:off x="502920" y="3474720"/>
            <a:ext cx="3886200" cy="2286000"/>
          </a:xfrm>
          <a:prstGeom xmlns:a="http://schemas.openxmlformats.org/drawingml/2006/main" prst="roundRect">
            <a:avLst>
              <a:gd name="adj" fmla="val 3200"/>
            </a:avLst>
          </a:prstGeom>
          <a:solidFill xmlns:a="http://schemas.openxmlformats.org/drawingml/2006/main">
            <a:srgbClr val="F7F7F7"/>
          </a:solidFill>
          <a:ln xmlns:a="http://schemas.openxmlformats.org/drawingml/2006/main" w="12700">
            <a:solidFill>
              <a:srgbClr val="D9D9D9"/>
            </a:solidFill>
            <a:prstDash val="solid"/>
          </a:ln>
        </p:spPr>
      </p:sp>
      <p:sp>
        <p:nvSpPr>
          <p:cNvPr id="7" name="Text 5">
            <a:extLst xmlns:a="http://schemas.openxmlformats.org/drawingml/2006/main">
              <a:ext uri="{FF2B5EF4-FFF2-40B4-BE49-F238E27FC236}">
                <a16:creationId xmlns:a16="http://schemas.microsoft.com/office/drawing/2014/main" id="{E87C358B-6F16-4C8F-9DCF-EAEAE8117623}"/>
              </a:ext>
            </a:extLst>
          </p:cNvPr>
          <p:cNvSpPr>
            <a:spLocks xmlns:a="http://schemas.openxmlformats.org/drawingml/2006/main" noGrp="1"/>
          </p:cNvSpPr>
          <p:nvPr/>
        </p:nvSpPr>
        <p:spPr>
          <a:xfrm xmlns:a="http://schemas.openxmlformats.org/drawingml/2006/main">
            <a:off x="685800" y="3611880"/>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usual funnel</a:t>
            </a:r>
            <a:endParaRPr sz="1200"/>
          </a:p>
        </p:txBody>
      </p:sp>
      <p:sp>
        <p:nvSpPr>
          <p:cNvPr id="8" name="Shape 6">
            <a:extLst xmlns:a="http://schemas.openxmlformats.org/drawingml/2006/main">
              <a:ext uri="{FF2B5EF4-FFF2-40B4-BE49-F238E27FC236}">
                <a16:creationId xmlns:a16="http://schemas.microsoft.com/office/drawing/2014/main" id="{41D15F1A-7ED6-4DA9-BC14-13A1D7508EF3}"/>
              </a:ext>
            </a:extLst>
          </p:cNvPr>
          <p:cNvSpPr>
            <a:spLocks xmlns:a="http://schemas.openxmlformats.org/drawingml/2006/main" noGrp="1"/>
          </p:cNvSpPr>
          <p:nvPr/>
        </p:nvSpPr>
        <p:spPr>
          <a:xfrm xmlns:a="http://schemas.openxmlformats.org/drawingml/2006/main">
            <a:off x="777240" y="4041648"/>
            <a:ext cx="2377440" cy="201168"/>
          </a:xfrm>
          <a:prstGeom xmlns:a="http://schemas.openxmlformats.org/drawingml/2006/main" prst="rect">
            <a:avLst/>
          </a:prstGeom>
          <a:solidFill xmlns:a="http://schemas.openxmlformats.org/drawingml/2006/main">
            <a:srgbClr val="C9CDD3"/>
          </a:solidFill>
        </p:spPr>
      </p:sp>
      <p:sp>
        <p:nvSpPr>
          <p:cNvPr id="9" name="Shape 7">
            <a:extLst xmlns:a="http://schemas.openxmlformats.org/drawingml/2006/main">
              <a:ext uri="{FF2B5EF4-FFF2-40B4-BE49-F238E27FC236}">
                <a16:creationId xmlns:a16="http://schemas.microsoft.com/office/drawing/2014/main" id="{FCFAFEC0-1C6E-4964-B1E4-18D2933DD1D7}"/>
              </a:ext>
            </a:extLst>
          </p:cNvPr>
          <p:cNvSpPr>
            <a:spLocks xmlns:a="http://schemas.openxmlformats.org/drawingml/2006/main" noGrp="1"/>
          </p:cNvSpPr>
          <p:nvPr/>
        </p:nvSpPr>
        <p:spPr>
          <a:xfrm xmlns:a="http://schemas.openxmlformats.org/drawingml/2006/main">
            <a:off x="1097280" y="4334256"/>
            <a:ext cx="1737360" cy="201168"/>
          </a:xfrm>
          <a:prstGeom xmlns:a="http://schemas.openxmlformats.org/drawingml/2006/main" prst="rect">
            <a:avLst/>
          </a:prstGeom>
          <a:solidFill xmlns:a="http://schemas.openxmlformats.org/drawingml/2006/main">
            <a:srgbClr val="C9CDD3"/>
          </a:solidFill>
        </p:spPr>
      </p:sp>
      <p:sp>
        <p:nvSpPr>
          <p:cNvPr id="10" name="Shape 8">
            <a:extLst xmlns:a="http://schemas.openxmlformats.org/drawingml/2006/main">
              <a:ext uri="{FF2B5EF4-FFF2-40B4-BE49-F238E27FC236}">
                <a16:creationId xmlns:a16="http://schemas.microsoft.com/office/drawing/2014/main" id="{DCA0ECD0-1C9A-4D30-971D-039E7584E3B1}"/>
              </a:ext>
            </a:extLst>
          </p:cNvPr>
          <p:cNvSpPr>
            <a:spLocks xmlns:a="http://schemas.openxmlformats.org/drawingml/2006/main" noGrp="1"/>
          </p:cNvSpPr>
          <p:nvPr/>
        </p:nvSpPr>
        <p:spPr>
          <a:xfrm xmlns:a="http://schemas.openxmlformats.org/drawingml/2006/main">
            <a:off x="1417320" y="4626864"/>
            <a:ext cx="1097280" cy="201168"/>
          </a:xfrm>
          <a:prstGeom xmlns:a="http://schemas.openxmlformats.org/drawingml/2006/main" prst="rect">
            <a:avLst/>
          </a:prstGeom>
          <a:solidFill xmlns:a="http://schemas.openxmlformats.org/drawingml/2006/main">
            <a:srgbClr val="C9CDD3"/>
          </a:solidFill>
        </p:spPr>
      </p:sp>
      <p:sp>
        <p:nvSpPr>
          <p:cNvPr id="11" name="Shape 9">
            <a:extLst xmlns:a="http://schemas.openxmlformats.org/drawingml/2006/main">
              <a:ext uri="{FF2B5EF4-FFF2-40B4-BE49-F238E27FC236}">
                <a16:creationId xmlns:a16="http://schemas.microsoft.com/office/drawing/2014/main" id="{9DAF7821-460F-410D-8F9B-41BD40CE08CD}"/>
              </a:ext>
            </a:extLst>
          </p:cNvPr>
          <p:cNvSpPr>
            <a:spLocks xmlns:a="http://schemas.openxmlformats.org/drawingml/2006/main" noGrp="1"/>
          </p:cNvSpPr>
          <p:nvPr/>
        </p:nvSpPr>
        <p:spPr>
          <a:xfrm xmlns:a="http://schemas.openxmlformats.org/drawingml/2006/main">
            <a:off x="1737360" y="4919472"/>
            <a:ext cx="457200" cy="201168"/>
          </a:xfrm>
          <a:prstGeom xmlns:a="http://schemas.openxmlformats.org/drawingml/2006/main" prst="rect">
            <a:avLst/>
          </a:prstGeom>
          <a:solidFill xmlns:a="http://schemas.openxmlformats.org/drawingml/2006/main">
            <a:srgbClr val="C9CDD3"/>
          </a:solidFill>
        </p:spPr>
      </p:sp>
      <p:sp>
        <p:nvSpPr>
          <p:cNvPr id="12" name="Text 10">
            <a:extLst xmlns:a="http://schemas.openxmlformats.org/drawingml/2006/main">
              <a:ext uri="{FF2B5EF4-FFF2-40B4-BE49-F238E27FC236}">
                <a16:creationId xmlns:a16="http://schemas.microsoft.com/office/drawing/2014/main" id="{0D004620-A615-451E-A2A0-CFAB6FD11C94}"/>
              </a:ext>
            </a:extLst>
          </p:cNvPr>
          <p:cNvSpPr>
            <a:spLocks xmlns:a="http://schemas.openxmlformats.org/drawingml/2006/main" noGrp="1"/>
          </p:cNvSpPr>
          <p:nvPr/>
        </p:nvSpPr>
        <p:spPr>
          <a:xfrm xmlns:a="http://schemas.openxmlformats.org/drawingml/2006/main">
            <a:off x="685800" y="525780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pass counts only</a:t>
            </a:r>
            <a:endParaRPr sz="1050"/>
          </a:p>
          <a:p xmlns:a="http://schemas.openxmlformats.org/drawingml/2006/main">
            <a:pPr marL="0" indent="0">
              <a:buNone/>
            </a:pPr>
            <a:r>
              <a:rPr sz="1050">
                <a:solidFill>
                  <a:srgbClr val="7F7F7F"/>
                </a:solidFill>
                <a:latin typeface="Arial"/>
                <a:ea typeface="Arial"/>
                <a:cs typeface="Arial"/>
              </a:rPr>
              <a:t>false rejects invisible</a:t>
            </a:r>
            <a:endParaRPr sz="1050"/>
          </a:p>
        </p:txBody>
      </p:sp>
      <p:sp>
        <p:nvSpPr>
          <p:cNvPr id="13" name="Shape 11">
            <a:extLst xmlns:a="http://schemas.openxmlformats.org/drawingml/2006/main">
              <a:ext uri="{FF2B5EF4-FFF2-40B4-BE49-F238E27FC236}">
                <a16:creationId xmlns:a16="http://schemas.microsoft.com/office/drawing/2014/main" id="{653554A7-3368-4F73-93BF-AF621F612BD7}"/>
              </a:ext>
            </a:extLst>
          </p:cNvPr>
          <p:cNvSpPr>
            <a:spLocks xmlns:a="http://schemas.openxmlformats.org/drawingml/2006/main" noGrp="1"/>
          </p:cNvSpPr>
          <p:nvPr/>
        </p:nvSpPr>
        <p:spPr>
          <a:xfrm xmlns:a="http://schemas.openxmlformats.org/drawingml/2006/main">
            <a:off x="4754880" y="3474720"/>
            <a:ext cx="3886200" cy="2286000"/>
          </a:xfrm>
          <a:prstGeom xmlns:a="http://schemas.openxmlformats.org/drawingml/2006/main" prst="roundRect">
            <a:avLst>
              <a:gd name="adj" fmla="val 3200"/>
            </a:avLst>
          </a:prstGeom>
          <a:solidFill xmlns:a="http://schemas.openxmlformats.org/drawingml/2006/main">
            <a:srgbClr val="EEF3F9"/>
          </a:solidFill>
          <a:ln xmlns:a="http://schemas.openxmlformats.org/drawingml/2006/main" w="19050">
            <a:solidFill>
              <a:srgbClr val="1F4E79"/>
            </a:solidFill>
            <a:prstDash val="solid"/>
          </a:ln>
        </p:spPr>
      </p:sp>
      <p:sp>
        <p:nvSpPr>
          <p:cNvPr id="14" name="Text 12">
            <a:extLst xmlns:a="http://schemas.openxmlformats.org/drawingml/2006/main">
              <a:ext uri="{FF2B5EF4-FFF2-40B4-BE49-F238E27FC236}">
                <a16:creationId xmlns:a16="http://schemas.microsoft.com/office/drawing/2014/main" id="{5978F5F2-EC02-4A17-BD88-5CF5100693BB}"/>
              </a:ext>
            </a:extLst>
          </p:cNvPr>
          <p:cNvSpPr>
            <a:spLocks xmlns:a="http://schemas.openxmlformats.org/drawingml/2006/main" noGrp="1"/>
          </p:cNvSpPr>
          <p:nvPr/>
        </p:nvSpPr>
        <p:spPr>
          <a:xfrm xmlns:a="http://schemas.openxmlformats.org/drawingml/2006/main">
            <a:off x="4937760" y="3611880"/>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4E79"/>
                </a:solidFill>
                <a:latin typeface="Arial"/>
                <a:ea typeface="Arial"/>
                <a:cs typeface="Arial"/>
              </a:rPr>
              <a:t>ours</a:t>
            </a:r>
            <a:endParaRPr sz="1200"/>
          </a:p>
        </p:txBody>
      </p:sp>
      <p:sp>
        <p:nvSpPr>
          <p:cNvPr id="15" name="Shape 13">
            <a:extLst xmlns:a="http://schemas.openxmlformats.org/drawingml/2006/main">
              <a:ext uri="{FF2B5EF4-FFF2-40B4-BE49-F238E27FC236}">
                <a16:creationId xmlns:a16="http://schemas.microsoft.com/office/drawing/2014/main" id="{1171CDE3-8BDE-48B3-BCD0-0AFDD5A9DAB7}"/>
              </a:ext>
            </a:extLst>
          </p:cNvPr>
          <p:cNvSpPr>
            <a:spLocks xmlns:a="http://schemas.openxmlformats.org/drawingml/2006/main" noGrp="1"/>
          </p:cNvSpPr>
          <p:nvPr/>
        </p:nvSpPr>
        <p:spPr>
          <a:xfrm xmlns:a="http://schemas.openxmlformats.org/drawingml/2006/main">
            <a:off x="5029200" y="4041648"/>
            <a:ext cx="2377440" cy="201168"/>
          </a:xfrm>
          <a:prstGeom xmlns:a="http://schemas.openxmlformats.org/drawingml/2006/main" prst="rect">
            <a:avLst/>
          </a:prstGeom>
          <a:solidFill xmlns:a="http://schemas.openxmlformats.org/drawingml/2006/main">
            <a:srgbClr val="1F4E79"/>
          </a:solidFill>
        </p:spPr>
      </p:sp>
      <p:sp>
        <p:nvSpPr>
          <p:cNvPr id="16" name="Text 14">
            <a:extLst xmlns:a="http://schemas.openxmlformats.org/drawingml/2006/main">
              <a:ext uri="{FF2B5EF4-FFF2-40B4-BE49-F238E27FC236}">
                <a16:creationId xmlns:a16="http://schemas.microsoft.com/office/drawing/2014/main" id="{348C358C-66FA-4F7F-A73C-D04CB62FCCB1}"/>
              </a:ext>
            </a:extLst>
          </p:cNvPr>
          <p:cNvSpPr>
            <a:spLocks xmlns:a="http://schemas.openxmlformats.org/drawingml/2006/main" noGrp="1"/>
          </p:cNvSpPr>
          <p:nvPr/>
        </p:nvSpPr>
        <p:spPr>
          <a:xfrm xmlns:a="http://schemas.openxmlformats.org/drawingml/2006/main">
            <a:off x="7452360" y="398678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9E2A2B"/>
                </a:solidFill>
                <a:latin typeface="Arial"/>
                <a:ea typeface="Arial"/>
                <a:cs typeface="Arial"/>
              </a:rPr>
              <a:t>×</a:t>
            </a:r>
            <a:endParaRPr sz="1300"/>
          </a:p>
        </p:txBody>
      </p:sp>
      <p:sp>
        <p:nvSpPr>
          <p:cNvPr id="17" name="Shape 15">
            <a:extLst xmlns:a="http://schemas.openxmlformats.org/drawingml/2006/main">
              <a:ext uri="{FF2B5EF4-FFF2-40B4-BE49-F238E27FC236}">
                <a16:creationId xmlns:a16="http://schemas.microsoft.com/office/drawing/2014/main" id="{11EB0050-E0FF-484C-946B-D365F60FF6FF}"/>
              </a:ext>
            </a:extLst>
          </p:cNvPr>
          <p:cNvSpPr>
            <a:spLocks xmlns:a="http://schemas.openxmlformats.org/drawingml/2006/main" noGrp="1"/>
          </p:cNvSpPr>
          <p:nvPr/>
        </p:nvSpPr>
        <p:spPr>
          <a:xfrm xmlns:a="http://schemas.openxmlformats.org/drawingml/2006/main">
            <a:off x="5349240" y="4334256"/>
            <a:ext cx="1737360" cy="201168"/>
          </a:xfrm>
          <a:prstGeom xmlns:a="http://schemas.openxmlformats.org/drawingml/2006/main" prst="rect">
            <a:avLst/>
          </a:prstGeom>
          <a:solidFill xmlns:a="http://schemas.openxmlformats.org/drawingml/2006/main">
            <a:srgbClr val="1F4E79"/>
          </a:solidFill>
        </p:spPr>
      </p:sp>
      <p:sp>
        <p:nvSpPr>
          <p:cNvPr id="18" name="Text 16">
            <a:extLst xmlns:a="http://schemas.openxmlformats.org/drawingml/2006/main">
              <a:ext uri="{FF2B5EF4-FFF2-40B4-BE49-F238E27FC236}">
                <a16:creationId xmlns:a16="http://schemas.microsoft.com/office/drawing/2014/main" id="{2E6F10B7-BC7B-4628-9CFB-ACF1857880DC}"/>
              </a:ext>
            </a:extLst>
          </p:cNvPr>
          <p:cNvSpPr>
            <a:spLocks xmlns:a="http://schemas.openxmlformats.org/drawingml/2006/main" noGrp="1"/>
          </p:cNvSpPr>
          <p:nvPr/>
        </p:nvSpPr>
        <p:spPr>
          <a:xfrm xmlns:a="http://schemas.openxmlformats.org/drawingml/2006/main">
            <a:off x="7132320" y="4279392"/>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9E2A2B"/>
                </a:solidFill>
                <a:latin typeface="Arial"/>
                <a:ea typeface="Arial"/>
                <a:cs typeface="Arial"/>
              </a:rPr>
              <a:t>×</a:t>
            </a:r>
            <a:endParaRPr sz="1300"/>
          </a:p>
        </p:txBody>
      </p:sp>
      <p:sp>
        <p:nvSpPr>
          <p:cNvPr id="19" name="Shape 17">
            <a:extLst xmlns:a="http://schemas.openxmlformats.org/drawingml/2006/main">
              <a:ext uri="{FF2B5EF4-FFF2-40B4-BE49-F238E27FC236}">
                <a16:creationId xmlns:a16="http://schemas.microsoft.com/office/drawing/2014/main" id="{9EF53382-0DB7-46BE-A9A4-E3EA38ABD4FB}"/>
              </a:ext>
            </a:extLst>
          </p:cNvPr>
          <p:cNvSpPr>
            <a:spLocks xmlns:a="http://schemas.openxmlformats.org/drawingml/2006/main" noGrp="1"/>
          </p:cNvSpPr>
          <p:nvPr/>
        </p:nvSpPr>
        <p:spPr>
          <a:xfrm xmlns:a="http://schemas.openxmlformats.org/drawingml/2006/main">
            <a:off x="5669280" y="4626864"/>
            <a:ext cx="1097280" cy="201168"/>
          </a:xfrm>
          <a:prstGeom xmlns:a="http://schemas.openxmlformats.org/drawingml/2006/main" prst="rect">
            <a:avLst/>
          </a:prstGeom>
          <a:solidFill xmlns:a="http://schemas.openxmlformats.org/drawingml/2006/main">
            <a:srgbClr val="1F4E79"/>
          </a:solidFill>
        </p:spPr>
      </p:sp>
      <p:sp>
        <p:nvSpPr>
          <p:cNvPr id="20" name="Text 18">
            <a:extLst xmlns:a="http://schemas.openxmlformats.org/drawingml/2006/main">
              <a:ext uri="{FF2B5EF4-FFF2-40B4-BE49-F238E27FC236}">
                <a16:creationId xmlns:a16="http://schemas.microsoft.com/office/drawing/2014/main" id="{2506B8E6-4A72-4754-B349-F2306B12AAB9}"/>
              </a:ext>
            </a:extLst>
          </p:cNvPr>
          <p:cNvSpPr>
            <a:spLocks xmlns:a="http://schemas.openxmlformats.org/drawingml/2006/main" noGrp="1"/>
          </p:cNvSpPr>
          <p:nvPr/>
        </p:nvSpPr>
        <p:spPr>
          <a:xfrm xmlns:a="http://schemas.openxmlformats.org/drawingml/2006/main">
            <a:off x="6812280" y="457200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9E2A2B"/>
                </a:solidFill>
                <a:latin typeface="Arial"/>
                <a:ea typeface="Arial"/>
                <a:cs typeface="Arial"/>
              </a:rPr>
              <a:t>×</a:t>
            </a:r>
            <a:endParaRPr sz="1300"/>
          </a:p>
        </p:txBody>
      </p:sp>
      <p:sp>
        <p:nvSpPr>
          <p:cNvPr id="21" name="Shape 19">
            <a:extLst xmlns:a="http://schemas.openxmlformats.org/drawingml/2006/main">
              <a:ext uri="{FF2B5EF4-FFF2-40B4-BE49-F238E27FC236}">
                <a16:creationId xmlns:a16="http://schemas.microsoft.com/office/drawing/2014/main" id="{C327A67D-A6AA-4998-A235-000A6D1483A3}"/>
              </a:ext>
            </a:extLst>
          </p:cNvPr>
          <p:cNvSpPr>
            <a:spLocks xmlns:a="http://schemas.openxmlformats.org/drawingml/2006/main" noGrp="1"/>
          </p:cNvSpPr>
          <p:nvPr/>
        </p:nvSpPr>
        <p:spPr>
          <a:xfrm xmlns:a="http://schemas.openxmlformats.org/drawingml/2006/main">
            <a:off x="5989320" y="4919472"/>
            <a:ext cx="457200" cy="201168"/>
          </a:xfrm>
          <a:prstGeom xmlns:a="http://schemas.openxmlformats.org/drawingml/2006/main" prst="rect">
            <a:avLst/>
          </a:prstGeom>
          <a:solidFill xmlns:a="http://schemas.openxmlformats.org/drawingml/2006/main">
            <a:srgbClr val="1F4E79"/>
          </a:solidFill>
        </p:spPr>
      </p:sp>
      <p:sp>
        <p:nvSpPr>
          <p:cNvPr id="22" name="Text 20">
            <a:extLst xmlns:a="http://schemas.openxmlformats.org/drawingml/2006/main">
              <a:ext uri="{FF2B5EF4-FFF2-40B4-BE49-F238E27FC236}">
                <a16:creationId xmlns:a16="http://schemas.microsoft.com/office/drawing/2014/main" id="{C2919FEC-9874-41F1-8429-68305BE37D49}"/>
              </a:ext>
            </a:extLst>
          </p:cNvPr>
          <p:cNvSpPr>
            <a:spLocks xmlns:a="http://schemas.openxmlformats.org/drawingml/2006/main" noGrp="1"/>
          </p:cNvSpPr>
          <p:nvPr/>
        </p:nvSpPr>
        <p:spPr>
          <a:xfrm xmlns:a="http://schemas.openxmlformats.org/drawingml/2006/main">
            <a:off x="6492240" y="4864608"/>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9E2A2B"/>
                </a:solidFill>
                <a:latin typeface="Arial"/>
                <a:ea typeface="Arial"/>
                <a:cs typeface="Arial"/>
              </a:rPr>
              <a:t>×</a:t>
            </a:r>
            <a:endParaRPr sz="1300"/>
          </a:p>
        </p:txBody>
      </p:sp>
      <p:sp>
        <p:nvSpPr>
          <p:cNvPr id="23" name="Text 21">
            <a:extLst xmlns:a="http://schemas.openxmlformats.org/drawingml/2006/main">
              <a:ext uri="{FF2B5EF4-FFF2-40B4-BE49-F238E27FC236}">
                <a16:creationId xmlns:a16="http://schemas.microsoft.com/office/drawing/2014/main" id="{ACE3ED40-5DB7-4803-A2DB-3A31C86CAAC0}"/>
              </a:ext>
            </a:extLst>
          </p:cNvPr>
          <p:cNvSpPr>
            <a:spLocks xmlns:a="http://schemas.openxmlformats.org/drawingml/2006/main" noGrp="1"/>
          </p:cNvSpPr>
          <p:nvPr/>
        </p:nvSpPr>
        <p:spPr>
          <a:xfrm xmlns:a="http://schemas.openxmlformats.org/drawingml/2006/main">
            <a:off x="4937760" y="525780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62626"/>
                </a:solidFill>
                <a:latin typeface="Arial"/>
                <a:ea typeface="Arial"/>
                <a:cs typeface="Arial"/>
              </a:rPr>
              <a:t>every rejection carries its reason</a:t>
            </a:r>
            <a:endParaRPr sz="1050"/>
          </a:p>
          <a:p xmlns:a="http://schemas.openxmlformats.org/drawingml/2006/main">
            <a:pPr marL="0" indent="0">
              <a:buNone/>
            </a:pPr>
            <a:r>
              <a:rPr sz="1050">
                <a:solidFill>
                  <a:srgbClr val="262626"/>
                </a:solidFill>
                <a:latin typeface="Arial"/>
                <a:ea typeface="Arial"/>
                <a:cs typeface="Arial"/>
              </a:rPr>
              <a:t>9 retractions + 2 flags published</a:t>
            </a:r>
            <a:endParaRPr sz="1050"/>
          </a:p>
        </p:txBody>
      </p:sp>
      <p:sp>
        <p:nvSpPr>
          <p:cNvPr id="25" name="Text 22">
            <a:extLst xmlns:a="http://schemas.openxmlformats.org/drawingml/2006/main">
              <a:ext uri="{FF2B5EF4-FFF2-40B4-BE49-F238E27FC236}">
                <a16:creationId xmlns:a16="http://schemas.microsoft.com/office/drawing/2014/main" id="{17E1AEA8-F365-4FFE-A713-03DD8ED1BD87}"/>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26" name="Text 23">
            <a:extLst xmlns:a="http://schemas.openxmlformats.org/drawingml/2006/main">
              <a:ext uri="{FF2B5EF4-FFF2-40B4-BE49-F238E27FC236}">
                <a16:creationId xmlns:a16="http://schemas.microsoft.com/office/drawing/2014/main" id="{701D20D0-6A38-4443-AC4B-A3643E7D1508}"/>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Tree>
    <p:extLst>
      <p:ext uri="{BB962C8B-B14F-4D97-AF65-F5344CB8AC3E}">
        <p14:creationId xmlns:p14="http://schemas.microsoft.com/office/powerpoint/2010/main" val="11823845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3E0375-6086-4334-B9FF-0AE682939B6C}"/>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Roadmap</a:t>
            </a:r>
            <a:endParaRPr sz="1100"/>
          </a:p>
        </p:txBody>
      </p:sp>
      <p:sp>
        <p:nvSpPr>
          <p:cNvPr id="3" name="Text 1">
            <a:extLst xmlns:a="http://schemas.openxmlformats.org/drawingml/2006/main">
              <a:ext uri="{FF2B5EF4-FFF2-40B4-BE49-F238E27FC236}">
                <a16:creationId xmlns:a16="http://schemas.microsoft.com/office/drawing/2014/main" id="{4CA32C06-E63C-48A7-A227-76B3365EC44F}"/>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One loop, six stops</a:t>
            </a:r>
            <a:endParaRPr sz="2000"/>
          </a:p>
        </p:txBody>
      </p:sp>
      <p:sp>
        <p:nvSpPr>
          <p:cNvPr id="4" name="Shape 2">
            <a:extLst xmlns:a="http://schemas.openxmlformats.org/drawingml/2006/main">
              <a:ext uri="{FF2B5EF4-FFF2-40B4-BE49-F238E27FC236}">
                <a16:creationId xmlns:a16="http://schemas.microsoft.com/office/drawing/2014/main" id="{85DECAD7-C2D1-4A33-8EDD-B9965BEC8B6F}"/>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5" name="Shape 3">
            <a:extLst xmlns:a="http://schemas.openxmlformats.org/drawingml/2006/main">
              <a:ext uri="{FF2B5EF4-FFF2-40B4-BE49-F238E27FC236}">
                <a16:creationId xmlns:a16="http://schemas.microsoft.com/office/drawing/2014/main" id="{5C26C7C1-30BB-40D2-BCBD-82A4A1D1537F}"/>
              </a:ext>
            </a:extLst>
          </p:cNvPr>
          <p:cNvSpPr>
            <a:spLocks xmlns:a="http://schemas.openxmlformats.org/drawingml/2006/main" noGrp="1"/>
          </p:cNvSpPr>
          <p:nvPr/>
        </p:nvSpPr>
        <p:spPr>
          <a:xfrm xmlns:a="http://schemas.openxmlformats.org/drawingml/2006/main">
            <a:off x="502920" y="274320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6" name="Text 4">
            <a:extLst xmlns:a="http://schemas.openxmlformats.org/drawingml/2006/main">
              <a:ext uri="{FF2B5EF4-FFF2-40B4-BE49-F238E27FC236}">
                <a16:creationId xmlns:a16="http://schemas.microsoft.com/office/drawing/2014/main" id="{013768EC-0C9C-4057-9C4D-246B67A1BF05}"/>
              </a:ext>
            </a:extLst>
          </p:cNvPr>
          <p:cNvSpPr>
            <a:spLocks xmlns:a="http://schemas.openxmlformats.org/drawingml/2006/main" noGrp="1"/>
          </p:cNvSpPr>
          <p:nvPr/>
        </p:nvSpPr>
        <p:spPr>
          <a:xfrm xmlns:a="http://schemas.openxmlformats.org/drawingml/2006/main">
            <a:off x="502920" y="274320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(1) ASK
</a:t>
            </a:r>
            <a:endParaRPr sz="1000"/>
          </a:p>
          <a:p xmlns:a="http://schemas.openxmlformats.org/drawingml/2006/main">
            <a:pPr marL="0" indent="0" algn="ctr">
              <a:buNone/>
            </a:pPr>
            <a:r>
              <a:rPr sz="800">
                <a:solidFill>
                  <a:srgbClr val="1F4E79"/>
                </a:solidFill>
                <a:latin typeface="Arial"/>
                <a:ea typeface="Arial"/>
                <a:cs typeface="Arial"/>
              </a:rPr>
              <a:t>too many candidates</a:t>
            </a:r>
            <a:endParaRPr sz="1000"/>
          </a:p>
        </p:txBody>
      </p:sp>
      <p:sp>
        <p:nvSpPr>
          <p:cNvPr id="7" name="Text 5">
            <a:extLst xmlns:a="http://schemas.openxmlformats.org/drawingml/2006/main">
              <a:ext uri="{FF2B5EF4-FFF2-40B4-BE49-F238E27FC236}">
                <a16:creationId xmlns:a16="http://schemas.microsoft.com/office/drawing/2014/main" id="{7B6C42BB-83ED-44C7-854F-A3301823A21B}"/>
              </a:ext>
            </a:extLst>
          </p:cNvPr>
          <p:cNvSpPr>
            <a:spLocks xmlns:a="http://schemas.openxmlformats.org/drawingml/2006/main" noGrp="1"/>
          </p:cNvSpPr>
          <p:nvPr/>
        </p:nvSpPr>
        <p:spPr>
          <a:xfrm xmlns:a="http://schemas.openxmlformats.org/drawingml/2006/main">
            <a:off x="502920" y="357530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ask</a:t>
            </a:r>
            <a:endParaRPr sz="850"/>
          </a:p>
        </p:txBody>
      </p:sp>
      <p:sp>
        <p:nvSpPr>
          <p:cNvPr id="8" name="Shape 6">
            <a:extLst xmlns:a="http://schemas.openxmlformats.org/drawingml/2006/main">
              <a:ext uri="{FF2B5EF4-FFF2-40B4-BE49-F238E27FC236}">
                <a16:creationId xmlns:a16="http://schemas.microsoft.com/office/drawing/2014/main" id="{B7B6287C-6522-44E5-AA8D-AF41C5BF62AC}"/>
              </a:ext>
            </a:extLst>
          </p:cNvPr>
          <p:cNvSpPr>
            <a:spLocks xmlns:a="http://schemas.openxmlformats.org/drawingml/2006/main" noGrp="1"/>
          </p:cNvSpPr>
          <p:nvPr/>
        </p:nvSpPr>
        <p:spPr>
          <a:xfrm xmlns:a="http://schemas.openxmlformats.org/drawingml/2006/main">
            <a:off x="1705356" y="313639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9" name="Shape 7">
            <a:extLst xmlns:a="http://schemas.openxmlformats.org/drawingml/2006/main">
              <a:ext uri="{FF2B5EF4-FFF2-40B4-BE49-F238E27FC236}">
                <a16:creationId xmlns:a16="http://schemas.microsoft.com/office/drawing/2014/main" id="{095CF9F2-8395-47CF-B868-79AB9B3D81BF}"/>
              </a:ext>
            </a:extLst>
          </p:cNvPr>
          <p:cNvSpPr>
            <a:spLocks xmlns:a="http://schemas.openxmlformats.org/drawingml/2006/main" noGrp="1"/>
          </p:cNvSpPr>
          <p:nvPr/>
        </p:nvSpPr>
        <p:spPr>
          <a:xfrm xmlns:a="http://schemas.openxmlformats.org/drawingml/2006/main">
            <a:off x="1892808" y="274320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10" name="Text 8">
            <a:extLst xmlns:a="http://schemas.openxmlformats.org/drawingml/2006/main">
              <a:ext uri="{FF2B5EF4-FFF2-40B4-BE49-F238E27FC236}">
                <a16:creationId xmlns:a16="http://schemas.microsoft.com/office/drawing/2014/main" id="{25E0D319-41BE-4A75-B1E7-30FAADD94C2D}"/>
              </a:ext>
            </a:extLst>
          </p:cNvPr>
          <p:cNvSpPr>
            <a:spLocks xmlns:a="http://schemas.openxmlformats.org/drawingml/2006/main" noGrp="1"/>
          </p:cNvSpPr>
          <p:nvPr/>
        </p:nvSpPr>
        <p:spPr>
          <a:xfrm xmlns:a="http://schemas.openxmlformats.org/drawingml/2006/main">
            <a:off x="1892808" y="274320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(2) TOOLS
</a:t>
            </a:r>
            <a:endParaRPr sz="1000"/>
          </a:p>
          <a:p xmlns:a="http://schemas.openxmlformats.org/drawingml/2006/main">
            <a:pPr marL="0" indent="0" algn="ctr">
              <a:buNone/>
            </a:pPr>
            <a:r>
              <a:rPr sz="800">
                <a:solidFill>
                  <a:srgbClr val="1F4E79"/>
                </a:solidFill>
                <a:latin typeface="Arial"/>
                <a:ea typeface="Arial"/>
                <a:cs typeface="Arial"/>
              </a:rPr>
              <a:t>DFT + MLIP limits</a:t>
            </a:r>
            <a:endParaRPr sz="1000"/>
          </a:p>
        </p:txBody>
      </p:sp>
      <p:sp>
        <p:nvSpPr>
          <p:cNvPr id="11" name="Text 9">
            <a:extLst xmlns:a="http://schemas.openxmlformats.org/drawingml/2006/main">
              <a:ext uri="{FF2B5EF4-FFF2-40B4-BE49-F238E27FC236}">
                <a16:creationId xmlns:a16="http://schemas.microsoft.com/office/drawing/2014/main" id="{BFC971C9-FD5C-40F8-BEF8-77D5537DADD7}"/>
              </a:ext>
            </a:extLst>
          </p:cNvPr>
          <p:cNvSpPr>
            <a:spLocks xmlns:a="http://schemas.openxmlformats.org/drawingml/2006/main" noGrp="1"/>
          </p:cNvSpPr>
          <p:nvPr/>
        </p:nvSpPr>
        <p:spPr>
          <a:xfrm xmlns:a="http://schemas.openxmlformats.org/drawingml/2006/main">
            <a:off x="1892808" y="357530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measure</a:t>
            </a:r>
            <a:endParaRPr sz="850"/>
          </a:p>
        </p:txBody>
      </p:sp>
      <p:sp>
        <p:nvSpPr>
          <p:cNvPr id="12" name="Shape 10">
            <a:extLst xmlns:a="http://schemas.openxmlformats.org/drawingml/2006/main">
              <a:ext uri="{FF2B5EF4-FFF2-40B4-BE49-F238E27FC236}">
                <a16:creationId xmlns:a16="http://schemas.microsoft.com/office/drawing/2014/main" id="{3B4F5E2E-9E4D-4D5C-A2C1-7E6C98429479}"/>
              </a:ext>
            </a:extLst>
          </p:cNvPr>
          <p:cNvSpPr>
            <a:spLocks xmlns:a="http://schemas.openxmlformats.org/drawingml/2006/main" noGrp="1"/>
          </p:cNvSpPr>
          <p:nvPr/>
        </p:nvSpPr>
        <p:spPr>
          <a:xfrm xmlns:a="http://schemas.openxmlformats.org/drawingml/2006/main">
            <a:off x="3095244" y="313639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3" name="Shape 11">
            <a:extLst xmlns:a="http://schemas.openxmlformats.org/drawingml/2006/main">
              <a:ext uri="{FF2B5EF4-FFF2-40B4-BE49-F238E27FC236}">
                <a16:creationId xmlns:a16="http://schemas.microsoft.com/office/drawing/2014/main" id="{C7446D65-3551-44EA-A45E-865C7E40B4EF}"/>
              </a:ext>
            </a:extLst>
          </p:cNvPr>
          <p:cNvSpPr>
            <a:spLocks xmlns:a="http://schemas.openxmlformats.org/drawingml/2006/main" noGrp="1"/>
          </p:cNvSpPr>
          <p:nvPr/>
        </p:nvSpPr>
        <p:spPr>
          <a:xfrm xmlns:a="http://schemas.openxmlformats.org/drawingml/2006/main">
            <a:off x="3282696" y="274320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14" name="Text 12">
            <a:extLst xmlns:a="http://schemas.openxmlformats.org/drawingml/2006/main">
              <a:ext uri="{FF2B5EF4-FFF2-40B4-BE49-F238E27FC236}">
                <a16:creationId xmlns:a16="http://schemas.microsoft.com/office/drawing/2014/main" id="{6662C579-35A1-424F-8B1A-211717F03385}"/>
              </a:ext>
            </a:extLst>
          </p:cNvPr>
          <p:cNvSpPr>
            <a:spLocks xmlns:a="http://schemas.openxmlformats.org/drawingml/2006/main" noGrp="1"/>
          </p:cNvSpPr>
          <p:nvPr/>
        </p:nvSpPr>
        <p:spPr>
          <a:xfrm xmlns:a="http://schemas.openxmlformats.org/drawingml/2006/main">
            <a:off x="3282696" y="274320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(3) ORIGIN
</a:t>
            </a:r>
            <a:endParaRPr sz="1000"/>
          </a:p>
          <a:p xmlns:a="http://schemas.openxmlformats.org/drawingml/2006/main">
            <a:pPr marL="0" indent="0" algn="ctr">
              <a:buNone/>
            </a:pPr>
            <a:r>
              <a:rPr sz="800">
                <a:solidFill>
                  <a:srgbClr val="1F4E79"/>
                </a:solidFill>
                <a:latin typeface="Arial"/>
                <a:ea typeface="Arial"/>
                <a:cs typeface="Arial"/>
              </a:rPr>
              <a:t>LPSCl: disorder</a:t>
            </a:r>
            <a:endParaRPr sz="1000"/>
          </a:p>
        </p:txBody>
      </p:sp>
      <p:sp>
        <p:nvSpPr>
          <p:cNvPr id="15" name="Text 13">
            <a:extLst xmlns:a="http://schemas.openxmlformats.org/drawingml/2006/main">
              <a:ext uri="{FF2B5EF4-FFF2-40B4-BE49-F238E27FC236}">
                <a16:creationId xmlns:a16="http://schemas.microsoft.com/office/drawing/2014/main" id="{47248377-9A52-4A8B-A3B4-3B59CBF38B84}"/>
              </a:ext>
            </a:extLst>
          </p:cNvPr>
          <p:cNvSpPr>
            <a:spLocks xmlns:a="http://schemas.openxmlformats.org/drawingml/2006/main" noGrp="1"/>
          </p:cNvSpPr>
          <p:nvPr/>
        </p:nvSpPr>
        <p:spPr>
          <a:xfrm xmlns:a="http://schemas.openxmlformats.org/drawingml/2006/main">
            <a:off x="3282696" y="357530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learn</a:t>
            </a:r>
            <a:endParaRPr sz="850"/>
          </a:p>
        </p:txBody>
      </p:sp>
      <p:sp>
        <p:nvSpPr>
          <p:cNvPr id="16" name="Shape 14">
            <a:extLst xmlns:a="http://schemas.openxmlformats.org/drawingml/2006/main">
              <a:ext uri="{FF2B5EF4-FFF2-40B4-BE49-F238E27FC236}">
                <a16:creationId xmlns:a16="http://schemas.microsoft.com/office/drawing/2014/main" id="{7D73C330-1E07-4F23-9BE7-AAB5EF03D5CC}"/>
              </a:ext>
            </a:extLst>
          </p:cNvPr>
          <p:cNvSpPr>
            <a:spLocks xmlns:a="http://schemas.openxmlformats.org/drawingml/2006/main" noGrp="1"/>
          </p:cNvSpPr>
          <p:nvPr/>
        </p:nvSpPr>
        <p:spPr>
          <a:xfrm xmlns:a="http://schemas.openxmlformats.org/drawingml/2006/main">
            <a:off x="4485132" y="313639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7" name="Shape 15">
            <a:extLst xmlns:a="http://schemas.openxmlformats.org/drawingml/2006/main">
              <a:ext uri="{FF2B5EF4-FFF2-40B4-BE49-F238E27FC236}">
                <a16:creationId xmlns:a16="http://schemas.microsoft.com/office/drawing/2014/main" id="{57B2E6F5-3E37-4F15-A26B-81A792A788D8}"/>
              </a:ext>
            </a:extLst>
          </p:cNvPr>
          <p:cNvSpPr>
            <a:spLocks xmlns:a="http://schemas.openxmlformats.org/drawingml/2006/main" noGrp="1"/>
          </p:cNvSpPr>
          <p:nvPr/>
        </p:nvSpPr>
        <p:spPr>
          <a:xfrm xmlns:a="http://schemas.openxmlformats.org/drawingml/2006/main">
            <a:off x="4672584" y="274320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18" name="Text 16">
            <a:extLst xmlns:a="http://schemas.openxmlformats.org/drawingml/2006/main">
              <a:ext uri="{FF2B5EF4-FFF2-40B4-BE49-F238E27FC236}">
                <a16:creationId xmlns:a16="http://schemas.microsoft.com/office/drawing/2014/main" id="{02926A6B-9877-4454-8D9A-8F0D4D12BF85}"/>
              </a:ext>
            </a:extLst>
          </p:cNvPr>
          <p:cNvSpPr>
            <a:spLocks xmlns:a="http://schemas.openxmlformats.org/drawingml/2006/main" noGrp="1"/>
          </p:cNvSpPr>
          <p:nvPr/>
        </p:nvSpPr>
        <p:spPr>
          <a:xfrm xmlns:a="http://schemas.openxmlformats.org/drawingml/2006/main">
            <a:off x="4672584" y="274320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(4) SCREEN</a:t>
            </a:r>
            <a:endParaRPr sz="1000"/>
          </a:p>
          <a:p xmlns:a="http://schemas.openxmlformats.org/drawingml/2006/main">
            <a:pPr marL="0" indent="0" algn="ctr">
              <a:buNone/>
            </a:pPr>
            <a:r>
              <a:rPr sz="800">
                <a:solidFill>
                  <a:srgbClr val="1F4E79"/>
                </a:solidFill>
                <a:latin typeface="Arial"/>
                <a:ea typeface="Arial"/>
                <a:cs typeface="Arial"/>
              </a:rPr>
              <a:t/>
            </a:r>
            <a:endParaRPr sz="1000"/>
          </a:p>
          <a:p xmlns:a="http://schemas.openxmlformats.org/drawingml/2006/main">
            <a:pPr marL="0" indent="0" algn="ctr">
              <a:buNone/>
            </a:pPr>
            <a:r>
              <a:rPr sz="800">
                <a:solidFill>
                  <a:srgbClr val="1F4E79"/>
                </a:solidFill>
                <a:latin typeface="Arial"/>
                <a:ea typeface="Arial"/>
                <a:cs typeface="Arial"/>
              </a:rPr>
              <a:t>273 run slots, 5 gates</a:t>
            </a:r>
            <a:endParaRPr sz="1000"/>
          </a:p>
        </p:txBody>
      </p:sp>
      <p:sp>
        <p:nvSpPr>
          <p:cNvPr id="19" name="Text 17">
            <a:extLst xmlns:a="http://schemas.openxmlformats.org/drawingml/2006/main">
              <a:ext uri="{FF2B5EF4-FFF2-40B4-BE49-F238E27FC236}">
                <a16:creationId xmlns:a16="http://schemas.microsoft.com/office/drawing/2014/main" id="{ADBDB981-F87B-4455-B294-A75F614A6894}"/>
              </a:ext>
            </a:extLst>
          </p:cNvPr>
          <p:cNvSpPr>
            <a:spLocks xmlns:a="http://schemas.openxmlformats.org/drawingml/2006/main" noGrp="1"/>
          </p:cNvSpPr>
          <p:nvPr/>
        </p:nvSpPr>
        <p:spPr>
          <a:xfrm xmlns:a="http://schemas.openxmlformats.org/drawingml/2006/main">
            <a:off x="4672584" y="357530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gate</a:t>
            </a:r>
            <a:endParaRPr sz="850"/>
          </a:p>
        </p:txBody>
      </p:sp>
      <p:sp>
        <p:nvSpPr>
          <p:cNvPr id="20" name="Shape 18">
            <a:extLst xmlns:a="http://schemas.openxmlformats.org/drawingml/2006/main">
              <a:ext uri="{FF2B5EF4-FFF2-40B4-BE49-F238E27FC236}">
                <a16:creationId xmlns:a16="http://schemas.microsoft.com/office/drawing/2014/main" id="{3440E6F6-7291-4BE5-8A81-2A546AE22C4C}"/>
              </a:ext>
            </a:extLst>
          </p:cNvPr>
          <p:cNvSpPr>
            <a:spLocks xmlns:a="http://schemas.openxmlformats.org/drawingml/2006/main" noGrp="1"/>
          </p:cNvSpPr>
          <p:nvPr/>
        </p:nvSpPr>
        <p:spPr>
          <a:xfrm xmlns:a="http://schemas.openxmlformats.org/drawingml/2006/main">
            <a:off x="5875020" y="313639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21" name="Shape 19">
            <a:extLst xmlns:a="http://schemas.openxmlformats.org/drawingml/2006/main">
              <a:ext uri="{FF2B5EF4-FFF2-40B4-BE49-F238E27FC236}">
                <a16:creationId xmlns:a16="http://schemas.microsoft.com/office/drawing/2014/main" id="{FE9D54F7-7D2C-4605-8633-8DF11A2620B8}"/>
              </a:ext>
            </a:extLst>
          </p:cNvPr>
          <p:cNvSpPr>
            <a:spLocks xmlns:a="http://schemas.openxmlformats.org/drawingml/2006/main" noGrp="1"/>
          </p:cNvSpPr>
          <p:nvPr/>
        </p:nvSpPr>
        <p:spPr>
          <a:xfrm xmlns:a="http://schemas.openxmlformats.org/drawingml/2006/main">
            <a:off x="6062472" y="274320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22" name="Text 20">
            <a:extLst xmlns:a="http://schemas.openxmlformats.org/drawingml/2006/main">
              <a:ext uri="{FF2B5EF4-FFF2-40B4-BE49-F238E27FC236}">
                <a16:creationId xmlns:a16="http://schemas.microsoft.com/office/drawing/2014/main" id="{597BF404-E7F2-40EC-96F0-DE1ABF8BEA55}"/>
              </a:ext>
            </a:extLst>
          </p:cNvPr>
          <p:cNvSpPr>
            <a:spLocks xmlns:a="http://schemas.openxmlformats.org/drawingml/2006/main" noGrp="1"/>
          </p:cNvSpPr>
          <p:nvPr/>
        </p:nvSpPr>
        <p:spPr>
          <a:xfrm xmlns:a="http://schemas.openxmlformats.org/drawingml/2006/main">
            <a:off x="6062472" y="274320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(5) COMBINE
</a:t>
            </a:r>
            <a:endParaRPr sz="1000"/>
          </a:p>
          <a:p xmlns:a="http://schemas.openxmlformats.org/drawingml/2006/main">
            <a:pPr marL="0" indent="0" algn="ctr">
              <a:buNone/>
            </a:pPr>
            <a:r>
              <a:rPr sz="800">
                <a:solidFill>
                  <a:srgbClr val="1F4E79"/>
                </a:solidFill>
                <a:latin typeface="Arial"/>
                <a:ea typeface="Arial"/>
                <a:cs typeface="Arial"/>
              </a:rPr>
              <a:t>co-doping ML</a:t>
            </a:r>
            <a:endParaRPr sz="1000"/>
          </a:p>
        </p:txBody>
      </p:sp>
      <p:sp>
        <p:nvSpPr>
          <p:cNvPr id="23" name="Text 21">
            <a:extLst xmlns:a="http://schemas.openxmlformats.org/drawingml/2006/main">
              <a:ext uri="{FF2B5EF4-FFF2-40B4-BE49-F238E27FC236}">
                <a16:creationId xmlns:a16="http://schemas.microsoft.com/office/drawing/2014/main" id="{0AE029C2-0A8A-4EFE-8A03-14E2C342DE25}"/>
              </a:ext>
            </a:extLst>
          </p:cNvPr>
          <p:cNvSpPr>
            <a:spLocks xmlns:a="http://schemas.openxmlformats.org/drawingml/2006/main" noGrp="1"/>
          </p:cNvSpPr>
          <p:nvPr/>
        </p:nvSpPr>
        <p:spPr>
          <a:xfrm xmlns:a="http://schemas.openxmlformats.org/drawingml/2006/main">
            <a:off x="6062472" y="357530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combine</a:t>
            </a:r>
            <a:endParaRPr sz="850"/>
          </a:p>
        </p:txBody>
      </p:sp>
      <p:sp>
        <p:nvSpPr>
          <p:cNvPr id="24" name="Shape 22">
            <a:extLst xmlns:a="http://schemas.openxmlformats.org/drawingml/2006/main">
              <a:ext uri="{FF2B5EF4-FFF2-40B4-BE49-F238E27FC236}">
                <a16:creationId xmlns:a16="http://schemas.microsoft.com/office/drawing/2014/main" id="{206B2A09-CD07-4E2D-8304-19FAAE921AF4}"/>
              </a:ext>
            </a:extLst>
          </p:cNvPr>
          <p:cNvSpPr>
            <a:spLocks xmlns:a="http://schemas.openxmlformats.org/drawingml/2006/main" noGrp="1"/>
          </p:cNvSpPr>
          <p:nvPr/>
        </p:nvSpPr>
        <p:spPr>
          <a:xfrm xmlns:a="http://schemas.openxmlformats.org/drawingml/2006/main">
            <a:off x="7264908" y="313639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25" name="Shape 23">
            <a:extLst xmlns:a="http://schemas.openxmlformats.org/drawingml/2006/main">
              <a:ext uri="{FF2B5EF4-FFF2-40B4-BE49-F238E27FC236}">
                <a16:creationId xmlns:a16="http://schemas.microsoft.com/office/drawing/2014/main" id="{D202418F-2BC0-4571-A78B-B6C05502B557}"/>
              </a:ext>
            </a:extLst>
          </p:cNvPr>
          <p:cNvSpPr>
            <a:spLocks xmlns:a="http://schemas.openxmlformats.org/drawingml/2006/main" noGrp="1"/>
          </p:cNvSpPr>
          <p:nvPr/>
        </p:nvSpPr>
        <p:spPr>
          <a:xfrm xmlns:a="http://schemas.openxmlformats.org/drawingml/2006/main">
            <a:off x="7452360" y="274320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9E2A2B"/>
            </a:solidFill>
            <a:prstDash val="solid"/>
          </a:ln>
        </p:spPr>
      </p:sp>
      <p:sp>
        <p:nvSpPr>
          <p:cNvPr id="26" name="Text 24">
            <a:extLst xmlns:a="http://schemas.openxmlformats.org/drawingml/2006/main">
              <a:ext uri="{FF2B5EF4-FFF2-40B4-BE49-F238E27FC236}">
                <a16:creationId xmlns:a16="http://schemas.microsoft.com/office/drawing/2014/main" id="{9EA879D3-89F3-47FA-AC7E-F5208D18242A}"/>
              </a:ext>
            </a:extLst>
          </p:cNvPr>
          <p:cNvSpPr>
            <a:spLocks xmlns:a="http://schemas.openxmlformats.org/drawingml/2006/main" noGrp="1"/>
          </p:cNvSpPr>
          <p:nvPr/>
        </p:nvSpPr>
        <p:spPr>
          <a:xfrm xmlns:a="http://schemas.openxmlformats.org/drawingml/2006/main">
            <a:off x="7452360" y="274320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E2A2B"/>
                </a:solidFill>
                <a:latin typeface="Arial"/>
                <a:ea typeface="Arial"/>
                <a:cs typeface="Arial"/>
              </a:rPr>
              <a:t>(6) VERIFY
</a:t>
            </a:r>
            <a:endParaRPr sz="1000"/>
          </a:p>
          <a:p xmlns:a="http://schemas.openxmlformats.org/drawingml/2006/main">
            <a:pPr marL="0" indent="0" algn="ctr">
              <a:buNone/>
            </a:pPr>
            <a:r>
              <a:rPr sz="800">
                <a:solidFill>
                  <a:srgbClr val="9E2A2B"/>
                </a:solidFill>
                <a:latin typeface="Arial"/>
                <a:ea typeface="Arial"/>
                <a:cs typeface="Arial"/>
              </a:rPr>
              <a:t>11 audited verdicts</a:t>
            </a:r>
            <a:endParaRPr sz="1000"/>
          </a:p>
        </p:txBody>
      </p:sp>
      <p:sp>
        <p:nvSpPr>
          <p:cNvPr id="27" name="Text 25">
            <a:extLst xmlns:a="http://schemas.openxmlformats.org/drawingml/2006/main">
              <a:ext uri="{FF2B5EF4-FFF2-40B4-BE49-F238E27FC236}">
                <a16:creationId xmlns:a16="http://schemas.microsoft.com/office/drawing/2014/main" id="{777D953E-7552-4861-8F84-C6E163A96948}"/>
              </a:ext>
            </a:extLst>
          </p:cNvPr>
          <p:cNvSpPr>
            <a:spLocks xmlns:a="http://schemas.openxmlformats.org/drawingml/2006/main" noGrp="1"/>
          </p:cNvSpPr>
          <p:nvPr/>
        </p:nvSpPr>
        <p:spPr>
          <a:xfrm xmlns:a="http://schemas.openxmlformats.org/drawingml/2006/main">
            <a:off x="7452360" y="357530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doubt</a:t>
            </a:r>
            <a:endParaRPr sz="850"/>
          </a:p>
        </p:txBody>
      </p:sp>
      <p:sp>
        <p:nvSpPr>
          <p:cNvPr id="28" name="Shape 26">
            <a:extLst xmlns:a="http://schemas.openxmlformats.org/drawingml/2006/main">
              <a:ext uri="{FF2B5EF4-FFF2-40B4-BE49-F238E27FC236}">
                <a16:creationId xmlns:a16="http://schemas.microsoft.com/office/drawing/2014/main" id="{16EB8A4F-E4E6-4BB2-94D8-4A9991DA2924}"/>
              </a:ext>
            </a:extLst>
          </p:cNvPr>
          <p:cNvSpPr>
            <a:spLocks xmlns:a="http://schemas.openxmlformats.org/drawingml/2006/main" noGrp="1"/>
          </p:cNvSpPr>
          <p:nvPr/>
        </p:nvSpPr>
        <p:spPr>
          <a:xfrm xmlns:a="http://schemas.openxmlformats.org/drawingml/2006/main">
            <a:off x="5266944" y="3840480"/>
            <a:ext cx="2779776" cy="0"/>
          </a:xfrm>
          <a:prstGeom xmlns:a="http://schemas.openxmlformats.org/drawingml/2006/main" prst="line">
            <a:avLst/>
          </a:prstGeom>
          <a:noFill xmlns:a="http://schemas.openxmlformats.org/drawingml/2006/main"/>
          <a:ln xmlns:a="http://schemas.openxmlformats.org/drawingml/2006/main" w="19050">
            <a:solidFill>
              <a:srgbClr val="1F4E79"/>
            </a:solidFill>
            <a:prstDash val="solid"/>
            <a:headEnd type="triangle"/>
          </a:ln>
        </p:spPr>
      </p:sp>
      <p:sp>
        <p:nvSpPr>
          <p:cNvPr id="29" name="Shape 27">
            <a:extLst xmlns:a="http://schemas.openxmlformats.org/drawingml/2006/main">
              <a:ext uri="{FF2B5EF4-FFF2-40B4-BE49-F238E27FC236}">
                <a16:creationId xmlns:a16="http://schemas.microsoft.com/office/drawing/2014/main" id="{6AF57FA3-B7B1-4664-ABF9-F1FBF41097E4}"/>
              </a:ext>
            </a:extLst>
          </p:cNvPr>
          <p:cNvSpPr>
            <a:spLocks xmlns:a="http://schemas.openxmlformats.org/drawingml/2006/main" noGrp="1"/>
          </p:cNvSpPr>
          <p:nvPr/>
        </p:nvSpPr>
        <p:spPr>
          <a:xfrm xmlns:a="http://schemas.openxmlformats.org/drawingml/2006/main">
            <a:off x="8046720" y="3529584"/>
            <a:ext cx="0" cy="310896"/>
          </a:xfrm>
          <a:prstGeom xmlns:a="http://schemas.openxmlformats.org/drawingml/2006/main" prst="line">
            <a:avLst/>
          </a:prstGeom>
          <a:noFill xmlns:a="http://schemas.openxmlformats.org/drawingml/2006/main"/>
          <a:ln xmlns:a="http://schemas.openxmlformats.org/drawingml/2006/main" w="19050">
            <a:solidFill>
              <a:srgbClr val="1F4E79"/>
            </a:solidFill>
            <a:prstDash val="solid"/>
          </a:ln>
        </p:spPr>
      </p:sp>
      <p:sp>
        <p:nvSpPr>
          <p:cNvPr id="30" name="Shape 28">
            <a:extLst xmlns:a="http://schemas.openxmlformats.org/drawingml/2006/main">
              <a:ext uri="{FF2B5EF4-FFF2-40B4-BE49-F238E27FC236}">
                <a16:creationId xmlns:a16="http://schemas.microsoft.com/office/drawing/2014/main" id="{89008666-3446-4583-A181-E832134FF799}"/>
              </a:ext>
            </a:extLst>
          </p:cNvPr>
          <p:cNvSpPr>
            <a:spLocks xmlns:a="http://schemas.openxmlformats.org/drawingml/2006/main" noGrp="1"/>
          </p:cNvSpPr>
          <p:nvPr/>
        </p:nvSpPr>
        <p:spPr>
          <a:xfrm xmlns:a="http://schemas.openxmlformats.org/drawingml/2006/main">
            <a:off x="5266944" y="3529584"/>
            <a:ext cx="0" cy="310896"/>
          </a:xfrm>
          <a:prstGeom xmlns:a="http://schemas.openxmlformats.org/drawingml/2006/main" prst="line">
            <a:avLst/>
          </a:prstGeom>
          <a:noFill xmlns:a="http://schemas.openxmlformats.org/drawingml/2006/main"/>
          <a:ln xmlns:a="http://schemas.openxmlformats.org/drawingml/2006/main" w="19050">
            <a:solidFill>
              <a:srgbClr val="1F4E79"/>
            </a:solidFill>
            <a:prstDash val="solid"/>
          </a:ln>
        </p:spPr>
      </p:sp>
      <p:sp>
        <p:nvSpPr>
          <p:cNvPr id="31" name="Text 29">
            <a:extLst xmlns:a="http://schemas.openxmlformats.org/drawingml/2006/main">
              <a:ext uri="{FF2B5EF4-FFF2-40B4-BE49-F238E27FC236}">
                <a16:creationId xmlns:a16="http://schemas.microsoft.com/office/drawing/2014/main" id="{E94A48B3-03DB-4CDA-B312-5AB737A4B520}"/>
              </a:ext>
            </a:extLst>
          </p:cNvPr>
          <p:cNvSpPr>
            <a:spLocks xmlns:a="http://schemas.openxmlformats.org/drawingml/2006/main" noGrp="1"/>
          </p:cNvSpPr>
          <p:nvPr/>
        </p:nvSpPr>
        <p:spPr>
          <a:xfrm xmlns:a="http://schemas.openxmlformats.org/drawingml/2006/main">
            <a:off x="5650992" y="3849624"/>
            <a:ext cx="20116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i="1">
                <a:solidFill>
                  <a:srgbClr val="1F4E79"/>
                </a:solidFill>
                <a:latin typeface="Arial"/>
                <a:ea typeface="Arial"/>
                <a:cs typeface="Arial"/>
              </a:rPr>
              <a:t>new labels, new sims</a:t>
            </a:r>
            <a:endParaRPr sz="800"/>
          </a:p>
        </p:txBody>
      </p:sp>
      <p:sp>
        <p:nvSpPr>
          <p:cNvPr id="32" name="Shape 30">
            <a:extLst xmlns:a="http://schemas.openxmlformats.org/drawingml/2006/main">
              <a:ext uri="{FF2B5EF4-FFF2-40B4-BE49-F238E27FC236}">
                <a16:creationId xmlns:a16="http://schemas.microsoft.com/office/drawing/2014/main" id="{BD3F42CC-2292-4210-B26C-A5C91F46913D}"/>
              </a:ext>
            </a:extLst>
          </p:cNvPr>
          <p:cNvSpPr>
            <a:spLocks xmlns:a="http://schemas.openxmlformats.org/drawingml/2006/main" noGrp="1"/>
          </p:cNvSpPr>
          <p:nvPr/>
        </p:nvSpPr>
        <p:spPr>
          <a:xfrm xmlns:a="http://schemas.openxmlformats.org/drawingml/2006/main">
            <a:off x="2487168" y="2468880"/>
            <a:ext cx="5559552" cy="0"/>
          </a:xfrm>
          <a:prstGeom xmlns:a="http://schemas.openxmlformats.org/drawingml/2006/main" prst="line">
            <a:avLst/>
          </a:prstGeom>
          <a:noFill xmlns:a="http://schemas.openxmlformats.org/drawingml/2006/main"/>
          <a:ln xmlns:a="http://schemas.openxmlformats.org/drawingml/2006/main" w="15875">
            <a:solidFill>
              <a:srgbClr val="7F7F7F"/>
            </a:solidFill>
            <a:prstDash val="dash"/>
            <a:headEnd type="triangle"/>
          </a:ln>
        </p:spPr>
      </p:sp>
      <p:sp>
        <p:nvSpPr>
          <p:cNvPr id="33" name="Shape 31">
            <a:extLst xmlns:a="http://schemas.openxmlformats.org/drawingml/2006/main">
              <a:ext uri="{FF2B5EF4-FFF2-40B4-BE49-F238E27FC236}">
                <a16:creationId xmlns:a16="http://schemas.microsoft.com/office/drawing/2014/main" id="{EE4AE880-8129-4787-A1BF-60C3CC9A78B1}"/>
              </a:ext>
            </a:extLst>
          </p:cNvPr>
          <p:cNvSpPr>
            <a:spLocks xmlns:a="http://schemas.openxmlformats.org/drawingml/2006/main" noGrp="1"/>
          </p:cNvSpPr>
          <p:nvPr/>
        </p:nvSpPr>
        <p:spPr>
          <a:xfrm xmlns:a="http://schemas.openxmlformats.org/drawingml/2006/main">
            <a:off x="8046720" y="2468880"/>
            <a:ext cx="0" cy="274320"/>
          </a:xfrm>
          <a:prstGeom xmlns:a="http://schemas.openxmlformats.org/drawingml/2006/main" prst="line">
            <a:avLst/>
          </a:prstGeom>
          <a:noFill xmlns:a="http://schemas.openxmlformats.org/drawingml/2006/main"/>
          <a:ln xmlns:a="http://schemas.openxmlformats.org/drawingml/2006/main" w="15875">
            <a:solidFill>
              <a:srgbClr val="7F7F7F"/>
            </a:solidFill>
            <a:prstDash val="dash"/>
          </a:ln>
        </p:spPr>
      </p:sp>
      <p:sp>
        <p:nvSpPr>
          <p:cNvPr id="34" name="Shape 32">
            <a:extLst xmlns:a="http://schemas.openxmlformats.org/drawingml/2006/main">
              <a:ext uri="{FF2B5EF4-FFF2-40B4-BE49-F238E27FC236}">
                <a16:creationId xmlns:a16="http://schemas.microsoft.com/office/drawing/2014/main" id="{6842D5B0-94E8-4383-B3B4-A1B59760BBA8}"/>
              </a:ext>
            </a:extLst>
          </p:cNvPr>
          <p:cNvSpPr>
            <a:spLocks xmlns:a="http://schemas.openxmlformats.org/drawingml/2006/main" noGrp="1"/>
          </p:cNvSpPr>
          <p:nvPr/>
        </p:nvSpPr>
        <p:spPr>
          <a:xfrm xmlns:a="http://schemas.openxmlformats.org/drawingml/2006/main">
            <a:off x="2487168" y="2468880"/>
            <a:ext cx="0" cy="274320"/>
          </a:xfrm>
          <a:prstGeom xmlns:a="http://schemas.openxmlformats.org/drawingml/2006/main" prst="line">
            <a:avLst/>
          </a:prstGeom>
          <a:noFill xmlns:a="http://schemas.openxmlformats.org/drawingml/2006/main"/>
          <a:ln xmlns:a="http://schemas.openxmlformats.org/drawingml/2006/main" w="15875">
            <a:solidFill>
              <a:srgbClr val="7F7F7F"/>
            </a:solidFill>
            <a:prstDash val="dash"/>
          </a:ln>
        </p:spPr>
      </p:sp>
      <p:sp>
        <p:nvSpPr>
          <p:cNvPr id="35" name="Text 33">
            <a:extLst xmlns:a="http://schemas.openxmlformats.org/drawingml/2006/main">
              <a:ext uri="{FF2B5EF4-FFF2-40B4-BE49-F238E27FC236}">
                <a16:creationId xmlns:a16="http://schemas.microsoft.com/office/drawing/2014/main" id="{612F336F-A110-44D7-BFEE-B846EB56F8B3}"/>
              </a:ext>
            </a:extLst>
          </p:cNvPr>
          <p:cNvSpPr>
            <a:spLocks xmlns:a="http://schemas.openxmlformats.org/drawingml/2006/main" noGrp="1"/>
          </p:cNvSpPr>
          <p:nvPr/>
        </p:nvSpPr>
        <p:spPr>
          <a:xfrm xmlns:a="http://schemas.openxmlformats.org/drawingml/2006/main">
            <a:off x="4352544" y="2267712"/>
            <a:ext cx="1828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i="1">
                <a:solidFill>
                  <a:srgbClr val="7F7F7F"/>
                </a:solidFill>
                <a:latin typeface="Arial"/>
                <a:ea typeface="Arial"/>
                <a:cs typeface="Arial"/>
              </a:rPr>
              <a:t>tool limits exposed</a:t>
            </a:r>
            <a:endParaRPr sz="800"/>
          </a:p>
        </p:txBody>
      </p:sp>
      <p:sp>
        <p:nvSpPr>
          <p:cNvPr id="36" name="Text 34">
            <a:extLst xmlns:a="http://schemas.openxmlformats.org/drawingml/2006/main">
              <a:ext uri="{FF2B5EF4-FFF2-40B4-BE49-F238E27FC236}">
                <a16:creationId xmlns:a16="http://schemas.microsoft.com/office/drawing/2014/main" id="{12EC802B-477E-4576-862E-04EC50AD18D8}"/>
              </a:ext>
            </a:extLst>
          </p:cNvPr>
          <p:cNvSpPr>
            <a:spLocks xmlns:a="http://schemas.openxmlformats.org/drawingml/2006/main" noGrp="1"/>
          </p:cNvSpPr>
          <p:nvPr/>
        </p:nvSpPr>
        <p:spPr>
          <a:xfrm xmlns:a="http://schemas.openxmlformats.org/drawingml/2006/main">
            <a:off x="502920" y="1371600"/>
            <a:ext cx="81381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300" b="1">
                <a:solidFill>
                  <a:srgbClr val="262626"/>
                </a:solidFill>
                <a:latin typeface="Arial"/>
                <a:ea typeface="Arial"/>
                <a:cs typeface="Arial"/>
              </a:rPr>
              <a:t>ASK → TOOLS → ORIGIN → SCREEN → COMBINE → VERIFY → (back)</a:t>
            </a:r>
            <a:endParaRPr sz="1300"/>
          </a:p>
          <a:p xmlns:a="http://schemas.openxmlformats.org/drawingml/2006/main">
            <a:pPr marL="127000" indent="-127000">
              <a:spcAft>
                <a:spcPts val="500"/>
              </a:spcAft>
              <a:buSzPct val="100000"/>
              <a:buChar char="·"/>
            </a:pPr>
            <a:r>
              <a:rPr sz="1300" b="1">
                <a:solidFill>
                  <a:srgbClr val="9E2A2B"/>
                </a:solidFill>
                <a:latin typeface="Arial"/>
                <a:ea typeface="Arial"/>
                <a:cs typeface="Arial"/>
              </a:rPr>
              <a:t>The last stop feeds the first ones — that returning arrow IS the method</a:t>
            </a:r>
            <a:endParaRPr sz="1300"/>
          </a:p>
          <a:p xmlns:a="http://schemas.openxmlformats.org/drawingml/2006/main">
            <a:pPr marL="254000" lvl="1" indent="-127000">
              <a:spcAft>
                <a:spcPts val="500"/>
              </a:spcAft>
              <a:buSzPct val="100000"/>
              <a:buChar char="–"/>
            </a:pPr>
            <a:r>
              <a:rPr sz="1300">
                <a:solidFill>
                  <a:srgbClr val="7F7F7F"/>
                </a:solidFill>
                <a:latin typeface="Arial"/>
                <a:ea typeface="Arial"/>
                <a:cs typeface="Arial"/>
              </a:rPr>
              <a:t>Each part opens by lighting its stop on this map</a:t>
            </a:r>
            <a:endParaRPr sz="1300"/>
          </a:p>
        </p:txBody>
      </p:sp>
      <p:sp>
        <p:nvSpPr>
          <p:cNvPr id="37" name="Text 35">
            <a:extLst xmlns:a="http://schemas.openxmlformats.org/drawingml/2006/main">
              <a:ext uri="{FF2B5EF4-FFF2-40B4-BE49-F238E27FC236}">
                <a16:creationId xmlns:a16="http://schemas.microsoft.com/office/drawing/2014/main" id="{2D3EFB59-E5B6-4532-9063-4AAC35C5978E}"/>
              </a:ext>
            </a:extLst>
          </p:cNvPr>
          <p:cNvSpPr>
            <a:spLocks xmlns:a="http://schemas.openxmlformats.org/drawingml/2006/main" noGrp="1"/>
          </p:cNvSpPr>
          <p:nvPr/>
        </p:nvSpPr>
        <p:spPr>
          <a:xfrm xmlns:a="http://schemas.openxmlformats.org/drawingml/2006/main">
            <a:off x="502920" y="5760720"/>
            <a:ext cx="8138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1F4E79"/>
                </a:solidFill>
                <a:latin typeface="Arial"/>
                <a:ea typeface="Arial"/>
                <a:cs typeface="Arial"/>
              </a:rPr>
              <a:t>ask · measure · learn · gate · combine · doubt</a:t>
            </a:r>
            <a:endParaRPr sz="1200"/>
          </a:p>
        </p:txBody>
      </p:sp>
      <p:sp>
        <p:nvSpPr>
          <p:cNvPr id="39" name="Text 36">
            <a:extLst xmlns:a="http://schemas.openxmlformats.org/drawingml/2006/main">
              <a:ext uri="{FF2B5EF4-FFF2-40B4-BE49-F238E27FC236}">
                <a16:creationId xmlns:a16="http://schemas.microsoft.com/office/drawing/2014/main" id="{3041F14F-BD2C-495A-8293-4C9C013474FD}"/>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40" name="Text 37">
            <a:extLst xmlns:a="http://schemas.openxmlformats.org/drawingml/2006/main">
              <a:ext uri="{FF2B5EF4-FFF2-40B4-BE49-F238E27FC236}">
                <a16:creationId xmlns:a16="http://schemas.microsoft.com/office/drawing/2014/main" id="{2EF52FAB-37BA-4FCB-92AB-1A3F46DD117C}"/>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Tree>
    <p:extLst>
      <p:ext uri="{BB962C8B-B14F-4D97-AF65-F5344CB8AC3E}">
        <p14:creationId xmlns:p14="http://schemas.microsoft.com/office/powerpoint/2010/main" val="75407228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D2C864-DA82-48E8-A3DB-5354C3EB01DF}"/>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Screen · ours</a:t>
            </a:r>
            <a:endParaRPr sz="1100"/>
          </a:p>
        </p:txBody>
      </p:sp>
      <p:sp>
        <p:nvSpPr>
          <p:cNvPr id="3" name="Text 1">
            <a:extLst xmlns:a="http://schemas.openxmlformats.org/drawingml/2006/main">
              <a:ext uri="{FF2B5EF4-FFF2-40B4-BE49-F238E27FC236}">
                <a16:creationId xmlns:a16="http://schemas.microsoft.com/office/drawing/2014/main" id="{BDF570DD-E677-45F4-B569-56D9FB4AEF10}"/>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Campaign lineage: 91 × 3 attempted slots → versioned 47-species O/F snapshot</a:t>
            </a:r>
            <a:endParaRPr sz="2000"/>
          </a:p>
        </p:txBody>
      </p:sp>
      <p:sp>
        <p:nvSpPr>
          <p:cNvPr id="4" name="Shape 2">
            <a:extLst xmlns:a="http://schemas.openxmlformats.org/drawingml/2006/main">
              <a:ext uri="{FF2B5EF4-FFF2-40B4-BE49-F238E27FC236}">
                <a16:creationId xmlns:a16="http://schemas.microsoft.com/office/drawing/2014/main" id="{A1D821D8-358A-4BAA-8A56-922C1933A036}"/>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5" name="Shape 3">
            <a:extLst xmlns:a="http://schemas.openxmlformats.org/drawingml/2006/main">
              <a:ext uri="{FF2B5EF4-FFF2-40B4-BE49-F238E27FC236}">
                <a16:creationId xmlns:a16="http://schemas.microsoft.com/office/drawing/2014/main" id="{E6BE59C6-3B82-4DE2-B8F1-B94DE5033D5B}"/>
              </a:ext>
            </a:extLst>
          </p:cNvPr>
          <p:cNvSpPr>
            <a:spLocks xmlns:a="http://schemas.openxmlformats.org/drawingml/2006/main" noGrp="1"/>
          </p:cNvSpPr>
          <p:nvPr/>
        </p:nvSpPr>
        <p:spPr>
          <a:xfrm xmlns:a="http://schemas.openxmlformats.org/drawingml/2006/main">
            <a:off x="502920" y="1417320"/>
            <a:ext cx="2514600" cy="868680"/>
          </a:xfrm>
          <a:prstGeom xmlns:a="http://schemas.openxmlformats.org/drawingml/2006/main" prst="roundRect">
            <a:avLst>
              <a:gd name="adj" fmla="val 7368"/>
            </a:avLst>
          </a:prstGeom>
          <a:solidFill xmlns:a="http://schemas.openxmlformats.org/drawingml/2006/main">
            <a:srgbClr val="EEF3F9"/>
          </a:solidFill>
          <a:ln xmlns:a="http://schemas.openxmlformats.org/drawingml/2006/main" w="15875">
            <a:solidFill>
              <a:srgbClr val="1F4E79"/>
            </a:solidFill>
            <a:prstDash val="solid"/>
          </a:ln>
        </p:spPr>
      </p:sp>
      <p:sp>
        <p:nvSpPr>
          <p:cNvPr id="6" name="Text 4">
            <a:extLst xmlns:a="http://schemas.openxmlformats.org/drawingml/2006/main">
              <a:ext uri="{FF2B5EF4-FFF2-40B4-BE49-F238E27FC236}">
                <a16:creationId xmlns:a16="http://schemas.microsoft.com/office/drawing/2014/main" id="{EDE22675-FC9C-4DD3-9E7F-1DE514A26523}"/>
              </a:ext>
            </a:extLst>
          </p:cNvPr>
          <p:cNvSpPr>
            <a:spLocks xmlns:a="http://schemas.openxmlformats.org/drawingml/2006/main" noGrp="1"/>
          </p:cNvSpPr>
          <p:nvPr/>
        </p:nvSpPr>
        <p:spPr>
          <a:xfrm xmlns:a="http://schemas.openxmlformats.org/drawingml/2006/main">
            <a:off x="502920" y="1417320"/>
            <a:ext cx="2514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F4E79"/>
                </a:solidFill>
                <a:latin typeface="Arial"/>
                <a:ea typeface="Arial"/>
                <a:cs typeface="Arial"/>
              </a:rPr>
              <a:t>Curated roster</a:t>
            </a:r>
            <a:endParaRPr sz="1100"/>
          </a:p>
          <a:p xmlns:a="http://schemas.openxmlformats.org/drawingml/2006/main">
            <a:pPr marL="0" indent="0" algn="ctr">
              <a:buNone/>
            </a:pPr>
            <a:r>
              <a:rPr sz="900">
                <a:solidFill>
                  <a:srgbClr val="1F4E79"/>
                </a:solidFill>
                <a:latin typeface="Arial"/>
                <a:ea typeface="Arial"/>
                <a:cs typeface="Arial"/>
              </a:rPr>
              <a:t/>
            </a:r>
            <a:endParaRPr sz="1100"/>
          </a:p>
          <a:p xmlns:a="http://schemas.openxmlformats.org/drawingml/2006/main">
            <a:pPr marL="0" indent="0" algn="ctr">
              <a:buNone/>
            </a:pPr>
            <a:r>
              <a:rPr sz="900">
                <a:solidFill>
                  <a:srgbClr val="1F4E79"/>
                </a:solidFill>
                <a:latin typeface="Arial"/>
                <a:ea typeface="Arial"/>
                <a:cs typeface="Arial"/>
              </a:rPr>
              <a:t>91 species</a:t>
            </a:r>
            <a:endParaRPr sz="1100"/>
          </a:p>
        </p:txBody>
      </p:sp>
      <p:sp>
        <p:nvSpPr>
          <p:cNvPr id="7" name="Shape 5">
            <a:extLst xmlns:a="http://schemas.openxmlformats.org/drawingml/2006/main">
              <a:ext uri="{FF2B5EF4-FFF2-40B4-BE49-F238E27FC236}">
                <a16:creationId xmlns:a16="http://schemas.microsoft.com/office/drawing/2014/main" id="{926C5DC5-C090-4831-9589-9AE8C7C3CD2C}"/>
              </a:ext>
            </a:extLst>
          </p:cNvPr>
          <p:cNvSpPr>
            <a:spLocks xmlns:a="http://schemas.openxmlformats.org/drawingml/2006/main" noGrp="1"/>
          </p:cNvSpPr>
          <p:nvPr/>
        </p:nvSpPr>
        <p:spPr>
          <a:xfrm xmlns:a="http://schemas.openxmlformats.org/drawingml/2006/main">
            <a:off x="3044952" y="1847088"/>
            <a:ext cx="21945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8" name="Shape 6">
            <a:extLst xmlns:a="http://schemas.openxmlformats.org/drawingml/2006/main">
              <a:ext uri="{FF2B5EF4-FFF2-40B4-BE49-F238E27FC236}">
                <a16:creationId xmlns:a16="http://schemas.microsoft.com/office/drawing/2014/main" id="{B990C73C-6743-489F-9836-7F935233F0A0}"/>
              </a:ext>
            </a:extLst>
          </p:cNvPr>
          <p:cNvSpPr>
            <a:spLocks xmlns:a="http://schemas.openxmlformats.org/drawingml/2006/main" noGrp="1"/>
          </p:cNvSpPr>
          <p:nvPr/>
        </p:nvSpPr>
        <p:spPr>
          <a:xfrm xmlns:a="http://schemas.openxmlformats.org/drawingml/2006/main">
            <a:off x="3291840" y="1417320"/>
            <a:ext cx="2514600" cy="868680"/>
          </a:xfrm>
          <a:prstGeom xmlns:a="http://schemas.openxmlformats.org/drawingml/2006/main" prst="roundRect">
            <a:avLst>
              <a:gd name="adj" fmla="val 7368"/>
            </a:avLst>
          </a:prstGeom>
          <a:solidFill xmlns:a="http://schemas.openxmlformats.org/drawingml/2006/main">
            <a:srgbClr val="EEF3F9"/>
          </a:solidFill>
          <a:ln xmlns:a="http://schemas.openxmlformats.org/drawingml/2006/main" w="15875">
            <a:solidFill>
              <a:srgbClr val="1F4E79"/>
            </a:solidFill>
            <a:prstDash val="solid"/>
          </a:ln>
        </p:spPr>
      </p:sp>
      <p:sp>
        <p:nvSpPr>
          <p:cNvPr id="9" name="Text 7">
            <a:extLst xmlns:a="http://schemas.openxmlformats.org/drawingml/2006/main">
              <a:ext uri="{FF2B5EF4-FFF2-40B4-BE49-F238E27FC236}">
                <a16:creationId xmlns:a16="http://schemas.microsoft.com/office/drawing/2014/main" id="{E1618432-CBE2-4F33-922C-AA636C67A9D8}"/>
              </a:ext>
            </a:extLst>
          </p:cNvPr>
          <p:cNvSpPr>
            <a:spLocks xmlns:a="http://schemas.openxmlformats.org/drawingml/2006/main" noGrp="1"/>
          </p:cNvSpPr>
          <p:nvPr/>
        </p:nvSpPr>
        <p:spPr>
          <a:xfrm xmlns:a="http://schemas.openxmlformats.org/drawingml/2006/main">
            <a:off x="3291840" y="1417320"/>
            <a:ext cx="2514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F4E79"/>
                </a:solidFill>
                <a:latin typeface="Arial"/>
                <a:ea typeface="Arial"/>
                <a:cs typeface="Arial"/>
              </a:rPr>
              <a:t>Attempted campaign</a:t>
            </a:r>
            <a:endParaRPr sz="1100"/>
          </a:p>
          <a:p xmlns:a="http://schemas.openxmlformats.org/drawingml/2006/main">
            <a:pPr marL="0" indent="0" algn="ctr">
              <a:buNone/>
            </a:pPr>
            <a:r>
              <a:rPr sz="900">
                <a:solidFill>
                  <a:srgbClr val="1F4E79"/>
                </a:solidFill>
                <a:latin typeface="Arial"/>
                <a:ea typeface="Arial"/>
                <a:cs typeface="Arial"/>
              </a:rPr>
              <a:t/>
            </a:r>
            <a:endParaRPr sz="1100"/>
          </a:p>
          <a:p xmlns:a="http://schemas.openxmlformats.org/drawingml/2006/main">
            <a:pPr marL="0" indent="0" algn="ctr">
              <a:buNone/>
            </a:pPr>
            <a:r>
              <a:rPr sz="900">
                <a:solidFill>
                  <a:srgbClr val="1F4E79"/>
                </a:solidFill>
                <a:latin typeface="Arial"/>
                <a:ea typeface="Arial"/>
                <a:cs typeface="Arial"/>
              </a:rPr>
              <a:t>273 run slots (3 labels)</a:t>
            </a:r>
            <a:endParaRPr sz="1100"/>
          </a:p>
        </p:txBody>
      </p:sp>
      <p:sp>
        <p:nvSpPr>
          <p:cNvPr id="10" name="Shape 8">
            <a:extLst xmlns:a="http://schemas.openxmlformats.org/drawingml/2006/main">
              <a:ext uri="{FF2B5EF4-FFF2-40B4-BE49-F238E27FC236}">
                <a16:creationId xmlns:a16="http://schemas.microsoft.com/office/drawing/2014/main" id="{7D44CB9F-3137-4817-8463-33C3AF15FF93}"/>
              </a:ext>
            </a:extLst>
          </p:cNvPr>
          <p:cNvSpPr>
            <a:spLocks xmlns:a="http://schemas.openxmlformats.org/drawingml/2006/main" noGrp="1"/>
          </p:cNvSpPr>
          <p:nvPr/>
        </p:nvSpPr>
        <p:spPr>
          <a:xfrm xmlns:a="http://schemas.openxmlformats.org/drawingml/2006/main">
            <a:off x="5833872" y="1847088"/>
            <a:ext cx="21945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1" name="Shape 9">
            <a:extLst xmlns:a="http://schemas.openxmlformats.org/drawingml/2006/main">
              <a:ext uri="{FF2B5EF4-FFF2-40B4-BE49-F238E27FC236}">
                <a16:creationId xmlns:a16="http://schemas.microsoft.com/office/drawing/2014/main" id="{347A3C2C-0B59-44E6-9729-207F7A74ACCE}"/>
              </a:ext>
            </a:extLst>
          </p:cNvPr>
          <p:cNvSpPr>
            <a:spLocks xmlns:a="http://schemas.openxmlformats.org/drawingml/2006/main" noGrp="1"/>
          </p:cNvSpPr>
          <p:nvPr/>
        </p:nvSpPr>
        <p:spPr>
          <a:xfrm xmlns:a="http://schemas.openxmlformats.org/drawingml/2006/main">
            <a:off x="6080760" y="1417320"/>
            <a:ext cx="2514600" cy="868680"/>
          </a:xfrm>
          <a:prstGeom xmlns:a="http://schemas.openxmlformats.org/drawingml/2006/main" prst="roundRect">
            <a:avLst>
              <a:gd name="adj" fmla="val 7368"/>
            </a:avLst>
          </a:prstGeom>
          <a:solidFill xmlns:a="http://schemas.openxmlformats.org/drawingml/2006/main">
            <a:srgbClr val="1F4E79"/>
          </a:solidFill>
          <a:ln xmlns:a="http://schemas.openxmlformats.org/drawingml/2006/main" w="15875">
            <a:solidFill>
              <a:srgbClr val="1F4E79"/>
            </a:solidFill>
            <a:prstDash val="solid"/>
          </a:ln>
        </p:spPr>
      </p:sp>
      <p:sp>
        <p:nvSpPr>
          <p:cNvPr id="12" name="Text 10">
            <a:extLst xmlns:a="http://schemas.openxmlformats.org/drawingml/2006/main">
              <a:ext uri="{FF2B5EF4-FFF2-40B4-BE49-F238E27FC236}">
                <a16:creationId xmlns:a16="http://schemas.microsoft.com/office/drawing/2014/main" id="{48970ADE-1AC8-4568-A073-A1641BF0DAF2}"/>
              </a:ext>
            </a:extLst>
          </p:cNvPr>
          <p:cNvSpPr>
            <a:spLocks xmlns:a="http://schemas.openxmlformats.org/drawingml/2006/main" noGrp="1"/>
          </p:cNvSpPr>
          <p:nvPr/>
        </p:nvSpPr>
        <p:spPr>
          <a:xfrm xmlns:a="http://schemas.openxmlformats.org/drawingml/2006/main">
            <a:off x="6080760" y="1417320"/>
            <a:ext cx="2514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Versioned snapshot</a:t>
            </a:r>
            <a:endParaRPr sz="1100"/>
          </a:p>
          <a:p xmlns:a="http://schemas.openxmlformats.org/drawingml/2006/main">
            <a:pPr marL="0" indent="0" algn="ctr">
              <a:buNone/>
            </a:pPr>
            <a:r>
              <a:rPr sz="900">
                <a:solidFill>
                  <a:srgbClr val="FFFFFF"/>
                </a:solidFill>
                <a:latin typeface="Arial"/>
                <a:ea typeface="Arial"/>
                <a:cs typeface="Arial"/>
              </a:rPr>
              <a:t/>
            </a:r>
            <a:endParaRPr sz="1100"/>
          </a:p>
          <a:p xmlns:a="http://schemas.openxmlformats.org/drawingml/2006/main">
            <a:pPr marL="0" indent="0" algn="ctr">
              <a:buNone/>
            </a:pPr>
            <a:r>
              <a:rPr sz="900">
                <a:solidFill>
                  <a:srgbClr val="FFFFFF"/>
                </a:solidFill>
                <a:latin typeface="Arial"/>
                <a:ea typeface="Arial"/>
                <a:cs typeface="Arial"/>
              </a:rPr>
              <a:t>141 records = 47 × 3</a:t>
            </a:r>
            <a:endParaRPr sz="1100"/>
          </a:p>
        </p:txBody>
      </p:sp>
      <p:sp>
        <p:nvSpPr>
          <p:cNvPr id="13" name="Text 11">
            <a:extLst xmlns:a="http://schemas.openxmlformats.org/drawingml/2006/main">
              <a:ext uri="{FF2B5EF4-FFF2-40B4-BE49-F238E27FC236}">
                <a16:creationId xmlns:a16="http://schemas.microsoft.com/office/drawing/2014/main" id="{A623EF0E-8C68-46EC-98DD-4A8AF4286DE0}"/>
              </a:ext>
            </a:extLst>
          </p:cNvPr>
          <p:cNvSpPr>
            <a:spLocks xmlns:a="http://schemas.openxmlformats.org/drawingml/2006/main" noGrp="1"/>
          </p:cNvSpPr>
          <p:nvPr/>
        </p:nvSpPr>
        <p:spPr>
          <a:xfrm xmlns:a="http://schemas.openxmlformats.org/drawingml/2006/main">
            <a:off x="502920" y="2359152"/>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The 2026-06-25 canonical table contains 37 oxides + 10 fluorides; the remaining 44 species are absent from the versioned table.</a:t>
            </a:r>
            <a:endParaRPr sz="950"/>
          </a:p>
        </p:txBody>
      </p:sp>
      <p:sp>
        <p:nvSpPr>
          <p:cNvPr id="14" name="Text 12">
            <a:extLst xmlns:a="http://schemas.openxmlformats.org/drawingml/2006/main">
              <a:ext uri="{FF2B5EF4-FFF2-40B4-BE49-F238E27FC236}">
                <a16:creationId xmlns:a16="http://schemas.microsoft.com/office/drawing/2014/main" id="{7F9AF281-57FE-4943-90C3-3352286C8992}"/>
              </a:ext>
            </a:extLst>
          </p:cNvPr>
          <p:cNvSpPr>
            <a:spLocks xmlns:a="http://schemas.openxmlformats.org/drawingml/2006/main" noGrp="1"/>
          </p:cNvSpPr>
          <p:nvPr/>
        </p:nvSpPr>
        <p:spPr>
          <a:xfrm xmlns:a="http://schemas.openxmlformats.org/drawingml/2006/main">
            <a:off x="502920" y="2697480"/>
            <a:ext cx="8138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990" b="1">
                <a:solidFill>
                  <a:srgbClr val="9E2A2B"/>
                </a:solidFill>
                <a:latin typeface="Arial"/>
                <a:ea typeface="Arial"/>
                <a:cs typeface="Arial"/>
              </a:rPr>
              <a:t>⚠ x002/x005/x010 are campaign labels; conflicting concentration metadata means nominal x remains unresolved.</a:t>
            </a:r>
            <a:endParaRPr sz="1100"/>
          </a:p>
          <a:p xmlns:a="http://schemas.openxmlformats.org/drawingml/2006/main">
            <a:pPr marL="127000" indent="-127000">
              <a:spcAft>
                <a:spcPts val="200"/>
              </a:spcAft>
              <a:buSzPct val="100000"/>
              <a:buChar char="·"/>
            </a:pPr>
            <a:r>
              <a:rPr sz="990" b="1">
                <a:solidFill>
                  <a:srgbClr val="262626"/>
                </a:solidFill>
                <a:latin typeface="Arial"/>
                <a:ea typeface="Arial"/>
                <a:cs typeface="Arial"/>
              </a:rPr>
              <a:t>Absence is not physical rejection: a per-species failure manifest for the missing 44 is not versioned.</a:t>
            </a:r>
            <a:endParaRPr sz="1100"/>
          </a:p>
        </p:txBody>
      </p:sp>
      <p:sp>
        <p:nvSpPr>
          <p:cNvPr id="15" name="Shape 13">
            <a:extLst xmlns:a="http://schemas.openxmlformats.org/drawingml/2006/main">
              <a:ext uri="{FF2B5EF4-FFF2-40B4-BE49-F238E27FC236}">
                <a16:creationId xmlns:a16="http://schemas.microsoft.com/office/drawing/2014/main" id="{B2FEC7CF-FF88-49EB-B5F2-7CB38FBCCAB2}"/>
              </a:ext>
            </a:extLst>
          </p:cNvPr>
          <p:cNvSpPr>
            <a:spLocks xmlns:a="http://schemas.openxmlformats.org/drawingml/2006/main" noGrp="1"/>
          </p:cNvSpPr>
          <p:nvPr/>
        </p:nvSpPr>
        <p:spPr>
          <a:xfrm xmlns:a="http://schemas.openxmlformats.org/drawingml/2006/main">
            <a:off x="731520" y="3474720"/>
            <a:ext cx="7680960" cy="960120"/>
          </a:xfrm>
          <a:prstGeom xmlns:a="http://schemas.openxmlformats.org/drawingml/2006/main" prst="roundRect">
            <a:avLst>
              <a:gd name="adj" fmla="val 6667"/>
            </a:avLst>
          </a:prstGeom>
          <a:solidFill xmlns:a="http://schemas.openxmlformats.org/drawingml/2006/main">
            <a:srgbClr val="F7F7F7"/>
          </a:solidFill>
          <a:ln xmlns:a="http://schemas.openxmlformats.org/drawingml/2006/main" w="15875">
            <a:solidFill>
              <a:srgbClr val="9E2A2B"/>
            </a:solidFill>
            <a:prstDash val="solid"/>
          </a:ln>
        </p:spPr>
      </p:sp>
      <p:sp>
        <p:nvSpPr>
          <p:cNvPr id="16" name="Text 14">
            <a:extLst xmlns:a="http://schemas.openxmlformats.org/drawingml/2006/main">
              <a:ext uri="{FF2B5EF4-FFF2-40B4-BE49-F238E27FC236}">
                <a16:creationId xmlns:a16="http://schemas.microsoft.com/office/drawing/2014/main" id="{A4E3C16C-8F43-45D6-901B-5D2734BA0AC4}"/>
              </a:ext>
            </a:extLst>
          </p:cNvPr>
          <p:cNvSpPr>
            <a:spLocks xmlns:a="http://schemas.openxmlformats.org/drawingml/2006/main" noGrp="1"/>
          </p:cNvSpPr>
          <p:nvPr/>
        </p:nvSpPr>
        <p:spPr>
          <a:xfrm xmlns:a="http://schemas.openxmlformats.org/drawingml/2006/main">
            <a:off x="914400" y="3566160"/>
            <a:ext cx="73152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8" b="1" i="1">
                <a:solidFill>
                  <a:srgbClr val="9E2A2B"/>
                </a:solidFill>
                <a:latin typeface="Arial"/>
                <a:ea typeface="Arial"/>
                <a:cs typeface="Arial"/>
              </a:rPr>
              <a:t>“The post-hoc gate audit starts from the 47-species table; it does not explain the 91→47 provenance gap.”</a:t>
            </a:r>
            <a:endParaRPr sz="1150"/>
          </a:p>
        </p:txBody>
      </p:sp>
      <p:sp>
        <p:nvSpPr>
          <p:cNvPr id="17" name="Shape 15">
            <a:extLst xmlns:a="http://schemas.openxmlformats.org/drawingml/2006/main">
              <a:ext uri="{FF2B5EF4-FFF2-40B4-BE49-F238E27FC236}">
                <a16:creationId xmlns:a16="http://schemas.microsoft.com/office/drawing/2014/main" id="{6B01A5A2-E5EE-4F65-946E-6B1E696E8388}"/>
              </a:ext>
            </a:extLst>
          </p:cNvPr>
          <p:cNvSpPr>
            <a:spLocks xmlns:a="http://schemas.openxmlformats.org/drawingml/2006/main" noGrp="1"/>
          </p:cNvSpPr>
          <p:nvPr/>
        </p:nvSpPr>
        <p:spPr>
          <a:xfrm xmlns:a="http://schemas.openxmlformats.org/drawingml/2006/main">
            <a:off x="731520" y="4617720"/>
            <a:ext cx="7680960" cy="1234440"/>
          </a:xfrm>
          <a:prstGeom xmlns:a="http://schemas.openxmlformats.org/drawingml/2006/main" prst="rect">
            <a:avLst/>
          </a:prstGeom>
          <a:solidFill xmlns:a="http://schemas.openxmlformats.org/drawingml/2006/main">
            <a:srgbClr val="F7F7F7"/>
          </a:solidFill>
          <a:ln xmlns:a="http://schemas.openxmlformats.org/drawingml/2006/main" w="12700">
            <a:solidFill>
              <a:srgbClr val="7F7F7F"/>
            </a:solidFill>
            <a:prstDash val="dash"/>
          </a:ln>
        </p:spPr>
      </p:sp>
      <p:sp>
        <p:nvSpPr>
          <p:cNvPr id="18" name="Text 16">
            <a:extLst xmlns:a="http://schemas.openxmlformats.org/drawingml/2006/main">
              <a:ext uri="{FF2B5EF4-FFF2-40B4-BE49-F238E27FC236}">
                <a16:creationId xmlns:a16="http://schemas.microsoft.com/office/drawing/2014/main" id="{B67D3D68-DC51-4037-ADA2-B29E9394DA4C}"/>
              </a:ext>
            </a:extLst>
          </p:cNvPr>
          <p:cNvSpPr>
            <a:spLocks xmlns:a="http://schemas.openxmlformats.org/drawingml/2006/main" noGrp="1"/>
          </p:cNvSpPr>
          <p:nvPr/>
        </p:nvSpPr>
        <p:spPr>
          <a:xfrm xmlns:a="http://schemas.openxmlformats.org/drawingml/2006/main">
            <a:off x="731520" y="4823460"/>
            <a:ext cx="7680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3" b="1">
                <a:solidFill>
                  <a:srgbClr val="7F7F7F"/>
                </a:solidFill>
                <a:latin typeface="Arial"/>
                <a:ea typeface="Arial"/>
                <a:cs typeface="Arial"/>
              </a:rPr>
              <a:t>PROVENANCE BOUNDARY</a:t>
            </a:r>
            <a:endParaRPr sz="1100"/>
          </a:p>
          <a:p xmlns:a="http://schemas.openxmlformats.org/drawingml/2006/main">
            <a:pPr marL="0" indent="0" algn="ctr">
              <a:buNone/>
            </a:pPr>
            <a:r>
              <a:rPr sz="900">
                <a:solidFill>
                  <a:srgbClr val="7F7F7F"/>
                </a:solidFill>
                <a:latin typeface="Arial"/>
                <a:ea typeface="Arial"/>
                <a:cs typeface="Arial"/>
              </a:rPr>
              <a:t/>
            </a:r>
            <a:endParaRPr sz="1100"/>
          </a:p>
          <a:p xmlns:a="http://schemas.openxmlformats.org/drawingml/2006/main">
            <a:pPr marL="0" indent="0" algn="ctr">
              <a:buNone/>
            </a:pPr>
            <a:r>
              <a:rPr sz="1163" b="1">
                <a:solidFill>
                  <a:srgbClr val="7F7F7F"/>
                </a:solidFill>
                <a:latin typeface="Arial"/>
                <a:ea typeface="Arial"/>
                <a:cs typeface="Arial"/>
              </a:rPr>
              <a:t>No per-species failure manifest for the missing 44</a:t>
            </a:r>
            <a:endParaRPr sz="1100"/>
          </a:p>
          <a:p xmlns:a="http://schemas.openxmlformats.org/drawingml/2006/main">
            <a:pPr marL="0" indent="0" algn="ctr">
              <a:buNone/>
            </a:pPr>
            <a:r>
              <a:rPr sz="1163" b="1">
                <a:solidFill>
                  <a:srgbClr val="7F7F7F"/>
                </a:solidFill>
                <a:latin typeface="Arial"/>
                <a:ea typeface="Arial"/>
                <a:cs typeface="Arial"/>
              </a:rPr>
              <a:t>Only As₂S₃ ×3 is individually documented with n_structures = 0</a:t>
            </a:r>
            <a:endParaRPr sz="1100"/>
          </a:p>
        </p:txBody>
      </p:sp>
      <p:sp>
        <p:nvSpPr>
          <p:cNvPr id="19" name="Text 17">
            <a:extLst xmlns:a="http://schemas.openxmlformats.org/drawingml/2006/main">
              <a:ext uri="{FF2B5EF4-FFF2-40B4-BE49-F238E27FC236}">
                <a16:creationId xmlns:a16="http://schemas.microsoft.com/office/drawing/2014/main" id="{35CD9381-0C70-42C4-B778-347ED040F5A4}"/>
              </a:ext>
            </a:extLst>
          </p:cNvPr>
          <p:cNvSpPr>
            <a:spLocks xmlns:a="http://schemas.openxmlformats.org/drawingml/2006/main" noGrp="1"/>
          </p:cNvSpPr>
          <p:nvPr/>
        </p:nvSpPr>
        <p:spPr>
          <a:xfrm xmlns:a="http://schemas.openxmlformats.org/drawingml/2006/main">
            <a:off x="731520" y="5870448"/>
            <a:ext cx="7680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Missing records remain unclassified until raw run manifests are recovered.</a:t>
            </a:r>
            <a:endParaRPr sz="850"/>
          </a:p>
        </p:txBody>
      </p:sp>
      <p:sp>
        <p:nvSpPr>
          <p:cNvPr id="21" name="Text 18">
            <a:extLst xmlns:a="http://schemas.openxmlformats.org/drawingml/2006/main">
              <a:ext uri="{FF2B5EF4-FFF2-40B4-BE49-F238E27FC236}">
                <a16:creationId xmlns:a16="http://schemas.microsoft.com/office/drawing/2014/main" id="{C0453317-7CC4-4CBB-866A-9EF3D4DF2A68}"/>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22" name="Text 19">
            <a:extLst xmlns:a="http://schemas.openxmlformats.org/drawingml/2006/main">
              <a:ext uri="{FF2B5EF4-FFF2-40B4-BE49-F238E27FC236}">
                <a16:creationId xmlns:a16="http://schemas.microsoft.com/office/drawing/2014/main" id="{9334E913-D9DA-46DA-84DB-A3881BFC076B}"/>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spTree>
    <p:extLst>
      <p:ext uri="{BB962C8B-B14F-4D97-AF65-F5344CB8AC3E}">
        <p14:creationId xmlns:p14="http://schemas.microsoft.com/office/powerpoint/2010/main" val="6676801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03CC65-4505-49C7-97B7-F174290068A1}"/>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Tools · DFT</a:t>
            </a:r>
            <a:endParaRPr sz="1100"/>
          </a:p>
        </p:txBody>
      </p:sp>
      <p:sp>
        <p:nvSpPr>
          <p:cNvPr id="3" name="Text 1">
            <a:extLst xmlns:a="http://schemas.openxmlformats.org/drawingml/2006/main">
              <a:ext uri="{FF2B5EF4-FFF2-40B4-BE49-F238E27FC236}">
                <a16:creationId xmlns:a16="http://schemas.microsoft.com/office/drawing/2014/main" id="{0813050F-F64E-4DB3-A5F1-D83901A479E3}"/>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EOS · VRH · ESW · BVSE defined in Appendix A1–A2</a:t>
            </a:r>
            <a:endParaRPr sz="850"/>
          </a:p>
        </p:txBody>
      </p:sp>
      <p:sp>
        <p:nvSpPr>
          <p:cNvPr id="4" name="Text 2">
            <a:extLst xmlns:a="http://schemas.openxmlformats.org/drawingml/2006/main">
              <a:ext uri="{FF2B5EF4-FFF2-40B4-BE49-F238E27FC236}">
                <a16:creationId xmlns:a16="http://schemas.microsoft.com/office/drawing/2014/main" id="{9EE6F582-42CC-4932-9800-EA093C737C26}"/>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From total energy to observables — and into which gate</a:t>
            </a:r>
            <a:endParaRPr sz="2000"/>
          </a:p>
        </p:txBody>
      </p:sp>
      <p:sp>
        <p:nvSpPr>
          <p:cNvPr id="5" name="Shape 3">
            <a:extLst xmlns:a="http://schemas.openxmlformats.org/drawingml/2006/main">
              <a:ext uri="{FF2B5EF4-FFF2-40B4-BE49-F238E27FC236}">
                <a16:creationId xmlns:a16="http://schemas.microsoft.com/office/drawing/2014/main" id="{C365D759-FB4A-495A-A381-7D0C3EFF6D69}"/>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6"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3108960"/>
                <a:gridCol w="2926080"/>
                <a:gridCol w="2103120"/>
              </a:tblGrid>
              <a:tr h="310896">
                <a:tc>
                  <a:txBody>
                    <a:bodyPr/>
                    <a:lstStyle/>
                    <a:p>
                      <a:pPr marL="0" indent="0">
                        <a:buNone/>
                      </a:pPr>
                      <a:r>
                        <a:rPr sz="1050" b="1">
                          <a:solidFill>
                            <a:srgbClr val="FFFFFF"/>
                          </a:solidFill>
                          <a:latin typeface="Arial"/>
                          <a:ea typeface="Arial"/>
                          <a:cs typeface="Arial"/>
                        </a:rPr>
                        <a:t>Quantity</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Judges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Used in gate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10896">
                <a:tc>
                  <a:txBody>
                    <a:bodyPr/>
                    <a:lstStyle/>
                    <a:p>
                      <a:pPr marL="0" indent="0">
                        <a:buNone/>
                      </a:pPr>
                      <a:r>
                        <a:rPr sz="1050">
                          <a:solidFill>
                            <a:srgbClr val="262626"/>
                          </a:solidFill>
                          <a:latin typeface="Arial"/>
                          <a:ea typeface="Arial"/>
                          <a:cs typeface="Arial"/>
                        </a:rPr>
                        <a:t>E(V) → BM3 EOS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B₀ (stiffness)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G5 mechanical</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C_ij → VRH</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E, G, Pugh ratio</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G5 mechanical</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grand-potential hull</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ESW window · oxidation onset</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G2 window + G3 oxidation</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BVSE (bond valence)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channels, bottlenecks (cheap)</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G4 transport — the gate engine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MLIP-MD → MSD → Arrhenius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Ea, D</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champion validation (after the gates)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fixed-occupation nscf eigenvalues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band gap = e⁻ insulation</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diagnostic axis, not a gate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ICOHP / ELF / Bader</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bonding character</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not a gate; explanation only</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4">
            <a:extLst xmlns:a="http://schemas.openxmlformats.org/drawingml/2006/main">
              <a:ext uri="{FF2B5EF4-FFF2-40B4-BE49-F238E27FC236}">
                <a16:creationId xmlns:a16="http://schemas.microsoft.com/office/drawing/2014/main" id="{A10F0657-C008-4342-8E2D-20D6555922D5}"/>
              </a:ext>
            </a:extLst>
          </p:cNvPr>
          <p:cNvSpPr>
            <a:spLocks xmlns:a="http://schemas.openxmlformats.org/drawingml/2006/main" noGrp="1"/>
          </p:cNvSpPr>
          <p:nvPr/>
        </p:nvSpPr>
        <p:spPr>
          <a:xfrm xmlns:a="http://schemas.openxmlformats.org/drawingml/2006/main">
            <a:off x="502920" y="4297680"/>
            <a:ext cx="81381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50" b="1">
                <a:solidFill>
                  <a:srgbClr val="9E2A2B"/>
                </a:solidFill>
                <a:latin typeface="Arial"/>
                <a:ea typeface="Arial"/>
                <a:cs typeface="Arial"/>
              </a:rPr>
              <a:t>Gap rule: fixed-occupation eigenvalues ONLY — DOS-threshold reading under-estimates by ~0.3 eV (we did it once; see the retraction table)</a:t>
            </a:r>
            <a:endParaRPr sz="1150"/>
          </a:p>
          <a:p xmlns:a="http://schemas.openxmlformats.org/drawingml/2006/main">
            <a:pPr marL="254000" lvl="1" indent="-127000">
              <a:spcAft>
                <a:spcPts val="500"/>
              </a:spcAft>
              <a:buSzPct val="100000"/>
              <a:buChar char="–"/>
            </a:pPr>
            <a:r>
              <a:rPr sz="1150">
                <a:solidFill>
                  <a:srgbClr val="7F7F7F"/>
                </a:solidFill>
                <a:latin typeface="Arial"/>
                <a:ea typeface="Arial"/>
                <a:cs typeface="Arial"/>
              </a:rPr>
              <a:t>ICOHP sign convention: negative = bonding — always printed on the table</a:t>
            </a:r>
            <a:endParaRPr sz="1150"/>
          </a:p>
          <a:p xmlns:a="http://schemas.openxmlformats.org/drawingml/2006/main">
            <a:pPr marL="127000" indent="-127000">
              <a:spcAft>
                <a:spcPts val="500"/>
              </a:spcAft>
              <a:buSzPct val="100000"/>
              <a:buChar char="·"/>
            </a:pPr>
            <a:r>
              <a:rPr sz="1150" b="1">
                <a:solidFill>
                  <a:srgbClr val="262626"/>
                </a:solidFill>
                <a:latin typeface="Arial"/>
                <a:ea typeface="Arial"/>
                <a:cs typeface="Arial"/>
              </a:rPr>
              <a:t>Nothing on this ladder reaches particle/electrode scale</a:t>
            </a:r>
            <a:endParaRPr sz="1150"/>
          </a:p>
        </p:txBody>
      </p:sp>
      <p:sp>
        <p:nvSpPr>
          <p:cNvPr id="9" name="Text 5">
            <a:extLst xmlns:a="http://schemas.openxmlformats.org/drawingml/2006/main">
              <a:ext uri="{FF2B5EF4-FFF2-40B4-BE49-F238E27FC236}">
                <a16:creationId xmlns:a16="http://schemas.microsoft.com/office/drawing/2014/main" id="{BECA52FE-1DF2-4F52-A264-C541FC099A6B}"/>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0" name="Text 6">
            <a:extLst xmlns:a="http://schemas.openxmlformats.org/drawingml/2006/main">
              <a:ext uri="{FF2B5EF4-FFF2-40B4-BE49-F238E27FC236}">
                <a16:creationId xmlns:a16="http://schemas.microsoft.com/office/drawing/2014/main" id="{9C8BF6AA-8156-4313-9052-58108161081C}"/>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Tree>
    <p:extLst>
      <p:ext uri="{BB962C8B-B14F-4D97-AF65-F5344CB8AC3E}">
        <p14:creationId xmlns:p14="http://schemas.microsoft.com/office/powerpoint/2010/main" val="2817438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574847-5A7A-49F4-B1B9-A33869B0D868}"/>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Tools · MLIP</a:t>
            </a:r>
            <a:endParaRPr sz="1100"/>
          </a:p>
        </p:txBody>
      </p:sp>
      <p:sp>
        <p:nvSpPr>
          <p:cNvPr id="3" name="Text 1">
            <a:extLst xmlns:a="http://schemas.openxmlformats.org/drawingml/2006/main">
              <a:ext uri="{FF2B5EF4-FFF2-40B4-BE49-F238E27FC236}">
                <a16:creationId xmlns:a16="http://schemas.microsoft.com/office/drawing/2014/main" id="{2C785C03-DA65-4998-8070-CC85464A520F}"/>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kb/results/mlip_md_diffusive_gate · UMA = universal MLIP (Meta)</a:t>
            </a:r>
            <a:endParaRPr sz="850"/>
          </a:p>
        </p:txBody>
      </p:sp>
      <p:sp>
        <p:nvSpPr>
          <p:cNvPr id="4" name="Text 2">
            <a:extLst xmlns:a="http://schemas.openxmlformats.org/drawingml/2006/main">
              <a:ext uri="{FF2B5EF4-FFF2-40B4-BE49-F238E27FC236}">
                <a16:creationId xmlns:a16="http://schemas.microsoft.com/office/drawing/2014/main" id="{127F977C-CC76-45E4-A738-8589D76F1E40}"/>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Machine-learned potentials: what they buy, what they cannot</a:t>
            </a:r>
            <a:endParaRPr sz="2000"/>
          </a:p>
        </p:txBody>
      </p:sp>
      <p:sp>
        <p:nvSpPr>
          <p:cNvPr id="5" name="Shape 3">
            <a:extLst xmlns:a="http://schemas.openxmlformats.org/drawingml/2006/main">
              <a:ext uri="{FF2B5EF4-FFF2-40B4-BE49-F238E27FC236}">
                <a16:creationId xmlns:a16="http://schemas.microsoft.com/office/drawing/2014/main" id="{F6B47479-0337-4FED-B193-8FF8A6D7A622}"/>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6" name="Text 4">
            <a:extLst xmlns:a="http://schemas.openxmlformats.org/drawingml/2006/main">
              <a:ext uri="{FF2B5EF4-FFF2-40B4-BE49-F238E27FC236}">
                <a16:creationId xmlns:a16="http://schemas.microsoft.com/office/drawing/2014/main" id="{A91FFB67-D6C1-46CB-818E-BC8BCD89EBC2}"/>
              </a:ext>
            </a:extLst>
          </p:cNvPr>
          <p:cNvSpPr>
            <a:spLocks xmlns:a="http://schemas.openxmlformats.org/drawingml/2006/main" noGrp="1"/>
          </p:cNvSpPr>
          <p:nvPr/>
        </p:nvSpPr>
        <p:spPr>
          <a:xfrm xmlns:a="http://schemas.openxmlformats.org/drawingml/2006/main">
            <a:off x="502920" y="1371600"/>
            <a:ext cx="4297680" cy="4206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50" b="1">
                <a:solidFill>
                  <a:srgbClr val="262626"/>
                </a:solidFill>
                <a:latin typeface="Arial"/>
                <a:ea typeface="Arial"/>
                <a:cs typeface="Arial"/>
              </a:rPr>
              <a:t>UMA (omat head): 200 ps MD, hundreds of atoms — impossible with DFT-MD</a:t>
            </a:r>
            <a:endParaRPr sz="1150"/>
          </a:p>
          <a:p xmlns:a="http://schemas.openxmlformats.org/drawingml/2006/main">
            <a:pPr marL="127000" indent="-127000">
              <a:spcAft>
                <a:spcPts val="200"/>
              </a:spcAft>
              <a:buSzPct val="100000"/>
              <a:buChar char="·"/>
            </a:pPr>
            <a:r>
              <a:rPr sz="1150" b="1">
                <a:solidFill>
                  <a:srgbClr val="262626"/>
                </a:solidFill>
                <a:latin typeface="Arial"/>
                <a:ea typeface="Arial"/>
                <a:cs typeface="Arial"/>
              </a:rPr>
              <a:t>Three failures measured in OUR systems:</a:t>
            </a:r>
            <a:endParaRPr sz="1150"/>
          </a:p>
          <a:p xmlns:a="http://schemas.openxmlformats.org/drawingml/2006/main">
            <a:pPr marL="254000" lvl="1" indent="-127000">
              <a:spcAft>
                <a:spcPts val="500"/>
              </a:spcAft>
              <a:buSzPct val="100000"/>
              <a:buChar char="–"/>
            </a:pPr>
            <a:r>
              <a:rPr sz="1150">
                <a:solidFill>
                  <a:srgbClr val="7F7F7F"/>
                </a:solidFill>
                <a:latin typeface="Arial"/>
                <a:ea typeface="Arial"/>
                <a:cs typeface="Arial"/>
              </a:rPr>
              <a:t>① no explicit charge states — bit us in SDCP (Part 6)</a:t>
            </a:r>
            <a:endParaRPr sz="1150"/>
          </a:p>
          <a:p xmlns:a="http://schemas.openxmlformats.org/drawingml/2006/main">
            <a:pPr marL="254000" lvl="1" indent="-127000">
              <a:spcAft>
                <a:spcPts val="500"/>
              </a:spcAft>
              <a:buSzPct val="100000"/>
              <a:buChar char="–"/>
            </a:pPr>
            <a:r>
              <a:rPr sz="1150">
                <a:solidFill>
                  <a:srgbClr val="7F7F7F"/>
                </a:solidFill>
                <a:latin typeface="Arial"/>
                <a:ea typeface="Arial"/>
                <a:cs typeface="Arial"/>
              </a:rPr>
              <a:t>② cannot select magnetic states — Ni oxides AFM/FM</a:t>
            </a:r>
            <a:endParaRPr sz="1150"/>
          </a:p>
          <a:p xmlns:a="http://schemas.openxmlformats.org/drawingml/2006/main">
            <a:pPr marL="254000" lvl="1" indent="-127000">
              <a:spcAft>
                <a:spcPts val="500"/>
              </a:spcAft>
              <a:buSzPct val="100000"/>
              <a:buChar char="–"/>
            </a:pPr>
            <a:r>
              <a:rPr sz="1150">
                <a:solidFill>
                  <a:srgbClr val="7F7F7F"/>
                </a:solidFill>
                <a:latin typeface="Arial"/>
                <a:ea typeface="Arial"/>
                <a:cs typeface="Arial"/>
              </a:rPr>
              <a:t>③ no dispersion in training — fatal for physisorption</a:t>
            </a:r>
            <a:endParaRPr sz="1150"/>
          </a:p>
          <a:p xmlns:a="http://schemas.openxmlformats.org/drawingml/2006/main">
            <a:pPr marL="127000" indent="-127000">
              <a:spcAft>
                <a:spcPts val="500"/>
              </a:spcAft>
              <a:buSzPct val="100000"/>
              <a:buChar char="·"/>
            </a:pPr>
            <a:r>
              <a:rPr sz="1150" b="1">
                <a:solidFill>
                  <a:srgbClr val="262626"/>
                </a:solidFill>
                <a:latin typeface="Arial"/>
                <a:ea typeface="Arial"/>
                <a:cs typeface="Arial"/>
              </a:rPr>
              <a:t>Banned on Li₃N (deterministic bias, 2026-06); validated standard on LPSCl family</a:t>
            </a:r>
            <a:endParaRPr sz="1150"/>
          </a:p>
          <a:p xmlns:a="http://schemas.openxmlformats.org/drawingml/2006/main">
            <a:pPr marL="127000" indent="-127000">
              <a:spcAft>
                <a:spcPts val="500"/>
              </a:spcAft>
              <a:buSzPct val="100000"/>
              <a:buChar char="·"/>
            </a:pPr>
            <a:r>
              <a:rPr sz="1150" b="1">
                <a:solidFill>
                  <a:srgbClr val="1F4E79"/>
                </a:solidFill>
                <a:latin typeface="Arial"/>
                <a:ea typeface="Arial"/>
                <a:cs typeface="Arial"/>
              </a:rPr>
              <a:t>⇒ MLIP = screening-stage surrogate; champions go back to DFT</a:t>
            </a:r>
            <a:endParaRPr sz="115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770011339e9449c4"/>
          <a:srcRect xmlns:a="http://schemas.openxmlformats.org/drawingml/2006/main" l="0" t="0" r="0" b="0"/>
          <a:stretch xmlns:a="http://schemas.openxmlformats.org/drawingml/2006/main"/>
        </p:blipFill>
        <p:spPr>
          <a:xfrm xmlns:a="http://schemas.openxmlformats.org/drawingml/2006/main">
            <a:off x="4937760" y="1463040"/>
            <a:ext cx="3749040" cy="2743200"/>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44ED1321-8AC5-4E26-87FA-87719534F2F9}"/>
              </a:ext>
            </a:extLst>
          </p:cNvPr>
          <p:cNvSpPr>
            <a:spLocks xmlns:a="http://schemas.openxmlformats.org/drawingml/2006/main" noGrp="1"/>
          </p:cNvSpPr>
          <p:nvPr/>
        </p:nvSpPr>
        <p:spPr>
          <a:xfrm xmlns:a="http://schemas.openxmlformats.org/drawingml/2006/main">
            <a:off x="4937760" y="4224528"/>
            <a:ext cx="3749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MLIP-MD Li MSD, LPSCl vs LPSCl₁.₆ (multi-T; 100 ps window shown)</a:t>
            </a:r>
            <a:endParaRPr sz="850"/>
          </a:p>
        </p:txBody>
      </p:sp>
      <p:sp>
        <p:nvSpPr>
          <p:cNvPr id="10" name="Text 6">
            <a:extLst xmlns:a="http://schemas.openxmlformats.org/drawingml/2006/main">
              <a:ext uri="{FF2B5EF4-FFF2-40B4-BE49-F238E27FC236}">
                <a16:creationId xmlns:a16="http://schemas.microsoft.com/office/drawing/2014/main" id="{68632C91-E382-4663-ADE6-17FC4FADA8C9}"/>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1" name="Text 7">
            <a:extLst xmlns:a="http://schemas.openxmlformats.org/drawingml/2006/main">
              <a:ext uri="{FF2B5EF4-FFF2-40B4-BE49-F238E27FC236}">
                <a16:creationId xmlns:a16="http://schemas.microsoft.com/office/drawing/2014/main" id="{7B57457B-F498-4A36-BD32-A3D0FD8A5627}"/>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Tree>
    <p:extLst>
      <p:ext uri="{BB962C8B-B14F-4D97-AF65-F5344CB8AC3E}">
        <p14:creationId xmlns:p14="http://schemas.microsoft.com/office/powerpoint/2010/main" val="10739674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A26BDB-3C41-4B1F-9B7F-6DFA36545161}"/>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Origin</a:t>
            </a:r>
            <a:endParaRPr sz="1100"/>
          </a:p>
        </p:txBody>
      </p:sp>
      <p:sp>
        <p:nvSpPr>
          <p:cNvPr id="3" name="Text 1">
            <a:extLst xmlns:a="http://schemas.openxmlformats.org/drawingml/2006/main">
              <a:ext uri="{FF2B5EF4-FFF2-40B4-BE49-F238E27FC236}">
                <a16:creationId xmlns:a16="http://schemas.microsoft.com/office/drawing/2014/main" id="{533C0819-B97D-4733-A5BB-E55106CBF6E8}"/>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gap = fixed-occ eigenvalues · ICOHP: negative = bonding</a:t>
            </a:r>
            <a:endParaRPr sz="850"/>
          </a:p>
        </p:txBody>
      </p:sp>
      <p:sp>
        <p:nvSpPr>
          <p:cNvPr id="4" name="Text 2">
            <a:extLst xmlns:a="http://schemas.openxmlformats.org/drawingml/2006/main">
              <a:ext uri="{FF2B5EF4-FFF2-40B4-BE49-F238E27FC236}">
                <a16:creationId xmlns:a16="http://schemas.microsoft.com/office/drawing/2014/main" id="{4532970A-87C7-4D9C-BBBA-A9730A2EE735}"/>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The electronic structure barely moves</a:t>
            </a:r>
            <a:endParaRPr sz="2000"/>
          </a:p>
        </p:txBody>
      </p:sp>
      <p:sp>
        <p:nvSpPr>
          <p:cNvPr id="5" name="Shape 3">
            <a:extLst xmlns:a="http://schemas.openxmlformats.org/drawingml/2006/main">
              <a:ext uri="{FF2B5EF4-FFF2-40B4-BE49-F238E27FC236}">
                <a16:creationId xmlns:a16="http://schemas.microsoft.com/office/drawing/2014/main" id="{5F010692-E9D9-4425-8DCC-938A7B707CB9}"/>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c08007e4fa52407e"/>
          <a:srcRect xmlns:a="http://schemas.openxmlformats.org/drawingml/2006/main" l="0" t="0" r="0" b="0"/>
          <a:stretch xmlns:a="http://schemas.openxmlformats.org/drawingml/2006/main"/>
        </p:blipFill>
        <p:spPr>
          <a:xfrm xmlns:a="http://schemas.openxmlformats.org/drawingml/2006/main">
            <a:off x="502920" y="1463040"/>
            <a:ext cx="3931920" cy="260604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DFBABF4-6202-4140-AF80-58EE0A9DB547}"/>
              </a:ext>
            </a:extLst>
          </p:cNvPr>
          <p:cNvSpPr>
            <a:spLocks xmlns:a="http://schemas.openxmlformats.org/drawingml/2006/main" noGrp="1"/>
          </p:cNvSpPr>
          <p:nvPr/>
        </p:nvSpPr>
        <p:spPr>
          <a:xfrm xmlns:a="http://schemas.openxmlformats.org/drawingml/2006/main">
            <a:off x="502920" y="4087368"/>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ELF, Li₆PS₅Cl</a:t>
            </a:r>
            <a:endParaRPr sz="850"/>
          </a:p>
        </p:txBody>
      </p:sp>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027e627358f64975"/>
          <a:srcRect xmlns:a="http://schemas.openxmlformats.org/drawingml/2006/main" l="0" t="0" r="0" b="0"/>
          <a:stretch xmlns:a="http://schemas.openxmlformats.org/drawingml/2006/main"/>
        </p:blipFill>
        <p:spPr>
          <a:xfrm xmlns:a="http://schemas.openxmlformats.org/drawingml/2006/main">
            <a:off x="4709160" y="1463040"/>
            <a:ext cx="3931920" cy="2606040"/>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C7C0E123-C4C0-4F70-8734-F386C27DFD1D}"/>
              </a:ext>
            </a:extLst>
          </p:cNvPr>
          <p:cNvSpPr>
            <a:spLocks xmlns:a="http://schemas.openxmlformats.org/drawingml/2006/main" noGrp="1"/>
          </p:cNvSpPr>
          <p:nvPr/>
        </p:nvSpPr>
        <p:spPr>
          <a:xfrm xmlns:a="http://schemas.openxmlformats.org/drawingml/2006/main">
            <a:off x="4709160" y="4087368"/>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ELF, Li₅.₄PS₄.₄Cl₁.₆ — near-identical topology</a:t>
            </a:r>
            <a:endParaRPr sz="850"/>
          </a:p>
        </p:txBody>
      </p:sp>
      <p:graphicFrame>
        <p:nvGraphicFramePr>
          <p:cNvPr id="26" name="Table 0"/>
          <p:cNvGraphicFramePr/>
          <p:nvPr/>
        </p:nvGraphicFramePr>
        <p:xfrm>
          <a:off xmlns:a="http://schemas.openxmlformats.org/drawingml/2006/main" x="1554480" y="4434840"/>
          <a:ext xmlns:a="http://schemas.openxmlformats.org/drawingml/2006/main" cx="6035040" cy="914400"/>
        </p:xfrm>
        <a:graphic xmlns:a="http://schemas.openxmlformats.org/drawingml/2006/main">
          <a:graphicData uri="http://schemas.openxmlformats.org/drawingml/2006/table">
            <a:tbl>
              <a:tblPr/>
              <a:tblGrid>
                <a:gridCol w="1508760"/>
                <a:gridCol w="1508760"/>
                <a:gridCol w="1508760"/>
                <a:gridCol w="1508760"/>
              </a:tblGrid>
              <a:tr h="274320">
                <a:tc>
                  <a:txBody>
                    <a:bodyPr/>
                    <a:lstStyle/>
                    <a:p>
                      <a:pPr marL="0" indent="0">
                        <a:buNone/>
                      </a:pP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Li₆PS₅Cl</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Li₅.₄PS₄.₄Cl₁.₆</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Δ</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274320">
                <a:tc>
                  <a:txBody>
                    <a:bodyPr/>
                    <a:lstStyle/>
                    <a:p>
                      <a:pPr marL="0" indent="0">
                        <a:buNone/>
                      </a:pPr>
                      <a:r>
                        <a:rPr sz="1050">
                          <a:solidFill>
                            <a:srgbClr val="262626"/>
                          </a:solidFill>
                          <a:latin typeface="Arial"/>
                          <a:ea typeface="Arial"/>
                          <a:cs typeface="Arial"/>
                        </a:rPr>
                        <a:t>gap (eV)</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2.066</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2.099</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b="1">
                          <a:solidFill>
                            <a:srgbClr val="9E2A2B"/>
                          </a:solidFill>
                          <a:latin typeface="Arial"/>
                          <a:ea typeface="Arial"/>
                          <a:cs typeface="Arial"/>
                        </a:rPr>
                        <a:t>0.033</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274320">
                <a:tc>
                  <a:txBody>
                    <a:bodyPr/>
                    <a:lstStyle/>
                    <a:p>
                      <a:pPr marL="0" indent="0">
                        <a:buNone/>
                      </a:pPr>
                      <a:r>
                        <a:rPr sz="1050">
                          <a:solidFill>
                            <a:srgbClr val="262626"/>
                          </a:solidFill>
                          <a:latin typeface="Arial"/>
                          <a:ea typeface="Arial"/>
                          <a:cs typeface="Arial"/>
                        </a:rPr>
                        <a:t>ICOHP PS₄ (eV/bond)</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−5.938</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−6.000</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11" name="Text 6">
            <a:extLst xmlns:a="http://schemas.openxmlformats.org/drawingml/2006/main">
              <a:ext uri="{FF2B5EF4-FFF2-40B4-BE49-F238E27FC236}">
                <a16:creationId xmlns:a16="http://schemas.microsoft.com/office/drawing/2014/main" id="{22BEEC57-B76A-41B3-9ADB-2D01A241FEED}"/>
              </a:ext>
            </a:extLst>
          </p:cNvPr>
          <p:cNvSpPr>
            <a:spLocks xmlns:a="http://schemas.openxmlformats.org/drawingml/2006/main" noGrp="1"/>
          </p:cNvSpPr>
          <p:nvPr/>
        </p:nvSpPr>
        <p:spPr>
          <a:xfrm xmlns:a="http://schemas.openxmlformats.org/drawingml/2006/main">
            <a:off x="502920" y="5394960"/>
            <a:ext cx="8138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938" b="1">
                <a:solidFill>
                  <a:srgbClr val="1F4E79"/>
                </a:solidFill>
                <a:latin typeface="Arial"/>
                <a:ea typeface="Arial"/>
                <a:cs typeface="Arial"/>
              </a:rPr>
              <a:t>PBE values are shown for traceability; only same-protocol differences are interpreted — and the smallness is the result</a:t>
            </a:r>
            <a:endParaRPr sz="1150"/>
          </a:p>
        </p:txBody>
      </p:sp>
      <p:sp>
        <p:nvSpPr>
          <p:cNvPr id="13" name="Text 7">
            <a:extLst xmlns:a="http://schemas.openxmlformats.org/drawingml/2006/main">
              <a:ext uri="{FF2B5EF4-FFF2-40B4-BE49-F238E27FC236}">
                <a16:creationId xmlns:a16="http://schemas.microsoft.com/office/drawing/2014/main" id="{8B6F0933-BE88-4831-92B6-9F7F651492BA}"/>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4" name="Text 8">
            <a:extLst xmlns:a="http://schemas.openxmlformats.org/drawingml/2006/main">
              <a:ext uri="{FF2B5EF4-FFF2-40B4-BE49-F238E27FC236}">
                <a16:creationId xmlns:a16="http://schemas.microsoft.com/office/drawing/2014/main" id="{19125413-9AE3-47CE-8967-ED5DA24ECC10}"/>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spTree>
    <p:extLst>
      <p:ext uri="{BB962C8B-B14F-4D97-AF65-F5344CB8AC3E}">
        <p14:creationId xmlns:p14="http://schemas.microsoft.com/office/powerpoint/2010/main" val="329500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0C085E-61AD-4338-93C1-8EA6AAD35BAF}"/>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Origin</a:t>
            </a:r>
            <a:endParaRPr sz="1100"/>
          </a:p>
        </p:txBody>
      </p:sp>
      <p:sp>
        <p:nvSpPr>
          <p:cNvPr id="3" name="Text 1">
            <a:extLst xmlns:a="http://schemas.openxmlformats.org/drawingml/2006/main">
              <a:ext uri="{FF2B5EF4-FFF2-40B4-BE49-F238E27FC236}">
                <a16:creationId xmlns:a16="http://schemas.microsoft.com/office/drawing/2014/main" id="{0661C703-E573-4FE3-A285-2AEC2A738D30}"/>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Structural contrast motivates the screening axes</a:t>
            </a:r>
            <a:endParaRPr sz="2000"/>
          </a:p>
        </p:txBody>
      </p:sp>
      <p:sp>
        <p:nvSpPr>
          <p:cNvPr id="4" name="Shape 2">
            <a:extLst xmlns:a="http://schemas.openxmlformats.org/drawingml/2006/main">
              <a:ext uri="{FF2B5EF4-FFF2-40B4-BE49-F238E27FC236}">
                <a16:creationId xmlns:a16="http://schemas.microsoft.com/office/drawing/2014/main" id="{BD955157-5B95-42F0-9EFF-59153E476F97}"/>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5dbc18aa0a7c4335"/>
          <a:srcRect xmlns:a="http://schemas.openxmlformats.org/drawingml/2006/main" l="0" t="0" r="0" b="0"/>
          <a:stretch xmlns:a="http://schemas.openxmlformats.org/drawingml/2006/main"/>
        </p:blipFill>
        <p:spPr>
          <a:xfrm xmlns:a="http://schemas.openxmlformats.org/drawingml/2006/main">
            <a:off x="502920" y="1371600"/>
            <a:ext cx="4572000" cy="420624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64DB4E0B-77B2-4BD3-8834-03A1B60D0C76}"/>
              </a:ext>
            </a:extLst>
          </p:cNvPr>
          <p:cNvSpPr>
            <a:spLocks xmlns:a="http://schemas.openxmlformats.org/drawingml/2006/main" noGrp="1"/>
          </p:cNvSpPr>
          <p:nvPr/>
        </p:nvSpPr>
        <p:spPr>
          <a:xfrm xmlns:a="http://schemas.openxmlformats.org/drawingml/2006/main">
            <a:off x="502920" y="559612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Empty-lattice BVSE geometry only — not Eₐ, D, or conductivity</a:t>
            </a:r>
            <a:endParaRPr sz="850"/>
          </a:p>
        </p:txBody>
      </p:sp>
      <p:sp>
        <p:nvSpPr>
          <p:cNvPr id="7" name="Text 4">
            <a:extLst xmlns:a="http://schemas.openxmlformats.org/drawingml/2006/main">
              <a:ext uri="{FF2B5EF4-FFF2-40B4-BE49-F238E27FC236}">
                <a16:creationId xmlns:a16="http://schemas.microsoft.com/office/drawing/2014/main" id="{339D66F3-EBA0-4ABD-AD67-B2A21A61CA9E}"/>
              </a:ext>
            </a:extLst>
          </p:cNvPr>
          <p:cNvSpPr>
            <a:spLocks xmlns:a="http://schemas.openxmlformats.org/drawingml/2006/main" noGrp="1"/>
          </p:cNvSpPr>
          <p:nvPr/>
        </p:nvSpPr>
        <p:spPr>
          <a:xfrm xmlns:a="http://schemas.openxmlformats.org/drawingml/2006/main">
            <a:off x="5349240" y="1463040"/>
            <a:ext cx="33375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40" b="1">
                <a:solidFill>
                  <a:srgbClr val="262626"/>
                </a:solidFill>
                <a:latin typeface="Arial"/>
                <a:ea typeface="Arial"/>
                <a:cs typeface="Arial"/>
              </a:rPr>
              <a:t>More Cl is accompanied by Li vacancies and 4d-Cl antisites</a:t>
            </a:r>
            <a:endParaRPr sz="1150"/>
          </a:p>
          <a:p xmlns:a="http://schemas.openxmlformats.org/drawingml/2006/main">
            <a:pPr marL="254000" lvl="1" indent="-127000">
              <a:spcAft>
                <a:spcPts val="500"/>
              </a:spcAft>
              <a:buSzPct val="100000"/>
              <a:buChar char="–"/>
            </a:pPr>
            <a:r>
              <a:rPr sz="1140">
                <a:solidFill>
                  <a:srgbClr val="7F7F7F"/>
                </a:solidFill>
                <a:latin typeface="Arial"/>
                <a:ea typeface="Arial"/>
                <a:cs typeface="Arial"/>
              </a:rPr>
              <a:t>The static BVSE channel shrinks (~15%), while MLIP-MD shows higher Li motion</a:t>
            </a:r>
            <a:endParaRPr sz="1150"/>
          </a:p>
          <a:p xmlns:a="http://schemas.openxmlformats.org/drawingml/2006/main">
            <a:pPr marL="127000" indent="-127000">
              <a:spcAft>
                <a:spcPts val="500"/>
              </a:spcAft>
              <a:buSzPct val="100000"/>
              <a:buChar char="·"/>
            </a:pPr>
            <a:r>
              <a:rPr sz="1140" b="1">
                <a:solidFill>
                  <a:srgbClr val="1F4E79"/>
                </a:solidFill>
                <a:latin typeface="Arial"/>
                <a:ea typeface="Arial"/>
                <a:cs typeface="Arial"/>
              </a:rPr>
              <a:t>This contrast suggests disorder-sensitive descriptors; it does not isolate causality because composition and defect populations change together</a:t>
            </a:r>
            <a:endParaRPr sz="1150"/>
          </a:p>
          <a:p xmlns:a="http://schemas.openxmlformats.org/drawingml/2006/main">
            <a:pPr marL="127000" indent="-127000">
              <a:spcAft>
                <a:spcPts val="200"/>
              </a:spcAft>
              <a:buSzPct val="100000"/>
              <a:buChar char="·"/>
            </a:pPr>
            <a:r>
              <a:rPr sz="1140" b="1">
                <a:solidFill>
                  <a:srgbClr val="262626"/>
                </a:solidFill>
                <a:latin typeface="Arial"/>
                <a:ea typeface="Arial"/>
                <a:cs typeface="Arial"/>
              </a:rPr>
              <a:t>⇒ screen transport retention · disorder response · label robustness · structural stability</a:t>
            </a:r>
            <a:endParaRPr sz="1150"/>
          </a:p>
          <a:p xmlns:a="http://schemas.openxmlformats.org/drawingml/2006/main">
            <a:pPr marL="254000" lvl="1" indent="-127000">
              <a:spcAft>
                <a:spcPts val="500"/>
              </a:spcAft>
              <a:buSzPct val="100000"/>
              <a:buChar char="–"/>
            </a:pPr>
            <a:r>
              <a:rPr sz="1140">
                <a:solidFill>
                  <a:srgbClr val="7F7F7F"/>
                </a:solidFill>
                <a:latin typeface="Arial"/>
                <a:ea typeface="Arial"/>
                <a:cs typeface="Arial"/>
              </a:rPr>
              <a:t>Electronic quantities remain guardrails, not the ranking target</a:t>
            </a:r>
            <a:endParaRPr sz="1150"/>
          </a:p>
        </p:txBody>
      </p:sp>
      <p:sp>
        <p:nvSpPr>
          <p:cNvPr id="9" name="Text 5">
            <a:extLst xmlns:a="http://schemas.openxmlformats.org/drawingml/2006/main">
              <a:ext uri="{FF2B5EF4-FFF2-40B4-BE49-F238E27FC236}">
                <a16:creationId xmlns:a16="http://schemas.microsoft.com/office/drawing/2014/main" id="{DD19FFDB-4596-4774-90EB-FA3035C973C2}"/>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0" name="Text 6">
            <a:extLst xmlns:a="http://schemas.openxmlformats.org/drawingml/2006/main">
              <a:ext uri="{FF2B5EF4-FFF2-40B4-BE49-F238E27FC236}">
                <a16:creationId xmlns:a16="http://schemas.microsoft.com/office/drawing/2014/main" id="{E935C649-E847-4A98-BDDD-8349DAB25D3D}"/>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spTree>
    <p:extLst>
      <p:ext uri="{BB962C8B-B14F-4D97-AF65-F5344CB8AC3E}">
        <p14:creationId xmlns:p14="http://schemas.microsoft.com/office/powerpoint/2010/main" val="13894364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6127E2-204E-4BF6-AAF4-0018BB6680EF}"/>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Screen · the field</a:t>
            </a:r>
            <a:endParaRPr sz="1100"/>
          </a:p>
        </p:txBody>
      </p:sp>
      <p:sp>
        <p:nvSpPr>
          <p:cNvPr id="3" name="Text 1">
            <a:extLst xmlns:a="http://schemas.openxmlformats.org/drawingml/2006/main">
              <a:ext uri="{FF2B5EF4-FFF2-40B4-BE49-F238E27FC236}">
                <a16:creationId xmlns:a16="http://schemas.microsoft.com/office/drawing/2014/main" id="{94A8E0F6-FBDA-43E9-8278-FBFC797BFB77}"/>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Sendek et al., EES 2017, 10, 306</a:t>
            </a:r>
            <a:endParaRPr sz="850"/>
          </a:p>
        </p:txBody>
      </p:sp>
      <p:sp>
        <p:nvSpPr>
          <p:cNvPr id="4" name="Text 2">
            <a:extLst xmlns:a="http://schemas.openxmlformats.org/drawingml/2006/main">
              <a:ext uri="{FF2B5EF4-FFF2-40B4-BE49-F238E27FC236}">
                <a16:creationId xmlns:a16="http://schemas.microsoft.com/office/drawing/2014/main" id="{02507036-F0C8-4040-B434-E9D57B8B9B73}"/>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How the field screens ①: 12,831 → 21</a:t>
            </a:r>
            <a:endParaRPr sz="2000"/>
          </a:p>
        </p:txBody>
      </p:sp>
      <p:sp>
        <p:nvSpPr>
          <p:cNvPr id="5" name="Shape 3">
            <a:extLst xmlns:a="http://schemas.openxmlformats.org/drawingml/2006/main">
              <a:ext uri="{FF2B5EF4-FFF2-40B4-BE49-F238E27FC236}">
                <a16:creationId xmlns:a16="http://schemas.microsoft.com/office/drawing/2014/main" id="{09FC2BEA-4288-4ED7-83B5-FECCEB7DF565}"/>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99247757dc904c23"/>
          <a:srcRect xmlns:a="http://schemas.openxmlformats.org/drawingml/2006/main" l="0" t="0" r="0" b="0"/>
          <a:stretch xmlns:a="http://schemas.openxmlformats.org/drawingml/2006/main"/>
        </p:blipFill>
        <p:spPr>
          <a:xfrm xmlns:a="http://schemas.openxmlformats.org/drawingml/2006/main">
            <a:off x="502920" y="1371600"/>
            <a:ext cx="8138160" cy="301752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0CE7F06-E6EC-40F3-91FB-A5069A814C4B}"/>
              </a:ext>
            </a:extLst>
          </p:cNvPr>
          <p:cNvSpPr>
            <a:spLocks xmlns:a="http://schemas.openxmlformats.org/drawingml/2006/main" noGrp="1"/>
          </p:cNvSpPr>
          <p:nvPr/>
        </p:nvSpPr>
        <p:spPr>
          <a:xfrm xmlns:a="http://schemas.openxmlformats.org/drawingml/2006/main">
            <a:off x="502920" y="4407408"/>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Two tracks: structure screening (12,831 candidates) + model building on 40 measured conductors (Sendek 2017)</a:t>
            </a:r>
            <a:endParaRPr sz="850"/>
          </a:p>
        </p:txBody>
      </p:sp>
      <p:sp>
        <p:nvSpPr>
          <p:cNvPr id="8" name="Text 5">
            <a:extLst xmlns:a="http://schemas.openxmlformats.org/drawingml/2006/main">
              <a:ext uri="{FF2B5EF4-FFF2-40B4-BE49-F238E27FC236}">
                <a16:creationId xmlns:a16="http://schemas.microsoft.com/office/drawing/2014/main" id="{9B56FBEF-B3AA-4A3F-A2E4-C972A6833B5B}"/>
              </a:ext>
            </a:extLst>
          </p:cNvPr>
          <p:cNvSpPr>
            <a:spLocks xmlns:a="http://schemas.openxmlformats.org/drawingml/2006/main" noGrp="1"/>
          </p:cNvSpPr>
          <p:nvPr/>
        </p:nvSpPr>
        <p:spPr>
          <a:xfrm xmlns:a="http://schemas.openxmlformats.org/drawingml/2006/main">
            <a:off x="502920" y="4617720"/>
            <a:ext cx="81381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080" b="1">
                <a:solidFill>
                  <a:srgbClr val="262626"/>
                </a:solidFill>
                <a:latin typeface="Arial"/>
                <a:ea typeface="Arial"/>
                <a:cs typeface="Arial"/>
              </a:rPr>
              <a:t>4 prerequisite gates (Eₕᵤₗₗ = 0 · gap ≥ 1 eV · Vₒₓ ≥ 4 V · no TM) → 317; classifier trained on 40 measured σ → 21 (0.16%)</a:t>
            </a:r>
            <a:endParaRPr sz="1100"/>
          </a:p>
          <a:p xmlns:a="http://schemas.openxmlformats.org/drawingml/2006/main">
            <a:pPr marL="127000" indent="-127000">
              <a:spcAft>
                <a:spcPts val="500"/>
              </a:spcAft>
              <a:buSzPct val="100000"/>
              <a:buChar char="·"/>
            </a:pPr>
            <a:r>
              <a:rPr sz="1080" b="1">
                <a:solidFill>
                  <a:srgbClr val="1F4E79"/>
                </a:solidFill>
                <a:latin typeface="Arial"/>
                <a:ea typeface="Arial"/>
                <a:cs typeface="Arial"/>
              </a:rPr>
              <a:t>Their lesson: cheap validity gates cut harder than the conductivity model (model alone leaves 1,408)</a:t>
            </a:r>
            <a:endParaRPr sz="1100"/>
          </a:p>
          <a:p xmlns:a="http://schemas.openxmlformats.org/drawingml/2006/main">
            <a:pPr marL="127000" indent="-127000">
              <a:spcAft>
                <a:spcPts val="500"/>
              </a:spcAft>
              <a:buSzPct val="100000"/>
              <a:buChar char="·"/>
            </a:pPr>
            <a:r>
              <a:rPr sz="1080" b="1">
                <a:solidFill>
                  <a:srgbClr val="9E2A2B"/>
                </a:solidFill>
                <a:latin typeface="Arial"/>
                <a:ea typeface="Arial"/>
                <a:cs typeface="Arial"/>
              </a:rPr>
              <a:t>Small-sample lesson, not dataset equivalence: our 47 in-host candidates require grouped CV and prospective labels</a:t>
            </a:r>
            <a:endParaRPr sz="1100"/>
          </a:p>
        </p:txBody>
      </p:sp>
      <p:sp>
        <p:nvSpPr>
          <p:cNvPr id="10" name="Text 6">
            <a:extLst xmlns:a="http://schemas.openxmlformats.org/drawingml/2006/main">
              <a:ext uri="{FF2B5EF4-FFF2-40B4-BE49-F238E27FC236}">
                <a16:creationId xmlns:a16="http://schemas.microsoft.com/office/drawing/2014/main" id="{5C962A20-565C-4BFD-B5BB-EE9210768AF3}"/>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1" name="Text 7">
            <a:extLst xmlns:a="http://schemas.openxmlformats.org/drawingml/2006/main">
              <a:ext uri="{FF2B5EF4-FFF2-40B4-BE49-F238E27FC236}">
                <a16:creationId xmlns:a16="http://schemas.microsoft.com/office/drawing/2014/main" id="{EE17D0CB-36D7-4BA9-9859-95BDE567AD24}"/>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Tree>
    <p:extLst>
      <p:ext uri="{BB962C8B-B14F-4D97-AF65-F5344CB8AC3E}">
        <p14:creationId xmlns:p14="http://schemas.microsoft.com/office/powerpoint/2010/main" val="210540759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8AF73D-9F8C-4B83-8A36-82AEA65C08DF}"/>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Screen · ours</a:t>
            </a:r>
            <a:endParaRPr sz="1100"/>
          </a:p>
        </p:txBody>
      </p:sp>
      <p:sp>
        <p:nvSpPr>
          <p:cNvPr id="3" name="Text 1">
            <a:extLst xmlns:a="http://schemas.openxmlformats.org/drawingml/2006/main">
              <a:ext uri="{FF2B5EF4-FFF2-40B4-BE49-F238E27FC236}">
                <a16:creationId xmlns:a16="http://schemas.microsoft.com/office/drawing/2014/main" id="{25854805-6B04-4F05-AE0D-5AAD530ABFB2}"/>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G4 lineage: Kahle et al. 2020 (HT-AIMD)</a:t>
            </a:r>
            <a:endParaRPr sz="850"/>
          </a:p>
        </p:txBody>
      </p:sp>
      <p:sp>
        <p:nvSpPr>
          <p:cNvPr id="4" name="Text 2">
            <a:extLst xmlns:a="http://schemas.openxmlformats.org/drawingml/2006/main">
              <a:ext uri="{FF2B5EF4-FFF2-40B4-BE49-F238E27FC236}">
                <a16:creationId xmlns:a16="http://schemas.microsoft.com/office/drawing/2014/main" id="{674C6566-C3AF-410E-BB05-47FBD6068769}"/>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Five gates: metric, threshold, and why</a:t>
            </a:r>
            <a:endParaRPr sz="2000"/>
          </a:p>
        </p:txBody>
      </p:sp>
      <p:sp>
        <p:nvSpPr>
          <p:cNvPr id="5" name="Shape 3">
            <a:extLst xmlns:a="http://schemas.openxmlformats.org/drawingml/2006/main">
              <a:ext uri="{FF2B5EF4-FFF2-40B4-BE49-F238E27FC236}">
                <a16:creationId xmlns:a16="http://schemas.microsoft.com/office/drawing/2014/main" id="{BCFCD108-72E0-48E7-BF29-C8F01A049472}"/>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6"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1097280"/>
                <a:gridCol w="2148840"/>
                <a:gridCol w="1965960"/>
                <a:gridCol w="1828800"/>
                <a:gridCol w="1097280"/>
              </a:tblGrid>
              <a:tr h="512064">
                <a:tc>
                  <a:txBody>
                    <a:bodyPr/>
                    <a:lstStyle/>
                    <a:p>
                      <a:pPr marL="0" indent="0">
                        <a:buNone/>
                      </a:pPr>
                      <a:r>
                        <a:rPr sz="900" b="1">
                          <a:solidFill>
                            <a:srgbClr val="FFFFFF"/>
                          </a:solidFill>
                          <a:latin typeface="Arial"/>
                          <a:ea typeface="Arial"/>
                          <a:cs typeface="Arial"/>
                        </a:rPr>
                        <a:t>Gate</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00" b="1">
                          <a:solidFill>
                            <a:srgbClr val="FFFFFF"/>
                          </a:solidFill>
                          <a:latin typeface="Arial"/>
                          <a:ea typeface="Arial"/>
                          <a:cs typeface="Arial"/>
                        </a:rPr>
                        <a:t>Metric</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00" b="1">
                          <a:solidFill>
                            <a:srgbClr val="FFFFFF"/>
                          </a:solidFill>
                          <a:latin typeface="Arial"/>
                          <a:ea typeface="Arial"/>
                          <a:cs typeface="Arial"/>
                        </a:rPr>
                        <a:t>Threshold</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00" b="1">
                          <a:solidFill>
                            <a:srgbClr val="FFFFFF"/>
                          </a:solidFill>
                          <a:latin typeface="Arial"/>
                          <a:ea typeface="Arial"/>
                          <a:cs typeface="Arial"/>
                        </a:rPr>
                        <a:t>Physical basis</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00" b="1">
                          <a:solidFill>
                            <a:srgbClr val="FFFFFF"/>
                          </a:solidFill>
                          <a:latin typeface="Arial"/>
                          <a:ea typeface="Arial"/>
                          <a:cs typeface="Arial"/>
                        </a:rPr>
                        <a:t>Lit. analog</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512064">
                <a:tc>
                  <a:txBody>
                    <a:bodyPr/>
                    <a:lstStyle/>
                    <a:p>
                      <a:pPr marL="0" indent="0">
                        <a:buNone/>
                      </a:pPr>
                      <a:r>
                        <a:rPr sz="900">
                          <a:solidFill>
                            <a:srgbClr val="262626"/>
                          </a:solidFill>
                          <a:latin typeface="Arial"/>
                          <a:ea typeface="Arial"/>
                          <a:cs typeface="Arial"/>
                        </a:rPr>
                        <a:t>G1 structural</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mean ΔE over 3 campaign-label champions, UMA</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mean ΔE &lt; 0</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relative favorability vs host; 47/47 pass → vacuous here</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Xiao F2 · Sendek P1</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12064">
                <a:tc>
                  <a:txBody>
                    <a:bodyPr/>
                    <a:lstStyle/>
                    <a:p>
                      <a:pPr marL="0" indent="0">
                        <a:buNone/>
                      </a:pPr>
                      <a:r>
                        <a:rPr sz="900">
                          <a:solidFill>
                            <a:srgbClr val="262626"/>
                          </a:solidFill>
                          <a:latin typeface="Arial"/>
                          <a:ea typeface="Arial"/>
                          <a:cs typeface="Arial"/>
                        </a:rPr>
                        <a:t>G2 window</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grand-potential ESW width</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window ≥ 0.05 V</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a window must exist at all</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Zhu 2015 · Xiao F3</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12064">
                <a:tc>
                  <a:txBody>
                    <a:bodyPr/>
                    <a:lstStyle/>
                    <a:p>
                      <a:pPr marL="0" indent="0">
                        <a:buNone/>
                      </a:pPr>
                      <a:r>
                        <a:rPr sz="900">
                          <a:solidFill>
                            <a:srgbClr val="262626"/>
                          </a:solidFill>
                          <a:latin typeface="Arial"/>
                          <a:ea typeface="Arial"/>
                          <a:cs typeface="Arial"/>
                        </a:rPr>
                        <a:t>G3 oxidation</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oxidation onset (V vs Li)</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V_ox ≥ 2.14 V  (= undoped host onset)</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must not be worse than the host</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Richards windows</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12064">
                <a:tc>
                  <a:txBody>
                    <a:bodyPr/>
                    <a:lstStyle/>
                    <a:p>
                      <a:pPr marL="0" indent="0">
                        <a:buNone/>
                      </a:pPr>
                      <a:r>
                        <a:rPr sz="900">
                          <a:solidFill>
                            <a:srgbClr val="262626"/>
                          </a:solidFill>
                          <a:latin typeface="Arial"/>
                          <a:ea typeface="Arial"/>
                          <a:cs typeface="Arial"/>
                        </a:rPr>
                        <a:t>G4 transport</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static BVSE proxy (x005 label)</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norm &gt; 0.3 AND blocking &lt; 0.6*</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heuristic pathway screen; not conductivity</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Kahle HT-AIMD</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12064">
                <a:tc>
                  <a:txBody>
                    <a:bodyPr/>
                    <a:lstStyle/>
                    <a:p>
                      <a:pPr marL="0" indent="0">
                        <a:buNone/>
                      </a:pPr>
                      <a:r>
                        <a:rPr sz="900">
                          <a:solidFill>
                            <a:srgbClr val="262626"/>
                          </a:solidFill>
                          <a:latin typeface="Arial"/>
                          <a:ea typeface="Arial"/>
                          <a:cs typeface="Arial"/>
                        </a:rPr>
                        <a:t>G5 mechanical</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E (UMA) and G/B</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E ≤ 46.9 GPa AND G/B ≤ 0.78  (roster medians)</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roster-relative ranking only</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4">
            <a:extLst xmlns:a="http://schemas.openxmlformats.org/drawingml/2006/main">
              <a:ext uri="{FF2B5EF4-FFF2-40B4-BE49-F238E27FC236}">
                <a16:creationId xmlns:a16="http://schemas.microsoft.com/office/drawing/2014/main" id="{781CC290-5AEA-48FB-95B0-C7D0642AE055}"/>
              </a:ext>
            </a:extLst>
          </p:cNvPr>
          <p:cNvSpPr>
            <a:spLocks xmlns:a="http://schemas.openxmlformats.org/drawingml/2006/main" noGrp="1"/>
          </p:cNvSpPr>
          <p:nvPr/>
        </p:nvSpPr>
        <p:spPr>
          <a:xfrm xmlns:a="http://schemas.openxmlformats.org/drawingml/2006/main">
            <a:off x="502920" y="4892040"/>
            <a:ext cx="81381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065" b="1">
                <a:solidFill>
                  <a:srgbClr val="1F4E79"/>
                </a:solidFill>
                <a:latin typeface="Arial"/>
                <a:ea typeface="Arial"/>
                <a:cs typeface="Arial"/>
              </a:rPr>
              <a:t>G1 and G3 are host-referenced, but G1 is vacuous in this snapshot</a:t>
            </a:r>
            <a:endParaRPr sz="1100"/>
          </a:p>
          <a:p xmlns:a="http://schemas.openxmlformats.org/drawingml/2006/main">
            <a:pPr marL="127000" indent="-127000">
              <a:spcAft>
                <a:spcPts val="500"/>
              </a:spcAft>
              <a:buSzPct val="100000"/>
              <a:buChar char="·"/>
            </a:pPr>
            <a:r>
              <a:rPr sz="1065" b="1">
                <a:solidFill>
                  <a:srgbClr val="262626"/>
                </a:solidFill>
                <a:latin typeface="Arial"/>
                <a:ea typeface="Arial"/>
                <a:cs typeface="Arial"/>
              </a:rPr>
              <a:t>G2's four kills all also fail G3 → unique kill = 0</a:t>
            </a:r>
            <a:endParaRPr sz="1100"/>
          </a:p>
          <a:p xmlns:a="http://schemas.openxmlformats.org/drawingml/2006/main">
            <a:pPr marL="254000" lvl="1" indent="-127000">
              <a:spcAft>
                <a:spcPts val="500"/>
              </a:spcAft>
              <a:buSzPct val="100000"/>
              <a:buChar char="–"/>
            </a:pPr>
            <a:r>
              <a:rPr sz="1065">
                <a:solidFill>
                  <a:srgbClr val="7F7F7F"/>
                </a:solidFill>
                <a:latin typeface="Arial"/>
                <a:ea typeface="Arial"/>
                <a:cs typeface="Arial"/>
              </a:rPr>
              <a:t>* Both G4 cuts are heuristic; blocking &lt; 0.6 has no host/literature anchor</a:t>
            </a:r>
            <a:endParaRPr sz="1100"/>
          </a:p>
          <a:p xmlns:a="http://schemas.openxmlformats.org/drawingml/2006/main">
            <a:pPr marL="254000" lvl="1" indent="-127000">
              <a:spcAft>
                <a:spcPts val="500"/>
              </a:spcAft>
              <a:buSzPct val="100000"/>
              <a:buChar char="–"/>
            </a:pPr>
            <a:r>
              <a:rPr sz="1065">
                <a:solidFill>
                  <a:srgbClr val="7F7F7F"/>
                </a:solidFill>
                <a:latin typeface="Arial"/>
                <a:ea typeface="Arial"/>
                <a:cs typeface="Arial"/>
              </a:rPr>
              <a:t>G5 uses roster medians and ranks the G4 set — it is not a hard physical gate</a:t>
            </a:r>
            <a:endParaRPr sz="1100"/>
          </a:p>
        </p:txBody>
      </p:sp>
      <p:sp>
        <p:nvSpPr>
          <p:cNvPr id="9" name="Text 5">
            <a:extLst xmlns:a="http://schemas.openxmlformats.org/drawingml/2006/main">
              <a:ext uri="{FF2B5EF4-FFF2-40B4-BE49-F238E27FC236}">
                <a16:creationId xmlns:a16="http://schemas.microsoft.com/office/drawing/2014/main" id="{3536046F-AD0A-403C-B9A4-D631FA7F1AD5}"/>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0" name="Text 6">
            <a:extLst xmlns:a="http://schemas.openxmlformats.org/drawingml/2006/main">
              <a:ext uri="{FF2B5EF4-FFF2-40B4-BE49-F238E27FC236}">
                <a16:creationId xmlns:a16="http://schemas.microsoft.com/office/drawing/2014/main" id="{DBD96EB0-13AE-4958-8F97-F90E7C1999B6}"/>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spTree>
    <p:extLst>
      <p:ext uri="{BB962C8B-B14F-4D97-AF65-F5344CB8AC3E}">
        <p14:creationId xmlns:p14="http://schemas.microsoft.com/office/powerpoint/2010/main" val="9371786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41CD63-0109-4A03-866A-4608D220A472}"/>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Screen · ours</a:t>
            </a:r>
            <a:endParaRPr sz="1100"/>
          </a:p>
        </p:txBody>
      </p:sp>
      <p:sp>
        <p:nvSpPr>
          <p:cNvPr id="3" name="Text 1">
            <a:extLst xmlns:a="http://schemas.openxmlformats.org/drawingml/2006/main">
              <a:ext uri="{FF2B5EF4-FFF2-40B4-BE49-F238E27FC236}">
                <a16:creationId xmlns:a16="http://schemas.microsoft.com/office/drawing/2014/main" id="{92C125B3-8BC7-4569-B001-24B574FCBB15}"/>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The defensible hard-gate view stops at the 11-member G4 shortlist</a:t>
            </a:r>
            <a:endParaRPr sz="2000"/>
          </a:p>
        </p:txBody>
      </p:sp>
      <p:sp>
        <p:nvSpPr>
          <p:cNvPr id="4" name="Shape 2">
            <a:extLst xmlns:a="http://schemas.openxmlformats.org/drawingml/2006/main">
              <a:ext uri="{FF2B5EF4-FFF2-40B4-BE49-F238E27FC236}">
                <a16:creationId xmlns:a16="http://schemas.microsoft.com/office/drawing/2014/main" id="{94125EBD-9219-40E2-B9C2-2BA423E01179}"/>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4" name="Chart 0"/>
          <p:cNvGraphicFramePr/>
          <p:nvPr/>
        </p:nvGraphicFramePr>
        <p:xfrm>
          <a:off xmlns:a="http://schemas.openxmlformats.org/drawingml/2006/main" x="502920" y="1371600"/>
          <a:ext xmlns:a="http://schemas.openxmlformats.org/drawingml/2006/main" cx="5120640" cy="4023360"/>
        </p:xfrm>
        <a:graphic xmlns:a="http://schemas.openxmlformats.org/drawingml/2006/main">
          <a:graphicData uri="http://schemas.openxmlformats.org/drawingml/2006/chart">
            <c:chart xmlns:r="http://schemas.openxmlformats.org/officeDocument/2006/relationships" xmlns:c="http://schemas.openxmlformats.org/drawingml/2006/chart" r:id="Rc803654ec1794fcb"/>
          </a:graphicData>
        </a:graphic>
      </p:graphicFrame>
      <p:sp>
        <p:nvSpPr>
          <p:cNvPr id="6" name="Text 3">
            <a:extLst xmlns:a="http://schemas.openxmlformats.org/drawingml/2006/main">
              <a:ext uri="{FF2B5EF4-FFF2-40B4-BE49-F238E27FC236}">
                <a16:creationId xmlns:a16="http://schemas.microsoft.com/office/drawing/2014/main" id="{5C6E34FC-E0B0-43C4-B17B-6EF0EEE25ED9}"/>
              </a:ext>
            </a:extLst>
          </p:cNvPr>
          <p:cNvSpPr>
            <a:spLocks xmlns:a="http://schemas.openxmlformats.org/drawingml/2006/main" noGrp="1"/>
          </p:cNvSpPr>
          <p:nvPr/>
        </p:nvSpPr>
        <p:spPr>
          <a:xfrm xmlns:a="http://schemas.openxmlformats.org/drawingml/2006/main">
            <a:off x="5852160" y="1463040"/>
            <a:ext cx="2834640" cy="4114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85" b="1">
                <a:solidFill>
                  <a:srgbClr val="262626"/>
                </a:solidFill>
                <a:latin typeface="Arial"/>
                <a:ea typeface="Arial"/>
                <a:cs typeface="Arial"/>
              </a:rPr>
              <a:t>G1 47/47 = curated snapshot, not gate power</a:t>
            </a:r>
            <a:endParaRPr sz="1050"/>
          </a:p>
          <a:p xmlns:a="http://schemas.openxmlformats.org/drawingml/2006/main">
            <a:pPr marL="127000" indent="-127000">
              <a:spcAft>
                <a:spcPts val="500"/>
              </a:spcAft>
              <a:buSzPct val="100000"/>
              <a:buChar char="·"/>
            </a:pPr>
            <a:r>
              <a:rPr sz="1185" b="1">
                <a:solidFill>
                  <a:srgbClr val="262626"/>
                </a:solidFill>
                <a:latin typeface="Arial"/>
                <a:ea typeface="Arial"/>
                <a:cs typeface="Arial"/>
              </a:rPr>
              <a:t>G2 unique kill = 0: all four are already removed by G3</a:t>
            </a:r>
            <a:endParaRPr sz="1050"/>
          </a:p>
          <a:p xmlns:a="http://schemas.openxmlformats.org/drawingml/2006/main">
            <a:pPr marL="127000" indent="-127000">
              <a:spcAft>
                <a:spcPts val="500"/>
              </a:spcAft>
              <a:buSzPct val="100000"/>
              <a:buChar char="·"/>
            </a:pPr>
            <a:r>
              <a:rPr sz="1185" b="1">
                <a:solidFill>
                  <a:srgbClr val="1F4E79"/>
                </a:solidFill>
                <a:latin typeface="Arial"/>
                <a:ea typeface="Arial"/>
                <a:cs typeface="Arial"/>
              </a:rPr>
              <a:t>All 5! = 120 gate orders give the same final Boolean intersection; only attribution and intermediate counts move</a:t>
            </a:r>
            <a:endParaRPr sz="1050"/>
          </a:p>
          <a:p xmlns:a="http://schemas.openxmlformats.org/drawingml/2006/main">
            <a:pPr marL="127000" indent="-127000">
              <a:spcAft>
                <a:spcPts val="200"/>
              </a:spcAft>
              <a:buSzPct val="100000"/>
              <a:buChar char="·"/>
            </a:pPr>
            <a:r>
              <a:rPr sz="1185" b="1">
                <a:solidFill>
                  <a:srgbClr val="9E2A2B"/>
                </a:solidFill>
                <a:latin typeface="Arial"/>
                <a:ea typeface="Arial"/>
                <a:cs typeface="Arial"/>
              </a:rPr>
              <a:t>47 → 43 → 25 → 11 through G4; G5 only ranks the 11</a:t>
            </a:r>
            <a:endParaRPr sz="1050"/>
          </a:p>
        </p:txBody>
      </p:sp>
      <p:sp>
        <p:nvSpPr>
          <p:cNvPr id="8" name="Text 4">
            <a:extLst xmlns:a="http://schemas.openxmlformats.org/drawingml/2006/main">
              <a:ext uri="{FF2B5EF4-FFF2-40B4-BE49-F238E27FC236}">
                <a16:creationId xmlns:a16="http://schemas.microsoft.com/office/drawing/2014/main" id="{F30862C6-3B21-4C32-94F3-9D56FF4C9B4B}"/>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9" name="Text 5">
            <a:extLst xmlns:a="http://schemas.openxmlformats.org/drawingml/2006/main">
              <a:ext uri="{FF2B5EF4-FFF2-40B4-BE49-F238E27FC236}">
                <a16:creationId xmlns:a16="http://schemas.microsoft.com/office/drawing/2014/main" id="{40344605-AC33-4652-A8FA-275BF2884DFF}"/>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spTree>
    <p:extLst>
      <p:ext uri="{BB962C8B-B14F-4D97-AF65-F5344CB8AC3E}">
        <p14:creationId xmlns:p14="http://schemas.microsoft.com/office/powerpoint/2010/main" val="19967940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2830871-E006-452F-865D-BC03C122398F}"/>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Screen · ours</a:t>
            </a:r>
            <a:endParaRPr sz="1100"/>
          </a:p>
        </p:txBody>
      </p:sp>
      <p:sp>
        <p:nvSpPr>
          <p:cNvPr id="3" name="Text 1">
            <a:extLst xmlns:a="http://schemas.openxmlformats.org/drawingml/2006/main">
              <a:ext uri="{FF2B5EF4-FFF2-40B4-BE49-F238E27FC236}">
                <a16:creationId xmlns:a16="http://schemas.microsoft.com/office/drawing/2014/main" id="{7629EA95-017D-43F0-BEBE-26F7A22CAE08}"/>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source: cascade_seminar_oxidation_transport_47.csv</a:t>
            </a:r>
            <a:endParaRPr sz="850"/>
          </a:p>
        </p:txBody>
      </p:sp>
      <p:sp>
        <p:nvSpPr>
          <p:cNvPr id="4" name="Text 2">
            <a:extLst xmlns:a="http://schemas.openxmlformats.org/drawingml/2006/main">
              <a:ext uri="{FF2B5EF4-FFF2-40B4-BE49-F238E27FC236}">
                <a16:creationId xmlns:a16="http://schemas.microsoft.com/office/drawing/2014/main" id="{B237E30A-1E5A-4E9D-AD88-82D083D9E7BF}"/>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Oxidation improvement and the static pathway proxy trade off in this snapshot</a:t>
            </a:r>
            <a:endParaRPr sz="2000"/>
          </a:p>
        </p:txBody>
      </p:sp>
      <p:sp>
        <p:nvSpPr>
          <p:cNvPr id="5" name="Shape 3">
            <a:extLst xmlns:a="http://schemas.openxmlformats.org/drawingml/2006/main">
              <a:ext uri="{FF2B5EF4-FFF2-40B4-BE49-F238E27FC236}">
                <a16:creationId xmlns:a16="http://schemas.microsoft.com/office/drawing/2014/main" id="{C56E4BEC-5BFE-4675-8ABC-F36ACDF21C41}"/>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79bd27ea86ac4e5e"/>
          <a:srcRect xmlns:a="http://schemas.openxmlformats.org/drawingml/2006/main" l="0" t="0" r="0" b="0"/>
          <a:stretch xmlns:a="http://schemas.openxmlformats.org/drawingml/2006/main"/>
        </p:blipFill>
        <p:spPr>
          <a:xfrm xmlns:a="http://schemas.openxmlformats.org/drawingml/2006/main">
            <a:off x="502920" y="1371600"/>
            <a:ext cx="5669280" cy="429768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CD18DDB-ED26-4CEA-82CF-DC049CE900B3}"/>
              </a:ext>
            </a:extLst>
          </p:cNvPr>
          <p:cNvSpPr>
            <a:spLocks xmlns:a="http://schemas.openxmlformats.org/drawingml/2006/main" noGrp="1"/>
          </p:cNvSpPr>
          <p:nvPr/>
        </p:nvSpPr>
        <p:spPr>
          <a:xfrm xmlns:a="http://schemas.openxmlformats.org/drawingml/2006/main">
            <a:off x="502920" y="5687568"/>
            <a:ext cx="5669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5" i="1">
                <a:solidFill>
                  <a:srgbClr val="7F7F7F"/>
                </a:solidFill>
                <a:latin typeface="Arial"/>
                <a:ea typeface="Arial"/>
                <a:cs typeface="Arial"/>
              </a:rPr>
              <a:t>All six oxidation-raising candidates stop at the same static pathway heuristic — not measured or MD conductivity</a:t>
            </a:r>
            <a:endParaRPr sz="850"/>
          </a:p>
        </p:txBody>
      </p:sp>
      <p:sp>
        <p:nvSpPr>
          <p:cNvPr id="8" name="Text 5">
            <a:extLst xmlns:a="http://schemas.openxmlformats.org/drawingml/2006/main">
              <a:ext uri="{FF2B5EF4-FFF2-40B4-BE49-F238E27FC236}">
                <a16:creationId xmlns:a16="http://schemas.microsoft.com/office/drawing/2014/main" id="{99E3E86A-14AE-44CC-A74E-BBDAC7E225B2}"/>
              </a:ext>
            </a:extLst>
          </p:cNvPr>
          <p:cNvSpPr>
            <a:spLocks xmlns:a="http://schemas.openxmlformats.org/drawingml/2006/main" noGrp="1"/>
          </p:cNvSpPr>
          <p:nvPr/>
        </p:nvSpPr>
        <p:spPr>
          <a:xfrm xmlns:a="http://schemas.openxmlformats.org/drawingml/2006/main">
            <a:off x="6355080" y="1463040"/>
            <a:ext cx="2331720" cy="4206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25" b="1">
                <a:solidFill>
                  <a:srgbClr val="9E2A2B"/>
                </a:solidFill>
                <a:latin typeface="Arial"/>
                <a:ea typeface="Arial"/>
                <a:cs typeface="Arial"/>
              </a:rPr>
              <a:t>All six oxidation-raising candidates (Cr₂O₃, Ga₂O₃, In₂O₃, Sc₂O₃, B₂O₃, Y₂O₃) fail G4</a:t>
            </a:r>
            <a:endParaRPr sz="1050"/>
          </a:p>
          <a:p xmlns:a="http://schemas.openxmlformats.org/drawingml/2006/main">
            <a:pPr marL="127000" indent="-127000">
              <a:spcAft>
                <a:spcPts val="500"/>
              </a:spcAft>
              <a:buSzPct val="100000"/>
              <a:buChar char="·"/>
            </a:pPr>
            <a:r>
              <a:rPr sz="1125" b="1">
                <a:solidFill>
                  <a:srgbClr val="262626"/>
                </a:solidFill>
                <a:latin typeface="Arial"/>
                <a:ea typeface="Arial"/>
                <a:cs typeface="Arial"/>
              </a:rPr>
              <a:t>This is a dataset-level trade-off, not proof that M–O bonding causes Li blocking</a:t>
            </a:r>
            <a:endParaRPr sz="1050"/>
          </a:p>
          <a:p xmlns:a="http://schemas.openxmlformats.org/drawingml/2006/main">
            <a:pPr marL="127000" indent="-127000">
              <a:spcAft>
                <a:spcPts val="500"/>
              </a:spcAft>
              <a:buSzPct val="100000"/>
              <a:buChar char="·"/>
            </a:pPr>
            <a:r>
              <a:rPr sz="1125" b="1">
                <a:solidFill>
                  <a:srgbClr val="1F4E79"/>
                </a:solidFill>
                <a:latin typeface="Arial"/>
                <a:ea typeface="Arial"/>
                <a:cs typeface="Arial"/>
              </a:rPr>
              <a:t>Their complementary strengths motivate explicit pair hypotheses — not automatic pair validity</a:t>
            </a:r>
            <a:endParaRPr sz="1050"/>
          </a:p>
        </p:txBody>
      </p:sp>
      <p:sp>
        <p:nvSpPr>
          <p:cNvPr id="10" name="Text 6">
            <a:extLst xmlns:a="http://schemas.openxmlformats.org/drawingml/2006/main">
              <a:ext uri="{FF2B5EF4-FFF2-40B4-BE49-F238E27FC236}">
                <a16:creationId xmlns:a16="http://schemas.microsoft.com/office/drawing/2014/main" id="{94FBEDD3-13F8-4E81-935F-91C5DB0EA49E}"/>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1" name="Text 7">
            <a:extLst xmlns:a="http://schemas.openxmlformats.org/drawingml/2006/main">
              <a:ext uri="{FF2B5EF4-FFF2-40B4-BE49-F238E27FC236}">
                <a16:creationId xmlns:a16="http://schemas.microsoft.com/office/drawing/2014/main" id="{86DD4762-AB5D-4AFD-A3F6-116E4C818D8D}"/>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13</a:t>
            </a:r>
            <a:endParaRPr sz="900"/>
          </a:p>
        </p:txBody>
      </p:sp>
    </p:spTree>
    <p:extLst>
      <p:ext uri="{BB962C8B-B14F-4D97-AF65-F5344CB8AC3E}">
        <p14:creationId xmlns:p14="http://schemas.microsoft.com/office/powerpoint/2010/main" val="133242982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FFB98A-2B5F-45D6-9B7B-AF6B2DB52801}"/>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Screen · ours</a:t>
            </a:r>
            <a:endParaRPr sz="1100"/>
          </a:p>
        </p:txBody>
      </p:sp>
      <p:sp>
        <p:nvSpPr>
          <p:cNvPr id="3" name="Text 1">
            <a:extLst xmlns:a="http://schemas.openxmlformats.org/drawingml/2006/main">
              <a:ext uri="{FF2B5EF4-FFF2-40B4-BE49-F238E27FC236}">
                <a16:creationId xmlns:a16="http://schemas.microsoft.com/office/drawing/2014/main" id="{B1CE75CF-1ED7-4AC2-A48A-68B0E79AC763}"/>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Zhu et al., Angew. 2020 (hydrolysis map)</a:t>
            </a:r>
            <a:endParaRPr sz="850"/>
          </a:p>
        </p:txBody>
      </p:sp>
      <p:sp>
        <p:nvSpPr>
          <p:cNvPr id="4" name="Text 2">
            <a:extLst xmlns:a="http://schemas.openxmlformats.org/drawingml/2006/main">
              <a:ext uri="{FF2B5EF4-FFF2-40B4-BE49-F238E27FC236}">
                <a16:creationId xmlns:a16="http://schemas.microsoft.com/office/drawing/2014/main" id="{ADFA8E6D-5128-43C6-B073-9CB7DFAD7EFD}"/>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Why the funnel is the wrong endpoint for our question</a:t>
            </a:r>
            <a:endParaRPr sz="2000"/>
          </a:p>
        </p:txBody>
      </p:sp>
      <p:sp>
        <p:nvSpPr>
          <p:cNvPr id="5" name="Shape 3">
            <a:extLst xmlns:a="http://schemas.openxmlformats.org/drawingml/2006/main">
              <a:ext uri="{FF2B5EF4-FFF2-40B4-BE49-F238E27FC236}">
                <a16:creationId xmlns:a16="http://schemas.microsoft.com/office/drawing/2014/main" id="{A915E9C8-12E9-4211-A6DC-4F8AA1A9BC7A}"/>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6" name="Text 4">
            <a:extLst xmlns:a="http://schemas.openxmlformats.org/drawingml/2006/main">
              <a:ext uri="{FF2B5EF4-FFF2-40B4-BE49-F238E27FC236}">
                <a16:creationId xmlns:a16="http://schemas.microsoft.com/office/drawing/2014/main" id="{5D232FF2-D1E9-4DD0-AA56-FA7BEA5879A9}"/>
              </a:ext>
            </a:extLst>
          </p:cNvPr>
          <p:cNvSpPr>
            <a:spLocks xmlns:a="http://schemas.openxmlformats.org/drawingml/2006/main" noGrp="1"/>
          </p:cNvSpPr>
          <p:nvPr/>
        </p:nvSpPr>
        <p:spPr>
          <a:xfrm xmlns:a="http://schemas.openxmlformats.org/drawingml/2006/main">
            <a:off x="502920" y="1371600"/>
            <a:ext cx="4846320" cy="4480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200" b="1">
                <a:solidFill>
                  <a:srgbClr val="262626"/>
                </a:solidFill>
                <a:latin typeface="Arial"/>
                <a:ea typeface="Arial"/>
                <a:cs typeface="Arial"/>
              </a:rPr>
              <a:t>① “1 survivor” is a property of thresholds, not a unique chemical truth</a:t>
            </a:r>
            <a:endParaRPr sz="1100"/>
          </a:p>
          <a:p xmlns:a="http://schemas.openxmlformats.org/drawingml/2006/main">
            <a:pPr marL="127000" indent="-127000">
              <a:spcAft>
                <a:spcPts val="500"/>
              </a:spcAft>
              <a:buSzPct val="100000"/>
              <a:buChar char="·"/>
            </a:pPr>
            <a:r>
              <a:rPr sz="1200" b="1">
                <a:solidFill>
                  <a:srgbClr val="1F4E79"/>
                </a:solidFill>
                <a:latin typeface="Arial"/>
                <a:ea typeface="Arial"/>
                <a:cs typeface="Arial"/>
              </a:rPr>
              <a:t>② Sequential AND can discard complementarity: an oxidation-strong / pathway-weak dopant dies before pairing</a:t>
            </a:r>
            <a:endParaRPr sz="1100"/>
          </a:p>
          <a:p xmlns:a="http://schemas.openxmlformats.org/drawingml/2006/main">
            <a:pPr marL="254000" lvl="1" indent="-127000">
              <a:spcAft>
                <a:spcPts val="500"/>
              </a:spcAft>
              <a:buSzPct val="100000"/>
              <a:buChar char="–"/>
            </a:pPr>
            <a:r>
              <a:rPr sz="1200">
                <a:solidFill>
                  <a:srgbClr val="7F7F7F"/>
                </a:solidFill>
                <a:latin typeface="Arial"/>
                <a:ea typeface="Arial"/>
                <a:cs typeface="Arial"/>
              </a:rPr>
              <a:t>③ B₂O₃ illustrates conflicting axes: favorable in one transport landscape, rejected by the static pathway proxy, and provisional on air-related axes</a:t>
            </a:r>
            <a:endParaRPr sz="1100"/>
          </a:p>
          <a:p xmlns:a="http://schemas.openxmlformats.org/drawingml/2006/main">
            <a:pPr marL="127000" indent="-127000">
              <a:spcAft>
                <a:spcPts val="500"/>
              </a:spcAft>
              <a:buSzPct val="100000"/>
              <a:buChar char="·"/>
            </a:pPr>
            <a:r>
              <a:rPr sz="1200" b="1">
                <a:solidFill>
                  <a:srgbClr val="9E2A2B"/>
                </a:solidFill>
                <a:latin typeface="Arial"/>
                <a:ea typeface="Arial"/>
                <a:cs typeface="Arial"/>
              </a:rPr>
              <a:t>No single universal score is defensible</a:t>
            </a:r>
            <a:endParaRPr sz="1100"/>
          </a:p>
          <a:p xmlns:a="http://schemas.openxmlformats.org/drawingml/2006/main">
            <a:pPr marL="254000" lvl="1" indent="-127000">
              <a:spcAft>
                <a:spcPts val="500"/>
              </a:spcAft>
              <a:buSzPct val="100000"/>
              <a:buChar char="–"/>
            </a:pPr>
            <a:r>
              <a:rPr sz="1200">
                <a:solidFill>
                  <a:srgbClr val="7F7F7F"/>
                </a:solidFill>
                <a:latin typeface="Arial"/>
                <a:ea typeface="Arial"/>
                <a:cs typeface="Arial"/>
              </a:rPr>
              <a:t>⇒ retain multi-objective structure and acquire targeted combination labels</a:t>
            </a:r>
            <a:endParaRPr sz="11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c698753162474f66"/>
          <a:srcRect xmlns:a="http://schemas.openxmlformats.org/drawingml/2006/main" l="0" t="0" r="0" b="0"/>
          <a:stretch xmlns:a="http://schemas.openxmlformats.org/drawingml/2006/main"/>
        </p:blipFill>
        <p:spPr>
          <a:xfrm xmlns:a="http://schemas.openxmlformats.org/drawingml/2006/main">
            <a:off x="5486400" y="1417320"/>
            <a:ext cx="3200400" cy="3108960"/>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C2E745FA-5D63-49DA-B485-05369E30956D}"/>
              </a:ext>
            </a:extLst>
          </p:cNvPr>
          <p:cNvSpPr>
            <a:spLocks xmlns:a="http://schemas.openxmlformats.org/drawingml/2006/main" noGrp="1"/>
          </p:cNvSpPr>
          <p:nvPr/>
        </p:nvSpPr>
        <p:spPr>
          <a:xfrm xmlns:a="http://schemas.openxmlformats.org/drawingml/2006/main">
            <a:off x="5486400" y="4544568"/>
            <a:ext cx="3200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40" i="1">
                <a:solidFill>
                  <a:srgbClr val="7F7F7F"/>
                </a:solidFill>
                <a:latin typeface="Arial"/>
                <a:ea typeface="Arial"/>
                <a:cs typeface="Arial"/>
              </a:rPr>
              <a:t>Literature hydrolysis map, used as context only; our air-related axes remain descriptive until ΔGₕᵧd is closed</a:t>
            </a:r>
            <a:endParaRPr sz="850"/>
          </a:p>
        </p:txBody>
      </p:sp>
      <p:sp>
        <p:nvSpPr>
          <p:cNvPr id="10" name="Text 6">
            <a:extLst xmlns:a="http://schemas.openxmlformats.org/drawingml/2006/main">
              <a:ext uri="{FF2B5EF4-FFF2-40B4-BE49-F238E27FC236}">
                <a16:creationId xmlns:a16="http://schemas.microsoft.com/office/drawing/2014/main" id="{28A7FE2E-7000-4B74-9520-FE22686441D2}"/>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1" name="Text 7">
            <a:extLst xmlns:a="http://schemas.openxmlformats.org/drawingml/2006/main">
              <a:ext uri="{FF2B5EF4-FFF2-40B4-BE49-F238E27FC236}">
                <a16:creationId xmlns:a16="http://schemas.microsoft.com/office/drawing/2014/main" id="{1D95AC36-F447-4015-B626-4E915A8DF928}"/>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14</a:t>
            </a:r>
            <a:endParaRPr sz="900"/>
          </a:p>
        </p:txBody>
      </p:sp>
    </p:spTree>
    <p:extLst>
      <p:ext uri="{BB962C8B-B14F-4D97-AF65-F5344CB8AC3E}">
        <p14:creationId xmlns:p14="http://schemas.microsoft.com/office/powerpoint/2010/main" val="100181300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4AAECF-6F3B-42E9-86B2-B7082A210525}"/>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Combine</a:t>
            </a:r>
            <a:endParaRPr sz="1100"/>
          </a:p>
        </p:txBody>
      </p:sp>
      <p:sp>
        <p:nvSpPr>
          <p:cNvPr id="3" name="Text 1">
            <a:extLst xmlns:a="http://schemas.openxmlformats.org/drawingml/2006/main">
              <a:ext uri="{FF2B5EF4-FFF2-40B4-BE49-F238E27FC236}">
                <a16:creationId xmlns:a16="http://schemas.microsoft.com/office/drawing/2014/main" id="{540E48C0-A111-43A9-812B-FA7DD7C54EFF}"/>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synergy = max(joint-window gain, 0) × radius-match × stability</a:t>
            </a:r>
            <a:endParaRPr sz="850"/>
          </a:p>
        </p:txBody>
      </p:sp>
      <p:sp>
        <p:nvSpPr>
          <p:cNvPr id="4" name="Text 2">
            <a:extLst xmlns:a="http://schemas.openxmlformats.org/drawingml/2006/main">
              <a:ext uri="{FF2B5EF4-FFF2-40B4-BE49-F238E27FC236}">
                <a16:creationId xmlns:a16="http://schemas.microsoft.com/office/drawing/2014/main" id="{1E00498A-23C8-4FCD-913E-CF16596DD3F6}"/>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Co-doping: complementarity as the design variable</a:t>
            </a:r>
            <a:endParaRPr sz="2000"/>
          </a:p>
        </p:txBody>
      </p:sp>
      <p:sp>
        <p:nvSpPr>
          <p:cNvPr id="5" name="Shape 3">
            <a:extLst xmlns:a="http://schemas.openxmlformats.org/drawingml/2006/main">
              <a:ext uri="{FF2B5EF4-FFF2-40B4-BE49-F238E27FC236}">
                <a16:creationId xmlns:a16="http://schemas.microsoft.com/office/drawing/2014/main" id="{D80ECB35-7827-48CB-A49C-11B1079844D6}"/>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7"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2011680"/>
                <a:gridCol w="1737360"/>
                <a:gridCol w="1554480"/>
                <a:gridCol w="1371600"/>
                <a:gridCol w="1463040"/>
              </a:tblGrid>
              <a:tr h="310896">
                <a:tc>
                  <a:txBody>
                    <a:bodyPr/>
                    <a:lstStyle/>
                    <a:p>
                      <a:pPr marL="0" indent="0">
                        <a:buNone/>
                      </a:pPr>
                      <a:r>
                        <a:rPr sz="1050" b="1">
                          <a:solidFill>
                            <a:srgbClr val="FFFFFF"/>
                          </a:solidFill>
                          <a:latin typeface="Arial"/>
                          <a:ea typeface="Arial"/>
                          <a:cs typeface="Arial"/>
                        </a:rPr>
                        <a:t>Pair</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proxy joint window (V)</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proxy gain vs best single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radius match</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tag</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10896">
                <a:tc>
                  <a:txBody>
                    <a:bodyPr/>
                    <a:lstStyle/>
                    <a:p>
                      <a:pPr marL="0" indent="0">
                        <a:buNone/>
                      </a:pPr>
                      <a:r>
                        <a:rPr sz="1050" b="1">
                          <a:solidFill>
                            <a:srgbClr val="262626"/>
                          </a:solidFill>
                          <a:latin typeface="Arial"/>
                          <a:ea typeface="Arial"/>
                          <a:cs typeface="Arial"/>
                        </a:rPr>
                        <a:t>Cr₂O₃ + HfO₂</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1.114</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b="1">
                          <a:solidFill>
                            <a:srgbClr val="9E2A2B"/>
                          </a:solidFill>
                          <a:latin typeface="Arial"/>
                          <a:ea typeface="Arial"/>
                          <a:cs typeface="Arial"/>
                        </a:rPr>
                        <a:t>+0.360</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0.87</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anode↔cathode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Al₂O₃ + Cr₂O₃</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0.984</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+0.216</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0.90</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anode↔cathode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HfO₂ + In₂O₃</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1.114</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+0.323</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0.88</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anode↔cathode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10896">
                <a:tc>
                  <a:txBody>
                    <a:bodyPr/>
                    <a:lstStyle/>
                    <a:p>
                      <a:pPr marL="0" indent="0">
                        <a:buNone/>
                      </a:pPr>
                      <a:r>
                        <a:rPr sz="1050">
                          <a:solidFill>
                            <a:srgbClr val="262626"/>
                          </a:solidFill>
                          <a:latin typeface="Arial"/>
                          <a:ea typeface="Arial"/>
                          <a:cs typeface="Arial"/>
                        </a:rPr>
                        <a:t>Ga₂O₃ + HfO₂</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1.114</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+0.336</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0.88</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anode↔cathode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4">
            <a:extLst xmlns:a="http://schemas.openxmlformats.org/drawingml/2006/main">
              <a:ext uri="{FF2B5EF4-FFF2-40B4-BE49-F238E27FC236}">
                <a16:creationId xmlns:a16="http://schemas.microsoft.com/office/drawing/2014/main" id="{9074BFFC-22EB-4049-B72C-7F2A2A6CBC00}"/>
              </a:ext>
            </a:extLst>
          </p:cNvPr>
          <p:cNvSpPr>
            <a:spLocks xmlns:a="http://schemas.openxmlformats.org/drawingml/2006/main" noGrp="1"/>
          </p:cNvSpPr>
          <p:nvPr/>
        </p:nvSpPr>
        <p:spPr>
          <a:xfrm xmlns:a="http://schemas.openxmlformats.org/drawingml/2006/main">
            <a:off x="502920" y="2999232"/>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15" i="1">
                <a:solidFill>
                  <a:srgbClr val="7F7F7F"/>
                </a:solidFill>
                <a:latin typeface="Arial"/>
                <a:ea typeface="Arial"/>
                <a:cs typeface="Arial"/>
              </a:rPr>
              <a:t>Rows 1/3/4 share 1.114 V because HfO₂ supplies the lower reduction edge, while Cr/Ga/In oxides supply the upper oxidation edge.</a:t>
            </a:r>
            <a:endParaRPr sz="850"/>
          </a:p>
        </p:txBody>
      </p:sp>
      <p:sp>
        <p:nvSpPr>
          <p:cNvPr id="8" name="Text 5">
            <a:extLst xmlns:a="http://schemas.openxmlformats.org/drawingml/2006/main">
              <a:ext uri="{FF2B5EF4-FFF2-40B4-BE49-F238E27FC236}">
                <a16:creationId xmlns:a16="http://schemas.microsoft.com/office/drawing/2014/main" id="{70C41788-6CC8-486D-A790-EFB643C6225A}"/>
              </a:ext>
            </a:extLst>
          </p:cNvPr>
          <p:cNvSpPr>
            <a:spLocks xmlns:a="http://schemas.openxmlformats.org/drawingml/2006/main" noGrp="1"/>
          </p:cNvSpPr>
          <p:nvPr/>
        </p:nvSpPr>
        <p:spPr>
          <a:xfrm xmlns:a="http://schemas.openxmlformats.org/drawingml/2006/main">
            <a:off x="502920" y="3291840"/>
            <a:ext cx="81381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25" b="1">
                <a:solidFill>
                  <a:srgbClr val="1F4E79"/>
                </a:solidFill>
                <a:latin typeface="Arial"/>
                <a:ea typeface="Arial"/>
                <a:cs typeface="Arial"/>
              </a:rPr>
              <a:t>All rows are end-member combinations, not explicit co-doped calculations</a:t>
            </a:r>
            <a:endParaRPr sz="1050"/>
          </a:p>
          <a:p xmlns:a="http://schemas.openxmlformats.org/drawingml/2006/main">
            <a:pPr marL="127000" indent="-127000">
              <a:spcAft>
                <a:spcPts val="200"/>
              </a:spcAft>
              <a:buSzPct val="100000"/>
              <a:buChar char="·"/>
            </a:pPr>
            <a:r>
              <a:rPr sz="1125" b="1">
                <a:solidFill>
                  <a:srgbClr val="262626"/>
                </a:solidFill>
                <a:latin typeface="Arial"/>
                <a:ea typeface="Arial"/>
                <a:cs typeface="Arial"/>
              </a:rPr>
              <a:t>Cr₂O₃ and HfO₂ single-dopant champions both occupy Li_24g → site competition is a first-order risk</a:t>
            </a:r>
            <a:endParaRPr sz="1050"/>
          </a:p>
          <a:p xmlns:a="http://schemas.openxmlformats.org/drawingml/2006/main">
            <a:pPr marL="254000" lvl="1" indent="-127000">
              <a:spcAft>
                <a:spcPts val="500"/>
              </a:spcAft>
              <a:buSzPct val="100000"/>
              <a:buChar char="–"/>
            </a:pPr>
            <a:r>
              <a:rPr sz="1125">
                <a:solidFill>
                  <a:srgbClr val="7F7F7F"/>
                </a:solidFill>
                <a:latin typeface="Arial"/>
                <a:ea typeface="Arial"/>
                <a:cs typeface="Arial"/>
              </a:rPr>
              <a:t>Before believing a pair: build explicit structures · resolve site/stoichiometry/charge · compute formation energy · label with UMA/DFT</a:t>
            </a:r>
            <a:endParaRPr sz="1050"/>
          </a:p>
          <a:p xmlns:a="http://schemas.openxmlformats.org/drawingml/2006/main">
            <a:pPr marL="254000" lvl="1" indent="-127000">
              <a:spcAft>
                <a:spcPts val="500"/>
              </a:spcAft>
              <a:buSzPct val="100000"/>
              <a:buChar char="–"/>
            </a:pPr>
            <a:r>
              <a:rPr sz="1125">
                <a:solidFill>
                  <a:srgbClr val="7F7F7F"/>
                </a:solidFill>
                <a:latin typeface="Arial"/>
                <a:ea typeface="Arial"/>
                <a:cs typeface="Arial"/>
              </a:rPr>
              <a:t>The formula rewards complementarity by construction; it does not validate pair chemistry</a:t>
            </a:r>
            <a:endParaRPr sz="1050"/>
          </a:p>
        </p:txBody>
      </p:sp>
      <p:sp>
        <p:nvSpPr>
          <p:cNvPr id="10" name="Text 6">
            <a:extLst xmlns:a="http://schemas.openxmlformats.org/drawingml/2006/main">
              <a:ext uri="{FF2B5EF4-FFF2-40B4-BE49-F238E27FC236}">
                <a16:creationId xmlns:a16="http://schemas.microsoft.com/office/drawing/2014/main" id="{7ED45652-5386-4853-A469-BF184EEA8F39}"/>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1" name="Text 7">
            <a:extLst xmlns:a="http://schemas.openxmlformats.org/drawingml/2006/main">
              <a:ext uri="{FF2B5EF4-FFF2-40B4-BE49-F238E27FC236}">
                <a16:creationId xmlns:a16="http://schemas.microsoft.com/office/drawing/2014/main" id="{DE5E0BC4-442F-4253-A739-1B35E6129141}"/>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spTree>
    <p:extLst>
      <p:ext uri="{BB962C8B-B14F-4D97-AF65-F5344CB8AC3E}">
        <p14:creationId xmlns:p14="http://schemas.microsoft.com/office/powerpoint/2010/main" val="211063254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218ECF-016A-4DAB-8353-D4B3C6AFD28B}"/>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Combine</a:t>
            </a:r>
            <a:endParaRPr sz="1100"/>
          </a:p>
        </p:txBody>
      </p:sp>
      <p:sp>
        <p:nvSpPr>
          <p:cNvPr id="3" name="Text 1">
            <a:extLst xmlns:a="http://schemas.openxmlformats.org/drawingml/2006/main">
              <a:ext uri="{FF2B5EF4-FFF2-40B4-BE49-F238E27FC236}">
                <a16:creationId xmlns:a16="http://schemas.microsoft.com/office/drawing/2014/main" id="{FB889452-C548-46E2-BAE6-453DAA452026}"/>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ridge · λ by 1-SE rule · LOOCV</a:t>
            </a:r>
            <a:endParaRPr sz="850"/>
          </a:p>
        </p:txBody>
      </p:sp>
      <p:sp>
        <p:nvSpPr>
          <p:cNvPr id="4" name="Text 2">
            <a:extLst xmlns:a="http://schemas.openxmlformats.org/drawingml/2006/main">
              <a:ext uri="{FF2B5EF4-FFF2-40B4-BE49-F238E27FC236}">
                <a16:creationId xmlns:a16="http://schemas.microsoft.com/office/drawing/2014/main" id="{6FC4F8C0-FCDF-4621-A36A-D4BFE6ACA434}"/>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What the model actually knows</a:t>
            </a:r>
            <a:endParaRPr sz="2000"/>
          </a:p>
        </p:txBody>
      </p:sp>
      <p:sp>
        <p:nvSpPr>
          <p:cNvPr id="5" name="Shape 3">
            <a:extLst xmlns:a="http://schemas.openxmlformats.org/drawingml/2006/main">
              <a:ext uri="{FF2B5EF4-FFF2-40B4-BE49-F238E27FC236}">
                <a16:creationId xmlns:a16="http://schemas.microsoft.com/office/drawing/2014/main" id="{B00E76BE-C003-4D14-8FE8-F9CEA4F6D76E}"/>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6"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1005840"/>
                <a:gridCol w="2377440"/>
                <a:gridCol w="914400"/>
                <a:gridCol w="1097280"/>
                <a:gridCol w="2743200"/>
              </a:tblGrid>
              <a:tr h="457200">
                <a:tc>
                  <a:txBody>
                    <a:bodyPr/>
                    <a:lstStyle/>
                    <a:p>
                      <a:pPr marL="0" indent="0">
                        <a:buNone/>
                      </a:pPr>
                      <a:r>
                        <a:rPr sz="1000" b="1">
                          <a:solidFill>
                            <a:srgbClr val="FFFFFF"/>
                          </a:solidFill>
                          <a:latin typeface="Arial"/>
                          <a:ea typeface="Arial"/>
                          <a:cs typeface="Arial"/>
                        </a:rPr>
                        <a:t>Stage</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00" b="1">
                          <a:solidFill>
                            <a:srgbClr val="FFFFFF"/>
                          </a:solidFill>
                          <a:latin typeface="Arial"/>
                          <a:ea typeface="Arial"/>
                          <a:cs typeface="Arial"/>
                        </a:rPr>
                        <a:t>Target</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00" b="1">
                          <a:solidFill>
                            <a:srgbClr val="FFFFFF"/>
                          </a:solidFill>
                          <a:latin typeface="Arial"/>
                          <a:ea typeface="Arial"/>
                          <a:cs typeface="Arial"/>
                        </a:rPr>
                        <a:t>n</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00" b="1">
                          <a:solidFill>
                            <a:srgbClr val="FFFFFF"/>
                          </a:solidFill>
                          <a:latin typeface="Arial"/>
                          <a:ea typeface="Arial"/>
                          <a:cs typeface="Arial"/>
                        </a:rPr>
                        <a:t>LOOCV R²</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00" b="1">
                          <a:solidFill>
                            <a:srgbClr val="FFFFFF"/>
                          </a:solidFill>
                          <a:latin typeface="Arial"/>
                          <a:ea typeface="Arial"/>
                          <a:cs typeface="Arial"/>
                        </a:rPr>
                        <a:t>Reading</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457200">
                <a:tc>
                  <a:txBody>
                    <a:bodyPr/>
                    <a:lstStyle/>
                    <a:p>
                      <a:pPr marL="0" indent="0">
                        <a:buNone/>
                      </a:pPr>
                      <a:r>
                        <a:rPr sz="1000">
                          <a:solidFill>
                            <a:srgbClr val="262626"/>
                          </a:solidFill>
                          <a:latin typeface="Arial"/>
                          <a:ea typeface="Arial"/>
                          <a:cs typeface="Arial"/>
                        </a:rPr>
                        <a:t>1  ridge</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our cascade score (composite)</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47</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b="1">
                          <a:solidFill>
                            <a:srgbClr val="262626"/>
                          </a:solidFill>
                          <a:latin typeface="Arial"/>
                          <a:ea typeface="Arial"/>
                          <a:cs typeface="Arial"/>
                        </a:rPr>
                        <a:t>0.9998</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not success: it dissected our own formula</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57200">
                <a:tc>
                  <a:txBody>
                    <a:bodyPr/>
                    <a:lstStyle/>
                    <a:p>
                      <a:pPr marL="0" indent="0">
                        <a:buNone/>
                      </a:pPr>
                      <a:r>
                        <a:rPr sz="1000">
                          <a:solidFill>
                            <a:srgbClr val="7F7F7F"/>
                          </a:solidFill>
                          <a:latin typeface="Arial"/>
                          <a:ea typeface="Arial"/>
                          <a:cs typeface="Arial"/>
                        </a:rPr>
                        <a:t>2  pair features</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7F7F7F"/>
                          </a:solidFill>
                          <a:latin typeface="Arial"/>
                          <a:ea typeface="Arial"/>
                          <a:cs typeface="Arial"/>
                        </a:rPr>
                        <a:t>feature construction (min/max/avg + quadratic)</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7F7F7F"/>
                          </a:solidFill>
                          <a:latin typeface="Arial"/>
                          <a:ea typeface="Arial"/>
                          <a:cs typeface="Arial"/>
                        </a:rPr>
                        <a:t>—</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7F7F7F"/>
                          </a:solidFill>
                          <a:latin typeface="Arial"/>
                          <a:ea typeface="Arial"/>
                          <a:cs typeface="Arial"/>
                        </a:rPr>
                        <a:t>—</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7F7F7F"/>
                          </a:solidFill>
                          <a:latin typeface="Arial"/>
                          <a:ea typeface="Arial"/>
                          <a:cs typeface="Arial"/>
                        </a:rPr>
                        <a:t>construction stage — no CV target</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57200">
                <a:tc>
                  <a:txBody>
                    <a:bodyPr/>
                    <a:lstStyle/>
                    <a:p>
                      <a:pPr marL="0" indent="0">
                        <a:buNone/>
                      </a:pPr>
                      <a:r>
                        <a:rPr sz="1000">
                          <a:solidFill>
                            <a:srgbClr val="262626"/>
                          </a:solidFill>
                          <a:latin typeface="Arial"/>
                          <a:ea typeface="Arial"/>
                          <a:cs typeface="Arial"/>
                        </a:rPr>
                        <a:t>3  interaction</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pair synergy</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1,081 pairs</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b="1">
                          <a:solidFill>
                            <a:srgbClr val="9E2A2B"/>
                          </a:solidFill>
                          <a:latin typeface="Arial"/>
                          <a:ea typeface="Arial"/>
                          <a:cs typeface="Arial"/>
                        </a:rPr>
                        <a:t>0.089</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honest number — interactions essentially unlearned</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4">
            <a:extLst xmlns:a="http://schemas.openxmlformats.org/drawingml/2006/main">
              <a:ext uri="{FF2B5EF4-FFF2-40B4-BE49-F238E27FC236}">
                <a16:creationId xmlns:a16="http://schemas.microsoft.com/office/drawing/2014/main" id="{B6155A79-19B5-4F22-8D07-0AD8ED242838}"/>
              </a:ext>
            </a:extLst>
          </p:cNvPr>
          <p:cNvSpPr>
            <a:spLocks xmlns:a="http://schemas.openxmlformats.org/drawingml/2006/main" noGrp="1"/>
          </p:cNvSpPr>
          <p:nvPr/>
        </p:nvSpPr>
        <p:spPr>
          <a:xfrm xmlns:a="http://schemas.openxmlformats.org/drawingml/2006/main">
            <a:off x="502920" y="3476625"/>
            <a:ext cx="8138160" cy="2143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065" b="1">
                <a:solidFill>
                  <a:srgbClr val="9E2A2B"/>
                </a:solidFill>
                <a:latin typeface="Arial"/>
                <a:ea typeface="Arial"/>
                <a:cs typeface="Arial"/>
              </a:rPr>
              <a:t>Stage 1 LOOCV R² = 0.9998: recovery of the constructed single-dopant score formula.</a:t>
            </a:r>
            <a:endParaRPr sz="1050"/>
          </a:p>
          <a:p xmlns:a="http://schemas.openxmlformats.org/drawingml/2006/main">
            <a:pPr marL="127000" indent="-127000">
              <a:spcAft>
                <a:spcPts val="500"/>
              </a:spcAft>
              <a:buSzPct val="100000"/>
              <a:buChar char="·"/>
            </a:pPr>
            <a:r>
              <a:rPr sz="1065" b="1">
                <a:solidFill>
                  <a:srgbClr val="262626"/>
                </a:solidFill>
                <a:latin typeface="Arial"/>
                <a:ea typeface="Arial"/>
                <a:cs typeface="Arial"/>
              </a:rPr>
              <a:t>Stage 3 pair-LOOCV R² = 0.0892; LODO = −0.1805; L2DO = −0.2548; optimism gap = +0.344.</a:t>
            </a:r>
            <a:endParaRPr sz="1050"/>
          </a:p>
          <a:p xmlns:a="http://schemas.openxmlformats.org/drawingml/2006/main">
            <a:pPr marL="127000" indent="-127000">
              <a:spcAft>
                <a:spcPts val="500"/>
              </a:spcAft>
              <a:buSzPct val="100000"/>
              <a:buChar char="·"/>
            </a:pPr>
            <a:r>
              <a:rPr sz="1065" b="1">
                <a:solidFill>
                  <a:srgbClr val="262626"/>
                </a:solidFill>
                <a:latin typeface="Arial"/>
                <a:ea typeface="Arial"/>
                <a:cs typeface="Arial"/>
              </a:rPr>
              <a:t>1,081 H0 pair hypotheses; 0 explicit pair structures and 0 pair UMA/DFT/experimental targets.</a:t>
            </a:r>
            <a:endParaRPr sz="1050"/>
          </a:p>
          <a:p xmlns:a="http://schemas.openxmlformats.org/drawingml/2006/main">
            <a:pPr marL="254000" lvl="1" indent="-127000">
              <a:spcAft>
                <a:spcPts val="500"/>
              </a:spcAft>
              <a:buSzPct val="100000"/>
              <a:buChar char="–"/>
            </a:pPr>
            <a:r>
              <a:rPr sz="1065">
                <a:solidFill>
                  <a:srgbClr val="7F7F7F"/>
                </a:solidFill>
                <a:latin typeface="Arial"/>
                <a:ea typeface="Arial"/>
                <a:cs typeface="Arial"/>
              </a:rPr>
              <a:t>Therefore this is a hypothesis generator, not a property predictor.</a:t>
            </a:r>
            <a:endParaRPr sz="1050"/>
          </a:p>
        </p:txBody>
      </p:sp>
      <p:sp>
        <p:nvSpPr>
          <p:cNvPr id="9" name="Text 5">
            <a:extLst xmlns:a="http://schemas.openxmlformats.org/drawingml/2006/main">
              <a:ext uri="{FF2B5EF4-FFF2-40B4-BE49-F238E27FC236}">
                <a16:creationId xmlns:a16="http://schemas.microsoft.com/office/drawing/2014/main" id="{86D4C8A2-04FD-45DF-AEE0-BC2744BF23CE}"/>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0" name="Text 6">
            <a:extLst xmlns:a="http://schemas.openxmlformats.org/drawingml/2006/main">
              <a:ext uri="{FF2B5EF4-FFF2-40B4-BE49-F238E27FC236}">
                <a16:creationId xmlns:a16="http://schemas.microsoft.com/office/drawing/2014/main" id="{BBD1D2D2-055B-4D3B-BB53-99C9E3F0E10A}"/>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spTree>
    <p:extLst>
      <p:ext uri="{BB962C8B-B14F-4D97-AF65-F5344CB8AC3E}">
        <p14:creationId xmlns:p14="http://schemas.microsoft.com/office/powerpoint/2010/main" val="41420786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C859DF-57EF-4CEB-80CA-E78F2BD97231}"/>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Combine</a:t>
            </a:r>
            <a:endParaRPr sz="1100"/>
          </a:p>
        </p:txBody>
      </p:sp>
      <p:sp>
        <p:nvSpPr>
          <p:cNvPr id="3" name="Text 1">
            <a:extLst xmlns:a="http://schemas.openxmlformats.org/drawingml/2006/main">
              <a:ext uri="{FF2B5EF4-FFF2-40B4-BE49-F238E27FC236}">
                <a16:creationId xmlns:a16="http://schemas.microsoft.com/office/drawing/2014/main" id="{39CA6E78-184E-4F13-985D-55AE3BC5F1F4}"/>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Making the labels the model is missing</a:t>
            </a:r>
            <a:endParaRPr sz="2000"/>
          </a:p>
        </p:txBody>
      </p:sp>
      <p:sp>
        <p:nvSpPr>
          <p:cNvPr id="4" name="Shape 2">
            <a:extLst xmlns:a="http://schemas.openxmlformats.org/drawingml/2006/main">
              <a:ext uri="{FF2B5EF4-FFF2-40B4-BE49-F238E27FC236}">
                <a16:creationId xmlns:a16="http://schemas.microsoft.com/office/drawing/2014/main" id="{67ACE3F9-66B7-4377-8031-957937D25670}"/>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5" name="Text 3">
            <a:extLst xmlns:a="http://schemas.openxmlformats.org/drawingml/2006/main">
              <a:ext uri="{FF2B5EF4-FFF2-40B4-BE49-F238E27FC236}">
                <a16:creationId xmlns:a16="http://schemas.microsoft.com/office/drawing/2014/main" id="{24C20955-FC14-4C84-A2E2-7F2C51EF8A84}"/>
              </a:ext>
            </a:extLst>
          </p:cNvPr>
          <p:cNvSpPr>
            <a:spLocks xmlns:a="http://schemas.openxmlformats.org/drawingml/2006/main" noGrp="1"/>
          </p:cNvSpPr>
          <p:nvPr/>
        </p:nvSpPr>
        <p:spPr>
          <a:xfrm xmlns:a="http://schemas.openxmlformats.org/drawingml/2006/main">
            <a:off x="502920" y="1417320"/>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62626"/>
                </a:solidFill>
                <a:latin typeface="Arial"/>
                <a:ea typeface="Arial"/>
                <a:cs typeface="Arial"/>
              </a:rPr>
              <a:t>Prospective pair-label matrix: 3 × 3 nominal slots (resolve actual stoichiometry before interpreting dose)</a:t>
            </a:r>
            <a:endParaRPr sz="1050"/>
          </a:p>
        </p:txBody>
      </p:sp>
      <p:sp>
        <p:nvSpPr>
          <p:cNvPr id="6" name="Shape 4">
            <a:extLst xmlns:a="http://schemas.openxmlformats.org/drawingml/2006/main">
              <a:ext uri="{FF2B5EF4-FFF2-40B4-BE49-F238E27FC236}">
                <a16:creationId xmlns:a16="http://schemas.microsoft.com/office/drawing/2014/main" id="{A4344589-F278-4DE6-827A-56B022CE4018}"/>
              </a:ext>
            </a:extLst>
          </p:cNvPr>
          <p:cNvSpPr>
            <a:spLocks xmlns:a="http://schemas.openxmlformats.org/drawingml/2006/main" noGrp="1"/>
          </p:cNvSpPr>
          <p:nvPr/>
        </p:nvSpPr>
        <p:spPr>
          <a:xfrm xmlns:a="http://schemas.openxmlformats.org/drawingml/2006/main">
            <a:off x="868680" y="2148840"/>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7" name="Shape 5">
            <a:extLst xmlns:a="http://schemas.openxmlformats.org/drawingml/2006/main">
              <a:ext uri="{FF2B5EF4-FFF2-40B4-BE49-F238E27FC236}">
                <a16:creationId xmlns:a16="http://schemas.microsoft.com/office/drawing/2014/main" id="{97FE33C5-D793-4A99-8628-834FCDF31D64}"/>
              </a:ext>
            </a:extLst>
          </p:cNvPr>
          <p:cNvSpPr>
            <a:spLocks xmlns:a="http://schemas.openxmlformats.org/drawingml/2006/main" noGrp="1"/>
          </p:cNvSpPr>
          <p:nvPr/>
        </p:nvSpPr>
        <p:spPr>
          <a:xfrm xmlns:a="http://schemas.openxmlformats.org/drawingml/2006/main">
            <a:off x="1344168" y="2148840"/>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8" name="Shape 6">
            <a:extLst xmlns:a="http://schemas.openxmlformats.org/drawingml/2006/main">
              <a:ext uri="{FF2B5EF4-FFF2-40B4-BE49-F238E27FC236}">
                <a16:creationId xmlns:a16="http://schemas.microsoft.com/office/drawing/2014/main" id="{EDA810D0-C515-4471-AF87-F6111D9549AB}"/>
              </a:ext>
            </a:extLst>
          </p:cNvPr>
          <p:cNvSpPr>
            <a:spLocks xmlns:a="http://schemas.openxmlformats.org/drawingml/2006/main" noGrp="1"/>
          </p:cNvSpPr>
          <p:nvPr/>
        </p:nvSpPr>
        <p:spPr>
          <a:xfrm xmlns:a="http://schemas.openxmlformats.org/drawingml/2006/main">
            <a:off x="1819656" y="2148840"/>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9" name="Shape 7">
            <a:extLst xmlns:a="http://schemas.openxmlformats.org/drawingml/2006/main">
              <a:ext uri="{FF2B5EF4-FFF2-40B4-BE49-F238E27FC236}">
                <a16:creationId xmlns:a16="http://schemas.microsoft.com/office/drawing/2014/main" id="{7B11DCBA-2517-4455-AFAC-62A53C6469F0}"/>
              </a:ext>
            </a:extLst>
          </p:cNvPr>
          <p:cNvSpPr>
            <a:spLocks xmlns:a="http://schemas.openxmlformats.org/drawingml/2006/main" noGrp="1"/>
          </p:cNvSpPr>
          <p:nvPr/>
        </p:nvSpPr>
        <p:spPr>
          <a:xfrm xmlns:a="http://schemas.openxmlformats.org/drawingml/2006/main">
            <a:off x="868680" y="2624328"/>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10" name="Shape 8">
            <a:extLst xmlns:a="http://schemas.openxmlformats.org/drawingml/2006/main">
              <a:ext uri="{FF2B5EF4-FFF2-40B4-BE49-F238E27FC236}">
                <a16:creationId xmlns:a16="http://schemas.microsoft.com/office/drawing/2014/main" id="{3113FDC8-84AF-47E4-A760-37B35C9F3E8B}"/>
              </a:ext>
            </a:extLst>
          </p:cNvPr>
          <p:cNvSpPr>
            <a:spLocks xmlns:a="http://schemas.openxmlformats.org/drawingml/2006/main" noGrp="1"/>
          </p:cNvSpPr>
          <p:nvPr/>
        </p:nvSpPr>
        <p:spPr>
          <a:xfrm xmlns:a="http://schemas.openxmlformats.org/drawingml/2006/main">
            <a:off x="1344168" y="2624328"/>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11" name="Shape 9">
            <a:extLst xmlns:a="http://schemas.openxmlformats.org/drawingml/2006/main">
              <a:ext uri="{FF2B5EF4-FFF2-40B4-BE49-F238E27FC236}">
                <a16:creationId xmlns:a16="http://schemas.microsoft.com/office/drawing/2014/main" id="{AC98584E-D704-4E44-9D7C-D831CDD28513}"/>
              </a:ext>
            </a:extLst>
          </p:cNvPr>
          <p:cNvSpPr>
            <a:spLocks xmlns:a="http://schemas.openxmlformats.org/drawingml/2006/main" noGrp="1"/>
          </p:cNvSpPr>
          <p:nvPr/>
        </p:nvSpPr>
        <p:spPr>
          <a:xfrm xmlns:a="http://schemas.openxmlformats.org/drawingml/2006/main">
            <a:off x="1819656" y="2624328"/>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12" name="Shape 10">
            <a:extLst xmlns:a="http://schemas.openxmlformats.org/drawingml/2006/main">
              <a:ext uri="{FF2B5EF4-FFF2-40B4-BE49-F238E27FC236}">
                <a16:creationId xmlns:a16="http://schemas.microsoft.com/office/drawing/2014/main" id="{DC95BE59-2A3A-4683-992D-9E7CD3F39689}"/>
              </a:ext>
            </a:extLst>
          </p:cNvPr>
          <p:cNvSpPr>
            <a:spLocks xmlns:a="http://schemas.openxmlformats.org/drawingml/2006/main" noGrp="1"/>
          </p:cNvSpPr>
          <p:nvPr/>
        </p:nvSpPr>
        <p:spPr>
          <a:xfrm xmlns:a="http://schemas.openxmlformats.org/drawingml/2006/main">
            <a:off x="868680" y="3099816"/>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13" name="Shape 11">
            <a:extLst xmlns:a="http://schemas.openxmlformats.org/drawingml/2006/main">
              <a:ext uri="{FF2B5EF4-FFF2-40B4-BE49-F238E27FC236}">
                <a16:creationId xmlns:a16="http://schemas.microsoft.com/office/drawing/2014/main" id="{33D5D885-BF93-4CC2-906F-5E899F4B09D3}"/>
              </a:ext>
            </a:extLst>
          </p:cNvPr>
          <p:cNvSpPr>
            <a:spLocks xmlns:a="http://schemas.openxmlformats.org/drawingml/2006/main" noGrp="1"/>
          </p:cNvSpPr>
          <p:nvPr/>
        </p:nvSpPr>
        <p:spPr>
          <a:xfrm xmlns:a="http://schemas.openxmlformats.org/drawingml/2006/main">
            <a:off x="1344168" y="3099816"/>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14" name="Shape 12">
            <a:extLst xmlns:a="http://schemas.openxmlformats.org/drawingml/2006/main">
              <a:ext uri="{FF2B5EF4-FFF2-40B4-BE49-F238E27FC236}">
                <a16:creationId xmlns:a16="http://schemas.microsoft.com/office/drawing/2014/main" id="{89F192C1-55CD-4335-8A66-6489D8E438CC}"/>
              </a:ext>
            </a:extLst>
          </p:cNvPr>
          <p:cNvSpPr>
            <a:spLocks xmlns:a="http://schemas.openxmlformats.org/drawingml/2006/main" noGrp="1"/>
          </p:cNvSpPr>
          <p:nvPr/>
        </p:nvSpPr>
        <p:spPr>
          <a:xfrm xmlns:a="http://schemas.openxmlformats.org/drawingml/2006/main">
            <a:off x="1819656" y="3099816"/>
            <a:ext cx="475488" cy="475488"/>
          </a:xfrm>
          <a:prstGeom xmlns:a="http://schemas.openxmlformats.org/drawingml/2006/main" prst="rect">
            <a:avLst/>
          </a:prstGeom>
          <a:solidFill xmlns:a="http://schemas.openxmlformats.org/drawingml/2006/main">
            <a:srgbClr val="EEF3F9"/>
          </a:solidFill>
          <a:ln xmlns:a="http://schemas.openxmlformats.org/drawingml/2006/main" w="12700">
            <a:solidFill>
              <a:srgbClr val="1F4E79"/>
            </a:solidFill>
            <a:prstDash val="solid"/>
          </a:ln>
        </p:spPr>
      </p:sp>
      <p:sp>
        <p:nvSpPr>
          <p:cNvPr id="15" name="Text 13">
            <a:extLst xmlns:a="http://schemas.openxmlformats.org/drawingml/2006/main">
              <a:ext uri="{FF2B5EF4-FFF2-40B4-BE49-F238E27FC236}">
                <a16:creationId xmlns:a16="http://schemas.microsoft.com/office/drawing/2014/main" id="{8CC8B794-73BB-4BD5-91A8-FA2E55D23E69}"/>
              </a:ext>
            </a:extLst>
          </p:cNvPr>
          <p:cNvSpPr>
            <a:spLocks xmlns:a="http://schemas.openxmlformats.org/drawingml/2006/main" noGrp="1"/>
          </p:cNvSpPr>
          <p:nvPr/>
        </p:nvSpPr>
        <p:spPr>
          <a:xfrm xmlns:a="http://schemas.openxmlformats.org/drawingml/2006/main">
            <a:off x="868680" y="1911096"/>
            <a:ext cx="47548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x002</a:t>
            </a:r>
            <a:endParaRPr sz="850"/>
          </a:p>
        </p:txBody>
      </p:sp>
      <p:sp>
        <p:nvSpPr>
          <p:cNvPr id="16" name="Text 14">
            <a:extLst xmlns:a="http://schemas.openxmlformats.org/drawingml/2006/main">
              <a:ext uri="{FF2B5EF4-FFF2-40B4-BE49-F238E27FC236}">
                <a16:creationId xmlns:a16="http://schemas.microsoft.com/office/drawing/2014/main" id="{6437DD6B-D994-475B-AB01-CC464B973BCB}"/>
              </a:ext>
            </a:extLst>
          </p:cNvPr>
          <p:cNvSpPr>
            <a:spLocks xmlns:a="http://schemas.openxmlformats.org/drawingml/2006/main" noGrp="1"/>
          </p:cNvSpPr>
          <p:nvPr/>
        </p:nvSpPr>
        <p:spPr>
          <a:xfrm xmlns:a="http://schemas.openxmlformats.org/drawingml/2006/main">
            <a:off x="1344168" y="1911096"/>
            <a:ext cx="47548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x005</a:t>
            </a:r>
            <a:endParaRPr sz="850"/>
          </a:p>
        </p:txBody>
      </p:sp>
      <p:sp>
        <p:nvSpPr>
          <p:cNvPr id="17" name="Text 15">
            <a:extLst xmlns:a="http://schemas.openxmlformats.org/drawingml/2006/main">
              <a:ext uri="{FF2B5EF4-FFF2-40B4-BE49-F238E27FC236}">
                <a16:creationId xmlns:a16="http://schemas.microsoft.com/office/drawing/2014/main" id="{30E4C3D0-605A-40EE-A0DC-2A2D0676DF0F}"/>
              </a:ext>
            </a:extLst>
          </p:cNvPr>
          <p:cNvSpPr>
            <a:spLocks xmlns:a="http://schemas.openxmlformats.org/drawingml/2006/main" noGrp="1"/>
          </p:cNvSpPr>
          <p:nvPr/>
        </p:nvSpPr>
        <p:spPr>
          <a:xfrm xmlns:a="http://schemas.openxmlformats.org/drawingml/2006/main">
            <a:off x="1819656" y="1911096"/>
            <a:ext cx="47548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x010</a:t>
            </a:r>
            <a:endParaRPr sz="850"/>
          </a:p>
        </p:txBody>
      </p:sp>
      <p:sp>
        <p:nvSpPr>
          <p:cNvPr id="18" name="Text 16">
            <a:extLst xmlns:a="http://schemas.openxmlformats.org/drawingml/2006/main">
              <a:ext uri="{FF2B5EF4-FFF2-40B4-BE49-F238E27FC236}">
                <a16:creationId xmlns:a16="http://schemas.microsoft.com/office/drawing/2014/main" id="{849E0D93-1B7B-4C8D-9613-B4B28E65011C}"/>
              </a:ext>
            </a:extLst>
          </p:cNvPr>
          <p:cNvSpPr>
            <a:spLocks xmlns:a="http://schemas.openxmlformats.org/drawingml/2006/main" noGrp="1"/>
          </p:cNvSpPr>
          <p:nvPr/>
        </p:nvSpPr>
        <p:spPr>
          <a:xfrm xmlns:a="http://schemas.openxmlformats.org/drawingml/2006/main">
            <a:off x="393192" y="2276856"/>
            <a:ext cx="43891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x002</a:t>
            </a:r>
            <a:endParaRPr sz="850"/>
          </a:p>
        </p:txBody>
      </p:sp>
      <p:sp>
        <p:nvSpPr>
          <p:cNvPr id="19" name="Text 17">
            <a:extLst xmlns:a="http://schemas.openxmlformats.org/drawingml/2006/main">
              <a:ext uri="{FF2B5EF4-FFF2-40B4-BE49-F238E27FC236}">
                <a16:creationId xmlns:a16="http://schemas.microsoft.com/office/drawing/2014/main" id="{082FB104-145E-486E-B8CC-DBB827FE5E17}"/>
              </a:ext>
            </a:extLst>
          </p:cNvPr>
          <p:cNvSpPr>
            <a:spLocks xmlns:a="http://schemas.openxmlformats.org/drawingml/2006/main" noGrp="1"/>
          </p:cNvSpPr>
          <p:nvPr/>
        </p:nvSpPr>
        <p:spPr>
          <a:xfrm xmlns:a="http://schemas.openxmlformats.org/drawingml/2006/main">
            <a:off x="393192" y="2752344"/>
            <a:ext cx="43891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x005</a:t>
            </a:r>
            <a:endParaRPr sz="850"/>
          </a:p>
        </p:txBody>
      </p:sp>
      <p:sp>
        <p:nvSpPr>
          <p:cNvPr id="20" name="Text 18">
            <a:extLst xmlns:a="http://schemas.openxmlformats.org/drawingml/2006/main">
              <a:ext uri="{FF2B5EF4-FFF2-40B4-BE49-F238E27FC236}">
                <a16:creationId xmlns:a16="http://schemas.microsoft.com/office/drawing/2014/main" id="{CFFF6CD0-572F-4644-9DDF-D6FB01E86576}"/>
              </a:ext>
            </a:extLst>
          </p:cNvPr>
          <p:cNvSpPr>
            <a:spLocks xmlns:a="http://schemas.openxmlformats.org/drawingml/2006/main" noGrp="1"/>
          </p:cNvSpPr>
          <p:nvPr/>
        </p:nvSpPr>
        <p:spPr>
          <a:xfrm xmlns:a="http://schemas.openxmlformats.org/drawingml/2006/main">
            <a:off x="393192" y="3227832"/>
            <a:ext cx="43891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x010</a:t>
            </a:r>
            <a:endParaRPr sz="850"/>
          </a:p>
        </p:txBody>
      </p:sp>
      <p:sp>
        <p:nvSpPr>
          <p:cNvPr id="21" name="Text 19">
            <a:extLst xmlns:a="http://schemas.openxmlformats.org/drawingml/2006/main">
              <a:ext uri="{FF2B5EF4-FFF2-40B4-BE49-F238E27FC236}">
                <a16:creationId xmlns:a16="http://schemas.microsoft.com/office/drawing/2014/main" id="{75CDB46F-0702-4187-9B22-04C9F31613A5}"/>
              </a:ext>
            </a:extLst>
          </p:cNvPr>
          <p:cNvSpPr>
            <a:spLocks xmlns:a="http://schemas.openxmlformats.org/drawingml/2006/main" noGrp="1"/>
          </p:cNvSpPr>
          <p:nvPr/>
        </p:nvSpPr>
        <p:spPr>
          <a:xfrm xmlns:a="http://schemas.openxmlformats.org/drawingml/2006/main">
            <a:off x="502920" y="37124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75" b="1">
                <a:solidFill>
                  <a:srgbClr val="9E2A2B"/>
                </a:solidFill>
                <a:latin typeface="Arial"/>
                <a:ea typeface="Arial"/>
                <a:cs typeface="Arial"/>
              </a:rPr>
              <a:t>= 9 nominal pair-label slots — composition is a new label axis, not an inherited physical x</a:t>
            </a:r>
            <a:endParaRPr sz="1050"/>
          </a:p>
        </p:txBody>
      </p:sp>
      <p:sp>
        <p:nvSpPr>
          <p:cNvPr id="22" name="Text 20">
            <a:extLst xmlns:a="http://schemas.openxmlformats.org/drawingml/2006/main">
              <a:ext uri="{FF2B5EF4-FFF2-40B4-BE49-F238E27FC236}">
                <a16:creationId xmlns:a16="http://schemas.microsoft.com/office/drawing/2014/main" id="{DACDFCAA-4D7E-4146-B149-70F65987DC34}"/>
              </a:ext>
            </a:extLst>
          </p:cNvPr>
          <p:cNvSpPr>
            <a:spLocks xmlns:a="http://schemas.openxmlformats.org/drawingml/2006/main" noGrp="1"/>
          </p:cNvSpPr>
          <p:nvPr/>
        </p:nvSpPr>
        <p:spPr>
          <a:xfrm xmlns:a="http://schemas.openxmlformats.org/drawingml/2006/main">
            <a:off x="4892040" y="1371600"/>
            <a:ext cx="3794760" cy="4389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25" b="1">
                <a:solidFill>
                  <a:srgbClr val="262626"/>
                </a:solidFill>
                <a:latin typeface="Arial"/>
                <a:ea typeface="Arial"/>
                <a:cs typeface="Arial"/>
              </a:rPr>
              <a:t>Build explicit co-substituted structures for prioritized pairs: site assignment · charge/Li-count closure · formation energy</a:t>
            </a:r>
            <a:endParaRPr sz="1050"/>
          </a:p>
          <a:p xmlns:a="http://schemas.openxmlformats.org/drawingml/2006/main">
            <a:pPr marL="127000" indent="-127000">
              <a:spcAft>
                <a:spcPts val="500"/>
              </a:spcAft>
              <a:buSzPct val="100000"/>
              <a:buChar char="·"/>
            </a:pPr>
            <a:r>
              <a:rPr sz="1050" b="1">
                <a:solidFill>
                  <a:srgbClr val="262626"/>
                </a:solidFill>
                <a:latin typeface="Arial"/>
                <a:ea typeface="Arial"/>
                <a:cs typeface="Arial"/>
              </a:rPr>
              <a:t/>
            </a:r>
            <a:endParaRPr sz="1050"/>
          </a:p>
          <a:p xmlns:a="http://schemas.openxmlformats.org/drawingml/2006/main">
            <a:pPr marL="127000" indent="-127000">
              <a:spcAft>
                <a:spcPts val="500"/>
              </a:spcAft>
              <a:buSzPct val="100000"/>
              <a:buChar char="·"/>
            </a:pPr>
            <a:r>
              <a:rPr sz="1125" b="1">
                <a:solidFill>
                  <a:srgbClr val="262626"/>
                </a:solidFill>
                <a:latin typeface="Arial"/>
                <a:ea typeface="Arial"/>
                <a:cs typeface="Arial"/>
              </a:rPr>
              <a:t>Success = frozen prospective co-dopant holdouts beat a mean/heuristic baseline under L2DO-style splits</a:t>
            </a:r>
            <a:endParaRPr sz="1050"/>
          </a:p>
          <a:p xmlns:a="http://schemas.openxmlformats.org/drawingml/2006/main">
            <a:pPr marL="127000" indent="-127000">
              <a:spcAft>
                <a:spcPts val="200"/>
              </a:spcAft>
              <a:buSzPct val="100000"/>
              <a:buChar char="·"/>
            </a:pPr>
            <a:r>
              <a:rPr sz="1050" b="1">
                <a:solidFill>
                  <a:srgbClr val="262626"/>
                </a:solidFill>
                <a:latin typeface="Arial"/>
                <a:ea typeface="Arial"/>
                <a:cs typeface="Arial"/>
              </a:rPr>
              <a:t/>
            </a:r>
            <a:endParaRPr sz="1050"/>
          </a:p>
          <a:p xmlns:a="http://schemas.openxmlformats.org/drawingml/2006/main">
            <a:pPr marL="254000" lvl="1" indent="-127000">
              <a:spcAft>
                <a:spcPts val="500"/>
              </a:spcAft>
              <a:buSzPct val="100000"/>
              <a:buChar char="–"/>
            </a:pPr>
            <a:r>
              <a:rPr sz="1125">
                <a:solidFill>
                  <a:srgbClr val="7F7F7F"/>
                </a:solidFill>
                <a:latin typeface="Arial"/>
                <a:ea typeface="Arial"/>
                <a:cs typeface="Arial"/>
              </a:rPr>
              <a:t>Failure = complementarity hypothesis is falsified — still useful</a:t>
            </a:r>
            <a:endParaRPr sz="1050"/>
          </a:p>
          <a:p xmlns:a="http://schemas.openxmlformats.org/drawingml/2006/main">
            <a:pPr marL="254000" lvl="1" indent="-127000">
              <a:spcAft>
                <a:spcPts val="500"/>
              </a:spcAft>
              <a:buSzPct val="100000"/>
              <a:buChar char="–"/>
            </a:pPr>
            <a:r>
              <a:rPr sz="1050">
                <a:solidFill>
                  <a:srgbClr val="7F7F7F"/>
                </a:solidFill>
                <a:latin typeface="Arial"/>
                <a:ea typeface="Arial"/>
                <a:cs typeface="Arial"/>
              </a:rPr>
              <a:t/>
            </a:r>
            <a:endParaRPr sz="1050"/>
          </a:p>
          <a:p xmlns:a="http://schemas.openxmlformats.org/drawingml/2006/main">
            <a:pPr marL="254000" lvl="1" indent="-127000">
              <a:spcAft>
                <a:spcPts val="500"/>
              </a:spcAft>
              <a:buSzPct val="100000"/>
              <a:buChar char="–"/>
            </a:pPr>
            <a:r>
              <a:rPr sz="1125">
                <a:solidFill>
                  <a:srgbClr val="7F7F7F"/>
                </a:solidFill>
                <a:latin typeface="Arial"/>
                <a:ea typeface="Arial"/>
                <a:cs typeface="Arial"/>
              </a:rPr>
              <a:t>Loop: propose → calculate → validate → retrain → select the next structure</a:t>
            </a:r>
            <a:endParaRPr sz="1050"/>
          </a:p>
        </p:txBody>
      </p:sp>
      <p:sp>
        <p:nvSpPr>
          <p:cNvPr id="24" name="Text 21">
            <a:extLst xmlns:a="http://schemas.openxmlformats.org/drawingml/2006/main">
              <a:ext uri="{FF2B5EF4-FFF2-40B4-BE49-F238E27FC236}">
                <a16:creationId xmlns:a16="http://schemas.microsoft.com/office/drawing/2014/main" id="{A8C2F3F0-7C70-4BE8-A543-CEA90A67ADAE}"/>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25" name="Text 22">
            <a:extLst xmlns:a="http://schemas.openxmlformats.org/drawingml/2006/main">
              <a:ext uri="{FF2B5EF4-FFF2-40B4-BE49-F238E27FC236}">
                <a16:creationId xmlns:a16="http://schemas.microsoft.com/office/drawing/2014/main" id="{444CDADA-D389-479F-81B7-3C2B7E22F915}"/>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spTree>
    <p:extLst>
      <p:ext uri="{BB962C8B-B14F-4D97-AF65-F5344CB8AC3E}">
        <p14:creationId xmlns:p14="http://schemas.microsoft.com/office/powerpoint/2010/main" val="15343461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D9A9B0-D986-47E3-87ED-BFE5ADF9A357}"/>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Verify</a:t>
            </a:r>
            <a:endParaRPr sz="1100"/>
          </a:p>
        </p:txBody>
      </p:sp>
      <p:sp>
        <p:nvSpPr>
          <p:cNvPr id="3" name="Text 1">
            <a:extLst xmlns:a="http://schemas.openxmlformats.org/drawingml/2006/main">
              <a:ext uri="{FF2B5EF4-FFF2-40B4-BE49-F238E27FC236}">
                <a16:creationId xmlns:a16="http://schemas.microsoft.com/office/drawing/2014/main" id="{A139F3F9-D0A6-4FA1-BD72-AA3A54092BC8}"/>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Retracted verdicts, and the gates that caught them</a:t>
            </a:r>
            <a:endParaRPr sz="2000"/>
          </a:p>
        </p:txBody>
      </p:sp>
      <p:sp>
        <p:nvSpPr>
          <p:cNvPr id="4" name="Shape 2">
            <a:extLst xmlns:a="http://schemas.openxmlformats.org/drawingml/2006/main">
              <a:ext uri="{FF2B5EF4-FFF2-40B4-BE49-F238E27FC236}">
                <a16:creationId xmlns:a16="http://schemas.microsoft.com/office/drawing/2014/main" id="{617D78EF-1719-4218-9C16-C3F40C776E6F}"/>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4" name="Table 0"/>
          <p:cNvGraphicFramePr/>
          <p:nvPr/>
        </p:nvGraphicFramePr>
        <p:xfrm>
          <a:off xmlns:a="http://schemas.openxmlformats.org/drawingml/2006/main" x="502920" y="1325880"/>
          <a:ext xmlns:a="http://schemas.openxmlformats.org/drawingml/2006/main" cx="8138160" cy="914400"/>
        </p:xfrm>
        <a:graphic xmlns:a="http://schemas.openxmlformats.org/drawingml/2006/main">
          <a:graphicData uri="http://schemas.openxmlformats.org/drawingml/2006/table">
            <a:tbl>
              <a:tblPr/>
              <a:tblGrid>
                <a:gridCol w="365760"/>
                <a:gridCol w="2377440"/>
                <a:gridCol w="2743200"/>
                <a:gridCol w="2651760"/>
              </a:tblGrid>
              <a:tr h="306324">
                <a:tc>
                  <a:txBody>
                    <a:bodyPr/>
                    <a:lstStyle/>
                    <a:p>
                      <a:pPr marL="0" indent="0">
                        <a:buNone/>
                      </a:pPr>
                      <a:r>
                        <a:rPr sz="880" b="1">
                          <a:solidFill>
                            <a:srgbClr val="FFFFFF"/>
                          </a:solidFill>
                          <a:latin typeface="Arial"/>
                          <a:ea typeface="Arial"/>
                          <a:cs typeface="Arial"/>
                        </a:rPr>
                        <a:t>#</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880" b="1">
                          <a:solidFill>
                            <a:srgbClr val="FFFFFF"/>
                          </a:solidFill>
                          <a:latin typeface="Arial"/>
                          <a:ea typeface="Arial"/>
                          <a:cs typeface="Arial"/>
                        </a:rPr>
                        <a:t>Retracted claim</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880" b="1">
                          <a:solidFill>
                            <a:srgbClr val="FFFFFF"/>
                          </a:solidFill>
                          <a:latin typeface="Arial"/>
                          <a:ea typeface="Arial"/>
                          <a:cs typeface="Arial"/>
                        </a:rPr>
                        <a:t>What was wrong</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880" b="1">
                          <a:solidFill>
                            <a:srgbClr val="FFFFFF"/>
                          </a:solidFill>
                          <a:latin typeface="Arial"/>
                          <a:ea typeface="Arial"/>
                          <a:cs typeface="Arial"/>
                        </a:rPr>
                        <a:t>Caught by</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06324">
                <a:tc>
                  <a:txBody>
                    <a:bodyPr/>
                    <a:lstStyle/>
                    <a:p>
                      <a:pPr marL="0" indent="0">
                        <a:buNone/>
                      </a:pPr>
                      <a:r>
                        <a:rPr sz="880">
                          <a:solidFill>
                            <a:srgbClr val="262626"/>
                          </a:solidFill>
                          <a:latin typeface="Arial"/>
                          <a:ea typeface="Arial"/>
                          <a:cs typeface="Arial"/>
                        </a:rPr>
                        <a:t>1</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σ ratio 1.33×</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single seed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multi-seed rule</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2</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comp1 Ea 0.253 eV</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MSD not in diffusive regime</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β-gate (0/6 pass)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3</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LPSOCl Ea 0.287 eV</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600 K β = 0.61 (caged)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β-gate → on hold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4</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gaps read from DOS threshold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~0.3 eV under</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fixed-occ eigenvalue rule</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5</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air_hsab grades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wrong driver (softness ≠ oxophilicity)</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[Zhu20] SI check — 9/35 off</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6</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SDCP frozen UMA score −0.258 eV</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frozen slab blocked relaxation</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constraint variation → Li-transfer pose; not Eads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b="1">
                          <a:solidFill>
                            <a:srgbClr val="9E2A2B"/>
                          </a:solidFill>
                          <a:latin typeface="Arial"/>
                          <a:ea typeface="Arial"/>
                          <a:cs typeface="Arial"/>
                        </a:rPr>
                        <a:t>7</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9E2A2B"/>
                          </a:solidFill>
                          <a:latin typeface="Arial"/>
                          <a:ea typeface="Arial"/>
                          <a:cs typeface="Arial"/>
                        </a:rPr>
                        <a:t>Li-transfer pose −1.27 to −1.465 eV</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MLIP lacks charge-state energetics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b="1">
                          <a:solidFill>
                            <a:srgbClr val="9E2A2B"/>
                          </a:solidFill>
                          <a:latin typeface="Arial"/>
                          <a:ea typeface="Arial"/>
                          <a:cs typeface="Arial"/>
                        </a:rPr>
                        <a:t>old DFT endpoint +0.336/+0.340 eV; v2 recheck open</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8</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SDCP site / adsorption differences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9 meV, −32/−26 meV, +0.34 eV were conflated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matched-endpoint rule; site preference unresolved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9</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Nd gaps (3 phases)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quantity undefined (metallic SCF)</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fixed-occ validity condition</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10</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Nd₂S₃ gap 1.79 eV</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metastable theoretical polymorph (mp-32586) picked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material-id pinning → 0.760 (obs. Pnma)</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06324">
                <a:tc>
                  <a:txBody>
                    <a:bodyPr/>
                    <a:lstStyle/>
                    <a:p>
                      <a:pPr marL="0" indent="0">
                        <a:buNone/>
                      </a:pPr>
                      <a:r>
                        <a:rPr sz="880">
                          <a:solidFill>
                            <a:srgbClr val="262626"/>
                          </a:solidFill>
                          <a:latin typeface="Arial"/>
                          <a:ea typeface="Arial"/>
                          <a:cs typeface="Arial"/>
                        </a:rPr>
                        <a:t>11</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4 canonical gaps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values fine — run files missing</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provenance audit (Part 6 close)</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6" name="Text 3">
            <a:extLst xmlns:a="http://schemas.openxmlformats.org/drawingml/2006/main">
              <a:ext uri="{FF2B5EF4-FFF2-40B4-BE49-F238E27FC236}">
                <a16:creationId xmlns:a16="http://schemas.microsoft.com/office/drawing/2014/main" id="{2E2663A0-BC1B-40B0-955E-00B28575599E}"/>
              </a:ext>
            </a:extLst>
          </p:cNvPr>
          <p:cNvSpPr>
            <a:spLocks xmlns:a="http://schemas.openxmlformats.org/drawingml/2006/main" noGrp="1"/>
          </p:cNvSpPr>
          <p:nvPr/>
        </p:nvSpPr>
        <p:spPr>
          <a:xfrm xmlns:a="http://schemas.openxmlformats.org/drawingml/2006/main">
            <a:off x="502920" y="5486400"/>
            <a:ext cx="8138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00" b="1">
                <a:solidFill>
                  <a:srgbClr val="1F4E79"/>
                </a:solidFill>
                <a:latin typeface="Arial"/>
                <a:ea typeface="Arial"/>
                <a:cs typeface="Arial"/>
              </a:rPr>
              <a:t>Ledger: 9 retracted · 1 on hold (#3) · 1 provenance-flagged (#11) — and 5 of 11 landed within the last four days</a:t>
            </a:r>
            <a:endParaRPr sz="1100"/>
          </a:p>
        </p:txBody>
      </p:sp>
      <p:sp>
        <p:nvSpPr>
          <p:cNvPr id="8" name="Text 4">
            <a:extLst xmlns:a="http://schemas.openxmlformats.org/drawingml/2006/main">
              <a:ext uri="{FF2B5EF4-FFF2-40B4-BE49-F238E27FC236}">
                <a16:creationId xmlns:a16="http://schemas.microsoft.com/office/drawing/2014/main" id="{A80BF7D6-E7F9-480F-823F-9B0A23626FCF}"/>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9" name="Text 5">
            <a:extLst xmlns:a="http://schemas.openxmlformats.org/drawingml/2006/main">
              <a:ext uri="{FF2B5EF4-FFF2-40B4-BE49-F238E27FC236}">
                <a16:creationId xmlns:a16="http://schemas.microsoft.com/office/drawing/2014/main" id="{5E25347E-EDC1-42CC-B21E-1C78A51D3910}"/>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18</a:t>
            </a:r>
            <a:endParaRPr sz="900"/>
          </a:p>
        </p:txBody>
      </p:sp>
    </p:spTree>
    <p:extLst>
      <p:ext uri="{BB962C8B-B14F-4D97-AF65-F5344CB8AC3E}">
        <p14:creationId xmlns:p14="http://schemas.microsoft.com/office/powerpoint/2010/main" val="203782192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0FD10A-DC5D-499D-BA9C-AD00BBB54EA7}"/>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Conclusions</a:t>
            </a:r>
            <a:endParaRPr sz="1100"/>
          </a:p>
        </p:txBody>
      </p:sp>
      <p:sp>
        <p:nvSpPr>
          <p:cNvPr id="3" name="Text 1">
            <a:extLst xmlns:a="http://schemas.openxmlformats.org/drawingml/2006/main">
              <a:ext uri="{FF2B5EF4-FFF2-40B4-BE49-F238E27FC236}">
                <a16:creationId xmlns:a16="http://schemas.microsoft.com/office/drawing/2014/main" id="{3D71AA1F-B41C-46AA-8208-89B622E8A5BB}"/>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What we deliver, then the one sentence</a:t>
            </a:r>
            <a:endParaRPr sz="2000"/>
          </a:p>
        </p:txBody>
      </p:sp>
      <p:sp>
        <p:nvSpPr>
          <p:cNvPr id="4" name="Shape 2">
            <a:extLst xmlns:a="http://schemas.openxmlformats.org/drawingml/2006/main">
              <a:ext uri="{FF2B5EF4-FFF2-40B4-BE49-F238E27FC236}">
                <a16:creationId xmlns:a16="http://schemas.microsoft.com/office/drawing/2014/main" id="{A5340DAE-28E3-4FB8-A9EC-FF12969C2F49}"/>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6"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5577840"/>
                <a:gridCol w="2560320"/>
              </a:tblGrid>
              <a:tr h="347472">
                <a:tc>
                  <a:txBody>
                    <a:bodyPr/>
                    <a:lstStyle/>
                    <a:p>
                      <a:pPr marL="0" indent="0">
                        <a:buNone/>
                      </a:pPr>
                      <a:r>
                        <a:rPr sz="1050" b="1">
                          <a:solidFill>
                            <a:srgbClr val="FFFFFF"/>
                          </a:solidFill>
                          <a:latin typeface="Arial"/>
                          <a:ea typeface="Arial"/>
                          <a:cs typeface="Arial"/>
                        </a:rPr>
                        <a:t>Deliverable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50" b="1">
                          <a:solidFill>
                            <a:srgbClr val="FFFFFF"/>
                          </a:solidFill>
                          <a:latin typeface="Arial"/>
                          <a:ea typeface="Arial"/>
                          <a:cs typeface="Arial"/>
                        </a:rPr>
                        <a:t>State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47472">
                <a:tc>
                  <a:txBody>
                    <a:bodyPr/>
                    <a:lstStyle/>
                    <a:p>
                      <a:pPr marL="0" indent="0">
                        <a:buNone/>
                      </a:pPr>
                      <a:r>
                        <a:rPr sz="1050">
                          <a:solidFill>
                            <a:srgbClr val="262626"/>
                          </a:solidFill>
                          <a:latin typeface="Arial"/>
                          <a:ea typeface="Arial"/>
                          <a:cs typeface="Arial"/>
                        </a:rPr>
                        <a:t>LPSCl descriptor lesson</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gap Δ = 0.033 eV; structural axes motivated; transport causality open</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47472">
                <a:tc>
                  <a:txBody>
                    <a:bodyPr/>
                    <a:lstStyle/>
                    <a:p>
                      <a:pPr marL="0" indent="0">
                        <a:buNone/>
                      </a:pPr>
                      <a:r>
                        <a:rPr sz="1050">
                          <a:solidFill>
                            <a:srgbClr val="262626"/>
                          </a:solidFill>
                          <a:latin typeface="Arial"/>
                          <a:ea typeface="Arial"/>
                          <a:cs typeface="Arial"/>
                        </a:rPr>
                        <a:t>Screening evidence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47-species O/F snapshot (141 rows); 273 is a separate run-slot count</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47472">
                <a:tc>
                  <a:txBody>
                    <a:bodyPr/>
                    <a:lstStyle/>
                    <a:p>
                      <a:pPr marL="0" indent="0">
                        <a:buNone/>
                      </a:pPr>
                      <a:r>
                        <a:rPr sz="1050">
                          <a:solidFill>
                            <a:srgbClr val="262626"/>
                          </a:solidFill>
                          <a:latin typeface="Arial"/>
                          <a:ea typeface="Arial"/>
                          <a:cs typeface="Arial"/>
                        </a:rPr>
                        <a:t>Gate result</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47 → 43 → 25 → 11 through heuristic G4; G5 ranks only</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47472">
                <a:tc>
                  <a:txBody>
                    <a:bodyPr/>
                    <a:lstStyle/>
                    <a:p>
                      <a:pPr marL="0" indent="0">
                        <a:buNone/>
                      </a:pPr>
                      <a:r>
                        <a:rPr sz="1050">
                          <a:solidFill>
                            <a:srgbClr val="262626"/>
                          </a:solidFill>
                          <a:latin typeface="Arial"/>
                          <a:ea typeface="Arial"/>
                          <a:cs typeface="Arial"/>
                        </a:rPr>
                        <a:t>Co-doping</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1,081 H0 proxies; pair-CV 0.0892; no explicit pair labels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47472">
                <a:tc>
                  <a:txBody>
                    <a:bodyPr/>
                    <a:lstStyle/>
                    <a:p>
                      <a:pPr marL="0" indent="0">
                        <a:buNone/>
                      </a:pPr>
                      <a:r>
                        <a:rPr sz="1050">
                          <a:solidFill>
                            <a:srgbClr val="262626"/>
                          </a:solidFill>
                          <a:latin typeface="Arial"/>
                          <a:ea typeface="Arial"/>
                          <a:cs typeface="Arial"/>
                        </a:rPr>
                        <a:t>Provenance infrastructure</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live drift checks; flags ship with values</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47472">
                <a:tc>
                  <a:txBody>
                    <a:bodyPr/>
                    <a:lstStyle/>
                    <a:p>
                      <a:pPr marL="0" indent="0">
                        <a:buNone/>
                      </a:pPr>
                      <a:r>
                        <a:rPr sz="1050">
                          <a:solidFill>
                            <a:srgbClr val="262626"/>
                          </a:solidFill>
                          <a:latin typeface="Arial"/>
                          <a:ea typeface="Arial"/>
                          <a:cs typeface="Arial"/>
                        </a:rPr>
                        <a:t>Audit ledger</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50">
                          <a:solidFill>
                            <a:srgbClr val="262626"/>
                          </a:solidFill>
                          <a:latin typeface="Arial"/>
                          <a:ea typeface="Arial"/>
                          <a:cs typeface="Arial"/>
                        </a:rPr>
                        <a:t>9 retracted · 1 on hold · 1 provenance flag</a:t>
                      </a:r>
                      <a:endParaRPr sz="10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6" name="Shape 3">
            <a:extLst xmlns:a="http://schemas.openxmlformats.org/drawingml/2006/main">
              <a:ext uri="{FF2B5EF4-FFF2-40B4-BE49-F238E27FC236}">
                <a16:creationId xmlns:a16="http://schemas.microsoft.com/office/drawing/2014/main" id="{A59B3F4E-9084-4D08-898A-656AA80A2AF9}"/>
              </a:ext>
            </a:extLst>
          </p:cNvPr>
          <p:cNvSpPr>
            <a:spLocks xmlns:a="http://schemas.openxmlformats.org/drawingml/2006/main" noGrp="1"/>
          </p:cNvSpPr>
          <p:nvPr/>
        </p:nvSpPr>
        <p:spPr>
          <a:xfrm xmlns:a="http://schemas.openxmlformats.org/drawingml/2006/main">
            <a:off x="502920" y="4206240"/>
            <a:ext cx="8138160" cy="1051560"/>
          </a:xfrm>
          <a:prstGeom xmlns:a="http://schemas.openxmlformats.org/drawingml/2006/main" prst="roundRect">
            <a:avLst>
              <a:gd name="adj" fmla="val 6957"/>
            </a:avLst>
          </a:prstGeom>
          <a:solidFill xmlns:a="http://schemas.openxmlformats.org/drawingml/2006/main">
            <a:srgbClr val="1F4E79"/>
          </a:solidFill>
        </p:spPr>
      </p:sp>
      <p:sp>
        <p:nvSpPr>
          <p:cNvPr id="7" name="Text 4">
            <a:extLst xmlns:a="http://schemas.openxmlformats.org/drawingml/2006/main">
              <a:ext uri="{FF2B5EF4-FFF2-40B4-BE49-F238E27FC236}">
                <a16:creationId xmlns:a16="http://schemas.microsoft.com/office/drawing/2014/main" id="{9FC5162D-3028-43BC-8687-1D2A80D1D63D}"/>
              </a:ext>
            </a:extLst>
          </p:cNvPr>
          <p:cNvSpPr>
            <a:spLocks xmlns:a="http://schemas.openxmlformats.org/drawingml/2006/main" noGrp="1"/>
          </p:cNvSpPr>
          <p:nvPr/>
        </p:nvSpPr>
        <p:spPr>
          <a:xfrm xmlns:a="http://schemas.openxmlformats.org/drawingml/2006/main">
            <a:off x="777240" y="4206240"/>
            <a:ext cx="758952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FFFFFF"/>
                </a:solidFill>
                <a:latin typeface="Arial"/>
                <a:ea typeface="Arial"/>
                <a:cs typeface="Arial"/>
              </a:rPr>
              <a:t>The defensible output is a versioned snapshot, an audited heuristic shortlist, and a label-acquisition plan — not a discovered winner.</a:t>
            </a:r>
            <a:endParaRPr sz="1450"/>
          </a:p>
        </p:txBody>
      </p:sp>
      <p:sp>
        <p:nvSpPr>
          <p:cNvPr id="8" name="Text 5">
            <a:extLst xmlns:a="http://schemas.openxmlformats.org/drawingml/2006/main">
              <a:ext uri="{FF2B5EF4-FFF2-40B4-BE49-F238E27FC236}">
                <a16:creationId xmlns:a16="http://schemas.microsoft.com/office/drawing/2014/main" id="{DF4F8699-33E2-4253-A26A-C705E4E18A10}"/>
              </a:ext>
            </a:extLst>
          </p:cNvPr>
          <p:cNvSpPr>
            <a:spLocks xmlns:a="http://schemas.openxmlformats.org/drawingml/2006/main" noGrp="1"/>
          </p:cNvSpPr>
          <p:nvPr/>
        </p:nvSpPr>
        <p:spPr>
          <a:xfrm xmlns:a="http://schemas.openxmlformats.org/drawingml/2006/main">
            <a:off x="502920" y="5440680"/>
            <a:ext cx="8138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54000" lvl="1" indent="-127000">
              <a:spcAft>
                <a:spcPts val="500"/>
              </a:spcAft>
              <a:buSzPct val="100000"/>
              <a:buChar char="–"/>
            </a:pPr>
            <a:r>
              <a:rPr sz="1125">
                <a:solidFill>
                  <a:srgbClr val="7F7F7F"/>
                </a:solidFill>
                <a:latin typeface="Arial"/>
                <a:ea typeface="Arial"/>
                <a:cs typeface="Arial"/>
              </a:rPr>
              <a:t>Supported: relative screening · trade-offs · prospective hypotheses</a:t>
            </a:r>
            <a:endParaRPr sz="1050"/>
          </a:p>
          <a:p xmlns:a="http://schemas.openxmlformats.org/drawingml/2006/main">
            <a:pPr marL="254000" lvl="1" indent="-127000">
              <a:spcAft>
                <a:spcPts val="500"/>
              </a:spcAft>
              <a:buSzPct val="100000"/>
              <a:buChar char="–"/>
            </a:pPr>
            <a:r>
              <a:rPr sz="1125">
                <a:solidFill>
                  <a:srgbClr val="7F7F7F"/>
                </a:solidFill>
                <a:latin typeface="Arial"/>
                <a:ea typeface="Arial"/>
                <a:cs typeface="Arial"/>
              </a:rPr>
              <a:t>Not supported: a unique winner · 47/47 DFT validation · absolute conductivity · experimental proof</a:t>
            </a:r>
            <a:endParaRPr sz="1050"/>
          </a:p>
        </p:txBody>
      </p:sp>
      <p:sp>
        <p:nvSpPr>
          <p:cNvPr id="10" name="Text 6">
            <a:extLst xmlns:a="http://schemas.openxmlformats.org/drawingml/2006/main">
              <a:ext uri="{FF2B5EF4-FFF2-40B4-BE49-F238E27FC236}">
                <a16:creationId xmlns:a16="http://schemas.microsoft.com/office/drawing/2014/main" id="{A1D73C36-EFAB-400A-86B8-66B0AA20099E}"/>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1" name="Text 7">
            <a:extLst xmlns:a="http://schemas.openxmlformats.org/drawingml/2006/main">
              <a:ext uri="{FF2B5EF4-FFF2-40B4-BE49-F238E27FC236}">
                <a16:creationId xmlns:a16="http://schemas.microsoft.com/office/drawing/2014/main" id="{3653396D-5892-4279-85B4-99FD7CC6863A}"/>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19</a:t>
            </a:r>
            <a:endParaRPr sz="900"/>
          </a:p>
        </p:txBody>
      </p:sp>
    </p:spTree>
    <p:extLst>
      <p:ext uri="{BB962C8B-B14F-4D97-AF65-F5344CB8AC3E}">
        <p14:creationId xmlns:p14="http://schemas.microsoft.com/office/powerpoint/2010/main" val="47487412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0AAE83-53FD-42C7-B335-914CCA78B646}"/>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Closing</a:t>
            </a:r>
            <a:endParaRPr sz="1100"/>
          </a:p>
        </p:txBody>
      </p:sp>
      <p:sp>
        <p:nvSpPr>
          <p:cNvPr id="3" name="Text 1">
            <a:extLst xmlns:a="http://schemas.openxmlformats.org/drawingml/2006/main">
              <a:ext uri="{FF2B5EF4-FFF2-40B4-BE49-F238E27FC236}">
                <a16:creationId xmlns:a16="http://schemas.microsoft.com/office/drawing/2014/main" id="{5A9C4647-2F03-4875-B0DD-A4502F81F2BF}"/>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One ladder, our two rungs, and the loop</a:t>
            </a:r>
            <a:endParaRPr sz="2000"/>
          </a:p>
        </p:txBody>
      </p:sp>
      <p:sp>
        <p:nvSpPr>
          <p:cNvPr id="4" name="Shape 2">
            <a:extLst xmlns:a="http://schemas.openxmlformats.org/drawingml/2006/main">
              <a:ext uri="{FF2B5EF4-FFF2-40B4-BE49-F238E27FC236}">
                <a16:creationId xmlns:a16="http://schemas.microsoft.com/office/drawing/2014/main" id="{355E9713-A883-4604-B797-6238CAB50132}"/>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5" name="Shape 3">
            <a:extLst xmlns:a="http://schemas.openxmlformats.org/drawingml/2006/main">
              <a:ext uri="{FF2B5EF4-FFF2-40B4-BE49-F238E27FC236}">
                <a16:creationId xmlns:a16="http://schemas.microsoft.com/office/drawing/2014/main" id="{DDED0308-5E85-4266-8533-73208BB8F93E}"/>
              </a:ext>
            </a:extLst>
          </p:cNvPr>
          <p:cNvSpPr>
            <a:spLocks xmlns:a="http://schemas.openxmlformats.org/drawingml/2006/main" noGrp="1"/>
          </p:cNvSpPr>
          <p:nvPr/>
        </p:nvSpPr>
        <p:spPr>
          <a:xfrm xmlns:a="http://schemas.openxmlformats.org/drawingml/2006/main">
            <a:off x="640080" y="1554480"/>
            <a:ext cx="2468880" cy="1051560"/>
          </a:xfrm>
          <a:prstGeom xmlns:a="http://schemas.openxmlformats.org/drawingml/2006/main" prst="roundRect">
            <a:avLst>
              <a:gd name="adj" fmla="val 6957"/>
            </a:avLst>
          </a:prstGeom>
          <a:solidFill xmlns:a="http://schemas.openxmlformats.org/drawingml/2006/main">
            <a:srgbClr val="1F4E79"/>
          </a:solidFill>
          <a:ln xmlns:a="http://schemas.openxmlformats.org/drawingml/2006/main" w="15875">
            <a:solidFill>
              <a:srgbClr val="1F4E79"/>
            </a:solidFill>
            <a:prstDash val="solid"/>
          </a:ln>
        </p:spPr>
      </p:sp>
      <p:sp>
        <p:nvSpPr>
          <p:cNvPr id="6" name="Text 4">
            <a:extLst xmlns:a="http://schemas.openxmlformats.org/drawingml/2006/main">
              <a:ext uri="{FF2B5EF4-FFF2-40B4-BE49-F238E27FC236}">
                <a16:creationId xmlns:a16="http://schemas.microsoft.com/office/drawing/2014/main" id="{342CCDA8-1580-4B0E-9715-8EDFA7B848B4}"/>
              </a:ext>
            </a:extLst>
          </p:cNvPr>
          <p:cNvSpPr>
            <a:spLocks xmlns:a="http://schemas.openxmlformats.org/drawingml/2006/main" noGrp="1"/>
          </p:cNvSpPr>
          <p:nvPr/>
        </p:nvSpPr>
        <p:spPr>
          <a:xfrm xmlns:a="http://schemas.openxmlformats.org/drawingml/2006/main">
            <a:off x="640080" y="1554480"/>
            <a:ext cx="246888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Å–nm
</a:t>
            </a:r>
            <a:endParaRPr sz="1300"/>
          </a:p>
          <a:p xmlns:a="http://schemas.openxmlformats.org/drawingml/2006/main">
            <a:pPr marL="0" indent="0" algn="ctr">
              <a:buNone/>
            </a:pPr>
            <a:r>
              <a:rPr sz="1000">
                <a:solidFill>
                  <a:srgbClr val="FFFFFF"/>
                </a:solidFill>
                <a:latin typeface="Arial"/>
                <a:ea typeface="Arial"/>
                <a:cs typeface="Arial"/>
              </a:rPr>
              <a:t>DFT · MLIP</a:t>
            </a:r>
            <a:endParaRPr sz="1300"/>
          </a:p>
          <a:p xmlns:a="http://schemas.openxmlformats.org/drawingml/2006/main">
            <a:pPr marL="0" indent="0" algn="ctr">
              <a:buNone/>
            </a:pPr>
            <a:r>
              <a:rPr sz="1000">
                <a:solidFill>
                  <a:srgbClr val="FFFFFF"/>
                </a:solidFill>
                <a:latin typeface="Arial"/>
                <a:ea typeface="Arial"/>
                <a:cs typeface="Arial"/>
              </a:rPr>
              <a:t>(this talk)</a:t>
            </a:r>
            <a:endParaRPr sz="1300"/>
          </a:p>
        </p:txBody>
      </p:sp>
      <p:sp>
        <p:nvSpPr>
          <p:cNvPr id="7" name="Shape 5">
            <a:extLst xmlns:a="http://schemas.openxmlformats.org/drawingml/2006/main">
              <a:ext uri="{FF2B5EF4-FFF2-40B4-BE49-F238E27FC236}">
                <a16:creationId xmlns:a16="http://schemas.microsoft.com/office/drawing/2014/main" id="{333EB293-8AFE-484A-A1AE-4272000FC931}"/>
              </a:ext>
            </a:extLst>
          </p:cNvPr>
          <p:cNvSpPr>
            <a:spLocks xmlns:a="http://schemas.openxmlformats.org/drawingml/2006/main" noGrp="1"/>
          </p:cNvSpPr>
          <p:nvPr/>
        </p:nvSpPr>
        <p:spPr>
          <a:xfrm xmlns:a="http://schemas.openxmlformats.org/drawingml/2006/main">
            <a:off x="3136392" y="2075688"/>
            <a:ext cx="283464" cy="0"/>
          </a:xfrm>
          <a:prstGeom xmlns:a="http://schemas.openxmlformats.org/drawingml/2006/main" prst="line">
            <a:avLst/>
          </a:prstGeom>
          <a:noFill xmlns:a="http://schemas.openxmlformats.org/drawingml/2006/main"/>
          <a:ln xmlns:a="http://schemas.openxmlformats.org/drawingml/2006/main" w="25400">
            <a:solidFill>
              <a:srgbClr val="7F7F7F"/>
            </a:solidFill>
            <a:prstDash val="solid"/>
            <a:tailEnd type="triangle"/>
          </a:ln>
        </p:spPr>
      </p:sp>
      <p:sp>
        <p:nvSpPr>
          <p:cNvPr id="8" name="Shape 6">
            <a:extLst xmlns:a="http://schemas.openxmlformats.org/drawingml/2006/main">
              <a:ext uri="{FF2B5EF4-FFF2-40B4-BE49-F238E27FC236}">
                <a16:creationId xmlns:a16="http://schemas.microsoft.com/office/drawing/2014/main" id="{45383DDB-836D-41AD-8709-804A15957E86}"/>
              </a:ext>
            </a:extLst>
          </p:cNvPr>
          <p:cNvSpPr>
            <a:spLocks xmlns:a="http://schemas.openxmlformats.org/drawingml/2006/main" noGrp="1"/>
          </p:cNvSpPr>
          <p:nvPr/>
        </p:nvSpPr>
        <p:spPr>
          <a:xfrm xmlns:a="http://schemas.openxmlformats.org/drawingml/2006/main">
            <a:off x="3474720" y="1554480"/>
            <a:ext cx="2468880" cy="1051560"/>
          </a:xfrm>
          <a:prstGeom xmlns:a="http://schemas.openxmlformats.org/drawingml/2006/main" prst="roundRect">
            <a:avLst>
              <a:gd name="adj" fmla="val 6957"/>
            </a:avLst>
          </a:prstGeom>
          <a:solidFill xmlns:a="http://schemas.openxmlformats.org/drawingml/2006/main">
            <a:srgbClr val="EEF3F9"/>
          </a:solidFill>
          <a:ln xmlns:a="http://schemas.openxmlformats.org/drawingml/2006/main" w="15875">
            <a:solidFill>
              <a:srgbClr val="1F4E79"/>
            </a:solidFill>
            <a:prstDash val="solid"/>
          </a:ln>
        </p:spPr>
      </p:sp>
      <p:sp>
        <p:nvSpPr>
          <p:cNvPr id="9" name="Text 7">
            <a:extLst xmlns:a="http://schemas.openxmlformats.org/drawingml/2006/main">
              <a:ext uri="{FF2B5EF4-FFF2-40B4-BE49-F238E27FC236}">
                <a16:creationId xmlns:a16="http://schemas.microsoft.com/office/drawing/2014/main" id="{7DFE1180-8C2D-47B6-A858-D178FA9B43B4}"/>
              </a:ext>
            </a:extLst>
          </p:cNvPr>
          <p:cNvSpPr>
            <a:spLocks xmlns:a="http://schemas.openxmlformats.org/drawingml/2006/main" noGrp="1"/>
          </p:cNvSpPr>
          <p:nvPr/>
        </p:nvSpPr>
        <p:spPr>
          <a:xfrm xmlns:a="http://schemas.openxmlformats.org/drawingml/2006/main">
            <a:off x="3474720" y="1554480"/>
            <a:ext cx="246888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F4E79"/>
                </a:solidFill>
                <a:latin typeface="Arial"/>
                <a:ea typeface="Arial"/>
                <a:cs typeface="Arial"/>
              </a:rPr>
              <a:t>µm
</a:t>
            </a:r>
            <a:endParaRPr sz="1300"/>
          </a:p>
          <a:p xmlns:a="http://schemas.openxmlformats.org/drawingml/2006/main">
            <a:pPr marL="0" indent="0" algn="ctr">
              <a:buNone/>
            </a:pPr>
            <a:r>
              <a:rPr sz="1000">
                <a:solidFill>
                  <a:srgbClr val="1F4E79"/>
                </a:solidFill>
                <a:latin typeface="Arial"/>
                <a:ea typeface="Arial"/>
                <a:cs typeface="Arial"/>
              </a:rPr>
              <a:t>DEM: contacts,</a:t>
            </a:r>
            <a:endParaRPr sz="1300"/>
          </a:p>
          <a:p xmlns:a="http://schemas.openxmlformats.org/drawingml/2006/main">
            <a:pPr marL="0" indent="0" algn="ctr">
              <a:buNone/>
            </a:pPr>
            <a:r>
              <a:rPr sz="1000">
                <a:solidFill>
                  <a:srgbClr val="1F4E79"/>
                </a:solidFill>
                <a:latin typeface="Arial"/>
                <a:ea typeface="Arial"/>
                <a:cs typeface="Arial"/>
              </a:rPr>
              <a:t>tortuosity, eff. σ</a:t>
            </a:r>
            <a:endParaRPr sz="1300"/>
          </a:p>
        </p:txBody>
      </p:sp>
      <p:sp>
        <p:nvSpPr>
          <p:cNvPr id="10" name="Shape 8">
            <a:extLst xmlns:a="http://schemas.openxmlformats.org/drawingml/2006/main">
              <a:ext uri="{FF2B5EF4-FFF2-40B4-BE49-F238E27FC236}">
                <a16:creationId xmlns:a16="http://schemas.microsoft.com/office/drawing/2014/main" id="{FD44DB66-69A7-4874-B1DA-86BD086F796D}"/>
              </a:ext>
            </a:extLst>
          </p:cNvPr>
          <p:cNvSpPr>
            <a:spLocks xmlns:a="http://schemas.openxmlformats.org/drawingml/2006/main" noGrp="1"/>
          </p:cNvSpPr>
          <p:nvPr/>
        </p:nvSpPr>
        <p:spPr>
          <a:xfrm xmlns:a="http://schemas.openxmlformats.org/drawingml/2006/main">
            <a:off x="5971032" y="2075688"/>
            <a:ext cx="283464" cy="0"/>
          </a:xfrm>
          <a:prstGeom xmlns:a="http://schemas.openxmlformats.org/drawingml/2006/main" prst="line">
            <a:avLst/>
          </a:prstGeom>
          <a:noFill xmlns:a="http://schemas.openxmlformats.org/drawingml/2006/main"/>
          <a:ln xmlns:a="http://schemas.openxmlformats.org/drawingml/2006/main" w="25400">
            <a:solidFill>
              <a:srgbClr val="7F7F7F"/>
            </a:solidFill>
            <a:prstDash val="solid"/>
            <a:tailEnd type="triangle"/>
          </a:ln>
        </p:spPr>
      </p:sp>
      <p:sp>
        <p:nvSpPr>
          <p:cNvPr id="11" name="Shape 9">
            <a:extLst xmlns:a="http://schemas.openxmlformats.org/drawingml/2006/main">
              <a:ext uri="{FF2B5EF4-FFF2-40B4-BE49-F238E27FC236}">
                <a16:creationId xmlns:a16="http://schemas.microsoft.com/office/drawing/2014/main" id="{AA962AAE-DEE5-49BD-8131-EB6DA9D3A9E4}"/>
              </a:ext>
            </a:extLst>
          </p:cNvPr>
          <p:cNvSpPr>
            <a:spLocks xmlns:a="http://schemas.openxmlformats.org/drawingml/2006/main" noGrp="1"/>
          </p:cNvSpPr>
          <p:nvPr/>
        </p:nvSpPr>
        <p:spPr>
          <a:xfrm xmlns:a="http://schemas.openxmlformats.org/drawingml/2006/main">
            <a:off x="6309360" y="1554480"/>
            <a:ext cx="2468880" cy="1051560"/>
          </a:xfrm>
          <a:prstGeom xmlns:a="http://schemas.openxmlformats.org/drawingml/2006/main" prst="roundRect">
            <a:avLst>
              <a:gd name="adj" fmla="val 6957"/>
            </a:avLst>
          </a:prstGeom>
          <a:solidFill xmlns:a="http://schemas.openxmlformats.org/drawingml/2006/main">
            <a:srgbClr val="F7F7F7"/>
          </a:solidFill>
          <a:ln xmlns:a="http://schemas.openxmlformats.org/drawingml/2006/main" w="15875">
            <a:solidFill>
              <a:srgbClr val="7F7F7F"/>
            </a:solidFill>
            <a:prstDash val="solid"/>
          </a:ln>
        </p:spPr>
      </p:sp>
      <p:sp>
        <p:nvSpPr>
          <p:cNvPr id="12" name="Text 10">
            <a:extLst xmlns:a="http://schemas.openxmlformats.org/drawingml/2006/main">
              <a:ext uri="{FF2B5EF4-FFF2-40B4-BE49-F238E27FC236}">
                <a16:creationId xmlns:a16="http://schemas.microsoft.com/office/drawing/2014/main" id="{A9CD8BF0-0E2F-44D2-BDAA-EEAF9E05FF15}"/>
              </a:ext>
            </a:extLst>
          </p:cNvPr>
          <p:cNvSpPr>
            <a:spLocks xmlns:a="http://schemas.openxmlformats.org/drawingml/2006/main" noGrp="1"/>
          </p:cNvSpPr>
          <p:nvPr/>
        </p:nvSpPr>
        <p:spPr>
          <a:xfrm xmlns:a="http://schemas.openxmlformats.org/drawingml/2006/main">
            <a:off x="6309360" y="1554480"/>
            <a:ext cx="246888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F7F7F"/>
                </a:solidFill>
                <a:latin typeface="Arial"/>
                <a:ea typeface="Arial"/>
                <a:cs typeface="Arial"/>
              </a:rPr>
              <a:t>mm
</a:t>
            </a:r>
            <a:endParaRPr sz="1300"/>
          </a:p>
          <a:p xmlns:a="http://schemas.openxmlformats.org/drawingml/2006/main">
            <a:pPr marL="0" indent="0" algn="ctr">
              <a:buNone/>
            </a:pPr>
            <a:r>
              <a:rPr sz="1000">
                <a:solidFill>
                  <a:srgbClr val="7F7F7F"/>
                </a:solidFill>
                <a:latin typeface="Arial"/>
                <a:ea typeface="Arial"/>
                <a:cs typeface="Arial"/>
              </a:rPr>
              <a:t>electrode</a:t>
            </a:r>
            <a:endParaRPr sz="1300"/>
          </a:p>
          <a:p xmlns:a="http://schemas.openxmlformats.org/drawingml/2006/main">
            <a:pPr marL="0" indent="0" algn="ctr">
              <a:buNone/>
            </a:pPr>
            <a:r>
              <a:rPr sz="1000">
                <a:solidFill>
                  <a:srgbClr val="7F7F7F"/>
                </a:solidFill>
                <a:latin typeface="Arial"/>
                <a:ea typeface="Arial"/>
                <a:cs typeface="Arial"/>
              </a:rPr>
              <a:t>(continuum)</a:t>
            </a:r>
            <a:endParaRPr sz="1300"/>
          </a:p>
        </p:txBody>
      </p:sp>
      <p:sp>
        <p:nvSpPr>
          <p:cNvPr id="13" name="Text 11">
            <a:extLst xmlns:a="http://schemas.openxmlformats.org/drawingml/2006/main">
              <a:ext uri="{FF2B5EF4-FFF2-40B4-BE49-F238E27FC236}">
                <a16:creationId xmlns:a16="http://schemas.microsoft.com/office/drawing/2014/main" id="{6D53C6FB-3BA9-4B7A-AD40-74E3E92EE430}"/>
              </a:ext>
            </a:extLst>
          </p:cNvPr>
          <p:cNvSpPr>
            <a:spLocks xmlns:a="http://schemas.openxmlformats.org/drawingml/2006/main" noGrp="1"/>
          </p:cNvSpPr>
          <p:nvPr/>
        </p:nvSpPr>
        <p:spPr>
          <a:xfrm xmlns:a="http://schemas.openxmlformats.org/drawingml/2006/main">
            <a:off x="640080" y="2743200"/>
            <a:ext cx="7863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i="1">
                <a:solidFill>
                  <a:srgbClr val="7F7F7F"/>
                </a:solidFill>
                <a:latin typeface="Arial"/>
                <a:ea typeface="Arial"/>
                <a:cs typeface="Arial"/>
              </a:rPr>
              <a:t>we hand over E · G · γ · ΔV — DEM takes it from there (a different talk)</a:t>
            </a:r>
            <a:endParaRPr sz="1050"/>
          </a:p>
        </p:txBody>
      </p:sp>
      <p:sp>
        <p:nvSpPr>
          <p:cNvPr id="14" name="Shape 12">
            <a:extLst xmlns:a="http://schemas.openxmlformats.org/drawingml/2006/main">
              <a:ext uri="{FF2B5EF4-FFF2-40B4-BE49-F238E27FC236}">
                <a16:creationId xmlns:a16="http://schemas.microsoft.com/office/drawing/2014/main" id="{9315D2D5-D0C4-4FE0-954B-ECC66CE01F5C}"/>
              </a:ext>
            </a:extLst>
          </p:cNvPr>
          <p:cNvSpPr>
            <a:spLocks xmlns:a="http://schemas.openxmlformats.org/drawingml/2006/main" noGrp="1"/>
          </p:cNvSpPr>
          <p:nvPr/>
        </p:nvSpPr>
        <p:spPr>
          <a:xfrm xmlns:a="http://schemas.openxmlformats.org/drawingml/2006/main">
            <a:off x="502920" y="397764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15" name="Text 13">
            <a:extLst xmlns:a="http://schemas.openxmlformats.org/drawingml/2006/main">
              <a:ext uri="{FF2B5EF4-FFF2-40B4-BE49-F238E27FC236}">
                <a16:creationId xmlns:a16="http://schemas.microsoft.com/office/drawing/2014/main" id="{FF135447-6E6D-4279-9656-BB7FC7C059B1}"/>
              </a:ext>
            </a:extLst>
          </p:cNvPr>
          <p:cNvSpPr>
            <a:spLocks xmlns:a="http://schemas.openxmlformats.org/drawingml/2006/main" noGrp="1"/>
          </p:cNvSpPr>
          <p:nvPr/>
        </p:nvSpPr>
        <p:spPr>
          <a:xfrm xmlns:a="http://schemas.openxmlformats.org/drawingml/2006/main">
            <a:off x="502920" y="397764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(1) ASK
</a:t>
            </a:r>
            <a:endParaRPr sz="1000"/>
          </a:p>
          <a:p xmlns:a="http://schemas.openxmlformats.org/drawingml/2006/main">
            <a:pPr marL="0" indent="0" algn="ctr">
              <a:buNone/>
            </a:pPr>
            <a:r>
              <a:rPr sz="800">
                <a:solidFill>
                  <a:srgbClr val="1F4E79"/>
                </a:solidFill>
                <a:latin typeface="Arial"/>
                <a:ea typeface="Arial"/>
                <a:cs typeface="Arial"/>
              </a:rPr>
              <a:t>too many candidates</a:t>
            </a:r>
            <a:endParaRPr sz="1000"/>
          </a:p>
        </p:txBody>
      </p:sp>
      <p:sp>
        <p:nvSpPr>
          <p:cNvPr id="16" name="Text 14">
            <a:extLst xmlns:a="http://schemas.openxmlformats.org/drawingml/2006/main">
              <a:ext uri="{FF2B5EF4-FFF2-40B4-BE49-F238E27FC236}">
                <a16:creationId xmlns:a16="http://schemas.microsoft.com/office/drawing/2014/main" id="{B750A352-4476-498C-8D85-E5A067A6EF0D}"/>
              </a:ext>
            </a:extLst>
          </p:cNvPr>
          <p:cNvSpPr>
            <a:spLocks xmlns:a="http://schemas.openxmlformats.org/drawingml/2006/main" noGrp="1"/>
          </p:cNvSpPr>
          <p:nvPr/>
        </p:nvSpPr>
        <p:spPr>
          <a:xfrm xmlns:a="http://schemas.openxmlformats.org/drawingml/2006/main">
            <a:off x="502920" y="480974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ask</a:t>
            </a:r>
            <a:endParaRPr sz="850"/>
          </a:p>
        </p:txBody>
      </p:sp>
      <p:sp>
        <p:nvSpPr>
          <p:cNvPr id="17" name="Shape 15">
            <a:extLst xmlns:a="http://schemas.openxmlformats.org/drawingml/2006/main">
              <a:ext uri="{FF2B5EF4-FFF2-40B4-BE49-F238E27FC236}">
                <a16:creationId xmlns:a16="http://schemas.microsoft.com/office/drawing/2014/main" id="{27C1C0F8-889B-47FC-B08B-C795AC9E59AC}"/>
              </a:ext>
            </a:extLst>
          </p:cNvPr>
          <p:cNvSpPr>
            <a:spLocks xmlns:a="http://schemas.openxmlformats.org/drawingml/2006/main" noGrp="1"/>
          </p:cNvSpPr>
          <p:nvPr/>
        </p:nvSpPr>
        <p:spPr>
          <a:xfrm xmlns:a="http://schemas.openxmlformats.org/drawingml/2006/main">
            <a:off x="1705356" y="437083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8" name="Shape 16">
            <a:extLst xmlns:a="http://schemas.openxmlformats.org/drawingml/2006/main">
              <a:ext uri="{FF2B5EF4-FFF2-40B4-BE49-F238E27FC236}">
                <a16:creationId xmlns:a16="http://schemas.microsoft.com/office/drawing/2014/main" id="{15CDC617-1DB9-4E6F-A477-C5E508FECA26}"/>
              </a:ext>
            </a:extLst>
          </p:cNvPr>
          <p:cNvSpPr>
            <a:spLocks xmlns:a="http://schemas.openxmlformats.org/drawingml/2006/main" noGrp="1"/>
          </p:cNvSpPr>
          <p:nvPr/>
        </p:nvSpPr>
        <p:spPr>
          <a:xfrm xmlns:a="http://schemas.openxmlformats.org/drawingml/2006/main">
            <a:off x="1892808" y="397764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19" name="Text 17">
            <a:extLst xmlns:a="http://schemas.openxmlformats.org/drawingml/2006/main">
              <a:ext uri="{FF2B5EF4-FFF2-40B4-BE49-F238E27FC236}">
                <a16:creationId xmlns:a16="http://schemas.microsoft.com/office/drawing/2014/main" id="{13917AAB-52B3-40CA-983A-74797542C604}"/>
              </a:ext>
            </a:extLst>
          </p:cNvPr>
          <p:cNvSpPr>
            <a:spLocks xmlns:a="http://schemas.openxmlformats.org/drawingml/2006/main" noGrp="1"/>
          </p:cNvSpPr>
          <p:nvPr/>
        </p:nvSpPr>
        <p:spPr>
          <a:xfrm xmlns:a="http://schemas.openxmlformats.org/drawingml/2006/main">
            <a:off x="1892808" y="397764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(2) TOOLS
</a:t>
            </a:r>
            <a:endParaRPr sz="1000"/>
          </a:p>
          <a:p xmlns:a="http://schemas.openxmlformats.org/drawingml/2006/main">
            <a:pPr marL="0" indent="0" algn="ctr">
              <a:buNone/>
            </a:pPr>
            <a:r>
              <a:rPr sz="800">
                <a:solidFill>
                  <a:srgbClr val="1F4E79"/>
                </a:solidFill>
                <a:latin typeface="Arial"/>
                <a:ea typeface="Arial"/>
                <a:cs typeface="Arial"/>
              </a:rPr>
              <a:t>DFT + MLIP limits</a:t>
            </a:r>
            <a:endParaRPr sz="1000"/>
          </a:p>
        </p:txBody>
      </p:sp>
      <p:sp>
        <p:nvSpPr>
          <p:cNvPr id="20" name="Text 18">
            <a:extLst xmlns:a="http://schemas.openxmlformats.org/drawingml/2006/main">
              <a:ext uri="{FF2B5EF4-FFF2-40B4-BE49-F238E27FC236}">
                <a16:creationId xmlns:a16="http://schemas.microsoft.com/office/drawing/2014/main" id="{9383E86D-65DE-4111-9384-C41A028FCF64}"/>
              </a:ext>
            </a:extLst>
          </p:cNvPr>
          <p:cNvSpPr>
            <a:spLocks xmlns:a="http://schemas.openxmlformats.org/drawingml/2006/main" noGrp="1"/>
          </p:cNvSpPr>
          <p:nvPr/>
        </p:nvSpPr>
        <p:spPr>
          <a:xfrm xmlns:a="http://schemas.openxmlformats.org/drawingml/2006/main">
            <a:off x="1892808" y="480974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measure</a:t>
            </a:r>
            <a:endParaRPr sz="850"/>
          </a:p>
        </p:txBody>
      </p:sp>
      <p:sp>
        <p:nvSpPr>
          <p:cNvPr id="21" name="Shape 19">
            <a:extLst xmlns:a="http://schemas.openxmlformats.org/drawingml/2006/main">
              <a:ext uri="{FF2B5EF4-FFF2-40B4-BE49-F238E27FC236}">
                <a16:creationId xmlns:a16="http://schemas.microsoft.com/office/drawing/2014/main" id="{6C3D7D76-B090-4443-ACDD-0880187972E4}"/>
              </a:ext>
            </a:extLst>
          </p:cNvPr>
          <p:cNvSpPr>
            <a:spLocks xmlns:a="http://schemas.openxmlformats.org/drawingml/2006/main" noGrp="1"/>
          </p:cNvSpPr>
          <p:nvPr/>
        </p:nvSpPr>
        <p:spPr>
          <a:xfrm xmlns:a="http://schemas.openxmlformats.org/drawingml/2006/main">
            <a:off x="3095244" y="437083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22" name="Shape 20">
            <a:extLst xmlns:a="http://schemas.openxmlformats.org/drawingml/2006/main">
              <a:ext uri="{FF2B5EF4-FFF2-40B4-BE49-F238E27FC236}">
                <a16:creationId xmlns:a16="http://schemas.microsoft.com/office/drawing/2014/main" id="{0F312E7A-16A3-4C9A-9DE7-630853CADF3F}"/>
              </a:ext>
            </a:extLst>
          </p:cNvPr>
          <p:cNvSpPr>
            <a:spLocks xmlns:a="http://schemas.openxmlformats.org/drawingml/2006/main" noGrp="1"/>
          </p:cNvSpPr>
          <p:nvPr/>
        </p:nvSpPr>
        <p:spPr>
          <a:xfrm xmlns:a="http://schemas.openxmlformats.org/drawingml/2006/main">
            <a:off x="3282696" y="397764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23" name="Text 21">
            <a:extLst xmlns:a="http://schemas.openxmlformats.org/drawingml/2006/main">
              <a:ext uri="{FF2B5EF4-FFF2-40B4-BE49-F238E27FC236}">
                <a16:creationId xmlns:a16="http://schemas.microsoft.com/office/drawing/2014/main" id="{5770D19C-7C7D-4F0D-8A51-0494F1C5C3B8}"/>
              </a:ext>
            </a:extLst>
          </p:cNvPr>
          <p:cNvSpPr>
            <a:spLocks xmlns:a="http://schemas.openxmlformats.org/drawingml/2006/main" noGrp="1"/>
          </p:cNvSpPr>
          <p:nvPr/>
        </p:nvSpPr>
        <p:spPr>
          <a:xfrm xmlns:a="http://schemas.openxmlformats.org/drawingml/2006/main">
            <a:off x="3282696" y="397764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(3) ORIGIN
</a:t>
            </a:r>
            <a:endParaRPr sz="1000"/>
          </a:p>
          <a:p xmlns:a="http://schemas.openxmlformats.org/drawingml/2006/main">
            <a:pPr marL="0" indent="0" algn="ctr">
              <a:buNone/>
            </a:pPr>
            <a:r>
              <a:rPr sz="800">
                <a:solidFill>
                  <a:srgbClr val="1F4E79"/>
                </a:solidFill>
                <a:latin typeface="Arial"/>
                <a:ea typeface="Arial"/>
                <a:cs typeface="Arial"/>
              </a:rPr>
              <a:t>LPSCl: disorder</a:t>
            </a:r>
            <a:endParaRPr sz="1000"/>
          </a:p>
        </p:txBody>
      </p:sp>
      <p:sp>
        <p:nvSpPr>
          <p:cNvPr id="24" name="Text 22">
            <a:extLst xmlns:a="http://schemas.openxmlformats.org/drawingml/2006/main">
              <a:ext uri="{FF2B5EF4-FFF2-40B4-BE49-F238E27FC236}">
                <a16:creationId xmlns:a16="http://schemas.microsoft.com/office/drawing/2014/main" id="{598645BB-1EDE-4064-9CAE-F034B7DF0460}"/>
              </a:ext>
            </a:extLst>
          </p:cNvPr>
          <p:cNvSpPr>
            <a:spLocks xmlns:a="http://schemas.openxmlformats.org/drawingml/2006/main" noGrp="1"/>
          </p:cNvSpPr>
          <p:nvPr/>
        </p:nvSpPr>
        <p:spPr>
          <a:xfrm xmlns:a="http://schemas.openxmlformats.org/drawingml/2006/main">
            <a:off x="3282696" y="480974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learn</a:t>
            </a:r>
            <a:endParaRPr sz="850"/>
          </a:p>
        </p:txBody>
      </p:sp>
      <p:sp>
        <p:nvSpPr>
          <p:cNvPr id="25" name="Shape 23">
            <a:extLst xmlns:a="http://schemas.openxmlformats.org/drawingml/2006/main">
              <a:ext uri="{FF2B5EF4-FFF2-40B4-BE49-F238E27FC236}">
                <a16:creationId xmlns:a16="http://schemas.microsoft.com/office/drawing/2014/main" id="{B131C386-7D2C-47D3-A840-69BE4FEF4CDB}"/>
              </a:ext>
            </a:extLst>
          </p:cNvPr>
          <p:cNvSpPr>
            <a:spLocks xmlns:a="http://schemas.openxmlformats.org/drawingml/2006/main" noGrp="1"/>
          </p:cNvSpPr>
          <p:nvPr/>
        </p:nvSpPr>
        <p:spPr>
          <a:xfrm xmlns:a="http://schemas.openxmlformats.org/drawingml/2006/main">
            <a:off x="4485132" y="437083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26" name="Shape 24">
            <a:extLst xmlns:a="http://schemas.openxmlformats.org/drawingml/2006/main">
              <a:ext uri="{FF2B5EF4-FFF2-40B4-BE49-F238E27FC236}">
                <a16:creationId xmlns:a16="http://schemas.microsoft.com/office/drawing/2014/main" id="{931A8349-C6DD-4BE7-BDF8-575FC00E7BF1}"/>
              </a:ext>
            </a:extLst>
          </p:cNvPr>
          <p:cNvSpPr>
            <a:spLocks xmlns:a="http://schemas.openxmlformats.org/drawingml/2006/main" noGrp="1"/>
          </p:cNvSpPr>
          <p:nvPr/>
        </p:nvSpPr>
        <p:spPr>
          <a:xfrm xmlns:a="http://schemas.openxmlformats.org/drawingml/2006/main">
            <a:off x="4672584" y="397764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27" name="Text 25">
            <a:extLst xmlns:a="http://schemas.openxmlformats.org/drawingml/2006/main">
              <a:ext uri="{FF2B5EF4-FFF2-40B4-BE49-F238E27FC236}">
                <a16:creationId xmlns:a16="http://schemas.microsoft.com/office/drawing/2014/main" id="{FE49936C-FCDA-4779-82C6-0DD9BCD0DDBA}"/>
              </a:ext>
            </a:extLst>
          </p:cNvPr>
          <p:cNvSpPr>
            <a:spLocks xmlns:a="http://schemas.openxmlformats.org/drawingml/2006/main" noGrp="1"/>
          </p:cNvSpPr>
          <p:nvPr/>
        </p:nvSpPr>
        <p:spPr>
          <a:xfrm xmlns:a="http://schemas.openxmlformats.org/drawingml/2006/main">
            <a:off x="4672584" y="397764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(4) SCREEN</a:t>
            </a:r>
            <a:endParaRPr sz="1000"/>
          </a:p>
          <a:p xmlns:a="http://schemas.openxmlformats.org/drawingml/2006/main">
            <a:pPr marL="0" indent="0" algn="ctr">
              <a:buNone/>
            </a:pPr>
            <a:r>
              <a:rPr sz="800">
                <a:solidFill>
                  <a:srgbClr val="1F4E79"/>
                </a:solidFill>
                <a:latin typeface="Arial"/>
                <a:ea typeface="Arial"/>
                <a:cs typeface="Arial"/>
              </a:rPr>
              <a:t/>
            </a:r>
            <a:endParaRPr sz="1000"/>
          </a:p>
          <a:p xmlns:a="http://schemas.openxmlformats.org/drawingml/2006/main">
            <a:pPr marL="0" indent="0" algn="ctr">
              <a:buNone/>
            </a:pPr>
            <a:r>
              <a:rPr sz="800">
                <a:solidFill>
                  <a:srgbClr val="1F4E79"/>
                </a:solidFill>
                <a:latin typeface="Arial"/>
                <a:ea typeface="Arial"/>
                <a:cs typeface="Arial"/>
              </a:rPr>
              <a:t>273 run slots, 5 gates</a:t>
            </a:r>
            <a:endParaRPr sz="1000"/>
          </a:p>
        </p:txBody>
      </p:sp>
      <p:sp>
        <p:nvSpPr>
          <p:cNvPr id="28" name="Text 26">
            <a:extLst xmlns:a="http://schemas.openxmlformats.org/drawingml/2006/main">
              <a:ext uri="{FF2B5EF4-FFF2-40B4-BE49-F238E27FC236}">
                <a16:creationId xmlns:a16="http://schemas.microsoft.com/office/drawing/2014/main" id="{79FFB2A3-39FA-466F-908A-A1182352891B}"/>
              </a:ext>
            </a:extLst>
          </p:cNvPr>
          <p:cNvSpPr>
            <a:spLocks xmlns:a="http://schemas.openxmlformats.org/drawingml/2006/main" noGrp="1"/>
          </p:cNvSpPr>
          <p:nvPr/>
        </p:nvSpPr>
        <p:spPr>
          <a:xfrm xmlns:a="http://schemas.openxmlformats.org/drawingml/2006/main">
            <a:off x="4672584" y="480974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gate</a:t>
            </a:r>
            <a:endParaRPr sz="850"/>
          </a:p>
        </p:txBody>
      </p:sp>
      <p:sp>
        <p:nvSpPr>
          <p:cNvPr id="29" name="Shape 27">
            <a:extLst xmlns:a="http://schemas.openxmlformats.org/drawingml/2006/main">
              <a:ext uri="{FF2B5EF4-FFF2-40B4-BE49-F238E27FC236}">
                <a16:creationId xmlns:a16="http://schemas.microsoft.com/office/drawing/2014/main" id="{9CA32005-8EBE-4312-94CA-3294BD86DF00}"/>
              </a:ext>
            </a:extLst>
          </p:cNvPr>
          <p:cNvSpPr>
            <a:spLocks xmlns:a="http://schemas.openxmlformats.org/drawingml/2006/main" noGrp="1"/>
          </p:cNvSpPr>
          <p:nvPr/>
        </p:nvSpPr>
        <p:spPr>
          <a:xfrm xmlns:a="http://schemas.openxmlformats.org/drawingml/2006/main">
            <a:off x="5875020" y="437083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30" name="Shape 28">
            <a:extLst xmlns:a="http://schemas.openxmlformats.org/drawingml/2006/main">
              <a:ext uri="{FF2B5EF4-FFF2-40B4-BE49-F238E27FC236}">
                <a16:creationId xmlns:a16="http://schemas.microsoft.com/office/drawing/2014/main" id="{AE02B9F6-C38F-4C7F-B9F0-D97B397BF585}"/>
              </a:ext>
            </a:extLst>
          </p:cNvPr>
          <p:cNvSpPr>
            <a:spLocks xmlns:a="http://schemas.openxmlformats.org/drawingml/2006/main" noGrp="1"/>
          </p:cNvSpPr>
          <p:nvPr/>
        </p:nvSpPr>
        <p:spPr>
          <a:xfrm xmlns:a="http://schemas.openxmlformats.org/drawingml/2006/main">
            <a:off x="6062472" y="3977640"/>
            <a:ext cx="1188720" cy="786384"/>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5875">
            <a:solidFill>
              <a:srgbClr val="1F4E79"/>
            </a:solidFill>
            <a:prstDash val="solid"/>
          </a:ln>
        </p:spPr>
      </p:sp>
      <p:sp>
        <p:nvSpPr>
          <p:cNvPr id="31" name="Text 29">
            <a:extLst xmlns:a="http://schemas.openxmlformats.org/drawingml/2006/main">
              <a:ext uri="{FF2B5EF4-FFF2-40B4-BE49-F238E27FC236}">
                <a16:creationId xmlns:a16="http://schemas.microsoft.com/office/drawing/2014/main" id="{3AE4C104-4945-49AE-9B41-49FE05F1529E}"/>
              </a:ext>
            </a:extLst>
          </p:cNvPr>
          <p:cNvSpPr>
            <a:spLocks xmlns:a="http://schemas.openxmlformats.org/drawingml/2006/main" noGrp="1"/>
          </p:cNvSpPr>
          <p:nvPr/>
        </p:nvSpPr>
        <p:spPr>
          <a:xfrm xmlns:a="http://schemas.openxmlformats.org/drawingml/2006/main">
            <a:off x="6062472" y="397764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4E79"/>
                </a:solidFill>
                <a:latin typeface="Arial"/>
                <a:ea typeface="Arial"/>
                <a:cs typeface="Arial"/>
              </a:rPr>
              <a:t>(5) COMBINE
</a:t>
            </a:r>
            <a:endParaRPr sz="1000"/>
          </a:p>
          <a:p xmlns:a="http://schemas.openxmlformats.org/drawingml/2006/main">
            <a:pPr marL="0" indent="0" algn="ctr">
              <a:buNone/>
            </a:pPr>
            <a:r>
              <a:rPr sz="800">
                <a:solidFill>
                  <a:srgbClr val="1F4E79"/>
                </a:solidFill>
                <a:latin typeface="Arial"/>
                <a:ea typeface="Arial"/>
                <a:cs typeface="Arial"/>
              </a:rPr>
              <a:t>co-doping ML</a:t>
            </a:r>
            <a:endParaRPr sz="1000"/>
          </a:p>
        </p:txBody>
      </p:sp>
      <p:sp>
        <p:nvSpPr>
          <p:cNvPr id="32" name="Text 30">
            <a:extLst xmlns:a="http://schemas.openxmlformats.org/drawingml/2006/main">
              <a:ext uri="{FF2B5EF4-FFF2-40B4-BE49-F238E27FC236}">
                <a16:creationId xmlns:a16="http://schemas.microsoft.com/office/drawing/2014/main" id="{F5864503-620E-4E34-B6D8-118A5889EF20}"/>
              </a:ext>
            </a:extLst>
          </p:cNvPr>
          <p:cNvSpPr>
            <a:spLocks xmlns:a="http://schemas.openxmlformats.org/drawingml/2006/main" noGrp="1"/>
          </p:cNvSpPr>
          <p:nvPr/>
        </p:nvSpPr>
        <p:spPr>
          <a:xfrm xmlns:a="http://schemas.openxmlformats.org/drawingml/2006/main">
            <a:off x="6062472" y="480974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combine</a:t>
            </a:r>
            <a:endParaRPr sz="850"/>
          </a:p>
        </p:txBody>
      </p:sp>
      <p:sp>
        <p:nvSpPr>
          <p:cNvPr id="33" name="Shape 31">
            <a:extLst xmlns:a="http://schemas.openxmlformats.org/drawingml/2006/main">
              <a:ext uri="{FF2B5EF4-FFF2-40B4-BE49-F238E27FC236}">
                <a16:creationId xmlns:a16="http://schemas.microsoft.com/office/drawing/2014/main" id="{7695ACDB-61DD-42C6-987F-61E085B3533E}"/>
              </a:ext>
            </a:extLst>
          </p:cNvPr>
          <p:cNvSpPr>
            <a:spLocks xmlns:a="http://schemas.openxmlformats.org/drawingml/2006/main" noGrp="1"/>
          </p:cNvSpPr>
          <p:nvPr/>
        </p:nvSpPr>
        <p:spPr>
          <a:xfrm xmlns:a="http://schemas.openxmlformats.org/drawingml/2006/main">
            <a:off x="7264908" y="4370832"/>
            <a:ext cx="173736"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34" name="Shape 32">
            <a:extLst xmlns:a="http://schemas.openxmlformats.org/drawingml/2006/main">
              <a:ext uri="{FF2B5EF4-FFF2-40B4-BE49-F238E27FC236}">
                <a16:creationId xmlns:a16="http://schemas.microsoft.com/office/drawing/2014/main" id="{83FCC8DE-A05D-4258-940E-6A78CE93398D}"/>
              </a:ext>
            </a:extLst>
          </p:cNvPr>
          <p:cNvSpPr>
            <a:spLocks xmlns:a="http://schemas.openxmlformats.org/drawingml/2006/main" noGrp="1"/>
          </p:cNvSpPr>
          <p:nvPr/>
        </p:nvSpPr>
        <p:spPr>
          <a:xfrm xmlns:a="http://schemas.openxmlformats.org/drawingml/2006/main">
            <a:off x="7452360" y="3977640"/>
            <a:ext cx="1188720" cy="786384"/>
          </a:xfrm>
          <a:prstGeom xmlns:a="http://schemas.openxmlformats.org/drawingml/2006/main" prst="roundRect">
            <a:avLst>
              <a:gd name="adj" fmla="val 6977"/>
            </a:avLst>
          </a:prstGeom>
          <a:solidFill xmlns:a="http://schemas.openxmlformats.org/drawingml/2006/main">
            <a:srgbClr val="9E2A2B"/>
          </a:solidFill>
          <a:ln xmlns:a="http://schemas.openxmlformats.org/drawingml/2006/main" w="25400">
            <a:solidFill>
              <a:srgbClr val="9E2A2B"/>
            </a:solidFill>
            <a:prstDash val="solid"/>
          </a:ln>
        </p:spPr>
      </p:sp>
      <p:sp>
        <p:nvSpPr>
          <p:cNvPr id="35" name="Text 33">
            <a:extLst xmlns:a="http://schemas.openxmlformats.org/drawingml/2006/main">
              <a:ext uri="{FF2B5EF4-FFF2-40B4-BE49-F238E27FC236}">
                <a16:creationId xmlns:a16="http://schemas.microsoft.com/office/drawing/2014/main" id="{348412A2-5638-4572-B368-DE86ABB3FD04}"/>
              </a:ext>
            </a:extLst>
          </p:cNvPr>
          <p:cNvSpPr>
            <a:spLocks xmlns:a="http://schemas.openxmlformats.org/drawingml/2006/main" noGrp="1"/>
          </p:cNvSpPr>
          <p:nvPr/>
        </p:nvSpPr>
        <p:spPr>
          <a:xfrm xmlns:a="http://schemas.openxmlformats.org/drawingml/2006/main">
            <a:off x="7452360" y="3977640"/>
            <a:ext cx="11887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(6) VERIFY
</a:t>
            </a:r>
            <a:endParaRPr sz="1000"/>
          </a:p>
          <a:p xmlns:a="http://schemas.openxmlformats.org/drawingml/2006/main">
            <a:pPr marL="0" indent="0" algn="ctr">
              <a:buNone/>
            </a:pPr>
            <a:r>
              <a:rPr sz="800">
                <a:solidFill>
                  <a:srgbClr val="FFFFFF"/>
                </a:solidFill>
                <a:latin typeface="Arial"/>
                <a:ea typeface="Arial"/>
                <a:cs typeface="Arial"/>
              </a:rPr>
              <a:t>11 audited verdicts</a:t>
            </a:r>
            <a:endParaRPr sz="1000"/>
          </a:p>
        </p:txBody>
      </p:sp>
      <p:sp>
        <p:nvSpPr>
          <p:cNvPr id="36" name="Text 34">
            <a:extLst xmlns:a="http://schemas.openxmlformats.org/drawingml/2006/main">
              <a:ext uri="{FF2B5EF4-FFF2-40B4-BE49-F238E27FC236}">
                <a16:creationId xmlns:a16="http://schemas.microsoft.com/office/drawing/2014/main" id="{3B034FC6-F527-4B2B-BEFF-38E8F3166CB2}"/>
              </a:ext>
            </a:extLst>
          </p:cNvPr>
          <p:cNvSpPr>
            <a:spLocks xmlns:a="http://schemas.openxmlformats.org/drawingml/2006/main" noGrp="1"/>
          </p:cNvSpPr>
          <p:nvPr/>
        </p:nvSpPr>
        <p:spPr>
          <a:xfrm xmlns:a="http://schemas.openxmlformats.org/drawingml/2006/main">
            <a:off x="7452360" y="4809744"/>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i="1">
                <a:solidFill>
                  <a:srgbClr val="9E2A2B"/>
                </a:solidFill>
                <a:latin typeface="Arial"/>
                <a:ea typeface="Arial"/>
                <a:cs typeface="Arial"/>
              </a:rPr>
              <a:t>doubt</a:t>
            </a:r>
            <a:endParaRPr sz="850"/>
          </a:p>
        </p:txBody>
      </p:sp>
      <p:sp>
        <p:nvSpPr>
          <p:cNvPr id="37" name="Shape 35">
            <a:extLst xmlns:a="http://schemas.openxmlformats.org/drawingml/2006/main">
              <a:ext uri="{FF2B5EF4-FFF2-40B4-BE49-F238E27FC236}">
                <a16:creationId xmlns:a16="http://schemas.microsoft.com/office/drawing/2014/main" id="{689426EA-41BE-41D2-8D06-756A107673A5}"/>
              </a:ext>
            </a:extLst>
          </p:cNvPr>
          <p:cNvSpPr>
            <a:spLocks xmlns:a="http://schemas.openxmlformats.org/drawingml/2006/main" noGrp="1"/>
          </p:cNvSpPr>
          <p:nvPr/>
        </p:nvSpPr>
        <p:spPr>
          <a:xfrm xmlns:a="http://schemas.openxmlformats.org/drawingml/2006/main">
            <a:off x="5266944" y="5074920"/>
            <a:ext cx="2779776" cy="0"/>
          </a:xfrm>
          <a:prstGeom xmlns:a="http://schemas.openxmlformats.org/drawingml/2006/main" prst="line">
            <a:avLst/>
          </a:prstGeom>
          <a:noFill xmlns:a="http://schemas.openxmlformats.org/drawingml/2006/main"/>
          <a:ln xmlns:a="http://schemas.openxmlformats.org/drawingml/2006/main" w="19050">
            <a:solidFill>
              <a:srgbClr val="1F4E79"/>
            </a:solidFill>
            <a:prstDash val="solid"/>
            <a:headEnd type="triangle"/>
          </a:ln>
        </p:spPr>
      </p:sp>
      <p:sp>
        <p:nvSpPr>
          <p:cNvPr id="38" name="Shape 36">
            <a:extLst xmlns:a="http://schemas.openxmlformats.org/drawingml/2006/main">
              <a:ext uri="{FF2B5EF4-FFF2-40B4-BE49-F238E27FC236}">
                <a16:creationId xmlns:a16="http://schemas.microsoft.com/office/drawing/2014/main" id="{83889BD8-6CA9-47F3-89B5-ACAE192A0266}"/>
              </a:ext>
            </a:extLst>
          </p:cNvPr>
          <p:cNvSpPr>
            <a:spLocks xmlns:a="http://schemas.openxmlformats.org/drawingml/2006/main" noGrp="1"/>
          </p:cNvSpPr>
          <p:nvPr/>
        </p:nvSpPr>
        <p:spPr>
          <a:xfrm xmlns:a="http://schemas.openxmlformats.org/drawingml/2006/main">
            <a:off x="8046720" y="4764024"/>
            <a:ext cx="0" cy="310896"/>
          </a:xfrm>
          <a:prstGeom xmlns:a="http://schemas.openxmlformats.org/drawingml/2006/main" prst="line">
            <a:avLst/>
          </a:prstGeom>
          <a:noFill xmlns:a="http://schemas.openxmlformats.org/drawingml/2006/main"/>
          <a:ln xmlns:a="http://schemas.openxmlformats.org/drawingml/2006/main" w="19050">
            <a:solidFill>
              <a:srgbClr val="1F4E79"/>
            </a:solidFill>
            <a:prstDash val="solid"/>
          </a:ln>
        </p:spPr>
      </p:sp>
      <p:sp>
        <p:nvSpPr>
          <p:cNvPr id="39" name="Shape 37">
            <a:extLst xmlns:a="http://schemas.openxmlformats.org/drawingml/2006/main">
              <a:ext uri="{FF2B5EF4-FFF2-40B4-BE49-F238E27FC236}">
                <a16:creationId xmlns:a16="http://schemas.microsoft.com/office/drawing/2014/main" id="{66B6D9D4-D477-41B3-BCFF-99DE62BD195A}"/>
              </a:ext>
            </a:extLst>
          </p:cNvPr>
          <p:cNvSpPr>
            <a:spLocks xmlns:a="http://schemas.openxmlformats.org/drawingml/2006/main" noGrp="1"/>
          </p:cNvSpPr>
          <p:nvPr/>
        </p:nvSpPr>
        <p:spPr>
          <a:xfrm xmlns:a="http://schemas.openxmlformats.org/drawingml/2006/main">
            <a:off x="5266944" y="4764024"/>
            <a:ext cx="0" cy="310896"/>
          </a:xfrm>
          <a:prstGeom xmlns:a="http://schemas.openxmlformats.org/drawingml/2006/main" prst="line">
            <a:avLst/>
          </a:prstGeom>
          <a:noFill xmlns:a="http://schemas.openxmlformats.org/drawingml/2006/main"/>
          <a:ln xmlns:a="http://schemas.openxmlformats.org/drawingml/2006/main" w="19050">
            <a:solidFill>
              <a:srgbClr val="1F4E79"/>
            </a:solidFill>
            <a:prstDash val="solid"/>
          </a:ln>
        </p:spPr>
      </p:sp>
      <p:sp>
        <p:nvSpPr>
          <p:cNvPr id="40" name="Text 38">
            <a:extLst xmlns:a="http://schemas.openxmlformats.org/drawingml/2006/main">
              <a:ext uri="{FF2B5EF4-FFF2-40B4-BE49-F238E27FC236}">
                <a16:creationId xmlns:a16="http://schemas.microsoft.com/office/drawing/2014/main" id="{E5A12424-8D88-422F-AC1E-14292EE7063E}"/>
              </a:ext>
            </a:extLst>
          </p:cNvPr>
          <p:cNvSpPr>
            <a:spLocks xmlns:a="http://schemas.openxmlformats.org/drawingml/2006/main" noGrp="1"/>
          </p:cNvSpPr>
          <p:nvPr/>
        </p:nvSpPr>
        <p:spPr>
          <a:xfrm xmlns:a="http://schemas.openxmlformats.org/drawingml/2006/main">
            <a:off x="5650992" y="5084064"/>
            <a:ext cx="20116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i="1">
                <a:solidFill>
                  <a:srgbClr val="1F4E79"/>
                </a:solidFill>
                <a:latin typeface="Arial"/>
                <a:ea typeface="Arial"/>
                <a:cs typeface="Arial"/>
              </a:rPr>
              <a:t>new labels, new sims</a:t>
            </a:r>
            <a:endParaRPr sz="800"/>
          </a:p>
        </p:txBody>
      </p:sp>
      <p:sp>
        <p:nvSpPr>
          <p:cNvPr id="41" name="Shape 39">
            <a:extLst xmlns:a="http://schemas.openxmlformats.org/drawingml/2006/main">
              <a:ext uri="{FF2B5EF4-FFF2-40B4-BE49-F238E27FC236}">
                <a16:creationId xmlns:a16="http://schemas.microsoft.com/office/drawing/2014/main" id="{AAD08BB3-4A53-4595-AE87-F48D5A2CA5F8}"/>
              </a:ext>
            </a:extLst>
          </p:cNvPr>
          <p:cNvSpPr>
            <a:spLocks xmlns:a="http://schemas.openxmlformats.org/drawingml/2006/main" noGrp="1"/>
          </p:cNvSpPr>
          <p:nvPr/>
        </p:nvSpPr>
        <p:spPr>
          <a:xfrm xmlns:a="http://schemas.openxmlformats.org/drawingml/2006/main">
            <a:off x="2487168" y="3703320"/>
            <a:ext cx="5559552" cy="0"/>
          </a:xfrm>
          <a:prstGeom xmlns:a="http://schemas.openxmlformats.org/drawingml/2006/main" prst="line">
            <a:avLst/>
          </a:prstGeom>
          <a:noFill xmlns:a="http://schemas.openxmlformats.org/drawingml/2006/main"/>
          <a:ln xmlns:a="http://schemas.openxmlformats.org/drawingml/2006/main" w="15875">
            <a:solidFill>
              <a:srgbClr val="7F7F7F"/>
            </a:solidFill>
            <a:prstDash val="dash"/>
            <a:headEnd type="triangle"/>
          </a:ln>
        </p:spPr>
      </p:sp>
      <p:sp>
        <p:nvSpPr>
          <p:cNvPr id="42" name="Shape 40">
            <a:extLst xmlns:a="http://schemas.openxmlformats.org/drawingml/2006/main">
              <a:ext uri="{FF2B5EF4-FFF2-40B4-BE49-F238E27FC236}">
                <a16:creationId xmlns:a16="http://schemas.microsoft.com/office/drawing/2014/main" id="{8C95F506-47E6-4F4A-82AA-819F1E90DBB7}"/>
              </a:ext>
            </a:extLst>
          </p:cNvPr>
          <p:cNvSpPr>
            <a:spLocks xmlns:a="http://schemas.openxmlformats.org/drawingml/2006/main" noGrp="1"/>
          </p:cNvSpPr>
          <p:nvPr/>
        </p:nvSpPr>
        <p:spPr>
          <a:xfrm xmlns:a="http://schemas.openxmlformats.org/drawingml/2006/main">
            <a:off x="8046720" y="3703320"/>
            <a:ext cx="0" cy="274320"/>
          </a:xfrm>
          <a:prstGeom xmlns:a="http://schemas.openxmlformats.org/drawingml/2006/main" prst="line">
            <a:avLst/>
          </a:prstGeom>
          <a:noFill xmlns:a="http://schemas.openxmlformats.org/drawingml/2006/main"/>
          <a:ln xmlns:a="http://schemas.openxmlformats.org/drawingml/2006/main" w="15875">
            <a:solidFill>
              <a:srgbClr val="7F7F7F"/>
            </a:solidFill>
            <a:prstDash val="dash"/>
          </a:ln>
        </p:spPr>
      </p:sp>
      <p:sp>
        <p:nvSpPr>
          <p:cNvPr id="43" name="Shape 41">
            <a:extLst xmlns:a="http://schemas.openxmlformats.org/drawingml/2006/main">
              <a:ext uri="{FF2B5EF4-FFF2-40B4-BE49-F238E27FC236}">
                <a16:creationId xmlns:a16="http://schemas.microsoft.com/office/drawing/2014/main" id="{C5FBEF84-07C8-46A6-8A17-75A84AD7F43B}"/>
              </a:ext>
            </a:extLst>
          </p:cNvPr>
          <p:cNvSpPr>
            <a:spLocks xmlns:a="http://schemas.openxmlformats.org/drawingml/2006/main" noGrp="1"/>
          </p:cNvSpPr>
          <p:nvPr/>
        </p:nvSpPr>
        <p:spPr>
          <a:xfrm xmlns:a="http://schemas.openxmlformats.org/drawingml/2006/main">
            <a:off x="2487168" y="3703320"/>
            <a:ext cx="0" cy="274320"/>
          </a:xfrm>
          <a:prstGeom xmlns:a="http://schemas.openxmlformats.org/drawingml/2006/main" prst="line">
            <a:avLst/>
          </a:prstGeom>
          <a:noFill xmlns:a="http://schemas.openxmlformats.org/drawingml/2006/main"/>
          <a:ln xmlns:a="http://schemas.openxmlformats.org/drawingml/2006/main" w="15875">
            <a:solidFill>
              <a:srgbClr val="7F7F7F"/>
            </a:solidFill>
            <a:prstDash val="dash"/>
          </a:ln>
        </p:spPr>
      </p:sp>
      <p:sp>
        <p:nvSpPr>
          <p:cNvPr id="44" name="Text 42">
            <a:extLst xmlns:a="http://schemas.openxmlformats.org/drawingml/2006/main">
              <a:ext uri="{FF2B5EF4-FFF2-40B4-BE49-F238E27FC236}">
                <a16:creationId xmlns:a16="http://schemas.microsoft.com/office/drawing/2014/main" id="{2281B17D-1175-410A-9B2C-09D67259977A}"/>
              </a:ext>
            </a:extLst>
          </p:cNvPr>
          <p:cNvSpPr>
            <a:spLocks xmlns:a="http://schemas.openxmlformats.org/drawingml/2006/main" noGrp="1"/>
          </p:cNvSpPr>
          <p:nvPr/>
        </p:nvSpPr>
        <p:spPr>
          <a:xfrm xmlns:a="http://schemas.openxmlformats.org/drawingml/2006/main">
            <a:off x="4352544" y="3502152"/>
            <a:ext cx="1828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i="1">
                <a:solidFill>
                  <a:srgbClr val="7F7F7F"/>
                </a:solidFill>
                <a:latin typeface="Arial"/>
                <a:ea typeface="Arial"/>
                <a:cs typeface="Arial"/>
              </a:rPr>
              <a:t>tool limits exposed</a:t>
            </a:r>
            <a:endParaRPr sz="800"/>
          </a:p>
        </p:txBody>
      </p:sp>
      <p:sp>
        <p:nvSpPr>
          <p:cNvPr id="45" name="Text 43">
            <a:extLst xmlns:a="http://schemas.openxmlformats.org/drawingml/2006/main">
              <a:ext uri="{FF2B5EF4-FFF2-40B4-BE49-F238E27FC236}">
                <a16:creationId xmlns:a16="http://schemas.microsoft.com/office/drawing/2014/main" id="{CFB4500B-A9D3-4AC5-B848-F7FB11BA35BB}"/>
              </a:ext>
            </a:extLst>
          </p:cNvPr>
          <p:cNvSpPr>
            <a:spLocks xmlns:a="http://schemas.openxmlformats.org/drawingml/2006/main" noGrp="1"/>
          </p:cNvSpPr>
          <p:nvPr/>
        </p:nvSpPr>
        <p:spPr>
          <a:xfrm xmlns:a="http://schemas.openxmlformats.org/drawingml/2006/main">
            <a:off x="502920" y="5806440"/>
            <a:ext cx="8138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F4E79"/>
                </a:solidFill>
                <a:latin typeface="Arial"/>
                <a:ea typeface="Arial"/>
                <a:cs typeface="Arial"/>
              </a:rPr>
              <a:t>Today was one lap of this loop.  Thank you.</a:t>
            </a:r>
            <a:endParaRPr sz="1400"/>
          </a:p>
        </p:txBody>
      </p:sp>
      <p:sp>
        <p:nvSpPr>
          <p:cNvPr id="47" name="Text 44">
            <a:extLst xmlns:a="http://schemas.openxmlformats.org/drawingml/2006/main">
              <a:ext uri="{FF2B5EF4-FFF2-40B4-BE49-F238E27FC236}">
                <a16:creationId xmlns:a16="http://schemas.microsoft.com/office/drawing/2014/main" id="{BEB1AE67-AB4F-4896-A15B-CA12CFC33C98}"/>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48" name="Text 45">
            <a:extLst xmlns:a="http://schemas.openxmlformats.org/drawingml/2006/main">
              <a:ext uri="{FF2B5EF4-FFF2-40B4-BE49-F238E27FC236}">
                <a16:creationId xmlns:a16="http://schemas.microsoft.com/office/drawing/2014/main" id="{1219C8DA-D2B6-4D7F-BB38-68F670FF8D59}"/>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20</a:t>
            </a:r>
            <a:endParaRPr sz="900"/>
          </a:p>
        </p:txBody>
      </p:sp>
    </p:spTree>
    <p:extLst>
      <p:ext uri="{BB962C8B-B14F-4D97-AF65-F5344CB8AC3E}">
        <p14:creationId xmlns:p14="http://schemas.microsoft.com/office/powerpoint/2010/main" val="10315403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CA960B-7810-4543-8876-725BE4AA7A00}"/>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A1</a:t>
            </a:r>
            <a:endParaRPr sz="1100"/>
          </a:p>
        </p:txBody>
      </p:sp>
      <p:sp>
        <p:nvSpPr>
          <p:cNvPr id="3" name="Text 1">
            <a:extLst xmlns:a="http://schemas.openxmlformats.org/drawingml/2006/main">
              <a:ext uri="{FF2B5EF4-FFF2-40B4-BE49-F238E27FC236}">
                <a16:creationId xmlns:a16="http://schemas.microsoft.com/office/drawing/2014/main" id="{561AFD48-F5AD-4491-B254-90C603B09E6F}"/>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DFT terms</a:t>
            </a:r>
            <a:endParaRPr sz="2000"/>
          </a:p>
        </p:txBody>
      </p:sp>
      <p:sp>
        <p:nvSpPr>
          <p:cNvPr id="4" name="Shape 2">
            <a:extLst xmlns:a="http://schemas.openxmlformats.org/drawingml/2006/main">
              <a:ext uri="{FF2B5EF4-FFF2-40B4-BE49-F238E27FC236}">
                <a16:creationId xmlns:a16="http://schemas.microsoft.com/office/drawing/2014/main" id="{403AD835-B414-4329-97BC-F484836655AE}"/>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3"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2103120"/>
                <a:gridCol w="6035040"/>
              </a:tblGrid>
              <a:tr h="384048">
                <a:tc>
                  <a:txBody>
                    <a:bodyPr/>
                    <a:lstStyle/>
                    <a:p>
                      <a:pPr marL="0" indent="0">
                        <a:buNone/>
                      </a:pPr>
                      <a:r>
                        <a:rPr sz="1000" b="1">
                          <a:solidFill>
                            <a:srgbClr val="FFFFFF"/>
                          </a:solidFill>
                          <a:latin typeface="Arial"/>
                          <a:ea typeface="Arial"/>
                          <a:cs typeface="Arial"/>
                        </a:rPr>
                        <a:t>Term</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00" b="1">
                          <a:solidFill>
                            <a:srgbClr val="FFFFFF"/>
                          </a:solidFill>
                          <a:latin typeface="Arial"/>
                          <a:ea typeface="Arial"/>
                          <a:cs typeface="Arial"/>
                        </a:rPr>
                        <a:t>One-line definition (and our setting)</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84048">
                <a:tc>
                  <a:txBody>
                    <a:bodyPr/>
                    <a:lstStyle/>
                    <a:p>
                      <a:pPr marL="0" indent="0">
                        <a:buNone/>
                      </a:pPr>
                      <a:r>
                        <a:rPr sz="1000" b="1">
                          <a:solidFill>
                            <a:srgbClr val="262626"/>
                          </a:solidFill>
                          <a:latin typeface="Arial"/>
                          <a:ea typeface="Arial"/>
                          <a:cs typeface="Arial"/>
                        </a:rPr>
                        <a:t>SCF</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self-consistent field — iterate density↔potential to a fixed point</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pseudopotential</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replace core electrons by an effective potential; valence-only problem</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k-mesh</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Brillouin-zone sampling grid; denser = more accurate band integrals</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XC functional</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the one approximated term E_xc[n]; ours: PBE (GGA)</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Hubbard U</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on-site repulsion for localized d/f; ours: Ni 3d, U = 6.2 eV (empirical)</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smearing</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fractional occupations to stabilize metallic SCF; NEVER for our gap readings (fixed-occ rule)</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9371F61A-91A0-4C4E-A39F-EC6D96569B83}"/>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8" name="Text 4">
            <a:extLst xmlns:a="http://schemas.openxmlformats.org/drawingml/2006/main">
              <a:ext uri="{FF2B5EF4-FFF2-40B4-BE49-F238E27FC236}">
                <a16:creationId xmlns:a16="http://schemas.microsoft.com/office/drawing/2014/main" id="{AD2BB321-449E-4D0A-BF70-56F951C5E57E}"/>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21</a:t>
            </a:r>
            <a:endParaRPr sz="900"/>
          </a:p>
        </p:txBody>
      </p:sp>
    </p:spTree>
    <p:extLst>
      <p:ext uri="{BB962C8B-B14F-4D97-AF65-F5344CB8AC3E}">
        <p14:creationId xmlns:p14="http://schemas.microsoft.com/office/powerpoint/2010/main" val="173968487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6850C3-FF79-4CF6-808F-1890F8E4FD2F}"/>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A2</a:t>
            </a:r>
            <a:endParaRPr sz="1100"/>
          </a:p>
        </p:txBody>
      </p:sp>
      <p:sp>
        <p:nvSpPr>
          <p:cNvPr id="3" name="Text 1">
            <a:extLst xmlns:a="http://schemas.openxmlformats.org/drawingml/2006/main">
              <a:ext uri="{FF2B5EF4-FFF2-40B4-BE49-F238E27FC236}">
                <a16:creationId xmlns:a16="http://schemas.microsoft.com/office/drawing/2014/main" id="{96F509F7-E801-4F41-806B-7D566C5F4CEC}"/>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Property terms</a:t>
            </a:r>
            <a:endParaRPr sz="2000"/>
          </a:p>
        </p:txBody>
      </p:sp>
      <p:sp>
        <p:nvSpPr>
          <p:cNvPr id="4" name="Shape 2">
            <a:extLst xmlns:a="http://schemas.openxmlformats.org/drawingml/2006/main">
              <a:ext uri="{FF2B5EF4-FFF2-40B4-BE49-F238E27FC236}">
                <a16:creationId xmlns:a16="http://schemas.microsoft.com/office/drawing/2014/main" id="{42478A11-3A2B-487E-90F4-D5336B57F7A8}"/>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3"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2103120"/>
                <a:gridCol w="6035040"/>
              </a:tblGrid>
              <a:tr h="384048">
                <a:tc>
                  <a:txBody>
                    <a:bodyPr/>
                    <a:lstStyle/>
                    <a:p>
                      <a:pPr marL="0" indent="0">
                        <a:buNone/>
                      </a:pPr>
                      <a:r>
                        <a:rPr sz="1000" b="1">
                          <a:solidFill>
                            <a:srgbClr val="FFFFFF"/>
                          </a:solidFill>
                          <a:latin typeface="Arial"/>
                          <a:ea typeface="Arial"/>
                          <a:cs typeface="Arial"/>
                        </a:rPr>
                        <a:t>Term</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1000" b="1">
                          <a:solidFill>
                            <a:srgbClr val="FFFFFF"/>
                          </a:solidFill>
                          <a:latin typeface="Arial"/>
                          <a:ea typeface="Arial"/>
                          <a:cs typeface="Arial"/>
                        </a:rPr>
                        <a:t>One-line definition (and our setting)</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84048">
                <a:tc>
                  <a:txBody>
                    <a:bodyPr/>
                    <a:lstStyle/>
                    <a:p>
                      <a:pPr marL="0" indent="0">
                        <a:buNone/>
                      </a:pPr>
                      <a:r>
                        <a:rPr sz="1000" b="1">
                          <a:solidFill>
                            <a:srgbClr val="262626"/>
                          </a:solidFill>
                          <a:latin typeface="Arial"/>
                          <a:ea typeface="Arial"/>
                          <a:cs typeface="Arial"/>
                        </a:rPr>
                        <a:t>BM3 EOS</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3rd-order Birch–Murnaghan fit of E(V) → B₀</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C_ij / VRH</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elastic tensor / Voigt–Reuss–Hill average → E, G</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ICOHP</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bond-resolved band-energy integral; SIGN: negative = bonding</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ELF</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electron localization function, 0–1</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Bader charge</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charge partitioned by zero-flux surfaces of n(r)</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ESW</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electrochemical stability window from grand-potential hull</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1000" b="1">
                          <a:solidFill>
                            <a:srgbClr val="262626"/>
                          </a:solidFill>
                          <a:latin typeface="Arial"/>
                          <a:ea typeface="Arial"/>
                          <a:cs typeface="Arial"/>
                        </a:rPr>
                        <a:t>E_hull</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1000">
                          <a:solidFill>
                            <a:srgbClr val="262626"/>
                          </a:solidFill>
                          <a:latin typeface="Arial"/>
                          <a:ea typeface="Arial"/>
                          <a:cs typeface="Arial"/>
                        </a:rPr>
                        <a:t>height above convex hull = decomposition driving force</a:t>
                      </a:r>
                      <a:endParaRPr sz="10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891572E2-C11F-473F-8193-0B037D4EAA36}"/>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8" name="Text 4">
            <a:extLst xmlns:a="http://schemas.openxmlformats.org/drawingml/2006/main">
              <a:ext uri="{FF2B5EF4-FFF2-40B4-BE49-F238E27FC236}">
                <a16:creationId xmlns:a16="http://schemas.microsoft.com/office/drawing/2014/main" id="{0A7F6DAE-3D56-40C6-AF4B-F8ECA198D599}"/>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22</a:t>
            </a:r>
            <a:endParaRPr sz="900"/>
          </a:p>
        </p:txBody>
      </p:sp>
    </p:spTree>
    <p:extLst>
      <p:ext uri="{BB962C8B-B14F-4D97-AF65-F5344CB8AC3E}">
        <p14:creationId xmlns:p14="http://schemas.microsoft.com/office/powerpoint/2010/main" val="17428943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0FB832-1625-4BCA-BA8E-0E8CE85798A8}"/>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A3</a:t>
            </a:r>
            <a:endParaRPr sz="1100"/>
          </a:p>
        </p:txBody>
      </p:sp>
      <p:sp>
        <p:nvSpPr>
          <p:cNvPr id="3" name="Text 1">
            <a:extLst xmlns:a="http://schemas.openxmlformats.org/drawingml/2006/main">
              <a:ext uri="{FF2B5EF4-FFF2-40B4-BE49-F238E27FC236}">
                <a16:creationId xmlns:a16="http://schemas.microsoft.com/office/drawing/2014/main" id="{A2523A42-2582-43CA-B9DB-0060A665BABA}"/>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Protocol matrix: the method tag sets the strongest allowed claim</a:t>
            </a:r>
            <a:endParaRPr sz="2000"/>
          </a:p>
        </p:txBody>
      </p:sp>
      <p:sp>
        <p:nvSpPr>
          <p:cNvPr id="4" name="Shape 2">
            <a:extLst xmlns:a="http://schemas.openxmlformats.org/drawingml/2006/main">
              <a:ext uri="{FF2B5EF4-FFF2-40B4-BE49-F238E27FC236}">
                <a16:creationId xmlns:a16="http://schemas.microsoft.com/office/drawing/2014/main" id="{A6D44891-A9BE-44CE-9C39-DE140C0ACC02}"/>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4"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1554480"/>
                <a:gridCol w="2194560"/>
                <a:gridCol w="2468880"/>
                <a:gridCol w="1920240"/>
              </a:tblGrid>
              <a:tr h="457200">
                <a:tc>
                  <a:txBody>
                    <a:bodyPr/>
                    <a:lstStyle/>
                    <a:p>
                      <a:pPr marL="0" indent="0">
                        <a:buNone/>
                      </a:pPr>
                      <a:r>
                        <a:rPr sz="950" b="1">
                          <a:solidFill>
                            <a:srgbClr val="FFFFFF"/>
                          </a:solidFill>
                          <a:latin typeface="Arial"/>
                          <a:ea typeface="Arial"/>
                          <a:cs typeface="Arial"/>
                        </a:rPr>
                        <a:t>Tier / method</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50" b="1">
                          <a:solidFill>
                            <a:srgbClr val="FFFFFF"/>
                          </a:solidFill>
                          <a:latin typeface="Arial"/>
                          <a:ea typeface="Arial"/>
                          <a:cs typeface="Arial"/>
                        </a:rPr>
                        <a:t>Primary output</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50" b="1">
                          <a:solidFill>
                            <a:srgbClr val="FFFFFF"/>
                          </a:solidFill>
                          <a:latin typeface="Arial"/>
                          <a:ea typeface="Arial"/>
                          <a:cs typeface="Arial"/>
                        </a:rPr>
                        <a:t>Allowed claim</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50" b="1">
                          <a:solidFill>
                            <a:srgbClr val="FFFFFF"/>
                          </a:solidFill>
                          <a:latin typeface="Arial"/>
                          <a:ea typeface="Arial"/>
                          <a:cs typeface="Arial"/>
                        </a:rPr>
                        <a:t>Do not claim</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457200">
                <a:tc>
                  <a:txBody>
                    <a:bodyPr/>
                    <a:lstStyle/>
                    <a:p>
                      <a:pPr marL="0" indent="0">
                        <a:buNone/>
                      </a:pPr>
                      <a:r>
                        <a:rPr sz="950">
                          <a:solidFill>
                            <a:srgbClr val="262626"/>
                          </a:solidFill>
                          <a:latin typeface="Arial"/>
                          <a:ea typeface="Arial"/>
                          <a:cs typeface="Arial"/>
                        </a:rPr>
                        <a:t>UMA MLIP</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relative E, forces, relaxation</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same-protocol candidate ordering</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absolute thermodynamics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57200">
                <a:tc>
                  <a:txBody>
                    <a:bodyPr/>
                    <a:lstStyle/>
                    <a:p>
                      <a:pPr marL="0" indent="0">
                        <a:buNone/>
                      </a:pPr>
                      <a:r>
                        <a:rPr sz="950">
                          <a:solidFill>
                            <a:srgbClr val="262626"/>
                          </a:solidFill>
                          <a:latin typeface="Arial"/>
                          <a:ea typeface="Arial"/>
                          <a:cs typeface="Arial"/>
                        </a:rPr>
                        <a:t>BVSE</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static pathway geometry</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pathway-retention risk</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D or conductivity</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57200">
                <a:tc>
                  <a:txBody>
                    <a:bodyPr/>
                    <a:lstStyle/>
                    <a:p>
                      <a:pPr marL="0" indent="0">
                        <a:buNone/>
                      </a:pPr>
                      <a:r>
                        <a:rPr sz="950">
                          <a:solidFill>
                            <a:srgbClr val="262626"/>
                          </a:solidFill>
                          <a:latin typeface="Arial"/>
                          <a:ea typeface="Arial"/>
                          <a:cs typeface="Arial"/>
                        </a:rPr>
                        <a:t>MLIP-MD</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MSD, D(T), Ea</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multi-seed verdict at 600/800/1000 K (β-gated)</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single-seed ratios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57200">
                <a:tc>
                  <a:txBody>
                    <a:bodyPr/>
                    <a:lstStyle/>
                    <a:p>
                      <a:pPr marL="0" indent="0">
                        <a:buNone/>
                      </a:pPr>
                      <a:r>
                        <a:rPr sz="950">
                          <a:solidFill>
                            <a:srgbClr val="262626"/>
                          </a:solidFill>
                          <a:latin typeface="Arial"/>
                          <a:ea typeface="Arial"/>
                          <a:cs typeface="Arial"/>
                        </a:rPr>
                        <a:t>DFT (+U)</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matched energies, electronic response</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selected-candidate validation</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47/47 DFT coverage</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57200">
                <a:tc>
                  <a:txBody>
                    <a:bodyPr/>
                    <a:lstStyle/>
                    <a:p>
                      <a:pPr marL="0" indent="0">
                        <a:buNone/>
                      </a:pPr>
                      <a:r>
                        <a:rPr sz="950">
                          <a:solidFill>
                            <a:srgbClr val="262626"/>
                          </a:solidFill>
                          <a:latin typeface="Arial"/>
                          <a:ea typeface="Arial"/>
                          <a:cs typeface="Arial"/>
                        </a:rPr>
                        <a:t>Literature / experiment</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external values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directional cross-check</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mixing with internal absolutes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6" name="Text 3">
            <a:extLst xmlns:a="http://schemas.openxmlformats.org/drawingml/2006/main">
              <a:ext uri="{FF2B5EF4-FFF2-40B4-BE49-F238E27FC236}">
                <a16:creationId xmlns:a16="http://schemas.microsoft.com/office/drawing/2014/main" id="{23B5169E-88AF-40B7-B903-385564CDB433}"/>
              </a:ext>
            </a:extLst>
          </p:cNvPr>
          <p:cNvSpPr>
            <a:spLocks xmlns:a="http://schemas.openxmlformats.org/drawingml/2006/main" noGrp="1"/>
          </p:cNvSpPr>
          <p:nvPr/>
        </p:nvSpPr>
        <p:spPr>
          <a:xfrm xmlns:a="http://schemas.openxmlformats.org/drawingml/2006/main">
            <a:off x="502920" y="438912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1F4E79"/>
                </a:solidFill>
                <a:latin typeface="Arial"/>
                <a:ea typeface="Arial"/>
                <a:cs typeface="Arial"/>
              </a:rPr>
              <a:t>One symbol = one method-qualified quantity. Never reuse a label across protocol lineages.</a:t>
            </a:r>
            <a:endParaRPr sz="1050"/>
          </a:p>
        </p:txBody>
      </p:sp>
      <p:sp>
        <p:nvSpPr>
          <p:cNvPr id="8" name="Text 4">
            <a:extLst xmlns:a="http://schemas.openxmlformats.org/drawingml/2006/main">
              <a:ext uri="{FF2B5EF4-FFF2-40B4-BE49-F238E27FC236}">
                <a16:creationId xmlns:a16="http://schemas.microsoft.com/office/drawing/2014/main" id="{FEB27A9F-EE6E-4EB8-92F8-F157450731C8}"/>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9" name="Text 5">
            <a:extLst xmlns:a="http://schemas.openxmlformats.org/drawingml/2006/main">
              <a:ext uri="{FF2B5EF4-FFF2-40B4-BE49-F238E27FC236}">
                <a16:creationId xmlns:a16="http://schemas.microsoft.com/office/drawing/2014/main" id="{A7FC7CA9-EC17-4DAC-84C9-4D67EFEC68CF}"/>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23</a:t>
            </a:r>
            <a:endParaRPr sz="900"/>
          </a:p>
        </p:txBody>
      </p:sp>
    </p:spTree>
    <p:extLst>
      <p:ext uri="{BB962C8B-B14F-4D97-AF65-F5344CB8AC3E}">
        <p14:creationId xmlns:p14="http://schemas.microsoft.com/office/powerpoint/2010/main" val="22728134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0F6972-F36C-41D4-8102-B8F4A824788F}"/>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A4</a:t>
            </a:r>
            <a:endParaRPr sz="1100"/>
          </a:p>
        </p:txBody>
      </p:sp>
      <p:sp>
        <p:nvSpPr>
          <p:cNvPr id="3" name="Text 1">
            <a:extLst xmlns:a="http://schemas.openxmlformats.org/drawingml/2006/main">
              <a:ext uri="{FF2B5EF4-FFF2-40B4-BE49-F238E27FC236}">
                <a16:creationId xmlns:a16="http://schemas.microsoft.com/office/drawing/2014/main" id="{1A511FEA-4F17-4EB4-A49C-2082E5698112}"/>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Transport terms, and the β-gate</a:t>
            </a:r>
            <a:endParaRPr sz="2000"/>
          </a:p>
        </p:txBody>
      </p:sp>
      <p:sp>
        <p:nvSpPr>
          <p:cNvPr id="4" name="Shape 2">
            <a:extLst xmlns:a="http://schemas.openxmlformats.org/drawingml/2006/main">
              <a:ext uri="{FF2B5EF4-FFF2-40B4-BE49-F238E27FC236}">
                <a16:creationId xmlns:a16="http://schemas.microsoft.com/office/drawing/2014/main" id="{F34687E3-0007-4D25-AC63-3E54A949FB1D}"/>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5" name="Text 3">
            <a:extLst xmlns:a="http://schemas.openxmlformats.org/drawingml/2006/main">
              <a:ext uri="{FF2B5EF4-FFF2-40B4-BE49-F238E27FC236}">
                <a16:creationId xmlns:a16="http://schemas.microsoft.com/office/drawing/2014/main" id="{F9C62E8B-3DF8-4223-B0EE-7D767ABCE7CB}"/>
              </a:ext>
            </a:extLst>
          </p:cNvPr>
          <p:cNvSpPr>
            <a:spLocks xmlns:a="http://schemas.openxmlformats.org/drawingml/2006/main" noGrp="1"/>
          </p:cNvSpPr>
          <p:nvPr/>
        </p:nvSpPr>
        <p:spPr>
          <a:xfrm xmlns:a="http://schemas.openxmlformats.org/drawingml/2006/main">
            <a:off x="502920" y="1371600"/>
            <a:ext cx="402336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125" b="1">
                <a:solidFill>
                  <a:srgbClr val="262626"/>
                </a:solidFill>
                <a:latin typeface="Arial"/>
                <a:ea typeface="Arial"/>
                <a:cs typeface="Arial"/>
              </a:rPr>
              <a:t>MSD: ⟨r²(t)⟩; diffusive regime ⇔ log–log slope near 1</a:t>
            </a:r>
            <a:endParaRPr sz="1050"/>
          </a:p>
          <a:p xmlns:a="http://schemas.openxmlformats.org/drawingml/2006/main">
            <a:pPr marL="127000" indent="-127000">
              <a:spcAft>
                <a:spcPts val="500"/>
              </a:spcAft>
              <a:buSzPct val="100000"/>
              <a:buChar char="·"/>
            </a:pPr>
            <a:r>
              <a:rPr sz="1125" b="1">
                <a:solidFill>
                  <a:srgbClr val="9E2A2B"/>
                </a:solidFill>
                <a:latin typeface="Arial"/>
                <a:ea typeface="Arial"/>
                <a:cs typeface="Arial"/>
              </a:rPr>
              <a:t>β-gate: β ∈ [0.8, 1.2] on ensemble-averaged MSD; otherwise D can be cage rattling</a:t>
            </a:r>
            <a:endParaRPr sz="1050"/>
          </a:p>
          <a:p xmlns:a="http://schemas.openxmlformats.org/drawingml/2006/main">
            <a:pPr marL="127000" indent="-127000">
              <a:spcAft>
                <a:spcPts val="500"/>
              </a:spcAft>
              <a:buSzPct val="100000"/>
              <a:buChar char="·"/>
            </a:pPr>
            <a:r>
              <a:rPr sz="1125" b="1">
                <a:solidFill>
                  <a:srgbClr val="262626"/>
                </a:solidFill>
                <a:latin typeface="Arial"/>
                <a:ea typeface="Arial"/>
                <a:cs typeface="Arial"/>
              </a:rPr>
              <a:t>Arrhenius verdict: 600/800/1000 K; canonical MSD fit window: 2–50 ps</a:t>
            </a:r>
            <a:endParaRPr sz="1050"/>
          </a:p>
          <a:p xmlns:a="http://schemas.openxmlformats.org/drawingml/2006/main">
            <a:pPr marL="127000" indent="-127000">
              <a:spcAft>
                <a:spcPts val="500"/>
              </a:spcAft>
              <a:buSzPct val="100000"/>
              <a:buChar char="·"/>
            </a:pPr>
            <a:r>
              <a:rPr sz="1125" b="1">
                <a:solidFill>
                  <a:srgbClr val="262626"/>
                </a:solidFill>
                <a:latin typeface="Arial"/>
                <a:ea typeface="Arial"/>
                <a:cs typeface="Arial"/>
              </a:rPr>
              <a:t>Nernst–Einstein (Haven = 1): no absolute σ; even ratios require a multi-seed verdict</a:t>
            </a:r>
            <a:endParaRPr sz="1050"/>
          </a:p>
          <a:p xmlns:a="http://schemas.openxmlformats.org/drawingml/2006/main">
            <a:pPr marL="254000" lvl="1" indent="-127000">
              <a:spcAft>
                <a:spcPts val="500"/>
              </a:spcAft>
              <a:buSzPct val="100000"/>
              <a:buChar char="–"/>
            </a:pPr>
            <a:r>
              <a:rPr sz="1125">
                <a:solidFill>
                  <a:srgbClr val="7F7F7F"/>
                </a:solidFill>
                <a:latin typeface="Arial"/>
                <a:ea typeface="Arial"/>
                <a:cs typeface="Arial"/>
              </a:rPr>
              <a:t>β validates the diffusive regime — it does not identify a microscopic saddle</a:t>
            </a:r>
            <a:endParaRPr sz="1050"/>
          </a:p>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10ce9433cf4f4eb0"/>
          <a:srcRect xmlns:a="http://schemas.openxmlformats.org/drawingml/2006/main" l="0" t="0" r="0" b="0"/>
          <a:stretch xmlns:a="http://schemas.openxmlformats.org/drawingml/2006/main"/>
        </p:blipFill>
        <p:spPr>
          <a:xfrm xmlns:a="http://schemas.openxmlformats.org/drawingml/2006/main">
            <a:off x="4709160" y="1463040"/>
            <a:ext cx="3931920" cy="283464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95BB102D-96EE-4A90-9A57-655EBEA5C1CB}"/>
              </a:ext>
            </a:extLst>
          </p:cNvPr>
          <p:cNvSpPr>
            <a:spLocks xmlns:a="http://schemas.openxmlformats.org/drawingml/2006/main" noGrp="1"/>
          </p:cNvSpPr>
          <p:nvPr/>
        </p:nvSpPr>
        <p:spPr>
          <a:xfrm xmlns:a="http://schemas.openxmlformats.org/drawingml/2006/main">
            <a:off x="4709160" y="4315968"/>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Schematic only — no measured data. The gate separates rattling from transport</a:t>
            </a:r>
            <a:endParaRPr sz="850"/>
          </a:p>
        </p:txBody>
      </p:sp>
      <p:sp>
        <p:nvSpPr>
          <p:cNvPr id="9" name="Text 5">
            <a:extLst xmlns:a="http://schemas.openxmlformats.org/drawingml/2006/main">
              <a:ext uri="{FF2B5EF4-FFF2-40B4-BE49-F238E27FC236}">
                <a16:creationId xmlns:a16="http://schemas.microsoft.com/office/drawing/2014/main" id="{222CF0C3-9077-4B1A-B627-EAEFE3F99A51}"/>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0" name="Text 6">
            <a:extLst xmlns:a="http://schemas.openxmlformats.org/drawingml/2006/main">
              <a:ext uri="{FF2B5EF4-FFF2-40B4-BE49-F238E27FC236}">
                <a16:creationId xmlns:a16="http://schemas.microsoft.com/office/drawing/2014/main" id="{2EE7CCFE-4CF4-4442-AFCE-3AF465AA69E6}"/>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24</a:t>
            </a:r>
            <a:endParaRPr sz="900"/>
          </a:p>
        </p:txBody>
      </p:sp>
    </p:spTree>
    <p:extLst>
      <p:ext uri="{BB962C8B-B14F-4D97-AF65-F5344CB8AC3E}">
        <p14:creationId xmlns:p14="http://schemas.microsoft.com/office/powerpoint/2010/main" val="124450114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199D9B-B3B5-4B12-94FE-F0FBB4FF45D6}"/>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A5</a:t>
            </a:r>
            <a:endParaRPr sz="1100"/>
          </a:p>
        </p:txBody>
      </p:sp>
      <p:sp>
        <p:nvSpPr>
          <p:cNvPr id="3" name="Text 1">
            <a:extLst xmlns:a="http://schemas.openxmlformats.org/drawingml/2006/main">
              <a:ext uri="{FF2B5EF4-FFF2-40B4-BE49-F238E27FC236}">
                <a16:creationId xmlns:a16="http://schemas.microsoft.com/office/drawing/2014/main" id="{17B8968B-1085-4FB7-9E7C-90D562693210}"/>
              </a:ext>
            </a:extLst>
          </p:cNvPr>
          <p:cNvSpPr>
            <a:spLocks xmlns:a="http://schemas.openxmlformats.org/drawingml/2006/main" noGrp="1"/>
          </p:cNvSpPr>
          <p:nvPr/>
        </p:nvSpPr>
        <p:spPr>
          <a:xfrm xmlns:a="http://schemas.openxmlformats.org/drawingml/2006/main">
            <a:off x="3840480" y="219456"/>
            <a:ext cx="4846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source: cascade_seminar_scorecard_47.csv</a:t>
            </a:r>
            <a:endParaRPr sz="850"/>
          </a:p>
        </p:txBody>
      </p:sp>
      <p:sp>
        <p:nvSpPr>
          <p:cNvPr id="4" name="Text 2">
            <a:extLst xmlns:a="http://schemas.openxmlformats.org/drawingml/2006/main">
              <a:ext uri="{FF2B5EF4-FFF2-40B4-BE49-F238E27FC236}">
                <a16:creationId xmlns:a16="http://schemas.microsoft.com/office/drawing/2014/main" id="{23AAF4A4-E0E5-4072-A198-9092DD48D5C8}"/>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Ranking without a funnel: strengths trade across axes</a:t>
            </a:r>
            <a:endParaRPr sz="2000"/>
          </a:p>
        </p:txBody>
      </p:sp>
      <p:sp>
        <p:nvSpPr>
          <p:cNvPr id="5" name="Shape 3">
            <a:extLst xmlns:a="http://schemas.openxmlformats.org/drawingml/2006/main">
              <a:ext uri="{FF2B5EF4-FFF2-40B4-BE49-F238E27FC236}">
                <a16:creationId xmlns:a16="http://schemas.microsoft.com/office/drawing/2014/main" id="{E9D9265F-60BB-483B-8420-0B9E98FFFFB7}"/>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f2f26e61820c4563"/>
          <a:srcRect xmlns:a="http://schemas.openxmlformats.org/drawingml/2006/main" l="0" t="0" r="0" b="0"/>
          <a:stretch xmlns:a="http://schemas.openxmlformats.org/drawingml/2006/main"/>
        </p:blipFill>
        <p:spPr>
          <a:xfrm xmlns:a="http://schemas.openxmlformats.org/drawingml/2006/main">
            <a:off x="502920" y="1325880"/>
            <a:ext cx="8138160" cy="306324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B17C127-F21A-4D91-96CB-415D6E2B16B4}"/>
              </a:ext>
            </a:extLst>
          </p:cNvPr>
          <p:cNvSpPr>
            <a:spLocks xmlns:a="http://schemas.openxmlformats.org/drawingml/2006/main" noGrp="1"/>
          </p:cNvSpPr>
          <p:nvPr/>
        </p:nvSpPr>
        <p:spPr>
          <a:xfrm xmlns:a="http://schemas.openxmlformats.org/drawingml/2006/main">
            <a:off x="502920" y="4407408"/>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40" i="1">
                <a:solidFill>
                  <a:srgbClr val="7F7F7F"/>
                </a:solidFill>
                <a:latin typeface="Arial"/>
                <a:ea typeface="Arial"/>
                <a:cs typeface="Arial"/>
              </a:rPr>
              <a:t>Per-axis percentiles + first-stop gate — no universal composite score and no winner (live 14-theme view: web app /cascade)</a:t>
            </a:r>
            <a:endParaRPr sz="850"/>
          </a:p>
        </p:txBody>
      </p:sp>
      <p:sp>
        <p:nvSpPr>
          <p:cNvPr id="8" name="Text 5">
            <a:extLst xmlns:a="http://schemas.openxmlformats.org/drawingml/2006/main">
              <a:ext uri="{FF2B5EF4-FFF2-40B4-BE49-F238E27FC236}">
                <a16:creationId xmlns:a16="http://schemas.microsoft.com/office/drawing/2014/main" id="{CA8B28BA-5920-4CDD-A124-371635AF2B5B}"/>
              </a:ext>
            </a:extLst>
          </p:cNvPr>
          <p:cNvSpPr>
            <a:spLocks xmlns:a="http://schemas.openxmlformats.org/drawingml/2006/main" noGrp="1"/>
          </p:cNvSpPr>
          <p:nvPr/>
        </p:nvSpPr>
        <p:spPr>
          <a:xfrm xmlns:a="http://schemas.openxmlformats.org/drawingml/2006/main">
            <a:off x="502920" y="4892040"/>
            <a:ext cx="81381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54000" lvl="1" indent="-127000">
              <a:spcAft>
                <a:spcPts val="500"/>
              </a:spcAft>
              <a:buSzPct val="100000"/>
              <a:buChar char="–"/>
            </a:pPr>
            <a:r>
              <a:rPr sz="990">
                <a:solidFill>
                  <a:srgbClr val="7F7F7F"/>
                </a:solidFill>
                <a:latin typeface="Arial"/>
                <a:ea typeface="Arial"/>
                <a:cs typeface="Arial"/>
              </a:rPr>
              <a:t>14 themes: oxidative · reduction · e⁻-insulation · transport · disorder · label-robustness · lightweight · low-cost · soft · ductile · air ×2 · structural · balanced</a:t>
            </a:r>
            <a:endParaRPr sz="1050"/>
          </a:p>
          <a:p xmlns:a="http://schemas.openxmlformats.org/drawingml/2006/main">
            <a:pPr marL="127000" indent="-127000">
              <a:spcAft>
                <a:spcPts val="500"/>
              </a:spcAft>
              <a:buSzPct val="100000"/>
              <a:buChar char="·"/>
            </a:pPr>
            <a:r>
              <a:rPr sz="990" b="1">
                <a:solidFill>
                  <a:srgbClr val="1F4E79"/>
                </a:solidFill>
                <a:latin typeface="Arial"/>
                <a:ea typeface="Arial"/>
                <a:cs typeface="Arial"/>
              </a:rPr>
              <a:t>Within-theme geometric means are AND-like; there is no cross-theme universal score</a:t>
            </a:r>
            <a:endParaRPr sz="1050"/>
          </a:p>
          <a:p xmlns:a="http://schemas.openxmlformats.org/drawingml/2006/main">
            <a:pPr marL="127000" indent="-127000">
              <a:spcAft>
                <a:spcPts val="500"/>
              </a:spcAft>
              <a:buSzPct val="100000"/>
              <a:buChar char="·"/>
            </a:pPr>
            <a:r>
              <a:rPr sz="990" b="1">
                <a:solidFill>
                  <a:srgbClr val="1F4E79"/>
                </a:solidFill>
                <a:latin typeface="Arial"/>
                <a:ea typeface="Arial"/>
                <a:cs typeface="Arial"/>
              </a:rPr>
              <a:t>Missing ≠ bad — excluded and flagged, never zero-filled · air/HSAB axes remain descriptive/provisional</a:t>
            </a:r>
            <a:endParaRPr sz="1050"/>
          </a:p>
        </p:txBody>
      </p:sp>
      <p:sp>
        <p:nvSpPr>
          <p:cNvPr id="10" name="Text 6">
            <a:extLst xmlns:a="http://schemas.openxmlformats.org/drawingml/2006/main">
              <a:ext uri="{FF2B5EF4-FFF2-40B4-BE49-F238E27FC236}">
                <a16:creationId xmlns:a16="http://schemas.microsoft.com/office/drawing/2014/main" id="{ED16CFB9-F156-46BB-AFC8-EFF8B2E65834}"/>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11" name="Text 7">
            <a:extLst xmlns:a="http://schemas.openxmlformats.org/drawingml/2006/main">
              <a:ext uri="{FF2B5EF4-FFF2-40B4-BE49-F238E27FC236}">
                <a16:creationId xmlns:a16="http://schemas.microsoft.com/office/drawing/2014/main" id="{ED447B0F-4129-48CE-A7DF-AD9C7EBCAC6D}"/>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25</a:t>
            </a:r>
            <a:endParaRPr sz="900"/>
          </a:p>
        </p:txBody>
      </p:sp>
    </p:spTree>
    <p:extLst>
      <p:ext uri="{BB962C8B-B14F-4D97-AF65-F5344CB8AC3E}">
        <p14:creationId xmlns:p14="http://schemas.microsoft.com/office/powerpoint/2010/main" val="158421222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26694F-DE76-4FFC-B77F-E8237CDEE157}"/>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A6</a:t>
            </a:r>
            <a:endParaRPr sz="1100"/>
          </a:p>
        </p:txBody>
      </p:sp>
      <p:sp>
        <p:nvSpPr>
          <p:cNvPr id="3" name="Text 1">
            <a:extLst xmlns:a="http://schemas.openxmlformats.org/drawingml/2006/main">
              <a:ext uri="{FF2B5EF4-FFF2-40B4-BE49-F238E27FC236}">
                <a16:creationId xmlns:a16="http://schemas.microsoft.com/office/drawing/2014/main" id="{D849E085-5026-4E24-A46F-CBC71F7FA315}"/>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Twelve defense questions: concise first answers</a:t>
            </a:r>
            <a:endParaRPr sz="2000"/>
          </a:p>
        </p:txBody>
      </p:sp>
      <p:sp>
        <p:nvSpPr>
          <p:cNvPr id="4" name="Shape 2">
            <a:extLst xmlns:a="http://schemas.openxmlformats.org/drawingml/2006/main">
              <a:ext uri="{FF2B5EF4-FFF2-40B4-BE49-F238E27FC236}">
                <a16:creationId xmlns:a16="http://schemas.microsoft.com/office/drawing/2014/main" id="{8F67E856-896B-450B-A62A-C6F0056D271F}"/>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3" name="Table 0"/>
          <p:cNvGraphicFramePr/>
          <p:nvPr/>
        </p:nvGraphicFramePr>
        <p:xfrm>
          <a:off xmlns:a="http://schemas.openxmlformats.org/drawingml/2006/main" x="502920" y="1325880"/>
          <a:ext xmlns:a="http://schemas.openxmlformats.org/drawingml/2006/main" cx="8138160" cy="914400"/>
        </p:xfrm>
        <a:graphic xmlns:a="http://schemas.openxmlformats.org/drawingml/2006/main">
          <a:graphicData uri="http://schemas.openxmlformats.org/drawingml/2006/table">
            <a:tbl>
              <a:tblPr/>
              <a:tblGrid>
                <a:gridCol w="2651760"/>
                <a:gridCol w="5486400"/>
              </a:tblGrid>
              <a:tr h="329184">
                <a:tc>
                  <a:txBody>
                    <a:bodyPr/>
                    <a:lstStyle/>
                    <a:p>
                      <a:pPr marL="0" indent="0">
                        <a:buNone/>
                      </a:pPr>
                      <a:r>
                        <a:rPr sz="880" b="1">
                          <a:solidFill>
                            <a:srgbClr val="FFFFFF"/>
                          </a:solidFill>
                          <a:latin typeface="Arial"/>
                          <a:ea typeface="Arial"/>
                          <a:cs typeface="Arial"/>
                        </a:rPr>
                        <a:t>Q</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880" b="1">
                          <a:solidFill>
                            <a:srgbClr val="FFFFFF"/>
                          </a:solidFill>
                          <a:latin typeface="Arial"/>
                          <a:ea typeface="Arial"/>
                          <a:cs typeface="Arial"/>
                        </a:rPr>
                        <a:t>First sentence of the answer</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29184">
                <a:tc>
                  <a:txBody>
                    <a:bodyPr/>
                    <a:lstStyle/>
                    <a:p>
                      <a:pPr marL="0" indent="0">
                        <a:buNone/>
                      </a:pPr>
                      <a:r>
                        <a:rPr sz="880">
                          <a:solidFill>
                            <a:srgbClr val="262626"/>
                          </a:solidFill>
                          <a:latin typeface="Arial"/>
                          <a:ea typeface="Arial"/>
                          <a:cs typeface="Arial"/>
                        </a:rPr>
                        <a:t>Do you trust a PBE gap?</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Not the absolute value — only same-method differences.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Why no absolute σ? ★</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No absolute σ; even relative ratios require a multi-seed verdict under the canonical MSD/temperature protocol.</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Does MLIP replace DFT?</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No — screening surrogate; champions return to DFT. Charge states failed us, measurably.</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Experimentally validated?</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Not yet — two targeted DFT case studies do not validate all 47 candidates or all screening axes.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Is WO₃ the answer?</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It is the G5 top rank within an 11-member heuristic shortlist, not a discovered winner.</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Why U = 6.2?</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Established lineage value, empirical; we fix it and quote same-U differences.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R² = 0.089 — useless?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As a predictor yes; pair-LOOCV is 0.0892 and L2DO is −0.2548, so it is only a hypothesis generator.</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11 audited verdicts — can we trust you?</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Trust the executable gates and versioned evidence: 9 claims were retracted, 1 is on hold, and 1 carries an open provenance flag.</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Canonical values without run files?</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Values pass live drift checks; the missing-provenance flag ships WITH them.</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Why show the funnel at all?</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Drawing it the field's way is what reveals where we diverge.</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Is co-doping even makeable?</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Not yet — explicit pair structures must resolve site, stoichiometry, charge closure, and formation energy.</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29184">
                <a:tc>
                  <a:txBody>
                    <a:bodyPr/>
                    <a:lstStyle/>
                    <a:p>
                      <a:pPr marL="0" indent="0">
                        <a:buNone/>
                      </a:pPr>
                      <a:r>
                        <a:rPr sz="880">
                          <a:solidFill>
                            <a:srgbClr val="262626"/>
                          </a:solidFill>
                          <a:latin typeface="Arial"/>
                          <a:ea typeface="Arial"/>
                          <a:cs typeface="Arial"/>
                        </a:rPr>
                        <a:t>Can you predict the ratio?</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880">
                          <a:solidFill>
                            <a:srgbClr val="262626"/>
                          </a:solidFill>
                          <a:latin typeface="Arial"/>
                          <a:ea typeface="Arial"/>
                          <a:cs typeface="Arial"/>
                        </a:rPr>
                        <a:t>Not yet — the ratio axis requires structure-defined prospective labels; x002/x005/x010 are nominal campaign labels only.</a:t>
                      </a:r>
                      <a:endParaRPr sz="880">
                        <a:latin typeface="Arial"/>
                        <a:ea typeface="Arial"/>
                        <a:cs typeface="Arial"/>
                      </a:endParaRPr>
                    </a:p>
                  </a:txBody>
                  <a:tcPr marL="27432" marR="27432" marT="27432" marB="27432"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7E8C1441-E8F4-4980-BEE6-99C54D3DD207}"/>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8" name="Text 4">
            <a:extLst xmlns:a="http://schemas.openxmlformats.org/drawingml/2006/main">
              <a:ext uri="{FF2B5EF4-FFF2-40B4-BE49-F238E27FC236}">
                <a16:creationId xmlns:a16="http://schemas.microsoft.com/office/drawing/2014/main" id="{1BC9CDD2-D06F-4D80-AF93-4B54EE083F44}"/>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26</a:t>
            </a:r>
            <a:endParaRPr sz="900"/>
          </a:p>
        </p:txBody>
      </p:sp>
    </p:spTree>
    <p:extLst>
      <p:ext uri="{BB962C8B-B14F-4D97-AF65-F5344CB8AC3E}">
        <p14:creationId xmlns:p14="http://schemas.microsoft.com/office/powerpoint/2010/main" val="13029463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584925-FE32-4F03-92A9-2554F56967C9}"/>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A7</a:t>
            </a:r>
            <a:endParaRPr sz="1100"/>
          </a:p>
        </p:txBody>
      </p:sp>
      <p:sp>
        <p:nvSpPr>
          <p:cNvPr id="3" name="Text 1">
            <a:extLst xmlns:a="http://schemas.openxmlformats.org/drawingml/2006/main">
              <a:ext uri="{FF2B5EF4-FFF2-40B4-BE49-F238E27FC236}">
                <a16:creationId xmlns:a16="http://schemas.microsoft.com/office/drawing/2014/main" id="{22122A61-7527-422A-AADB-9C012C742DB7}"/>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Five harder questions from our own review</a:t>
            </a:r>
            <a:endParaRPr sz="2000"/>
          </a:p>
        </p:txBody>
      </p:sp>
      <p:sp>
        <p:nvSpPr>
          <p:cNvPr id="4" name="Shape 2">
            <a:extLst xmlns:a="http://schemas.openxmlformats.org/drawingml/2006/main">
              <a:ext uri="{FF2B5EF4-FFF2-40B4-BE49-F238E27FC236}">
                <a16:creationId xmlns:a16="http://schemas.microsoft.com/office/drawing/2014/main" id="{9C3ED5FC-B396-475D-8245-6501C89BB00C}"/>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4"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3291840"/>
                <a:gridCol w="4846320"/>
              </a:tblGrid>
              <a:tr h="566928">
                <a:tc>
                  <a:txBody>
                    <a:bodyPr/>
                    <a:lstStyle/>
                    <a:p>
                      <a:pPr marL="0" indent="0">
                        <a:buNone/>
                      </a:pPr>
                      <a:r>
                        <a:rPr sz="900" b="1">
                          <a:solidFill>
                            <a:srgbClr val="FFFFFF"/>
                          </a:solidFill>
                          <a:latin typeface="Arial"/>
                          <a:ea typeface="Arial"/>
                          <a:cs typeface="Arial"/>
                        </a:rPr>
                        <a:t>Q (who asks)</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00" b="1">
                          <a:solidFill>
                            <a:srgbClr val="FFFFFF"/>
                          </a:solidFill>
                          <a:latin typeface="Arial"/>
                          <a:ea typeface="Arial"/>
                          <a:cs typeface="Arial"/>
                        </a:rPr>
                        <a:t>First sentence of the answer</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566928">
                <a:tc>
                  <a:txBody>
                    <a:bodyPr/>
                    <a:lstStyle/>
                    <a:p>
                      <a:pPr marL="0" indent="0">
                        <a:buNone/>
                      </a:pPr>
                      <a:r>
                        <a:rPr sz="900">
                          <a:solidFill>
                            <a:srgbClr val="262626"/>
                          </a:solidFill>
                          <a:latin typeface="Arial"/>
                          <a:ea typeface="Arial"/>
                          <a:cs typeface="Arial"/>
                        </a:rPr>
                        <a:t>Why must an electrolyte be an electronic insulator? (basics, on purpose)</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If electrons leak, Li⁺ keeps reducing inside/at interfaces — SEI never self-limits and dendrite paths grow; ion-only transport is the defining condition.</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66928">
                <a:tc>
                  <a:txBody>
                    <a:bodyPr/>
                    <a:lstStyle/>
                    <a:p>
                      <a:pPr marL="0" indent="0">
                        <a:buNone/>
                      </a:pPr>
                      <a:r>
                        <a:rPr sz="900">
                          <a:solidFill>
                            <a:srgbClr val="262626"/>
                          </a:solidFill>
                          <a:latin typeface="Arial"/>
                          <a:ea typeface="Arial"/>
                          <a:cs typeface="Arial"/>
                        </a:rPr>
                        <a:t>What IS Ea physically — where is the hill in the structure? (basics)</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Eₐ is the slope of ln D versus 1/T after a diffusive-MSD gate; β does not locate a specific 4d-site saddle.</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66928">
                <a:tc>
                  <a:txBody>
                    <a:bodyPr/>
                    <a:lstStyle/>
                    <a:p>
                      <a:pPr marL="0" indent="0">
                        <a:buNone/>
                      </a:pPr>
                      <a:r>
                        <a:rPr sz="900">
                          <a:solidFill>
                            <a:srgbClr val="262626"/>
                          </a:solidFill>
                          <a:latin typeface="Arial"/>
                          <a:ea typeface="Arial"/>
                          <a:cs typeface="Arial"/>
                        </a:rPr>
                        <a:t>“UMA is a validated standard” — validated on what, by how much?</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UMA supports relative geometry/ranking in the LPSCl family; it does not validate charge states, reactions, or absolute adsorption energies.</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66928">
                <a:tc>
                  <a:txBody>
                    <a:bodyPr/>
                    <a:lstStyle/>
                    <a:p>
                      <a:pPr marL="0" indent="0">
                        <a:buNone/>
                      </a:pPr>
                      <a:r>
                        <a:rPr sz="900">
                          <a:solidFill>
                            <a:srgbClr val="262626"/>
                          </a:solidFill>
                          <a:latin typeface="Arial"/>
                          <a:ea typeface="Arial"/>
                          <a:cs typeface="Arial"/>
                        </a:rPr>
                        <a:t>Will HfO₂ really enter the lattice in a 550 °C H₂S synthesis? Cost of Hf?</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We do not know — Hf-containing pairs remain end-member hypotheses until explicit structures, phase stability, cost, and synthesis are checked.</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566928">
                <a:tc>
                  <a:txBody>
                    <a:bodyPr/>
                    <a:lstStyle/>
                    <a:p>
                      <a:pPr marL="0" indent="0">
                        <a:buNone/>
                      </a:pPr>
                      <a:r>
                        <a:rPr sz="900">
                          <a:solidFill>
                            <a:srgbClr val="262626"/>
                          </a:solidFill>
                          <a:latin typeface="Arial"/>
                          <a:ea typeface="Arial"/>
                          <a:cs typeface="Arial"/>
                        </a:rPr>
                        <a:t>Why are 44 roster species absent from the canonical table?</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00">
                          <a:solidFill>
                            <a:srgbClr val="262626"/>
                          </a:solidFill>
                          <a:latin typeface="Arial"/>
                          <a:ea typeface="Arial"/>
                          <a:cs typeface="Arial"/>
                        </a:rPr>
                        <a:t>The 47 is a versioned O/F snapshot; the missing 44 lack a per-species manifest, so bias propagation is currently unquantified.</a:t>
                      </a:r>
                      <a:endParaRPr sz="90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6" name="Text 3">
            <a:extLst xmlns:a="http://schemas.openxmlformats.org/drawingml/2006/main">
              <a:ext uri="{FF2B5EF4-FFF2-40B4-BE49-F238E27FC236}">
                <a16:creationId xmlns:a16="http://schemas.microsoft.com/office/drawing/2014/main" id="{252DD6FB-1753-447A-B894-C4FB8B46AEA3}"/>
              </a:ext>
            </a:extLst>
          </p:cNvPr>
          <p:cNvSpPr>
            <a:spLocks xmlns:a="http://schemas.openxmlformats.org/drawingml/2006/main" noGrp="1"/>
          </p:cNvSpPr>
          <p:nvPr/>
        </p:nvSpPr>
        <p:spPr>
          <a:xfrm xmlns:a="http://schemas.openxmlformats.org/drawingml/2006/main">
            <a:off x="502920" y="512064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75" i="1">
                <a:solidFill>
                  <a:srgbClr val="9E2A2B"/>
                </a:solidFill>
                <a:latin typeface="Arial"/>
                <a:ea typeface="Arial"/>
                <a:cs typeface="Arial"/>
              </a:rPr>
              <a:t>Honest answer: this provenance gap blocks any discovery-rate claim from the 273-slot campaign.</a:t>
            </a:r>
            <a:endParaRPr sz="950"/>
          </a:p>
        </p:txBody>
      </p:sp>
      <p:sp>
        <p:nvSpPr>
          <p:cNvPr id="8" name="Text 4">
            <a:extLst xmlns:a="http://schemas.openxmlformats.org/drawingml/2006/main">
              <a:ext uri="{FF2B5EF4-FFF2-40B4-BE49-F238E27FC236}">
                <a16:creationId xmlns:a16="http://schemas.microsoft.com/office/drawing/2014/main" id="{B1F14159-6D98-4581-A4EC-2C2B1A2B8862}"/>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9" name="Text 5">
            <a:extLst xmlns:a="http://schemas.openxmlformats.org/drawingml/2006/main">
              <a:ext uri="{FF2B5EF4-FFF2-40B4-BE49-F238E27FC236}">
                <a16:creationId xmlns:a16="http://schemas.microsoft.com/office/drawing/2014/main" id="{C6F293D3-56DF-41F6-A0BD-BFCA42E6E41D}"/>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27</a:t>
            </a:r>
            <a:endParaRPr sz="900"/>
          </a:p>
        </p:txBody>
      </p:sp>
    </p:spTree>
    <p:extLst>
      <p:ext uri="{BB962C8B-B14F-4D97-AF65-F5344CB8AC3E}">
        <p14:creationId xmlns:p14="http://schemas.microsoft.com/office/powerpoint/2010/main" val="59487092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5F5928-38BB-4B24-AB26-1D067FB8B82A}"/>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A8</a:t>
            </a:r>
            <a:endParaRPr sz="1100"/>
          </a:p>
        </p:txBody>
      </p:sp>
      <p:sp>
        <p:nvSpPr>
          <p:cNvPr id="3" name="Text 1">
            <a:extLst xmlns:a="http://schemas.openxmlformats.org/drawingml/2006/main">
              <a:ext uri="{FF2B5EF4-FFF2-40B4-BE49-F238E27FC236}">
                <a16:creationId xmlns:a16="http://schemas.microsoft.com/office/drawing/2014/main" id="{26B4BD92-85D0-46EF-AC85-18CC0643B7D3}"/>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ML backup: the numbers behind Part 5</a:t>
            </a:r>
            <a:endParaRPr sz="2000"/>
          </a:p>
        </p:txBody>
      </p:sp>
      <p:sp>
        <p:nvSpPr>
          <p:cNvPr id="4" name="Shape 2">
            <a:extLst xmlns:a="http://schemas.openxmlformats.org/drawingml/2006/main">
              <a:ext uri="{FF2B5EF4-FFF2-40B4-BE49-F238E27FC236}">
                <a16:creationId xmlns:a16="http://schemas.microsoft.com/office/drawing/2014/main" id="{5D5A0F64-6F73-4DB4-A121-791A4C0366DB}"/>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graphicFrame>
        <p:nvGraphicFramePr>
          <p:cNvPr id="13" name="Table 0"/>
          <p:cNvGraphicFramePr/>
          <p:nvPr/>
        </p:nvGraphicFramePr>
        <p:xfrm>
          <a:off xmlns:a="http://schemas.openxmlformats.org/drawingml/2006/main" x="502920" y="1371600"/>
          <a:ext xmlns:a="http://schemas.openxmlformats.org/drawingml/2006/main" cx="8138160" cy="914400"/>
        </p:xfrm>
        <a:graphic xmlns:a="http://schemas.openxmlformats.org/drawingml/2006/main">
          <a:graphicData uri="http://schemas.openxmlformats.org/drawingml/2006/table">
            <a:tbl>
              <a:tblPr/>
              <a:tblGrid>
                <a:gridCol w="2377440"/>
                <a:gridCol w="2377440"/>
                <a:gridCol w="3383280"/>
              </a:tblGrid>
              <a:tr h="384048">
                <a:tc>
                  <a:txBody>
                    <a:bodyPr/>
                    <a:lstStyle/>
                    <a:p>
                      <a:pPr marL="0" indent="0">
                        <a:buNone/>
                      </a:pPr>
                      <a:r>
                        <a:rPr sz="950" b="1">
                          <a:solidFill>
                            <a:srgbClr val="FFFFFF"/>
                          </a:solidFill>
                          <a:latin typeface="Arial"/>
                          <a:ea typeface="Arial"/>
                          <a:cs typeface="Arial"/>
                        </a:rPr>
                        <a:t>Item</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50" b="1">
                          <a:solidFill>
                            <a:srgbClr val="FFFFFF"/>
                          </a:solidFill>
                          <a:latin typeface="Arial"/>
                          <a:ea typeface="Arial"/>
                          <a:cs typeface="Arial"/>
                        </a:rPr>
                        <a:t>Value</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c>
                  <a:txBody>
                    <a:bodyPr/>
                    <a:lstStyle/>
                    <a:p>
                      <a:pPr marL="0" indent="0">
                        <a:buNone/>
                      </a:pPr>
                      <a:r>
                        <a:rPr sz="950" b="1">
                          <a:solidFill>
                            <a:srgbClr val="FFFFFF"/>
                          </a:solidFill>
                          <a:latin typeface="Arial"/>
                          <a:ea typeface="Arial"/>
                          <a:cs typeface="Arial"/>
                        </a:rPr>
                        <a:t>Note</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1F4E79"/>
                    </a:solidFill>
                  </a:tcPr>
                </a:tc>
              </a:tr>
              <a:tr h="384048">
                <a:tc>
                  <a:txBody>
                    <a:bodyPr/>
                    <a:lstStyle/>
                    <a:p>
                      <a:pPr marL="0" indent="0">
                        <a:buNone/>
                      </a:pPr>
                      <a:r>
                        <a:rPr sz="950">
                          <a:solidFill>
                            <a:srgbClr val="262626"/>
                          </a:solidFill>
                          <a:latin typeface="Arial"/>
                          <a:ea typeface="Arial"/>
                          <a:cs typeface="Arial"/>
                        </a:rPr>
                        <a:t>stage-1 λ (1-SE)</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0.0794</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LOOCV residual σ = 0.0018 score units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stage-1 leakage audit</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+3.4% σ_loo</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fold-wise re-standardization only; not a pair-chemistry leakage audit</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stage-3 λ</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39.8</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pair-LOOCV R² = 0.0892; optimism gap +0.344</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stage-3 dopant-level CV</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LODO −0.1805 · L2DO −0.2548</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independent folds: R² &lt; 0 (bias +0.34)</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stage-3 residual</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2.33 z-units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interactions unlearned</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v1 top-40 Spearman</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0.672</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top-10 overlap 2/10</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v1-unlisted pairs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synergy ≈ 0 (weight 0.1)</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1,041 of 1,081 — weak approximation</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assumptions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aggregate single-dopant features + quadratic terms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0 explicit pair structures or pair-property targets</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384048">
                <a:tc>
                  <a:txBody>
                    <a:bodyPr/>
                    <a:lstStyle/>
                    <a:p>
                      <a:pPr marL="0" indent="0">
                        <a:buNone/>
                      </a:pPr>
                      <a:r>
                        <a:rPr sz="950">
                          <a:solidFill>
                            <a:srgbClr val="262626"/>
                          </a:solidFill>
                          <a:latin typeface="Arial"/>
                          <a:ea typeface="Arial"/>
                          <a:cs typeface="Arial"/>
                        </a:rPr>
                        <a:t>verdict</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hypothesis generator — NOT a property predictor</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indent="0">
                        <a:buNone/>
                      </a:pPr>
                      <a:r>
                        <a:rPr sz="950">
                          <a:solidFill>
                            <a:srgbClr val="262626"/>
                          </a:solidFill>
                          <a:latin typeface="Arial"/>
                          <a:ea typeface="Arial"/>
                          <a:cs typeface="Arial"/>
                        </a:rPr>
                        <a:t>structure-defined prospective labels required</a:t>
                      </a:r>
                      <a:endParaRPr sz="950">
                        <a:latin typeface="Arial"/>
                        <a:ea typeface="Arial"/>
                        <a:cs typeface="Arial"/>
                      </a:endParaRPr>
                    </a:p>
                  </a:txBody>
                  <a:tcPr marL="36576" marR="36576" marT="36576" marB="36576"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7EE2D89E-E188-41B6-9A5A-19B9205026D3}"/>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8" name="Text 4">
            <a:extLst xmlns:a="http://schemas.openxmlformats.org/drawingml/2006/main">
              <a:ext uri="{FF2B5EF4-FFF2-40B4-BE49-F238E27FC236}">
                <a16:creationId xmlns:a16="http://schemas.microsoft.com/office/drawing/2014/main" id="{DD68B697-97FB-4510-8382-FD620DBA6F5E}"/>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28</a:t>
            </a:r>
            <a:endParaRPr sz="900"/>
          </a:p>
        </p:txBody>
      </p:sp>
    </p:spTree>
    <p:extLst>
      <p:ext uri="{BB962C8B-B14F-4D97-AF65-F5344CB8AC3E}">
        <p14:creationId xmlns:p14="http://schemas.microsoft.com/office/powerpoint/2010/main" val="7362372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B480C4-0879-4D6B-BEDE-D7FC9B7A0F98}"/>
              </a:ext>
            </a:extLst>
          </p:cNvPr>
          <p:cNvSpPr>
            <a:spLocks xmlns:a="http://schemas.openxmlformats.org/drawingml/2006/main" noGrp="1"/>
          </p:cNvSpPr>
          <p:nvPr/>
        </p:nvSpPr>
        <p:spPr>
          <a:xfrm xmlns:a="http://schemas.openxmlformats.org/drawingml/2006/main">
            <a:off x="457200" y="237744"/>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Appendix A9</a:t>
            </a:r>
            <a:endParaRPr sz="1100"/>
          </a:p>
        </p:txBody>
      </p:sp>
      <p:sp>
        <p:nvSpPr>
          <p:cNvPr id="3" name="Text 1">
            <a:extLst xmlns:a="http://schemas.openxmlformats.org/drawingml/2006/main">
              <a:ext uri="{FF2B5EF4-FFF2-40B4-BE49-F238E27FC236}">
                <a16:creationId xmlns:a16="http://schemas.microsoft.com/office/drawing/2014/main" id="{35F3F840-D2B5-46C3-8037-776081868887}"/>
              </a:ext>
            </a:extLst>
          </p:cNvPr>
          <p:cNvSpPr>
            <a:spLocks xmlns:a="http://schemas.openxmlformats.org/drawingml/2006/main" noGrp="1"/>
          </p:cNvSpPr>
          <p:nvPr/>
        </p:nvSpPr>
        <p:spPr>
          <a:xfrm xmlns:a="http://schemas.openxmlformats.org/drawingml/2006/main">
            <a:off x="457200" y="512064"/>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62626"/>
                </a:solidFill>
                <a:latin typeface="Arial"/>
                <a:ea typeface="Arial"/>
                <a:cs typeface="Arial"/>
              </a:rPr>
              <a:t>References: only what we physically hold (litdb)</a:t>
            </a:r>
            <a:endParaRPr sz="2000"/>
          </a:p>
        </p:txBody>
      </p:sp>
      <p:sp>
        <p:nvSpPr>
          <p:cNvPr id="4" name="Shape 2">
            <a:extLst xmlns:a="http://schemas.openxmlformats.org/drawingml/2006/main">
              <a:ext uri="{FF2B5EF4-FFF2-40B4-BE49-F238E27FC236}">
                <a16:creationId xmlns:a16="http://schemas.microsoft.com/office/drawing/2014/main" id="{313105A0-E6F4-4019-B17F-2A6D95C5E7B2}"/>
              </a:ext>
            </a:extLst>
          </p:cNvPr>
          <p:cNvSpPr>
            <a:spLocks xmlns:a="http://schemas.openxmlformats.org/drawingml/2006/main" noGrp="1"/>
          </p:cNvSpPr>
          <p:nvPr/>
        </p:nvSpPr>
        <p:spPr>
          <a:xfrm xmlns:a="http://schemas.openxmlformats.org/drawingml/2006/main">
            <a:off x="457200" y="1115568"/>
            <a:ext cx="8229600" cy="0"/>
          </a:xfrm>
          <a:prstGeom xmlns:a="http://schemas.openxmlformats.org/drawingml/2006/main" prst="line">
            <a:avLst/>
          </a:prstGeom>
          <a:noFill xmlns:a="http://schemas.openxmlformats.org/drawingml/2006/main"/>
          <a:ln xmlns:a="http://schemas.openxmlformats.org/drawingml/2006/main" w="12700">
            <a:solidFill>
              <a:srgbClr val="D9D9D9"/>
            </a:solidFill>
            <a:prstDash val="solid"/>
          </a:ln>
        </p:spPr>
      </p:sp>
      <p:sp>
        <p:nvSpPr>
          <p:cNvPr id="5" name="Text 3">
            <a:extLst xmlns:a="http://schemas.openxmlformats.org/drawingml/2006/main">
              <a:ext uri="{FF2B5EF4-FFF2-40B4-BE49-F238E27FC236}">
                <a16:creationId xmlns:a16="http://schemas.microsoft.com/office/drawing/2014/main" id="{9B6AF1DC-E680-464E-90DD-797A085261E3}"/>
              </a:ext>
            </a:extLst>
          </p:cNvPr>
          <p:cNvSpPr>
            <a:spLocks xmlns:a="http://schemas.openxmlformats.org/drawingml/2006/main" noGrp="1"/>
          </p:cNvSpPr>
          <p:nvPr/>
        </p:nvSpPr>
        <p:spPr>
          <a:xfrm xmlns:a="http://schemas.openxmlformats.org/drawingml/2006/main">
            <a:off x="502920" y="1463040"/>
            <a:ext cx="8138160" cy="4389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54000" lvl="1" indent="-127000">
              <a:spcAft>
                <a:spcPts val="500"/>
              </a:spcAft>
              <a:buSzPct val="100000"/>
              <a:buChar char="–"/>
            </a:pPr>
            <a:r>
              <a:rPr sz="1163">
                <a:solidFill>
                  <a:srgbClr val="7F7F7F"/>
                </a:solidFill>
                <a:latin typeface="Arial"/>
                <a:ea typeface="Arial"/>
                <a:cs typeface="Arial"/>
              </a:rPr>
              <a:t>Sendek et al., Energy Environ. Sci. 2017, 10, 306 — 12,831-candidate ML screening</a:t>
            </a:r>
            <a:endParaRPr sz="1100"/>
          </a:p>
          <a:p xmlns:a="http://schemas.openxmlformats.org/drawingml/2006/main">
            <a:pPr marL="254000" lvl="1" indent="-127000">
              <a:spcAft>
                <a:spcPts val="500"/>
              </a:spcAft>
              <a:buSzPct val="100000"/>
              <a:buChar char="–"/>
            </a:pPr>
            <a:r>
              <a:rPr sz="1163">
                <a:solidFill>
                  <a:srgbClr val="7F7F7F"/>
                </a:solidFill>
                <a:latin typeface="Arial"/>
                <a:ea typeface="Arial"/>
                <a:cs typeface="Arial"/>
              </a:rPr>
              <a:t>Xiao et al., Joule 2019 — cathode-coating funnel (104,082 → 184)</a:t>
            </a:r>
            <a:endParaRPr sz="1100"/>
          </a:p>
          <a:p xmlns:a="http://schemas.openxmlformats.org/drawingml/2006/main">
            <a:pPr marL="254000" lvl="1" indent="-127000">
              <a:spcAft>
                <a:spcPts val="500"/>
              </a:spcAft>
              <a:buSzPct val="100000"/>
              <a:buChar char="–"/>
            </a:pPr>
            <a:r>
              <a:rPr sz="1163">
                <a:solidFill>
                  <a:srgbClr val="7F7F7F"/>
                </a:solidFill>
                <a:latin typeface="Arial"/>
                <a:ea typeface="Arial"/>
                <a:cs typeface="Arial"/>
              </a:rPr>
              <a:t>Richards et al., Chem. Mater. 2016 — pseudo-binary interface stability</a:t>
            </a:r>
            <a:endParaRPr sz="1100"/>
          </a:p>
          <a:p xmlns:a="http://schemas.openxmlformats.org/drawingml/2006/main">
            <a:pPr marL="254000" lvl="1" indent="-127000">
              <a:spcAft>
                <a:spcPts val="500"/>
              </a:spcAft>
              <a:buSzPct val="100000"/>
              <a:buChar char="–"/>
            </a:pPr>
            <a:r>
              <a:rPr sz="1163">
                <a:solidFill>
                  <a:srgbClr val="7F7F7F"/>
                </a:solidFill>
                <a:latin typeface="Arial"/>
                <a:ea typeface="Arial"/>
                <a:cs typeface="Arial"/>
              </a:rPr>
              <a:t>Zhu et al., Angew. Chem. 2020 — air-stability design principles (ΔGₕᵧd)</a:t>
            </a:r>
            <a:endParaRPr sz="1100"/>
          </a:p>
          <a:p xmlns:a="http://schemas.openxmlformats.org/drawingml/2006/main">
            <a:pPr marL="254000" lvl="1" indent="-127000">
              <a:spcAft>
                <a:spcPts val="500"/>
              </a:spcAft>
              <a:buSzPct val="100000"/>
              <a:buChar char="–"/>
            </a:pPr>
            <a:r>
              <a:rPr sz="1163">
                <a:solidFill>
                  <a:srgbClr val="7F7F7F"/>
                </a:solidFill>
                <a:latin typeface="Arial"/>
                <a:ea typeface="Arial"/>
                <a:cs typeface="Arial"/>
              </a:rPr>
              <a:t>Kahle et al. 2020 — high-throughput AIMD screening</a:t>
            </a:r>
            <a:endParaRPr sz="1100"/>
          </a:p>
          <a:p xmlns:a="http://schemas.openxmlformats.org/drawingml/2006/main">
            <a:pPr marL="254000" lvl="1" indent="-127000">
              <a:spcAft>
                <a:spcPts val="500"/>
              </a:spcAft>
              <a:buSzPct val="100000"/>
              <a:buChar char="–"/>
            </a:pPr>
            <a:r>
              <a:rPr sz="1163">
                <a:solidFill>
                  <a:srgbClr val="7F7F7F"/>
                </a:solidFill>
                <a:latin typeface="Arial"/>
                <a:ea typeface="Arial"/>
                <a:cs typeface="Arial"/>
              </a:rPr>
              <a:t>He et al., Energy Environ. Mater. 2019 — DFT for battery materials (review)</a:t>
            </a:r>
            <a:endParaRPr sz="1100"/>
          </a:p>
          <a:p xmlns:a="http://schemas.openxmlformats.org/drawingml/2006/main">
            <a:pPr marL="254000" lvl="1" indent="-127000">
              <a:spcAft>
                <a:spcPts val="500"/>
              </a:spcAft>
              <a:buSzPct val="100000"/>
              <a:buChar char="–"/>
            </a:pPr>
            <a:r>
              <a:rPr sz="1163">
                <a:solidFill>
                  <a:srgbClr val="7F7F7F"/>
                </a:solidFill>
                <a:latin typeface="Arial"/>
                <a:ea typeface="Arial"/>
                <a:cs typeface="Arial"/>
              </a:rPr>
              <a:t>Famprikis et al., Nat. Mater. 2019 — fundamentals of inorganic SSEs</a:t>
            </a:r>
            <a:endParaRPr sz="1100"/>
          </a:p>
          <a:p xmlns:a="http://schemas.openxmlformats.org/drawingml/2006/main">
            <a:pPr marL="254000" lvl="1" indent="-127000">
              <a:spcAft>
                <a:spcPts val="500"/>
              </a:spcAft>
              <a:buSzPct val="100000"/>
              <a:buChar char="–"/>
            </a:pPr>
            <a:r>
              <a:rPr sz="1163">
                <a:solidFill>
                  <a:srgbClr val="7F7F7F"/>
                </a:solidFill>
                <a:latin typeface="Arial"/>
                <a:ea typeface="Arial"/>
                <a:cs typeface="Arial"/>
              </a:rPr>
              <a:t>InF₃/GaF₃ co-substitution lineage — argyrodite two-dopant precedent (local litdb)</a:t>
            </a:r>
            <a:endParaRPr sz="1100"/>
          </a:p>
        </p:txBody>
      </p:sp>
      <p:sp>
        <p:nvSpPr>
          <p:cNvPr id="7" name="Text 4">
            <a:extLst xmlns:a="http://schemas.openxmlformats.org/drawingml/2006/main">
              <a:ext uri="{FF2B5EF4-FFF2-40B4-BE49-F238E27FC236}">
                <a16:creationId xmlns:a16="http://schemas.microsoft.com/office/drawing/2014/main" id="{D63F2611-B42E-46E3-B48A-66B6C05BF614}"/>
              </a:ext>
            </a:extLst>
          </p:cNvPr>
          <p:cNvSpPr>
            <a:spLocks xmlns:a="http://schemas.openxmlformats.org/drawingml/2006/main" noGrp="1"/>
          </p:cNvSpPr>
          <p:nvPr/>
        </p:nvSpPr>
        <p:spPr>
          <a:xfrm xmlns:a="http://schemas.openxmlformats.org/drawingml/2006/main">
            <a:off x="457200" y="647395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1F4E79"/>
                </a:solidFill>
                <a:latin typeface="Arial"/>
                <a:ea typeface="Arial"/>
                <a:cs typeface="Arial"/>
              </a:rPr>
              <a:t>HANYANG UNIVERSITY</a:t>
            </a:r>
            <a:r>
              <a:rPr sz="800">
                <a:solidFill>
                  <a:srgbClr val="7F7F7F"/>
                </a:solidFill>
                <a:latin typeface="Arial"/>
                <a:ea typeface="Arial"/>
                <a:cs typeface="Arial"/>
              </a:rPr>
              <a:t>   Battery Materials Lab.</a:t>
            </a:r>
            <a:endParaRPr sz="800"/>
          </a:p>
        </p:txBody>
      </p:sp>
      <p:sp>
        <p:nvSpPr>
          <p:cNvPr id="8" name="Text 5">
            <a:extLst xmlns:a="http://schemas.openxmlformats.org/drawingml/2006/main">
              <a:ext uri="{FF2B5EF4-FFF2-40B4-BE49-F238E27FC236}">
                <a16:creationId xmlns:a16="http://schemas.microsoft.com/office/drawing/2014/main" id="{269121E2-343F-4943-9186-DA008D18BAE0}"/>
              </a:ext>
            </a:extLst>
          </p:cNvPr>
          <p:cNvSpPr>
            <a:spLocks xmlns:a="http://schemas.openxmlformats.org/drawingml/2006/main" noGrp="1"/>
          </p:cNvSpPr>
          <p:nvPr/>
        </p:nvSpPr>
        <p:spPr>
          <a:xfrm xmlns:a="http://schemas.openxmlformats.org/drawingml/2006/main">
            <a:off x="8503920" y="6473952"/>
            <a:ext cx="320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29</a:t>
            </a:r>
            <a:endParaRPr sz="900"/>
          </a:p>
        </p:txBody>
      </p:sp>
    </p:spTree>
    <p:extLst>
      <p:ext uri="{BB962C8B-B14F-4D97-AF65-F5344CB8AC3E}">
        <p14:creationId xmlns:p14="http://schemas.microsoft.com/office/powerpoint/2010/main" val="188415570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2026-08-10T20:01:38.7540000Z</dcterms:created>
  <dcterms:modified xsi:type="dcterms:W3CDTF">2026-08-10T20:01:38.7540000Z</dcterms:modified>
</coreProperties>
</file>