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fda83134584e59" /><Relationship Type="http://schemas.openxmlformats.org/officeDocument/2006/relationships/extended-properties" Target="/docProps/app.xml" Id="Rff8e9dd807674875" /><Relationship Type="http://schemas.openxmlformats.org/officeDocument/2006/relationships/officeDocument" Target="/ppt/presentation.xml" Id="R130bb6eb84e74a87" /></Relationships>
</file>

<file path=ppt/presentation.xml><?xml version="1.0" encoding="utf-8"?>
<p:presentation xmlns:p="http://schemas.openxmlformats.org/presentationml/2006/main">
  <p:sldMasterIdLst>
    <p:sldMasterId xmlns:r="http://schemas.openxmlformats.org/officeDocument/2006/relationships" id="2147483648" r:id="R7f24830124f5427d"/>
  </p:sldMasterIdLst>
  <p:notesMasterIdLst>
    <p:notesMasterId xmlns:r="http://schemas.openxmlformats.org/officeDocument/2006/relationships" r:id="R4562966439db4742"/>
  </p:notesMasterIdLst>
  <p:sldIdLst>
    <p:sldId xmlns:r="http://schemas.openxmlformats.org/officeDocument/2006/relationships" id="256" r:id="R7b0da17ca1c94bcb"/>
    <p:sldId xmlns:r="http://schemas.openxmlformats.org/officeDocument/2006/relationships" id="257" r:id="Reb507300f9f141cc"/>
    <p:sldId xmlns:r="http://schemas.openxmlformats.org/officeDocument/2006/relationships" id="258" r:id="R685e42004c6c45a9"/>
    <p:sldId xmlns:r="http://schemas.openxmlformats.org/officeDocument/2006/relationships" id="259" r:id="R411d6725ddf442d4"/>
    <p:sldId xmlns:r="http://schemas.openxmlformats.org/officeDocument/2006/relationships" id="260" r:id="R8846dacf21b54fac"/>
    <p:sldId xmlns:r="http://schemas.openxmlformats.org/officeDocument/2006/relationships" id="261" r:id="Rcf502d2d036d4422"/>
    <p:sldId xmlns:r="http://schemas.openxmlformats.org/officeDocument/2006/relationships" id="262" r:id="Rd4200338dcb54349"/>
    <p:sldId xmlns:r="http://schemas.openxmlformats.org/officeDocument/2006/relationships" id="263" r:id="R943bb276db3e461a"/>
    <p:sldId xmlns:r="http://schemas.openxmlformats.org/officeDocument/2006/relationships" id="264" r:id="R3e05cabb6184432e"/>
    <p:sldId xmlns:r="http://schemas.openxmlformats.org/officeDocument/2006/relationships" id="265" r:id="R0e9bfa710b104348"/>
    <p:sldId xmlns:r="http://schemas.openxmlformats.org/officeDocument/2006/relationships" id="266" r:id="Rf11f442fb6d148ad"/>
    <p:sldId xmlns:r="http://schemas.openxmlformats.org/officeDocument/2006/relationships" id="267" r:id="R9205d05d4f604371"/>
    <p:sldId xmlns:r="http://schemas.openxmlformats.org/officeDocument/2006/relationships" id="268" r:id="Rcc0c0792e01d4572"/>
    <p:sldId xmlns:r="http://schemas.openxmlformats.org/officeDocument/2006/relationships" id="269" r:id="R0cb229d5109849a0"/>
    <p:sldId xmlns:r="http://schemas.openxmlformats.org/officeDocument/2006/relationships" id="270" r:id="R8c50915a8fe54963"/>
    <p:sldId xmlns:r="http://schemas.openxmlformats.org/officeDocument/2006/relationships" id="271" r:id="Rbe3bf4515b30409c"/>
    <p:sldId xmlns:r="http://schemas.openxmlformats.org/officeDocument/2006/relationships" id="272" r:id="R517654aeb5f04eca"/>
    <p:sldId xmlns:r="http://schemas.openxmlformats.org/officeDocument/2006/relationships" id="273" r:id="Rbf2b0fc74a6049ac"/>
    <p:sldId xmlns:r="http://schemas.openxmlformats.org/officeDocument/2006/relationships" id="274" r:id="Rdf83a55ac92f41a7"/>
    <p:sldId xmlns:r="http://schemas.openxmlformats.org/officeDocument/2006/relationships" id="275" r:id="R5bd5cff4e4554796"/>
    <p:sldId xmlns:r="http://schemas.openxmlformats.org/officeDocument/2006/relationships" id="276" r:id="Re5ea64ca57854224"/>
    <p:sldId xmlns:r="http://schemas.openxmlformats.org/officeDocument/2006/relationships" id="277" r:id="Re8c7f3f9310b4709"/>
    <p:sldId xmlns:r="http://schemas.openxmlformats.org/officeDocument/2006/relationships" id="278" r:id="Re63de8864a714fa8"/>
    <p:sldId xmlns:r="http://schemas.openxmlformats.org/officeDocument/2006/relationships" id="279" r:id="R091d76ccbd054c11"/>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1c9f5b4ac784397" /><Relationship Type="http://schemas.openxmlformats.org/officeDocument/2006/relationships/slideMaster" Target="/ppt/slideMasters/slideMaster1.xml" Id="R7f24830124f5427d" /><Relationship Type="http://schemas.openxmlformats.org/officeDocument/2006/relationships/notesMaster" Target="/ppt/notesMasters/notesMaster1.xml" Id="R4562966439db4742" /><Relationship Type="http://schemas.openxmlformats.org/officeDocument/2006/relationships/presProps" Target="/ppt/presProps.xml" Id="R0f890890597e44a7" /><Relationship Type="http://schemas.openxmlformats.org/officeDocument/2006/relationships/viewProps" Target="/ppt/viewProps.xml" Id="R56038185361e484d" /><Relationship Type="http://schemas.openxmlformats.org/officeDocument/2006/relationships/tableStyles" Target="/ppt/tableStyles.xml" Id="R39757a862d174acf" /><Relationship Type="http://schemas.openxmlformats.org/officeDocument/2006/relationships/slide" Target="/ppt/slides/slide1.xml" Id="R7b0da17ca1c94bcb" /><Relationship Type="http://schemas.openxmlformats.org/officeDocument/2006/relationships/slide" Target="/ppt/slides/slide2.xml" Id="Reb507300f9f141cc" /><Relationship Type="http://schemas.openxmlformats.org/officeDocument/2006/relationships/slide" Target="/ppt/slides/slide3.xml" Id="R685e42004c6c45a9" /><Relationship Type="http://schemas.openxmlformats.org/officeDocument/2006/relationships/slide" Target="/ppt/slides/slide4.xml" Id="R411d6725ddf442d4" /><Relationship Type="http://schemas.openxmlformats.org/officeDocument/2006/relationships/slide" Target="/ppt/slides/slide5.xml" Id="R8846dacf21b54fac" /><Relationship Type="http://schemas.openxmlformats.org/officeDocument/2006/relationships/slide" Target="/ppt/slides/slide6.xml" Id="Rcf502d2d036d4422" /><Relationship Type="http://schemas.openxmlformats.org/officeDocument/2006/relationships/slide" Target="/ppt/slides/slide7.xml" Id="Rd4200338dcb54349" /><Relationship Type="http://schemas.openxmlformats.org/officeDocument/2006/relationships/slide" Target="/ppt/slides/slide8.xml" Id="R943bb276db3e461a" /><Relationship Type="http://schemas.openxmlformats.org/officeDocument/2006/relationships/slide" Target="/ppt/slides/slide9.xml" Id="R3e05cabb6184432e" /><Relationship Type="http://schemas.openxmlformats.org/officeDocument/2006/relationships/slide" Target="/ppt/slides/slide10.xml" Id="R0e9bfa710b104348" /><Relationship Type="http://schemas.openxmlformats.org/officeDocument/2006/relationships/slide" Target="/ppt/slides/slide11.xml" Id="Rf11f442fb6d148ad" /><Relationship Type="http://schemas.openxmlformats.org/officeDocument/2006/relationships/slide" Target="/ppt/slides/slide12.xml" Id="R9205d05d4f604371" /><Relationship Type="http://schemas.openxmlformats.org/officeDocument/2006/relationships/slide" Target="/ppt/slides/slide13.xml" Id="Rcc0c0792e01d4572" /><Relationship Type="http://schemas.openxmlformats.org/officeDocument/2006/relationships/slide" Target="/ppt/slides/slide14.xml" Id="R0cb229d5109849a0" /><Relationship Type="http://schemas.openxmlformats.org/officeDocument/2006/relationships/slide" Target="/ppt/slides/slide15.xml" Id="R8c50915a8fe54963" /><Relationship Type="http://schemas.openxmlformats.org/officeDocument/2006/relationships/slide" Target="/ppt/slides/slide16.xml" Id="Rbe3bf4515b30409c" /><Relationship Type="http://schemas.openxmlformats.org/officeDocument/2006/relationships/slide" Target="/ppt/slides/slide17.xml" Id="R517654aeb5f04eca" /><Relationship Type="http://schemas.openxmlformats.org/officeDocument/2006/relationships/slide" Target="/ppt/slides/slide18.xml" Id="Rbf2b0fc74a6049ac" /><Relationship Type="http://schemas.openxmlformats.org/officeDocument/2006/relationships/slide" Target="/ppt/slides/slide19.xml" Id="Rdf83a55ac92f41a7" /><Relationship Type="http://schemas.openxmlformats.org/officeDocument/2006/relationships/slide" Target="/ppt/slides/slide20.xml" Id="R5bd5cff4e4554796" /><Relationship Type="http://schemas.openxmlformats.org/officeDocument/2006/relationships/slide" Target="/ppt/slides/slide21.xml" Id="Re5ea64ca57854224" /><Relationship Type="http://schemas.openxmlformats.org/officeDocument/2006/relationships/slide" Target="/ppt/slides/slide22.xml" Id="Re8c7f3f9310b4709" /><Relationship Type="http://schemas.openxmlformats.org/officeDocument/2006/relationships/slide" Target="/ppt/slides/slide23.xml" Id="Re63de8864a714fa8" /><Relationship Type="http://schemas.openxmlformats.org/officeDocument/2006/relationships/slide" Target="/ppt/slides/slide24.xml" Id="R091d76ccbd054c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e064493c4241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8e7dc26510468e" /><Relationship Type="http://schemas.openxmlformats.org/officeDocument/2006/relationships/notesMaster" Target="/ppt/notesMasters/notesMaster1.xml" Id="Re93dab4e25ef48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58ad1c06e34059" /><Relationship Type="http://schemas.openxmlformats.org/officeDocument/2006/relationships/notesMaster" Target="/ppt/notesMasters/notesMaster1.xml" Id="Rce7d3dce0a7c41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da64eb31464561" /><Relationship Type="http://schemas.openxmlformats.org/officeDocument/2006/relationships/notesMaster" Target="/ppt/notesMasters/notesMaster1.xml" Id="Rc070d2c4a2c242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a6fc567cc34a08" /><Relationship Type="http://schemas.openxmlformats.org/officeDocument/2006/relationships/notesMaster" Target="/ppt/notesMasters/notesMaster1.xml" Id="Rf91dae4099a64c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e6bf9104924d18" /><Relationship Type="http://schemas.openxmlformats.org/officeDocument/2006/relationships/notesMaster" Target="/ppt/notesMasters/notesMaster1.xml" Id="Rde5e12b14aa542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c33dab3d004086" /><Relationship Type="http://schemas.openxmlformats.org/officeDocument/2006/relationships/notesMaster" Target="/ppt/notesMasters/notesMaster1.xml" Id="R1058bb7bf08d42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22e85972a74551" /><Relationship Type="http://schemas.openxmlformats.org/officeDocument/2006/relationships/notesMaster" Target="/ppt/notesMasters/notesMaster1.xml" Id="R5be73459f0804d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d3e8af1eda4203" /><Relationship Type="http://schemas.openxmlformats.org/officeDocument/2006/relationships/notesMaster" Target="/ppt/notesMasters/notesMaster1.xml" Id="R17ec7026f6af48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84eac8052f438c" /><Relationship Type="http://schemas.openxmlformats.org/officeDocument/2006/relationships/notesMaster" Target="/ppt/notesMasters/notesMaster1.xml" Id="R330dd88ea6f94c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ea46bda7fb4cc5" /><Relationship Type="http://schemas.openxmlformats.org/officeDocument/2006/relationships/notesMaster" Target="/ppt/notesMasters/notesMaster1.xml" Id="R6d72f8f05c5541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de3bf1ab4e4305" /><Relationship Type="http://schemas.openxmlformats.org/officeDocument/2006/relationships/notesMaster" Target="/ppt/notesMasters/notesMaster1.xml" Id="R40dca55f82d846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62ba601871485c" /><Relationship Type="http://schemas.openxmlformats.org/officeDocument/2006/relationships/notesMaster" Target="/ppt/notesMasters/notesMaster1.xml" Id="R48ea4f9e445d44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35c067b32ef4d17" /><Relationship Type="http://schemas.openxmlformats.org/officeDocument/2006/relationships/notesMaster" Target="/ppt/notesMasters/notesMaster1.xml" Id="Rfeb2b46871144d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469ab3019140ca" /><Relationship Type="http://schemas.openxmlformats.org/officeDocument/2006/relationships/notesMaster" Target="/ppt/notesMasters/notesMaster1.xml" Id="R3a0fd6c5bf174a2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46d61b66dc4b17" /><Relationship Type="http://schemas.openxmlformats.org/officeDocument/2006/relationships/notesMaster" Target="/ppt/notesMasters/notesMaster1.xml" Id="Ra04e6f430f1f48f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1600578b4094790" /><Relationship Type="http://schemas.openxmlformats.org/officeDocument/2006/relationships/notesMaster" Target="/ppt/notesMasters/notesMaster1.xml" Id="R6927483d8c8e423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1d6143e496e4330" /><Relationship Type="http://schemas.openxmlformats.org/officeDocument/2006/relationships/notesMaster" Target="/ppt/notesMasters/notesMaster1.xml" Id="Ra110cf4e08534f4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08a34f03c2144dc" /><Relationship Type="http://schemas.openxmlformats.org/officeDocument/2006/relationships/notesMaster" Target="/ppt/notesMasters/notesMaster1.xml" Id="R49e1d2e39cd9423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f78015a6d024d6f" /><Relationship Type="http://schemas.openxmlformats.org/officeDocument/2006/relationships/notesMaster" Target="/ppt/notesMasters/notesMaster1.xml" Id="R9050373089ae408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495da2c66ea4208" /><Relationship Type="http://schemas.openxmlformats.org/officeDocument/2006/relationships/notesMaster" Target="/ppt/notesMasters/notesMaster1.xml" Id="R1bb800d7dc2c4a3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acaeaf0c5cb4f7c" /><Relationship Type="http://schemas.openxmlformats.org/officeDocument/2006/relationships/notesMaster" Target="/ppt/notesMasters/notesMaster1.xml" Id="R0c49e1d6cd2f403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6bd1d0a727c4888" /><Relationship Type="http://schemas.openxmlformats.org/officeDocument/2006/relationships/notesMaster" Target="/ppt/notesMasters/notesMaster1.xml" Id="R5b3071852576406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a86f5d33d97465f" /><Relationship Type="http://schemas.openxmlformats.org/officeDocument/2006/relationships/notesMaster" Target="/ppt/notesMasters/notesMaster1.xml" Id="R2a90b8ae01a142c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187841ad0384bda" /><Relationship Type="http://schemas.openxmlformats.org/officeDocument/2006/relationships/notesMaster" Target="/ppt/notesMasters/notesMaster1.xml" Id="R3c0d2dfe38dd4e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 발표의 중심은 특정 도펀트 하나가 아니야. LPSCl을 개선하려고 여러 치환 후보를 계산했을 때, 무엇을 믿고 무엇을 탈락시킬지 결정하는 cascade를 설명할게. 최종 산출물은 승자 선언이 아니라 다음 DFT와 실험이 갈 수 있는 짧고 방어 가능한 후보 목록이야.</a:t>
            </a:r>
            <a:endParaRPr/>
          </a:p>
          <a:p xmlns:a="http://schemas.openxmlformats.org/drawingml/2006/main">
            <a:r>
              <a:t/>
            </a:r>
            <a:endParaRPr/>
          </a:p>
          <a:p xmlns:a="http://schemas.openxmlformats.org/drawingml/2006/main">
            <a:r>
              <a:t>[Sources]</a:t>
            </a:r>
            <a:endParaRPr/>
          </a:p>
          <a:p xmlns:a="http://schemas.openxmlformats.org/drawingml/2006/main">
            <a:r>
              <a:t>- docs/cascade_pipeline_guide.md:1-87</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Argyrodite LPSCl은 높은 이온전도성과 가공성 때문에 많이 쓰이지만 산화, 계면, 접촉과 기계 문제를 동시에 만족하지 못해. 왼쪽은 Sundar 논문의 coating schematic이야. coating 자체를 우리 lattice substitution과 같다고 말하려는 게 아니라, 하나의 처방도 Li·LPSCl·양극의 서로 다른 계면을 동시에 통과해야 한다는 문제를 보여줘. 코팅, 치환, 복합화, 공정 제어 중 무엇을 택해도 여러 물성을 함께 바꾸기 때문에 단일 지표가 아니라 cascade가 필요해.</a:t>
            </a:r>
            <a:endParaRPr/>
          </a:p>
          <a:p xmlns:a="http://schemas.openxmlformats.org/drawingml/2006/main">
            <a:r>
              <a:t/>
            </a:r>
            <a:endParaRPr/>
          </a:p>
          <a:p xmlns:a="http://schemas.openxmlformats.org/drawingml/2006/main">
            <a:r>
              <a:t>[Sources]</a:t>
            </a:r>
            <a:endParaRPr/>
          </a:p>
          <a:p xmlns:a="http://schemas.openxmlformats.org/drawingml/2006/main">
            <a:r>
              <a:t>- litdb/papers/sundar2025_oxide_coating_screening_lpscl.md</a:t>
            </a:r>
            <a:endParaRPr/>
          </a:p>
          <a:p xmlns:a="http://schemas.openxmlformats.org/drawingml/2006/main">
            <a:r>
              <a:t>- litdb/figures/sundar2025_oxide_coating_screening_lpscl/figures.json</a:t>
            </a:r>
            <a:endParaRPr/>
          </a:p>
          <a:p xmlns:a="http://schemas.openxmlformats.org/drawingml/2006/main">
            <a:r>
              <a:t>- docs/cascade_pipeline_guide.md:1-31</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도펀트 종류만 바뀌는 게 아니야. 같은 화합물도 실제 농도, 결함 배치와 variant가 달라지면 다른 구조가 돼. 현재 funnel의 x=0.02/0.05/0.10 해석과 canonical CSV의 concentration=0.25가 충돌하므로 x002/x005/x010은 campaign label이라고만 부를게. 273도 화합물 수가 아니라 91종에 세 label을 붙인 run slot 수야. 실험 한 점에는 합성, XRD, EIS, 셀 조립까지 많은 시간이 들기 때문에 비싼 검증 전에 실패 가능성이 큰 방향부터 줄이는 절차가 필요해.</a:t>
            </a:r>
            <a:endParaRPr/>
          </a:p>
          <a:p xmlns:a="http://schemas.openxmlformats.org/drawingml/2006/main">
            <a:r>
              <a:t/>
            </a:r>
            <a:endParaRPr/>
          </a:p>
          <a:p xmlns:a="http://schemas.openxmlformats.org/drawingml/2006/main">
            <a:r>
              <a:t>[Sources]</a:t>
            </a:r>
            <a:endParaRPr/>
          </a:p>
          <a:p xmlns:a="http://schemas.openxmlformats.org/drawingml/2006/main">
            <a:r>
              <a:t>- docs/reviews/cascade_db_ml_readiness_audit_2026_08_10.md</a:t>
            </a:r>
            <a:endParaRPr/>
          </a:p>
          <a:p xmlns:a="http://schemas.openxmlformats.org/drawingml/2006/main">
            <a:r>
              <a:t>- db/properties/cascade_v23_champions.csv</a:t>
            </a:r>
            <a:endParaRPr/>
          </a:p>
          <a:p xmlns:a="http://schemas.openxmlformats.org/drawingml/2006/main">
            <a:r>
              <a:t>- db/properties/cascade_v23_ranked.csv:1</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Cascade는 단순히 계산을 많이 돌리는 방법이 아니야. 싼 단계에서는 후보를 넓게 비교하고, 물리 게이트로 위험한 후보를 제거한 뒤, 비싼 DFT와 실험을 남은 후보에 집중하는 비용 배치 전략이야. 각 단계가 무엇을 판정할 수 있는지 한계를 먼저 정하고, 단계 사이에서 주장 강도를 올려.</a:t>
            </a:r>
            <a:endParaRPr/>
          </a:p>
          <a:p xmlns:a="http://schemas.openxmlformats.org/drawingml/2006/main">
            <a:r>
              <a:t/>
            </a:r>
            <a:endParaRPr/>
          </a:p>
          <a:p xmlns:a="http://schemas.openxmlformats.org/drawingml/2006/main">
            <a:r>
              <a:t>[Sources]</a:t>
            </a:r>
            <a:endParaRPr/>
          </a:p>
          <a:p xmlns:a="http://schemas.openxmlformats.org/drawingml/2006/main">
            <a:r>
              <a:t>- docs/cascade_pipeline_guide.md:58-87</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273은 후보 종 수가 아니라 91종에 세 campaign label을 붙인 run slot 수야. Git에 versioning된 2026-06-25 표는 실행 roster의 앞 141행, 즉 oxide 37종과 fluoride 10종의 세 label이야. 뒤 44종은 canonical table에 들어오지 않았어. 7월 문서는 273/273 완료라고 적지만 unified 273-row table과 per-run attrition manifest가 남아 있지 않으므로, 이 44종을 구조 실패나 물리 탈락으로 부르면 안 돼. post-hoc G1–G5 audit은 별도로 47에서 시작해.</a:t>
            </a:r>
            <a:endParaRPr/>
          </a:p>
          <a:p xmlns:a="http://schemas.openxmlformats.org/drawingml/2006/main">
            <a:r>
              <a:t/>
            </a:r>
            <a:endParaRPr/>
          </a:p>
          <a:p xmlns:a="http://schemas.openxmlformats.org/drawingml/2006/main">
            <a:r>
              <a:t>[Sources]</a:t>
            </a:r>
            <a:endParaRPr/>
          </a:p>
          <a:p xmlns:a="http://schemas.openxmlformats.org/drawingml/2006/main">
            <a:r>
              <a:t>- docs/reviews/cascade_db_ml_readiness_audit_2026_08_10.md</a:t>
            </a:r>
            <a:endParaRPr/>
          </a:p>
          <a:p xmlns:a="http://schemas.openxmlformats.org/drawingml/2006/main">
            <a:r>
              <a:t>- kb/projects/cascade_v23_review_2026_07_11.md:34-36</a:t>
            </a:r>
            <a:endParaRPr/>
          </a:p>
          <a:p xmlns:a="http://schemas.openxmlformats.org/drawingml/2006/main">
            <a:r>
              <a:t>- db/properties/cascade_v23_champions.csv</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Tier 1에서는 UMA와 저비용 프록시로 넓게 보고, Tier 2에서는 필요한 후보만 matched DFT로 확인해. Tier 3는 질문별 후처리와 실험이야. 모든 조성이 똑같은 고비용 계산을 받는다는 뜻이 아니라, 각 tier 안에서 프로토콜을 고정하고 선택된 후보만 다음 tier로 올린다는 뜻이야. 현재 DFT 검증은 두 후보뿐이라는 범위를 계속 표시해야 해.</a:t>
            </a:r>
            <a:endParaRPr/>
          </a:p>
          <a:p xmlns:a="http://schemas.openxmlformats.org/drawingml/2006/main">
            <a:r>
              <a:t/>
            </a:r>
            <a:endParaRPr/>
          </a:p>
          <a:p xmlns:a="http://schemas.openxmlformats.org/drawingml/2006/main">
            <a:r>
              <a:t>[Sources]</a:t>
            </a:r>
            <a:endParaRPr/>
          </a:p>
          <a:p xmlns:a="http://schemas.openxmlformats.org/drawingml/2006/main">
            <a:r>
              <a:t>- docs/cascade_pipeline_guide.md:58-87</a:t>
            </a:r>
            <a:endParaRPr/>
          </a:p>
          <a:p xmlns:a="http://schemas.openxmlformats.org/drawingml/2006/main">
            <a:r>
              <a:t>- webapp/data.py:835-840</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LPSCl과 Cl-rich 비교는 cascade의 결과가 아니라 축 선택의 선행 사례야. fixed-occupation band gap 차이는 0.033 eV로 작지만 Cl-rich 구조에는 Li 공공과 4d-Cl anti-site가 생겨. 그래서 구조 안정성, Li 이동 경로, 무질서와 기계 축을 우선 기술자로 잡았어. 단, comp1에는 현재 인용 가능한 멀티시드 Ea가 없으니 두 계의 barrier나 prefactor를 비교하면 안 돼.</a:t>
            </a:r>
            <a:endParaRPr/>
          </a:p>
          <a:p xmlns:a="http://schemas.openxmlformats.org/drawingml/2006/main">
            <a:r>
              <a:t/>
            </a:r>
            <a:endParaRPr/>
          </a:p>
          <a:p xmlns:a="http://schemas.openxmlformats.org/drawingml/2006/main">
            <a:r>
              <a:t>[Sources]</a:t>
            </a:r>
            <a:endParaRPr/>
          </a:p>
          <a:p xmlns:a="http://schemas.openxmlformats.org/drawingml/2006/main">
            <a:r>
              <a:t>- db/properties/electronic.json</a:t>
            </a:r>
            <a:endParaRPr/>
          </a:p>
          <a:p xmlns:a="http://schemas.openxmlformats.org/drawingml/2006/main">
            <a:r>
              <a:t>- db/properties/canonical_registry.json</a:t>
            </a:r>
            <a:endParaRPr/>
          </a:p>
          <a:p xmlns:a="http://schemas.openxmlformats.org/drawingml/2006/main">
            <a:r>
              <a:t>- kb/seminars/cascade_seminar_2026_08_spec.md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게이트는 하나의 질문을 맡아. G1은 host 대비 구조 안정, G2는 전기화학 창 붕괴, G3는 host 대비 산화 onset이야. G4는 BVSE 기하 프록시의 두 컷을 쓰는데 blocking 0.6은 host나 문헌에 앵커된 값이 아니라 heuristic이야. G5도 로스터 median 기반 정렬이므로 G1부터 G3와 같은 객관성으로 말하면 안 돼.</a:t>
            </a:r>
            <a:endParaRPr/>
          </a:p>
          <a:p xmlns:a="http://schemas.openxmlformats.org/drawingml/2006/main">
            <a:r>
              <a:t/>
            </a:r>
            <a:endParaRPr/>
          </a:p>
          <a:p xmlns:a="http://schemas.openxmlformats.org/drawingml/2006/main">
            <a:r>
              <a:t>[Sources]</a:t>
            </a:r>
            <a:endParaRPr/>
          </a:p>
          <a:p xmlns:a="http://schemas.openxmlformats.org/drawingml/2006/main">
            <a:r>
              <a:t>- docs/cascade_pipeline_guide.md:262-343</a:t>
            </a:r>
            <a:endParaRPr/>
          </a:p>
          <a:p xmlns:a="http://schemas.openxmlformats.org/drawingml/2006/main">
            <a:r>
              <a:t>- db/properties/cascade_screening_funnel.json:227-304</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결과는 weighted score이고 이 5단계 hard-gate funnel은 문헌 기준을 투영한 사후 분석 뷰야. waterfall은 47에서 47, 43, 25, 11로 줄어. G4에도 heuristic cutoff가 있고, G5의 한 종은 median 정렬 결과라 최종 승자라고 부르지 않아. 방어 가능한 보고는 G4 통과 11종과 각 게이트의 한계를 함께 제시하는 방식이야.</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db/properties/cascade_screening_funnel.json:2587-2598</a:t>
            </a:r>
            <a:endParaRPr/>
          </a:p>
          <a:p xmlns:a="http://schemas.openxmlformats.org/drawingml/2006/main">
            <a:r>
              <a:t>- docs/cascade_pipeline_guide.md:262-343</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G1이 아무 후보도 제거하지 못한 것은 모든 후보가 훌륭하다는 뜻이 아니야. 출발 풀이 안정 후보 위주로 큐레이션됐다는 뜻이야. G2에서 탈락한 네 late-transition-metal 후보는 G3에도 모두 탈락해서 unique kill이 0이야. 게이트가 실제로 독립적인 정보를 주는지 감사하는 것 자체가 결과야.</a:t>
            </a:r>
            <a:endParaRPr/>
          </a:p>
          <a:p xmlns:a="http://schemas.openxmlformats.org/drawingml/2006/main">
            <a:r>
              <a:t/>
            </a:r>
            <a:endParaRPr/>
          </a:p>
          <a:p xmlns:a="http://schemas.openxmlformats.org/drawingml/2006/main">
            <a:r>
              <a:t>[Sources]</a:t>
            </a:r>
            <a:endParaRPr/>
          </a:p>
          <a:p xmlns:a="http://schemas.openxmlformats.org/drawingml/2006/main">
            <a:r>
              <a:t>- docs/cascade_pipeline_guide.md:262-301</a:t>
            </a:r>
            <a:endParaRPr/>
          </a:p>
          <a:p xmlns:a="http://schemas.openxmlformats.org/drawingml/2006/main">
            <a:r>
              <a:t>- db/properties/cascade_screening_funnel.json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Host보다 산화 onset을 높인 후보는 B2O3, Cr2O3, Ga2O3, In2O3, Sc2O3, Y2O3 여섯 종이야. 그런데 여섯 종 모두 G4에서 Li 수송 조건을 통과하지 못했어. 이 trade-off가 cascade의 가장 중요한 물리 결과야. 다만 G4는 BVSE 기반 정적 기하 프록시라 실제 전도도나 확산계수라고 읽으면 안 돼.</a:t>
            </a:r>
            <a:endParaRPr/>
          </a:p>
          <a:p xmlns:a="http://schemas.openxmlformats.org/drawingml/2006/main">
            <a:r>
              <a:t/>
            </a:r>
            <a:endParaRPr/>
          </a:p>
          <a:p xmlns:a="http://schemas.openxmlformats.org/drawingml/2006/main">
            <a:r>
              <a:t>[Sources]</a:t>
            </a:r>
            <a:endParaRPr/>
          </a:p>
          <a:p xmlns:a="http://schemas.openxmlformats.org/drawingml/2006/main">
            <a:r>
              <a:t>- docs/cascade_pipeline_guide.md:305-321</a:t>
            </a:r>
            <a:endParaRPr/>
          </a:p>
          <a:p xmlns:a="http://schemas.openxmlformats.org/drawingml/2006/main">
            <a:r>
              <a:t>- db/properties/oxidation_stability_cascade.csv</a:t>
            </a:r>
            <a:endParaRPr/>
          </a:p>
          <a:p xmlns:a="http://schemas.openxmlformats.org/drawingml/2006/main">
            <a:r>
              <a:t>- db/properties/cascade_v23_litransport.csv</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가중점수는 측정된 물리량이 아니라 의사결정 함수야. 그래서 G1–G4의 11종 안에서 mean relative energy와 BVSE pathway proxy만 놓은 conditional Pareto를 함께 봐. 네 종은 이 두 축에서 비지배라는 뜻일 뿐 winner가 아니고, 축을 바꾸면 집합도 달라져. 또한 11종은 host onset 2.14 V에 묶여 있어 산화축 내부순위가 없다. missing을 0으로 채우거나 이 네 종을 최종 후보로 확정하면 안 돼.</a:t>
            </a:r>
            <a:endParaRPr/>
          </a:p>
          <a:p xmlns:a="http://schemas.openxmlformats.org/drawingml/2006/main">
            <a:r>
              <a:t/>
            </a:r>
            <a:endParaRPr/>
          </a:p>
          <a:p xmlns:a="http://schemas.openxmlformats.org/drawingml/2006/main">
            <a:r>
              <a:t>[Sources]</a:t>
            </a:r>
            <a:endParaRPr/>
          </a:p>
          <a:p xmlns:a="http://schemas.openxmlformats.org/drawingml/2006/main">
            <a:r>
              <a:t>- docs/reviews/cascade_db_ml_readiness_audit_2026_08_10.md</a:t>
            </a:r>
            <a:endParaRPr/>
          </a:p>
          <a:p xmlns:a="http://schemas.openxmlformats.org/drawingml/2006/main">
            <a:r>
              <a:t>- db/properties/cascade_seminar_pareto_47.csv</a:t>
            </a:r>
            <a:endParaRPr/>
          </a:p>
          <a:p xmlns:a="http://schemas.openxmlformats.org/drawingml/2006/main">
            <a:r>
              <a:t>- db/properties/cascade_v23_ranked.csv</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다섯 게이트의 120개 순열을 모두 시험했어. 게이트가 정적인 boolean 조건이라 최종 교집합은 순서와 무관했어. 대신 중간 생존자 수와 어느 게이트가 후보를 탈락시킨 것으로 보이는지는 달라져. 따라서 waterfall 모양은 결과 그 자체라기보다 설명 순서라는 걸 밝혀야 해.</a:t>
            </a:r>
            <a:endParaRPr/>
          </a:p>
          <a:p xmlns:a="http://schemas.openxmlformats.org/drawingml/2006/main">
            <a:r>
              <a:t/>
            </a:r>
            <a:endParaRPr/>
          </a:p>
          <a:p xmlns:a="http://schemas.openxmlformats.org/drawingml/2006/main">
            <a:r>
              <a:t>[Sources]</a:t>
            </a:r>
            <a:endParaRPr/>
          </a:p>
          <a:p xmlns:a="http://schemas.openxmlformats.org/drawingml/2006/main">
            <a:r>
              <a:t>- docs/cascade_pipeline_guide.md:364-385</a:t>
            </a:r>
            <a:endParaRPr/>
          </a:p>
          <a:p xmlns:a="http://schemas.openxmlformats.org/drawingml/2006/main">
            <a:r>
              <a:t>- db/properties/cascade_screening_funnel.json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프로토콜 안에서의 통과·탈락과 상대순위, 산화–수송 trade-off, 순서 불변성은 현재 데이터로 지지돼. 반면 UMA 절대값, BVSE를 전도도로 환산한 값, 축퇴군 내부 순위, G5의 단일 승자는 지지되지 않아. 계면 반응과 전자 절연은 아직 완전한 게이트로 들어오지 않았어.</a:t>
            </a:r>
            <a:endParaRPr/>
          </a:p>
          <a:p xmlns:a="http://schemas.openxmlformats.org/drawingml/2006/main">
            <a:r>
              <a:t/>
            </a:r>
            <a:endParaRPr/>
          </a:p>
          <a:p xmlns:a="http://schemas.openxmlformats.org/drawingml/2006/main">
            <a:r>
              <a:t>[Sources]</a:t>
            </a:r>
            <a:endParaRPr/>
          </a:p>
          <a:p xmlns:a="http://schemas.openxmlformats.org/drawingml/2006/main">
            <a:r>
              <a:t>- docs/cascade_pipeline_guide.md:389-413</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파이프라인은 처음부터 완성된 규칙이 아니었어. 단일시드 전도도 비교, 확산영역 밖 MSD 피팅, DOS threshold gap을 모두 철회했어. 표면 계산에서는 에너지가 깊다는 이유만으로 결합이라고 판단하면 안 되고 원자 이탈과 전하상태까지 확인해야 해. 이전의 -1.465 eV는 유효 흡착에너지가 아니라 UMA가 만든 Li-transfer 사건으로만 설명해야 해.</a:t>
            </a:r>
            <a:endParaRPr/>
          </a:p>
          <a:p xmlns:a="http://schemas.openxmlformats.org/drawingml/2006/main">
            <a:r>
              <a:t/>
            </a:r>
            <a:endParaRPr/>
          </a:p>
          <a:p xmlns:a="http://schemas.openxmlformats.org/drawingml/2006/main">
            <a:r>
              <a:t>[Sources]</a:t>
            </a:r>
            <a:endParaRPr/>
          </a:p>
          <a:p xmlns:a="http://schemas.openxmlformats.org/drawingml/2006/main">
            <a:r>
              <a:t>- docs/cascade_pipeline_guide.md:417-431</a:t>
            </a:r>
            <a:endParaRPr/>
          </a:p>
          <a:p xmlns:a="http://schemas.openxmlformats.org/drawingml/2006/main">
            <a:r>
              <a:t>- webapp/data.py:2759-2777</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47종 상대 스크린, G1–G4 통과 11종, 심층 DFT 2건은 한 줄의 연속 funnel이 아니야. 특히 B2O3는 G4에서 탈락했지만 trade-off를 검증하려고 DFT로 본 사례라서 11종의 부분집합처럼 그리면 틀려. 비싼 계산은 게이트 경계, 모델 불일치, Pareto 가치, 새로운 화학을 대표하는 후보에 선택적으로 써. DFT로 올릴 때는 구조, 셀, 제약, k-mesh, 기준 에너지, 자기 프로토콜을 맞춰야 비교가 성립해.</a:t>
            </a:r>
            <a:endParaRPr/>
          </a:p>
          <a:p xmlns:a="http://schemas.openxmlformats.org/drawingml/2006/main">
            <a:r>
              <a:t/>
            </a:r>
            <a:endParaRPr/>
          </a:p>
          <a:p xmlns:a="http://schemas.openxmlformats.org/drawingml/2006/main">
            <a:r>
              <a:t>[Sources]</a:t>
            </a:r>
            <a:endParaRPr/>
          </a:p>
          <a:p xmlns:a="http://schemas.openxmlformats.org/drawingml/2006/main">
            <a:r>
              <a:t>- webapp/data.py:835-843</a:t>
            </a:r>
            <a:endParaRPr/>
          </a:p>
          <a:p xmlns:a="http://schemas.openxmlformats.org/drawingml/2006/main">
            <a:r>
              <a:t>- docs/cascade_pipeline_guide.md:58-87</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ML이라는 말을 둘로 나눠야 해. UMA는 에너지와 힘을 빠르게 계산하는 사전학습 ML potential이고, 이 덕분에 후보를 같은 규약으로 넓게 볼 수 있어. 공동치환 모델은 47개 단일 도펀트의 합성점수를 1,081개 조합에 이식한 가설 생성기야. 실제 공동치환 라벨이 없고 독립 도펀트 검증에서는 R2가 음수라서 discovery predictor라고 부르면 안 돼.</a:t>
            </a:r>
            <a:endParaRPr/>
          </a:p>
          <a:p xmlns:a="http://schemas.openxmlformats.org/drawingml/2006/main">
            <a:r>
              <a:t/>
            </a:r>
            <a:endParaRPr/>
          </a:p>
          <a:p xmlns:a="http://schemas.openxmlformats.org/drawingml/2006/main">
            <a:r>
              <a:t>[Sources]</a:t>
            </a:r>
            <a:endParaRPr/>
          </a:p>
          <a:p xmlns:a="http://schemas.openxmlformats.org/drawingml/2006/main">
            <a:r>
              <a:t>- tools/cascade/codoping_ml.py:1-27</a:t>
            </a:r>
            <a:endParaRPr/>
          </a:p>
          <a:p xmlns:a="http://schemas.openxmlformats.org/drawingml/2006/main">
            <a:r>
              <a:t>- db/properties/codoping_ml_v2_meta.json:275-286</a:t>
            </a:r>
            <a:endParaRPr/>
          </a:p>
          <a:p xmlns:a="http://schemas.openxmlformats.org/drawingml/2006/main">
            <a:r>
              <a:t>- db/properties/codoping_ml_v2_meta.json:391-421</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단계는 현재 게이트를 ML로 없애는 게 아니라, 비싼 계산을 어디에 먼저 쓸지 정하는 폐루프야. Sendek처럼 물리 gate와 모델을 분리하고, GNoME와 Kim의 active learning처럼 새 DFT label을 DB와 모델로 돌려보내야 해. 상위 예측만 반복하지 않고 불확실하거나 새로운 화학도 일부 선택하고, 게이트 경계나 모델 불일치 구조를 DFT로 확인해. UMA, BVSE, DFT, 실험값은 한 열에 섞지 않고 provenance를 분리해. 최종 판단은 여전히 물리 게이트와 실험이 맡아.</a:t>
            </a:r>
            <a:endParaRPr/>
          </a:p>
          <a:p xmlns:a="http://schemas.openxmlformats.org/drawingml/2006/main">
            <a:r>
              <a:t/>
            </a:r>
            <a:endParaRPr/>
          </a:p>
          <a:p xmlns:a="http://schemas.openxmlformats.org/drawingml/2006/main">
            <a:r>
              <a:t>[Sources]</a:t>
            </a:r>
            <a:endParaRPr/>
          </a:p>
          <a:p xmlns:a="http://schemas.openxmlformats.org/drawingml/2006/main">
            <a:r>
              <a:t>- docs/reviews/cascade_ai_screening_literature_comparison_2026_08_10.md</a:t>
            </a:r>
            <a:endParaRPr/>
          </a:p>
          <a:p xmlns:a="http://schemas.openxmlformats.org/drawingml/2006/main">
            <a:r>
              <a:t>- litdb/papers/sendek2017_ml_screening_12k_conductors.md</a:t>
            </a:r>
            <a:endParaRPr/>
          </a:p>
          <a:p xmlns:a="http://schemas.openxmlformats.org/drawingml/2006/main">
            <a:r>
              <a:t>- litdb/papers/kim2025_csp_metastable_edge_sharing_sse.md</a:t>
            </a:r>
            <a:endParaRPr/>
          </a:p>
          <a:p xmlns:a="http://schemas.openxmlformats.org/drawingml/2006/main">
            <a:r>
              <a:t>- https://www.nature.com/articles/s41586-023-06735-9</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표는 발표 전체에서 기호를 어떻게 읽어야 하는지 고정해. 특히 transport_norm은 BVSE 프록시라서 D나 전도도라고 부르면 안 되고, missing은 0점도 탈락도 아니야. Ea를 말할 때는 온도, MSD 창, 시드 수를 함께 붙여.</a:t>
            </a:r>
            <a:endParaRPr/>
          </a:p>
          <a:p xmlns:a="http://schemas.openxmlformats.org/drawingml/2006/main">
            <a:r>
              <a:t/>
            </a:r>
            <a:endParaRPr/>
          </a:p>
          <a:p xmlns:a="http://schemas.openxmlformats.org/drawingml/2006/main">
            <a:r>
              <a:t>[Sources]</a:t>
            </a:r>
            <a:endParaRPr/>
          </a:p>
          <a:p xmlns:a="http://schemas.openxmlformats.org/drawingml/2006/main">
            <a:r>
              <a:t>- kb/methodology/terminology_register.md</a:t>
            </a:r>
            <a:endParaRPr/>
          </a:p>
          <a:p xmlns:a="http://schemas.openxmlformats.org/drawingml/2006/main">
            <a:r>
              <a:t>- docs/cascade_pipeline_guide.md:262-343</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표의 핵심은 계산 엔진의 이름이 아니라 허용되는 주장 강도야. UMA는 상대 스크리닝, BVSE는 정적 경로 프록시, MD는 멀티시드와 β를 통과한 수송, DFT는 선택된 후보의 matched validation이야. 서로 다른 프로토콜 절대값을 같은 표에 섞지 않아.</a:t>
            </a:r>
            <a:endParaRPr/>
          </a:p>
          <a:p xmlns:a="http://schemas.openxmlformats.org/drawingml/2006/main">
            <a:r>
              <a:t/>
            </a:r>
            <a:endParaRPr/>
          </a:p>
          <a:p xmlns:a="http://schemas.openxmlformats.org/drawingml/2006/main">
            <a:r>
              <a:t>[Sources]</a:t>
            </a:r>
            <a:endParaRPr/>
          </a:p>
          <a:p xmlns:a="http://schemas.openxmlformats.org/drawingml/2006/main">
            <a:r>
              <a:t>- docs/cascade_pipeline_guide.md:58-87</a:t>
            </a:r>
            <a:endParaRPr/>
          </a:p>
          <a:p xmlns:a="http://schemas.openxmlformats.org/drawingml/2006/main">
            <a:r>
              <a:t>- AGENTS.md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47종을 알파벳순으로 놓고 각 축의 within-pool favorable percentile과 첫 stop gate를 같이 보여줘. 색이 진하다고 절대 물성이 좋다는 뜻이 아니고, composite score도 winner도 넣지 않았어. B2O3와 Nd2O3 dagger는 기존 deep DFT coverage가 있다는 뜻이지 G4 생존자라는 뜻은 아니야. gate 정의와 caveat는 본문 S8에서 이미 고정했어.</a:t>
            </a:r>
            <a:endParaRPr/>
          </a:p>
          <a:p xmlns:a="http://schemas.openxmlformats.org/drawingml/2006/main">
            <a:r>
              <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db/properties/cascade_screening_funnel.json</a:t>
            </a:r>
            <a:endParaRPr/>
          </a:p>
          <a:p xmlns:a="http://schemas.openxmlformats.org/drawingml/2006/main">
            <a:r>
              <a:t>- docs/reviews/cascade_db_ml_readiness_audit_2026_08_10.md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질문을 받으면 숫자보다 범위를 먼저 말해. 47은 discovery funnel이 아니라 2026-06-25에 versioning된 curated O/F snapshot이야. 나머지 44종은 정본 표에 미수집됐고 전종별 실패 manifest가 없으므로 미완결이나 음성으로 단정하지 않아. G1과 G2가 약하다는 점을 숨기지 않고, G5의 한 종 대신 G4까지의 11종을 heuristic 한계와 함께 보고해.</a:t>
            </a:r>
            <a:endParaRPr/>
          </a:p>
          <a:p xmlns:a="http://schemas.openxmlformats.org/drawingml/2006/main">
            <a:r>
              <a:t/>
            </a:r>
            <a:endParaRPr/>
          </a:p>
          <a:p xmlns:a="http://schemas.openxmlformats.org/drawingml/2006/main">
            <a:r>
              <a:t>[Sources]</a:t>
            </a:r>
            <a:endParaRPr/>
          </a:p>
          <a:p xmlns:a="http://schemas.openxmlformats.org/drawingml/2006/main">
            <a:r>
              <a:t>- docs/reviews/cascade_db_ml_readiness_audit_2026_08_10.md</a:t>
            </a:r>
            <a:endParaRPr/>
          </a:p>
          <a:p xmlns:a="http://schemas.openxmlformats.org/drawingml/2006/main">
            <a:r>
              <a:t>- docs/cascade_pipeline_guide.md:262-343</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 관련 질문에서는 UMA와 후속 예측 모델의 역할을 분리해. UMA는 에너지와 힘을 대신하는 MLIP이고, 공동치환 모델은 아직 가설 순서 제안기야. 47개는 범용 발견 모델에는 작고, 실제 공동치환 라벨과 group split, prospective round가 있어야 predictor라고 부를 수 있어.</a:t>
            </a:r>
            <a:endParaRPr/>
          </a:p>
          <a:p xmlns:a="http://schemas.openxmlformats.org/drawingml/2006/main">
            <a:r>
              <a:t/>
            </a:r>
            <a:endParaRPr/>
          </a:p>
          <a:p xmlns:a="http://schemas.openxmlformats.org/drawingml/2006/main">
            <a:r>
              <a:t>[Sources]</a:t>
            </a:r>
            <a:endParaRPr/>
          </a:p>
          <a:p xmlns:a="http://schemas.openxmlformats.org/drawingml/2006/main">
            <a:r>
              <a:t>- db/properties/codoping_ml_v2_meta.json:275-286</a:t>
            </a:r>
            <a:endParaRPr/>
          </a:p>
          <a:p xmlns:a="http://schemas.openxmlformats.org/drawingml/2006/main">
            <a:r>
              <a:t>- db/properties/codoping_ml_v2_meta.json:391-438</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발표에서 숫자를 기억으로 인용하지 않고 정본 파일로 돌아가. 특히 waterfall은 funnel JSON, 랭킹은 CSV, gap은 fixed-occupation 전자 정본, ML 한계는 codoping meta 파일을 기준으로 해.</a:t>
            </a:r>
            <a:endParaRPr/>
          </a:p>
          <a:p xmlns:a="http://schemas.openxmlformats.org/drawingml/2006/main">
            <a:r>
              <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db/properties/cascade_screening_funnel.json</a:t>
            </a:r>
            <a:endParaRPr/>
          </a:p>
          <a:p xmlns:a="http://schemas.openxmlformats.org/drawingml/2006/main">
            <a:r>
              <a:t>- db/properties/cascade_v23_ranked.csv</a:t>
            </a:r>
            <a:endParaRPr/>
          </a:p>
          <a:p xmlns:a="http://schemas.openxmlformats.org/drawingml/2006/main">
            <a:r>
              <a:t>- db/properties/oxidation_stability_cascade.csv</a:t>
            </a:r>
            <a:endParaRPr/>
          </a:p>
          <a:p xmlns:a="http://schemas.openxmlformats.org/drawingml/2006/main">
            <a:r>
              <a:t>- db/properties/cascade_v23_litransport.csv</a:t>
            </a:r>
            <a:endParaRPr/>
          </a:p>
          <a:p xmlns:a="http://schemas.openxmlformats.org/drawingml/2006/main">
            <a:r>
              <a:t>- db/properties/canonical_registry.json</a:t>
            </a:r>
            <a:endParaRPr/>
          </a:p>
          <a:p xmlns:a="http://schemas.openxmlformats.org/drawingml/2006/main">
            <a:r>
              <a:t>- db/properties/electronic.json</a:t>
            </a:r>
            <a:endParaRPr/>
          </a:p>
          <a:p xmlns:a="http://schemas.openxmlformats.org/drawingml/2006/main">
            <a:r>
              <a:t>- db/properties/codoping_ml_v2_meta.json</a:t>
            </a:r>
            <a:endParaRPr/>
          </a:p>
          <a:p xmlns:a="http://schemas.openxmlformats.org/drawingml/2006/main">
            <a:r>
              <a:t>- kb/methodology/terminology_register.md</a:t>
            </a:r>
            <a:endParaRPr/>
          </a:p>
          <a:p xmlns:a="http://schemas.openxmlformats.org/drawingml/2006/main">
            <a:r>
              <a:t>- docs/reviews/cascade_db_ml_readiness_audit_2026_08_10.md</a:t>
            </a:r>
            <a:endParaRPr/>
          </a:p>
          <a:p xmlns:a="http://schemas.openxmlformats.org/drawingml/2006/main">
            <a:r>
              <a:t>- docs/reviews/cascade_ai_screening_literature_comparison_2026_08_10.md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5425b210534cd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decd5e85d44935" /><Relationship Type="http://schemas.openxmlformats.org/officeDocument/2006/relationships/slideLayout" Target="/ppt/slideLayouts/slideLayout1.xml" Id="R611b4443c375440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1b4443c375440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f9014aa5cb4565" /><Relationship Type="http://schemas.openxmlformats.org/officeDocument/2006/relationships/notesSlide" Target="/ppt/notesSlides/notesSlide1.xml" Id="R1ab6e840aa1442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00e433788941eb" /><Relationship Type="http://schemas.openxmlformats.org/officeDocument/2006/relationships/image" Target="/ppt/media/image.png" Id="Ra947111fa31c4ec6" /><Relationship Type="http://schemas.openxmlformats.org/officeDocument/2006/relationships/notesSlide" Target="/ppt/notesSlides/notesSlide2.xml" Id="Ra3ead75d4ccb48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ffc9838dcc46ce" /><Relationship Type="http://schemas.openxmlformats.org/officeDocument/2006/relationships/notesSlide" Target="/ppt/notesSlides/notesSlide3.xml" Id="R4afccc24fa4a4d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c5e733955e4661" /><Relationship Type="http://schemas.openxmlformats.org/officeDocument/2006/relationships/notesSlide" Target="/ppt/notesSlides/notesSlide4.xml" Id="Rf9921697a30845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93e250580b452c" /><Relationship Type="http://schemas.openxmlformats.org/officeDocument/2006/relationships/image" Target="/ppt/media/image2.png" Id="Rd3de901884aa40c3" /><Relationship Type="http://schemas.openxmlformats.org/officeDocument/2006/relationships/notesSlide" Target="/ppt/notesSlides/notesSlide5.xml" Id="R3f45b332676148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7d249974cc045f2" /><Relationship Type="http://schemas.openxmlformats.org/officeDocument/2006/relationships/notesSlide" Target="/ppt/notesSlides/notesSlide6.xml" Id="R8e3009caa3ff4f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ec58863d2d14c8a" /><Relationship Type="http://schemas.openxmlformats.org/officeDocument/2006/relationships/notesSlide" Target="/ppt/notesSlides/notesSlide7.xml" Id="R0ee17f4e7ca94f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43bd55cc154fdd" /><Relationship Type="http://schemas.openxmlformats.org/officeDocument/2006/relationships/notesSlide" Target="/ppt/notesSlides/notesSlide8.xml" Id="Rc42e27da6b464f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b36973fbacf4414" /><Relationship Type="http://schemas.openxmlformats.org/officeDocument/2006/relationships/notesSlide" Target="/ppt/notesSlides/notesSlide9.xml" Id="R178afc8bc6f148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d432c2fc16d40f7" /><Relationship Type="http://schemas.openxmlformats.org/officeDocument/2006/relationships/notesSlide" Target="/ppt/notesSlides/notesSlide10.xml" Id="R9c460621819640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0ce1f5eadc940a1" /><Relationship Type="http://schemas.openxmlformats.org/officeDocument/2006/relationships/image" Target="/ppt/media/image3.png" Id="Rd361c3df27b64401" /><Relationship Type="http://schemas.openxmlformats.org/officeDocument/2006/relationships/notesSlide" Target="/ppt/notesSlides/notesSlide11.xml" Id="Ra0b8648602f7453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795073aa18440ae" /><Relationship Type="http://schemas.openxmlformats.org/officeDocument/2006/relationships/image" Target="/ppt/media/image4.png" Id="R86727203097e4a91" /><Relationship Type="http://schemas.openxmlformats.org/officeDocument/2006/relationships/notesSlide" Target="/ppt/notesSlides/notesSlide12.xml" Id="R63d2d1ed271d4a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7d70dd9654b480b" /><Relationship Type="http://schemas.openxmlformats.org/officeDocument/2006/relationships/notesSlide" Target="/ppt/notesSlides/notesSlide13.xml" Id="Rba9c822e19574a1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728309c06a244e0" /><Relationship Type="http://schemas.openxmlformats.org/officeDocument/2006/relationships/notesSlide" Target="/ppt/notesSlides/notesSlide14.xml" Id="R9505b50cc80848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4849499904d46a7" /><Relationship Type="http://schemas.openxmlformats.org/officeDocument/2006/relationships/notesSlide" Target="/ppt/notesSlides/notesSlide15.xml" Id="R403a9862c61e4c4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b2986ad65db45aa" /><Relationship Type="http://schemas.openxmlformats.org/officeDocument/2006/relationships/notesSlide" Target="/ppt/notesSlides/notesSlide16.xml" Id="R7c41471ad50d4f2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a38038e259e4002" /><Relationship Type="http://schemas.openxmlformats.org/officeDocument/2006/relationships/notesSlide" Target="/ppt/notesSlides/notesSlide17.xml" Id="Rdef60af1f8fb455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2c797ee82534b17" /><Relationship Type="http://schemas.openxmlformats.org/officeDocument/2006/relationships/notesSlide" Target="/ppt/notesSlides/notesSlide18.xml" Id="R17d53a0c3e864ce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1490da4ceaf4fac" /><Relationship Type="http://schemas.openxmlformats.org/officeDocument/2006/relationships/notesSlide" Target="/ppt/notesSlides/notesSlide19.xml" Id="R1b9bb200f4d2450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ca8d300bf1b436e" /><Relationship Type="http://schemas.openxmlformats.org/officeDocument/2006/relationships/notesSlide" Target="/ppt/notesSlides/notesSlide20.xml" Id="Rd296a132f140464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177fda079e24b07" /><Relationship Type="http://schemas.openxmlformats.org/officeDocument/2006/relationships/image" Target="/ppt/media/image5.png" Id="R7182f7e2711a4708" /><Relationship Type="http://schemas.openxmlformats.org/officeDocument/2006/relationships/notesSlide" Target="/ppt/notesSlides/notesSlide21.xml" Id="Rdb260d22ab1a45e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be537845dec44e0" /><Relationship Type="http://schemas.openxmlformats.org/officeDocument/2006/relationships/notesSlide" Target="/ppt/notesSlides/notesSlide22.xml" Id="R45d60fc342bb4fb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f409346ef024f1d" /><Relationship Type="http://schemas.openxmlformats.org/officeDocument/2006/relationships/notesSlide" Target="/ppt/notesSlides/notesSlide23.xml" Id="R70e5b05746444e7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c8b263eb8aa493f" /><Relationship Type="http://schemas.openxmlformats.org/officeDocument/2006/relationships/notesSlide" Target="/ppt/notesSlides/notesSlide24.xml" Id="R986be85a77e14ec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FBA99C4-6602-4850-9AF5-1401AABE27ED}"/>
              </a:ext>
            </a:extLst>
          </p:cNvPr>
          <p:cNvSpPr>
            <a:spLocks xmlns:a="http://schemas.openxmlformats.org/drawingml/2006/main" noGrp="1"/>
          </p:cNvSpPr>
          <p:nvPr/>
        </p:nvSpPr>
        <p:spPr>
          <a:xfrm xmlns:a="http://schemas.openxmlformats.org/drawingml/2006/main">
            <a:off x="6629400" y="274320"/>
            <a:ext cx="201168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1100">
                <a:solidFill>
                  <a:srgbClr val="7F7F7F"/>
                </a:solidFill>
                <a:latin typeface="Arial"/>
                <a:ea typeface="Arial"/>
                <a:cs typeface="Arial"/>
              </a:defRPr>
            </a:pPr>
            <a:r>
              <a:rPr sz="1100">
                <a:solidFill>
                  <a:srgbClr val="7F7F7F"/>
                </a:solidFill>
                <a:latin typeface="Arial"/>
                <a:ea typeface="Arial"/>
                <a:cs typeface="Arial"/>
              </a:rPr>
              <a:t>August 2026</a:t>
            </a:r>
            <a:endParaRPr sz="1100"/>
          </a:p>
        </p:txBody>
      </p:sp>
      <p:sp>
        <p:nvSpPr>
          <p:cNvPr id="3" name="Text 1">
            <a:extLst xmlns:a="http://schemas.openxmlformats.org/drawingml/2006/main">
              <a:ext uri="{FF2B5EF4-FFF2-40B4-BE49-F238E27FC236}">
                <a16:creationId xmlns:a16="http://schemas.microsoft.com/office/drawing/2014/main" id="{4D2ADFAA-E0BC-498F-9D9C-D6200D995A9C}"/>
              </a:ext>
            </a:extLst>
          </p:cNvPr>
          <p:cNvSpPr>
            <a:spLocks xmlns:a="http://schemas.openxmlformats.org/drawingml/2006/main" noGrp="1"/>
          </p:cNvSpPr>
          <p:nvPr/>
        </p:nvSpPr>
        <p:spPr>
          <a:xfrm xmlns:a="http://schemas.openxmlformats.org/drawingml/2006/main">
            <a:off x="640080" y="1051560"/>
            <a:ext cx="6400800" cy="54864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Research Seminar</a:t>
            </a:r>
            <a:endParaRPr sz="3000"/>
          </a:p>
        </p:txBody>
      </p:sp>
      <p:sp>
        <p:nvSpPr>
          <p:cNvPr id="4" name="Text 2">
            <a:extLst xmlns:a="http://schemas.openxmlformats.org/drawingml/2006/main">
              <a:ext uri="{FF2B5EF4-FFF2-40B4-BE49-F238E27FC236}">
                <a16:creationId xmlns:a16="http://schemas.microsoft.com/office/drawing/2014/main" id="{4D33717A-AE5B-49C8-B31B-46BF2ABF382A}"/>
              </a:ext>
            </a:extLst>
          </p:cNvPr>
          <p:cNvSpPr>
            <a:spLocks xmlns:a="http://schemas.openxmlformats.org/drawingml/2006/main" noGrp="1"/>
          </p:cNvSpPr>
          <p:nvPr/>
        </p:nvSpPr>
        <p:spPr>
          <a:xfrm xmlns:a="http://schemas.openxmlformats.org/drawingml/2006/main">
            <a:off x="640080" y="1691640"/>
            <a:ext cx="7498080" cy="777240"/>
          </a:xfrm>
          <a:prstGeom xmlns:a="http://schemas.openxmlformats.org/drawingml/2006/main" prst="rect">
            <a:avLst/>
          </a:prstGeom>
          <a:noFill xmlns:a="http://schemas.openxmlformats.org/drawingml/2006/main"/>
        </p:spPr>
        <p:txBody>
          <a:bodyPr xmlns:a="http://schemas.openxmlformats.org/drawingml/2006/main" wrap="square" anchor="t">
            <a:normAutofit fontScale="94450"/>
          </a:bodyPr>
          <a:lstStyle xmlns:a="http://schemas.openxmlformats.org/drawingml/2006/main"/>
          <a:p xmlns:a="http://schemas.openxmlformats.org/drawingml/2006/main">
            <a:pPr marL="0" indent="0">
              <a:lnSpc>
                <a:spcPts val="2200"/>
              </a:lnSpc>
              <a:buNone/>
              <a:defRPr sz="2025" b="1">
                <a:solidFill>
                  <a:srgbClr val="262626"/>
                </a:solidFill>
                <a:latin typeface="Arial"/>
                <a:ea typeface="Arial"/>
                <a:cs typeface="Arial"/>
              </a:defRPr>
            </a:pPr>
            <a:r>
              <a:rPr sz="2025" b="1">
                <a:solidFill>
                  <a:srgbClr val="262626"/>
                </a:solidFill>
                <a:latin typeface="Arial"/>
                <a:ea typeface="Arial"/>
                <a:cs typeface="Arial"/>
              </a:rPr>
              <a:t>A gated MLIP-to-DFT screening cascade for LPSCl modification</a:t>
            </a:r>
            <a:endParaRPr sz="1500"/>
          </a:p>
          <a:p xmlns:a="http://schemas.openxmlformats.org/drawingml/2006/main">
            <a:pPr marL="0" indent="0">
              <a:lnSpc>
                <a:spcPts val="2200"/>
              </a:lnSpc>
              <a:buNone/>
              <a:defRPr sz="2025" b="1">
                <a:solidFill>
                  <a:srgbClr val="262626"/>
                </a:solidFill>
                <a:latin typeface="Arial"/>
                <a:ea typeface="Arial"/>
                <a:cs typeface="Arial"/>
              </a:defRPr>
            </a:pPr>
            <a:r>
              <a:rPr sz="2025" b="1">
                <a:solidFill>
                  <a:srgbClr val="262626"/>
                </a:solidFill>
                <a:latin typeface="Arial"/>
                <a:ea typeface="Arial"/>
                <a:cs typeface="Arial"/>
              </a:rPr>
              <a:t>From curated substitutions to auditable decisions</a:t>
            </a:r>
            <a:endParaRPr sz="1500"/>
          </a:p>
        </p:txBody>
      </p:sp>
      <p:sp>
        <p:nvSpPr>
          <p:cNvPr id="5" name="Text 3">
            <a:extLst xmlns:a="http://schemas.openxmlformats.org/drawingml/2006/main">
              <a:ext uri="{FF2B5EF4-FFF2-40B4-BE49-F238E27FC236}">
                <a16:creationId xmlns:a16="http://schemas.microsoft.com/office/drawing/2014/main" id="{C2927534-6E0A-4DD2-AC35-644EF2B7BEB8}"/>
              </a:ext>
            </a:extLst>
          </p:cNvPr>
          <p:cNvSpPr>
            <a:spLocks xmlns:a="http://schemas.openxmlformats.org/drawingml/2006/main" noGrp="1"/>
          </p:cNvSpPr>
          <p:nvPr/>
        </p:nvSpPr>
        <p:spPr>
          <a:xfrm xmlns:a="http://schemas.openxmlformats.org/drawingml/2006/main">
            <a:off x="640080" y="2697480"/>
            <a:ext cx="4572000" cy="32004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Yonghoon An</a:t>
            </a:r>
            <a:endParaRPr sz="1500"/>
          </a:p>
        </p:txBody>
      </p:sp>
      <p:sp>
        <p:nvSpPr>
          <p:cNvPr id="6" name="Text 4">
            <a:extLst xmlns:a="http://schemas.openxmlformats.org/drawingml/2006/main">
              <a:ext uri="{FF2B5EF4-FFF2-40B4-BE49-F238E27FC236}">
                <a16:creationId xmlns:a16="http://schemas.microsoft.com/office/drawing/2014/main" id="{53AC17EF-A946-4041-BB3D-71490B6FFED7}"/>
              </a:ext>
            </a:extLst>
          </p:cNvPr>
          <p:cNvSpPr>
            <a:spLocks xmlns:a="http://schemas.openxmlformats.org/drawingml/2006/main" noGrp="1"/>
          </p:cNvSpPr>
          <p:nvPr/>
        </p:nvSpPr>
        <p:spPr>
          <a:xfrm xmlns:a="http://schemas.openxmlformats.org/drawingml/2006/main">
            <a:off x="640080" y="3127248"/>
            <a:ext cx="5943600" cy="640080"/>
          </a:xfrm>
          <a:prstGeom xmlns:a="http://schemas.openxmlformats.org/drawingml/2006/main" prst="rect">
            <a:avLst/>
          </a:prstGeom>
          <a:noFill xmlns:a="http://schemas.openxmlformats.org/drawingml/2006/main"/>
        </p:spPr>
        <p:txBody>
          <a:bodyPr xmlns:a="http://schemas.openxmlformats.org/drawingml/2006/main" wrap="square" anchor="t">
            <a:normAutofit fontScale="100000"/>
          </a:bodyPr>
          <a:lstStyle xmlns:a="http://schemas.openxmlformats.org/drawingml/2006/main"/>
          <a:p xmlns:a="http://schemas.openxmlformats.org/drawingml/2006/main">
            <a:pPr marL="0" indent="0">
              <a:lnSpc>
                <a:spcPts val="1800"/>
              </a:lnSpc>
              <a:buNone/>
              <a:defRPr sz="1102">
                <a:solidFill>
                  <a:srgbClr val="7F7F7F"/>
                </a:solidFill>
                <a:latin typeface="Arial"/>
                <a:ea typeface="Arial"/>
                <a:cs typeface="Arial"/>
              </a:defRPr>
            </a:pPr>
            <a:r>
              <a:rPr sz="1102">
                <a:solidFill>
                  <a:srgbClr val="7F7F7F"/>
                </a:solidFill>
                <a:latin typeface="Arial"/>
                <a:ea typeface="Arial"/>
                <a:cs typeface="Arial"/>
              </a:rPr>
              <a:t>Division of Materials Science &amp; Engineering, Hanyang University</a:t>
            </a:r>
            <a:endParaRPr sz="1150"/>
          </a:p>
          <a:p xmlns:a="http://schemas.openxmlformats.org/drawingml/2006/main">
            <a:pPr marL="0" indent="0">
              <a:lnSpc>
                <a:spcPts val="1800"/>
              </a:lnSpc>
              <a:buNone/>
              <a:defRPr sz="1102">
                <a:solidFill>
                  <a:srgbClr val="7F7F7F"/>
                </a:solidFill>
                <a:latin typeface="Arial"/>
                <a:ea typeface="Arial"/>
                <a:cs typeface="Arial"/>
              </a:defRPr>
            </a:pPr>
            <a:r>
              <a:rPr sz="1102">
                <a:solidFill>
                  <a:srgbClr val="7F7F7F"/>
                </a:solidFill>
                <a:latin typeface="Arial"/>
                <a:ea typeface="Arial"/>
                <a:cs typeface="Arial"/>
              </a:rPr>
              <a:t>MLIP screening · physical gates · targeted validation</a:t>
            </a:r>
            <a:endParaRPr sz="1150"/>
          </a:p>
        </p:txBody>
      </p:sp>
      <p:sp>
        <p:nvSpPr>
          <p:cNvPr id="7" name="Text 5">
            <a:extLst xmlns:a="http://schemas.openxmlformats.org/drawingml/2006/main">
              <a:ext uri="{FF2B5EF4-FFF2-40B4-BE49-F238E27FC236}">
                <a16:creationId xmlns:a16="http://schemas.microsoft.com/office/drawing/2014/main" id="{5BD65FD2-A522-4E51-A718-276B93752F71}"/>
              </a:ext>
            </a:extLst>
          </p:cNvPr>
          <p:cNvSpPr>
            <a:spLocks xmlns:a="http://schemas.openxmlformats.org/drawingml/2006/main" noGrp="1"/>
          </p:cNvSpPr>
          <p:nvPr/>
        </p:nvSpPr>
        <p:spPr>
          <a:xfrm xmlns:a="http://schemas.openxmlformats.org/drawingml/2006/main">
            <a:off x="502920" y="6355080"/>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F4E79"/>
                </a:solidFill>
                <a:latin typeface="Arial"/>
                <a:ea typeface="Arial"/>
                <a:cs typeface="Arial"/>
              </a:rPr>
              <a:t>HANYANG UNIVERSITY</a:t>
            </a:r>
            <a:endParaRPr sz="1100"/>
          </a:p>
        </p:txBody>
      </p:sp>
    </p:spTree>
    <p:extLst>
      <p:ext uri="{BB962C8B-B14F-4D97-AF65-F5344CB8AC3E}">
        <p14:creationId xmlns:p14="http://schemas.microsoft.com/office/powerpoint/2010/main" val="86131423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Context</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Sundar et al., Adv. Sci. 2025, Fig. 1</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One repair must survive several sulfide interfaces</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2</a:t>
            </a:r>
            <a:endParaRPr sz="1000"/>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a947111fa31c4ec6"/>
          <a:stretch xmlns:a="http://schemas.openxmlformats.org/drawingml/2006/main"/>
        </p:blipFill>
        <p:spPr>
          <a:xfrm xmlns:a="http://schemas.openxmlformats.org/drawingml/2006/main">
            <a:off x="523875" y="1520276"/>
            <a:ext cx="4762500" cy="2722073"/>
          </a:xfrm>
          <a:prstGeom xmlns:a="http://schemas.openxmlformats.org/drawingml/2006/main" prst="rect">
            <a:avLst/>
          </a:prstGeom>
        </p:spPr>
      </p:pic>
      <p:sp>
        <p:nvSpPr>
          <p:cNvPr id="12" name="s02-ox-box">
            <a:extLst xmlns:a="http://schemas.openxmlformats.org/drawingml/2006/main">
              <a:ext uri="{FF2B5EF4-FFF2-40B4-BE49-F238E27FC236}">
                <a16:creationId xmlns:a16="http://schemas.microsoft.com/office/drawing/2014/main" id="{19389A9E-AC24-4380-B920-7B847EDBC6CF}"/>
              </a:ext>
            </a:extLst>
          </p:cNvPr>
          <p:cNvSpPr>
            <a:spLocks xmlns:a="http://schemas.openxmlformats.org/drawingml/2006/main" noGrp="1"/>
          </p:cNvSpPr>
          <p:nvPr/>
        </p:nvSpPr>
        <p:spPr>
          <a:xfrm xmlns:a="http://schemas.openxmlformats.org/drawingml/2006/main">
            <a:off x="5667375" y="1381125"/>
            <a:ext cx="2714625" cy="781050"/>
          </a:xfrm>
          <a:prstGeom xmlns:a="http://schemas.openxmlformats.org/drawingml/2006/main" prst="roundRect">
            <a:avLst>
              <a:gd name="adj" fmla="val 9756"/>
            </a:avLst>
          </a:prstGeom>
          <a:solidFill xmlns:a="http://schemas.openxmlformats.org/drawingml/2006/main">
            <a:srgbClr val="FBE9E7"/>
          </a:solidFill>
          <a:ln xmlns:a="http://schemas.openxmlformats.org/drawingml/2006/main" w="9525">
            <a:solidFill>
              <a:srgbClr val="D9E1F2"/>
            </a:solidFill>
            <a:prstDash val="solid"/>
          </a:ln>
        </p:spPr>
      </p:sp>
      <p:sp>
        <p:nvSpPr>
          <p:cNvPr id="13" name="s02-ox-accent">
            <a:extLst xmlns:a="http://schemas.openxmlformats.org/drawingml/2006/main">
              <a:ext uri="{FF2B5EF4-FFF2-40B4-BE49-F238E27FC236}">
                <a16:creationId xmlns:a16="http://schemas.microsoft.com/office/drawing/2014/main" id="{171A7B2A-93B5-4058-974B-CA923B4322E7}"/>
              </a:ext>
            </a:extLst>
          </p:cNvPr>
          <p:cNvSpPr>
            <a:spLocks xmlns:a="http://schemas.openxmlformats.org/drawingml/2006/main" noGrp="1"/>
          </p:cNvSpPr>
          <p:nvPr/>
        </p:nvSpPr>
        <p:spPr>
          <a:xfrm xmlns:a="http://schemas.openxmlformats.org/drawingml/2006/main">
            <a:off x="5667375" y="1381125"/>
            <a:ext cx="66675" cy="781050"/>
          </a:xfrm>
          <a:prstGeom xmlns:a="http://schemas.openxmlformats.org/drawingml/2006/main" prst="rect">
            <a:avLst/>
          </a:prstGeom>
          <a:solidFill xmlns:a="http://schemas.openxmlformats.org/drawingml/2006/main">
            <a:srgbClr val="9E2A2B"/>
          </a:solidFill>
          <a:ln xmlns:a="http://schemas.openxmlformats.org/drawingml/2006/main" w="0">
            <a:solidFill>
              <a:srgbClr val="9E2A2B"/>
            </a:solidFill>
            <a:prstDash val="solid"/>
          </a:ln>
        </p:spPr>
      </p:sp>
      <p:sp>
        <p:nvSpPr>
          <p:cNvPr id="14" name="s02-ox-title">
            <a:extLst xmlns:a="http://schemas.openxmlformats.org/drawingml/2006/main">
              <a:ext uri="{FF2B5EF4-FFF2-40B4-BE49-F238E27FC236}">
                <a16:creationId xmlns:a16="http://schemas.microsoft.com/office/drawing/2014/main" id="{2CA0EF27-792B-4CA7-868F-E1BAE255E6E4}"/>
              </a:ext>
            </a:extLst>
          </p:cNvPr>
          <p:cNvSpPr>
            <a:spLocks xmlns:a="http://schemas.openxmlformats.org/drawingml/2006/main" noGrp="1"/>
          </p:cNvSpPr>
          <p:nvPr/>
        </p:nvSpPr>
        <p:spPr>
          <a:xfrm xmlns:a="http://schemas.openxmlformats.org/drawingml/2006/main">
            <a:off x="5800725" y="1457325"/>
            <a:ext cx="24860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88235"/>
          </a:bodyPr>
          <a:lstStyle xmlns:a="http://schemas.openxmlformats.org/drawingml/2006/main"/>
          <a:p xmlns:a="http://schemas.openxmlformats.org/drawingml/2006/main">
            <a:pPr algn="l">
              <a:defRPr sz="1275" b="1" i="0">
                <a:solidFill>
                  <a:srgbClr val="1F4E79"/>
                </a:solidFill>
                <a:latin typeface="Arial"/>
                <a:ea typeface="Arial"/>
                <a:cs typeface="Arial"/>
              </a:defRPr>
            </a:pPr>
            <a:r>
              <a:rPr sz="1275" b="1" i="0">
                <a:solidFill>
                  <a:srgbClr val="1F4E79"/>
                </a:solidFill>
                <a:latin typeface="Arial"/>
                <a:ea typeface="Arial"/>
                <a:cs typeface="Arial"/>
              </a:rPr>
              <a:t>Oxidation</a:t>
            </a:r>
          </a:p>
        </p:txBody>
      </p:sp>
      <p:sp>
        <p:nvSpPr>
          <p:cNvPr id="15" name="s02-ox-body">
            <a:extLst xmlns:a="http://schemas.openxmlformats.org/drawingml/2006/main">
              <a:ext uri="{FF2B5EF4-FFF2-40B4-BE49-F238E27FC236}">
                <a16:creationId xmlns:a16="http://schemas.microsoft.com/office/drawing/2014/main" id="{1482860F-D97F-46FB-B31C-98EDD717A60A}"/>
              </a:ext>
            </a:extLst>
          </p:cNvPr>
          <p:cNvSpPr>
            <a:spLocks xmlns:a="http://schemas.openxmlformats.org/drawingml/2006/main" noGrp="1"/>
          </p:cNvSpPr>
          <p:nvPr/>
        </p:nvSpPr>
        <p:spPr>
          <a:xfrm xmlns:a="http://schemas.openxmlformats.org/drawingml/2006/main">
            <a:off x="5800725" y="1752600"/>
            <a:ext cx="24860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938" b="0" i="0">
                <a:solidFill>
                  <a:srgbClr val="262626"/>
                </a:solidFill>
                <a:latin typeface="Arial"/>
                <a:ea typeface="Arial"/>
                <a:cs typeface="Arial"/>
              </a:defRPr>
            </a:pPr>
            <a:r>
              <a:rPr sz="938" b="0" i="0">
                <a:solidFill>
                  <a:srgbClr val="262626"/>
                </a:solidFill>
                <a:latin typeface="Arial"/>
                <a:ea typeface="Arial"/>
                <a:cs typeface="Arial"/>
              </a:rPr>
              <a:t>S-derived states limit the cathode side.</a:t>
            </a:r>
          </a:p>
        </p:txBody>
      </p:sp>
      <p:sp>
        <p:nvSpPr>
          <p:cNvPr id="16" name="s02-int-box">
            <a:extLst xmlns:a="http://schemas.openxmlformats.org/drawingml/2006/main">
              <a:ext uri="{FF2B5EF4-FFF2-40B4-BE49-F238E27FC236}">
                <a16:creationId xmlns:a16="http://schemas.microsoft.com/office/drawing/2014/main" id="{7C598B59-A759-49D0-AA96-F0C46E679D6D}"/>
              </a:ext>
            </a:extLst>
          </p:cNvPr>
          <p:cNvSpPr>
            <a:spLocks xmlns:a="http://schemas.openxmlformats.org/drawingml/2006/main" noGrp="1"/>
          </p:cNvSpPr>
          <p:nvPr/>
        </p:nvSpPr>
        <p:spPr>
          <a:xfrm xmlns:a="http://schemas.openxmlformats.org/drawingml/2006/main">
            <a:off x="5667375" y="2286000"/>
            <a:ext cx="2714625" cy="781050"/>
          </a:xfrm>
          <a:prstGeom xmlns:a="http://schemas.openxmlformats.org/drawingml/2006/main" prst="roundRect">
            <a:avLst>
              <a:gd name="adj" fmla="val 9756"/>
            </a:avLst>
          </a:prstGeom>
          <a:solidFill xmlns:a="http://schemas.openxmlformats.org/drawingml/2006/main">
            <a:srgbClr val="FFF4E0"/>
          </a:solidFill>
          <a:ln xmlns:a="http://schemas.openxmlformats.org/drawingml/2006/main" w="9525">
            <a:solidFill>
              <a:srgbClr val="D9E1F2"/>
            </a:solidFill>
            <a:prstDash val="solid"/>
          </a:ln>
        </p:spPr>
      </p:sp>
      <p:sp>
        <p:nvSpPr>
          <p:cNvPr id="17" name="s02-int-accent">
            <a:extLst xmlns:a="http://schemas.openxmlformats.org/drawingml/2006/main">
              <a:ext uri="{FF2B5EF4-FFF2-40B4-BE49-F238E27FC236}">
                <a16:creationId xmlns:a16="http://schemas.microsoft.com/office/drawing/2014/main" id="{E4C50D37-3A08-4492-9FC5-7ABAD5006962}"/>
              </a:ext>
            </a:extLst>
          </p:cNvPr>
          <p:cNvSpPr>
            <a:spLocks xmlns:a="http://schemas.openxmlformats.org/drawingml/2006/main" noGrp="1"/>
          </p:cNvSpPr>
          <p:nvPr/>
        </p:nvSpPr>
        <p:spPr>
          <a:xfrm xmlns:a="http://schemas.openxmlformats.org/drawingml/2006/main">
            <a:off x="5667375" y="2286000"/>
            <a:ext cx="66675" cy="781050"/>
          </a:xfrm>
          <a:prstGeom xmlns:a="http://schemas.openxmlformats.org/drawingml/2006/main" prst="rect">
            <a:avLst/>
          </a:prstGeom>
          <a:solidFill xmlns:a="http://schemas.openxmlformats.org/drawingml/2006/main">
            <a:srgbClr val="B26A00"/>
          </a:solidFill>
          <a:ln xmlns:a="http://schemas.openxmlformats.org/drawingml/2006/main" w="0">
            <a:solidFill>
              <a:srgbClr val="B26A00"/>
            </a:solidFill>
            <a:prstDash val="solid"/>
          </a:ln>
        </p:spPr>
      </p:sp>
      <p:sp>
        <p:nvSpPr>
          <p:cNvPr id="18" name="s02-int-title">
            <a:extLst xmlns:a="http://schemas.openxmlformats.org/drawingml/2006/main">
              <a:ext uri="{FF2B5EF4-FFF2-40B4-BE49-F238E27FC236}">
                <a16:creationId xmlns:a16="http://schemas.microsoft.com/office/drawing/2014/main" id="{E3051B17-BEBE-405D-9D34-DA471A70C0BD}"/>
              </a:ext>
            </a:extLst>
          </p:cNvPr>
          <p:cNvSpPr>
            <a:spLocks xmlns:a="http://schemas.openxmlformats.org/drawingml/2006/main" noGrp="1"/>
          </p:cNvSpPr>
          <p:nvPr/>
        </p:nvSpPr>
        <p:spPr>
          <a:xfrm xmlns:a="http://schemas.openxmlformats.org/drawingml/2006/main">
            <a:off x="5800725" y="2362200"/>
            <a:ext cx="24860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88235"/>
          </a:bodyPr>
          <a:lstStyle xmlns:a="http://schemas.openxmlformats.org/drawingml/2006/main"/>
          <a:p xmlns:a="http://schemas.openxmlformats.org/drawingml/2006/main">
            <a:pPr algn="l">
              <a:defRPr sz="1275" b="1" i="0">
                <a:solidFill>
                  <a:srgbClr val="1F4E79"/>
                </a:solidFill>
                <a:latin typeface="Arial"/>
                <a:ea typeface="Arial"/>
                <a:cs typeface="Arial"/>
              </a:defRPr>
            </a:pPr>
            <a:r>
              <a:rPr sz="1275" b="1" i="0">
                <a:solidFill>
                  <a:srgbClr val="1F4E79"/>
                </a:solidFill>
                <a:latin typeface="Arial"/>
                <a:ea typeface="Arial"/>
                <a:cs typeface="Arial"/>
              </a:rPr>
              <a:t>Interface</a:t>
            </a:r>
          </a:p>
        </p:txBody>
      </p:sp>
      <p:sp>
        <p:nvSpPr>
          <p:cNvPr id="19" name="s02-int-body">
            <a:extLst xmlns:a="http://schemas.openxmlformats.org/drawingml/2006/main">
              <a:ext uri="{FF2B5EF4-FFF2-40B4-BE49-F238E27FC236}">
                <a16:creationId xmlns:a16="http://schemas.microsoft.com/office/drawing/2014/main" id="{1C3B75E1-0CB2-43D1-88BB-EA24EA44C196}"/>
              </a:ext>
            </a:extLst>
          </p:cNvPr>
          <p:cNvSpPr>
            <a:spLocks xmlns:a="http://schemas.openxmlformats.org/drawingml/2006/main" noGrp="1"/>
          </p:cNvSpPr>
          <p:nvPr/>
        </p:nvSpPr>
        <p:spPr>
          <a:xfrm xmlns:a="http://schemas.openxmlformats.org/drawingml/2006/main">
            <a:off x="5800725" y="2657475"/>
            <a:ext cx="24860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80329"/>
          </a:bodyPr>
          <a:lstStyle xmlns:a="http://schemas.openxmlformats.org/drawingml/2006/main"/>
          <a:p xmlns:a="http://schemas.openxmlformats.org/drawingml/2006/main">
            <a:pPr algn="l">
              <a:defRPr sz="938" b="0" i="0">
                <a:solidFill>
                  <a:srgbClr val="262626"/>
                </a:solidFill>
                <a:latin typeface="Arial"/>
                <a:ea typeface="Arial"/>
                <a:cs typeface="Arial"/>
              </a:defRPr>
            </a:pPr>
            <a:r>
              <a:rPr sz="938" b="0" i="0">
                <a:solidFill>
                  <a:srgbClr val="262626"/>
                </a:solidFill>
                <a:latin typeface="Arial"/>
                <a:ea typeface="Arial"/>
                <a:cs typeface="Arial"/>
              </a:rPr>
              <a:t>One coating meets Li, LPSCl, and cathode chemistries.</a:t>
            </a:r>
          </a:p>
        </p:txBody>
      </p:sp>
      <p:sp>
        <p:nvSpPr>
          <p:cNvPr id="20" name="s02-mech-box">
            <a:extLst xmlns:a="http://schemas.openxmlformats.org/drawingml/2006/main">
              <a:ext uri="{FF2B5EF4-FFF2-40B4-BE49-F238E27FC236}">
                <a16:creationId xmlns:a16="http://schemas.microsoft.com/office/drawing/2014/main" id="{BB414E60-74A9-4A43-A54E-81141F563CD8}"/>
              </a:ext>
            </a:extLst>
          </p:cNvPr>
          <p:cNvSpPr>
            <a:spLocks xmlns:a="http://schemas.openxmlformats.org/drawingml/2006/main" noGrp="1"/>
          </p:cNvSpPr>
          <p:nvPr/>
        </p:nvSpPr>
        <p:spPr>
          <a:xfrm xmlns:a="http://schemas.openxmlformats.org/drawingml/2006/main">
            <a:off x="5667375" y="3190875"/>
            <a:ext cx="2714625" cy="781050"/>
          </a:xfrm>
          <a:prstGeom xmlns:a="http://schemas.openxmlformats.org/drawingml/2006/main" prst="roundRect">
            <a:avLst>
              <a:gd name="adj" fmla="val 9756"/>
            </a:avLst>
          </a:prstGeom>
          <a:solidFill xmlns:a="http://schemas.openxmlformats.org/drawingml/2006/main">
            <a:srgbClr val="F3F7FB"/>
          </a:solidFill>
          <a:ln xmlns:a="http://schemas.openxmlformats.org/drawingml/2006/main" w="9525">
            <a:solidFill>
              <a:srgbClr val="D9E1F2"/>
            </a:solidFill>
            <a:prstDash val="solid"/>
          </a:ln>
        </p:spPr>
      </p:sp>
      <p:sp>
        <p:nvSpPr>
          <p:cNvPr id="21" name="s02-mech-accent">
            <a:extLst xmlns:a="http://schemas.openxmlformats.org/drawingml/2006/main">
              <a:ext uri="{FF2B5EF4-FFF2-40B4-BE49-F238E27FC236}">
                <a16:creationId xmlns:a16="http://schemas.microsoft.com/office/drawing/2014/main" id="{A62E6762-E2FD-4ACC-854C-8F2810F3AD30}"/>
              </a:ext>
            </a:extLst>
          </p:cNvPr>
          <p:cNvSpPr>
            <a:spLocks xmlns:a="http://schemas.openxmlformats.org/drawingml/2006/main" noGrp="1"/>
          </p:cNvSpPr>
          <p:nvPr/>
        </p:nvSpPr>
        <p:spPr>
          <a:xfrm xmlns:a="http://schemas.openxmlformats.org/drawingml/2006/main">
            <a:off x="5667375" y="3190875"/>
            <a:ext cx="66675" cy="781050"/>
          </a:xfrm>
          <a:prstGeom xmlns:a="http://schemas.openxmlformats.org/drawingml/2006/main" prst="rect">
            <a:avLst/>
          </a:prstGeom>
          <a:solidFill xmlns:a="http://schemas.openxmlformats.org/drawingml/2006/main">
            <a:srgbClr val="0070C0"/>
          </a:solidFill>
          <a:ln xmlns:a="http://schemas.openxmlformats.org/drawingml/2006/main" w="0">
            <a:solidFill>
              <a:srgbClr val="0070C0"/>
            </a:solidFill>
            <a:prstDash val="solid"/>
          </a:ln>
        </p:spPr>
      </p:sp>
      <p:sp>
        <p:nvSpPr>
          <p:cNvPr id="22" name="s02-mech-title">
            <a:extLst xmlns:a="http://schemas.openxmlformats.org/drawingml/2006/main">
              <a:ext uri="{FF2B5EF4-FFF2-40B4-BE49-F238E27FC236}">
                <a16:creationId xmlns:a16="http://schemas.microsoft.com/office/drawing/2014/main" id="{FA4CFB58-F5F1-4772-90BB-4A859EA565BB}"/>
              </a:ext>
            </a:extLst>
          </p:cNvPr>
          <p:cNvSpPr>
            <a:spLocks xmlns:a="http://schemas.openxmlformats.org/drawingml/2006/main" noGrp="1"/>
          </p:cNvSpPr>
          <p:nvPr/>
        </p:nvSpPr>
        <p:spPr>
          <a:xfrm xmlns:a="http://schemas.openxmlformats.org/drawingml/2006/main">
            <a:off x="5800725" y="3267075"/>
            <a:ext cx="24860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88235"/>
          </a:bodyPr>
          <a:lstStyle xmlns:a="http://schemas.openxmlformats.org/drawingml/2006/main"/>
          <a:p xmlns:a="http://schemas.openxmlformats.org/drawingml/2006/main">
            <a:pPr algn="l">
              <a:defRPr sz="1275" b="1" i="0">
                <a:solidFill>
                  <a:srgbClr val="1F4E79"/>
                </a:solidFill>
                <a:latin typeface="Arial"/>
                <a:ea typeface="Arial"/>
                <a:cs typeface="Arial"/>
              </a:defRPr>
            </a:pPr>
            <a:r>
              <a:rPr sz="1275" b="1" i="0">
                <a:solidFill>
                  <a:srgbClr val="1F4E79"/>
                </a:solidFill>
                <a:latin typeface="Arial"/>
                <a:ea typeface="Arial"/>
                <a:cs typeface="Arial"/>
              </a:rPr>
              <a:t>Contact &amp; mechanics</a:t>
            </a:r>
          </a:p>
        </p:txBody>
      </p:sp>
      <p:sp>
        <p:nvSpPr>
          <p:cNvPr id="23" name="s02-mech-body">
            <a:extLst xmlns:a="http://schemas.openxmlformats.org/drawingml/2006/main">
              <a:ext uri="{FF2B5EF4-FFF2-40B4-BE49-F238E27FC236}">
                <a16:creationId xmlns:a16="http://schemas.microsoft.com/office/drawing/2014/main" id="{5FFEBD10-F381-47A4-8C3D-B921F26E540D}"/>
              </a:ext>
            </a:extLst>
          </p:cNvPr>
          <p:cNvSpPr>
            <a:spLocks xmlns:a="http://schemas.openxmlformats.org/drawingml/2006/main" noGrp="1"/>
          </p:cNvSpPr>
          <p:nvPr/>
        </p:nvSpPr>
        <p:spPr>
          <a:xfrm xmlns:a="http://schemas.openxmlformats.org/drawingml/2006/main">
            <a:off x="5800725" y="3562350"/>
            <a:ext cx="24860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86646"/>
          </a:bodyPr>
          <a:lstStyle xmlns:a="http://schemas.openxmlformats.org/drawingml/2006/main"/>
          <a:p xmlns:a="http://schemas.openxmlformats.org/drawingml/2006/main">
            <a:pPr algn="l">
              <a:defRPr sz="938" b="0" i="0">
                <a:solidFill>
                  <a:srgbClr val="262626"/>
                </a:solidFill>
                <a:latin typeface="Arial"/>
                <a:ea typeface="Arial"/>
                <a:cs typeface="Arial"/>
              </a:defRPr>
            </a:pPr>
            <a:r>
              <a:rPr sz="938" b="0" i="0">
                <a:solidFill>
                  <a:srgbClr val="262626"/>
                </a:solidFill>
                <a:latin typeface="Arial"/>
                <a:ea typeface="Arial"/>
                <a:cs typeface="Arial"/>
              </a:rPr>
              <a:t>Pressure and particle contact change the response.</a:t>
            </a:r>
          </a:p>
        </p:txBody>
      </p:sp>
      <p:sp>
        <p:nvSpPr>
          <p:cNvPr id="24" name="s02-cite">
            <a:extLst xmlns:a="http://schemas.openxmlformats.org/drawingml/2006/main">
              <a:ext uri="{FF2B5EF4-FFF2-40B4-BE49-F238E27FC236}">
                <a16:creationId xmlns:a16="http://schemas.microsoft.com/office/drawing/2014/main" id="{3C4BF861-4762-4BC4-A357-E7A6A84E13E5}"/>
              </a:ext>
            </a:extLst>
          </p:cNvPr>
          <p:cNvSpPr>
            <a:spLocks xmlns:a="http://schemas.openxmlformats.org/drawingml/2006/main" noGrp="1"/>
          </p:cNvSpPr>
          <p:nvPr/>
        </p:nvSpPr>
        <p:spPr>
          <a:xfrm xmlns:a="http://schemas.openxmlformats.org/drawingml/2006/main">
            <a:off x="809625" y="4352925"/>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788" b="0" i="1">
                <a:solidFill>
                  <a:srgbClr val="7F7F7F"/>
                </a:solidFill>
                <a:latin typeface="Arial"/>
                <a:ea typeface="Arial"/>
                <a:cs typeface="Arial"/>
              </a:defRPr>
            </a:pPr>
            <a:r>
              <a:rPr sz="788" b="0" i="1">
                <a:solidFill>
                  <a:srgbClr val="7F7F7F"/>
                </a:solidFill>
                <a:latin typeface="Arial"/>
                <a:ea typeface="Arial"/>
                <a:cs typeface="Arial"/>
              </a:rPr>
              <a:t>Literature schematic; coating ≠ lattice substitution</a:t>
            </a:r>
          </a:p>
        </p:txBody>
      </p:sp>
      <p:sp>
        <p:nvSpPr>
          <p:cNvPr id="25" name="s02-repair">
            <a:extLst xmlns:a="http://schemas.openxmlformats.org/drawingml/2006/main">
              <a:ext uri="{FF2B5EF4-FFF2-40B4-BE49-F238E27FC236}">
                <a16:creationId xmlns:a16="http://schemas.microsoft.com/office/drawing/2014/main" id="{7FB9E13A-0DE3-4C48-BCAD-8BD77328B3A6}"/>
              </a:ext>
            </a:extLst>
          </p:cNvPr>
          <p:cNvSpPr>
            <a:spLocks xmlns:a="http://schemas.openxmlformats.org/drawingml/2006/main" noGrp="1"/>
          </p:cNvSpPr>
          <p:nvPr/>
        </p:nvSpPr>
        <p:spPr>
          <a:xfrm xmlns:a="http://schemas.openxmlformats.org/drawingml/2006/main">
            <a:off x="1000125" y="4905375"/>
            <a:ext cx="7143750" cy="419100"/>
          </a:xfrm>
          <a:prstGeom xmlns:a="http://schemas.openxmlformats.org/drawingml/2006/main" prst="rect">
            <a:avLst/>
          </a:prstGeom>
          <a:solidFill xmlns:a="http://schemas.openxmlformats.org/drawingml/2006/main">
            <a:srgbClr val="F2F2F2"/>
          </a:solidFill>
          <a:ln xmlns:a="http://schemas.openxmlformats.org/drawingml/2006/main" w="9525">
            <a:solidFill>
              <a:srgbClr val="D9E1F2"/>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238" b="1" i="0">
                <a:solidFill>
                  <a:srgbClr val="1F4E79"/>
                </a:solidFill>
                <a:latin typeface="Arial"/>
                <a:ea typeface="Arial"/>
                <a:cs typeface="Arial"/>
              </a:defRPr>
            </a:pPr>
            <a:r>
              <a:rPr sz="1238" b="1" i="0">
                <a:solidFill>
                  <a:srgbClr val="1F4E79"/>
                </a:solidFill>
                <a:latin typeface="Arial"/>
                <a:ea typeface="Arial"/>
                <a:cs typeface="Arial"/>
              </a:rPr>
              <a:t>Coating     Substitution     Composite     Processing</a:t>
            </a:r>
          </a:p>
        </p:txBody>
      </p:sp>
      <p:sp>
        <p:nvSpPr>
          <p:cNvPr id="26" name="s02-take">
            <a:extLst xmlns:a="http://schemas.openxmlformats.org/drawingml/2006/main">
              <a:ext uri="{FF2B5EF4-FFF2-40B4-BE49-F238E27FC236}">
                <a16:creationId xmlns:a16="http://schemas.microsoft.com/office/drawing/2014/main" id="{199134C8-9E0E-4649-BAE3-77266177B030}"/>
              </a:ext>
            </a:extLst>
          </p:cNvPr>
          <p:cNvSpPr>
            <a:spLocks xmlns:a="http://schemas.openxmlformats.org/drawingml/2006/main" noGrp="1"/>
          </p:cNvSpPr>
          <p:nvPr/>
        </p:nvSpPr>
        <p:spPr>
          <a:xfrm xmlns:a="http://schemas.openxmlformats.org/drawingml/2006/main">
            <a:off x="1143000" y="5553075"/>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500" b="1" i="0">
                <a:solidFill>
                  <a:srgbClr val="9E2A2B"/>
                </a:solidFill>
                <a:latin typeface="Arial"/>
                <a:ea typeface="Arial"/>
                <a:cs typeface="Arial"/>
              </a:defRPr>
            </a:pPr>
            <a:r>
              <a:rPr sz="1500" b="1" i="0">
                <a:solidFill>
                  <a:srgbClr val="9E2A2B"/>
                </a:solidFill>
                <a:latin typeface="Arial"/>
                <a:ea typeface="Arial"/>
                <a:cs typeface="Arial"/>
              </a:rPr>
              <a:t>There is no single repair knob — and no single screening metric.</a:t>
            </a:r>
          </a:p>
        </p:txBody>
      </p:sp>
    </p:spTree>
    <p:extLst>
      <p:ext uri="{BB962C8B-B14F-4D97-AF65-F5344CB8AC3E}">
        <p14:creationId xmlns:p14="http://schemas.microsoft.com/office/powerpoint/2010/main" val="1396119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Motivation</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Campaign design record</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Substitution turns one material into hundreds of decisions</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3</a:t>
            </a:r>
            <a:endParaRPr sz="1000"/>
          </a:p>
        </p:txBody>
      </p:sp>
      <p:sp>
        <p:nvSpPr>
          <p:cNvPr id="11" name="s03-f0-box">
            <a:extLst xmlns:a="http://schemas.openxmlformats.org/drawingml/2006/main">
              <a:ext uri="{FF2B5EF4-FFF2-40B4-BE49-F238E27FC236}">
                <a16:creationId xmlns:a16="http://schemas.microsoft.com/office/drawing/2014/main" id="{01AC4906-7E07-4EE6-89DD-1DC4CAAB7B8C}"/>
              </a:ext>
            </a:extLst>
          </p:cNvPr>
          <p:cNvSpPr>
            <a:spLocks xmlns:a="http://schemas.openxmlformats.org/drawingml/2006/main" noGrp="1"/>
          </p:cNvSpPr>
          <p:nvPr/>
        </p:nvSpPr>
        <p:spPr>
          <a:xfrm xmlns:a="http://schemas.openxmlformats.org/drawingml/2006/main">
            <a:off x="685800" y="1619250"/>
            <a:ext cx="1809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1F2"/>
            </a:solidFill>
            <a:prstDash val="solid"/>
          </a:ln>
        </p:spPr>
      </p:sp>
      <p:sp>
        <p:nvSpPr>
          <p:cNvPr id="12" name="s03-f0-accent">
            <a:extLst xmlns:a="http://schemas.openxmlformats.org/drawingml/2006/main">
              <a:ext uri="{FF2B5EF4-FFF2-40B4-BE49-F238E27FC236}">
                <a16:creationId xmlns:a16="http://schemas.microsoft.com/office/drawing/2014/main" id="{B2EE982A-1CB8-40A2-B087-73E6057D11F8}"/>
              </a:ext>
            </a:extLst>
          </p:cNvPr>
          <p:cNvSpPr>
            <a:spLocks xmlns:a="http://schemas.openxmlformats.org/drawingml/2006/main" noGrp="1"/>
          </p:cNvSpPr>
          <p:nvPr/>
        </p:nvSpPr>
        <p:spPr>
          <a:xfrm xmlns:a="http://schemas.openxmlformats.org/drawingml/2006/main">
            <a:off x="685800" y="1619250"/>
            <a:ext cx="66675" cy="10668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3" name="s03-f0-title">
            <a:extLst xmlns:a="http://schemas.openxmlformats.org/drawingml/2006/main">
              <a:ext uri="{FF2B5EF4-FFF2-40B4-BE49-F238E27FC236}">
                <a16:creationId xmlns:a16="http://schemas.microsoft.com/office/drawing/2014/main" id="{1FBD11F0-4200-4160-B05B-74E09C9DCB67}"/>
              </a:ext>
            </a:extLst>
          </p:cNvPr>
          <p:cNvSpPr>
            <a:spLocks xmlns:a="http://schemas.openxmlformats.org/drawingml/2006/main" noGrp="1"/>
          </p:cNvSpPr>
          <p:nvPr/>
        </p:nvSpPr>
        <p:spPr>
          <a:xfrm xmlns:a="http://schemas.openxmlformats.org/drawingml/2006/main">
            <a:off x="819150" y="169545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88235"/>
          </a:bodyPr>
          <a:lstStyle xmlns:a="http://schemas.openxmlformats.org/drawingml/2006/main"/>
          <a:p xmlns:a="http://schemas.openxmlformats.org/drawingml/2006/main">
            <a:pPr algn="l">
              <a:defRPr sz="1275" b="1" i="0">
                <a:solidFill>
                  <a:srgbClr val="1F4E79"/>
                </a:solidFill>
                <a:latin typeface="Arial"/>
                <a:ea typeface="Arial"/>
                <a:cs typeface="Arial"/>
              </a:defRPr>
            </a:pPr>
            <a:r>
              <a:rPr sz="1275" b="1" i="0">
                <a:solidFill>
                  <a:srgbClr val="1F4E79"/>
                </a:solidFill>
                <a:latin typeface="Arial"/>
                <a:ea typeface="Arial"/>
                <a:cs typeface="Arial"/>
              </a:rPr>
              <a:t>Dopant chemistry</a:t>
            </a:r>
          </a:p>
        </p:txBody>
      </p:sp>
      <p:sp>
        <p:nvSpPr>
          <p:cNvPr id="14" name="s03-f0-body">
            <a:extLst xmlns:a="http://schemas.openxmlformats.org/drawingml/2006/main">
              <a:ext uri="{FF2B5EF4-FFF2-40B4-BE49-F238E27FC236}">
                <a16:creationId xmlns:a16="http://schemas.microsoft.com/office/drawing/2014/main" id="{B4F8AFFD-A7FC-40F7-8C58-96F995695039}"/>
              </a:ext>
            </a:extLst>
          </p:cNvPr>
          <p:cNvSpPr>
            <a:spLocks xmlns:a="http://schemas.openxmlformats.org/drawingml/2006/main" noGrp="1"/>
          </p:cNvSpPr>
          <p:nvPr/>
        </p:nvSpPr>
        <p:spPr>
          <a:xfrm xmlns:a="http://schemas.openxmlformats.org/drawingml/2006/main">
            <a:off x="819150" y="1990725"/>
            <a:ext cx="1581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938" b="0" i="0">
                <a:solidFill>
                  <a:srgbClr val="262626"/>
                </a:solidFill>
                <a:latin typeface="Arial"/>
                <a:ea typeface="Arial"/>
                <a:cs typeface="Arial"/>
              </a:defRPr>
            </a:pPr>
            <a:r>
              <a:rPr sz="938" b="0" i="0">
                <a:solidFill>
                  <a:srgbClr val="262626"/>
                </a:solidFill>
                <a:latin typeface="Arial"/>
                <a:ea typeface="Arial"/>
                <a:cs typeface="Arial"/>
              </a:rPr>
              <a:t>Which element or compound?</a:t>
            </a:r>
          </a:p>
        </p:txBody>
      </p:sp>
      <p:sp>
        <p:nvSpPr>
          <p:cNvPr id="15" name="s03-f1-box">
            <a:extLst xmlns:a="http://schemas.openxmlformats.org/drawingml/2006/main">
              <a:ext uri="{FF2B5EF4-FFF2-40B4-BE49-F238E27FC236}">
                <a16:creationId xmlns:a16="http://schemas.microsoft.com/office/drawing/2014/main" id="{0FA703F3-AD2D-455F-8DCE-4AAC411334C2}"/>
              </a:ext>
            </a:extLst>
          </p:cNvPr>
          <p:cNvSpPr>
            <a:spLocks xmlns:a="http://schemas.openxmlformats.org/drawingml/2006/main" noGrp="1"/>
          </p:cNvSpPr>
          <p:nvPr/>
        </p:nvSpPr>
        <p:spPr>
          <a:xfrm xmlns:a="http://schemas.openxmlformats.org/drawingml/2006/main">
            <a:off x="2705100" y="1619250"/>
            <a:ext cx="1809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1F2"/>
            </a:solidFill>
            <a:prstDash val="solid"/>
          </a:ln>
        </p:spPr>
      </p:sp>
      <p:sp>
        <p:nvSpPr>
          <p:cNvPr id="16" name="s03-f1-accent">
            <a:extLst xmlns:a="http://schemas.openxmlformats.org/drawingml/2006/main">
              <a:ext uri="{FF2B5EF4-FFF2-40B4-BE49-F238E27FC236}">
                <a16:creationId xmlns:a16="http://schemas.microsoft.com/office/drawing/2014/main" id="{87063D76-E6B8-43A3-B0B6-F04D40003E25}"/>
              </a:ext>
            </a:extLst>
          </p:cNvPr>
          <p:cNvSpPr>
            <a:spLocks xmlns:a="http://schemas.openxmlformats.org/drawingml/2006/main" noGrp="1"/>
          </p:cNvSpPr>
          <p:nvPr/>
        </p:nvSpPr>
        <p:spPr>
          <a:xfrm xmlns:a="http://schemas.openxmlformats.org/drawingml/2006/main">
            <a:off x="2705100" y="1619250"/>
            <a:ext cx="66675" cy="1066800"/>
          </a:xfrm>
          <a:prstGeom xmlns:a="http://schemas.openxmlformats.org/drawingml/2006/main" prst="rect">
            <a:avLst/>
          </a:prstGeom>
          <a:solidFill xmlns:a="http://schemas.openxmlformats.org/drawingml/2006/main">
            <a:srgbClr val="0070C0"/>
          </a:solidFill>
          <a:ln xmlns:a="http://schemas.openxmlformats.org/drawingml/2006/main" w="0">
            <a:solidFill>
              <a:srgbClr val="0070C0"/>
            </a:solidFill>
            <a:prstDash val="solid"/>
          </a:ln>
        </p:spPr>
      </p:sp>
      <p:sp>
        <p:nvSpPr>
          <p:cNvPr id="17" name="s03-f1-title">
            <a:extLst xmlns:a="http://schemas.openxmlformats.org/drawingml/2006/main">
              <a:ext uri="{FF2B5EF4-FFF2-40B4-BE49-F238E27FC236}">
                <a16:creationId xmlns:a16="http://schemas.microsoft.com/office/drawing/2014/main" id="{F91044E4-6182-4DF3-B15C-4FCEFE21E63D}"/>
              </a:ext>
            </a:extLst>
          </p:cNvPr>
          <p:cNvSpPr>
            <a:spLocks xmlns:a="http://schemas.openxmlformats.org/drawingml/2006/main" noGrp="1"/>
          </p:cNvSpPr>
          <p:nvPr/>
        </p:nvSpPr>
        <p:spPr>
          <a:xfrm xmlns:a="http://schemas.openxmlformats.org/drawingml/2006/main">
            <a:off x="2838450" y="169545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88235"/>
          </a:bodyPr>
          <a:lstStyle xmlns:a="http://schemas.openxmlformats.org/drawingml/2006/main"/>
          <a:p xmlns:a="http://schemas.openxmlformats.org/drawingml/2006/main">
            <a:pPr algn="l">
              <a:defRPr sz="1275" b="1" i="0">
                <a:solidFill>
                  <a:srgbClr val="1F4E79"/>
                </a:solidFill>
                <a:latin typeface="Arial"/>
                <a:ea typeface="Arial"/>
                <a:cs typeface="Arial"/>
              </a:defRPr>
            </a:pPr>
            <a:r>
              <a:rPr sz="1275" b="1" i="0">
                <a:solidFill>
                  <a:srgbClr val="1F4E79"/>
                </a:solidFill>
                <a:latin typeface="Arial"/>
                <a:ea typeface="Arial"/>
                <a:cs typeface="Arial"/>
              </a:rPr>
              <a:t>Campaign label</a:t>
            </a:r>
          </a:p>
        </p:txBody>
      </p:sp>
      <p:sp>
        <p:nvSpPr>
          <p:cNvPr id="18" name="s03-f1-body">
            <a:extLst xmlns:a="http://schemas.openxmlformats.org/drawingml/2006/main">
              <a:ext uri="{FF2B5EF4-FFF2-40B4-BE49-F238E27FC236}">
                <a16:creationId xmlns:a16="http://schemas.microsoft.com/office/drawing/2014/main" id="{F983F18C-48E6-4A65-BBC6-3D8D8DDA0144}"/>
              </a:ext>
            </a:extLst>
          </p:cNvPr>
          <p:cNvSpPr>
            <a:spLocks xmlns:a="http://schemas.openxmlformats.org/drawingml/2006/main" noGrp="1"/>
          </p:cNvSpPr>
          <p:nvPr/>
        </p:nvSpPr>
        <p:spPr>
          <a:xfrm xmlns:a="http://schemas.openxmlformats.org/drawingml/2006/main">
            <a:off x="2838450" y="1990725"/>
            <a:ext cx="1581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938" b="0" i="0">
                <a:solidFill>
                  <a:srgbClr val="262626"/>
                </a:solidFill>
                <a:latin typeface="Arial"/>
                <a:ea typeface="Arial"/>
                <a:cs typeface="Arial"/>
              </a:defRPr>
            </a:pPr>
            <a:r>
              <a:rPr sz="938" b="0" i="0">
                <a:solidFill>
                  <a:srgbClr val="262626"/>
                </a:solidFill>
                <a:latin typeface="Arial"/>
                <a:ea typeface="Arial"/>
                <a:cs typeface="Arial"/>
              </a:rPr>
              <a:t>x002 / x005 / x010; actual x unresolved</a:t>
            </a:r>
          </a:p>
        </p:txBody>
      </p:sp>
      <p:sp>
        <p:nvSpPr>
          <p:cNvPr id="19" name="s03-f2-box">
            <a:extLst xmlns:a="http://schemas.openxmlformats.org/drawingml/2006/main">
              <a:ext uri="{FF2B5EF4-FFF2-40B4-BE49-F238E27FC236}">
                <a16:creationId xmlns:a16="http://schemas.microsoft.com/office/drawing/2014/main" id="{5A1A5EBA-C212-465C-A89E-163D777724AB}"/>
              </a:ext>
            </a:extLst>
          </p:cNvPr>
          <p:cNvSpPr>
            <a:spLocks xmlns:a="http://schemas.openxmlformats.org/drawingml/2006/main" noGrp="1"/>
          </p:cNvSpPr>
          <p:nvPr/>
        </p:nvSpPr>
        <p:spPr>
          <a:xfrm xmlns:a="http://schemas.openxmlformats.org/drawingml/2006/main">
            <a:off x="4724400" y="1619250"/>
            <a:ext cx="1809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1F2"/>
            </a:solidFill>
            <a:prstDash val="solid"/>
          </a:ln>
        </p:spPr>
      </p:sp>
      <p:sp>
        <p:nvSpPr>
          <p:cNvPr id="20" name="s03-f2-accent">
            <a:extLst xmlns:a="http://schemas.openxmlformats.org/drawingml/2006/main">
              <a:ext uri="{FF2B5EF4-FFF2-40B4-BE49-F238E27FC236}">
                <a16:creationId xmlns:a16="http://schemas.microsoft.com/office/drawing/2014/main" id="{0B9DE672-8917-423F-B1B2-5E39417E857C}"/>
              </a:ext>
            </a:extLst>
          </p:cNvPr>
          <p:cNvSpPr>
            <a:spLocks xmlns:a="http://schemas.openxmlformats.org/drawingml/2006/main" noGrp="1"/>
          </p:cNvSpPr>
          <p:nvPr/>
        </p:nvSpPr>
        <p:spPr>
          <a:xfrm xmlns:a="http://schemas.openxmlformats.org/drawingml/2006/main">
            <a:off x="4724400" y="1619250"/>
            <a:ext cx="66675" cy="1066800"/>
          </a:xfrm>
          <a:prstGeom xmlns:a="http://schemas.openxmlformats.org/drawingml/2006/main" prst="rect">
            <a:avLst/>
          </a:prstGeom>
          <a:solidFill xmlns:a="http://schemas.openxmlformats.org/drawingml/2006/main">
            <a:srgbClr val="B26A00"/>
          </a:solidFill>
          <a:ln xmlns:a="http://schemas.openxmlformats.org/drawingml/2006/main" w="0">
            <a:solidFill>
              <a:srgbClr val="B26A00"/>
            </a:solidFill>
            <a:prstDash val="solid"/>
          </a:ln>
        </p:spPr>
      </p:sp>
      <p:sp>
        <p:nvSpPr>
          <p:cNvPr id="21" name="s03-f2-title">
            <a:extLst xmlns:a="http://schemas.openxmlformats.org/drawingml/2006/main">
              <a:ext uri="{FF2B5EF4-FFF2-40B4-BE49-F238E27FC236}">
                <a16:creationId xmlns:a16="http://schemas.microsoft.com/office/drawing/2014/main" id="{75E91435-36FC-439A-8ECD-4C5806B0A657}"/>
              </a:ext>
            </a:extLst>
          </p:cNvPr>
          <p:cNvSpPr>
            <a:spLocks xmlns:a="http://schemas.openxmlformats.org/drawingml/2006/main" noGrp="1"/>
          </p:cNvSpPr>
          <p:nvPr/>
        </p:nvSpPr>
        <p:spPr>
          <a:xfrm xmlns:a="http://schemas.openxmlformats.org/drawingml/2006/main">
            <a:off x="4857750" y="169545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88235"/>
          </a:bodyPr>
          <a:lstStyle xmlns:a="http://schemas.openxmlformats.org/drawingml/2006/main"/>
          <a:p xmlns:a="http://schemas.openxmlformats.org/drawingml/2006/main">
            <a:pPr algn="l">
              <a:defRPr sz="1275" b="1" i="0">
                <a:solidFill>
                  <a:srgbClr val="1F4E79"/>
                </a:solidFill>
                <a:latin typeface="Arial"/>
                <a:ea typeface="Arial"/>
                <a:cs typeface="Arial"/>
              </a:defRPr>
            </a:pPr>
            <a:r>
              <a:rPr sz="1275" b="1" i="0">
                <a:solidFill>
                  <a:srgbClr val="1F4E79"/>
                </a:solidFill>
                <a:latin typeface="Arial"/>
                <a:ea typeface="Arial"/>
                <a:cs typeface="Arial"/>
              </a:rPr>
              <a:t>Configuration</a:t>
            </a:r>
          </a:p>
        </p:txBody>
      </p:sp>
      <p:sp>
        <p:nvSpPr>
          <p:cNvPr id="22" name="s03-f2-body">
            <a:extLst xmlns:a="http://schemas.openxmlformats.org/drawingml/2006/main">
              <a:ext uri="{FF2B5EF4-FFF2-40B4-BE49-F238E27FC236}">
                <a16:creationId xmlns:a16="http://schemas.microsoft.com/office/drawing/2014/main" id="{3D5A839F-5655-4E88-BC4E-7D8B07EBF51C}"/>
              </a:ext>
            </a:extLst>
          </p:cNvPr>
          <p:cNvSpPr>
            <a:spLocks xmlns:a="http://schemas.openxmlformats.org/drawingml/2006/main" noGrp="1"/>
          </p:cNvSpPr>
          <p:nvPr/>
        </p:nvSpPr>
        <p:spPr>
          <a:xfrm xmlns:a="http://schemas.openxmlformats.org/drawingml/2006/main">
            <a:off x="4857750" y="1990725"/>
            <a:ext cx="1581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938" b="0" i="0">
                <a:solidFill>
                  <a:srgbClr val="262626"/>
                </a:solidFill>
                <a:latin typeface="Arial"/>
                <a:ea typeface="Arial"/>
                <a:cs typeface="Arial"/>
              </a:defRPr>
            </a:pPr>
            <a:r>
              <a:rPr sz="938" b="0" i="0">
                <a:solidFill>
                  <a:srgbClr val="262626"/>
                </a:solidFill>
                <a:latin typeface="Arial"/>
                <a:ea typeface="Arial"/>
                <a:cs typeface="Arial"/>
              </a:rPr>
              <a:t>Where are defects placed?</a:t>
            </a:r>
          </a:p>
        </p:txBody>
      </p:sp>
      <p:sp>
        <p:nvSpPr>
          <p:cNvPr id="23" name="s03-f3-box">
            <a:extLst xmlns:a="http://schemas.openxmlformats.org/drawingml/2006/main">
              <a:ext uri="{FF2B5EF4-FFF2-40B4-BE49-F238E27FC236}">
                <a16:creationId xmlns:a16="http://schemas.microsoft.com/office/drawing/2014/main" id="{210AAE1B-C69F-4469-9B15-1959C96C8505}"/>
              </a:ext>
            </a:extLst>
          </p:cNvPr>
          <p:cNvSpPr>
            <a:spLocks xmlns:a="http://schemas.openxmlformats.org/drawingml/2006/main" noGrp="1"/>
          </p:cNvSpPr>
          <p:nvPr/>
        </p:nvSpPr>
        <p:spPr>
          <a:xfrm xmlns:a="http://schemas.openxmlformats.org/drawingml/2006/main">
            <a:off x="6743700" y="1619250"/>
            <a:ext cx="1809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9E1F2"/>
            </a:solidFill>
            <a:prstDash val="solid"/>
          </a:ln>
        </p:spPr>
      </p:sp>
      <p:sp>
        <p:nvSpPr>
          <p:cNvPr id="24" name="s03-f3-accent">
            <a:extLst xmlns:a="http://schemas.openxmlformats.org/drawingml/2006/main">
              <a:ext uri="{FF2B5EF4-FFF2-40B4-BE49-F238E27FC236}">
                <a16:creationId xmlns:a16="http://schemas.microsoft.com/office/drawing/2014/main" id="{179D47EB-35EA-4ED6-9D4B-DE99D8521B2A}"/>
              </a:ext>
            </a:extLst>
          </p:cNvPr>
          <p:cNvSpPr>
            <a:spLocks xmlns:a="http://schemas.openxmlformats.org/drawingml/2006/main" noGrp="1"/>
          </p:cNvSpPr>
          <p:nvPr/>
        </p:nvSpPr>
        <p:spPr>
          <a:xfrm xmlns:a="http://schemas.openxmlformats.org/drawingml/2006/main">
            <a:off x="6743700" y="1619250"/>
            <a:ext cx="66675" cy="1066800"/>
          </a:xfrm>
          <a:prstGeom xmlns:a="http://schemas.openxmlformats.org/drawingml/2006/main" prst="rect">
            <a:avLst/>
          </a:prstGeom>
          <a:solidFill xmlns:a="http://schemas.openxmlformats.org/drawingml/2006/main">
            <a:srgbClr val="9E2A2B"/>
          </a:solidFill>
          <a:ln xmlns:a="http://schemas.openxmlformats.org/drawingml/2006/main" w="0">
            <a:solidFill>
              <a:srgbClr val="9E2A2B"/>
            </a:solidFill>
            <a:prstDash val="solid"/>
          </a:ln>
        </p:spPr>
      </p:sp>
      <p:sp>
        <p:nvSpPr>
          <p:cNvPr id="25" name="s03-f3-title">
            <a:extLst xmlns:a="http://schemas.openxmlformats.org/drawingml/2006/main">
              <a:ext uri="{FF2B5EF4-FFF2-40B4-BE49-F238E27FC236}">
                <a16:creationId xmlns:a16="http://schemas.microsoft.com/office/drawing/2014/main" id="{3429F061-6982-4B4B-8E11-28C7E60DA59B}"/>
              </a:ext>
            </a:extLst>
          </p:cNvPr>
          <p:cNvSpPr>
            <a:spLocks xmlns:a="http://schemas.openxmlformats.org/drawingml/2006/main" noGrp="1"/>
          </p:cNvSpPr>
          <p:nvPr/>
        </p:nvSpPr>
        <p:spPr>
          <a:xfrm xmlns:a="http://schemas.openxmlformats.org/drawingml/2006/main">
            <a:off x="6877050" y="169545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88235"/>
          </a:bodyPr>
          <a:lstStyle xmlns:a="http://schemas.openxmlformats.org/drawingml/2006/main"/>
          <a:p xmlns:a="http://schemas.openxmlformats.org/drawingml/2006/main">
            <a:pPr algn="l">
              <a:defRPr sz="1275" b="1" i="0">
                <a:solidFill>
                  <a:srgbClr val="1F4E79"/>
                </a:solidFill>
                <a:latin typeface="Arial"/>
                <a:ea typeface="Arial"/>
                <a:cs typeface="Arial"/>
              </a:defRPr>
            </a:pPr>
            <a:r>
              <a:rPr sz="1275" b="1" i="0">
                <a:solidFill>
                  <a:srgbClr val="1F4E79"/>
                </a:solidFill>
                <a:latin typeface="Arial"/>
                <a:ea typeface="Arial"/>
                <a:cs typeface="Arial"/>
              </a:rPr>
              <a:t>Target properties</a:t>
            </a:r>
          </a:p>
        </p:txBody>
      </p:sp>
      <p:sp>
        <p:nvSpPr>
          <p:cNvPr id="26" name="s03-f3-body">
            <a:extLst xmlns:a="http://schemas.openxmlformats.org/drawingml/2006/main">
              <a:ext uri="{FF2B5EF4-FFF2-40B4-BE49-F238E27FC236}">
                <a16:creationId xmlns:a16="http://schemas.microsoft.com/office/drawing/2014/main" id="{970F1017-D9FB-46C8-A89D-B50DF35B9DD9}"/>
              </a:ext>
            </a:extLst>
          </p:cNvPr>
          <p:cNvSpPr>
            <a:spLocks xmlns:a="http://schemas.openxmlformats.org/drawingml/2006/main" noGrp="1"/>
          </p:cNvSpPr>
          <p:nvPr/>
        </p:nvSpPr>
        <p:spPr>
          <a:xfrm xmlns:a="http://schemas.openxmlformats.org/drawingml/2006/main">
            <a:off x="6877050" y="1990725"/>
            <a:ext cx="1581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938" b="0" i="0">
                <a:solidFill>
                  <a:srgbClr val="262626"/>
                </a:solidFill>
                <a:latin typeface="Arial"/>
                <a:ea typeface="Arial"/>
                <a:cs typeface="Arial"/>
              </a:defRPr>
            </a:pPr>
            <a:r>
              <a:rPr sz="938" b="0" i="0">
                <a:solidFill>
                  <a:srgbClr val="262626"/>
                </a:solidFill>
                <a:latin typeface="Arial"/>
                <a:ea typeface="Arial"/>
                <a:cs typeface="Arial"/>
              </a:rPr>
              <a:t>Stability · transport · mechanics</a:t>
            </a:r>
          </a:p>
        </p:txBody>
      </p:sp>
      <p:sp>
        <p:nvSpPr>
          <p:cNvPr id="27" name="s03-times0">
            <a:extLst xmlns:a="http://schemas.openxmlformats.org/drawingml/2006/main">
              <a:ext uri="{FF2B5EF4-FFF2-40B4-BE49-F238E27FC236}">
                <a16:creationId xmlns:a16="http://schemas.microsoft.com/office/drawing/2014/main" id="{EA356C1E-01D0-4EDA-8800-AE8CC25231CB}"/>
              </a:ext>
            </a:extLst>
          </p:cNvPr>
          <p:cNvSpPr>
            <a:spLocks xmlns:a="http://schemas.openxmlformats.org/drawingml/2006/main" noGrp="1"/>
          </p:cNvSpPr>
          <p:nvPr/>
        </p:nvSpPr>
        <p:spPr>
          <a:xfrm xmlns:a="http://schemas.openxmlformats.org/drawingml/2006/main">
            <a:off x="2447925" y="1905000"/>
            <a:ext cx="323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950" b="1" i="0">
                <a:solidFill>
                  <a:srgbClr val="7F7F7F"/>
                </a:solidFill>
                <a:latin typeface="Arial"/>
                <a:ea typeface="Arial"/>
                <a:cs typeface="Arial"/>
              </a:defRPr>
            </a:pPr>
            <a:r>
              <a:rPr sz="1950" b="1" i="0">
                <a:solidFill>
                  <a:srgbClr val="7F7F7F"/>
                </a:solidFill>
                <a:latin typeface="Arial"/>
                <a:ea typeface="Arial"/>
                <a:cs typeface="Arial"/>
              </a:rPr>
              <a:t>×</a:t>
            </a:r>
          </a:p>
        </p:txBody>
      </p:sp>
      <p:sp>
        <p:nvSpPr>
          <p:cNvPr id="28" name="s03-times1">
            <a:extLst xmlns:a="http://schemas.openxmlformats.org/drawingml/2006/main">
              <a:ext uri="{FF2B5EF4-FFF2-40B4-BE49-F238E27FC236}">
                <a16:creationId xmlns:a16="http://schemas.microsoft.com/office/drawing/2014/main" id="{931EC328-8381-445F-B3F3-FF63B22033EC}"/>
              </a:ext>
            </a:extLst>
          </p:cNvPr>
          <p:cNvSpPr>
            <a:spLocks xmlns:a="http://schemas.openxmlformats.org/drawingml/2006/main" noGrp="1"/>
          </p:cNvSpPr>
          <p:nvPr/>
        </p:nvSpPr>
        <p:spPr>
          <a:xfrm xmlns:a="http://schemas.openxmlformats.org/drawingml/2006/main">
            <a:off x="4467225" y="1905000"/>
            <a:ext cx="323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950" b="1" i="0">
                <a:solidFill>
                  <a:srgbClr val="7F7F7F"/>
                </a:solidFill>
                <a:latin typeface="Arial"/>
                <a:ea typeface="Arial"/>
                <a:cs typeface="Arial"/>
              </a:defRPr>
            </a:pPr>
            <a:r>
              <a:rPr sz="1950" b="1" i="0">
                <a:solidFill>
                  <a:srgbClr val="7F7F7F"/>
                </a:solidFill>
                <a:latin typeface="Arial"/>
                <a:ea typeface="Arial"/>
                <a:cs typeface="Arial"/>
              </a:rPr>
              <a:t>×</a:t>
            </a:r>
          </a:p>
        </p:txBody>
      </p:sp>
      <p:sp>
        <p:nvSpPr>
          <p:cNvPr id="29" name="s03-times2">
            <a:extLst xmlns:a="http://schemas.openxmlformats.org/drawingml/2006/main">
              <a:ext uri="{FF2B5EF4-FFF2-40B4-BE49-F238E27FC236}">
                <a16:creationId xmlns:a16="http://schemas.microsoft.com/office/drawing/2014/main" id="{56915633-4EE1-4764-8A5C-ECF42B8B8611}"/>
              </a:ext>
            </a:extLst>
          </p:cNvPr>
          <p:cNvSpPr>
            <a:spLocks xmlns:a="http://schemas.openxmlformats.org/drawingml/2006/main" noGrp="1"/>
          </p:cNvSpPr>
          <p:nvPr/>
        </p:nvSpPr>
        <p:spPr>
          <a:xfrm xmlns:a="http://schemas.openxmlformats.org/drawingml/2006/main">
            <a:off x="6486525" y="1905000"/>
            <a:ext cx="323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950" b="1" i="0">
                <a:solidFill>
                  <a:srgbClr val="7F7F7F"/>
                </a:solidFill>
                <a:latin typeface="Arial"/>
                <a:ea typeface="Arial"/>
                <a:cs typeface="Arial"/>
              </a:defRPr>
            </a:pPr>
            <a:r>
              <a:rPr sz="1950" b="1" i="0">
                <a:solidFill>
                  <a:srgbClr val="7F7F7F"/>
                </a:solidFill>
                <a:latin typeface="Arial"/>
                <a:ea typeface="Arial"/>
                <a:cs typeface="Arial"/>
              </a:rPr>
              <a:t>×</a:t>
            </a:r>
          </a:p>
        </p:txBody>
      </p:sp>
      <p:sp>
        <p:nvSpPr>
          <p:cNvPr id="30" name="s03-m1-box">
            <a:extLst xmlns:a="http://schemas.openxmlformats.org/drawingml/2006/main">
              <a:ext uri="{FF2B5EF4-FFF2-40B4-BE49-F238E27FC236}">
                <a16:creationId xmlns:a16="http://schemas.microsoft.com/office/drawing/2014/main" id="{90FB9998-D839-4CBC-9E9F-5070965D553C}"/>
              </a:ext>
            </a:extLst>
          </p:cNvPr>
          <p:cNvSpPr>
            <a:spLocks xmlns:a="http://schemas.openxmlformats.org/drawingml/2006/main" noGrp="1"/>
          </p:cNvSpPr>
          <p:nvPr/>
        </p:nvSpPr>
        <p:spPr>
          <a:xfrm xmlns:a="http://schemas.openxmlformats.org/drawingml/2006/main">
            <a:off x="1476375" y="3257550"/>
            <a:ext cx="161925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D9E1F2"/>
            </a:solidFill>
            <a:prstDash val="solid"/>
          </a:ln>
        </p:spPr>
      </p:sp>
      <p:sp>
        <p:nvSpPr>
          <p:cNvPr id="31" name="s03-m1-value">
            <a:extLst xmlns:a="http://schemas.openxmlformats.org/drawingml/2006/main">
              <a:ext uri="{FF2B5EF4-FFF2-40B4-BE49-F238E27FC236}">
                <a16:creationId xmlns:a16="http://schemas.microsoft.com/office/drawing/2014/main" id="{9E69D36D-7A2A-4AAF-BF34-1FE5B3144026}"/>
              </a:ext>
            </a:extLst>
          </p:cNvPr>
          <p:cNvSpPr>
            <a:spLocks xmlns:a="http://schemas.openxmlformats.org/drawingml/2006/main" noGrp="1"/>
          </p:cNvSpPr>
          <p:nvPr/>
        </p:nvSpPr>
        <p:spPr>
          <a:xfrm xmlns:a="http://schemas.openxmlformats.org/drawingml/2006/main">
            <a:off x="1552575" y="3352800"/>
            <a:ext cx="1466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2100" b="1" i="0">
                <a:solidFill>
                  <a:srgbClr val="1F4E79"/>
                </a:solidFill>
                <a:latin typeface="Arial"/>
                <a:ea typeface="Arial"/>
                <a:cs typeface="Arial"/>
              </a:defRPr>
            </a:pPr>
            <a:r>
              <a:rPr sz="2100" b="1" i="0">
                <a:solidFill>
                  <a:srgbClr val="1F4E79"/>
                </a:solidFill>
                <a:latin typeface="Arial"/>
                <a:ea typeface="Arial"/>
                <a:cs typeface="Arial"/>
              </a:rPr>
              <a:t>91</a:t>
            </a:r>
          </a:p>
        </p:txBody>
      </p:sp>
      <p:sp>
        <p:nvSpPr>
          <p:cNvPr id="32" name="s03-m1-label">
            <a:extLst xmlns:a="http://schemas.openxmlformats.org/drawingml/2006/main">
              <a:ext uri="{FF2B5EF4-FFF2-40B4-BE49-F238E27FC236}">
                <a16:creationId xmlns:a16="http://schemas.microsoft.com/office/drawing/2014/main" id="{EF7E9004-185E-4AB0-91D1-A8F98E6EEBD4}"/>
              </a:ext>
            </a:extLst>
          </p:cNvPr>
          <p:cNvSpPr>
            <a:spLocks xmlns:a="http://schemas.openxmlformats.org/drawingml/2006/main" noGrp="1"/>
          </p:cNvSpPr>
          <p:nvPr/>
        </p:nvSpPr>
        <p:spPr>
          <a:xfrm xmlns:a="http://schemas.openxmlformats.org/drawingml/2006/main">
            <a:off x="1552575" y="38100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38" b="0" i="0">
                <a:solidFill>
                  <a:srgbClr val="7F7F7F"/>
                </a:solidFill>
                <a:latin typeface="Arial"/>
                <a:ea typeface="Arial"/>
                <a:cs typeface="Arial"/>
              </a:defRPr>
            </a:pPr>
            <a:r>
              <a:rPr sz="938" b="0" i="0">
                <a:solidFill>
                  <a:srgbClr val="7F7F7F"/>
                </a:solidFill>
                <a:latin typeface="Arial"/>
                <a:ea typeface="Arial"/>
                <a:cs typeface="Arial"/>
              </a:rPr>
              <a:t>curated compounds</a:t>
            </a:r>
          </a:p>
        </p:txBody>
      </p:sp>
      <p:sp>
        <p:nvSpPr>
          <p:cNvPr id="33" name="s03-eq1">
            <a:extLst xmlns:a="http://schemas.openxmlformats.org/drawingml/2006/main">
              <a:ext uri="{FF2B5EF4-FFF2-40B4-BE49-F238E27FC236}">
                <a16:creationId xmlns:a16="http://schemas.microsoft.com/office/drawing/2014/main" id="{DAFC4B99-DB27-48B2-AD8A-96C0C7622295}"/>
              </a:ext>
            </a:extLst>
          </p:cNvPr>
          <p:cNvSpPr>
            <a:spLocks xmlns:a="http://schemas.openxmlformats.org/drawingml/2006/main" noGrp="1"/>
          </p:cNvSpPr>
          <p:nvPr/>
        </p:nvSpPr>
        <p:spPr>
          <a:xfrm xmlns:a="http://schemas.openxmlformats.org/drawingml/2006/main">
            <a:off x="3114675" y="3524250"/>
            <a:ext cx="38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2100" b="1" i="0">
                <a:solidFill>
                  <a:srgbClr val="7F7F7F"/>
                </a:solidFill>
                <a:latin typeface="Arial"/>
                <a:ea typeface="Arial"/>
                <a:cs typeface="Arial"/>
              </a:defRPr>
            </a:pPr>
            <a:r>
              <a:rPr sz="2100" b="1" i="0">
                <a:solidFill>
                  <a:srgbClr val="7F7F7F"/>
                </a:solidFill>
                <a:latin typeface="Arial"/>
                <a:ea typeface="Arial"/>
                <a:cs typeface="Arial"/>
              </a:rPr>
              <a:t>×</a:t>
            </a:r>
          </a:p>
        </p:txBody>
      </p:sp>
      <p:sp>
        <p:nvSpPr>
          <p:cNvPr id="34" name="s03-m2-box">
            <a:extLst xmlns:a="http://schemas.openxmlformats.org/drawingml/2006/main">
              <a:ext uri="{FF2B5EF4-FFF2-40B4-BE49-F238E27FC236}">
                <a16:creationId xmlns:a16="http://schemas.microsoft.com/office/drawing/2014/main" id="{E7EA005B-E7B0-436C-A702-10708EBAE3C8}"/>
              </a:ext>
            </a:extLst>
          </p:cNvPr>
          <p:cNvSpPr>
            <a:spLocks xmlns:a="http://schemas.openxmlformats.org/drawingml/2006/main" noGrp="1"/>
          </p:cNvSpPr>
          <p:nvPr/>
        </p:nvSpPr>
        <p:spPr>
          <a:xfrm xmlns:a="http://schemas.openxmlformats.org/drawingml/2006/main">
            <a:off x="3476625" y="3257550"/>
            <a:ext cx="161925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D9E1F2"/>
            </a:solidFill>
            <a:prstDash val="solid"/>
          </a:ln>
        </p:spPr>
      </p:sp>
      <p:sp>
        <p:nvSpPr>
          <p:cNvPr id="35" name="s03-m2-value">
            <a:extLst xmlns:a="http://schemas.openxmlformats.org/drawingml/2006/main">
              <a:ext uri="{FF2B5EF4-FFF2-40B4-BE49-F238E27FC236}">
                <a16:creationId xmlns:a16="http://schemas.microsoft.com/office/drawing/2014/main" id="{9B57B6BD-0B08-4E61-A2A2-17031A3D0D24}"/>
              </a:ext>
            </a:extLst>
          </p:cNvPr>
          <p:cNvSpPr>
            <a:spLocks xmlns:a="http://schemas.openxmlformats.org/drawingml/2006/main" noGrp="1"/>
          </p:cNvSpPr>
          <p:nvPr/>
        </p:nvSpPr>
        <p:spPr>
          <a:xfrm xmlns:a="http://schemas.openxmlformats.org/drawingml/2006/main">
            <a:off x="3552825" y="3352800"/>
            <a:ext cx="1466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2100" b="1" i="0">
                <a:solidFill>
                  <a:srgbClr val="1F4E79"/>
                </a:solidFill>
                <a:latin typeface="Arial"/>
                <a:ea typeface="Arial"/>
                <a:cs typeface="Arial"/>
              </a:defRPr>
            </a:pPr>
            <a:r>
              <a:rPr sz="2100" b="1" i="0">
                <a:solidFill>
                  <a:srgbClr val="1F4E79"/>
                </a:solidFill>
                <a:latin typeface="Arial"/>
                <a:ea typeface="Arial"/>
                <a:cs typeface="Arial"/>
              </a:rPr>
              <a:t>3</a:t>
            </a:r>
          </a:p>
        </p:txBody>
      </p:sp>
      <p:sp>
        <p:nvSpPr>
          <p:cNvPr id="36" name="s03-m2-label">
            <a:extLst xmlns:a="http://schemas.openxmlformats.org/drawingml/2006/main">
              <a:ext uri="{FF2B5EF4-FFF2-40B4-BE49-F238E27FC236}">
                <a16:creationId xmlns:a16="http://schemas.microsoft.com/office/drawing/2014/main" id="{6382A616-811D-4E0C-BF31-821582B4189B}"/>
              </a:ext>
            </a:extLst>
          </p:cNvPr>
          <p:cNvSpPr>
            <a:spLocks xmlns:a="http://schemas.openxmlformats.org/drawingml/2006/main" noGrp="1"/>
          </p:cNvSpPr>
          <p:nvPr/>
        </p:nvSpPr>
        <p:spPr>
          <a:xfrm xmlns:a="http://schemas.openxmlformats.org/drawingml/2006/main">
            <a:off x="3552825" y="38100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38" b="0" i="0">
                <a:solidFill>
                  <a:srgbClr val="7F7F7F"/>
                </a:solidFill>
                <a:latin typeface="Arial"/>
                <a:ea typeface="Arial"/>
                <a:cs typeface="Arial"/>
              </a:defRPr>
            </a:pPr>
            <a:r>
              <a:rPr sz="938" b="0" i="0">
                <a:solidFill>
                  <a:srgbClr val="7F7F7F"/>
                </a:solidFill>
                <a:latin typeface="Arial"/>
                <a:ea typeface="Arial"/>
                <a:cs typeface="Arial"/>
              </a:rPr>
              <a:t>campaign labels</a:t>
            </a:r>
          </a:p>
        </p:txBody>
      </p:sp>
      <p:sp>
        <p:nvSpPr>
          <p:cNvPr id="37" name="s03-eq2">
            <a:extLst xmlns:a="http://schemas.openxmlformats.org/drawingml/2006/main">
              <a:ext uri="{FF2B5EF4-FFF2-40B4-BE49-F238E27FC236}">
                <a16:creationId xmlns:a16="http://schemas.microsoft.com/office/drawing/2014/main" id="{7DDF4156-097A-4E07-A241-305D5829D8D3}"/>
              </a:ext>
            </a:extLst>
          </p:cNvPr>
          <p:cNvSpPr>
            <a:spLocks xmlns:a="http://schemas.openxmlformats.org/drawingml/2006/main" noGrp="1"/>
          </p:cNvSpPr>
          <p:nvPr/>
        </p:nvSpPr>
        <p:spPr>
          <a:xfrm xmlns:a="http://schemas.openxmlformats.org/drawingml/2006/main">
            <a:off x="5143500" y="3524250"/>
            <a:ext cx="38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2100" b="1" i="0">
                <a:solidFill>
                  <a:srgbClr val="7F7F7F"/>
                </a:solidFill>
                <a:latin typeface="Arial"/>
                <a:ea typeface="Arial"/>
                <a:cs typeface="Arial"/>
              </a:defRPr>
            </a:pPr>
            <a:r>
              <a:rPr sz="2100" b="1" i="0">
                <a:solidFill>
                  <a:srgbClr val="7F7F7F"/>
                </a:solidFill>
                <a:latin typeface="Arial"/>
                <a:ea typeface="Arial"/>
                <a:cs typeface="Arial"/>
              </a:rPr>
              <a:t>=</a:t>
            </a:r>
          </a:p>
        </p:txBody>
      </p:sp>
      <p:sp>
        <p:nvSpPr>
          <p:cNvPr id="38" name="s03-m3-box">
            <a:extLst xmlns:a="http://schemas.openxmlformats.org/drawingml/2006/main">
              <a:ext uri="{FF2B5EF4-FFF2-40B4-BE49-F238E27FC236}">
                <a16:creationId xmlns:a16="http://schemas.microsoft.com/office/drawing/2014/main" id="{9B2B4BD3-6674-46B0-96CE-20612B332DE2}"/>
              </a:ext>
            </a:extLst>
          </p:cNvPr>
          <p:cNvSpPr>
            <a:spLocks xmlns:a="http://schemas.openxmlformats.org/drawingml/2006/main" noGrp="1"/>
          </p:cNvSpPr>
          <p:nvPr/>
        </p:nvSpPr>
        <p:spPr>
          <a:xfrm xmlns:a="http://schemas.openxmlformats.org/drawingml/2006/main">
            <a:off x="5524500" y="3257550"/>
            <a:ext cx="2000250" cy="914400"/>
          </a:xfrm>
          <a:prstGeom xmlns:a="http://schemas.openxmlformats.org/drawingml/2006/main" prst="roundRect">
            <a:avLst>
              <a:gd name="adj" fmla="val 8333"/>
            </a:avLst>
          </a:prstGeom>
          <a:solidFill xmlns:a="http://schemas.openxmlformats.org/drawingml/2006/main">
            <a:srgbClr val="DCE6F1"/>
          </a:solidFill>
          <a:ln xmlns:a="http://schemas.openxmlformats.org/drawingml/2006/main" w="9525">
            <a:solidFill>
              <a:srgbClr val="D9E1F2"/>
            </a:solidFill>
            <a:prstDash val="solid"/>
          </a:ln>
        </p:spPr>
      </p:sp>
      <p:sp>
        <p:nvSpPr>
          <p:cNvPr id="39" name="s03-m3-value">
            <a:extLst xmlns:a="http://schemas.openxmlformats.org/drawingml/2006/main">
              <a:ext uri="{FF2B5EF4-FFF2-40B4-BE49-F238E27FC236}">
                <a16:creationId xmlns:a16="http://schemas.microsoft.com/office/drawing/2014/main" id="{D69CB014-BE6C-46A0-ABC1-CBDF2E65317C}"/>
              </a:ext>
            </a:extLst>
          </p:cNvPr>
          <p:cNvSpPr>
            <a:spLocks xmlns:a="http://schemas.openxmlformats.org/drawingml/2006/main" noGrp="1"/>
          </p:cNvSpPr>
          <p:nvPr/>
        </p:nvSpPr>
        <p:spPr>
          <a:xfrm xmlns:a="http://schemas.openxmlformats.org/drawingml/2006/main">
            <a:off x="5600700" y="3352800"/>
            <a:ext cx="1847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2100" b="1" i="0">
                <a:solidFill>
                  <a:srgbClr val="0070C0"/>
                </a:solidFill>
                <a:latin typeface="Arial"/>
                <a:ea typeface="Arial"/>
                <a:cs typeface="Arial"/>
              </a:defRPr>
            </a:pPr>
            <a:r>
              <a:rPr sz="2100" b="1" i="0">
                <a:solidFill>
                  <a:srgbClr val="0070C0"/>
                </a:solidFill>
                <a:latin typeface="Arial"/>
                <a:ea typeface="Arial"/>
                <a:cs typeface="Arial"/>
              </a:rPr>
              <a:t>273</a:t>
            </a:r>
          </a:p>
        </p:txBody>
      </p:sp>
      <p:sp>
        <p:nvSpPr>
          <p:cNvPr id="40" name="s03-m3-label">
            <a:extLst xmlns:a="http://schemas.openxmlformats.org/drawingml/2006/main">
              <a:ext uri="{FF2B5EF4-FFF2-40B4-BE49-F238E27FC236}">
                <a16:creationId xmlns:a16="http://schemas.microsoft.com/office/drawing/2014/main" id="{4157CD95-84BE-49D6-B587-9B337DFC19F4}"/>
              </a:ext>
            </a:extLst>
          </p:cNvPr>
          <p:cNvSpPr>
            <a:spLocks xmlns:a="http://schemas.openxmlformats.org/drawingml/2006/main" noGrp="1"/>
          </p:cNvSpPr>
          <p:nvPr/>
        </p:nvSpPr>
        <p:spPr>
          <a:xfrm xmlns:a="http://schemas.openxmlformats.org/drawingml/2006/main">
            <a:off x="5600700" y="3810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38" b="0" i="0">
                <a:solidFill>
                  <a:srgbClr val="7F7F7F"/>
                </a:solidFill>
                <a:latin typeface="Arial"/>
                <a:ea typeface="Arial"/>
                <a:cs typeface="Arial"/>
              </a:defRPr>
            </a:pPr>
            <a:r>
              <a:rPr sz="938" b="0" i="0">
                <a:solidFill>
                  <a:srgbClr val="7F7F7F"/>
                </a:solidFill>
                <a:latin typeface="Arial"/>
                <a:ea typeface="Arial"/>
                <a:cs typeface="Arial"/>
              </a:rPr>
              <a:t>campaign run slots</a:t>
            </a:r>
          </a:p>
        </p:txBody>
      </p:sp>
      <p:sp>
        <p:nvSpPr>
          <p:cNvPr id="41" name="s03-take">
            <a:extLst xmlns:a="http://schemas.openxmlformats.org/drawingml/2006/main">
              <a:ext uri="{FF2B5EF4-FFF2-40B4-BE49-F238E27FC236}">
                <a16:creationId xmlns:a16="http://schemas.microsoft.com/office/drawing/2014/main" id="{D48F6ACA-5124-40B0-976F-EC9E97C6EC52}"/>
              </a:ext>
            </a:extLst>
          </p:cNvPr>
          <p:cNvSpPr>
            <a:spLocks xmlns:a="http://schemas.openxmlformats.org/drawingml/2006/main" noGrp="1"/>
          </p:cNvSpPr>
          <p:nvPr/>
        </p:nvSpPr>
        <p:spPr>
          <a:xfrm xmlns:a="http://schemas.openxmlformats.org/drawingml/2006/main">
            <a:off x="1714500" y="4953000"/>
            <a:ext cx="5715000" cy="523875"/>
          </a:xfrm>
          <a:prstGeom xmlns:a="http://schemas.openxmlformats.org/drawingml/2006/main" prst="rect">
            <a:avLst/>
          </a:prstGeom>
          <a:solidFill xmlns:a="http://schemas.openxmlformats.org/drawingml/2006/main">
            <a:srgbClr val="FBE9E7"/>
          </a:solidFill>
          <a:ln xmlns:a="http://schemas.openxmlformats.org/drawingml/2006/main" w="9525">
            <a:solidFill>
              <a:srgbClr val="9E2A2B"/>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575" b="1" i="0">
                <a:solidFill>
                  <a:srgbClr val="9E2A2B"/>
                </a:solidFill>
                <a:latin typeface="Arial"/>
                <a:ea typeface="Arial"/>
                <a:cs typeface="Arial"/>
              </a:defRPr>
            </a:pPr>
            <a:r>
              <a:rPr sz="1575" b="1" i="0">
                <a:solidFill>
                  <a:srgbClr val="9E2A2B"/>
                </a:solidFill>
                <a:latin typeface="Arial"/>
                <a:ea typeface="Arial"/>
                <a:cs typeface="Arial"/>
              </a:rPr>
              <a:t>Element labels alone do not predict the effect.</a:t>
            </a:r>
          </a:p>
        </p:txBody>
      </p:sp>
    </p:spTree>
    <p:extLst>
      <p:ext uri="{BB962C8B-B14F-4D97-AF65-F5344CB8AC3E}">
        <p14:creationId xmlns:p14="http://schemas.microsoft.com/office/powerpoint/2010/main" val="1396119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Cascade</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Decision architecture</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A cascade spends precision only where it matters</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4</a:t>
            </a:r>
            <a:endParaRPr sz="1000"/>
          </a:p>
        </p:txBody>
      </p:sp>
      <p:sp>
        <p:nvSpPr>
          <p:cNvPr id="11" name="s04-stage-0">
            <a:extLst xmlns:a="http://schemas.openxmlformats.org/drawingml/2006/main">
              <a:ext uri="{FF2B5EF4-FFF2-40B4-BE49-F238E27FC236}">
                <a16:creationId xmlns:a16="http://schemas.microsoft.com/office/drawing/2014/main" id="{1C706A61-D0EF-47E8-9F40-0F805ADEB5C5}"/>
              </a:ext>
            </a:extLst>
          </p:cNvPr>
          <p:cNvSpPr>
            <a:spLocks xmlns:a="http://schemas.openxmlformats.org/drawingml/2006/main" noGrp="1"/>
          </p:cNvSpPr>
          <p:nvPr/>
        </p:nvSpPr>
        <p:spPr>
          <a:xfrm xmlns:a="http://schemas.openxmlformats.org/drawingml/2006/main">
            <a:off x="952500" y="1476375"/>
            <a:ext cx="7239000" cy="723900"/>
          </a:xfrm>
          <a:prstGeom xmlns:a="http://schemas.openxmlformats.org/drawingml/2006/main" prst="roundRect">
            <a:avLst>
              <a:gd name="adj" fmla="val 10526"/>
            </a:avLst>
          </a:prstGeom>
          <a:solidFill xmlns:a="http://schemas.openxmlformats.org/drawingml/2006/main">
            <a:srgbClr val="F3F7FB"/>
          </a:solidFill>
          <a:ln xmlns:a="http://schemas.openxmlformats.org/drawingml/2006/main" w="9525">
            <a:solidFill>
              <a:srgbClr val="1F4E79"/>
            </a:solidFill>
            <a:prstDash val="solid"/>
          </a:ln>
        </p:spPr>
      </p:sp>
      <p:sp>
        <p:nvSpPr>
          <p:cNvPr id="12" name="s04-stage-title-0">
            <a:extLst xmlns:a="http://schemas.openxmlformats.org/drawingml/2006/main">
              <a:ext uri="{FF2B5EF4-FFF2-40B4-BE49-F238E27FC236}">
                <a16:creationId xmlns:a16="http://schemas.microsoft.com/office/drawing/2014/main" id="{D1425E3E-8D4C-4306-A286-214C3EF1A5BD}"/>
              </a:ext>
            </a:extLst>
          </p:cNvPr>
          <p:cNvSpPr>
            <a:spLocks xmlns:a="http://schemas.openxmlformats.org/drawingml/2006/main" noGrp="1"/>
          </p:cNvSpPr>
          <p:nvPr/>
        </p:nvSpPr>
        <p:spPr>
          <a:xfrm xmlns:a="http://schemas.openxmlformats.org/drawingml/2006/main">
            <a:off x="1095375" y="1552575"/>
            <a:ext cx="1476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l">
              <a:defRPr sz="1125" b="1" i="0">
                <a:solidFill>
                  <a:srgbClr val="1F4E79"/>
                </a:solidFill>
                <a:latin typeface="Arial"/>
                <a:ea typeface="Arial"/>
                <a:cs typeface="Arial"/>
              </a:defRPr>
            </a:pPr>
            <a:r>
              <a:rPr sz="1125" b="1" i="0">
                <a:solidFill>
                  <a:srgbClr val="1F4E79"/>
                </a:solidFill>
                <a:latin typeface="Arial"/>
                <a:ea typeface="Arial"/>
                <a:cs typeface="Arial"/>
              </a:rPr>
              <a:t>1  CURATE</a:t>
            </a:r>
          </a:p>
        </p:txBody>
      </p:sp>
      <p:sp>
        <p:nvSpPr>
          <p:cNvPr id="13" name="s04-stage-body-0">
            <a:extLst xmlns:a="http://schemas.openxmlformats.org/drawingml/2006/main">
              <a:ext uri="{FF2B5EF4-FFF2-40B4-BE49-F238E27FC236}">
                <a16:creationId xmlns:a16="http://schemas.microsoft.com/office/drawing/2014/main" id="{B154B784-DD27-4D84-B423-91D53373B1BA}"/>
              </a:ext>
            </a:extLst>
          </p:cNvPr>
          <p:cNvSpPr>
            <a:spLocks xmlns:a="http://schemas.openxmlformats.org/drawingml/2006/main" noGrp="1"/>
          </p:cNvSpPr>
          <p:nvPr/>
        </p:nvSpPr>
        <p:spPr>
          <a:xfrm xmlns:a="http://schemas.openxmlformats.org/drawingml/2006/main">
            <a:off x="2667000" y="1552575"/>
            <a:ext cx="538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13" b="0" i="0">
                <a:solidFill>
                  <a:srgbClr val="262626"/>
                </a:solidFill>
                <a:latin typeface="Arial"/>
                <a:ea typeface="Arial"/>
                <a:cs typeface="Arial"/>
              </a:defRPr>
            </a:pPr>
            <a:r>
              <a:rPr sz="1013" b="0" i="0">
                <a:solidFill>
                  <a:srgbClr val="262626"/>
                </a:solidFill>
                <a:latin typeface="Arial"/>
                <a:ea typeface="Arial"/>
                <a:cs typeface="Arial"/>
              </a:rPr>
              <a:t>Chemical priors</a:t>
            </a:r>
          </a:p>
          <a:p xmlns:a="http://schemas.openxmlformats.org/drawingml/2006/main">
            <a:pPr algn="ctr">
              <a:defRPr sz="1013" b="0" i="0">
                <a:solidFill>
                  <a:srgbClr val="262626"/>
                </a:solidFill>
                <a:latin typeface="Arial"/>
                <a:ea typeface="Arial"/>
                <a:cs typeface="Arial"/>
              </a:defRPr>
            </a:pPr>
            <a:r>
              <a:rPr sz="1013" b="0" i="0">
                <a:solidFill>
                  <a:srgbClr val="262626"/>
                </a:solidFill>
                <a:latin typeface="Arial"/>
                <a:ea typeface="Arial"/>
                <a:cs typeface="Arial"/>
              </a:rPr>
              <a:t>Literature and database</a:t>
            </a:r>
          </a:p>
        </p:txBody>
      </p:sp>
      <p:sp>
        <p:nvSpPr>
          <p:cNvPr id="14" name="s04-stage-1">
            <a:extLst xmlns:a="http://schemas.openxmlformats.org/drawingml/2006/main">
              <a:ext uri="{FF2B5EF4-FFF2-40B4-BE49-F238E27FC236}">
                <a16:creationId xmlns:a16="http://schemas.microsoft.com/office/drawing/2014/main" id="{FA849974-E4BC-433D-8F23-F2B5FF696793}"/>
              </a:ext>
            </a:extLst>
          </p:cNvPr>
          <p:cNvSpPr>
            <a:spLocks xmlns:a="http://schemas.openxmlformats.org/drawingml/2006/main" noGrp="1"/>
          </p:cNvSpPr>
          <p:nvPr/>
        </p:nvSpPr>
        <p:spPr>
          <a:xfrm xmlns:a="http://schemas.openxmlformats.org/drawingml/2006/main">
            <a:off x="1619250" y="2476500"/>
            <a:ext cx="5905500" cy="723900"/>
          </a:xfrm>
          <a:prstGeom xmlns:a="http://schemas.openxmlformats.org/drawingml/2006/main" prst="roundRect">
            <a:avLst>
              <a:gd name="adj" fmla="val 10526"/>
            </a:avLst>
          </a:prstGeom>
          <a:solidFill xmlns:a="http://schemas.openxmlformats.org/drawingml/2006/main">
            <a:srgbClr val="DCE6F1"/>
          </a:solidFill>
          <a:ln xmlns:a="http://schemas.openxmlformats.org/drawingml/2006/main" w="9525">
            <a:solidFill>
              <a:srgbClr val="1F4E79"/>
            </a:solidFill>
            <a:prstDash val="solid"/>
          </a:ln>
        </p:spPr>
      </p:sp>
      <p:sp>
        <p:nvSpPr>
          <p:cNvPr id="15" name="s04-stage-title-1">
            <a:extLst xmlns:a="http://schemas.openxmlformats.org/drawingml/2006/main">
              <a:ext uri="{FF2B5EF4-FFF2-40B4-BE49-F238E27FC236}">
                <a16:creationId xmlns:a16="http://schemas.microsoft.com/office/drawing/2014/main" id="{8D43130B-9A07-4A73-A4CE-663167788770}"/>
              </a:ext>
            </a:extLst>
          </p:cNvPr>
          <p:cNvSpPr>
            <a:spLocks xmlns:a="http://schemas.openxmlformats.org/drawingml/2006/main" noGrp="1"/>
          </p:cNvSpPr>
          <p:nvPr/>
        </p:nvSpPr>
        <p:spPr>
          <a:xfrm xmlns:a="http://schemas.openxmlformats.org/drawingml/2006/main">
            <a:off x="1762125" y="2552700"/>
            <a:ext cx="1476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l">
              <a:defRPr sz="1125" b="1" i="0">
                <a:solidFill>
                  <a:srgbClr val="1F4E79"/>
                </a:solidFill>
                <a:latin typeface="Arial"/>
                <a:ea typeface="Arial"/>
                <a:cs typeface="Arial"/>
              </a:defRPr>
            </a:pPr>
            <a:r>
              <a:rPr sz="1125" b="1" i="0">
                <a:solidFill>
                  <a:srgbClr val="1F4E79"/>
                </a:solidFill>
                <a:latin typeface="Arial"/>
                <a:ea typeface="Arial"/>
                <a:cs typeface="Arial"/>
              </a:rPr>
              <a:t>2  SCREEN</a:t>
            </a:r>
          </a:p>
        </p:txBody>
      </p:sp>
      <p:sp>
        <p:nvSpPr>
          <p:cNvPr id="16" name="s04-stage-body-1">
            <a:extLst xmlns:a="http://schemas.openxmlformats.org/drawingml/2006/main">
              <a:ext uri="{FF2B5EF4-FFF2-40B4-BE49-F238E27FC236}">
                <a16:creationId xmlns:a16="http://schemas.microsoft.com/office/drawing/2014/main" id="{DB51AF07-5FDD-40ED-B580-008D89A9853A}"/>
              </a:ext>
            </a:extLst>
          </p:cNvPr>
          <p:cNvSpPr>
            <a:spLocks xmlns:a="http://schemas.openxmlformats.org/drawingml/2006/main" noGrp="1"/>
          </p:cNvSpPr>
          <p:nvPr/>
        </p:nvSpPr>
        <p:spPr>
          <a:xfrm xmlns:a="http://schemas.openxmlformats.org/drawingml/2006/main">
            <a:off x="3333750" y="2552700"/>
            <a:ext cx="4048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13" b="0" i="0">
                <a:solidFill>
                  <a:srgbClr val="262626"/>
                </a:solidFill>
                <a:latin typeface="Arial"/>
                <a:ea typeface="Arial"/>
                <a:cs typeface="Arial"/>
              </a:defRPr>
            </a:pPr>
            <a:r>
              <a:rPr sz="1013" b="0" i="0">
                <a:solidFill>
                  <a:srgbClr val="262626"/>
                </a:solidFill>
                <a:latin typeface="Arial"/>
                <a:ea typeface="Arial"/>
                <a:cs typeface="Arial"/>
              </a:rPr>
              <a:t>Same-protocol MLIP</a:t>
            </a:r>
          </a:p>
          <a:p xmlns:a="http://schemas.openxmlformats.org/drawingml/2006/main">
            <a:pPr algn="ctr">
              <a:defRPr sz="1013" b="0" i="0">
                <a:solidFill>
                  <a:srgbClr val="262626"/>
                </a:solidFill>
                <a:latin typeface="Arial"/>
                <a:ea typeface="Arial"/>
                <a:cs typeface="Arial"/>
              </a:defRPr>
            </a:pPr>
            <a:r>
              <a:rPr sz="1013" b="0" i="0">
                <a:solidFill>
                  <a:srgbClr val="262626"/>
                </a:solidFill>
                <a:latin typeface="Arial"/>
                <a:ea typeface="Arial"/>
                <a:cs typeface="Arial"/>
              </a:rPr>
              <a:t>and low-cost proxies</a:t>
            </a:r>
          </a:p>
        </p:txBody>
      </p:sp>
      <p:sp>
        <p:nvSpPr>
          <p:cNvPr id="17" name="s04-stage-2">
            <a:extLst xmlns:a="http://schemas.openxmlformats.org/drawingml/2006/main">
              <a:ext uri="{FF2B5EF4-FFF2-40B4-BE49-F238E27FC236}">
                <a16:creationId xmlns:a16="http://schemas.microsoft.com/office/drawing/2014/main" id="{0FF1D4D4-55FD-428F-8683-DB98AD3FFC9D}"/>
              </a:ext>
            </a:extLst>
          </p:cNvPr>
          <p:cNvSpPr>
            <a:spLocks xmlns:a="http://schemas.openxmlformats.org/drawingml/2006/main" noGrp="1"/>
          </p:cNvSpPr>
          <p:nvPr/>
        </p:nvSpPr>
        <p:spPr>
          <a:xfrm xmlns:a="http://schemas.openxmlformats.org/drawingml/2006/main">
            <a:off x="2333625" y="3476625"/>
            <a:ext cx="4476750" cy="723900"/>
          </a:xfrm>
          <a:prstGeom xmlns:a="http://schemas.openxmlformats.org/drawingml/2006/main" prst="roundRect">
            <a:avLst>
              <a:gd name="adj" fmla="val 10526"/>
            </a:avLst>
          </a:prstGeom>
          <a:solidFill xmlns:a="http://schemas.openxmlformats.org/drawingml/2006/main">
            <a:srgbClr val="FFF4E0"/>
          </a:solidFill>
          <a:ln xmlns:a="http://schemas.openxmlformats.org/drawingml/2006/main" w="9525">
            <a:solidFill>
              <a:srgbClr val="B26A00"/>
            </a:solidFill>
            <a:prstDash val="solid"/>
          </a:ln>
        </p:spPr>
      </p:sp>
      <p:sp>
        <p:nvSpPr>
          <p:cNvPr id="18" name="s04-stage-title-2">
            <a:extLst xmlns:a="http://schemas.openxmlformats.org/drawingml/2006/main">
              <a:ext uri="{FF2B5EF4-FFF2-40B4-BE49-F238E27FC236}">
                <a16:creationId xmlns:a16="http://schemas.microsoft.com/office/drawing/2014/main" id="{CC8F0824-D871-42D9-A350-1F038F047595}"/>
              </a:ext>
            </a:extLst>
          </p:cNvPr>
          <p:cNvSpPr>
            <a:spLocks xmlns:a="http://schemas.openxmlformats.org/drawingml/2006/main" noGrp="1"/>
          </p:cNvSpPr>
          <p:nvPr/>
        </p:nvSpPr>
        <p:spPr>
          <a:xfrm xmlns:a="http://schemas.openxmlformats.org/drawingml/2006/main">
            <a:off x="2476500" y="3552825"/>
            <a:ext cx="1476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l">
              <a:defRPr sz="1125" b="1" i="0">
                <a:solidFill>
                  <a:srgbClr val="B26A00"/>
                </a:solidFill>
                <a:latin typeface="Arial"/>
                <a:ea typeface="Arial"/>
                <a:cs typeface="Arial"/>
              </a:defRPr>
            </a:pPr>
            <a:r>
              <a:rPr sz="1125" b="1" i="0">
                <a:solidFill>
                  <a:srgbClr val="B26A00"/>
                </a:solidFill>
                <a:latin typeface="Arial"/>
                <a:ea typeface="Arial"/>
                <a:cs typeface="Arial"/>
              </a:rPr>
              <a:t>3  GATE</a:t>
            </a:r>
          </a:p>
        </p:txBody>
      </p:sp>
      <p:sp>
        <p:nvSpPr>
          <p:cNvPr id="19" name="s04-stage-body-2">
            <a:extLst xmlns:a="http://schemas.openxmlformats.org/drawingml/2006/main">
              <a:ext uri="{FF2B5EF4-FFF2-40B4-BE49-F238E27FC236}">
                <a16:creationId xmlns:a16="http://schemas.microsoft.com/office/drawing/2014/main" id="{80003E55-A42C-46F0-BAAB-DECDBFAA579F}"/>
              </a:ext>
            </a:extLst>
          </p:cNvPr>
          <p:cNvSpPr>
            <a:spLocks xmlns:a="http://schemas.openxmlformats.org/drawingml/2006/main" noGrp="1"/>
          </p:cNvSpPr>
          <p:nvPr/>
        </p:nvSpPr>
        <p:spPr>
          <a:xfrm xmlns:a="http://schemas.openxmlformats.org/drawingml/2006/main">
            <a:off x="4048125" y="3552825"/>
            <a:ext cx="2619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13" b="0" i="0">
                <a:solidFill>
                  <a:srgbClr val="262626"/>
                </a:solidFill>
                <a:latin typeface="Arial"/>
                <a:ea typeface="Arial"/>
                <a:cs typeface="Arial"/>
              </a:defRPr>
            </a:pPr>
            <a:r>
              <a:rPr sz="1013" b="0" i="0">
                <a:solidFill>
                  <a:srgbClr val="262626"/>
                </a:solidFill>
                <a:latin typeface="Arial"/>
                <a:ea typeface="Arial"/>
                <a:cs typeface="Arial"/>
              </a:rPr>
              <a:t>Reject physically</a:t>
            </a:r>
          </a:p>
          <a:p xmlns:a="http://schemas.openxmlformats.org/drawingml/2006/main">
            <a:pPr algn="ctr">
              <a:defRPr sz="1013" b="0" i="0">
                <a:solidFill>
                  <a:srgbClr val="262626"/>
                </a:solidFill>
                <a:latin typeface="Arial"/>
                <a:ea typeface="Arial"/>
                <a:cs typeface="Arial"/>
              </a:defRPr>
            </a:pPr>
            <a:r>
              <a:rPr sz="1013" b="0" i="0">
                <a:solidFill>
                  <a:srgbClr val="262626"/>
                </a:solidFill>
                <a:latin typeface="Arial"/>
                <a:ea typeface="Arial"/>
                <a:cs typeface="Arial"/>
              </a:rPr>
              <a:t>unsafe candidates</a:t>
            </a:r>
          </a:p>
        </p:txBody>
      </p:sp>
      <p:sp>
        <p:nvSpPr>
          <p:cNvPr id="20" name="s04-stage-3">
            <a:extLst xmlns:a="http://schemas.openxmlformats.org/drawingml/2006/main">
              <a:ext uri="{FF2B5EF4-FFF2-40B4-BE49-F238E27FC236}">
                <a16:creationId xmlns:a16="http://schemas.microsoft.com/office/drawing/2014/main" id="{2646D282-42EB-4AD0-8564-9047357EFD0C}"/>
              </a:ext>
            </a:extLst>
          </p:cNvPr>
          <p:cNvSpPr>
            <a:spLocks xmlns:a="http://schemas.openxmlformats.org/drawingml/2006/main" noGrp="1"/>
          </p:cNvSpPr>
          <p:nvPr/>
        </p:nvSpPr>
        <p:spPr>
          <a:xfrm xmlns:a="http://schemas.openxmlformats.org/drawingml/2006/main">
            <a:off x="3048000" y="4476750"/>
            <a:ext cx="3048000" cy="723900"/>
          </a:xfrm>
          <a:prstGeom xmlns:a="http://schemas.openxmlformats.org/drawingml/2006/main" prst="roundRect">
            <a:avLst>
              <a:gd name="adj" fmla="val 10526"/>
            </a:avLst>
          </a:prstGeom>
          <a:solidFill xmlns:a="http://schemas.openxmlformats.org/drawingml/2006/main">
            <a:srgbClr val="E8F5E9"/>
          </a:solidFill>
          <a:ln xmlns:a="http://schemas.openxmlformats.org/drawingml/2006/main" w="9525">
            <a:solidFill>
              <a:srgbClr val="1F4E79"/>
            </a:solidFill>
            <a:prstDash val="solid"/>
          </a:ln>
        </p:spPr>
      </p:sp>
      <p:sp>
        <p:nvSpPr>
          <p:cNvPr id="21" name="s04-stage-title-3">
            <a:extLst xmlns:a="http://schemas.openxmlformats.org/drawingml/2006/main">
              <a:ext uri="{FF2B5EF4-FFF2-40B4-BE49-F238E27FC236}">
                <a16:creationId xmlns:a16="http://schemas.microsoft.com/office/drawing/2014/main" id="{8DAA52C3-52BD-4CD5-B300-1008494F5E0C}"/>
              </a:ext>
            </a:extLst>
          </p:cNvPr>
          <p:cNvSpPr>
            <a:spLocks xmlns:a="http://schemas.openxmlformats.org/drawingml/2006/main" noGrp="1"/>
          </p:cNvSpPr>
          <p:nvPr/>
        </p:nvSpPr>
        <p:spPr>
          <a:xfrm xmlns:a="http://schemas.openxmlformats.org/drawingml/2006/main">
            <a:off x="3190875" y="4552950"/>
            <a:ext cx="1476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l">
              <a:defRPr sz="1125" b="1" i="0">
                <a:solidFill>
                  <a:srgbClr val="1F4E79"/>
                </a:solidFill>
                <a:latin typeface="Arial"/>
                <a:ea typeface="Arial"/>
                <a:cs typeface="Arial"/>
              </a:defRPr>
            </a:pPr>
            <a:r>
              <a:rPr sz="1125" b="1" i="0">
                <a:solidFill>
                  <a:srgbClr val="1F4E79"/>
                </a:solidFill>
                <a:latin typeface="Arial"/>
                <a:ea typeface="Arial"/>
                <a:cs typeface="Arial"/>
              </a:rPr>
              <a:t>4  VALIDATE</a:t>
            </a:r>
          </a:p>
        </p:txBody>
      </p:sp>
      <p:sp>
        <p:nvSpPr>
          <p:cNvPr id="22" name="s04-stage-body-3">
            <a:extLst xmlns:a="http://schemas.openxmlformats.org/drawingml/2006/main">
              <a:ext uri="{FF2B5EF4-FFF2-40B4-BE49-F238E27FC236}">
                <a16:creationId xmlns:a16="http://schemas.microsoft.com/office/drawing/2014/main" id="{D311F9FB-E44B-4B23-8B06-4E69718D5B45}"/>
              </a:ext>
            </a:extLst>
          </p:cNvPr>
          <p:cNvSpPr>
            <a:spLocks xmlns:a="http://schemas.openxmlformats.org/drawingml/2006/main" noGrp="1"/>
          </p:cNvSpPr>
          <p:nvPr/>
        </p:nvSpPr>
        <p:spPr>
          <a:xfrm xmlns:a="http://schemas.openxmlformats.org/drawingml/2006/main">
            <a:off x="4762500" y="4552950"/>
            <a:ext cx="1190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13" b="0" i="0">
                <a:solidFill>
                  <a:srgbClr val="262626"/>
                </a:solidFill>
                <a:latin typeface="Arial"/>
                <a:ea typeface="Arial"/>
                <a:cs typeface="Arial"/>
              </a:defRPr>
            </a:pPr>
            <a:r>
              <a:rPr sz="1013" b="0" i="0">
                <a:solidFill>
                  <a:srgbClr val="262626"/>
                </a:solidFill>
                <a:latin typeface="Arial"/>
                <a:ea typeface="Arial"/>
                <a:cs typeface="Arial"/>
              </a:rPr>
              <a:t>Targeted DFT</a:t>
            </a:r>
          </a:p>
          <a:p xmlns:a="http://schemas.openxmlformats.org/drawingml/2006/main">
            <a:pPr algn="ctr">
              <a:defRPr sz="1013" b="0" i="0">
                <a:solidFill>
                  <a:srgbClr val="262626"/>
                </a:solidFill>
                <a:latin typeface="Arial"/>
                <a:ea typeface="Arial"/>
                <a:cs typeface="Arial"/>
              </a:defRPr>
            </a:pPr>
            <a:r>
              <a:rPr sz="1013" b="0" i="0">
                <a:solidFill>
                  <a:srgbClr val="262626"/>
                </a:solidFill>
                <a:latin typeface="Arial"/>
                <a:ea typeface="Arial"/>
                <a:cs typeface="Arial"/>
              </a:rPr>
              <a:t>and experiment</a:t>
            </a:r>
          </a:p>
        </p:txBody>
      </p:sp>
      <p:sp>
        <p:nvSpPr>
          <p:cNvPr id="23" name="s04-left">
            <a:extLst xmlns:a="http://schemas.openxmlformats.org/drawingml/2006/main">
              <a:ext uri="{FF2B5EF4-FFF2-40B4-BE49-F238E27FC236}">
                <a16:creationId xmlns:a16="http://schemas.microsoft.com/office/drawing/2014/main" id="{4B2707C7-126F-44C2-BA11-3CCEA4AE851C}"/>
              </a:ext>
            </a:extLst>
          </p:cNvPr>
          <p:cNvSpPr>
            <a:spLocks xmlns:a="http://schemas.openxmlformats.org/drawingml/2006/main" noGrp="1"/>
          </p:cNvSpPr>
          <p:nvPr/>
        </p:nvSpPr>
        <p:spPr>
          <a:xfrm xmlns:a="http://schemas.openxmlformats.org/drawingml/2006/main">
            <a:off x="666750" y="238125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200" b="1" i="0">
                <a:solidFill>
                  <a:srgbClr val="7F7F7F"/>
                </a:solidFill>
                <a:latin typeface="Arial"/>
                <a:ea typeface="Arial"/>
                <a:cs typeface="Arial"/>
              </a:defRPr>
            </a:pPr>
            <a:r>
              <a:rPr sz="1200" b="1" i="0">
                <a:solidFill>
                  <a:srgbClr val="7F7F7F"/>
                </a:solidFill>
                <a:latin typeface="Arial"/>
                <a:ea typeface="Arial"/>
                <a:cs typeface="Arial"/>
              </a:rPr>
              <a:t>Candidate count ↓</a:t>
            </a:r>
          </a:p>
        </p:txBody>
      </p:sp>
      <p:sp>
        <p:nvSpPr>
          <p:cNvPr id="24" name="s04-right">
            <a:extLst xmlns:a="http://schemas.openxmlformats.org/drawingml/2006/main">
              <a:ext uri="{FF2B5EF4-FFF2-40B4-BE49-F238E27FC236}">
                <a16:creationId xmlns:a16="http://schemas.microsoft.com/office/drawing/2014/main" id="{27BC0F33-4E8A-4664-9E03-A59F3B018500}"/>
              </a:ext>
            </a:extLst>
          </p:cNvPr>
          <p:cNvSpPr>
            <a:spLocks xmlns:a="http://schemas.openxmlformats.org/drawingml/2006/main" noGrp="1"/>
          </p:cNvSpPr>
          <p:nvPr/>
        </p:nvSpPr>
        <p:spPr>
          <a:xfrm xmlns:a="http://schemas.openxmlformats.org/drawingml/2006/main">
            <a:off x="7143750" y="4095750"/>
            <a:ext cx="1428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200" b="1" i="0">
                <a:solidFill>
                  <a:srgbClr val="7F7F7F"/>
                </a:solidFill>
                <a:latin typeface="Arial"/>
                <a:ea typeface="Arial"/>
                <a:cs typeface="Arial"/>
              </a:defRPr>
            </a:pPr>
            <a:r>
              <a:rPr sz="1200" b="1" i="0">
                <a:solidFill>
                  <a:srgbClr val="7F7F7F"/>
                </a:solidFill>
                <a:latin typeface="Arial"/>
                <a:ea typeface="Arial"/>
                <a:cs typeface="Arial"/>
              </a:rPr>
              <a:t>Cost and precision ↑</a:t>
            </a:r>
          </a:p>
        </p:txBody>
      </p:sp>
      <p:sp>
        <p:nvSpPr>
          <p:cNvPr id="25" name="s04-take">
            <a:extLst xmlns:a="http://schemas.openxmlformats.org/drawingml/2006/main">
              <a:ext uri="{FF2B5EF4-FFF2-40B4-BE49-F238E27FC236}">
                <a16:creationId xmlns:a16="http://schemas.microsoft.com/office/drawing/2014/main" id="{CB6EAB4B-DBA8-4D9E-BFC0-031178BD41D4}"/>
              </a:ext>
            </a:extLst>
          </p:cNvPr>
          <p:cNvSpPr>
            <a:spLocks xmlns:a="http://schemas.openxmlformats.org/drawingml/2006/main" noGrp="1"/>
          </p:cNvSpPr>
          <p:nvPr/>
        </p:nvSpPr>
        <p:spPr>
          <a:xfrm xmlns:a="http://schemas.openxmlformats.org/drawingml/2006/main">
            <a:off x="1619250" y="5581650"/>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350" b="1" i="0">
                <a:solidFill>
                  <a:srgbClr val="1F4E79"/>
                </a:solidFill>
                <a:latin typeface="Arial"/>
                <a:ea typeface="Arial"/>
                <a:cs typeface="Arial"/>
              </a:defRPr>
            </a:pPr>
            <a:r>
              <a:rPr sz="1350" b="1" i="0">
                <a:solidFill>
                  <a:srgbClr val="1F4E79"/>
                </a:solidFill>
                <a:latin typeface="Arial"/>
                <a:ea typeface="Arial"/>
                <a:cs typeface="Arial"/>
              </a:rPr>
              <a:t>Computation narrows experiments; it does not replace them.</a:t>
            </a:r>
          </a:p>
        </p:txBody>
      </p:sp>
    </p:spTree>
    <p:extLst>
      <p:ext uri="{BB962C8B-B14F-4D97-AF65-F5344CB8AC3E}">
        <p14:creationId xmlns:p14="http://schemas.microsoft.com/office/powerpoint/2010/main" val="1396119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Cascade</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Pool provenance · versioned lineage</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a:bodyPr>
          <a:lstStyle xmlns:a="http://schemas.openxmlformats.org/drawingml/2006/main"/>
          <a:p xmlns:a="http://schemas.openxmlformats.org/drawingml/2006/main">
            <a:pPr marL="0" indent="0">
              <a:buNone/>
            </a:pPr>
            <a:r>
              <a:rPr sz="1500" b="1">
                <a:solidFill>
                  <a:srgbClr val="262626"/>
                </a:solidFill>
                <a:latin typeface="Arial"/>
                <a:ea typeface="Arial"/>
                <a:cs typeface="Arial"/>
              </a:rPr>
              <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5</a:t>
            </a:r>
            <a:endParaRPr sz="1000"/>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3de901884aa40c3"/>
          <a:stretch xmlns:a="http://schemas.openxmlformats.org/drawingml/2006/main"/>
        </p:blipFill>
        <p:spPr>
          <a:xfrm xmlns:a="http://schemas.openxmlformats.org/drawingml/2006/main">
            <a:off x="935115" y="981075"/>
            <a:ext cx="7273771" cy="5543550"/>
          </a:xfrm>
          <a:prstGeom xmlns:a="http://schemas.openxmlformats.org/drawingml/2006/main" prst="rect">
            <a:avLst/>
          </a:prstGeom>
        </p:spPr>
      </p:pic>
    </p:spTree>
    <p:extLst>
      <p:ext uri="{BB962C8B-B14F-4D97-AF65-F5344CB8AC3E}">
        <p14:creationId xmlns:p14="http://schemas.microsoft.com/office/powerpoint/2010/main" val="1396119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Pipeline</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Same protocol within each tier</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Search, validation, and interpretation are different jobs</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6</a:t>
            </a:r>
            <a:endParaRPr sz="1000"/>
          </a:p>
        </p:txBody>
      </p:sp>
      <p:sp>
        <p:nvSpPr>
          <p:cNvPr id="11" name="s06-tier-0">
            <a:extLst xmlns:a="http://schemas.openxmlformats.org/drawingml/2006/main">
              <a:ext uri="{FF2B5EF4-FFF2-40B4-BE49-F238E27FC236}">
                <a16:creationId xmlns:a16="http://schemas.microsoft.com/office/drawing/2014/main" id="{20E22A50-4170-4327-BFDE-C63AFEB115C8}"/>
              </a:ext>
            </a:extLst>
          </p:cNvPr>
          <p:cNvSpPr>
            <a:spLocks xmlns:a="http://schemas.openxmlformats.org/drawingml/2006/main" noGrp="1"/>
          </p:cNvSpPr>
          <p:nvPr/>
        </p:nvSpPr>
        <p:spPr>
          <a:xfrm xmlns:a="http://schemas.openxmlformats.org/drawingml/2006/main">
            <a:off x="552450" y="1762125"/>
            <a:ext cx="1857375" cy="2143125"/>
          </a:xfrm>
          <a:prstGeom xmlns:a="http://schemas.openxmlformats.org/drawingml/2006/main" prst="roundRect">
            <a:avLst>
              <a:gd name="adj" fmla="val 4103"/>
            </a:avLst>
          </a:prstGeom>
          <a:solidFill xmlns:a="http://schemas.openxmlformats.org/drawingml/2006/main">
            <a:srgbClr val="F3F7FB"/>
          </a:solidFill>
          <a:ln xmlns:a="http://schemas.openxmlformats.org/drawingml/2006/main" w="9525">
            <a:solidFill>
              <a:srgbClr val="1F4E79"/>
            </a:solidFill>
            <a:prstDash val="solid"/>
          </a:ln>
        </p:spPr>
      </p:sp>
      <p:sp>
        <p:nvSpPr>
          <p:cNvPr id="12" name="s06-tier-n-0">
            <a:extLst xmlns:a="http://schemas.openxmlformats.org/drawingml/2006/main">
              <a:ext uri="{FF2B5EF4-FFF2-40B4-BE49-F238E27FC236}">
                <a16:creationId xmlns:a16="http://schemas.microsoft.com/office/drawing/2014/main" id="{0FBDAF99-20D6-4163-AA27-F85BDEA89E7D}"/>
              </a:ext>
            </a:extLst>
          </p:cNvPr>
          <p:cNvSpPr>
            <a:spLocks xmlns:a="http://schemas.openxmlformats.org/drawingml/2006/main" noGrp="1"/>
          </p:cNvSpPr>
          <p:nvPr/>
        </p:nvSpPr>
        <p:spPr>
          <a:xfrm xmlns:a="http://schemas.openxmlformats.org/drawingml/2006/main">
            <a:off x="666750" y="190500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800" b="1" i="0">
                <a:solidFill>
                  <a:srgbClr val="1F4E79"/>
                </a:solidFill>
                <a:latin typeface="Arial"/>
                <a:ea typeface="Arial"/>
                <a:cs typeface="Arial"/>
              </a:defRPr>
            </a:pPr>
            <a:r>
              <a:rPr sz="1800" b="1" i="0">
                <a:solidFill>
                  <a:srgbClr val="1F4E79"/>
                </a:solidFill>
                <a:latin typeface="Arial"/>
                <a:ea typeface="Arial"/>
                <a:cs typeface="Arial"/>
              </a:rPr>
              <a:t>L0</a:t>
            </a:r>
          </a:p>
        </p:txBody>
      </p:sp>
      <p:sp>
        <p:nvSpPr>
          <p:cNvPr id="13" name="s06-tier-t-0">
            <a:extLst xmlns:a="http://schemas.openxmlformats.org/drawingml/2006/main">
              <a:ext uri="{FF2B5EF4-FFF2-40B4-BE49-F238E27FC236}">
                <a16:creationId xmlns:a16="http://schemas.microsoft.com/office/drawing/2014/main" id="{EC61CE55-9651-4164-BEBB-315D211088AE}"/>
              </a:ext>
            </a:extLst>
          </p:cNvPr>
          <p:cNvSpPr>
            <a:spLocks xmlns:a="http://schemas.openxmlformats.org/drawingml/2006/main" noGrp="1"/>
          </p:cNvSpPr>
          <p:nvPr/>
        </p:nvSpPr>
        <p:spPr>
          <a:xfrm xmlns:a="http://schemas.openxmlformats.org/drawingml/2006/main">
            <a:off x="1200150" y="1924050"/>
            <a:ext cx="106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89678"/>
          </a:bodyPr>
          <a:lstStyle xmlns:a="http://schemas.openxmlformats.org/drawingml/2006/main"/>
          <a:p xmlns:a="http://schemas.openxmlformats.org/drawingml/2006/main">
            <a:pPr algn="ctr">
              <a:defRPr sz="1013" b="1" i="0">
                <a:solidFill>
                  <a:srgbClr val="262626"/>
                </a:solidFill>
                <a:latin typeface="Arial"/>
                <a:ea typeface="Arial"/>
                <a:cs typeface="Arial"/>
              </a:defRPr>
            </a:pPr>
            <a:r>
              <a:rPr sz="1013" b="1" i="0">
                <a:solidFill>
                  <a:srgbClr val="262626"/>
                </a:solidFill>
                <a:latin typeface="Arial"/>
                <a:ea typeface="Arial"/>
                <a:cs typeface="Arial"/>
              </a:rPr>
              <a:t>CURATED INPUT</a:t>
            </a:r>
          </a:p>
        </p:txBody>
      </p:sp>
      <p:sp>
        <p:nvSpPr>
          <p:cNvPr id="14" name="s06-tier-b-0">
            <a:extLst xmlns:a="http://schemas.openxmlformats.org/drawingml/2006/main">
              <a:ext uri="{FF2B5EF4-FFF2-40B4-BE49-F238E27FC236}">
                <a16:creationId xmlns:a16="http://schemas.microsoft.com/office/drawing/2014/main" id="{F9C2C058-1879-40F6-9A73-B4495B988E88}"/>
              </a:ext>
            </a:extLst>
          </p:cNvPr>
          <p:cNvSpPr>
            <a:spLocks xmlns:a="http://schemas.openxmlformats.org/drawingml/2006/main" noGrp="1"/>
          </p:cNvSpPr>
          <p:nvPr/>
        </p:nvSpPr>
        <p:spPr>
          <a:xfrm xmlns:a="http://schemas.openxmlformats.org/drawingml/2006/main">
            <a:off x="695325" y="2524125"/>
            <a:ext cx="15716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50" b="0" i="0">
                <a:solidFill>
                  <a:srgbClr val="262626"/>
                </a:solidFill>
                <a:latin typeface="Arial"/>
                <a:ea typeface="Arial"/>
                <a:cs typeface="Arial"/>
              </a:defRPr>
            </a:pPr>
            <a:r>
              <a:rPr sz="1050" b="0" i="0">
                <a:solidFill>
                  <a:srgbClr val="262626"/>
                </a:solidFill>
                <a:latin typeface="Arial"/>
                <a:ea typeface="Arial"/>
                <a:cs typeface="Arial"/>
              </a:rPr>
              <a:t>Composition · concentration</a:t>
            </a:r>
          </a:p>
          <a:p xmlns:a="http://schemas.openxmlformats.org/drawingml/2006/main">
            <a:pPr algn="ctr">
              <a:defRPr sz="1050" b="0" i="0">
                <a:solidFill>
                  <a:srgbClr val="262626"/>
                </a:solidFill>
                <a:latin typeface="Arial"/>
                <a:ea typeface="Arial"/>
                <a:cs typeface="Arial"/>
              </a:defRPr>
            </a:pPr>
            <a:r>
              <a:rPr sz="1050" b="0" i="0">
                <a:solidFill>
                  <a:srgbClr val="262626"/>
                </a:solidFill>
                <a:latin typeface="Arial"/>
                <a:ea typeface="Arial"/>
                <a:cs typeface="Arial"/>
              </a:rPr>
              <a:t>configuration · provenance</a:t>
            </a:r>
          </a:p>
        </p:txBody>
      </p:sp>
      <p:sp>
        <p:nvSpPr>
          <p:cNvPr id="15" name="s06-arrow-0">
            <a:extLst xmlns:a="http://schemas.openxmlformats.org/drawingml/2006/main">
              <a:ext uri="{FF2B5EF4-FFF2-40B4-BE49-F238E27FC236}">
                <a16:creationId xmlns:a16="http://schemas.microsoft.com/office/drawing/2014/main" id="{0291F9B2-960D-4927-91F6-65FF78CCE0D8}"/>
              </a:ext>
            </a:extLst>
          </p:cNvPr>
          <p:cNvSpPr>
            <a:spLocks xmlns:a="http://schemas.openxmlformats.org/drawingml/2006/main" noGrp="1"/>
          </p:cNvSpPr>
          <p:nvPr/>
        </p:nvSpPr>
        <p:spPr>
          <a:xfrm xmlns:a="http://schemas.openxmlformats.org/drawingml/2006/main">
            <a:off x="2438400" y="2571750"/>
            <a:ext cx="228600" cy="342900"/>
          </a:xfrm>
          <a:prstGeom xmlns:a="http://schemas.openxmlformats.org/drawingml/2006/main" prst="rightArrow">
            <a:avLst/>
          </a:prstGeom>
          <a:solidFill xmlns:a="http://schemas.openxmlformats.org/drawingml/2006/main">
            <a:srgbClr val="FFFFFF"/>
          </a:solidFill>
          <a:ln xmlns:a="http://schemas.openxmlformats.org/drawingml/2006/main" w="9525">
            <a:solidFill>
              <a:srgbClr val="7F7F7F"/>
            </a:solidFill>
            <a:prstDash val="solid"/>
          </a:ln>
        </p:spPr>
      </p:sp>
      <p:sp>
        <p:nvSpPr>
          <p:cNvPr id="16" name="s06-tier-1">
            <a:extLst xmlns:a="http://schemas.openxmlformats.org/drawingml/2006/main">
              <a:ext uri="{FF2B5EF4-FFF2-40B4-BE49-F238E27FC236}">
                <a16:creationId xmlns:a16="http://schemas.microsoft.com/office/drawing/2014/main" id="{7055FC2C-8DF6-4C43-9FC6-569EEA3C8B74}"/>
              </a:ext>
            </a:extLst>
          </p:cNvPr>
          <p:cNvSpPr>
            <a:spLocks xmlns:a="http://schemas.openxmlformats.org/drawingml/2006/main" noGrp="1"/>
          </p:cNvSpPr>
          <p:nvPr/>
        </p:nvSpPr>
        <p:spPr>
          <a:xfrm xmlns:a="http://schemas.openxmlformats.org/drawingml/2006/main">
            <a:off x="2686050" y="1762125"/>
            <a:ext cx="1857375" cy="2143125"/>
          </a:xfrm>
          <a:prstGeom xmlns:a="http://schemas.openxmlformats.org/drawingml/2006/main" prst="roundRect">
            <a:avLst>
              <a:gd name="adj" fmla="val 4103"/>
            </a:avLst>
          </a:prstGeom>
          <a:solidFill xmlns:a="http://schemas.openxmlformats.org/drawingml/2006/main">
            <a:srgbClr val="DCE6F1"/>
          </a:solidFill>
          <a:ln xmlns:a="http://schemas.openxmlformats.org/drawingml/2006/main" w="9525">
            <a:solidFill>
              <a:srgbClr val="0070C0"/>
            </a:solidFill>
            <a:prstDash val="solid"/>
          </a:ln>
        </p:spPr>
      </p:sp>
      <p:sp>
        <p:nvSpPr>
          <p:cNvPr id="17" name="s06-tier-n-1">
            <a:extLst xmlns:a="http://schemas.openxmlformats.org/drawingml/2006/main">
              <a:ext uri="{FF2B5EF4-FFF2-40B4-BE49-F238E27FC236}">
                <a16:creationId xmlns:a16="http://schemas.microsoft.com/office/drawing/2014/main" id="{B5CFB5E3-C18F-4D27-9D44-84D5413A5049}"/>
              </a:ext>
            </a:extLst>
          </p:cNvPr>
          <p:cNvSpPr>
            <a:spLocks xmlns:a="http://schemas.openxmlformats.org/drawingml/2006/main" noGrp="1"/>
          </p:cNvSpPr>
          <p:nvPr/>
        </p:nvSpPr>
        <p:spPr>
          <a:xfrm xmlns:a="http://schemas.openxmlformats.org/drawingml/2006/main">
            <a:off x="2800350" y="190500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800" b="1" i="0">
                <a:solidFill>
                  <a:srgbClr val="0070C0"/>
                </a:solidFill>
                <a:latin typeface="Arial"/>
                <a:ea typeface="Arial"/>
                <a:cs typeface="Arial"/>
              </a:defRPr>
            </a:pPr>
            <a:r>
              <a:rPr sz="1800" b="1" i="0">
                <a:solidFill>
                  <a:srgbClr val="0070C0"/>
                </a:solidFill>
                <a:latin typeface="Arial"/>
                <a:ea typeface="Arial"/>
                <a:cs typeface="Arial"/>
              </a:rPr>
              <a:t>L1</a:t>
            </a:r>
          </a:p>
        </p:txBody>
      </p:sp>
      <p:sp>
        <p:nvSpPr>
          <p:cNvPr id="18" name="s06-tier-t-1">
            <a:extLst xmlns:a="http://schemas.openxmlformats.org/drawingml/2006/main">
              <a:ext uri="{FF2B5EF4-FFF2-40B4-BE49-F238E27FC236}">
                <a16:creationId xmlns:a16="http://schemas.microsoft.com/office/drawing/2014/main" id="{5F219260-8163-4ABD-BB70-75BD33CBCE92}"/>
              </a:ext>
            </a:extLst>
          </p:cNvPr>
          <p:cNvSpPr>
            <a:spLocks xmlns:a="http://schemas.openxmlformats.org/drawingml/2006/main" noGrp="1"/>
          </p:cNvSpPr>
          <p:nvPr/>
        </p:nvSpPr>
        <p:spPr>
          <a:xfrm xmlns:a="http://schemas.openxmlformats.org/drawingml/2006/main">
            <a:off x="3333750" y="1924050"/>
            <a:ext cx="106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86377"/>
          </a:bodyPr>
          <a:lstStyle xmlns:a="http://schemas.openxmlformats.org/drawingml/2006/main"/>
          <a:p xmlns:a="http://schemas.openxmlformats.org/drawingml/2006/main">
            <a:pPr algn="ctr">
              <a:defRPr sz="1013" b="1" i="0">
                <a:solidFill>
                  <a:srgbClr val="262626"/>
                </a:solidFill>
                <a:latin typeface="Arial"/>
                <a:ea typeface="Arial"/>
                <a:cs typeface="Arial"/>
              </a:defRPr>
            </a:pPr>
            <a:r>
              <a:rPr sz="1013" b="1" i="0">
                <a:solidFill>
                  <a:srgbClr val="262626"/>
                </a:solidFill>
                <a:latin typeface="Arial"/>
                <a:ea typeface="Arial"/>
                <a:cs typeface="Arial"/>
              </a:rPr>
              <a:t>LOW-COST SCREEN</a:t>
            </a:r>
          </a:p>
        </p:txBody>
      </p:sp>
      <p:sp>
        <p:nvSpPr>
          <p:cNvPr id="19" name="s06-tier-b-1">
            <a:extLst xmlns:a="http://schemas.openxmlformats.org/drawingml/2006/main">
              <a:ext uri="{FF2B5EF4-FFF2-40B4-BE49-F238E27FC236}">
                <a16:creationId xmlns:a16="http://schemas.microsoft.com/office/drawing/2014/main" id="{4DB53FA1-A605-4AE6-8B6F-914C5BB8BAF4}"/>
              </a:ext>
            </a:extLst>
          </p:cNvPr>
          <p:cNvSpPr>
            <a:spLocks xmlns:a="http://schemas.openxmlformats.org/drawingml/2006/main" noGrp="1"/>
          </p:cNvSpPr>
          <p:nvPr/>
        </p:nvSpPr>
        <p:spPr>
          <a:xfrm xmlns:a="http://schemas.openxmlformats.org/drawingml/2006/main">
            <a:off x="2828925" y="2524125"/>
            <a:ext cx="15716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50" b="0" i="0">
                <a:solidFill>
                  <a:srgbClr val="262626"/>
                </a:solidFill>
                <a:latin typeface="Arial"/>
                <a:ea typeface="Arial"/>
                <a:cs typeface="Arial"/>
              </a:defRPr>
            </a:pPr>
            <a:r>
              <a:rPr sz="1050" b="0" i="0">
                <a:solidFill>
                  <a:srgbClr val="262626"/>
                </a:solidFill>
                <a:latin typeface="Arial"/>
                <a:ea typeface="Arial"/>
                <a:cs typeface="Arial"/>
              </a:rPr>
              <a:t>UMA relaxation</a:t>
            </a:r>
          </a:p>
          <a:p xmlns:a="http://schemas.openxmlformats.org/drawingml/2006/main">
            <a:pPr algn="ctr">
              <a:defRPr sz="1050" b="0" i="0">
                <a:solidFill>
                  <a:srgbClr val="262626"/>
                </a:solidFill>
                <a:latin typeface="Arial"/>
                <a:ea typeface="Arial"/>
                <a:cs typeface="Arial"/>
              </a:defRPr>
            </a:pPr>
            <a:r>
              <a:rPr sz="1050" b="0" i="0">
                <a:solidFill>
                  <a:srgbClr val="262626"/>
                </a:solidFill>
                <a:latin typeface="Arial"/>
                <a:ea typeface="Arial"/>
                <a:cs typeface="Arial"/>
              </a:rPr>
              <a:t>BVSE and derived axes</a:t>
            </a:r>
          </a:p>
        </p:txBody>
      </p:sp>
      <p:sp>
        <p:nvSpPr>
          <p:cNvPr id="20" name="s06-arrow-1">
            <a:extLst xmlns:a="http://schemas.openxmlformats.org/drawingml/2006/main">
              <a:ext uri="{FF2B5EF4-FFF2-40B4-BE49-F238E27FC236}">
                <a16:creationId xmlns:a16="http://schemas.microsoft.com/office/drawing/2014/main" id="{9B514C4C-4992-459C-BCFF-52E2953B451B}"/>
              </a:ext>
            </a:extLst>
          </p:cNvPr>
          <p:cNvSpPr>
            <a:spLocks xmlns:a="http://schemas.openxmlformats.org/drawingml/2006/main" noGrp="1"/>
          </p:cNvSpPr>
          <p:nvPr/>
        </p:nvSpPr>
        <p:spPr>
          <a:xfrm xmlns:a="http://schemas.openxmlformats.org/drawingml/2006/main">
            <a:off x="4572000" y="2571750"/>
            <a:ext cx="228600" cy="342900"/>
          </a:xfrm>
          <a:prstGeom xmlns:a="http://schemas.openxmlformats.org/drawingml/2006/main" prst="rightArrow">
            <a:avLst/>
          </a:prstGeom>
          <a:solidFill xmlns:a="http://schemas.openxmlformats.org/drawingml/2006/main">
            <a:srgbClr val="FFFFFF"/>
          </a:solidFill>
          <a:ln xmlns:a="http://schemas.openxmlformats.org/drawingml/2006/main" w="9525">
            <a:solidFill>
              <a:srgbClr val="7F7F7F"/>
            </a:solidFill>
            <a:prstDash val="solid"/>
          </a:ln>
        </p:spPr>
      </p:sp>
      <p:sp>
        <p:nvSpPr>
          <p:cNvPr id="21" name="s06-tier-2">
            <a:extLst xmlns:a="http://schemas.openxmlformats.org/drawingml/2006/main">
              <a:ext uri="{FF2B5EF4-FFF2-40B4-BE49-F238E27FC236}">
                <a16:creationId xmlns:a16="http://schemas.microsoft.com/office/drawing/2014/main" id="{AA90DA8A-79D0-4A8D-817C-FBD7CF5371E2}"/>
              </a:ext>
            </a:extLst>
          </p:cNvPr>
          <p:cNvSpPr>
            <a:spLocks xmlns:a="http://schemas.openxmlformats.org/drawingml/2006/main" noGrp="1"/>
          </p:cNvSpPr>
          <p:nvPr/>
        </p:nvSpPr>
        <p:spPr>
          <a:xfrm xmlns:a="http://schemas.openxmlformats.org/drawingml/2006/main">
            <a:off x="4819650" y="1762125"/>
            <a:ext cx="1857375" cy="2143125"/>
          </a:xfrm>
          <a:prstGeom xmlns:a="http://schemas.openxmlformats.org/drawingml/2006/main" prst="roundRect">
            <a:avLst>
              <a:gd name="adj" fmla="val 4103"/>
            </a:avLst>
          </a:prstGeom>
          <a:solidFill xmlns:a="http://schemas.openxmlformats.org/drawingml/2006/main">
            <a:srgbClr val="FFF4E0"/>
          </a:solidFill>
          <a:ln xmlns:a="http://schemas.openxmlformats.org/drawingml/2006/main" w="9525">
            <a:solidFill>
              <a:srgbClr val="B26A00"/>
            </a:solidFill>
            <a:prstDash val="solid"/>
          </a:ln>
        </p:spPr>
      </p:sp>
      <p:sp>
        <p:nvSpPr>
          <p:cNvPr id="22" name="s06-tier-n-2">
            <a:extLst xmlns:a="http://schemas.openxmlformats.org/drawingml/2006/main">
              <a:ext uri="{FF2B5EF4-FFF2-40B4-BE49-F238E27FC236}">
                <a16:creationId xmlns:a16="http://schemas.microsoft.com/office/drawing/2014/main" id="{4BECA753-7214-45F2-ADAD-A8B596CF6208}"/>
              </a:ext>
            </a:extLst>
          </p:cNvPr>
          <p:cNvSpPr>
            <a:spLocks xmlns:a="http://schemas.openxmlformats.org/drawingml/2006/main" noGrp="1"/>
          </p:cNvSpPr>
          <p:nvPr/>
        </p:nvSpPr>
        <p:spPr>
          <a:xfrm xmlns:a="http://schemas.openxmlformats.org/drawingml/2006/main">
            <a:off x="4933950" y="190500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800" b="1" i="0">
                <a:solidFill>
                  <a:srgbClr val="B26A00"/>
                </a:solidFill>
                <a:latin typeface="Arial"/>
                <a:ea typeface="Arial"/>
                <a:cs typeface="Arial"/>
              </a:defRPr>
            </a:pPr>
            <a:r>
              <a:rPr sz="1800" b="1" i="0">
                <a:solidFill>
                  <a:srgbClr val="B26A00"/>
                </a:solidFill>
                <a:latin typeface="Arial"/>
                <a:ea typeface="Arial"/>
                <a:cs typeface="Arial"/>
              </a:rPr>
              <a:t>L2</a:t>
            </a:r>
          </a:p>
        </p:txBody>
      </p:sp>
      <p:sp>
        <p:nvSpPr>
          <p:cNvPr id="23" name="s06-tier-t-2">
            <a:extLst xmlns:a="http://schemas.openxmlformats.org/drawingml/2006/main">
              <a:ext uri="{FF2B5EF4-FFF2-40B4-BE49-F238E27FC236}">
                <a16:creationId xmlns:a16="http://schemas.microsoft.com/office/drawing/2014/main" id="{2C064F66-D022-42FC-9AE3-ABCE45B82D46}"/>
              </a:ext>
            </a:extLst>
          </p:cNvPr>
          <p:cNvSpPr>
            <a:spLocks xmlns:a="http://schemas.openxmlformats.org/drawingml/2006/main" noGrp="1"/>
          </p:cNvSpPr>
          <p:nvPr/>
        </p:nvSpPr>
        <p:spPr>
          <a:xfrm xmlns:a="http://schemas.openxmlformats.org/drawingml/2006/main">
            <a:off x="5467350" y="1924050"/>
            <a:ext cx="106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13" b="1" i="0">
                <a:solidFill>
                  <a:srgbClr val="262626"/>
                </a:solidFill>
                <a:latin typeface="Arial"/>
                <a:ea typeface="Arial"/>
                <a:cs typeface="Arial"/>
              </a:defRPr>
            </a:pPr>
            <a:r>
              <a:rPr sz="1013" b="1" i="0">
                <a:solidFill>
                  <a:srgbClr val="262626"/>
                </a:solidFill>
                <a:latin typeface="Arial"/>
                <a:ea typeface="Arial"/>
                <a:cs typeface="Arial"/>
              </a:rPr>
              <a:t>MATCHED DFT</a:t>
            </a:r>
          </a:p>
        </p:txBody>
      </p:sp>
      <p:sp>
        <p:nvSpPr>
          <p:cNvPr id="24" name="s06-tier-b-2">
            <a:extLst xmlns:a="http://schemas.openxmlformats.org/drawingml/2006/main">
              <a:ext uri="{FF2B5EF4-FFF2-40B4-BE49-F238E27FC236}">
                <a16:creationId xmlns:a16="http://schemas.microsoft.com/office/drawing/2014/main" id="{F999EED1-441A-47A7-AB38-A232354D0179}"/>
              </a:ext>
            </a:extLst>
          </p:cNvPr>
          <p:cNvSpPr>
            <a:spLocks xmlns:a="http://schemas.openxmlformats.org/drawingml/2006/main" noGrp="1"/>
          </p:cNvSpPr>
          <p:nvPr/>
        </p:nvSpPr>
        <p:spPr>
          <a:xfrm xmlns:a="http://schemas.openxmlformats.org/drawingml/2006/main">
            <a:off x="4962525" y="2524125"/>
            <a:ext cx="15716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50" b="0" i="0">
                <a:solidFill>
                  <a:srgbClr val="262626"/>
                </a:solidFill>
                <a:latin typeface="Arial"/>
                <a:ea typeface="Arial"/>
                <a:cs typeface="Arial"/>
              </a:defRPr>
            </a:pPr>
            <a:r>
              <a:rPr sz="1050" b="0" i="0">
                <a:solidFill>
                  <a:srgbClr val="262626"/>
                </a:solidFill>
                <a:latin typeface="Arial"/>
                <a:ea typeface="Arial"/>
                <a:cs typeface="Arial"/>
              </a:rPr>
              <a:t>Selected candidates only</a:t>
            </a:r>
          </a:p>
          <a:p xmlns:a="http://schemas.openxmlformats.org/drawingml/2006/main">
            <a:pPr algn="ctr">
              <a:defRPr sz="1050" b="0" i="0">
                <a:solidFill>
                  <a:srgbClr val="262626"/>
                </a:solidFill>
                <a:latin typeface="Arial"/>
                <a:ea typeface="Arial"/>
                <a:cs typeface="Arial"/>
              </a:defRPr>
            </a:pPr>
            <a:r>
              <a:rPr sz="1050" b="0" i="0">
                <a:solidFill>
                  <a:srgbClr val="262626"/>
                </a:solidFill>
                <a:latin typeface="Arial"/>
                <a:ea typeface="Arial"/>
                <a:cs typeface="Arial"/>
              </a:rPr>
              <a:t>energy · force · electronics</a:t>
            </a:r>
          </a:p>
        </p:txBody>
      </p:sp>
      <p:sp>
        <p:nvSpPr>
          <p:cNvPr id="25" name="s06-arrow-2">
            <a:extLst xmlns:a="http://schemas.openxmlformats.org/drawingml/2006/main">
              <a:ext uri="{FF2B5EF4-FFF2-40B4-BE49-F238E27FC236}">
                <a16:creationId xmlns:a16="http://schemas.microsoft.com/office/drawing/2014/main" id="{D1AF43D3-C010-42BF-AF04-8DDC34C2F924}"/>
              </a:ext>
            </a:extLst>
          </p:cNvPr>
          <p:cNvSpPr>
            <a:spLocks xmlns:a="http://schemas.openxmlformats.org/drawingml/2006/main" noGrp="1"/>
          </p:cNvSpPr>
          <p:nvPr/>
        </p:nvSpPr>
        <p:spPr>
          <a:xfrm xmlns:a="http://schemas.openxmlformats.org/drawingml/2006/main">
            <a:off x="6705600" y="2571750"/>
            <a:ext cx="228600" cy="342900"/>
          </a:xfrm>
          <a:prstGeom xmlns:a="http://schemas.openxmlformats.org/drawingml/2006/main" prst="rightArrow">
            <a:avLst/>
          </a:prstGeom>
          <a:solidFill xmlns:a="http://schemas.openxmlformats.org/drawingml/2006/main">
            <a:srgbClr val="FFFFFF"/>
          </a:solidFill>
          <a:ln xmlns:a="http://schemas.openxmlformats.org/drawingml/2006/main" w="9525">
            <a:solidFill>
              <a:srgbClr val="7F7F7F"/>
            </a:solidFill>
            <a:prstDash val="solid"/>
          </a:ln>
        </p:spPr>
      </p:sp>
      <p:sp>
        <p:nvSpPr>
          <p:cNvPr id="26" name="s06-tier-3">
            <a:extLst xmlns:a="http://schemas.openxmlformats.org/drawingml/2006/main">
              <a:ext uri="{FF2B5EF4-FFF2-40B4-BE49-F238E27FC236}">
                <a16:creationId xmlns:a16="http://schemas.microsoft.com/office/drawing/2014/main" id="{0C081EA0-2715-4891-A174-557AEEA5B38D}"/>
              </a:ext>
            </a:extLst>
          </p:cNvPr>
          <p:cNvSpPr>
            <a:spLocks xmlns:a="http://schemas.openxmlformats.org/drawingml/2006/main" noGrp="1"/>
          </p:cNvSpPr>
          <p:nvPr/>
        </p:nvSpPr>
        <p:spPr>
          <a:xfrm xmlns:a="http://schemas.openxmlformats.org/drawingml/2006/main">
            <a:off x="6953250" y="1762125"/>
            <a:ext cx="1857375" cy="2143125"/>
          </a:xfrm>
          <a:prstGeom xmlns:a="http://schemas.openxmlformats.org/drawingml/2006/main" prst="roundRect">
            <a:avLst>
              <a:gd name="adj" fmla="val 4103"/>
            </a:avLst>
          </a:prstGeom>
          <a:solidFill xmlns:a="http://schemas.openxmlformats.org/drawingml/2006/main">
            <a:srgbClr val="E8F5E9"/>
          </a:solidFill>
          <a:ln xmlns:a="http://schemas.openxmlformats.org/drawingml/2006/main" w="9525">
            <a:solidFill>
              <a:srgbClr val="2E7D32"/>
            </a:solidFill>
            <a:prstDash val="solid"/>
          </a:ln>
        </p:spPr>
      </p:sp>
      <p:sp>
        <p:nvSpPr>
          <p:cNvPr id="27" name="s06-tier-n-3">
            <a:extLst xmlns:a="http://schemas.openxmlformats.org/drawingml/2006/main">
              <a:ext uri="{FF2B5EF4-FFF2-40B4-BE49-F238E27FC236}">
                <a16:creationId xmlns:a16="http://schemas.microsoft.com/office/drawing/2014/main" id="{9C64AEDF-0694-4C53-9D95-573210B69924}"/>
              </a:ext>
            </a:extLst>
          </p:cNvPr>
          <p:cNvSpPr>
            <a:spLocks xmlns:a="http://schemas.openxmlformats.org/drawingml/2006/main" noGrp="1"/>
          </p:cNvSpPr>
          <p:nvPr/>
        </p:nvSpPr>
        <p:spPr>
          <a:xfrm xmlns:a="http://schemas.openxmlformats.org/drawingml/2006/main">
            <a:off x="7067550" y="190500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800" b="1" i="0">
                <a:solidFill>
                  <a:srgbClr val="2E7D32"/>
                </a:solidFill>
                <a:latin typeface="Arial"/>
                <a:ea typeface="Arial"/>
                <a:cs typeface="Arial"/>
              </a:defRPr>
            </a:pPr>
            <a:r>
              <a:rPr sz="1800" b="1" i="0">
                <a:solidFill>
                  <a:srgbClr val="2E7D32"/>
                </a:solidFill>
                <a:latin typeface="Arial"/>
                <a:ea typeface="Arial"/>
                <a:cs typeface="Arial"/>
              </a:rPr>
              <a:t>L3</a:t>
            </a:r>
          </a:p>
        </p:txBody>
      </p:sp>
      <p:sp>
        <p:nvSpPr>
          <p:cNvPr id="28" name="s06-tier-t-3">
            <a:extLst xmlns:a="http://schemas.openxmlformats.org/drawingml/2006/main">
              <a:ext uri="{FF2B5EF4-FFF2-40B4-BE49-F238E27FC236}">
                <a16:creationId xmlns:a16="http://schemas.microsoft.com/office/drawing/2014/main" id="{EC6A5CEB-38E0-4942-AE19-C3A09575A7D7}"/>
              </a:ext>
            </a:extLst>
          </p:cNvPr>
          <p:cNvSpPr>
            <a:spLocks xmlns:a="http://schemas.openxmlformats.org/drawingml/2006/main" noGrp="1"/>
          </p:cNvSpPr>
          <p:nvPr/>
        </p:nvSpPr>
        <p:spPr>
          <a:xfrm xmlns:a="http://schemas.openxmlformats.org/drawingml/2006/main">
            <a:off x="7600950" y="1924050"/>
            <a:ext cx="106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13" b="1" i="0">
                <a:solidFill>
                  <a:srgbClr val="262626"/>
                </a:solidFill>
                <a:latin typeface="Arial"/>
                <a:ea typeface="Arial"/>
                <a:cs typeface="Arial"/>
              </a:defRPr>
            </a:pPr>
            <a:r>
              <a:rPr sz="1013" b="1" i="0">
                <a:solidFill>
                  <a:srgbClr val="262626"/>
                </a:solidFill>
                <a:latin typeface="Arial"/>
                <a:ea typeface="Arial"/>
                <a:cs typeface="Arial"/>
              </a:rPr>
              <a:t>EXPERIMENT</a:t>
            </a:r>
          </a:p>
        </p:txBody>
      </p:sp>
      <p:sp>
        <p:nvSpPr>
          <p:cNvPr id="29" name="s06-tier-b-3">
            <a:extLst xmlns:a="http://schemas.openxmlformats.org/drawingml/2006/main">
              <a:ext uri="{FF2B5EF4-FFF2-40B4-BE49-F238E27FC236}">
                <a16:creationId xmlns:a16="http://schemas.microsoft.com/office/drawing/2014/main" id="{7A0425F1-F676-45FC-B630-52A5059E321D}"/>
              </a:ext>
            </a:extLst>
          </p:cNvPr>
          <p:cNvSpPr>
            <a:spLocks xmlns:a="http://schemas.openxmlformats.org/drawingml/2006/main" noGrp="1"/>
          </p:cNvSpPr>
          <p:nvPr/>
        </p:nvSpPr>
        <p:spPr>
          <a:xfrm xmlns:a="http://schemas.openxmlformats.org/drawingml/2006/main">
            <a:off x="7096125" y="2524125"/>
            <a:ext cx="15716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50" b="0" i="0">
                <a:solidFill>
                  <a:srgbClr val="262626"/>
                </a:solidFill>
                <a:latin typeface="Arial"/>
                <a:ea typeface="Arial"/>
                <a:cs typeface="Arial"/>
              </a:defRPr>
            </a:pPr>
            <a:r>
              <a:rPr sz="1050" b="0" i="0">
                <a:solidFill>
                  <a:srgbClr val="262626"/>
                </a:solidFill>
                <a:latin typeface="Arial"/>
                <a:ea typeface="Arial"/>
                <a:cs typeface="Arial"/>
              </a:rPr>
              <a:t>Phase purity · sigma(T)</a:t>
            </a:r>
          </a:p>
          <a:p xmlns:a="http://schemas.openxmlformats.org/drawingml/2006/main">
            <a:pPr algn="ctr">
              <a:defRPr sz="1050" b="0" i="0">
                <a:solidFill>
                  <a:srgbClr val="262626"/>
                </a:solidFill>
                <a:latin typeface="Arial"/>
                <a:ea typeface="Arial"/>
                <a:cs typeface="Arial"/>
              </a:defRPr>
            </a:pPr>
            <a:r>
              <a:rPr sz="1050" b="0" i="0">
                <a:solidFill>
                  <a:srgbClr val="262626"/>
                </a:solidFill>
                <a:latin typeface="Arial"/>
                <a:ea typeface="Arial"/>
                <a:cs typeface="Arial"/>
              </a:rPr>
              <a:t>stability · processing</a:t>
            </a:r>
          </a:p>
        </p:txBody>
      </p:sp>
      <p:sp>
        <p:nvSpPr>
          <p:cNvPr id="30" name="s06-guard">
            <a:extLst xmlns:a="http://schemas.openxmlformats.org/drawingml/2006/main">
              <a:ext uri="{FF2B5EF4-FFF2-40B4-BE49-F238E27FC236}">
                <a16:creationId xmlns:a16="http://schemas.microsoft.com/office/drawing/2014/main" id="{551098EF-9F21-438D-91BC-AA1DCBE8C38F}"/>
              </a:ext>
            </a:extLst>
          </p:cNvPr>
          <p:cNvSpPr>
            <a:spLocks xmlns:a="http://schemas.openxmlformats.org/drawingml/2006/main" noGrp="1"/>
          </p:cNvSpPr>
          <p:nvPr/>
        </p:nvSpPr>
        <p:spPr>
          <a:xfrm xmlns:a="http://schemas.openxmlformats.org/drawingml/2006/main">
            <a:off x="1809750" y="4333875"/>
            <a:ext cx="5524500" cy="514350"/>
          </a:xfrm>
          <a:prstGeom xmlns:a="http://schemas.openxmlformats.org/drawingml/2006/main" prst="rect">
            <a:avLst/>
          </a:prstGeom>
          <a:solidFill xmlns:a="http://schemas.openxmlformats.org/drawingml/2006/main">
            <a:srgbClr val="F2F2F2"/>
          </a:solidFill>
          <a:ln xmlns:a="http://schemas.openxmlformats.org/drawingml/2006/main" w="9525">
            <a:solidFill>
              <a:srgbClr val="D9E1F2"/>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350" b="1" i="0">
                <a:solidFill>
                  <a:srgbClr val="1F4E79"/>
                </a:solidFill>
                <a:latin typeface="Arial"/>
                <a:ea typeface="Arial"/>
                <a:cs typeface="Arial"/>
              </a:defRPr>
            </a:pPr>
            <a:r>
              <a:rPr sz="1350" b="1" i="0">
                <a:solidFill>
                  <a:srgbClr val="1F4E79"/>
                </a:solidFill>
                <a:latin typeface="Arial"/>
                <a:ea typeface="Arial"/>
                <a:cs typeface="Arial"/>
              </a:rPr>
              <a:t>Protocol tag + source file + status travel with every value</a:t>
            </a:r>
          </a:p>
        </p:txBody>
      </p:sp>
      <p:sp>
        <p:nvSpPr>
          <p:cNvPr id="31" name="s06-scope">
            <a:extLst xmlns:a="http://schemas.openxmlformats.org/drawingml/2006/main">
              <a:ext uri="{FF2B5EF4-FFF2-40B4-BE49-F238E27FC236}">
                <a16:creationId xmlns:a16="http://schemas.microsoft.com/office/drawing/2014/main" id="{5B895725-059E-43C4-B342-8C9D6400EC7E}"/>
              </a:ext>
            </a:extLst>
          </p:cNvPr>
          <p:cNvSpPr>
            <a:spLocks xmlns:a="http://schemas.openxmlformats.org/drawingml/2006/main" noGrp="1"/>
          </p:cNvSpPr>
          <p:nvPr/>
        </p:nvSpPr>
        <p:spPr>
          <a:xfrm xmlns:a="http://schemas.openxmlformats.org/drawingml/2006/main">
            <a:off x="1428750" y="5191125"/>
            <a:ext cx="628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200" b="1" i="0">
                <a:solidFill>
                  <a:srgbClr val="9E2A2B"/>
                </a:solidFill>
                <a:latin typeface="Arial"/>
                <a:ea typeface="Arial"/>
                <a:cs typeface="Arial"/>
              </a:defRPr>
            </a:pPr>
            <a:r>
              <a:rPr sz="1200" b="1" i="0">
                <a:solidFill>
                  <a:srgbClr val="9E2A2B"/>
                </a:solidFill>
                <a:latin typeface="Arial"/>
                <a:ea typeface="Arial"/>
                <a:cs typeface="Arial"/>
              </a:rPr>
              <a:t>Current scope: 47 relative screens; targeted DFT validation covers 2 candidates.</a:t>
            </a:r>
          </a:p>
        </p:txBody>
      </p:sp>
    </p:spTree>
    <p:extLst>
      <p:ext uri="{BB962C8B-B14F-4D97-AF65-F5344CB8AC3E}">
        <p14:creationId xmlns:p14="http://schemas.microsoft.com/office/powerpoint/2010/main" val="1396119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Evidence</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Canonical registry · same-protocol values</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LPSCl taught us which descriptors to watch</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7</a:t>
            </a:r>
            <a:endParaRPr sz="1000"/>
          </a:p>
        </p:txBody>
      </p:sp>
      <p:sp>
        <p:nvSpPr>
          <p:cNvPr id="11" name="s07-e-box">
            <a:extLst xmlns:a="http://schemas.openxmlformats.org/drawingml/2006/main">
              <a:ext uri="{FF2B5EF4-FFF2-40B4-BE49-F238E27FC236}">
                <a16:creationId xmlns:a16="http://schemas.microsoft.com/office/drawing/2014/main" id="{CEB29D4C-5313-4BAB-943A-B277BF578B9F}"/>
              </a:ext>
            </a:extLst>
          </p:cNvPr>
          <p:cNvSpPr>
            <a:spLocks xmlns:a="http://schemas.openxmlformats.org/drawingml/2006/main" noGrp="1"/>
          </p:cNvSpPr>
          <p:nvPr/>
        </p:nvSpPr>
        <p:spPr>
          <a:xfrm xmlns:a="http://schemas.openxmlformats.org/drawingml/2006/main">
            <a:off x="666750" y="1619250"/>
            <a:ext cx="2333625" cy="1809750"/>
          </a:xfrm>
          <a:prstGeom xmlns:a="http://schemas.openxmlformats.org/drawingml/2006/main" prst="roundRect">
            <a:avLst>
              <a:gd name="adj" fmla="val 4211"/>
            </a:avLst>
          </a:prstGeom>
          <a:solidFill xmlns:a="http://schemas.openxmlformats.org/drawingml/2006/main">
            <a:srgbClr val="F3F7FB"/>
          </a:solidFill>
          <a:ln xmlns:a="http://schemas.openxmlformats.org/drawingml/2006/main" w="9525">
            <a:solidFill>
              <a:srgbClr val="D9E1F2"/>
            </a:solidFill>
            <a:prstDash val="solid"/>
          </a:ln>
        </p:spPr>
      </p:sp>
      <p:sp>
        <p:nvSpPr>
          <p:cNvPr id="12" name="s07-e-accent">
            <a:extLst xmlns:a="http://schemas.openxmlformats.org/drawingml/2006/main">
              <a:ext uri="{FF2B5EF4-FFF2-40B4-BE49-F238E27FC236}">
                <a16:creationId xmlns:a16="http://schemas.microsoft.com/office/drawing/2014/main" id="{3F9143B7-A61C-4E1C-94DA-2D847E70BD68}"/>
              </a:ext>
            </a:extLst>
          </p:cNvPr>
          <p:cNvSpPr>
            <a:spLocks xmlns:a="http://schemas.openxmlformats.org/drawingml/2006/main" noGrp="1"/>
          </p:cNvSpPr>
          <p:nvPr/>
        </p:nvSpPr>
        <p:spPr>
          <a:xfrm xmlns:a="http://schemas.openxmlformats.org/drawingml/2006/main">
            <a:off x="666750" y="1619250"/>
            <a:ext cx="66675" cy="1809750"/>
          </a:xfrm>
          <a:prstGeom xmlns:a="http://schemas.openxmlformats.org/drawingml/2006/main" prst="rect">
            <a:avLst/>
          </a:prstGeom>
          <a:solidFill xmlns:a="http://schemas.openxmlformats.org/drawingml/2006/main">
            <a:srgbClr val="0070C0"/>
          </a:solidFill>
          <a:ln xmlns:a="http://schemas.openxmlformats.org/drawingml/2006/main" w="0">
            <a:solidFill>
              <a:srgbClr val="0070C0"/>
            </a:solidFill>
            <a:prstDash val="solid"/>
          </a:ln>
        </p:spPr>
      </p:sp>
      <p:sp>
        <p:nvSpPr>
          <p:cNvPr id="13" name="s07-e-title">
            <a:extLst xmlns:a="http://schemas.openxmlformats.org/drawingml/2006/main">
              <a:ext uri="{FF2B5EF4-FFF2-40B4-BE49-F238E27FC236}">
                <a16:creationId xmlns:a16="http://schemas.microsoft.com/office/drawing/2014/main" id="{444CCED4-9ADF-4345-9174-CB6E6F63A924}"/>
              </a:ext>
            </a:extLst>
          </p:cNvPr>
          <p:cNvSpPr>
            <a:spLocks xmlns:a="http://schemas.openxmlformats.org/drawingml/2006/main" noGrp="1"/>
          </p:cNvSpPr>
          <p:nvPr/>
        </p:nvSpPr>
        <p:spPr>
          <a:xfrm xmlns:a="http://schemas.openxmlformats.org/drawingml/2006/main">
            <a:off x="800100" y="1695450"/>
            <a:ext cx="21050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88235"/>
          </a:bodyPr>
          <a:lstStyle xmlns:a="http://schemas.openxmlformats.org/drawingml/2006/main"/>
          <a:p xmlns:a="http://schemas.openxmlformats.org/drawingml/2006/main">
            <a:pPr algn="l">
              <a:defRPr sz="1275" b="1" i="0">
                <a:solidFill>
                  <a:srgbClr val="1F4E79"/>
                </a:solidFill>
                <a:latin typeface="Arial"/>
                <a:ea typeface="Arial"/>
                <a:cs typeface="Arial"/>
              </a:defRPr>
            </a:pPr>
            <a:r>
              <a:rPr sz="1275" b="1" i="0">
                <a:solidFill>
                  <a:srgbClr val="1F4E79"/>
                </a:solidFill>
                <a:latin typeface="Arial"/>
                <a:ea typeface="Arial"/>
                <a:cs typeface="Arial"/>
              </a:rPr>
              <a:t>Electronic guard</a:t>
            </a:r>
          </a:p>
        </p:txBody>
      </p:sp>
      <p:sp>
        <p:nvSpPr>
          <p:cNvPr id="14" name="s07-e-body">
            <a:extLst xmlns:a="http://schemas.openxmlformats.org/drawingml/2006/main">
              <a:ext uri="{FF2B5EF4-FFF2-40B4-BE49-F238E27FC236}">
                <a16:creationId xmlns:a16="http://schemas.microsoft.com/office/drawing/2014/main" id="{7E18D7A7-0ED0-4D8A-B0AF-96DE7EA36A96}"/>
              </a:ext>
            </a:extLst>
          </p:cNvPr>
          <p:cNvSpPr>
            <a:spLocks xmlns:a="http://schemas.openxmlformats.org/drawingml/2006/main" noGrp="1"/>
          </p:cNvSpPr>
          <p:nvPr/>
        </p:nvSpPr>
        <p:spPr>
          <a:xfrm xmlns:a="http://schemas.openxmlformats.org/drawingml/2006/main">
            <a:off x="800100" y="1990725"/>
            <a:ext cx="2105025"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Eg = 2.066 vs 2.099 eV</a:t>
            </a:r>
          </a:p>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Delta = 0.033 eV</a:t>
            </a:r>
          </a:p>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Fixed-occupation eigenvalues</a:t>
            </a:r>
          </a:p>
        </p:txBody>
      </p:sp>
      <p:sp>
        <p:nvSpPr>
          <p:cNvPr id="15" name="s07-d-box">
            <a:extLst xmlns:a="http://schemas.openxmlformats.org/drawingml/2006/main">
              <a:ext uri="{FF2B5EF4-FFF2-40B4-BE49-F238E27FC236}">
                <a16:creationId xmlns:a16="http://schemas.microsoft.com/office/drawing/2014/main" id="{4329F145-4828-42E4-ADF9-81A69EA01CF7}"/>
              </a:ext>
            </a:extLst>
          </p:cNvPr>
          <p:cNvSpPr>
            <a:spLocks xmlns:a="http://schemas.openxmlformats.org/drawingml/2006/main" noGrp="1"/>
          </p:cNvSpPr>
          <p:nvPr/>
        </p:nvSpPr>
        <p:spPr>
          <a:xfrm xmlns:a="http://schemas.openxmlformats.org/drawingml/2006/main">
            <a:off x="3400425" y="1619250"/>
            <a:ext cx="2333625" cy="1809750"/>
          </a:xfrm>
          <a:prstGeom xmlns:a="http://schemas.openxmlformats.org/drawingml/2006/main" prst="roundRect">
            <a:avLst>
              <a:gd name="adj" fmla="val 4211"/>
            </a:avLst>
          </a:prstGeom>
          <a:solidFill xmlns:a="http://schemas.openxmlformats.org/drawingml/2006/main">
            <a:srgbClr val="FFF4E0"/>
          </a:solidFill>
          <a:ln xmlns:a="http://schemas.openxmlformats.org/drawingml/2006/main" w="9525">
            <a:solidFill>
              <a:srgbClr val="D9E1F2"/>
            </a:solidFill>
            <a:prstDash val="solid"/>
          </a:ln>
        </p:spPr>
      </p:sp>
      <p:sp>
        <p:nvSpPr>
          <p:cNvPr id="16" name="s07-d-accent">
            <a:extLst xmlns:a="http://schemas.openxmlformats.org/drawingml/2006/main">
              <a:ext uri="{FF2B5EF4-FFF2-40B4-BE49-F238E27FC236}">
                <a16:creationId xmlns:a16="http://schemas.microsoft.com/office/drawing/2014/main" id="{FA94CC81-5AF2-488B-909F-A27EA920E00C}"/>
              </a:ext>
            </a:extLst>
          </p:cNvPr>
          <p:cNvSpPr>
            <a:spLocks xmlns:a="http://schemas.openxmlformats.org/drawingml/2006/main" noGrp="1"/>
          </p:cNvSpPr>
          <p:nvPr/>
        </p:nvSpPr>
        <p:spPr>
          <a:xfrm xmlns:a="http://schemas.openxmlformats.org/drawingml/2006/main">
            <a:off x="3400425" y="1619250"/>
            <a:ext cx="66675" cy="1809750"/>
          </a:xfrm>
          <a:prstGeom xmlns:a="http://schemas.openxmlformats.org/drawingml/2006/main" prst="rect">
            <a:avLst/>
          </a:prstGeom>
          <a:solidFill xmlns:a="http://schemas.openxmlformats.org/drawingml/2006/main">
            <a:srgbClr val="B26A00"/>
          </a:solidFill>
          <a:ln xmlns:a="http://schemas.openxmlformats.org/drawingml/2006/main" w="0">
            <a:solidFill>
              <a:srgbClr val="B26A00"/>
            </a:solidFill>
            <a:prstDash val="solid"/>
          </a:ln>
        </p:spPr>
      </p:sp>
      <p:sp>
        <p:nvSpPr>
          <p:cNvPr id="17" name="s07-d-title">
            <a:extLst xmlns:a="http://schemas.openxmlformats.org/drawingml/2006/main">
              <a:ext uri="{FF2B5EF4-FFF2-40B4-BE49-F238E27FC236}">
                <a16:creationId xmlns:a16="http://schemas.microsoft.com/office/drawing/2014/main" id="{1D129389-9F1A-4669-85D2-4F22AE42F73C}"/>
              </a:ext>
            </a:extLst>
          </p:cNvPr>
          <p:cNvSpPr>
            <a:spLocks xmlns:a="http://schemas.openxmlformats.org/drawingml/2006/main" noGrp="1"/>
          </p:cNvSpPr>
          <p:nvPr/>
        </p:nvSpPr>
        <p:spPr>
          <a:xfrm xmlns:a="http://schemas.openxmlformats.org/drawingml/2006/main">
            <a:off x="3533775" y="1695450"/>
            <a:ext cx="21050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88235"/>
          </a:bodyPr>
          <a:lstStyle xmlns:a="http://schemas.openxmlformats.org/drawingml/2006/main"/>
          <a:p xmlns:a="http://schemas.openxmlformats.org/drawingml/2006/main">
            <a:pPr algn="l">
              <a:defRPr sz="1275" b="1" i="0">
                <a:solidFill>
                  <a:srgbClr val="1F4E79"/>
                </a:solidFill>
                <a:latin typeface="Arial"/>
                <a:ea typeface="Arial"/>
                <a:cs typeface="Arial"/>
              </a:defRPr>
            </a:pPr>
            <a:r>
              <a:rPr sz="1275" b="1" i="0">
                <a:solidFill>
                  <a:srgbClr val="1F4E79"/>
                </a:solidFill>
                <a:latin typeface="Arial"/>
                <a:ea typeface="Arial"/>
                <a:cs typeface="Arial"/>
              </a:rPr>
              <a:t>Structural contrast</a:t>
            </a:r>
          </a:p>
        </p:txBody>
      </p:sp>
      <p:sp>
        <p:nvSpPr>
          <p:cNvPr id="18" name="s07-d-body">
            <a:extLst xmlns:a="http://schemas.openxmlformats.org/drawingml/2006/main">
              <a:ext uri="{FF2B5EF4-FFF2-40B4-BE49-F238E27FC236}">
                <a16:creationId xmlns:a16="http://schemas.microsoft.com/office/drawing/2014/main" id="{F3171831-CEEF-4A61-B8C6-43EDBE1379D9}"/>
              </a:ext>
            </a:extLst>
          </p:cNvPr>
          <p:cNvSpPr>
            <a:spLocks xmlns:a="http://schemas.openxmlformats.org/drawingml/2006/main" noGrp="1"/>
          </p:cNvSpPr>
          <p:nvPr/>
        </p:nvSpPr>
        <p:spPr>
          <a:xfrm xmlns:a="http://schemas.openxmlformats.org/drawingml/2006/main">
            <a:off x="3533775" y="1990725"/>
            <a:ext cx="2105025"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Li vacancies</a:t>
            </a:r>
          </a:p>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4d-Cl anti-sites</a:t>
            </a:r>
          </a:p>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Disorder, not a new chemistry</a:t>
            </a:r>
          </a:p>
        </p:txBody>
      </p:sp>
      <p:sp>
        <p:nvSpPr>
          <p:cNvPr id="19" name="s07-t-box">
            <a:extLst xmlns:a="http://schemas.openxmlformats.org/drawingml/2006/main">
              <a:ext uri="{FF2B5EF4-FFF2-40B4-BE49-F238E27FC236}">
                <a16:creationId xmlns:a16="http://schemas.microsoft.com/office/drawing/2014/main" id="{3E24AAB1-A28F-4D10-BDE5-AB59F153F1F9}"/>
              </a:ext>
            </a:extLst>
          </p:cNvPr>
          <p:cNvSpPr>
            <a:spLocks xmlns:a="http://schemas.openxmlformats.org/drawingml/2006/main" noGrp="1"/>
          </p:cNvSpPr>
          <p:nvPr/>
        </p:nvSpPr>
        <p:spPr>
          <a:xfrm xmlns:a="http://schemas.openxmlformats.org/drawingml/2006/main">
            <a:off x="6134100" y="1619250"/>
            <a:ext cx="2333625" cy="1809750"/>
          </a:xfrm>
          <a:prstGeom xmlns:a="http://schemas.openxmlformats.org/drawingml/2006/main" prst="roundRect">
            <a:avLst>
              <a:gd name="adj" fmla="val 4211"/>
            </a:avLst>
          </a:prstGeom>
          <a:solidFill xmlns:a="http://schemas.openxmlformats.org/drawingml/2006/main">
            <a:srgbClr val="E8F5E9"/>
          </a:solidFill>
          <a:ln xmlns:a="http://schemas.openxmlformats.org/drawingml/2006/main" w="9525">
            <a:solidFill>
              <a:srgbClr val="D9E1F2"/>
            </a:solidFill>
            <a:prstDash val="solid"/>
          </a:ln>
        </p:spPr>
      </p:sp>
      <p:sp>
        <p:nvSpPr>
          <p:cNvPr id="20" name="s07-t-accent">
            <a:extLst xmlns:a="http://schemas.openxmlformats.org/drawingml/2006/main">
              <a:ext uri="{FF2B5EF4-FFF2-40B4-BE49-F238E27FC236}">
                <a16:creationId xmlns:a16="http://schemas.microsoft.com/office/drawing/2014/main" id="{6EAA245D-29FA-4563-B3BD-3AA7132C737D}"/>
              </a:ext>
            </a:extLst>
          </p:cNvPr>
          <p:cNvSpPr>
            <a:spLocks xmlns:a="http://schemas.openxmlformats.org/drawingml/2006/main" noGrp="1"/>
          </p:cNvSpPr>
          <p:nvPr/>
        </p:nvSpPr>
        <p:spPr>
          <a:xfrm xmlns:a="http://schemas.openxmlformats.org/drawingml/2006/main">
            <a:off x="6134100" y="1619250"/>
            <a:ext cx="66675" cy="1809750"/>
          </a:xfrm>
          <a:prstGeom xmlns:a="http://schemas.openxmlformats.org/drawingml/2006/main" prst="rect">
            <a:avLst/>
          </a:prstGeom>
          <a:solidFill xmlns:a="http://schemas.openxmlformats.org/drawingml/2006/main">
            <a:srgbClr val="2E7D32"/>
          </a:solidFill>
          <a:ln xmlns:a="http://schemas.openxmlformats.org/drawingml/2006/main" w="0">
            <a:solidFill>
              <a:srgbClr val="2E7D32"/>
            </a:solidFill>
            <a:prstDash val="solid"/>
          </a:ln>
        </p:spPr>
      </p:sp>
      <p:sp>
        <p:nvSpPr>
          <p:cNvPr id="21" name="s07-t-title">
            <a:extLst xmlns:a="http://schemas.openxmlformats.org/drawingml/2006/main">
              <a:ext uri="{FF2B5EF4-FFF2-40B4-BE49-F238E27FC236}">
                <a16:creationId xmlns:a16="http://schemas.microsoft.com/office/drawing/2014/main" id="{E602318D-8818-4715-BC26-959DA0204B1A}"/>
              </a:ext>
            </a:extLst>
          </p:cNvPr>
          <p:cNvSpPr>
            <a:spLocks xmlns:a="http://schemas.openxmlformats.org/drawingml/2006/main" noGrp="1"/>
          </p:cNvSpPr>
          <p:nvPr/>
        </p:nvSpPr>
        <p:spPr>
          <a:xfrm xmlns:a="http://schemas.openxmlformats.org/drawingml/2006/main">
            <a:off x="6267450" y="1695450"/>
            <a:ext cx="21050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88235"/>
          </a:bodyPr>
          <a:lstStyle xmlns:a="http://schemas.openxmlformats.org/drawingml/2006/main"/>
          <a:p xmlns:a="http://schemas.openxmlformats.org/drawingml/2006/main">
            <a:pPr algn="l">
              <a:defRPr sz="1275" b="1" i="0">
                <a:solidFill>
                  <a:srgbClr val="1F4E79"/>
                </a:solidFill>
                <a:latin typeface="Arial"/>
                <a:ea typeface="Arial"/>
                <a:cs typeface="Arial"/>
              </a:defRPr>
            </a:pPr>
            <a:r>
              <a:rPr sz="1275" b="1" i="0">
                <a:solidFill>
                  <a:srgbClr val="1F4E79"/>
                </a:solidFill>
                <a:latin typeface="Arial"/>
                <a:ea typeface="Arial"/>
                <a:cs typeface="Arial"/>
              </a:rPr>
              <a:t>Transport evidence</a:t>
            </a:r>
          </a:p>
        </p:txBody>
      </p:sp>
      <p:sp>
        <p:nvSpPr>
          <p:cNvPr id="22" name="s07-t-body">
            <a:extLst xmlns:a="http://schemas.openxmlformats.org/drawingml/2006/main">
              <a:ext uri="{FF2B5EF4-FFF2-40B4-BE49-F238E27FC236}">
                <a16:creationId xmlns:a16="http://schemas.microsoft.com/office/drawing/2014/main" id="{319878EF-237C-4056-AC36-79CC3276997F}"/>
              </a:ext>
            </a:extLst>
          </p:cNvPr>
          <p:cNvSpPr>
            <a:spLocks xmlns:a="http://schemas.openxmlformats.org/drawingml/2006/main" noGrp="1"/>
          </p:cNvSpPr>
          <p:nvPr/>
        </p:nvSpPr>
        <p:spPr>
          <a:xfrm xmlns:a="http://schemas.openxmlformats.org/drawingml/2006/main">
            <a:off x="6267450" y="1990725"/>
            <a:ext cx="2105025"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1050" b="0" i="0">
                <a:solidFill>
                  <a:srgbClr val="262626"/>
                </a:solidFill>
                <a:latin typeface="Arial"/>
                <a:ea typeface="Arial"/>
                <a:cs typeface="Arial"/>
              </a:defRPr>
            </a:pPr>
            <a:r>
              <a:rPr sz="1050" b="0" i="0">
                <a:solidFill>
                  <a:srgbClr val="262626"/>
                </a:solidFill>
                <a:latin typeface="Arial"/>
                <a:ea typeface="Arial"/>
                <a:cs typeface="Arial"/>
              </a:rPr>
              <a:t>Cl-rich modelc: Ea = 0.197 ± 0.032 eV</a:t>
            </a:r>
          </a:p>
          <a:p xmlns:a="http://schemas.openxmlformats.org/drawingml/2006/main">
            <a:pPr algn="l">
              <a:defRPr sz="1050" b="0" i="0">
                <a:solidFill>
                  <a:srgbClr val="262626"/>
                </a:solidFill>
                <a:latin typeface="Arial"/>
                <a:ea typeface="Arial"/>
                <a:cs typeface="Arial"/>
              </a:defRPr>
            </a:pPr>
            <a:r>
              <a:rPr sz="1050" b="0" i="0">
                <a:solidFill>
                  <a:srgbClr val="262626"/>
                </a:solidFill>
                <a:latin typeface="Arial"/>
                <a:ea typeface="Arial"/>
                <a:cs typeface="Arial"/>
              </a:rPr>
              <a:t>3-seed, 600/800/1000 K</a:t>
            </a:r>
          </a:p>
          <a:p xmlns:a="http://schemas.openxmlformats.org/drawingml/2006/main">
            <a:pPr algn="l">
              <a:defRPr sz="1050" b="0" i="0">
                <a:solidFill>
                  <a:srgbClr val="262626"/>
                </a:solidFill>
                <a:latin typeface="Arial"/>
                <a:ea typeface="Arial"/>
                <a:cs typeface="Arial"/>
              </a:defRPr>
            </a:pPr>
            <a:r>
              <a:rPr sz="1050" b="0" i="0">
                <a:solidFill>
                  <a:srgbClr val="262626"/>
                </a:solidFill>
                <a:latin typeface="Arial"/>
                <a:ea typeface="Arial"/>
                <a:cs typeface="Arial"/>
              </a:rPr>
              <a:t>No citable comp1 Ea</a:t>
            </a:r>
          </a:p>
        </p:txBody>
      </p:sp>
      <p:sp>
        <p:nvSpPr>
          <p:cNvPr id="23" name="s07-down1">
            <a:extLst xmlns:a="http://schemas.openxmlformats.org/drawingml/2006/main">
              <a:ext uri="{FF2B5EF4-FFF2-40B4-BE49-F238E27FC236}">
                <a16:creationId xmlns:a16="http://schemas.microsoft.com/office/drawing/2014/main" id="{39AE14F7-8DB6-4A44-9867-29D8139473DD}"/>
              </a:ext>
            </a:extLst>
          </p:cNvPr>
          <p:cNvSpPr>
            <a:spLocks xmlns:a="http://schemas.openxmlformats.org/drawingml/2006/main" noGrp="1"/>
          </p:cNvSpPr>
          <p:nvPr/>
        </p:nvSpPr>
        <p:spPr>
          <a:xfrm xmlns:a="http://schemas.openxmlformats.org/drawingml/2006/main">
            <a:off x="1628775" y="3667125"/>
            <a:ext cx="533400" cy="457200"/>
          </a:xfrm>
          <a:prstGeom xmlns:a="http://schemas.openxmlformats.org/drawingml/2006/main" prst="rightArrow">
            <a:avLst/>
          </a:prstGeom>
          <a:solidFill xmlns:a="http://schemas.openxmlformats.org/drawingml/2006/main">
            <a:srgbClr val="FFFFFF"/>
          </a:solidFill>
          <a:ln xmlns:a="http://schemas.openxmlformats.org/drawingml/2006/main" w="9525">
            <a:solidFill>
              <a:srgbClr val="7F7F7F"/>
            </a:solidFill>
            <a:prstDash val="solid"/>
          </a:ln>
        </p:spPr>
      </p:sp>
      <p:sp>
        <p:nvSpPr>
          <p:cNvPr id="24" name="s07-down2">
            <a:extLst xmlns:a="http://schemas.openxmlformats.org/drawingml/2006/main">
              <a:ext uri="{FF2B5EF4-FFF2-40B4-BE49-F238E27FC236}">
                <a16:creationId xmlns:a16="http://schemas.microsoft.com/office/drawing/2014/main" id="{A9364D2E-4934-4FC2-96DF-3E4624121589}"/>
              </a:ext>
            </a:extLst>
          </p:cNvPr>
          <p:cNvSpPr>
            <a:spLocks xmlns:a="http://schemas.openxmlformats.org/drawingml/2006/main" noGrp="1"/>
          </p:cNvSpPr>
          <p:nvPr/>
        </p:nvSpPr>
        <p:spPr>
          <a:xfrm xmlns:a="http://schemas.openxmlformats.org/drawingml/2006/main">
            <a:off x="4362450" y="3667125"/>
            <a:ext cx="533400" cy="457200"/>
          </a:xfrm>
          <a:prstGeom xmlns:a="http://schemas.openxmlformats.org/drawingml/2006/main" prst="rightArrow">
            <a:avLst/>
          </a:prstGeom>
          <a:solidFill xmlns:a="http://schemas.openxmlformats.org/drawingml/2006/main">
            <a:srgbClr val="FFFFFF"/>
          </a:solidFill>
          <a:ln xmlns:a="http://schemas.openxmlformats.org/drawingml/2006/main" w="9525">
            <a:solidFill>
              <a:srgbClr val="7F7F7F"/>
            </a:solidFill>
            <a:prstDash val="solid"/>
          </a:ln>
        </p:spPr>
      </p:sp>
      <p:sp>
        <p:nvSpPr>
          <p:cNvPr id="25" name="s07-down3">
            <a:extLst xmlns:a="http://schemas.openxmlformats.org/drawingml/2006/main">
              <a:ext uri="{FF2B5EF4-FFF2-40B4-BE49-F238E27FC236}">
                <a16:creationId xmlns:a16="http://schemas.microsoft.com/office/drawing/2014/main" id="{EB56AF96-B3EB-4A76-8E1E-86384721F535}"/>
              </a:ext>
            </a:extLst>
          </p:cNvPr>
          <p:cNvSpPr>
            <a:spLocks xmlns:a="http://schemas.openxmlformats.org/drawingml/2006/main" noGrp="1"/>
          </p:cNvSpPr>
          <p:nvPr/>
        </p:nvSpPr>
        <p:spPr>
          <a:xfrm xmlns:a="http://schemas.openxmlformats.org/drawingml/2006/main">
            <a:off x="7096125" y="3667125"/>
            <a:ext cx="533400" cy="457200"/>
          </a:xfrm>
          <a:prstGeom xmlns:a="http://schemas.openxmlformats.org/drawingml/2006/main" prst="rightArrow">
            <a:avLst/>
          </a:prstGeom>
          <a:solidFill xmlns:a="http://schemas.openxmlformats.org/drawingml/2006/main">
            <a:srgbClr val="FFFFFF"/>
          </a:solidFill>
          <a:ln xmlns:a="http://schemas.openxmlformats.org/drawingml/2006/main" w="9525">
            <a:solidFill>
              <a:srgbClr val="7F7F7F"/>
            </a:solidFill>
            <a:prstDash val="solid"/>
          </a:ln>
        </p:spPr>
      </p:sp>
      <p:sp>
        <p:nvSpPr>
          <p:cNvPr id="26" name="s07-take">
            <a:extLst xmlns:a="http://schemas.openxmlformats.org/drawingml/2006/main">
              <a:ext uri="{FF2B5EF4-FFF2-40B4-BE49-F238E27FC236}">
                <a16:creationId xmlns:a16="http://schemas.microsoft.com/office/drawing/2014/main" id="{0F7A6885-3A81-4FBB-9E24-25B81B8CA9DC}"/>
              </a:ext>
            </a:extLst>
          </p:cNvPr>
          <p:cNvSpPr>
            <a:spLocks xmlns:a="http://schemas.openxmlformats.org/drawingml/2006/main" noGrp="1"/>
          </p:cNvSpPr>
          <p:nvPr/>
        </p:nvSpPr>
        <p:spPr>
          <a:xfrm xmlns:a="http://schemas.openxmlformats.org/drawingml/2006/main">
            <a:off x="1666875" y="4524375"/>
            <a:ext cx="5810250" cy="647700"/>
          </a:xfrm>
          <a:prstGeom xmlns:a="http://schemas.openxmlformats.org/drawingml/2006/main" prst="rect">
            <a:avLst/>
          </a:prstGeom>
          <a:solidFill xmlns:a="http://schemas.openxmlformats.org/drawingml/2006/main">
            <a:srgbClr val="DCE6F1"/>
          </a:solidFill>
          <a:ln xmlns:a="http://schemas.openxmlformats.org/drawingml/2006/main" w="9525">
            <a:solidFill>
              <a:srgbClr val="1F4E79"/>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725" b="1" i="0">
                <a:solidFill>
                  <a:srgbClr val="1F4E79"/>
                </a:solidFill>
                <a:latin typeface="Arial"/>
                <a:ea typeface="Arial"/>
                <a:cs typeface="Arial"/>
              </a:defRPr>
            </a:pPr>
            <a:r>
              <a:rPr sz="1725" b="1" i="0">
                <a:solidFill>
                  <a:srgbClr val="1F4E79"/>
                </a:solidFill>
                <a:latin typeface="Arial"/>
                <a:ea typeface="Arial"/>
                <a:cs typeface="Arial"/>
              </a:rPr>
              <a:t>Structural descriptors first; electronics remain a guardrail.</a:t>
            </a:r>
          </a:p>
        </p:txBody>
      </p:sp>
      <p:sp>
        <p:nvSpPr>
          <p:cNvPr id="27" name="s07-prov">
            <a:extLst xmlns:a="http://schemas.openxmlformats.org/drawingml/2006/main">
              <a:ext uri="{FF2B5EF4-FFF2-40B4-BE49-F238E27FC236}">
                <a16:creationId xmlns:a16="http://schemas.microsoft.com/office/drawing/2014/main" id="{C0AC72F6-C592-4D7A-B83E-7429B0DA04D8}"/>
              </a:ext>
            </a:extLst>
          </p:cNvPr>
          <p:cNvSpPr>
            <a:spLocks xmlns:a="http://schemas.openxmlformats.org/drawingml/2006/main" noGrp="1"/>
          </p:cNvSpPr>
          <p:nvPr/>
        </p:nvSpPr>
        <p:spPr>
          <a:xfrm xmlns:a="http://schemas.openxmlformats.org/drawingml/2006/main">
            <a:off x="1428750" y="5381625"/>
            <a:ext cx="628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38" b="1" i="0">
                <a:solidFill>
                  <a:srgbClr val="9E2A2B"/>
                </a:solidFill>
                <a:latin typeface="Arial"/>
                <a:ea typeface="Arial"/>
                <a:cs typeface="Arial"/>
              </a:defRPr>
            </a:pPr>
            <a:r>
              <a:rPr sz="938" b="1" i="0">
                <a:solidFill>
                  <a:srgbClr val="9E2A2B"/>
                </a:solidFill>
                <a:latin typeface="Arial"/>
                <a:ea typeface="Arial"/>
                <a:cs typeface="Arial"/>
              </a:rPr>
              <a:t>Gap values are canonical; lineage-specific fixed-occ run files remain provenance-open.</a:t>
            </a:r>
          </a:p>
        </p:txBody>
      </p:sp>
    </p:spTree>
    <p:extLst>
      <p:ext uri="{BB962C8B-B14F-4D97-AF65-F5344CB8AC3E}">
        <p14:creationId xmlns:p14="http://schemas.microsoft.com/office/powerpoint/2010/main" val="1396119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Cascade</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G1-G4 physical · G5 ranking-only</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Five gates ask five different questions</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8</a:t>
            </a:r>
            <a:endParaRPr sz="1000"/>
          </a:p>
        </p:txBody>
      </p:sp>
      <p:sp>
        <p:nvSpPr>
          <p:cNvPr id="11" name="s08-g-0">
            <a:extLst xmlns:a="http://schemas.openxmlformats.org/drawingml/2006/main">
              <a:ext uri="{FF2B5EF4-FFF2-40B4-BE49-F238E27FC236}">
                <a16:creationId xmlns:a16="http://schemas.microsoft.com/office/drawing/2014/main" id="{DCA9A64F-9710-433A-8A0D-B6945638ED1D}"/>
              </a:ext>
            </a:extLst>
          </p:cNvPr>
          <p:cNvSpPr>
            <a:spLocks xmlns:a="http://schemas.openxmlformats.org/drawingml/2006/main" noGrp="1"/>
          </p:cNvSpPr>
          <p:nvPr/>
        </p:nvSpPr>
        <p:spPr>
          <a:xfrm xmlns:a="http://schemas.openxmlformats.org/drawingml/2006/main">
            <a:off x="476250" y="1571625"/>
            <a:ext cx="1571625" cy="2905125"/>
          </a:xfrm>
          <a:prstGeom xmlns:a="http://schemas.openxmlformats.org/drawingml/2006/main" prst="roundRect">
            <a:avLst>
              <a:gd name="adj" fmla="val 4848"/>
            </a:avLst>
          </a:prstGeom>
          <a:solidFill xmlns:a="http://schemas.openxmlformats.org/drawingml/2006/main">
            <a:srgbClr val="DCE6F1"/>
          </a:solidFill>
          <a:ln xmlns:a="http://schemas.openxmlformats.org/drawingml/2006/main" w="9525">
            <a:solidFill>
              <a:srgbClr val="0070C0"/>
            </a:solidFill>
            <a:prstDash val="solid"/>
          </a:ln>
        </p:spPr>
      </p:sp>
      <p:sp>
        <p:nvSpPr>
          <p:cNvPr id="12" name="s08-gn-0">
            <a:extLst xmlns:a="http://schemas.openxmlformats.org/drawingml/2006/main">
              <a:ext uri="{FF2B5EF4-FFF2-40B4-BE49-F238E27FC236}">
                <a16:creationId xmlns:a16="http://schemas.microsoft.com/office/drawing/2014/main" id="{5C7CC6D7-D3AA-4DA6-AF7C-A839ACB5747A}"/>
              </a:ext>
            </a:extLst>
          </p:cNvPr>
          <p:cNvSpPr>
            <a:spLocks xmlns:a="http://schemas.openxmlformats.org/drawingml/2006/main" noGrp="1"/>
          </p:cNvSpPr>
          <p:nvPr/>
        </p:nvSpPr>
        <p:spPr>
          <a:xfrm xmlns:a="http://schemas.openxmlformats.org/drawingml/2006/main">
            <a:off x="619125" y="1714500"/>
            <a:ext cx="1285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2100" b="1" i="0">
                <a:solidFill>
                  <a:srgbClr val="0070C0"/>
                </a:solidFill>
                <a:latin typeface="Arial"/>
                <a:ea typeface="Arial"/>
                <a:cs typeface="Arial"/>
              </a:defRPr>
            </a:pPr>
            <a:r>
              <a:rPr sz="2100" b="1" i="0">
                <a:solidFill>
                  <a:srgbClr val="0070C0"/>
                </a:solidFill>
                <a:latin typeface="Arial"/>
                <a:ea typeface="Arial"/>
                <a:cs typeface="Arial"/>
              </a:rPr>
              <a:t>G1</a:t>
            </a:r>
          </a:p>
        </p:txBody>
      </p:sp>
      <p:sp>
        <p:nvSpPr>
          <p:cNvPr id="13" name="s08-gt-0">
            <a:extLst xmlns:a="http://schemas.openxmlformats.org/drawingml/2006/main">
              <a:ext uri="{FF2B5EF4-FFF2-40B4-BE49-F238E27FC236}">
                <a16:creationId xmlns:a16="http://schemas.microsoft.com/office/drawing/2014/main" id="{47542712-31CB-4E6A-80B2-85CA83DF9F94}"/>
              </a:ext>
            </a:extLst>
          </p:cNvPr>
          <p:cNvSpPr>
            <a:spLocks xmlns:a="http://schemas.openxmlformats.org/drawingml/2006/main" noGrp="1"/>
          </p:cNvSpPr>
          <p:nvPr/>
        </p:nvSpPr>
        <p:spPr>
          <a:xfrm xmlns:a="http://schemas.openxmlformats.org/drawingml/2006/main">
            <a:off x="590550" y="2286000"/>
            <a:ext cx="1343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200" b="1" i="0">
                <a:solidFill>
                  <a:srgbClr val="262626"/>
                </a:solidFill>
                <a:latin typeface="Arial"/>
                <a:ea typeface="Arial"/>
                <a:cs typeface="Arial"/>
              </a:defRPr>
            </a:pPr>
            <a:r>
              <a:rPr sz="1200" b="1" i="0">
                <a:solidFill>
                  <a:srgbClr val="262626"/>
                </a:solidFill>
                <a:latin typeface="Arial"/>
                <a:ea typeface="Arial"/>
                <a:cs typeface="Arial"/>
              </a:rPr>
              <a:t>Structure</a:t>
            </a:r>
          </a:p>
        </p:txBody>
      </p:sp>
      <p:sp>
        <p:nvSpPr>
          <p:cNvPr id="14" name="s08-gq-0">
            <a:extLst xmlns:a="http://schemas.openxmlformats.org/drawingml/2006/main">
              <a:ext uri="{FF2B5EF4-FFF2-40B4-BE49-F238E27FC236}">
                <a16:creationId xmlns:a16="http://schemas.microsoft.com/office/drawing/2014/main" id="{13586DFD-87DC-45E9-A72A-C4F2B58D528E}"/>
              </a:ext>
            </a:extLst>
          </p:cNvPr>
          <p:cNvSpPr>
            <a:spLocks xmlns:a="http://schemas.openxmlformats.org/drawingml/2006/main" noGrp="1"/>
          </p:cNvSpPr>
          <p:nvPr/>
        </p:nvSpPr>
        <p:spPr>
          <a:xfrm xmlns:a="http://schemas.openxmlformats.org/drawingml/2006/main">
            <a:off x="628650" y="2809875"/>
            <a:ext cx="12668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13" b="0" i="0">
                <a:solidFill>
                  <a:srgbClr val="262626"/>
                </a:solidFill>
                <a:latin typeface="Arial"/>
                <a:ea typeface="Arial"/>
                <a:cs typeface="Arial"/>
              </a:defRPr>
            </a:pPr>
            <a:r>
              <a:rPr sz="1013" b="0" i="0">
                <a:solidFill>
                  <a:srgbClr val="262626"/>
                </a:solidFill>
                <a:latin typeface="Arial"/>
                <a:ea typeface="Arial"/>
                <a:cs typeface="Arial"/>
              </a:rPr>
              <a:t>More stable than host?</a:t>
            </a:r>
          </a:p>
        </p:txBody>
      </p:sp>
      <p:sp>
        <p:nvSpPr>
          <p:cNvPr id="15" name="s08-gth-0">
            <a:extLst xmlns:a="http://schemas.openxmlformats.org/drawingml/2006/main">
              <a:ext uri="{FF2B5EF4-FFF2-40B4-BE49-F238E27FC236}">
                <a16:creationId xmlns:a16="http://schemas.microsoft.com/office/drawing/2014/main" id="{FC76B85A-E2A6-4095-87F3-35A4223E7FCE}"/>
              </a:ext>
            </a:extLst>
          </p:cNvPr>
          <p:cNvSpPr>
            <a:spLocks xmlns:a="http://schemas.openxmlformats.org/drawingml/2006/main" noGrp="1"/>
          </p:cNvSpPr>
          <p:nvPr/>
        </p:nvSpPr>
        <p:spPr>
          <a:xfrm xmlns:a="http://schemas.openxmlformats.org/drawingml/2006/main">
            <a:off x="590550" y="3714750"/>
            <a:ext cx="134302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E1F2"/>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38" b="1" i="0">
                <a:solidFill>
                  <a:srgbClr val="0070C0"/>
                </a:solidFill>
                <a:latin typeface="Arial"/>
                <a:ea typeface="Arial"/>
                <a:cs typeface="Arial"/>
              </a:defRPr>
            </a:pPr>
            <a:r>
              <a:rPr sz="938" b="1" i="0">
                <a:solidFill>
                  <a:srgbClr val="0070C0"/>
                </a:solidFill>
                <a:latin typeface="Arial"/>
                <a:ea typeface="Arial"/>
                <a:cs typeface="Arial"/>
              </a:rPr>
              <a:t>mean ΔE &lt; 0</a:t>
            </a:r>
          </a:p>
        </p:txBody>
      </p:sp>
      <p:sp>
        <p:nvSpPr>
          <p:cNvPr id="16" name="s08-g-1">
            <a:extLst xmlns:a="http://schemas.openxmlformats.org/drawingml/2006/main">
              <a:ext uri="{FF2B5EF4-FFF2-40B4-BE49-F238E27FC236}">
                <a16:creationId xmlns:a16="http://schemas.microsoft.com/office/drawing/2014/main" id="{6A5D8181-C1D8-4285-A047-7228D44C059B}"/>
              </a:ext>
            </a:extLst>
          </p:cNvPr>
          <p:cNvSpPr>
            <a:spLocks xmlns:a="http://schemas.openxmlformats.org/drawingml/2006/main" noGrp="1"/>
          </p:cNvSpPr>
          <p:nvPr/>
        </p:nvSpPr>
        <p:spPr>
          <a:xfrm xmlns:a="http://schemas.openxmlformats.org/drawingml/2006/main">
            <a:off x="2200275" y="1571625"/>
            <a:ext cx="1571625" cy="2905125"/>
          </a:xfrm>
          <a:prstGeom xmlns:a="http://schemas.openxmlformats.org/drawingml/2006/main" prst="roundRect">
            <a:avLst>
              <a:gd name="adj" fmla="val 4848"/>
            </a:avLst>
          </a:prstGeom>
          <a:solidFill xmlns:a="http://schemas.openxmlformats.org/drawingml/2006/main">
            <a:srgbClr val="F3F7FB"/>
          </a:solidFill>
          <a:ln xmlns:a="http://schemas.openxmlformats.org/drawingml/2006/main" w="9525">
            <a:solidFill>
              <a:srgbClr val="1F4E79"/>
            </a:solidFill>
            <a:prstDash val="solid"/>
          </a:ln>
        </p:spPr>
      </p:sp>
      <p:sp>
        <p:nvSpPr>
          <p:cNvPr id="17" name="s08-gn-1">
            <a:extLst xmlns:a="http://schemas.openxmlformats.org/drawingml/2006/main">
              <a:ext uri="{FF2B5EF4-FFF2-40B4-BE49-F238E27FC236}">
                <a16:creationId xmlns:a16="http://schemas.microsoft.com/office/drawing/2014/main" id="{4BEA6B85-E02F-4F57-8B73-526D50DF1492}"/>
              </a:ext>
            </a:extLst>
          </p:cNvPr>
          <p:cNvSpPr>
            <a:spLocks xmlns:a="http://schemas.openxmlformats.org/drawingml/2006/main" noGrp="1"/>
          </p:cNvSpPr>
          <p:nvPr/>
        </p:nvSpPr>
        <p:spPr>
          <a:xfrm xmlns:a="http://schemas.openxmlformats.org/drawingml/2006/main">
            <a:off x="2343150" y="1714500"/>
            <a:ext cx="1285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2100" b="1" i="0">
                <a:solidFill>
                  <a:srgbClr val="1F4E79"/>
                </a:solidFill>
                <a:latin typeface="Arial"/>
                <a:ea typeface="Arial"/>
                <a:cs typeface="Arial"/>
              </a:defRPr>
            </a:pPr>
            <a:r>
              <a:rPr sz="2100" b="1" i="0">
                <a:solidFill>
                  <a:srgbClr val="1F4E79"/>
                </a:solidFill>
                <a:latin typeface="Arial"/>
                <a:ea typeface="Arial"/>
                <a:cs typeface="Arial"/>
              </a:rPr>
              <a:t>G2</a:t>
            </a:r>
          </a:p>
        </p:txBody>
      </p:sp>
      <p:sp>
        <p:nvSpPr>
          <p:cNvPr id="18" name="s08-gt-1">
            <a:extLst xmlns:a="http://schemas.openxmlformats.org/drawingml/2006/main">
              <a:ext uri="{FF2B5EF4-FFF2-40B4-BE49-F238E27FC236}">
                <a16:creationId xmlns:a16="http://schemas.microsoft.com/office/drawing/2014/main" id="{04BAB3CB-426B-457B-8190-7E237E8F598B}"/>
              </a:ext>
            </a:extLst>
          </p:cNvPr>
          <p:cNvSpPr>
            <a:spLocks xmlns:a="http://schemas.openxmlformats.org/drawingml/2006/main" noGrp="1"/>
          </p:cNvSpPr>
          <p:nvPr/>
        </p:nvSpPr>
        <p:spPr>
          <a:xfrm xmlns:a="http://schemas.openxmlformats.org/drawingml/2006/main">
            <a:off x="2314575" y="2286000"/>
            <a:ext cx="1343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200" b="1" i="0">
                <a:solidFill>
                  <a:srgbClr val="262626"/>
                </a:solidFill>
                <a:latin typeface="Arial"/>
                <a:ea typeface="Arial"/>
                <a:cs typeface="Arial"/>
              </a:defRPr>
            </a:pPr>
            <a:r>
              <a:rPr sz="1200" b="1" i="0">
                <a:solidFill>
                  <a:srgbClr val="262626"/>
                </a:solidFill>
                <a:latin typeface="Arial"/>
                <a:ea typeface="Arial"/>
                <a:cs typeface="Arial"/>
              </a:rPr>
              <a:t>Window</a:t>
            </a:r>
          </a:p>
        </p:txBody>
      </p:sp>
      <p:sp>
        <p:nvSpPr>
          <p:cNvPr id="19" name="s08-gq-1">
            <a:extLst xmlns:a="http://schemas.openxmlformats.org/drawingml/2006/main">
              <a:ext uri="{FF2B5EF4-FFF2-40B4-BE49-F238E27FC236}">
                <a16:creationId xmlns:a16="http://schemas.microsoft.com/office/drawing/2014/main" id="{8DD47E87-DCFE-4CDE-8FBC-DDC75D95E11E}"/>
              </a:ext>
            </a:extLst>
          </p:cNvPr>
          <p:cNvSpPr>
            <a:spLocks xmlns:a="http://schemas.openxmlformats.org/drawingml/2006/main" noGrp="1"/>
          </p:cNvSpPr>
          <p:nvPr/>
        </p:nvSpPr>
        <p:spPr>
          <a:xfrm xmlns:a="http://schemas.openxmlformats.org/drawingml/2006/main">
            <a:off x="2352675" y="2809875"/>
            <a:ext cx="12668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13" b="0" i="0">
                <a:solidFill>
                  <a:srgbClr val="262626"/>
                </a:solidFill>
                <a:latin typeface="Arial"/>
                <a:ea typeface="Arial"/>
                <a:cs typeface="Arial"/>
              </a:defRPr>
            </a:pPr>
            <a:r>
              <a:rPr sz="1013" b="0" i="0">
                <a:solidFill>
                  <a:srgbClr val="262626"/>
                </a:solidFill>
                <a:latin typeface="Arial"/>
                <a:ea typeface="Arial"/>
                <a:cs typeface="Arial"/>
              </a:rPr>
              <a:t>Does the ESW collapse?</a:t>
            </a:r>
          </a:p>
        </p:txBody>
      </p:sp>
      <p:sp>
        <p:nvSpPr>
          <p:cNvPr id="20" name="s08-gth-1">
            <a:extLst xmlns:a="http://schemas.openxmlformats.org/drawingml/2006/main">
              <a:ext uri="{FF2B5EF4-FFF2-40B4-BE49-F238E27FC236}">
                <a16:creationId xmlns:a16="http://schemas.microsoft.com/office/drawing/2014/main" id="{26A12F29-B5EF-4CE1-8458-5020DB4416D7}"/>
              </a:ext>
            </a:extLst>
          </p:cNvPr>
          <p:cNvSpPr>
            <a:spLocks xmlns:a="http://schemas.openxmlformats.org/drawingml/2006/main" noGrp="1"/>
          </p:cNvSpPr>
          <p:nvPr/>
        </p:nvSpPr>
        <p:spPr>
          <a:xfrm xmlns:a="http://schemas.openxmlformats.org/drawingml/2006/main">
            <a:off x="2314575" y="3714750"/>
            <a:ext cx="134302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E1F2"/>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38" b="1" i="0">
                <a:solidFill>
                  <a:srgbClr val="1F4E79"/>
                </a:solidFill>
                <a:latin typeface="Arial"/>
                <a:ea typeface="Arial"/>
                <a:cs typeface="Arial"/>
              </a:defRPr>
            </a:pPr>
            <a:r>
              <a:rPr sz="938" b="1" i="0">
                <a:solidFill>
                  <a:srgbClr val="1F4E79"/>
                </a:solidFill>
                <a:latin typeface="Arial"/>
                <a:ea typeface="Arial"/>
                <a:cs typeface="Arial"/>
              </a:rPr>
              <a:t>window ≥ 0.05 V</a:t>
            </a:r>
          </a:p>
        </p:txBody>
      </p:sp>
      <p:sp>
        <p:nvSpPr>
          <p:cNvPr id="21" name="s08-g-2">
            <a:extLst xmlns:a="http://schemas.openxmlformats.org/drawingml/2006/main">
              <a:ext uri="{FF2B5EF4-FFF2-40B4-BE49-F238E27FC236}">
                <a16:creationId xmlns:a16="http://schemas.microsoft.com/office/drawing/2014/main" id="{20540120-B01B-4614-8B8D-A842982BADC7}"/>
              </a:ext>
            </a:extLst>
          </p:cNvPr>
          <p:cNvSpPr>
            <a:spLocks xmlns:a="http://schemas.openxmlformats.org/drawingml/2006/main" noGrp="1"/>
          </p:cNvSpPr>
          <p:nvPr/>
        </p:nvSpPr>
        <p:spPr>
          <a:xfrm xmlns:a="http://schemas.openxmlformats.org/drawingml/2006/main">
            <a:off x="3924300" y="1571625"/>
            <a:ext cx="1571625" cy="2905125"/>
          </a:xfrm>
          <a:prstGeom xmlns:a="http://schemas.openxmlformats.org/drawingml/2006/main" prst="roundRect">
            <a:avLst>
              <a:gd name="adj" fmla="val 4848"/>
            </a:avLst>
          </a:prstGeom>
          <a:solidFill xmlns:a="http://schemas.openxmlformats.org/drawingml/2006/main">
            <a:srgbClr val="FFF4E0"/>
          </a:solidFill>
          <a:ln xmlns:a="http://schemas.openxmlformats.org/drawingml/2006/main" w="9525">
            <a:solidFill>
              <a:srgbClr val="B26A00"/>
            </a:solidFill>
            <a:prstDash val="solid"/>
          </a:ln>
        </p:spPr>
      </p:sp>
      <p:sp>
        <p:nvSpPr>
          <p:cNvPr id="22" name="s08-gn-2">
            <a:extLst xmlns:a="http://schemas.openxmlformats.org/drawingml/2006/main">
              <a:ext uri="{FF2B5EF4-FFF2-40B4-BE49-F238E27FC236}">
                <a16:creationId xmlns:a16="http://schemas.microsoft.com/office/drawing/2014/main" id="{3DEDD2E7-703F-4495-AAF5-B5C3E9727421}"/>
              </a:ext>
            </a:extLst>
          </p:cNvPr>
          <p:cNvSpPr>
            <a:spLocks xmlns:a="http://schemas.openxmlformats.org/drawingml/2006/main" noGrp="1"/>
          </p:cNvSpPr>
          <p:nvPr/>
        </p:nvSpPr>
        <p:spPr>
          <a:xfrm xmlns:a="http://schemas.openxmlformats.org/drawingml/2006/main">
            <a:off x="4067175" y="1714500"/>
            <a:ext cx="1285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2100" b="1" i="0">
                <a:solidFill>
                  <a:srgbClr val="B26A00"/>
                </a:solidFill>
                <a:latin typeface="Arial"/>
                <a:ea typeface="Arial"/>
                <a:cs typeface="Arial"/>
              </a:defRPr>
            </a:pPr>
            <a:r>
              <a:rPr sz="2100" b="1" i="0">
                <a:solidFill>
                  <a:srgbClr val="B26A00"/>
                </a:solidFill>
                <a:latin typeface="Arial"/>
                <a:ea typeface="Arial"/>
                <a:cs typeface="Arial"/>
              </a:rPr>
              <a:t>G3</a:t>
            </a:r>
          </a:p>
        </p:txBody>
      </p:sp>
      <p:sp>
        <p:nvSpPr>
          <p:cNvPr id="23" name="s08-gt-2">
            <a:extLst xmlns:a="http://schemas.openxmlformats.org/drawingml/2006/main">
              <a:ext uri="{FF2B5EF4-FFF2-40B4-BE49-F238E27FC236}">
                <a16:creationId xmlns:a16="http://schemas.microsoft.com/office/drawing/2014/main" id="{9242333C-D5BD-4760-85E1-5DF26DBF1E05}"/>
              </a:ext>
            </a:extLst>
          </p:cNvPr>
          <p:cNvSpPr>
            <a:spLocks xmlns:a="http://schemas.openxmlformats.org/drawingml/2006/main" noGrp="1"/>
          </p:cNvSpPr>
          <p:nvPr/>
        </p:nvSpPr>
        <p:spPr>
          <a:xfrm xmlns:a="http://schemas.openxmlformats.org/drawingml/2006/main">
            <a:off x="4038600" y="2286000"/>
            <a:ext cx="1343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200" b="1" i="0">
                <a:solidFill>
                  <a:srgbClr val="262626"/>
                </a:solidFill>
                <a:latin typeface="Arial"/>
                <a:ea typeface="Arial"/>
                <a:cs typeface="Arial"/>
              </a:defRPr>
            </a:pPr>
            <a:r>
              <a:rPr sz="1200" b="1" i="0">
                <a:solidFill>
                  <a:srgbClr val="262626"/>
                </a:solidFill>
                <a:latin typeface="Arial"/>
                <a:ea typeface="Arial"/>
                <a:cs typeface="Arial"/>
              </a:rPr>
              <a:t>Oxidation</a:t>
            </a:r>
          </a:p>
        </p:txBody>
      </p:sp>
      <p:sp>
        <p:nvSpPr>
          <p:cNvPr id="24" name="s08-gq-2">
            <a:extLst xmlns:a="http://schemas.openxmlformats.org/drawingml/2006/main">
              <a:ext uri="{FF2B5EF4-FFF2-40B4-BE49-F238E27FC236}">
                <a16:creationId xmlns:a16="http://schemas.microsoft.com/office/drawing/2014/main" id="{BE8FEB1F-6E36-464B-9E2F-FBF86424146B}"/>
              </a:ext>
            </a:extLst>
          </p:cNvPr>
          <p:cNvSpPr>
            <a:spLocks xmlns:a="http://schemas.openxmlformats.org/drawingml/2006/main" noGrp="1"/>
          </p:cNvSpPr>
          <p:nvPr/>
        </p:nvSpPr>
        <p:spPr>
          <a:xfrm xmlns:a="http://schemas.openxmlformats.org/drawingml/2006/main">
            <a:off x="4076700" y="2809875"/>
            <a:ext cx="12668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13" b="0" i="0">
                <a:solidFill>
                  <a:srgbClr val="262626"/>
                </a:solidFill>
                <a:latin typeface="Arial"/>
                <a:ea typeface="Arial"/>
                <a:cs typeface="Arial"/>
              </a:defRPr>
            </a:pPr>
            <a:r>
              <a:rPr sz="1013" b="0" i="0">
                <a:solidFill>
                  <a:srgbClr val="262626"/>
                </a:solidFill>
                <a:latin typeface="Arial"/>
                <a:ea typeface="Arial"/>
                <a:cs typeface="Arial"/>
              </a:rPr>
              <a:t>Worse than host onset?</a:t>
            </a:r>
          </a:p>
        </p:txBody>
      </p:sp>
      <p:sp>
        <p:nvSpPr>
          <p:cNvPr id="25" name="s08-gth-2">
            <a:extLst xmlns:a="http://schemas.openxmlformats.org/drawingml/2006/main">
              <a:ext uri="{FF2B5EF4-FFF2-40B4-BE49-F238E27FC236}">
                <a16:creationId xmlns:a16="http://schemas.microsoft.com/office/drawing/2014/main" id="{03C58E58-2905-4D05-A88E-25B5F08B1AEB}"/>
              </a:ext>
            </a:extLst>
          </p:cNvPr>
          <p:cNvSpPr>
            <a:spLocks xmlns:a="http://schemas.openxmlformats.org/drawingml/2006/main" noGrp="1"/>
          </p:cNvSpPr>
          <p:nvPr/>
        </p:nvSpPr>
        <p:spPr>
          <a:xfrm xmlns:a="http://schemas.openxmlformats.org/drawingml/2006/main">
            <a:off x="4038600" y="3714750"/>
            <a:ext cx="134302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E1F2"/>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38" b="1" i="0">
                <a:solidFill>
                  <a:srgbClr val="B26A00"/>
                </a:solidFill>
                <a:latin typeface="Arial"/>
                <a:ea typeface="Arial"/>
                <a:cs typeface="Arial"/>
              </a:defRPr>
            </a:pPr>
            <a:r>
              <a:rPr sz="938" b="1" i="0">
                <a:solidFill>
                  <a:srgbClr val="B26A00"/>
                </a:solidFill>
                <a:latin typeface="Arial"/>
                <a:ea typeface="Arial"/>
                <a:cs typeface="Arial"/>
              </a:rPr>
              <a:t>Vox ≥ 2.14 V</a:t>
            </a:r>
          </a:p>
        </p:txBody>
      </p:sp>
      <p:sp>
        <p:nvSpPr>
          <p:cNvPr id="26" name="s08-g-3">
            <a:extLst xmlns:a="http://schemas.openxmlformats.org/drawingml/2006/main">
              <a:ext uri="{FF2B5EF4-FFF2-40B4-BE49-F238E27FC236}">
                <a16:creationId xmlns:a16="http://schemas.microsoft.com/office/drawing/2014/main" id="{EEE88FCC-F553-4FE5-815E-D596BF2E673A}"/>
              </a:ext>
            </a:extLst>
          </p:cNvPr>
          <p:cNvSpPr>
            <a:spLocks xmlns:a="http://schemas.openxmlformats.org/drawingml/2006/main" noGrp="1"/>
          </p:cNvSpPr>
          <p:nvPr/>
        </p:nvSpPr>
        <p:spPr>
          <a:xfrm xmlns:a="http://schemas.openxmlformats.org/drawingml/2006/main">
            <a:off x="5648325" y="1571625"/>
            <a:ext cx="1571625" cy="2905125"/>
          </a:xfrm>
          <a:prstGeom xmlns:a="http://schemas.openxmlformats.org/drawingml/2006/main" prst="roundRect">
            <a:avLst>
              <a:gd name="adj" fmla="val 4848"/>
            </a:avLst>
          </a:prstGeom>
          <a:solidFill xmlns:a="http://schemas.openxmlformats.org/drawingml/2006/main">
            <a:srgbClr val="E8F5E9"/>
          </a:solidFill>
          <a:ln xmlns:a="http://schemas.openxmlformats.org/drawingml/2006/main" w="9525">
            <a:solidFill>
              <a:srgbClr val="2E7D32"/>
            </a:solidFill>
            <a:prstDash val="solid"/>
          </a:ln>
        </p:spPr>
      </p:sp>
      <p:sp>
        <p:nvSpPr>
          <p:cNvPr id="27" name="s08-gn-3">
            <a:extLst xmlns:a="http://schemas.openxmlformats.org/drawingml/2006/main">
              <a:ext uri="{FF2B5EF4-FFF2-40B4-BE49-F238E27FC236}">
                <a16:creationId xmlns:a16="http://schemas.microsoft.com/office/drawing/2014/main" id="{A5C14063-C21F-4863-AF78-3FB9F3C7DA8B}"/>
              </a:ext>
            </a:extLst>
          </p:cNvPr>
          <p:cNvSpPr>
            <a:spLocks xmlns:a="http://schemas.openxmlformats.org/drawingml/2006/main" noGrp="1"/>
          </p:cNvSpPr>
          <p:nvPr/>
        </p:nvSpPr>
        <p:spPr>
          <a:xfrm xmlns:a="http://schemas.openxmlformats.org/drawingml/2006/main">
            <a:off x="5791200" y="1714500"/>
            <a:ext cx="1285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2100" b="1" i="0">
                <a:solidFill>
                  <a:srgbClr val="2E7D32"/>
                </a:solidFill>
                <a:latin typeface="Arial"/>
                <a:ea typeface="Arial"/>
                <a:cs typeface="Arial"/>
              </a:defRPr>
            </a:pPr>
            <a:r>
              <a:rPr sz="2100" b="1" i="0">
                <a:solidFill>
                  <a:srgbClr val="2E7D32"/>
                </a:solidFill>
                <a:latin typeface="Arial"/>
                <a:ea typeface="Arial"/>
                <a:cs typeface="Arial"/>
              </a:rPr>
              <a:t>G4</a:t>
            </a:r>
          </a:p>
        </p:txBody>
      </p:sp>
      <p:sp>
        <p:nvSpPr>
          <p:cNvPr id="28" name="s08-gt-3">
            <a:extLst xmlns:a="http://schemas.openxmlformats.org/drawingml/2006/main">
              <a:ext uri="{FF2B5EF4-FFF2-40B4-BE49-F238E27FC236}">
                <a16:creationId xmlns:a16="http://schemas.microsoft.com/office/drawing/2014/main" id="{56B056E0-0AC3-4595-8759-6907B1ED065E}"/>
              </a:ext>
            </a:extLst>
          </p:cNvPr>
          <p:cNvSpPr>
            <a:spLocks xmlns:a="http://schemas.openxmlformats.org/drawingml/2006/main" noGrp="1"/>
          </p:cNvSpPr>
          <p:nvPr/>
        </p:nvSpPr>
        <p:spPr>
          <a:xfrm xmlns:a="http://schemas.openxmlformats.org/drawingml/2006/main">
            <a:off x="5762625" y="2286000"/>
            <a:ext cx="1343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200" b="1" i="0">
                <a:solidFill>
                  <a:srgbClr val="262626"/>
                </a:solidFill>
                <a:latin typeface="Arial"/>
                <a:ea typeface="Arial"/>
                <a:cs typeface="Arial"/>
              </a:defRPr>
            </a:pPr>
            <a:r>
              <a:rPr sz="1200" b="1" i="0">
                <a:solidFill>
                  <a:srgbClr val="262626"/>
                </a:solidFill>
                <a:latin typeface="Arial"/>
                <a:ea typeface="Arial"/>
                <a:cs typeface="Arial"/>
              </a:rPr>
              <a:t>Li pathway</a:t>
            </a:r>
          </a:p>
        </p:txBody>
      </p:sp>
      <p:sp>
        <p:nvSpPr>
          <p:cNvPr id="29" name="s08-gq-3">
            <a:extLst xmlns:a="http://schemas.openxmlformats.org/drawingml/2006/main">
              <a:ext uri="{FF2B5EF4-FFF2-40B4-BE49-F238E27FC236}">
                <a16:creationId xmlns:a16="http://schemas.microsoft.com/office/drawing/2014/main" id="{C084CA2A-F738-4820-93C1-1A68F80236C8}"/>
              </a:ext>
            </a:extLst>
          </p:cNvPr>
          <p:cNvSpPr>
            <a:spLocks xmlns:a="http://schemas.openxmlformats.org/drawingml/2006/main" noGrp="1"/>
          </p:cNvSpPr>
          <p:nvPr/>
        </p:nvSpPr>
        <p:spPr>
          <a:xfrm xmlns:a="http://schemas.openxmlformats.org/drawingml/2006/main">
            <a:off x="5800725" y="2809875"/>
            <a:ext cx="12668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13" b="0" i="0">
                <a:solidFill>
                  <a:srgbClr val="262626"/>
                </a:solidFill>
                <a:latin typeface="Arial"/>
                <a:ea typeface="Arial"/>
                <a:cs typeface="Arial"/>
              </a:defRPr>
            </a:pPr>
            <a:r>
              <a:rPr sz="1013" b="0" i="0">
                <a:solidFill>
                  <a:srgbClr val="262626"/>
                </a:solidFill>
                <a:latin typeface="Arial"/>
                <a:ea typeface="Arial"/>
                <a:cs typeface="Arial"/>
              </a:rPr>
              <a:t>Is the pathway retained?</a:t>
            </a:r>
          </a:p>
        </p:txBody>
      </p:sp>
      <p:sp>
        <p:nvSpPr>
          <p:cNvPr id="30" name="s08-gth-3">
            <a:extLst xmlns:a="http://schemas.openxmlformats.org/drawingml/2006/main">
              <a:ext uri="{FF2B5EF4-FFF2-40B4-BE49-F238E27FC236}">
                <a16:creationId xmlns:a16="http://schemas.microsoft.com/office/drawing/2014/main" id="{1664629A-8CBF-434E-A338-0A6A155B2C0A}"/>
              </a:ext>
            </a:extLst>
          </p:cNvPr>
          <p:cNvSpPr>
            <a:spLocks xmlns:a="http://schemas.openxmlformats.org/drawingml/2006/main" noGrp="1"/>
          </p:cNvSpPr>
          <p:nvPr/>
        </p:nvSpPr>
        <p:spPr>
          <a:xfrm xmlns:a="http://schemas.openxmlformats.org/drawingml/2006/main">
            <a:off x="5762625" y="3714750"/>
            <a:ext cx="134302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E1F2"/>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38" b="1" i="0">
                <a:solidFill>
                  <a:srgbClr val="2E7D32"/>
                </a:solidFill>
                <a:latin typeface="Arial"/>
                <a:ea typeface="Arial"/>
                <a:cs typeface="Arial"/>
              </a:defRPr>
            </a:pPr>
            <a:r>
              <a:rPr sz="938" b="1" i="0">
                <a:solidFill>
                  <a:srgbClr val="2E7D32"/>
                </a:solidFill>
                <a:latin typeface="Arial"/>
                <a:ea typeface="Arial"/>
                <a:cs typeface="Arial"/>
              </a:rPr>
              <a:t>proxy &gt; 0.3 AND blocking &lt; 0.6</a:t>
            </a:r>
          </a:p>
        </p:txBody>
      </p:sp>
      <p:sp>
        <p:nvSpPr>
          <p:cNvPr id="31" name="s08-g-4">
            <a:extLst xmlns:a="http://schemas.openxmlformats.org/drawingml/2006/main">
              <a:ext uri="{FF2B5EF4-FFF2-40B4-BE49-F238E27FC236}">
                <a16:creationId xmlns:a16="http://schemas.microsoft.com/office/drawing/2014/main" id="{5B42C82E-09B6-43E3-A89E-D931EA08C4A0}"/>
              </a:ext>
            </a:extLst>
          </p:cNvPr>
          <p:cNvSpPr>
            <a:spLocks xmlns:a="http://schemas.openxmlformats.org/drawingml/2006/main" noGrp="1"/>
          </p:cNvSpPr>
          <p:nvPr/>
        </p:nvSpPr>
        <p:spPr>
          <a:xfrm xmlns:a="http://schemas.openxmlformats.org/drawingml/2006/main">
            <a:off x="7372350" y="1571625"/>
            <a:ext cx="1571625" cy="2905125"/>
          </a:xfrm>
          <a:prstGeom xmlns:a="http://schemas.openxmlformats.org/drawingml/2006/main" prst="roundRect">
            <a:avLst>
              <a:gd name="adj" fmla="val 4848"/>
            </a:avLst>
          </a:prstGeom>
          <a:solidFill xmlns:a="http://schemas.openxmlformats.org/drawingml/2006/main">
            <a:srgbClr val="F2F2F2"/>
          </a:solidFill>
          <a:ln xmlns:a="http://schemas.openxmlformats.org/drawingml/2006/main" w="9525">
            <a:solidFill>
              <a:srgbClr val="7F7F7F"/>
            </a:solidFill>
            <a:prstDash val="solid"/>
          </a:ln>
        </p:spPr>
      </p:sp>
      <p:sp>
        <p:nvSpPr>
          <p:cNvPr id="32" name="s08-gn-4">
            <a:extLst xmlns:a="http://schemas.openxmlformats.org/drawingml/2006/main">
              <a:ext uri="{FF2B5EF4-FFF2-40B4-BE49-F238E27FC236}">
                <a16:creationId xmlns:a16="http://schemas.microsoft.com/office/drawing/2014/main" id="{1DF0356E-15CA-44D2-8C82-128AAF5267C8}"/>
              </a:ext>
            </a:extLst>
          </p:cNvPr>
          <p:cNvSpPr>
            <a:spLocks xmlns:a="http://schemas.openxmlformats.org/drawingml/2006/main" noGrp="1"/>
          </p:cNvSpPr>
          <p:nvPr/>
        </p:nvSpPr>
        <p:spPr>
          <a:xfrm xmlns:a="http://schemas.openxmlformats.org/drawingml/2006/main">
            <a:off x="7515225" y="1714500"/>
            <a:ext cx="1285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2100" b="1" i="0">
                <a:solidFill>
                  <a:srgbClr val="7F7F7F"/>
                </a:solidFill>
                <a:latin typeface="Arial"/>
                <a:ea typeface="Arial"/>
                <a:cs typeface="Arial"/>
              </a:defRPr>
            </a:pPr>
            <a:r>
              <a:rPr sz="2100" b="1" i="0">
                <a:solidFill>
                  <a:srgbClr val="7F7F7F"/>
                </a:solidFill>
                <a:latin typeface="Arial"/>
                <a:ea typeface="Arial"/>
                <a:cs typeface="Arial"/>
              </a:rPr>
              <a:t>G5*</a:t>
            </a:r>
          </a:p>
        </p:txBody>
      </p:sp>
      <p:sp>
        <p:nvSpPr>
          <p:cNvPr id="33" name="s08-gt-4">
            <a:extLst xmlns:a="http://schemas.openxmlformats.org/drawingml/2006/main">
              <a:ext uri="{FF2B5EF4-FFF2-40B4-BE49-F238E27FC236}">
                <a16:creationId xmlns:a16="http://schemas.microsoft.com/office/drawing/2014/main" id="{3FEC8A70-8E98-4063-84AC-4A3E30A2A2F5}"/>
              </a:ext>
            </a:extLst>
          </p:cNvPr>
          <p:cNvSpPr>
            <a:spLocks xmlns:a="http://schemas.openxmlformats.org/drawingml/2006/main" noGrp="1"/>
          </p:cNvSpPr>
          <p:nvPr/>
        </p:nvSpPr>
        <p:spPr>
          <a:xfrm xmlns:a="http://schemas.openxmlformats.org/drawingml/2006/main">
            <a:off x="7486650" y="2286000"/>
            <a:ext cx="1343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200" b="1" i="0">
                <a:solidFill>
                  <a:srgbClr val="262626"/>
                </a:solidFill>
                <a:latin typeface="Arial"/>
                <a:ea typeface="Arial"/>
                <a:cs typeface="Arial"/>
              </a:defRPr>
            </a:pPr>
            <a:r>
              <a:rPr sz="1200" b="1" i="0">
                <a:solidFill>
                  <a:srgbClr val="262626"/>
                </a:solidFill>
                <a:latin typeface="Arial"/>
                <a:ea typeface="Arial"/>
                <a:cs typeface="Arial"/>
              </a:rPr>
              <a:t>Mechanics</a:t>
            </a:r>
          </a:p>
        </p:txBody>
      </p:sp>
      <p:sp>
        <p:nvSpPr>
          <p:cNvPr id="34" name="s08-gq-4">
            <a:extLst xmlns:a="http://schemas.openxmlformats.org/drawingml/2006/main">
              <a:ext uri="{FF2B5EF4-FFF2-40B4-BE49-F238E27FC236}">
                <a16:creationId xmlns:a16="http://schemas.microsoft.com/office/drawing/2014/main" id="{8A42261D-010E-491D-9AFB-1BBD35A71FB7}"/>
              </a:ext>
            </a:extLst>
          </p:cNvPr>
          <p:cNvSpPr>
            <a:spLocks xmlns:a="http://schemas.openxmlformats.org/drawingml/2006/main" noGrp="1"/>
          </p:cNvSpPr>
          <p:nvPr/>
        </p:nvSpPr>
        <p:spPr>
          <a:xfrm xmlns:a="http://schemas.openxmlformats.org/drawingml/2006/main">
            <a:off x="7524750" y="2809875"/>
            <a:ext cx="12668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13" b="0" i="0">
                <a:solidFill>
                  <a:srgbClr val="262626"/>
                </a:solidFill>
                <a:latin typeface="Arial"/>
                <a:ea typeface="Arial"/>
                <a:cs typeface="Arial"/>
              </a:defRPr>
            </a:pPr>
            <a:r>
              <a:rPr sz="1013" b="0" i="0">
                <a:solidFill>
                  <a:srgbClr val="262626"/>
                </a:solidFill>
                <a:latin typeface="Arial"/>
                <a:ea typeface="Arial"/>
                <a:cs typeface="Arial"/>
              </a:rPr>
              <a:t>How do survivors rank?</a:t>
            </a:r>
          </a:p>
        </p:txBody>
      </p:sp>
      <p:sp>
        <p:nvSpPr>
          <p:cNvPr id="35" name="s08-gth-4">
            <a:extLst xmlns:a="http://schemas.openxmlformats.org/drawingml/2006/main">
              <a:ext uri="{FF2B5EF4-FFF2-40B4-BE49-F238E27FC236}">
                <a16:creationId xmlns:a16="http://schemas.microsoft.com/office/drawing/2014/main" id="{0D376FDC-DAAA-47CF-8730-30D6AA2E59BC}"/>
              </a:ext>
            </a:extLst>
          </p:cNvPr>
          <p:cNvSpPr>
            <a:spLocks xmlns:a="http://schemas.openxmlformats.org/drawingml/2006/main" noGrp="1"/>
          </p:cNvSpPr>
          <p:nvPr/>
        </p:nvSpPr>
        <p:spPr>
          <a:xfrm xmlns:a="http://schemas.openxmlformats.org/drawingml/2006/main">
            <a:off x="7486650" y="3714750"/>
            <a:ext cx="134302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9E1F2"/>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38" b="1" i="0">
                <a:solidFill>
                  <a:srgbClr val="7F7F7F"/>
                </a:solidFill>
                <a:latin typeface="Arial"/>
                <a:ea typeface="Arial"/>
                <a:cs typeface="Arial"/>
              </a:defRPr>
            </a:pPr>
            <a:r>
              <a:rPr sz="938" b="1" i="0">
                <a:solidFill>
                  <a:srgbClr val="7F7F7F"/>
                </a:solidFill>
                <a:latin typeface="Arial"/>
                <a:ea typeface="Arial"/>
                <a:cs typeface="Arial"/>
              </a:rPr>
              <a:t>roster medians</a:t>
            </a:r>
          </a:p>
        </p:txBody>
      </p:sp>
      <p:sp>
        <p:nvSpPr>
          <p:cNvPr id="36" name="s08-note">
            <a:extLst xmlns:a="http://schemas.openxmlformats.org/drawingml/2006/main">
              <a:ext uri="{FF2B5EF4-FFF2-40B4-BE49-F238E27FC236}">
                <a16:creationId xmlns:a16="http://schemas.microsoft.com/office/drawing/2014/main" id="{2184231E-ECED-40CB-A755-5E2D7602D70E}"/>
              </a:ext>
            </a:extLst>
          </p:cNvPr>
          <p:cNvSpPr>
            <a:spLocks xmlns:a="http://schemas.openxmlformats.org/drawingml/2006/main" noGrp="1"/>
          </p:cNvSpPr>
          <p:nvPr/>
        </p:nvSpPr>
        <p:spPr>
          <a:xfrm xmlns:a="http://schemas.openxmlformats.org/drawingml/2006/main">
            <a:off x="904875" y="4953000"/>
            <a:ext cx="7334250" cy="495300"/>
          </a:xfrm>
          <a:prstGeom xmlns:a="http://schemas.openxmlformats.org/drawingml/2006/main" prst="rect">
            <a:avLst/>
          </a:prstGeom>
          <a:solidFill xmlns:a="http://schemas.openxmlformats.org/drawingml/2006/main">
            <a:srgbClr val="FBE9E7"/>
          </a:solidFill>
          <a:ln xmlns:a="http://schemas.openxmlformats.org/drawingml/2006/main" w="9525">
            <a:solidFill>
              <a:srgbClr val="9E2A2B"/>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25" b="1" i="0">
                <a:solidFill>
                  <a:srgbClr val="9E2A2B"/>
                </a:solidFill>
                <a:latin typeface="Arial"/>
                <a:ea typeface="Arial"/>
                <a:cs typeface="Arial"/>
              </a:defRPr>
            </a:pPr>
            <a:r>
              <a:rPr sz="1125" b="1" i="0">
                <a:solidFill>
                  <a:srgbClr val="9E2A2B"/>
                </a:solidFill>
                <a:latin typeface="Arial"/>
                <a:ea typeface="Arial"/>
                <a:cs typeface="Arial"/>
              </a:rPr>
              <a:t>G4 is also heuristic: blocking &lt; 0.6 has no host/literature anchor.  G5 is roster-relative ranking.</a:t>
            </a:r>
          </a:p>
        </p:txBody>
      </p:sp>
    </p:spTree>
    <p:extLst>
      <p:ext uri="{BB962C8B-B14F-4D97-AF65-F5344CB8AC3E}">
        <p14:creationId xmlns:p14="http://schemas.microsoft.com/office/powerpoint/2010/main" val="1396119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Cascade</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Post-hoc literature-mapped gate view</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The auditable hard-gate view stops at 11</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9</a:t>
            </a:r>
            <a:endParaRPr sz="1000"/>
          </a:p>
        </p:txBody>
      </p:sp>
      <p:sp>
        <p:nvSpPr>
          <p:cNvPr id="11" name="s09-l-0">
            <a:extLst xmlns:a="http://schemas.openxmlformats.org/drawingml/2006/main">
              <a:ext uri="{FF2B5EF4-FFF2-40B4-BE49-F238E27FC236}">
                <a16:creationId xmlns:a16="http://schemas.microsoft.com/office/drawing/2014/main" id="{39B94063-D6A4-4545-8D39-68FE13D5C1EC}"/>
              </a:ext>
            </a:extLst>
          </p:cNvPr>
          <p:cNvSpPr>
            <a:spLocks xmlns:a="http://schemas.openxmlformats.org/drawingml/2006/main" noGrp="1"/>
          </p:cNvSpPr>
          <p:nvPr/>
        </p:nvSpPr>
        <p:spPr>
          <a:xfrm xmlns:a="http://schemas.openxmlformats.org/drawingml/2006/main">
            <a:off x="685800" y="1533525"/>
            <a:ext cx="1381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r">
              <a:defRPr sz="938" b="1" i="0">
                <a:solidFill>
                  <a:srgbClr val="7F7F7F"/>
                </a:solidFill>
                <a:latin typeface="Arial"/>
                <a:ea typeface="Arial"/>
                <a:cs typeface="Arial"/>
              </a:defRPr>
            </a:pPr>
            <a:r>
              <a:rPr sz="938" b="1" i="0">
                <a:solidFill>
                  <a:srgbClr val="7F7F7F"/>
                </a:solidFill>
                <a:latin typeface="Arial"/>
                <a:ea typeface="Arial"/>
                <a:cs typeface="Arial"/>
              </a:rPr>
              <a:t>DATA-COMPLETE</a:t>
            </a:r>
          </a:p>
        </p:txBody>
      </p:sp>
      <p:sp>
        <p:nvSpPr>
          <p:cNvPr id="12" name="s09-bar-0">
            <a:extLst xmlns:a="http://schemas.openxmlformats.org/drawingml/2006/main">
              <a:ext uri="{FF2B5EF4-FFF2-40B4-BE49-F238E27FC236}">
                <a16:creationId xmlns:a16="http://schemas.microsoft.com/office/drawing/2014/main" id="{36C80A47-B6CD-4C68-B796-D5BD8C359D94}"/>
              </a:ext>
            </a:extLst>
          </p:cNvPr>
          <p:cNvSpPr>
            <a:spLocks xmlns:a="http://schemas.openxmlformats.org/drawingml/2006/main" noGrp="1"/>
          </p:cNvSpPr>
          <p:nvPr/>
        </p:nvSpPr>
        <p:spPr>
          <a:xfrm xmlns:a="http://schemas.openxmlformats.org/drawingml/2006/main">
            <a:off x="2238375" y="1428750"/>
            <a:ext cx="6286500" cy="552450"/>
          </a:xfrm>
          <a:prstGeom xmlns:a="http://schemas.openxmlformats.org/drawingml/2006/main" prst="roundRect">
            <a:avLst>
              <a:gd name="adj" fmla="val 13793"/>
            </a:avLst>
          </a:prstGeom>
          <a:solidFill xmlns:a="http://schemas.openxmlformats.org/drawingml/2006/main">
            <a:srgbClr val="1F4E79"/>
          </a:solidFill>
          <a:ln xmlns:a="http://schemas.openxmlformats.org/drawingml/2006/main" w="9525">
            <a:solidFill>
              <a:srgbClr val="1F4E79"/>
            </a:solidFill>
            <a:prstDash val="solid"/>
          </a:ln>
        </p:spPr>
        <p:txBody>
          <a:bodyPr xmlns:a="http://schemas.openxmlformats.org/drawingml/2006/main" lIns="76200" tIns="38100" rIns="133350" bIns="38100" anchor="ctr"/>
          <a:lstStyle xmlns:a="http://schemas.openxmlformats.org/drawingml/2006/main"/>
          <a:p xmlns:a="http://schemas.openxmlformats.org/drawingml/2006/main">
            <a:pPr algn="r">
              <a:defRPr sz="1725" b="1">
                <a:solidFill>
                  <a:srgbClr val="FFFFFF"/>
                </a:solidFill>
                <a:latin typeface="Arial"/>
                <a:ea typeface="Arial"/>
                <a:cs typeface="Arial"/>
              </a:defRPr>
            </a:pPr>
            <a:r>
              <a:rPr sz="1725" b="1">
                <a:solidFill>
                  <a:srgbClr val="FFFFFF"/>
                </a:solidFill>
                <a:latin typeface="Arial"/>
                <a:ea typeface="Arial"/>
                <a:cs typeface="Arial"/>
              </a:rPr>
              <a:t>47</a:t>
            </a:r>
          </a:p>
        </p:txBody>
      </p:sp>
      <p:sp>
        <p:nvSpPr>
          <p:cNvPr id="13" name="s09-l-1">
            <a:extLst xmlns:a="http://schemas.openxmlformats.org/drawingml/2006/main">
              <a:ext uri="{FF2B5EF4-FFF2-40B4-BE49-F238E27FC236}">
                <a16:creationId xmlns:a16="http://schemas.microsoft.com/office/drawing/2014/main" id="{C63B92C3-F455-4CC0-8DA0-3D4D5C8133E1}"/>
              </a:ext>
            </a:extLst>
          </p:cNvPr>
          <p:cNvSpPr>
            <a:spLocks xmlns:a="http://schemas.openxmlformats.org/drawingml/2006/main" noGrp="1"/>
          </p:cNvSpPr>
          <p:nvPr/>
        </p:nvSpPr>
        <p:spPr>
          <a:xfrm xmlns:a="http://schemas.openxmlformats.org/drawingml/2006/main">
            <a:off x="685800" y="2314575"/>
            <a:ext cx="1381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r">
              <a:defRPr sz="938" b="1" i="0">
                <a:solidFill>
                  <a:srgbClr val="7F7F7F"/>
                </a:solidFill>
                <a:latin typeface="Arial"/>
                <a:ea typeface="Arial"/>
                <a:cs typeface="Arial"/>
              </a:defRPr>
            </a:pPr>
            <a:r>
              <a:rPr sz="938" b="1" i="0">
                <a:solidFill>
                  <a:srgbClr val="7F7F7F"/>
                </a:solidFill>
                <a:latin typeface="Arial"/>
                <a:ea typeface="Arial"/>
                <a:cs typeface="Arial"/>
              </a:rPr>
              <a:t>G1  STRUCTURE</a:t>
            </a:r>
          </a:p>
        </p:txBody>
      </p:sp>
      <p:sp>
        <p:nvSpPr>
          <p:cNvPr id="14" name="s09-bar-1">
            <a:extLst xmlns:a="http://schemas.openxmlformats.org/drawingml/2006/main">
              <a:ext uri="{FF2B5EF4-FFF2-40B4-BE49-F238E27FC236}">
                <a16:creationId xmlns:a16="http://schemas.microsoft.com/office/drawing/2014/main" id="{71789F19-66D0-4ECC-BC0C-AA83A1546813}"/>
              </a:ext>
            </a:extLst>
          </p:cNvPr>
          <p:cNvSpPr>
            <a:spLocks xmlns:a="http://schemas.openxmlformats.org/drawingml/2006/main" noGrp="1"/>
          </p:cNvSpPr>
          <p:nvPr/>
        </p:nvSpPr>
        <p:spPr>
          <a:xfrm xmlns:a="http://schemas.openxmlformats.org/drawingml/2006/main">
            <a:off x="2238375" y="2209800"/>
            <a:ext cx="6286500" cy="552450"/>
          </a:xfrm>
          <a:prstGeom xmlns:a="http://schemas.openxmlformats.org/drawingml/2006/main" prst="roundRect">
            <a:avLst>
              <a:gd name="adj" fmla="val 13793"/>
            </a:avLst>
          </a:prstGeom>
          <a:solidFill xmlns:a="http://schemas.openxmlformats.org/drawingml/2006/main">
            <a:srgbClr val="0070C0"/>
          </a:solidFill>
          <a:ln xmlns:a="http://schemas.openxmlformats.org/drawingml/2006/main" w="9525">
            <a:solidFill>
              <a:srgbClr val="0070C0"/>
            </a:solidFill>
            <a:prstDash val="solid"/>
          </a:ln>
        </p:spPr>
        <p:txBody>
          <a:bodyPr xmlns:a="http://schemas.openxmlformats.org/drawingml/2006/main" lIns="76200" tIns="38100" rIns="133350" bIns="38100" anchor="ctr"/>
          <a:lstStyle xmlns:a="http://schemas.openxmlformats.org/drawingml/2006/main"/>
          <a:p xmlns:a="http://schemas.openxmlformats.org/drawingml/2006/main">
            <a:pPr algn="r">
              <a:defRPr sz="1725" b="1">
                <a:solidFill>
                  <a:srgbClr val="FFFFFF"/>
                </a:solidFill>
                <a:latin typeface="Arial"/>
                <a:ea typeface="Arial"/>
                <a:cs typeface="Arial"/>
              </a:defRPr>
            </a:pPr>
            <a:r>
              <a:rPr sz="1725" b="1">
                <a:solidFill>
                  <a:srgbClr val="FFFFFF"/>
                </a:solidFill>
                <a:latin typeface="Arial"/>
                <a:ea typeface="Arial"/>
                <a:cs typeface="Arial"/>
              </a:rPr>
              <a:t>47</a:t>
            </a:r>
          </a:p>
        </p:txBody>
      </p:sp>
      <p:sp>
        <p:nvSpPr>
          <p:cNvPr id="15" name="s09-l-2">
            <a:extLst xmlns:a="http://schemas.openxmlformats.org/drawingml/2006/main">
              <a:ext uri="{FF2B5EF4-FFF2-40B4-BE49-F238E27FC236}">
                <a16:creationId xmlns:a16="http://schemas.microsoft.com/office/drawing/2014/main" id="{A918024B-B7BB-4FDF-A841-16C9701892E8}"/>
              </a:ext>
            </a:extLst>
          </p:cNvPr>
          <p:cNvSpPr>
            <a:spLocks xmlns:a="http://schemas.openxmlformats.org/drawingml/2006/main" noGrp="1"/>
          </p:cNvSpPr>
          <p:nvPr/>
        </p:nvSpPr>
        <p:spPr>
          <a:xfrm xmlns:a="http://schemas.openxmlformats.org/drawingml/2006/main">
            <a:off x="685800" y="3095625"/>
            <a:ext cx="1381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r">
              <a:defRPr sz="938" b="1" i="0">
                <a:solidFill>
                  <a:srgbClr val="7F7F7F"/>
                </a:solidFill>
                <a:latin typeface="Arial"/>
                <a:ea typeface="Arial"/>
                <a:cs typeface="Arial"/>
              </a:defRPr>
            </a:pPr>
            <a:r>
              <a:rPr sz="938" b="1" i="0">
                <a:solidFill>
                  <a:srgbClr val="7F7F7F"/>
                </a:solidFill>
                <a:latin typeface="Arial"/>
                <a:ea typeface="Arial"/>
                <a:cs typeface="Arial"/>
              </a:rPr>
              <a:t>G2  WINDOW</a:t>
            </a:r>
          </a:p>
        </p:txBody>
      </p:sp>
      <p:sp>
        <p:nvSpPr>
          <p:cNvPr id="16" name="s09-bar-2">
            <a:extLst xmlns:a="http://schemas.openxmlformats.org/drawingml/2006/main">
              <a:ext uri="{FF2B5EF4-FFF2-40B4-BE49-F238E27FC236}">
                <a16:creationId xmlns:a16="http://schemas.microsoft.com/office/drawing/2014/main" id="{D4EA9411-1CE2-4809-9B4A-4D14DE1A50A7}"/>
              </a:ext>
            </a:extLst>
          </p:cNvPr>
          <p:cNvSpPr>
            <a:spLocks xmlns:a="http://schemas.openxmlformats.org/drawingml/2006/main" noGrp="1"/>
          </p:cNvSpPr>
          <p:nvPr/>
        </p:nvSpPr>
        <p:spPr>
          <a:xfrm xmlns:a="http://schemas.openxmlformats.org/drawingml/2006/main">
            <a:off x="2238375" y="2990850"/>
            <a:ext cx="5762625" cy="552450"/>
          </a:xfrm>
          <a:prstGeom xmlns:a="http://schemas.openxmlformats.org/drawingml/2006/main" prst="roundRect">
            <a:avLst>
              <a:gd name="adj" fmla="val 13793"/>
            </a:avLst>
          </a:prstGeom>
          <a:solidFill xmlns:a="http://schemas.openxmlformats.org/drawingml/2006/main">
            <a:srgbClr val="4F81BD"/>
          </a:solidFill>
          <a:ln xmlns:a="http://schemas.openxmlformats.org/drawingml/2006/main" w="9525">
            <a:solidFill>
              <a:srgbClr val="4F81BD"/>
            </a:solidFill>
            <a:prstDash val="solid"/>
          </a:ln>
        </p:spPr>
        <p:txBody>
          <a:bodyPr xmlns:a="http://schemas.openxmlformats.org/drawingml/2006/main" lIns="76200" tIns="38100" rIns="133350" bIns="38100" anchor="ctr"/>
          <a:lstStyle xmlns:a="http://schemas.openxmlformats.org/drawingml/2006/main"/>
          <a:p xmlns:a="http://schemas.openxmlformats.org/drawingml/2006/main">
            <a:pPr algn="r">
              <a:defRPr sz="1725" b="1">
                <a:solidFill>
                  <a:srgbClr val="FFFFFF"/>
                </a:solidFill>
                <a:latin typeface="Arial"/>
                <a:ea typeface="Arial"/>
                <a:cs typeface="Arial"/>
              </a:defRPr>
            </a:pPr>
            <a:r>
              <a:rPr sz="1725" b="1">
                <a:solidFill>
                  <a:srgbClr val="FFFFFF"/>
                </a:solidFill>
                <a:latin typeface="Arial"/>
                <a:ea typeface="Arial"/>
                <a:cs typeface="Arial"/>
              </a:rPr>
              <a:t>43</a:t>
            </a:r>
          </a:p>
        </p:txBody>
      </p:sp>
      <p:sp>
        <p:nvSpPr>
          <p:cNvPr id="17" name="s09-l-3">
            <a:extLst xmlns:a="http://schemas.openxmlformats.org/drawingml/2006/main">
              <a:ext uri="{FF2B5EF4-FFF2-40B4-BE49-F238E27FC236}">
                <a16:creationId xmlns:a16="http://schemas.microsoft.com/office/drawing/2014/main" id="{BCE455B0-C0A9-4A2D-AC87-C2B55D5CE660}"/>
              </a:ext>
            </a:extLst>
          </p:cNvPr>
          <p:cNvSpPr>
            <a:spLocks xmlns:a="http://schemas.openxmlformats.org/drawingml/2006/main" noGrp="1"/>
          </p:cNvSpPr>
          <p:nvPr/>
        </p:nvSpPr>
        <p:spPr>
          <a:xfrm xmlns:a="http://schemas.openxmlformats.org/drawingml/2006/main">
            <a:off x="685800" y="3876675"/>
            <a:ext cx="1381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r">
              <a:defRPr sz="938" b="1" i="0">
                <a:solidFill>
                  <a:srgbClr val="7F7F7F"/>
                </a:solidFill>
                <a:latin typeface="Arial"/>
                <a:ea typeface="Arial"/>
                <a:cs typeface="Arial"/>
              </a:defRPr>
            </a:pPr>
            <a:r>
              <a:rPr sz="938" b="1" i="0">
                <a:solidFill>
                  <a:srgbClr val="7F7F7F"/>
                </a:solidFill>
                <a:latin typeface="Arial"/>
                <a:ea typeface="Arial"/>
                <a:cs typeface="Arial"/>
              </a:rPr>
              <a:t>G3  OXIDATION</a:t>
            </a:r>
          </a:p>
        </p:txBody>
      </p:sp>
      <p:sp>
        <p:nvSpPr>
          <p:cNvPr id="18" name="s09-bar-3">
            <a:extLst xmlns:a="http://schemas.openxmlformats.org/drawingml/2006/main">
              <a:ext uri="{FF2B5EF4-FFF2-40B4-BE49-F238E27FC236}">
                <a16:creationId xmlns:a16="http://schemas.microsoft.com/office/drawing/2014/main" id="{561F1639-FA61-46D8-84B0-500572A313B9}"/>
              </a:ext>
            </a:extLst>
          </p:cNvPr>
          <p:cNvSpPr>
            <a:spLocks xmlns:a="http://schemas.openxmlformats.org/drawingml/2006/main" noGrp="1"/>
          </p:cNvSpPr>
          <p:nvPr/>
        </p:nvSpPr>
        <p:spPr>
          <a:xfrm xmlns:a="http://schemas.openxmlformats.org/drawingml/2006/main">
            <a:off x="2238375" y="3771900"/>
            <a:ext cx="3352800" cy="552450"/>
          </a:xfrm>
          <a:prstGeom xmlns:a="http://schemas.openxmlformats.org/drawingml/2006/main" prst="roundRect">
            <a:avLst>
              <a:gd name="adj" fmla="val 13793"/>
            </a:avLst>
          </a:prstGeom>
          <a:solidFill xmlns:a="http://schemas.openxmlformats.org/drawingml/2006/main">
            <a:srgbClr val="B26A00"/>
          </a:solidFill>
          <a:ln xmlns:a="http://schemas.openxmlformats.org/drawingml/2006/main" w="9525">
            <a:solidFill>
              <a:srgbClr val="B26A00"/>
            </a:solidFill>
            <a:prstDash val="solid"/>
          </a:ln>
        </p:spPr>
        <p:txBody>
          <a:bodyPr xmlns:a="http://schemas.openxmlformats.org/drawingml/2006/main" lIns="76200" tIns="38100" rIns="133350" bIns="38100" anchor="ctr"/>
          <a:lstStyle xmlns:a="http://schemas.openxmlformats.org/drawingml/2006/main"/>
          <a:p xmlns:a="http://schemas.openxmlformats.org/drawingml/2006/main">
            <a:pPr algn="r">
              <a:defRPr sz="1725" b="1">
                <a:solidFill>
                  <a:srgbClr val="FFFFFF"/>
                </a:solidFill>
                <a:latin typeface="Arial"/>
                <a:ea typeface="Arial"/>
                <a:cs typeface="Arial"/>
              </a:defRPr>
            </a:pPr>
            <a:r>
              <a:rPr sz="1725" b="1">
                <a:solidFill>
                  <a:srgbClr val="FFFFFF"/>
                </a:solidFill>
                <a:latin typeface="Arial"/>
                <a:ea typeface="Arial"/>
                <a:cs typeface="Arial"/>
              </a:rPr>
              <a:t>25</a:t>
            </a:r>
          </a:p>
        </p:txBody>
      </p:sp>
      <p:sp>
        <p:nvSpPr>
          <p:cNvPr id="19" name="s09-l-4">
            <a:extLst xmlns:a="http://schemas.openxmlformats.org/drawingml/2006/main">
              <a:ext uri="{FF2B5EF4-FFF2-40B4-BE49-F238E27FC236}">
                <a16:creationId xmlns:a16="http://schemas.microsoft.com/office/drawing/2014/main" id="{22E71AE5-F08E-4C2F-9E30-9469764D78A1}"/>
              </a:ext>
            </a:extLst>
          </p:cNvPr>
          <p:cNvSpPr>
            <a:spLocks xmlns:a="http://schemas.openxmlformats.org/drawingml/2006/main" noGrp="1"/>
          </p:cNvSpPr>
          <p:nvPr/>
        </p:nvSpPr>
        <p:spPr>
          <a:xfrm xmlns:a="http://schemas.openxmlformats.org/drawingml/2006/main">
            <a:off x="685800" y="4657725"/>
            <a:ext cx="1381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r">
              <a:defRPr sz="938" b="1" i="0">
                <a:solidFill>
                  <a:srgbClr val="7F7F7F"/>
                </a:solidFill>
                <a:latin typeface="Arial"/>
                <a:ea typeface="Arial"/>
                <a:cs typeface="Arial"/>
              </a:defRPr>
            </a:pPr>
            <a:r>
              <a:rPr sz="938" b="1" i="0">
                <a:solidFill>
                  <a:srgbClr val="7F7F7F"/>
                </a:solidFill>
                <a:latin typeface="Arial"/>
                <a:ea typeface="Arial"/>
                <a:cs typeface="Arial"/>
              </a:rPr>
              <a:t>G4  LI TRANSPORT</a:t>
            </a:r>
          </a:p>
        </p:txBody>
      </p:sp>
      <p:sp>
        <p:nvSpPr>
          <p:cNvPr id="20" name="s09-bar-4">
            <a:extLst xmlns:a="http://schemas.openxmlformats.org/drawingml/2006/main">
              <a:ext uri="{FF2B5EF4-FFF2-40B4-BE49-F238E27FC236}">
                <a16:creationId xmlns:a16="http://schemas.microsoft.com/office/drawing/2014/main" id="{102AFB01-B606-43D1-B5B6-89FDF34A6AD9}"/>
              </a:ext>
            </a:extLst>
          </p:cNvPr>
          <p:cNvSpPr>
            <a:spLocks xmlns:a="http://schemas.openxmlformats.org/drawingml/2006/main" noGrp="1"/>
          </p:cNvSpPr>
          <p:nvPr/>
        </p:nvSpPr>
        <p:spPr>
          <a:xfrm xmlns:a="http://schemas.openxmlformats.org/drawingml/2006/main">
            <a:off x="2238375" y="4552950"/>
            <a:ext cx="1476375" cy="552450"/>
          </a:xfrm>
          <a:prstGeom xmlns:a="http://schemas.openxmlformats.org/drawingml/2006/main" prst="roundRect">
            <a:avLst>
              <a:gd name="adj" fmla="val 13793"/>
            </a:avLst>
          </a:prstGeom>
          <a:solidFill xmlns:a="http://schemas.openxmlformats.org/drawingml/2006/main">
            <a:srgbClr val="2E7D32"/>
          </a:solidFill>
          <a:ln xmlns:a="http://schemas.openxmlformats.org/drawingml/2006/main" w="9525">
            <a:solidFill>
              <a:srgbClr val="2E7D32"/>
            </a:solidFill>
            <a:prstDash val="solid"/>
          </a:ln>
        </p:spPr>
        <p:txBody>
          <a:bodyPr xmlns:a="http://schemas.openxmlformats.org/drawingml/2006/main" lIns="76200" tIns="38100" rIns="133350" bIns="38100" anchor="ctr"/>
          <a:lstStyle xmlns:a="http://schemas.openxmlformats.org/drawingml/2006/main"/>
          <a:p xmlns:a="http://schemas.openxmlformats.org/drawingml/2006/main">
            <a:pPr algn="r">
              <a:defRPr sz="1725" b="1">
                <a:solidFill>
                  <a:srgbClr val="FFFFFF"/>
                </a:solidFill>
                <a:latin typeface="Arial"/>
                <a:ea typeface="Arial"/>
                <a:cs typeface="Arial"/>
              </a:defRPr>
            </a:pPr>
            <a:r>
              <a:rPr sz="1725" b="1">
                <a:solidFill>
                  <a:srgbClr val="FFFFFF"/>
                </a:solidFill>
                <a:latin typeface="Arial"/>
                <a:ea typeface="Arial"/>
                <a:cs typeface="Arial"/>
              </a:rPr>
              <a:t>11</a:t>
            </a:r>
          </a:p>
        </p:txBody>
      </p:sp>
      <p:sp>
        <p:nvSpPr>
          <p:cNvPr id="21" name="s09-g5">
            <a:extLst xmlns:a="http://schemas.openxmlformats.org/drawingml/2006/main">
              <a:ext uri="{FF2B5EF4-FFF2-40B4-BE49-F238E27FC236}">
                <a16:creationId xmlns:a16="http://schemas.microsoft.com/office/drawing/2014/main" id="{7B3554D2-B83E-4CE5-AA6A-613DC8140E36}"/>
              </a:ext>
            </a:extLst>
          </p:cNvPr>
          <p:cNvSpPr>
            <a:spLocks xmlns:a="http://schemas.openxmlformats.org/drawingml/2006/main" noGrp="1"/>
          </p:cNvSpPr>
          <p:nvPr/>
        </p:nvSpPr>
        <p:spPr>
          <a:xfrm xmlns:a="http://schemas.openxmlformats.org/drawingml/2006/main">
            <a:off x="3333750" y="5381625"/>
            <a:ext cx="2476500" cy="400050"/>
          </a:xfrm>
          <a:prstGeom xmlns:a="http://schemas.openxmlformats.org/drawingml/2006/main" prst="rect">
            <a:avLst/>
          </a:prstGeom>
          <a:solidFill xmlns:a="http://schemas.openxmlformats.org/drawingml/2006/main">
            <a:srgbClr val="F2F2F2"/>
          </a:solidFill>
          <a:ln xmlns:a="http://schemas.openxmlformats.org/drawingml/2006/main" w="9525">
            <a:solidFill>
              <a:srgbClr val="7F7F7F"/>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25" b="1" i="0">
                <a:solidFill>
                  <a:srgbClr val="7F7F7F"/>
                </a:solidFill>
                <a:latin typeface="Arial"/>
                <a:ea typeface="Arial"/>
                <a:cs typeface="Arial"/>
              </a:defRPr>
            </a:pPr>
            <a:r>
              <a:rPr sz="1125" b="1" i="0">
                <a:solidFill>
                  <a:srgbClr val="7F7F7F"/>
                </a:solidFill>
                <a:latin typeface="Arial"/>
                <a:ea typeface="Arial"/>
                <a:cs typeface="Arial"/>
              </a:rPr>
              <a:t>G5 mechanical ranking → 1*</a:t>
            </a:r>
          </a:p>
        </p:txBody>
      </p:sp>
      <p:sp>
        <p:nvSpPr>
          <p:cNvPr id="22" name="s09-note">
            <a:extLst xmlns:a="http://schemas.openxmlformats.org/drawingml/2006/main">
              <a:ext uri="{FF2B5EF4-FFF2-40B4-BE49-F238E27FC236}">
                <a16:creationId xmlns:a16="http://schemas.microsoft.com/office/drawing/2014/main" id="{6D56097D-64E3-4CA7-BBBB-966A38361D58}"/>
              </a:ext>
            </a:extLst>
          </p:cNvPr>
          <p:cNvSpPr>
            <a:spLocks xmlns:a="http://schemas.openxmlformats.org/drawingml/2006/main" noGrp="1"/>
          </p:cNvSpPr>
          <p:nvPr/>
        </p:nvSpPr>
        <p:spPr>
          <a:xfrm xmlns:a="http://schemas.openxmlformats.org/drawingml/2006/main">
            <a:off x="1476375" y="5857875"/>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90" b="1" i="0">
                <a:solidFill>
                  <a:srgbClr val="9E2A2B"/>
                </a:solidFill>
                <a:latin typeface="Arial"/>
                <a:ea typeface="Arial"/>
                <a:cs typeface="Arial"/>
              </a:defRPr>
            </a:pPr>
            <a:r>
              <a:rPr sz="990" b="1" i="0">
                <a:solidFill>
                  <a:srgbClr val="9E2A2B"/>
                </a:solidFill>
                <a:latin typeface="Arial"/>
                <a:ea typeface="Arial"/>
                <a:cs typeface="Arial"/>
              </a:rPr>
              <a:t>* This funnel is a post-hoc analysis view. G4 is heuristic; G5 is ranking-only.</a:t>
            </a:r>
          </a:p>
        </p:txBody>
      </p:sp>
    </p:spTree>
    <p:extLst>
      <p:ext uri="{BB962C8B-B14F-4D97-AF65-F5344CB8AC3E}">
        <p14:creationId xmlns:p14="http://schemas.microsoft.com/office/powerpoint/2010/main" val="1396119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Audit</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Standalone kill · unique kill</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Two gates reveal more about the pool than the candidates</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10</a:t>
            </a:r>
            <a:endParaRPr sz="1000"/>
          </a:p>
        </p:txBody>
      </p:sp>
      <p:sp>
        <p:nvSpPr>
          <p:cNvPr id="11" name="s10-g1-box">
            <a:extLst xmlns:a="http://schemas.openxmlformats.org/drawingml/2006/main">
              <a:ext uri="{FF2B5EF4-FFF2-40B4-BE49-F238E27FC236}">
                <a16:creationId xmlns:a16="http://schemas.microsoft.com/office/drawing/2014/main" id="{4EE68D7D-CD18-4B7F-A416-41FA05CF5A38}"/>
              </a:ext>
            </a:extLst>
          </p:cNvPr>
          <p:cNvSpPr>
            <a:spLocks xmlns:a="http://schemas.openxmlformats.org/drawingml/2006/main" noGrp="1"/>
          </p:cNvSpPr>
          <p:nvPr/>
        </p:nvSpPr>
        <p:spPr>
          <a:xfrm xmlns:a="http://schemas.openxmlformats.org/drawingml/2006/main">
            <a:off x="1000125" y="1666875"/>
            <a:ext cx="3048000" cy="2381250"/>
          </a:xfrm>
          <a:prstGeom xmlns:a="http://schemas.openxmlformats.org/drawingml/2006/main" prst="roundRect">
            <a:avLst>
              <a:gd name="adj" fmla="val 3200"/>
            </a:avLst>
          </a:prstGeom>
          <a:solidFill xmlns:a="http://schemas.openxmlformats.org/drawingml/2006/main">
            <a:srgbClr val="F3F7FB"/>
          </a:solidFill>
          <a:ln xmlns:a="http://schemas.openxmlformats.org/drawingml/2006/main" w="9525">
            <a:solidFill>
              <a:srgbClr val="D9E1F2"/>
            </a:solidFill>
            <a:prstDash val="solid"/>
          </a:ln>
        </p:spPr>
      </p:sp>
      <p:sp>
        <p:nvSpPr>
          <p:cNvPr id="12" name="s10-g1-accent">
            <a:extLst xmlns:a="http://schemas.openxmlformats.org/drawingml/2006/main">
              <a:ext uri="{FF2B5EF4-FFF2-40B4-BE49-F238E27FC236}">
                <a16:creationId xmlns:a16="http://schemas.microsoft.com/office/drawing/2014/main" id="{20133D4C-4065-49F1-AA82-A99A483C3641}"/>
              </a:ext>
            </a:extLst>
          </p:cNvPr>
          <p:cNvSpPr>
            <a:spLocks xmlns:a="http://schemas.openxmlformats.org/drawingml/2006/main" noGrp="1"/>
          </p:cNvSpPr>
          <p:nvPr/>
        </p:nvSpPr>
        <p:spPr>
          <a:xfrm xmlns:a="http://schemas.openxmlformats.org/drawingml/2006/main">
            <a:off x="1000125" y="1666875"/>
            <a:ext cx="66675" cy="2381250"/>
          </a:xfrm>
          <a:prstGeom xmlns:a="http://schemas.openxmlformats.org/drawingml/2006/main" prst="rect">
            <a:avLst/>
          </a:prstGeom>
          <a:solidFill xmlns:a="http://schemas.openxmlformats.org/drawingml/2006/main">
            <a:srgbClr val="0070C0"/>
          </a:solidFill>
          <a:ln xmlns:a="http://schemas.openxmlformats.org/drawingml/2006/main" w="0">
            <a:solidFill>
              <a:srgbClr val="0070C0"/>
            </a:solidFill>
            <a:prstDash val="solid"/>
          </a:ln>
        </p:spPr>
      </p:sp>
      <p:sp>
        <p:nvSpPr>
          <p:cNvPr id="13" name="s10-g1-title">
            <a:extLst xmlns:a="http://schemas.openxmlformats.org/drawingml/2006/main">
              <a:ext uri="{FF2B5EF4-FFF2-40B4-BE49-F238E27FC236}">
                <a16:creationId xmlns:a16="http://schemas.microsoft.com/office/drawing/2014/main" id="{59D4787F-616D-4E02-A7F3-6883A18E6B73}"/>
              </a:ext>
            </a:extLst>
          </p:cNvPr>
          <p:cNvSpPr>
            <a:spLocks xmlns:a="http://schemas.openxmlformats.org/drawingml/2006/main" noGrp="1"/>
          </p:cNvSpPr>
          <p:nvPr/>
        </p:nvSpPr>
        <p:spPr>
          <a:xfrm xmlns:a="http://schemas.openxmlformats.org/drawingml/2006/main">
            <a:off x="1133475" y="1743075"/>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71429"/>
          </a:bodyPr>
          <a:lstStyle xmlns:a="http://schemas.openxmlformats.org/drawingml/2006/main"/>
          <a:p xmlns:a="http://schemas.openxmlformats.org/drawingml/2006/main">
            <a:pPr algn="l">
              <a:defRPr sz="1575" b="1" i="0">
                <a:solidFill>
                  <a:srgbClr val="1F4E79"/>
                </a:solidFill>
                <a:latin typeface="Arial"/>
                <a:ea typeface="Arial"/>
                <a:cs typeface="Arial"/>
              </a:defRPr>
            </a:pPr>
            <a:r>
              <a:rPr sz="1575" b="1" i="0">
                <a:solidFill>
                  <a:srgbClr val="1F4E79"/>
                </a:solidFill>
                <a:latin typeface="Arial"/>
                <a:ea typeface="Arial"/>
                <a:cs typeface="Arial"/>
              </a:rPr>
              <a:t>G1: 47 / 47 pass</a:t>
            </a:r>
          </a:p>
        </p:txBody>
      </p:sp>
      <p:sp>
        <p:nvSpPr>
          <p:cNvPr id="14" name="s10-g1-body">
            <a:extLst xmlns:a="http://schemas.openxmlformats.org/drawingml/2006/main">
              <a:ext uri="{FF2B5EF4-FFF2-40B4-BE49-F238E27FC236}">
                <a16:creationId xmlns:a16="http://schemas.microsoft.com/office/drawing/2014/main" id="{433CE8D9-B871-4B25-83C5-389A0F674259}"/>
              </a:ext>
            </a:extLst>
          </p:cNvPr>
          <p:cNvSpPr>
            <a:spLocks xmlns:a="http://schemas.openxmlformats.org/drawingml/2006/main" noGrp="1"/>
          </p:cNvSpPr>
          <p:nvPr/>
        </p:nvSpPr>
        <p:spPr>
          <a:xfrm xmlns:a="http://schemas.openxmlformats.org/drawingml/2006/main">
            <a:off x="1133475" y="2038350"/>
            <a:ext cx="28194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VACUOUS</a:t>
            </a:r>
          </a:p>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No selection pressure in the curated pool.</a:t>
            </a:r>
          </a:p>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This does not prove universal stability.</a:t>
            </a:r>
          </a:p>
        </p:txBody>
      </p:sp>
      <p:sp>
        <p:nvSpPr>
          <p:cNvPr id="15" name="s10-g2-box">
            <a:extLst xmlns:a="http://schemas.openxmlformats.org/drawingml/2006/main">
              <a:ext uri="{FF2B5EF4-FFF2-40B4-BE49-F238E27FC236}">
                <a16:creationId xmlns:a16="http://schemas.microsoft.com/office/drawing/2014/main" id="{D46408C3-58B8-4936-A338-F184EACBC5C9}"/>
              </a:ext>
            </a:extLst>
          </p:cNvPr>
          <p:cNvSpPr>
            <a:spLocks xmlns:a="http://schemas.openxmlformats.org/drawingml/2006/main" noGrp="1"/>
          </p:cNvSpPr>
          <p:nvPr/>
        </p:nvSpPr>
        <p:spPr>
          <a:xfrm xmlns:a="http://schemas.openxmlformats.org/drawingml/2006/main">
            <a:off x="5095875" y="1666875"/>
            <a:ext cx="3048000" cy="2381250"/>
          </a:xfrm>
          <a:prstGeom xmlns:a="http://schemas.openxmlformats.org/drawingml/2006/main" prst="roundRect">
            <a:avLst>
              <a:gd name="adj" fmla="val 3200"/>
            </a:avLst>
          </a:prstGeom>
          <a:solidFill xmlns:a="http://schemas.openxmlformats.org/drawingml/2006/main">
            <a:srgbClr val="FFF4E0"/>
          </a:solidFill>
          <a:ln xmlns:a="http://schemas.openxmlformats.org/drawingml/2006/main" w="9525">
            <a:solidFill>
              <a:srgbClr val="D9E1F2"/>
            </a:solidFill>
            <a:prstDash val="solid"/>
          </a:ln>
        </p:spPr>
      </p:sp>
      <p:sp>
        <p:nvSpPr>
          <p:cNvPr id="16" name="s10-g2-accent">
            <a:extLst xmlns:a="http://schemas.openxmlformats.org/drawingml/2006/main">
              <a:ext uri="{FF2B5EF4-FFF2-40B4-BE49-F238E27FC236}">
                <a16:creationId xmlns:a16="http://schemas.microsoft.com/office/drawing/2014/main" id="{CF5D3460-B9DE-4A58-8A96-0FCA0DBF5025}"/>
              </a:ext>
            </a:extLst>
          </p:cNvPr>
          <p:cNvSpPr>
            <a:spLocks xmlns:a="http://schemas.openxmlformats.org/drawingml/2006/main" noGrp="1"/>
          </p:cNvSpPr>
          <p:nvPr/>
        </p:nvSpPr>
        <p:spPr>
          <a:xfrm xmlns:a="http://schemas.openxmlformats.org/drawingml/2006/main">
            <a:off x="5095875" y="1666875"/>
            <a:ext cx="66675" cy="2381250"/>
          </a:xfrm>
          <a:prstGeom xmlns:a="http://schemas.openxmlformats.org/drawingml/2006/main" prst="rect">
            <a:avLst/>
          </a:prstGeom>
          <a:solidFill xmlns:a="http://schemas.openxmlformats.org/drawingml/2006/main">
            <a:srgbClr val="B26A00"/>
          </a:solidFill>
          <a:ln xmlns:a="http://schemas.openxmlformats.org/drawingml/2006/main" w="0">
            <a:solidFill>
              <a:srgbClr val="B26A00"/>
            </a:solidFill>
            <a:prstDash val="solid"/>
          </a:ln>
        </p:spPr>
      </p:sp>
      <p:sp>
        <p:nvSpPr>
          <p:cNvPr id="17" name="s10-g2-title">
            <a:extLst xmlns:a="http://schemas.openxmlformats.org/drawingml/2006/main">
              <a:ext uri="{FF2B5EF4-FFF2-40B4-BE49-F238E27FC236}">
                <a16:creationId xmlns:a16="http://schemas.microsoft.com/office/drawing/2014/main" id="{05E1C8E9-5D84-4A0D-BCBE-FAC08FA7B257}"/>
              </a:ext>
            </a:extLst>
          </p:cNvPr>
          <p:cNvSpPr>
            <a:spLocks xmlns:a="http://schemas.openxmlformats.org/drawingml/2006/main" noGrp="1"/>
          </p:cNvSpPr>
          <p:nvPr/>
        </p:nvSpPr>
        <p:spPr>
          <a:xfrm xmlns:a="http://schemas.openxmlformats.org/drawingml/2006/main">
            <a:off x="5229225" y="1743075"/>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71429"/>
          </a:bodyPr>
          <a:lstStyle xmlns:a="http://schemas.openxmlformats.org/drawingml/2006/main"/>
          <a:p xmlns:a="http://schemas.openxmlformats.org/drawingml/2006/main">
            <a:pPr algn="l">
              <a:defRPr sz="1575" b="1" i="0">
                <a:solidFill>
                  <a:srgbClr val="1F4E79"/>
                </a:solidFill>
                <a:latin typeface="Arial"/>
                <a:ea typeface="Arial"/>
                <a:cs typeface="Arial"/>
              </a:defRPr>
            </a:pPr>
            <a:r>
              <a:rPr sz="1575" b="1" i="0">
                <a:solidFill>
                  <a:srgbClr val="1F4E79"/>
                </a:solidFill>
                <a:latin typeface="Arial"/>
                <a:ea typeface="Arial"/>
                <a:cs typeface="Arial"/>
              </a:rPr>
              <a:t>G2: unique kill = 0</a:t>
            </a:r>
          </a:p>
        </p:txBody>
      </p:sp>
      <p:sp>
        <p:nvSpPr>
          <p:cNvPr id="18" name="s10-g2-body">
            <a:extLst xmlns:a="http://schemas.openxmlformats.org/drawingml/2006/main">
              <a:ext uri="{FF2B5EF4-FFF2-40B4-BE49-F238E27FC236}">
                <a16:creationId xmlns:a16="http://schemas.microsoft.com/office/drawing/2014/main" id="{D2FB8CB2-7FEF-4FE8-910F-8368CE5F29D9}"/>
              </a:ext>
            </a:extLst>
          </p:cNvPr>
          <p:cNvSpPr>
            <a:spLocks xmlns:a="http://schemas.openxmlformats.org/drawingml/2006/main" noGrp="1"/>
          </p:cNvSpPr>
          <p:nvPr/>
        </p:nvSpPr>
        <p:spPr>
          <a:xfrm xmlns:a="http://schemas.openxmlformats.org/drawingml/2006/main">
            <a:off x="5229225" y="2038350"/>
            <a:ext cx="28194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REDUNDANT</a:t>
            </a:r>
          </a:p>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Four window-collapse failures also fail G3.</a:t>
            </a:r>
          </a:p>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Late-TM chemistry drives both.</a:t>
            </a:r>
          </a:p>
        </p:txBody>
      </p:sp>
      <p:sp>
        <p:nvSpPr>
          <p:cNvPr id="19" name="s10-notbad">
            <a:extLst xmlns:a="http://schemas.openxmlformats.org/drawingml/2006/main">
              <a:ext uri="{FF2B5EF4-FFF2-40B4-BE49-F238E27FC236}">
                <a16:creationId xmlns:a16="http://schemas.microsoft.com/office/drawing/2014/main" id="{E9394064-7B05-4E20-B55A-655F7E8665BF}"/>
              </a:ext>
            </a:extLst>
          </p:cNvPr>
          <p:cNvSpPr>
            <a:spLocks xmlns:a="http://schemas.openxmlformats.org/drawingml/2006/main" noGrp="1"/>
          </p:cNvSpPr>
          <p:nvPr/>
        </p:nvSpPr>
        <p:spPr>
          <a:xfrm xmlns:a="http://schemas.openxmlformats.org/drawingml/2006/main">
            <a:off x="2047875" y="4495800"/>
            <a:ext cx="5048250" cy="533400"/>
          </a:xfrm>
          <a:prstGeom xmlns:a="http://schemas.openxmlformats.org/drawingml/2006/main" prst="rect">
            <a:avLst/>
          </a:prstGeom>
          <a:solidFill xmlns:a="http://schemas.openxmlformats.org/drawingml/2006/main">
            <a:srgbClr val="DCE6F1"/>
          </a:solidFill>
          <a:ln xmlns:a="http://schemas.openxmlformats.org/drawingml/2006/main" w="9525">
            <a:solidFill>
              <a:srgbClr val="1F4E79"/>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575" b="1" i="0">
                <a:solidFill>
                  <a:srgbClr val="1F4E79"/>
                </a:solidFill>
                <a:latin typeface="Arial"/>
                <a:ea typeface="Arial"/>
                <a:cs typeface="Arial"/>
              </a:defRPr>
            </a:pPr>
            <a:r>
              <a:rPr sz="1575" b="1" i="0">
                <a:solidFill>
                  <a:srgbClr val="1F4E79"/>
                </a:solidFill>
                <a:latin typeface="Arial"/>
                <a:ea typeface="Arial"/>
                <a:cs typeface="Arial"/>
              </a:rPr>
              <a:t>Keep the records. Change the interpretation.</a:t>
            </a:r>
          </a:p>
        </p:txBody>
      </p:sp>
      <p:sp>
        <p:nvSpPr>
          <p:cNvPr id="20" name="s10-take">
            <a:extLst xmlns:a="http://schemas.openxmlformats.org/drawingml/2006/main">
              <a:ext uri="{FF2B5EF4-FFF2-40B4-BE49-F238E27FC236}">
                <a16:creationId xmlns:a16="http://schemas.microsoft.com/office/drawing/2014/main" id="{93CCE69F-E247-4FFE-969E-985535A22495}"/>
              </a:ext>
            </a:extLst>
          </p:cNvPr>
          <p:cNvSpPr>
            <a:spLocks xmlns:a="http://schemas.openxmlformats.org/drawingml/2006/main" noGrp="1"/>
          </p:cNvSpPr>
          <p:nvPr/>
        </p:nvSpPr>
        <p:spPr>
          <a:xfrm xmlns:a="http://schemas.openxmlformats.org/drawingml/2006/main">
            <a:off x="2381250" y="52578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350" b="1" i="0">
                <a:solidFill>
                  <a:srgbClr val="9E2A2B"/>
                </a:solidFill>
                <a:latin typeface="Arial"/>
                <a:ea typeface="Arial"/>
                <a:cs typeface="Arial"/>
              </a:defRPr>
            </a:pPr>
            <a:r>
              <a:rPr sz="1350" b="1" i="0">
                <a:solidFill>
                  <a:srgbClr val="9E2A2B"/>
                </a:solidFill>
                <a:latin typeface="Arial"/>
                <a:ea typeface="Arial"/>
                <a:cs typeface="Arial"/>
              </a:rPr>
              <a:t>Gate auditing is itself a scientific result.</a:t>
            </a:r>
          </a:p>
        </p:txBody>
      </p:sp>
    </p:spTree>
    <p:extLst>
      <p:ext uri="{BB962C8B-B14F-4D97-AF65-F5344CB8AC3E}">
        <p14:creationId xmlns:p14="http://schemas.microsoft.com/office/powerpoint/2010/main" val="1396119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Result</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47-species snapshot · static pathway audit</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a:bodyPr>
          <a:lstStyle xmlns:a="http://schemas.openxmlformats.org/drawingml/2006/main"/>
          <a:p xmlns:a="http://schemas.openxmlformats.org/drawingml/2006/main">
            <a:pPr marL="0" indent="0">
              <a:buNone/>
            </a:pPr>
            <a:r>
              <a:rPr sz="1500" b="1">
                <a:solidFill>
                  <a:srgbClr val="262626"/>
                </a:solidFill>
                <a:latin typeface="Arial"/>
                <a:ea typeface="Arial"/>
                <a:cs typeface="Arial"/>
              </a:rPr>
              <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11</a:t>
            </a:r>
            <a:endParaRPr sz="1000"/>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361c3df27b64401"/>
          <a:stretch xmlns:a="http://schemas.openxmlformats.org/drawingml/2006/main"/>
        </p:blipFill>
        <p:spPr>
          <a:xfrm xmlns:a="http://schemas.openxmlformats.org/drawingml/2006/main">
            <a:off x="989145" y="981075"/>
            <a:ext cx="7165710" cy="5562600"/>
          </a:xfrm>
          <a:prstGeom xmlns:a="http://schemas.openxmlformats.org/drawingml/2006/main" prst="rect">
            <a:avLst/>
          </a:prstGeom>
        </p:spPr>
      </p:pic>
    </p:spTree>
    <p:extLst>
      <p:ext uri="{BB962C8B-B14F-4D97-AF65-F5344CB8AC3E}">
        <p14:creationId xmlns:p14="http://schemas.microsoft.com/office/powerpoint/2010/main" val="1396119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Decision model</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Conditional Pareto view within post-hoc G1–G4</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a:bodyPr>
          <a:lstStyle xmlns:a="http://schemas.openxmlformats.org/drawingml/2006/main"/>
          <a:p xmlns:a="http://schemas.openxmlformats.org/drawingml/2006/main">
            <a:pPr marL="0" indent="0">
              <a:buNone/>
            </a:pPr>
            <a:r>
              <a:rPr sz="1500" b="1">
                <a:solidFill>
                  <a:srgbClr val="262626"/>
                </a:solidFill>
                <a:latin typeface="Arial"/>
                <a:ea typeface="Arial"/>
                <a:cs typeface="Arial"/>
              </a:rPr>
              <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12</a:t>
            </a:r>
            <a:endParaRPr sz="1000"/>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6727203097e4a91"/>
          <a:stretch xmlns:a="http://schemas.openxmlformats.org/drawingml/2006/main"/>
        </p:blipFill>
        <p:spPr>
          <a:xfrm xmlns:a="http://schemas.openxmlformats.org/drawingml/2006/main">
            <a:off x="1017342" y="981075"/>
            <a:ext cx="7109316" cy="5562600"/>
          </a:xfrm>
          <a:prstGeom xmlns:a="http://schemas.openxmlformats.org/drawingml/2006/main" prst="rect">
            <a:avLst/>
          </a:prstGeom>
        </p:spPr>
      </p:pic>
    </p:spTree>
    <p:extLst>
      <p:ext uri="{BB962C8B-B14F-4D97-AF65-F5344CB8AC3E}">
        <p14:creationId xmlns:p14="http://schemas.microsoft.com/office/powerpoint/2010/main" val="139611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Robustness</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All 5! = 120 gate orders enumerated</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Gate order changes the story, not the terminal intersection</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13</a:t>
            </a:r>
            <a:endParaRPr sz="1000"/>
          </a:p>
        </p:txBody>
      </p:sp>
      <p:sp>
        <p:nvSpPr>
          <p:cNvPr id="11" name="s13-120-box">
            <a:extLst xmlns:a="http://schemas.openxmlformats.org/drawingml/2006/main">
              <a:ext uri="{FF2B5EF4-FFF2-40B4-BE49-F238E27FC236}">
                <a16:creationId xmlns:a16="http://schemas.microsoft.com/office/drawing/2014/main" id="{892510DE-CEEB-4EA9-8CC1-0FBECB9B3CCF}"/>
              </a:ext>
            </a:extLst>
          </p:cNvPr>
          <p:cNvSpPr>
            <a:spLocks xmlns:a="http://schemas.openxmlformats.org/drawingml/2006/main" noGrp="1"/>
          </p:cNvSpPr>
          <p:nvPr/>
        </p:nvSpPr>
        <p:spPr>
          <a:xfrm xmlns:a="http://schemas.openxmlformats.org/drawingml/2006/main">
            <a:off x="619125" y="1666875"/>
            <a:ext cx="2095500" cy="914400"/>
          </a:xfrm>
          <a:prstGeom xmlns:a="http://schemas.openxmlformats.org/drawingml/2006/main" prst="roundRect">
            <a:avLst>
              <a:gd name="adj" fmla="val 8333"/>
            </a:avLst>
          </a:prstGeom>
          <a:solidFill xmlns:a="http://schemas.openxmlformats.org/drawingml/2006/main">
            <a:srgbClr val="DCE6F1"/>
          </a:solidFill>
          <a:ln xmlns:a="http://schemas.openxmlformats.org/drawingml/2006/main" w="9525">
            <a:solidFill>
              <a:srgbClr val="D9E1F2"/>
            </a:solidFill>
            <a:prstDash val="solid"/>
          </a:ln>
        </p:spPr>
      </p:sp>
      <p:sp>
        <p:nvSpPr>
          <p:cNvPr id="12" name="s13-120-value">
            <a:extLst xmlns:a="http://schemas.openxmlformats.org/drawingml/2006/main">
              <a:ext uri="{FF2B5EF4-FFF2-40B4-BE49-F238E27FC236}">
                <a16:creationId xmlns:a16="http://schemas.microsoft.com/office/drawing/2014/main" id="{7DA389B2-66E9-446F-B95F-A38F821F4348}"/>
              </a:ext>
            </a:extLst>
          </p:cNvPr>
          <p:cNvSpPr>
            <a:spLocks xmlns:a="http://schemas.openxmlformats.org/drawingml/2006/main" noGrp="1"/>
          </p:cNvSpPr>
          <p:nvPr/>
        </p:nvSpPr>
        <p:spPr>
          <a:xfrm xmlns:a="http://schemas.openxmlformats.org/drawingml/2006/main">
            <a:off x="695325" y="1762125"/>
            <a:ext cx="1943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2100" b="1" i="0">
                <a:solidFill>
                  <a:srgbClr val="0070C0"/>
                </a:solidFill>
                <a:latin typeface="Arial"/>
                <a:ea typeface="Arial"/>
                <a:cs typeface="Arial"/>
              </a:defRPr>
            </a:pPr>
            <a:r>
              <a:rPr sz="2100" b="1" i="0">
                <a:solidFill>
                  <a:srgbClr val="0070C0"/>
                </a:solidFill>
                <a:latin typeface="Arial"/>
                <a:ea typeface="Arial"/>
                <a:cs typeface="Arial"/>
              </a:rPr>
              <a:t>120 / 120</a:t>
            </a:r>
          </a:p>
        </p:txBody>
      </p:sp>
      <p:sp>
        <p:nvSpPr>
          <p:cNvPr id="13" name="s13-120-label">
            <a:extLst xmlns:a="http://schemas.openxmlformats.org/drawingml/2006/main">
              <a:ext uri="{FF2B5EF4-FFF2-40B4-BE49-F238E27FC236}">
                <a16:creationId xmlns:a16="http://schemas.microsoft.com/office/drawing/2014/main" id="{D85AE49E-75EC-45B9-94AD-C5D002FF4FB4}"/>
              </a:ext>
            </a:extLst>
          </p:cNvPr>
          <p:cNvSpPr>
            <a:spLocks xmlns:a="http://schemas.openxmlformats.org/drawingml/2006/main" noGrp="1"/>
          </p:cNvSpPr>
          <p:nvPr/>
        </p:nvSpPr>
        <p:spPr>
          <a:xfrm xmlns:a="http://schemas.openxmlformats.org/drawingml/2006/main">
            <a:off x="695325" y="22193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38" b="0" i="0">
                <a:solidFill>
                  <a:srgbClr val="7F7F7F"/>
                </a:solidFill>
                <a:latin typeface="Arial"/>
                <a:ea typeface="Arial"/>
                <a:cs typeface="Arial"/>
              </a:defRPr>
            </a:pPr>
            <a:r>
              <a:rPr sz="938" b="0" i="0">
                <a:solidFill>
                  <a:srgbClr val="7F7F7F"/>
                </a:solidFill>
                <a:latin typeface="Arial"/>
                <a:ea typeface="Arial"/>
                <a:cs typeface="Arial"/>
              </a:rPr>
              <a:t>gate permutations tested</a:t>
            </a:r>
          </a:p>
        </p:txBody>
      </p:sp>
      <p:sp>
        <p:nvSpPr>
          <p:cNvPr id="14" name="s13-path-0-box">
            <a:extLst xmlns:a="http://schemas.openxmlformats.org/drawingml/2006/main">
              <a:ext uri="{FF2B5EF4-FFF2-40B4-BE49-F238E27FC236}">
                <a16:creationId xmlns:a16="http://schemas.microsoft.com/office/drawing/2014/main" id="{921571DE-5475-46E0-81BD-36B1697750F8}"/>
              </a:ext>
            </a:extLst>
          </p:cNvPr>
          <p:cNvSpPr>
            <a:spLocks xmlns:a="http://schemas.openxmlformats.org/drawingml/2006/main" noGrp="1"/>
          </p:cNvSpPr>
          <p:nvPr/>
        </p:nvSpPr>
        <p:spPr>
          <a:xfrm xmlns:a="http://schemas.openxmlformats.org/drawingml/2006/main">
            <a:off x="3190875" y="1476375"/>
            <a:ext cx="5048250" cy="857250"/>
          </a:xfrm>
          <a:prstGeom xmlns:a="http://schemas.openxmlformats.org/drawingml/2006/main" prst="roundRect">
            <a:avLst>
              <a:gd name="adj" fmla="val 8889"/>
            </a:avLst>
          </a:prstGeom>
          <a:solidFill xmlns:a="http://schemas.openxmlformats.org/drawingml/2006/main">
            <a:srgbClr val="F3F7FB"/>
          </a:solidFill>
          <a:ln xmlns:a="http://schemas.openxmlformats.org/drawingml/2006/main" w="9525">
            <a:solidFill>
              <a:srgbClr val="D9E1F2"/>
            </a:solidFill>
            <a:prstDash val="solid"/>
          </a:ln>
        </p:spPr>
      </p:sp>
      <p:sp>
        <p:nvSpPr>
          <p:cNvPr id="15" name="s13-path-0-accent">
            <a:extLst xmlns:a="http://schemas.openxmlformats.org/drawingml/2006/main">
              <a:ext uri="{FF2B5EF4-FFF2-40B4-BE49-F238E27FC236}">
                <a16:creationId xmlns:a16="http://schemas.microsoft.com/office/drawing/2014/main" id="{E6E986D0-1971-4857-8E2C-5D2ACBD2EC4C}"/>
              </a:ext>
            </a:extLst>
          </p:cNvPr>
          <p:cNvSpPr>
            <a:spLocks xmlns:a="http://schemas.openxmlformats.org/drawingml/2006/main" noGrp="1"/>
          </p:cNvSpPr>
          <p:nvPr/>
        </p:nvSpPr>
        <p:spPr>
          <a:xfrm xmlns:a="http://schemas.openxmlformats.org/drawingml/2006/main">
            <a:off x="3190875" y="1476375"/>
            <a:ext cx="66675" cy="8572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6" name="s13-path-0-title">
            <a:extLst xmlns:a="http://schemas.openxmlformats.org/drawingml/2006/main">
              <a:ext uri="{FF2B5EF4-FFF2-40B4-BE49-F238E27FC236}">
                <a16:creationId xmlns:a16="http://schemas.microsoft.com/office/drawing/2014/main" id="{844AE229-7CE0-4CD8-A81A-A68B6898A58E}"/>
              </a:ext>
            </a:extLst>
          </p:cNvPr>
          <p:cNvSpPr>
            <a:spLocks xmlns:a="http://schemas.openxmlformats.org/drawingml/2006/main" noGrp="1"/>
          </p:cNvSpPr>
          <p:nvPr/>
        </p:nvSpPr>
        <p:spPr>
          <a:xfrm xmlns:a="http://schemas.openxmlformats.org/drawingml/2006/main">
            <a:off x="3324225" y="1552575"/>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93750"/>
          </a:bodyPr>
          <a:lstStyle xmlns:a="http://schemas.openxmlformats.org/drawingml/2006/main"/>
          <a:p xmlns:a="http://schemas.openxmlformats.org/drawingml/2006/main">
            <a:pPr algn="l">
              <a:defRPr sz="1200" b="1" i="0">
                <a:solidFill>
                  <a:srgbClr val="1F4E79"/>
                </a:solidFill>
                <a:latin typeface="Arial"/>
                <a:ea typeface="Arial"/>
                <a:cs typeface="Arial"/>
              </a:defRPr>
            </a:pPr>
            <a:r>
              <a:rPr sz="1200" b="1" i="0">
                <a:solidFill>
                  <a:srgbClr val="1F4E79"/>
                </a:solidFill>
                <a:latin typeface="Arial"/>
                <a:ea typeface="Arial"/>
                <a:cs typeface="Arial"/>
              </a:rPr>
              <a:t>G1 → G2 → G3 → G4 → G5</a:t>
            </a:r>
          </a:p>
        </p:txBody>
      </p:sp>
      <p:sp>
        <p:nvSpPr>
          <p:cNvPr id="17" name="s13-path-0-body">
            <a:extLst xmlns:a="http://schemas.openxmlformats.org/drawingml/2006/main">
              <a:ext uri="{FF2B5EF4-FFF2-40B4-BE49-F238E27FC236}">
                <a16:creationId xmlns:a16="http://schemas.microsoft.com/office/drawing/2014/main" id="{2AB8E9F7-BDA5-4731-99B6-08B767EC7EF6}"/>
              </a:ext>
            </a:extLst>
          </p:cNvPr>
          <p:cNvSpPr>
            <a:spLocks xmlns:a="http://schemas.openxmlformats.org/drawingml/2006/main" noGrp="1"/>
          </p:cNvSpPr>
          <p:nvPr/>
        </p:nvSpPr>
        <p:spPr>
          <a:xfrm xmlns:a="http://schemas.openxmlformats.org/drawingml/2006/main">
            <a:off x="3324225" y="1847850"/>
            <a:ext cx="4819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1050" b="0" i="0">
                <a:solidFill>
                  <a:srgbClr val="262626"/>
                </a:solidFill>
                <a:latin typeface="Arial"/>
                <a:ea typeface="Arial"/>
                <a:cs typeface="Arial"/>
              </a:defRPr>
            </a:pPr>
            <a:r>
              <a:rPr sz="1050" b="0" i="0">
                <a:solidFill>
                  <a:srgbClr val="262626"/>
                </a:solidFill>
                <a:latin typeface="Arial"/>
                <a:ea typeface="Arial"/>
                <a:cs typeface="Arial"/>
              </a:rPr>
              <a:t>47 → 47 → 43 → 25 → 11 → 1</a:t>
            </a:r>
          </a:p>
        </p:txBody>
      </p:sp>
      <p:sp>
        <p:nvSpPr>
          <p:cNvPr id="18" name="s13-path-1-box">
            <a:extLst xmlns:a="http://schemas.openxmlformats.org/drawingml/2006/main">
              <a:ext uri="{FF2B5EF4-FFF2-40B4-BE49-F238E27FC236}">
                <a16:creationId xmlns:a16="http://schemas.microsoft.com/office/drawing/2014/main" id="{AF47E3DA-4978-4667-A934-5C963326479C}"/>
              </a:ext>
            </a:extLst>
          </p:cNvPr>
          <p:cNvSpPr>
            <a:spLocks xmlns:a="http://schemas.openxmlformats.org/drawingml/2006/main" noGrp="1"/>
          </p:cNvSpPr>
          <p:nvPr/>
        </p:nvSpPr>
        <p:spPr>
          <a:xfrm xmlns:a="http://schemas.openxmlformats.org/drawingml/2006/main">
            <a:off x="3190875" y="2600325"/>
            <a:ext cx="5048250" cy="857250"/>
          </a:xfrm>
          <a:prstGeom xmlns:a="http://schemas.openxmlformats.org/drawingml/2006/main" prst="roundRect">
            <a:avLst>
              <a:gd name="adj" fmla="val 8889"/>
            </a:avLst>
          </a:prstGeom>
          <a:solidFill xmlns:a="http://schemas.openxmlformats.org/drawingml/2006/main">
            <a:srgbClr val="F3F7FB"/>
          </a:solidFill>
          <a:ln xmlns:a="http://schemas.openxmlformats.org/drawingml/2006/main" w="9525">
            <a:solidFill>
              <a:srgbClr val="D9E1F2"/>
            </a:solidFill>
            <a:prstDash val="solid"/>
          </a:ln>
        </p:spPr>
      </p:sp>
      <p:sp>
        <p:nvSpPr>
          <p:cNvPr id="19" name="s13-path-1-accent">
            <a:extLst xmlns:a="http://schemas.openxmlformats.org/drawingml/2006/main">
              <a:ext uri="{FF2B5EF4-FFF2-40B4-BE49-F238E27FC236}">
                <a16:creationId xmlns:a16="http://schemas.microsoft.com/office/drawing/2014/main" id="{AFE26367-16DE-414F-90D4-7B4AA1085D1E}"/>
              </a:ext>
            </a:extLst>
          </p:cNvPr>
          <p:cNvSpPr>
            <a:spLocks xmlns:a="http://schemas.openxmlformats.org/drawingml/2006/main" noGrp="1"/>
          </p:cNvSpPr>
          <p:nvPr/>
        </p:nvSpPr>
        <p:spPr>
          <a:xfrm xmlns:a="http://schemas.openxmlformats.org/drawingml/2006/main">
            <a:off x="3190875" y="2600325"/>
            <a:ext cx="66675" cy="8572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20" name="s13-path-1-title">
            <a:extLst xmlns:a="http://schemas.openxmlformats.org/drawingml/2006/main">
              <a:ext uri="{FF2B5EF4-FFF2-40B4-BE49-F238E27FC236}">
                <a16:creationId xmlns:a16="http://schemas.microsoft.com/office/drawing/2014/main" id="{C9219F52-21D4-4E75-BBFF-3BBC763C8A85}"/>
              </a:ext>
            </a:extLst>
          </p:cNvPr>
          <p:cNvSpPr>
            <a:spLocks xmlns:a="http://schemas.openxmlformats.org/drawingml/2006/main" noGrp="1"/>
          </p:cNvSpPr>
          <p:nvPr/>
        </p:nvSpPr>
        <p:spPr>
          <a:xfrm xmlns:a="http://schemas.openxmlformats.org/drawingml/2006/main">
            <a:off x="3324225" y="2676525"/>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93750"/>
          </a:bodyPr>
          <a:lstStyle xmlns:a="http://schemas.openxmlformats.org/drawingml/2006/main"/>
          <a:p xmlns:a="http://schemas.openxmlformats.org/drawingml/2006/main">
            <a:pPr algn="l">
              <a:defRPr sz="1200" b="1" i="0">
                <a:solidFill>
                  <a:srgbClr val="1F4E79"/>
                </a:solidFill>
                <a:latin typeface="Arial"/>
                <a:ea typeface="Arial"/>
                <a:cs typeface="Arial"/>
              </a:defRPr>
            </a:pPr>
            <a:r>
              <a:rPr sz="1200" b="1" i="0">
                <a:solidFill>
                  <a:srgbClr val="1F4E79"/>
                </a:solidFill>
                <a:latin typeface="Arial"/>
                <a:ea typeface="Arial"/>
                <a:cs typeface="Arial"/>
              </a:rPr>
              <a:t>G1 → G3 → G2 → G5 → G4</a:t>
            </a:r>
          </a:p>
        </p:txBody>
      </p:sp>
      <p:sp>
        <p:nvSpPr>
          <p:cNvPr id="21" name="s13-path-1-body">
            <a:extLst xmlns:a="http://schemas.openxmlformats.org/drawingml/2006/main">
              <a:ext uri="{FF2B5EF4-FFF2-40B4-BE49-F238E27FC236}">
                <a16:creationId xmlns:a16="http://schemas.microsoft.com/office/drawing/2014/main" id="{A229BCE5-656C-44C4-9826-7E4439A5C519}"/>
              </a:ext>
            </a:extLst>
          </p:cNvPr>
          <p:cNvSpPr>
            <a:spLocks xmlns:a="http://schemas.openxmlformats.org/drawingml/2006/main" noGrp="1"/>
          </p:cNvSpPr>
          <p:nvPr/>
        </p:nvSpPr>
        <p:spPr>
          <a:xfrm xmlns:a="http://schemas.openxmlformats.org/drawingml/2006/main">
            <a:off x="3324225" y="2971800"/>
            <a:ext cx="4819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1050" b="0" i="0">
                <a:solidFill>
                  <a:srgbClr val="262626"/>
                </a:solidFill>
                <a:latin typeface="Arial"/>
                <a:ea typeface="Arial"/>
                <a:cs typeface="Arial"/>
              </a:defRPr>
            </a:pPr>
            <a:r>
              <a:rPr sz="1050" b="0" i="0">
                <a:solidFill>
                  <a:srgbClr val="262626"/>
                </a:solidFill>
                <a:latin typeface="Arial"/>
                <a:ea typeface="Arial"/>
                <a:cs typeface="Arial"/>
              </a:rPr>
              <a:t>47 → 47 → 25 → 25 → 7 → 1</a:t>
            </a:r>
          </a:p>
        </p:txBody>
      </p:sp>
      <p:sp>
        <p:nvSpPr>
          <p:cNvPr id="22" name="s13-path-2-box">
            <a:extLst xmlns:a="http://schemas.openxmlformats.org/drawingml/2006/main">
              <a:ext uri="{FF2B5EF4-FFF2-40B4-BE49-F238E27FC236}">
                <a16:creationId xmlns:a16="http://schemas.microsoft.com/office/drawing/2014/main" id="{76CFB14F-4B0A-470B-98A1-CC422A030C82}"/>
              </a:ext>
            </a:extLst>
          </p:cNvPr>
          <p:cNvSpPr>
            <a:spLocks xmlns:a="http://schemas.openxmlformats.org/drawingml/2006/main" noGrp="1"/>
          </p:cNvSpPr>
          <p:nvPr/>
        </p:nvSpPr>
        <p:spPr>
          <a:xfrm xmlns:a="http://schemas.openxmlformats.org/drawingml/2006/main">
            <a:off x="3190875" y="3724275"/>
            <a:ext cx="5048250" cy="857250"/>
          </a:xfrm>
          <a:prstGeom xmlns:a="http://schemas.openxmlformats.org/drawingml/2006/main" prst="roundRect">
            <a:avLst>
              <a:gd name="adj" fmla="val 8889"/>
            </a:avLst>
          </a:prstGeom>
          <a:solidFill xmlns:a="http://schemas.openxmlformats.org/drawingml/2006/main">
            <a:srgbClr val="F2F2F2"/>
          </a:solidFill>
          <a:ln xmlns:a="http://schemas.openxmlformats.org/drawingml/2006/main" w="9525">
            <a:solidFill>
              <a:srgbClr val="D9E1F2"/>
            </a:solidFill>
            <a:prstDash val="solid"/>
          </a:ln>
        </p:spPr>
      </p:sp>
      <p:sp>
        <p:nvSpPr>
          <p:cNvPr id="23" name="s13-path-2-accent">
            <a:extLst xmlns:a="http://schemas.openxmlformats.org/drawingml/2006/main">
              <a:ext uri="{FF2B5EF4-FFF2-40B4-BE49-F238E27FC236}">
                <a16:creationId xmlns:a16="http://schemas.microsoft.com/office/drawing/2014/main" id="{C8A3A749-5DC4-4970-83C3-769E56232FD1}"/>
              </a:ext>
            </a:extLst>
          </p:cNvPr>
          <p:cNvSpPr>
            <a:spLocks xmlns:a="http://schemas.openxmlformats.org/drawingml/2006/main" noGrp="1"/>
          </p:cNvSpPr>
          <p:nvPr/>
        </p:nvSpPr>
        <p:spPr>
          <a:xfrm xmlns:a="http://schemas.openxmlformats.org/drawingml/2006/main">
            <a:off x="3190875" y="3724275"/>
            <a:ext cx="66675" cy="857250"/>
          </a:xfrm>
          <a:prstGeom xmlns:a="http://schemas.openxmlformats.org/drawingml/2006/main" prst="rect">
            <a:avLst/>
          </a:prstGeom>
          <a:solidFill xmlns:a="http://schemas.openxmlformats.org/drawingml/2006/main">
            <a:srgbClr val="7F7F7F"/>
          </a:solidFill>
          <a:ln xmlns:a="http://schemas.openxmlformats.org/drawingml/2006/main" w="0">
            <a:solidFill>
              <a:srgbClr val="7F7F7F"/>
            </a:solidFill>
            <a:prstDash val="solid"/>
          </a:ln>
        </p:spPr>
      </p:sp>
      <p:sp>
        <p:nvSpPr>
          <p:cNvPr id="24" name="s13-path-2-title">
            <a:extLst xmlns:a="http://schemas.openxmlformats.org/drawingml/2006/main">
              <a:ext uri="{FF2B5EF4-FFF2-40B4-BE49-F238E27FC236}">
                <a16:creationId xmlns:a16="http://schemas.microsoft.com/office/drawing/2014/main" id="{0F80FBFD-D716-4503-884A-F93688DFF5C5}"/>
              </a:ext>
            </a:extLst>
          </p:cNvPr>
          <p:cNvSpPr>
            <a:spLocks xmlns:a="http://schemas.openxmlformats.org/drawingml/2006/main" noGrp="1"/>
          </p:cNvSpPr>
          <p:nvPr/>
        </p:nvSpPr>
        <p:spPr>
          <a:xfrm xmlns:a="http://schemas.openxmlformats.org/drawingml/2006/main">
            <a:off x="3324225" y="3800475"/>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93750"/>
          </a:bodyPr>
          <a:lstStyle xmlns:a="http://schemas.openxmlformats.org/drawingml/2006/main"/>
          <a:p xmlns:a="http://schemas.openxmlformats.org/drawingml/2006/main">
            <a:pPr algn="l">
              <a:defRPr sz="1200" b="1" i="0">
                <a:solidFill>
                  <a:srgbClr val="1F4E79"/>
                </a:solidFill>
                <a:latin typeface="Arial"/>
                <a:ea typeface="Arial"/>
                <a:cs typeface="Arial"/>
              </a:defRPr>
            </a:pPr>
            <a:r>
              <a:rPr sz="1200" b="1" i="0">
                <a:solidFill>
                  <a:srgbClr val="1F4E79"/>
                </a:solidFill>
                <a:latin typeface="Arial"/>
                <a:ea typeface="Arial"/>
                <a:cs typeface="Arial"/>
              </a:rPr>
              <a:t>other 118 orders</a:t>
            </a:r>
          </a:p>
        </p:txBody>
      </p:sp>
      <p:sp>
        <p:nvSpPr>
          <p:cNvPr id="25" name="s13-path-2-body">
            <a:extLst xmlns:a="http://schemas.openxmlformats.org/drawingml/2006/main">
              <a:ext uri="{FF2B5EF4-FFF2-40B4-BE49-F238E27FC236}">
                <a16:creationId xmlns:a16="http://schemas.microsoft.com/office/drawing/2014/main" id="{C6F10F50-32F1-4660-BBD4-472ACCA6C7A6}"/>
              </a:ext>
            </a:extLst>
          </p:cNvPr>
          <p:cNvSpPr>
            <a:spLocks xmlns:a="http://schemas.openxmlformats.org/drawingml/2006/main" noGrp="1"/>
          </p:cNvSpPr>
          <p:nvPr/>
        </p:nvSpPr>
        <p:spPr>
          <a:xfrm xmlns:a="http://schemas.openxmlformats.org/drawingml/2006/main">
            <a:off x="3324225" y="4095750"/>
            <a:ext cx="4819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1050" b="0" i="0">
                <a:solidFill>
                  <a:srgbClr val="262626"/>
                </a:solidFill>
                <a:latin typeface="Arial"/>
                <a:ea typeface="Arial"/>
                <a:cs typeface="Arial"/>
              </a:defRPr>
            </a:pPr>
            <a:r>
              <a:rPr sz="1050" b="0" i="0">
                <a:solidFill>
                  <a:srgbClr val="262626"/>
                </a:solidFill>
                <a:latin typeface="Arial"/>
                <a:ea typeface="Arial"/>
                <a:cs typeface="Arial"/>
              </a:rPr>
              <a:t>different intermediate attribution</a:t>
            </a:r>
          </a:p>
        </p:txBody>
      </p:sp>
      <p:sp>
        <p:nvSpPr>
          <p:cNvPr id="26" name="s13-eq">
            <a:extLst xmlns:a="http://schemas.openxmlformats.org/drawingml/2006/main">
              <a:ext uri="{FF2B5EF4-FFF2-40B4-BE49-F238E27FC236}">
                <a16:creationId xmlns:a16="http://schemas.microsoft.com/office/drawing/2014/main" id="{D24EF00B-CE2F-41A4-8A56-1CA6463F5A69}"/>
              </a:ext>
            </a:extLst>
          </p:cNvPr>
          <p:cNvSpPr>
            <a:spLocks xmlns:a="http://schemas.openxmlformats.org/drawingml/2006/main" noGrp="1"/>
          </p:cNvSpPr>
          <p:nvPr/>
        </p:nvSpPr>
        <p:spPr>
          <a:xfrm xmlns:a="http://schemas.openxmlformats.org/drawingml/2006/main">
            <a:off x="1333500" y="3000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3300" b="1" i="0">
                <a:solidFill>
                  <a:srgbClr val="1F4E79"/>
                </a:solidFill>
                <a:latin typeface="Arial"/>
                <a:ea typeface="Arial"/>
                <a:cs typeface="Arial"/>
              </a:defRPr>
            </a:pPr>
            <a:r>
              <a:rPr sz="3300" b="1" i="0">
                <a:solidFill>
                  <a:srgbClr val="1F4E79"/>
                </a:solidFill>
                <a:latin typeface="Arial"/>
                <a:ea typeface="Arial"/>
                <a:cs typeface="Arial"/>
              </a:rPr>
              <a:t>∩</a:t>
            </a:r>
          </a:p>
        </p:txBody>
      </p:sp>
      <p:sp>
        <p:nvSpPr>
          <p:cNvPr id="27" name="s13-final">
            <a:extLst xmlns:a="http://schemas.openxmlformats.org/drawingml/2006/main">
              <a:ext uri="{FF2B5EF4-FFF2-40B4-BE49-F238E27FC236}">
                <a16:creationId xmlns:a16="http://schemas.microsoft.com/office/drawing/2014/main" id="{0C7E8D2D-5E6F-4AE5-B83D-8819CBBC6E3B}"/>
              </a:ext>
            </a:extLst>
          </p:cNvPr>
          <p:cNvSpPr>
            <a:spLocks xmlns:a="http://schemas.openxmlformats.org/drawingml/2006/main" noGrp="1"/>
          </p:cNvSpPr>
          <p:nvPr/>
        </p:nvSpPr>
        <p:spPr>
          <a:xfrm xmlns:a="http://schemas.openxmlformats.org/drawingml/2006/main">
            <a:off x="619125" y="3905250"/>
            <a:ext cx="2095500" cy="838200"/>
          </a:xfrm>
          <a:prstGeom xmlns:a="http://schemas.openxmlformats.org/drawingml/2006/main" prst="rect">
            <a:avLst/>
          </a:prstGeom>
          <a:solidFill xmlns:a="http://schemas.openxmlformats.org/drawingml/2006/main">
            <a:srgbClr val="E8F5E9"/>
          </a:solidFill>
          <a:ln xmlns:a="http://schemas.openxmlformats.org/drawingml/2006/main" w="9525">
            <a:solidFill>
              <a:srgbClr val="2E7D32"/>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500" b="1" i="0">
                <a:solidFill>
                  <a:srgbClr val="2E7D32"/>
                </a:solidFill>
                <a:latin typeface="Arial"/>
                <a:ea typeface="Arial"/>
                <a:cs typeface="Arial"/>
              </a:defRPr>
            </a:pPr>
            <a:r>
              <a:rPr sz="1500" b="1" i="0">
                <a:solidFill>
                  <a:srgbClr val="2E7D32"/>
                </a:solidFill>
                <a:latin typeface="Arial"/>
                <a:ea typeface="Arial"/>
                <a:cs typeface="Arial"/>
              </a:rPr>
              <a:t>Terminal set</a:t>
            </a:r>
          </a:p>
          <a:p xmlns:a="http://schemas.openxmlformats.org/drawingml/2006/main">
            <a:pPr algn="ctr">
              <a:defRPr sz="1500" b="1" i="0">
                <a:solidFill>
                  <a:srgbClr val="2E7D32"/>
                </a:solidFill>
                <a:latin typeface="Arial"/>
                <a:ea typeface="Arial"/>
                <a:cs typeface="Arial"/>
              </a:defRPr>
            </a:pPr>
            <a:r>
              <a:rPr sz="1500" b="1" i="0">
                <a:solidFill>
                  <a:srgbClr val="2E7D32"/>
                </a:solidFill>
                <a:latin typeface="Arial"/>
                <a:ea typeface="Arial"/>
                <a:cs typeface="Arial"/>
              </a:rPr>
              <a:t>invariant</a:t>
            </a:r>
          </a:p>
        </p:txBody>
      </p:sp>
      <p:sp>
        <p:nvSpPr>
          <p:cNvPr id="28" name="s13-take">
            <a:extLst xmlns:a="http://schemas.openxmlformats.org/drawingml/2006/main">
              <a:ext uri="{FF2B5EF4-FFF2-40B4-BE49-F238E27FC236}">
                <a16:creationId xmlns:a16="http://schemas.microsoft.com/office/drawing/2014/main" id="{A4A689D5-D21D-4C83-8425-25FF25BD131C}"/>
              </a:ext>
            </a:extLst>
          </p:cNvPr>
          <p:cNvSpPr>
            <a:spLocks xmlns:a="http://schemas.openxmlformats.org/drawingml/2006/main" noGrp="1"/>
          </p:cNvSpPr>
          <p:nvPr/>
        </p:nvSpPr>
        <p:spPr>
          <a:xfrm xmlns:a="http://schemas.openxmlformats.org/drawingml/2006/main">
            <a:off x="1666875" y="5095875"/>
            <a:ext cx="581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350" b="1" i="0">
                <a:solidFill>
                  <a:srgbClr val="9E2A2B"/>
                </a:solidFill>
                <a:latin typeface="Arial"/>
                <a:ea typeface="Arial"/>
                <a:cs typeface="Arial"/>
              </a:defRPr>
            </a:pPr>
            <a:r>
              <a:rPr sz="1350" b="1" i="0">
                <a:solidFill>
                  <a:srgbClr val="9E2A2B"/>
                </a:solidFill>
                <a:latin typeface="Arial"/>
                <a:ea typeface="Arial"/>
                <a:cs typeface="Arial"/>
              </a:rPr>
              <a:t>Intermediate waterfall shape and 'who killed what' remain order-dependent.</a:t>
            </a:r>
          </a:p>
        </p:txBody>
      </p:sp>
    </p:spTree>
    <p:extLst>
      <p:ext uri="{BB962C8B-B14F-4D97-AF65-F5344CB8AC3E}">
        <p14:creationId xmlns:p14="http://schemas.microsoft.com/office/powerpoint/2010/main" val="139611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Trust boundary</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Method-matched claims only</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Claim strength must match the method</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14</a:t>
            </a:r>
            <a:endParaRPr sz="1000"/>
          </a:p>
        </p:txBody>
      </p:sp>
      <p:sp>
        <p:nvSpPr>
          <p:cNvPr id="11" name="s14-good">
            <a:extLst xmlns:a="http://schemas.openxmlformats.org/drawingml/2006/main">
              <a:ext uri="{FF2B5EF4-FFF2-40B4-BE49-F238E27FC236}">
                <a16:creationId xmlns:a16="http://schemas.microsoft.com/office/drawing/2014/main" id="{D8231767-98A1-4379-BB14-7992CAE42F0D}"/>
              </a:ext>
            </a:extLst>
          </p:cNvPr>
          <p:cNvSpPr>
            <a:spLocks xmlns:a="http://schemas.openxmlformats.org/drawingml/2006/main" noGrp="1"/>
          </p:cNvSpPr>
          <p:nvPr/>
        </p:nvSpPr>
        <p:spPr>
          <a:xfrm xmlns:a="http://schemas.openxmlformats.org/drawingml/2006/main">
            <a:off x="714375" y="1619250"/>
            <a:ext cx="3619500" cy="3476625"/>
          </a:xfrm>
          <a:prstGeom xmlns:a="http://schemas.openxmlformats.org/drawingml/2006/main" prst="roundRect">
            <a:avLst>
              <a:gd name="adj" fmla="val 2192"/>
            </a:avLst>
          </a:prstGeom>
          <a:solidFill xmlns:a="http://schemas.openxmlformats.org/drawingml/2006/main">
            <a:srgbClr val="E8F5E9"/>
          </a:solidFill>
          <a:ln xmlns:a="http://schemas.openxmlformats.org/drawingml/2006/main" w="9525">
            <a:solidFill>
              <a:srgbClr val="2E7D32"/>
            </a:solidFill>
            <a:prstDash val="solid"/>
          </a:ln>
        </p:spPr>
      </p:sp>
      <p:sp>
        <p:nvSpPr>
          <p:cNvPr id="12" name="s14-good-title">
            <a:extLst xmlns:a="http://schemas.openxmlformats.org/drawingml/2006/main">
              <a:ext uri="{FF2B5EF4-FFF2-40B4-BE49-F238E27FC236}">
                <a16:creationId xmlns:a16="http://schemas.microsoft.com/office/drawing/2014/main" id="{AB403580-49C9-47AA-9DAD-8E8A5A95022B}"/>
              </a:ext>
            </a:extLst>
          </p:cNvPr>
          <p:cNvSpPr>
            <a:spLocks xmlns:a="http://schemas.openxmlformats.org/drawingml/2006/main" noGrp="1"/>
          </p:cNvSpPr>
          <p:nvPr/>
        </p:nvSpPr>
        <p:spPr>
          <a:xfrm xmlns:a="http://schemas.openxmlformats.org/drawingml/2006/main">
            <a:off x="952500" y="18097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800" b="1" i="0">
                <a:solidFill>
                  <a:srgbClr val="2E7D32"/>
                </a:solidFill>
                <a:latin typeface="Arial"/>
                <a:ea typeface="Arial"/>
                <a:cs typeface="Arial"/>
              </a:defRPr>
            </a:pPr>
            <a:r>
              <a:rPr sz="1800" b="1" i="0">
                <a:solidFill>
                  <a:srgbClr val="2E7D32"/>
                </a:solidFill>
                <a:latin typeface="Arial"/>
                <a:ea typeface="Arial"/>
                <a:cs typeface="Arial"/>
              </a:rPr>
              <a:t>SUPPORTED</a:t>
            </a:r>
          </a:p>
        </p:txBody>
      </p:sp>
      <p:sp>
        <p:nvSpPr>
          <p:cNvPr id="13" name="s14-good-list">
            <a:extLst xmlns:a="http://schemas.openxmlformats.org/drawingml/2006/main">
              <a:ext uri="{FF2B5EF4-FFF2-40B4-BE49-F238E27FC236}">
                <a16:creationId xmlns:a16="http://schemas.microsoft.com/office/drawing/2014/main" id="{7315CCD7-13DB-4DA8-83C9-A61F89E99268}"/>
              </a:ext>
            </a:extLst>
          </p:cNvPr>
          <p:cNvSpPr>
            <a:spLocks xmlns:a="http://schemas.openxmlformats.org/drawingml/2006/main" noGrp="1"/>
          </p:cNvSpPr>
          <p:nvPr/>
        </p:nvSpPr>
        <p:spPr>
          <a:xfrm xmlns:a="http://schemas.openxmlformats.org/drawingml/2006/main">
            <a:off x="1095375" y="2524125"/>
            <a:ext cx="28575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1350" b="0" i="0">
                <a:solidFill>
                  <a:srgbClr val="262626"/>
                </a:solidFill>
                <a:latin typeface="Arial"/>
                <a:ea typeface="Arial"/>
                <a:cs typeface="Arial"/>
              </a:defRPr>
            </a:pPr>
            <a:r>
              <a:rPr sz="1350" b="0" i="0">
                <a:solidFill>
                  <a:srgbClr val="262626"/>
                </a:solidFill>
                <a:latin typeface="Arial"/>
                <a:ea typeface="Arial"/>
                <a:cs typeface="Arial"/>
              </a:rPr>
              <a:t>✓ Gate pass / fail</a:t>
            </a:r>
          </a:p>
          <a:p xmlns:a="http://schemas.openxmlformats.org/drawingml/2006/main">
            <a:pPr algn="l">
              <a:defRPr sz="1350" b="0" i="0">
                <a:solidFill>
                  <a:srgbClr val="262626"/>
                </a:solidFill>
                <a:latin typeface="Arial"/>
                <a:ea typeface="Arial"/>
                <a:cs typeface="Arial"/>
              </a:defRPr>
            </a:pPr>
            <a:r>
              <a:rPr sz="1350" b="0" i="0">
                <a:solidFill>
                  <a:srgbClr val="262626"/>
                </a:solidFill>
                <a:latin typeface="Arial"/>
                <a:ea typeface="Arial"/>
                <a:cs typeface="Arial"/>
              </a:rPr>
              <a:t>✓ Same-protocol relative ranking</a:t>
            </a:r>
          </a:p>
          <a:p xmlns:a="http://schemas.openxmlformats.org/drawingml/2006/main">
            <a:pPr algn="l">
              <a:defRPr sz="1350" b="0" i="0">
                <a:solidFill>
                  <a:srgbClr val="262626"/>
                </a:solidFill>
                <a:latin typeface="Arial"/>
                <a:ea typeface="Arial"/>
                <a:cs typeface="Arial"/>
              </a:defRPr>
            </a:pPr>
            <a:r>
              <a:rPr sz="1350" b="0" i="0">
                <a:solidFill>
                  <a:srgbClr val="262626"/>
                </a:solidFill>
                <a:latin typeface="Arial"/>
                <a:ea typeface="Arial"/>
                <a:cs typeface="Arial"/>
              </a:rPr>
              <a:t>✓ Oxidation–transport trade-off</a:t>
            </a:r>
          </a:p>
          <a:p xmlns:a="http://schemas.openxmlformats.org/drawingml/2006/main">
            <a:pPr algn="l">
              <a:defRPr sz="1350" b="0" i="0">
                <a:solidFill>
                  <a:srgbClr val="262626"/>
                </a:solidFill>
                <a:latin typeface="Arial"/>
                <a:ea typeface="Arial"/>
                <a:cs typeface="Arial"/>
              </a:defRPr>
            </a:pPr>
            <a:r>
              <a:rPr sz="1350" b="0" i="0">
                <a:solidFill>
                  <a:srgbClr val="262626"/>
                </a:solidFill>
                <a:latin typeface="Arial"/>
                <a:ea typeface="Arial"/>
                <a:cs typeface="Arial"/>
              </a:rPr>
              <a:t>✓ Gate-order invariance</a:t>
            </a:r>
          </a:p>
        </p:txBody>
      </p:sp>
      <p:sp>
        <p:nvSpPr>
          <p:cNvPr id="14" name="s14-bad">
            <a:extLst xmlns:a="http://schemas.openxmlformats.org/drawingml/2006/main">
              <a:ext uri="{FF2B5EF4-FFF2-40B4-BE49-F238E27FC236}">
                <a16:creationId xmlns:a16="http://schemas.microsoft.com/office/drawing/2014/main" id="{AF28879C-A2BD-46A4-AC04-942D7D658A1C}"/>
              </a:ext>
            </a:extLst>
          </p:cNvPr>
          <p:cNvSpPr>
            <a:spLocks xmlns:a="http://schemas.openxmlformats.org/drawingml/2006/main" noGrp="1"/>
          </p:cNvSpPr>
          <p:nvPr/>
        </p:nvSpPr>
        <p:spPr>
          <a:xfrm xmlns:a="http://schemas.openxmlformats.org/drawingml/2006/main">
            <a:off x="4810125" y="1619250"/>
            <a:ext cx="3619500" cy="3476625"/>
          </a:xfrm>
          <a:prstGeom xmlns:a="http://schemas.openxmlformats.org/drawingml/2006/main" prst="roundRect">
            <a:avLst>
              <a:gd name="adj" fmla="val 2192"/>
            </a:avLst>
          </a:prstGeom>
          <a:solidFill xmlns:a="http://schemas.openxmlformats.org/drawingml/2006/main">
            <a:srgbClr val="FBE9E7"/>
          </a:solidFill>
          <a:ln xmlns:a="http://schemas.openxmlformats.org/drawingml/2006/main" w="9525">
            <a:solidFill>
              <a:srgbClr val="9E2A2B"/>
            </a:solidFill>
            <a:prstDash val="solid"/>
          </a:ln>
        </p:spPr>
      </p:sp>
      <p:sp>
        <p:nvSpPr>
          <p:cNvPr id="15" name="s14-bad-title">
            <a:extLst xmlns:a="http://schemas.openxmlformats.org/drawingml/2006/main">
              <a:ext uri="{FF2B5EF4-FFF2-40B4-BE49-F238E27FC236}">
                <a16:creationId xmlns:a16="http://schemas.microsoft.com/office/drawing/2014/main" id="{24C75D42-22A7-4F43-B1F4-C14E689F731E}"/>
              </a:ext>
            </a:extLst>
          </p:cNvPr>
          <p:cNvSpPr>
            <a:spLocks xmlns:a="http://schemas.openxmlformats.org/drawingml/2006/main" noGrp="1"/>
          </p:cNvSpPr>
          <p:nvPr/>
        </p:nvSpPr>
        <p:spPr>
          <a:xfrm xmlns:a="http://schemas.openxmlformats.org/drawingml/2006/main">
            <a:off x="5048250" y="18097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800" b="1" i="0">
                <a:solidFill>
                  <a:srgbClr val="9E2A2B"/>
                </a:solidFill>
                <a:latin typeface="Arial"/>
                <a:ea typeface="Arial"/>
                <a:cs typeface="Arial"/>
              </a:defRPr>
            </a:pPr>
            <a:r>
              <a:rPr sz="1800" b="1" i="0">
                <a:solidFill>
                  <a:srgbClr val="9E2A2B"/>
                </a:solidFill>
                <a:latin typeface="Arial"/>
                <a:ea typeface="Arial"/>
                <a:cs typeface="Arial"/>
              </a:rPr>
              <a:t>NOT SUPPORTED</a:t>
            </a:r>
          </a:p>
        </p:txBody>
      </p:sp>
      <p:sp>
        <p:nvSpPr>
          <p:cNvPr id="16" name="s14-bad-list">
            <a:extLst xmlns:a="http://schemas.openxmlformats.org/drawingml/2006/main">
              <a:ext uri="{FF2B5EF4-FFF2-40B4-BE49-F238E27FC236}">
                <a16:creationId xmlns:a16="http://schemas.microsoft.com/office/drawing/2014/main" id="{0CD19A27-9C69-4EBD-BCE7-60B63DF6C31D}"/>
              </a:ext>
            </a:extLst>
          </p:cNvPr>
          <p:cNvSpPr>
            <a:spLocks xmlns:a="http://schemas.openxmlformats.org/drawingml/2006/main" noGrp="1"/>
          </p:cNvSpPr>
          <p:nvPr/>
        </p:nvSpPr>
        <p:spPr>
          <a:xfrm xmlns:a="http://schemas.openxmlformats.org/drawingml/2006/main">
            <a:off x="5191125" y="2524125"/>
            <a:ext cx="28575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1350" b="0" i="0">
                <a:solidFill>
                  <a:srgbClr val="262626"/>
                </a:solidFill>
                <a:latin typeface="Arial"/>
                <a:ea typeface="Arial"/>
                <a:cs typeface="Arial"/>
              </a:defRPr>
            </a:pPr>
            <a:r>
              <a:rPr sz="1350" b="0" i="0">
                <a:solidFill>
                  <a:srgbClr val="262626"/>
                </a:solidFill>
                <a:latin typeface="Arial"/>
                <a:ea typeface="Arial"/>
                <a:cs typeface="Arial"/>
              </a:rPr>
              <a:t>× UMA absolute energies / moduli</a:t>
            </a:r>
          </a:p>
          <a:p xmlns:a="http://schemas.openxmlformats.org/drawingml/2006/main">
            <a:pPr algn="l">
              <a:defRPr sz="1350" b="0" i="0">
                <a:solidFill>
                  <a:srgbClr val="262626"/>
                </a:solidFill>
                <a:latin typeface="Arial"/>
                <a:ea typeface="Arial"/>
                <a:cs typeface="Arial"/>
              </a:defRPr>
            </a:pPr>
            <a:r>
              <a:rPr sz="1350" b="0" i="0">
                <a:solidFill>
                  <a:srgbClr val="262626"/>
                </a:solidFill>
                <a:latin typeface="Arial"/>
                <a:ea typeface="Arial"/>
                <a:cs typeface="Arial"/>
              </a:rPr>
              <a:t>× BVSE-derived conductivity</a:t>
            </a:r>
          </a:p>
          <a:p xmlns:a="http://schemas.openxmlformats.org/drawingml/2006/main">
            <a:pPr algn="l">
              <a:defRPr sz="1350" b="0" i="0">
                <a:solidFill>
                  <a:srgbClr val="262626"/>
                </a:solidFill>
                <a:latin typeface="Arial"/>
                <a:ea typeface="Arial"/>
                <a:cs typeface="Arial"/>
              </a:defRPr>
            </a:pPr>
            <a:r>
              <a:rPr sz="1350" b="0" i="0">
                <a:solidFill>
                  <a:srgbClr val="262626"/>
                </a:solidFill>
                <a:latin typeface="Arial"/>
                <a:ea typeface="Arial"/>
                <a:cs typeface="Arial"/>
              </a:rPr>
              <a:t>× Ranking inside degenerate groups</a:t>
            </a:r>
          </a:p>
          <a:p xmlns:a="http://schemas.openxmlformats.org/drawingml/2006/main">
            <a:pPr algn="l">
              <a:defRPr sz="1350" b="0" i="0">
                <a:solidFill>
                  <a:srgbClr val="262626"/>
                </a:solidFill>
                <a:latin typeface="Arial"/>
                <a:ea typeface="Arial"/>
                <a:cs typeface="Arial"/>
              </a:defRPr>
            </a:pPr>
            <a:r>
              <a:rPr sz="1350" b="0" i="0">
                <a:solidFill>
                  <a:srgbClr val="262626"/>
                </a:solidFill>
                <a:latin typeface="Arial"/>
                <a:ea typeface="Arial"/>
                <a:cs typeface="Arial"/>
              </a:rPr>
              <a:t>× A unique G5 winner</a:t>
            </a:r>
          </a:p>
        </p:txBody>
      </p:sp>
      <p:sp>
        <p:nvSpPr>
          <p:cNvPr id="17" name="s14-gap">
            <a:extLst xmlns:a="http://schemas.openxmlformats.org/drawingml/2006/main">
              <a:ext uri="{FF2B5EF4-FFF2-40B4-BE49-F238E27FC236}">
                <a16:creationId xmlns:a16="http://schemas.microsoft.com/office/drawing/2014/main" id="{2EB42486-452E-4C87-B39E-6A9D5295A907}"/>
              </a:ext>
            </a:extLst>
          </p:cNvPr>
          <p:cNvSpPr>
            <a:spLocks xmlns:a="http://schemas.openxmlformats.org/drawingml/2006/main" noGrp="1"/>
          </p:cNvSpPr>
          <p:nvPr/>
        </p:nvSpPr>
        <p:spPr>
          <a:xfrm xmlns:a="http://schemas.openxmlformats.org/drawingml/2006/main">
            <a:off x="1809750" y="5429250"/>
            <a:ext cx="5524500" cy="438150"/>
          </a:xfrm>
          <a:prstGeom xmlns:a="http://schemas.openxmlformats.org/drawingml/2006/main" prst="rect">
            <a:avLst/>
          </a:prstGeom>
          <a:solidFill xmlns:a="http://schemas.openxmlformats.org/drawingml/2006/main">
            <a:srgbClr val="FFF4E0"/>
          </a:solidFill>
          <a:ln xmlns:a="http://schemas.openxmlformats.org/drawingml/2006/main" w="9525">
            <a:solidFill>
              <a:srgbClr val="B26A00"/>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200" b="1" i="0">
                <a:solidFill>
                  <a:srgbClr val="B26A00"/>
                </a:solidFill>
                <a:latin typeface="Arial"/>
                <a:ea typeface="Arial"/>
                <a:cs typeface="Arial"/>
              </a:defRPr>
            </a:pPr>
            <a:r>
              <a:rPr sz="1200" b="1" i="0">
                <a:solidFill>
                  <a:srgbClr val="B26A00"/>
                </a:solidFill>
                <a:latin typeface="Arial"/>
                <a:ea typeface="Arial"/>
                <a:cs typeface="Arial"/>
              </a:rPr>
              <a:t>Still missing as full gates: interface reaction + electronic insulation</a:t>
            </a:r>
          </a:p>
        </p:txBody>
      </p:sp>
    </p:spTree>
    <p:extLst>
      <p:ext uri="{BB962C8B-B14F-4D97-AF65-F5344CB8AC3E}">
        <p14:creationId xmlns:p14="http://schemas.microsoft.com/office/powerpoint/2010/main" val="139611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Validation</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Retraction ledger</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Failures made the cascade more credible</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15</a:t>
            </a:r>
            <a:endParaRPr sz="1000"/>
          </a:p>
        </p:txBody>
      </p:sp>
      <p:sp>
        <p:nvSpPr>
          <p:cNvPr id="11" name="s15-claim-0">
            <a:extLst xmlns:a="http://schemas.openxmlformats.org/drawingml/2006/main">
              <a:ext uri="{FF2B5EF4-FFF2-40B4-BE49-F238E27FC236}">
                <a16:creationId xmlns:a16="http://schemas.microsoft.com/office/drawing/2014/main" id="{2B34D59D-C6C9-41CC-8525-E3C0E673DA0B}"/>
              </a:ext>
            </a:extLst>
          </p:cNvPr>
          <p:cNvSpPr>
            <a:spLocks xmlns:a="http://schemas.openxmlformats.org/drawingml/2006/main" noGrp="1"/>
          </p:cNvSpPr>
          <p:nvPr/>
        </p:nvSpPr>
        <p:spPr>
          <a:xfrm xmlns:a="http://schemas.openxmlformats.org/drawingml/2006/main">
            <a:off x="666750" y="1409700"/>
            <a:ext cx="3476625" cy="628650"/>
          </a:xfrm>
          <a:prstGeom xmlns:a="http://schemas.openxmlformats.org/drawingml/2006/main" prst="roundRect">
            <a:avLst>
              <a:gd name="adj" fmla="val 12121"/>
            </a:avLst>
          </a:prstGeom>
          <a:solidFill xmlns:a="http://schemas.openxmlformats.org/drawingml/2006/main">
            <a:srgbClr val="FBE9E7"/>
          </a:solidFill>
          <a:ln xmlns:a="http://schemas.openxmlformats.org/drawingml/2006/main" w="9525">
            <a:solidFill>
              <a:srgbClr val="9E2A2B"/>
            </a:solidFill>
            <a:prstDash val="solid"/>
          </a:ln>
        </p:spPr>
      </p:sp>
      <p:sp>
        <p:nvSpPr>
          <p:cNvPr id="12" name="s15-claim-t-0">
            <a:extLst xmlns:a="http://schemas.openxmlformats.org/drawingml/2006/main">
              <a:ext uri="{FF2B5EF4-FFF2-40B4-BE49-F238E27FC236}">
                <a16:creationId xmlns:a16="http://schemas.microsoft.com/office/drawing/2014/main" id="{A374B463-F274-4E8F-9D9A-CDCB583232A9}"/>
              </a:ext>
            </a:extLst>
          </p:cNvPr>
          <p:cNvSpPr>
            <a:spLocks xmlns:a="http://schemas.openxmlformats.org/drawingml/2006/main" noGrp="1"/>
          </p:cNvSpPr>
          <p:nvPr/>
        </p:nvSpPr>
        <p:spPr>
          <a:xfrm xmlns:a="http://schemas.openxmlformats.org/drawingml/2006/main">
            <a:off x="781050" y="1485900"/>
            <a:ext cx="323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88" b="1" i="0">
                <a:solidFill>
                  <a:srgbClr val="9E2A2B"/>
                </a:solidFill>
                <a:latin typeface="Arial"/>
                <a:ea typeface="Arial"/>
                <a:cs typeface="Arial"/>
              </a:defRPr>
            </a:pPr>
            <a:r>
              <a:rPr sz="1088" b="1" i="0">
                <a:solidFill>
                  <a:srgbClr val="9E2A2B"/>
                </a:solidFill>
                <a:latin typeface="Arial"/>
                <a:ea typeface="Arial"/>
                <a:cs typeface="Arial"/>
              </a:rPr>
              <a:t>Single-seed 1.33× conductivity</a:t>
            </a:r>
          </a:p>
        </p:txBody>
      </p:sp>
      <p:sp>
        <p:nvSpPr>
          <p:cNvPr id="13" name="s15-a-0">
            <a:extLst xmlns:a="http://schemas.openxmlformats.org/drawingml/2006/main">
              <a:ext uri="{FF2B5EF4-FFF2-40B4-BE49-F238E27FC236}">
                <a16:creationId xmlns:a16="http://schemas.microsoft.com/office/drawing/2014/main" id="{4AD72F7A-F979-4EF4-8DFA-64F2798F16EE}"/>
              </a:ext>
            </a:extLst>
          </p:cNvPr>
          <p:cNvSpPr>
            <a:spLocks xmlns:a="http://schemas.openxmlformats.org/drawingml/2006/main" noGrp="1"/>
          </p:cNvSpPr>
          <p:nvPr/>
        </p:nvSpPr>
        <p:spPr>
          <a:xfrm xmlns:a="http://schemas.openxmlformats.org/drawingml/2006/main">
            <a:off x="4305300" y="1571625"/>
            <a:ext cx="666750" cy="304800"/>
          </a:xfrm>
          <a:prstGeom xmlns:a="http://schemas.openxmlformats.org/drawingml/2006/main" prst="rightArrow">
            <a:avLst/>
          </a:prstGeom>
          <a:solidFill xmlns:a="http://schemas.openxmlformats.org/drawingml/2006/main">
            <a:srgbClr val="FFFFFF"/>
          </a:solidFill>
          <a:ln xmlns:a="http://schemas.openxmlformats.org/drawingml/2006/main" w="9525">
            <a:solidFill>
              <a:srgbClr val="7F7F7F"/>
            </a:solidFill>
            <a:prstDash val="solid"/>
          </a:ln>
        </p:spPr>
      </p:sp>
      <p:sp>
        <p:nvSpPr>
          <p:cNvPr id="14" name="s15-gate-0">
            <a:extLst xmlns:a="http://schemas.openxmlformats.org/drawingml/2006/main">
              <a:ext uri="{FF2B5EF4-FFF2-40B4-BE49-F238E27FC236}">
                <a16:creationId xmlns:a16="http://schemas.microsoft.com/office/drawing/2014/main" id="{C721E6CA-B6FE-4FAD-BE28-44C977F6D99A}"/>
              </a:ext>
            </a:extLst>
          </p:cNvPr>
          <p:cNvSpPr>
            <a:spLocks xmlns:a="http://schemas.openxmlformats.org/drawingml/2006/main" noGrp="1"/>
          </p:cNvSpPr>
          <p:nvPr/>
        </p:nvSpPr>
        <p:spPr>
          <a:xfrm xmlns:a="http://schemas.openxmlformats.org/drawingml/2006/main">
            <a:off x="5143500" y="1409700"/>
            <a:ext cx="3286125" cy="628650"/>
          </a:xfrm>
          <a:prstGeom xmlns:a="http://schemas.openxmlformats.org/drawingml/2006/main" prst="roundRect">
            <a:avLst>
              <a:gd name="adj" fmla="val 12121"/>
            </a:avLst>
          </a:prstGeom>
          <a:solidFill xmlns:a="http://schemas.openxmlformats.org/drawingml/2006/main">
            <a:srgbClr val="E8F5E9"/>
          </a:solidFill>
          <a:ln xmlns:a="http://schemas.openxmlformats.org/drawingml/2006/main" w="9525">
            <a:solidFill>
              <a:srgbClr val="2E7D32"/>
            </a:solidFill>
            <a:prstDash val="solid"/>
          </a:ln>
        </p:spPr>
      </p:sp>
      <p:sp>
        <p:nvSpPr>
          <p:cNvPr id="15" name="s15-gate-t-0">
            <a:extLst xmlns:a="http://schemas.openxmlformats.org/drawingml/2006/main">
              <a:ext uri="{FF2B5EF4-FFF2-40B4-BE49-F238E27FC236}">
                <a16:creationId xmlns:a16="http://schemas.microsoft.com/office/drawing/2014/main" id="{BF80896A-FBC9-4558-9BC1-4FE1921FE7F8}"/>
              </a:ext>
            </a:extLst>
          </p:cNvPr>
          <p:cNvSpPr>
            <a:spLocks xmlns:a="http://schemas.openxmlformats.org/drawingml/2006/main" noGrp="1"/>
          </p:cNvSpPr>
          <p:nvPr/>
        </p:nvSpPr>
        <p:spPr>
          <a:xfrm xmlns:a="http://schemas.openxmlformats.org/drawingml/2006/main">
            <a:off x="5257800" y="148590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88" b="1" i="0">
                <a:solidFill>
                  <a:srgbClr val="2E7D32"/>
                </a:solidFill>
                <a:latin typeface="Arial"/>
                <a:ea typeface="Arial"/>
                <a:cs typeface="Arial"/>
              </a:defRPr>
            </a:pPr>
            <a:r>
              <a:rPr sz="1088" b="1" i="0">
                <a:solidFill>
                  <a:srgbClr val="2E7D32"/>
                </a:solidFill>
                <a:latin typeface="Arial"/>
                <a:ea typeface="Arial"/>
                <a:cs typeface="Arial"/>
              </a:rPr>
              <a:t>Multi-seed verdict only</a:t>
            </a:r>
          </a:p>
        </p:txBody>
      </p:sp>
      <p:sp>
        <p:nvSpPr>
          <p:cNvPr id="16" name="s15-claim-1">
            <a:extLst xmlns:a="http://schemas.openxmlformats.org/drawingml/2006/main">
              <a:ext uri="{FF2B5EF4-FFF2-40B4-BE49-F238E27FC236}">
                <a16:creationId xmlns:a16="http://schemas.microsoft.com/office/drawing/2014/main" id="{841F831F-E599-4E04-A106-ABB337509F1D}"/>
              </a:ext>
            </a:extLst>
          </p:cNvPr>
          <p:cNvSpPr>
            <a:spLocks xmlns:a="http://schemas.openxmlformats.org/drawingml/2006/main" noGrp="1"/>
          </p:cNvSpPr>
          <p:nvPr/>
        </p:nvSpPr>
        <p:spPr>
          <a:xfrm xmlns:a="http://schemas.openxmlformats.org/drawingml/2006/main">
            <a:off x="666750" y="2276475"/>
            <a:ext cx="3476625" cy="628650"/>
          </a:xfrm>
          <a:prstGeom xmlns:a="http://schemas.openxmlformats.org/drawingml/2006/main" prst="roundRect">
            <a:avLst>
              <a:gd name="adj" fmla="val 12121"/>
            </a:avLst>
          </a:prstGeom>
          <a:solidFill xmlns:a="http://schemas.openxmlformats.org/drawingml/2006/main">
            <a:srgbClr val="FBE9E7"/>
          </a:solidFill>
          <a:ln xmlns:a="http://schemas.openxmlformats.org/drawingml/2006/main" w="9525">
            <a:solidFill>
              <a:srgbClr val="9E2A2B"/>
            </a:solidFill>
            <a:prstDash val="solid"/>
          </a:ln>
        </p:spPr>
      </p:sp>
      <p:sp>
        <p:nvSpPr>
          <p:cNvPr id="17" name="s15-claim-t-1">
            <a:extLst xmlns:a="http://schemas.openxmlformats.org/drawingml/2006/main">
              <a:ext uri="{FF2B5EF4-FFF2-40B4-BE49-F238E27FC236}">
                <a16:creationId xmlns:a16="http://schemas.microsoft.com/office/drawing/2014/main" id="{D9C55EC9-8167-4E36-99DB-64468C6E76E8}"/>
              </a:ext>
            </a:extLst>
          </p:cNvPr>
          <p:cNvSpPr>
            <a:spLocks xmlns:a="http://schemas.openxmlformats.org/drawingml/2006/main" noGrp="1"/>
          </p:cNvSpPr>
          <p:nvPr/>
        </p:nvSpPr>
        <p:spPr>
          <a:xfrm xmlns:a="http://schemas.openxmlformats.org/drawingml/2006/main">
            <a:off x="781050" y="2352675"/>
            <a:ext cx="323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88" b="1" i="0">
                <a:solidFill>
                  <a:srgbClr val="9E2A2B"/>
                </a:solidFill>
                <a:latin typeface="Arial"/>
                <a:ea typeface="Arial"/>
                <a:cs typeface="Arial"/>
              </a:defRPr>
            </a:pPr>
            <a:r>
              <a:rPr sz="1088" b="1" i="0">
                <a:solidFill>
                  <a:srgbClr val="9E2A2B"/>
                </a:solidFill>
                <a:latin typeface="Arial"/>
                <a:ea typeface="Arial"/>
                <a:cs typeface="Arial"/>
              </a:rPr>
              <a:t>MSD fit outside diffusion</a:t>
            </a:r>
          </a:p>
        </p:txBody>
      </p:sp>
      <p:sp>
        <p:nvSpPr>
          <p:cNvPr id="18" name="s15-a-1">
            <a:extLst xmlns:a="http://schemas.openxmlformats.org/drawingml/2006/main">
              <a:ext uri="{FF2B5EF4-FFF2-40B4-BE49-F238E27FC236}">
                <a16:creationId xmlns:a16="http://schemas.microsoft.com/office/drawing/2014/main" id="{E7E31B92-08BF-445D-A3FC-52F08FA684BC}"/>
              </a:ext>
            </a:extLst>
          </p:cNvPr>
          <p:cNvSpPr>
            <a:spLocks xmlns:a="http://schemas.openxmlformats.org/drawingml/2006/main" noGrp="1"/>
          </p:cNvSpPr>
          <p:nvPr/>
        </p:nvSpPr>
        <p:spPr>
          <a:xfrm xmlns:a="http://schemas.openxmlformats.org/drawingml/2006/main">
            <a:off x="4305300" y="2438400"/>
            <a:ext cx="666750" cy="304800"/>
          </a:xfrm>
          <a:prstGeom xmlns:a="http://schemas.openxmlformats.org/drawingml/2006/main" prst="rightArrow">
            <a:avLst/>
          </a:prstGeom>
          <a:solidFill xmlns:a="http://schemas.openxmlformats.org/drawingml/2006/main">
            <a:srgbClr val="FFFFFF"/>
          </a:solidFill>
          <a:ln xmlns:a="http://schemas.openxmlformats.org/drawingml/2006/main" w="9525">
            <a:solidFill>
              <a:srgbClr val="7F7F7F"/>
            </a:solidFill>
            <a:prstDash val="solid"/>
          </a:ln>
        </p:spPr>
      </p:sp>
      <p:sp>
        <p:nvSpPr>
          <p:cNvPr id="19" name="s15-gate-1">
            <a:extLst xmlns:a="http://schemas.openxmlformats.org/drawingml/2006/main">
              <a:ext uri="{FF2B5EF4-FFF2-40B4-BE49-F238E27FC236}">
                <a16:creationId xmlns:a16="http://schemas.microsoft.com/office/drawing/2014/main" id="{0AF648CB-E598-4FDE-8713-72402CEF8BDE}"/>
              </a:ext>
            </a:extLst>
          </p:cNvPr>
          <p:cNvSpPr>
            <a:spLocks xmlns:a="http://schemas.openxmlformats.org/drawingml/2006/main" noGrp="1"/>
          </p:cNvSpPr>
          <p:nvPr/>
        </p:nvSpPr>
        <p:spPr>
          <a:xfrm xmlns:a="http://schemas.openxmlformats.org/drawingml/2006/main">
            <a:off x="5143500" y="2276475"/>
            <a:ext cx="3286125" cy="628650"/>
          </a:xfrm>
          <a:prstGeom xmlns:a="http://schemas.openxmlformats.org/drawingml/2006/main" prst="roundRect">
            <a:avLst>
              <a:gd name="adj" fmla="val 12121"/>
            </a:avLst>
          </a:prstGeom>
          <a:solidFill xmlns:a="http://schemas.openxmlformats.org/drawingml/2006/main">
            <a:srgbClr val="E8F5E9"/>
          </a:solidFill>
          <a:ln xmlns:a="http://schemas.openxmlformats.org/drawingml/2006/main" w="9525">
            <a:solidFill>
              <a:srgbClr val="2E7D32"/>
            </a:solidFill>
            <a:prstDash val="solid"/>
          </a:ln>
        </p:spPr>
      </p:sp>
      <p:sp>
        <p:nvSpPr>
          <p:cNvPr id="20" name="s15-gate-t-1">
            <a:extLst xmlns:a="http://schemas.openxmlformats.org/drawingml/2006/main">
              <a:ext uri="{FF2B5EF4-FFF2-40B4-BE49-F238E27FC236}">
                <a16:creationId xmlns:a16="http://schemas.microsoft.com/office/drawing/2014/main" id="{067F5F0E-2A86-4AD1-B045-036833F3D709}"/>
              </a:ext>
            </a:extLst>
          </p:cNvPr>
          <p:cNvSpPr>
            <a:spLocks xmlns:a="http://schemas.openxmlformats.org/drawingml/2006/main" noGrp="1"/>
          </p:cNvSpPr>
          <p:nvPr/>
        </p:nvSpPr>
        <p:spPr>
          <a:xfrm xmlns:a="http://schemas.openxmlformats.org/drawingml/2006/main">
            <a:off x="5257800" y="23526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88" b="1" i="0">
                <a:solidFill>
                  <a:srgbClr val="2E7D32"/>
                </a:solidFill>
                <a:latin typeface="Arial"/>
                <a:ea typeface="Arial"/>
                <a:cs typeface="Arial"/>
              </a:defRPr>
            </a:pPr>
            <a:r>
              <a:rPr sz="1088" b="1" i="0">
                <a:solidFill>
                  <a:srgbClr val="2E7D32"/>
                </a:solidFill>
                <a:latin typeface="Arial"/>
                <a:ea typeface="Arial"/>
                <a:cs typeface="Arial"/>
              </a:rPr>
              <a:t>β ∈ [0.8, 1.2] gate</a:t>
            </a:r>
          </a:p>
        </p:txBody>
      </p:sp>
      <p:sp>
        <p:nvSpPr>
          <p:cNvPr id="21" name="s15-claim-2">
            <a:extLst xmlns:a="http://schemas.openxmlformats.org/drawingml/2006/main">
              <a:ext uri="{FF2B5EF4-FFF2-40B4-BE49-F238E27FC236}">
                <a16:creationId xmlns:a16="http://schemas.microsoft.com/office/drawing/2014/main" id="{00E8F502-BB57-4B3E-8601-6FC614C0A6E7}"/>
              </a:ext>
            </a:extLst>
          </p:cNvPr>
          <p:cNvSpPr>
            <a:spLocks xmlns:a="http://schemas.openxmlformats.org/drawingml/2006/main" noGrp="1"/>
          </p:cNvSpPr>
          <p:nvPr/>
        </p:nvSpPr>
        <p:spPr>
          <a:xfrm xmlns:a="http://schemas.openxmlformats.org/drawingml/2006/main">
            <a:off x="666750" y="3143250"/>
            <a:ext cx="3476625" cy="628650"/>
          </a:xfrm>
          <a:prstGeom xmlns:a="http://schemas.openxmlformats.org/drawingml/2006/main" prst="roundRect">
            <a:avLst>
              <a:gd name="adj" fmla="val 12121"/>
            </a:avLst>
          </a:prstGeom>
          <a:solidFill xmlns:a="http://schemas.openxmlformats.org/drawingml/2006/main">
            <a:srgbClr val="FBE9E7"/>
          </a:solidFill>
          <a:ln xmlns:a="http://schemas.openxmlformats.org/drawingml/2006/main" w="9525">
            <a:solidFill>
              <a:srgbClr val="9E2A2B"/>
            </a:solidFill>
            <a:prstDash val="solid"/>
          </a:ln>
        </p:spPr>
      </p:sp>
      <p:sp>
        <p:nvSpPr>
          <p:cNvPr id="22" name="s15-claim-t-2">
            <a:extLst xmlns:a="http://schemas.openxmlformats.org/drawingml/2006/main">
              <a:ext uri="{FF2B5EF4-FFF2-40B4-BE49-F238E27FC236}">
                <a16:creationId xmlns:a16="http://schemas.microsoft.com/office/drawing/2014/main" id="{C403C786-F43C-4AE7-ACF8-2A3709AF7D42}"/>
              </a:ext>
            </a:extLst>
          </p:cNvPr>
          <p:cNvSpPr>
            <a:spLocks xmlns:a="http://schemas.openxmlformats.org/drawingml/2006/main" noGrp="1"/>
          </p:cNvSpPr>
          <p:nvPr/>
        </p:nvSpPr>
        <p:spPr>
          <a:xfrm xmlns:a="http://schemas.openxmlformats.org/drawingml/2006/main">
            <a:off x="781050" y="3219450"/>
            <a:ext cx="323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88" b="1" i="0">
                <a:solidFill>
                  <a:srgbClr val="9E2A2B"/>
                </a:solidFill>
                <a:latin typeface="Arial"/>
                <a:ea typeface="Arial"/>
                <a:cs typeface="Arial"/>
              </a:defRPr>
            </a:pPr>
            <a:r>
              <a:rPr sz="1088" b="1" i="0">
                <a:solidFill>
                  <a:srgbClr val="9E2A2B"/>
                </a:solidFill>
                <a:latin typeface="Arial"/>
                <a:ea typeface="Arial"/>
                <a:cs typeface="Arial"/>
              </a:rPr>
              <a:t>DOS-threshold band gap</a:t>
            </a:r>
          </a:p>
        </p:txBody>
      </p:sp>
      <p:sp>
        <p:nvSpPr>
          <p:cNvPr id="23" name="s15-a-2">
            <a:extLst xmlns:a="http://schemas.openxmlformats.org/drawingml/2006/main">
              <a:ext uri="{FF2B5EF4-FFF2-40B4-BE49-F238E27FC236}">
                <a16:creationId xmlns:a16="http://schemas.microsoft.com/office/drawing/2014/main" id="{4A14B5FC-4972-4F21-9C54-F11D28A3A7BB}"/>
              </a:ext>
            </a:extLst>
          </p:cNvPr>
          <p:cNvSpPr>
            <a:spLocks xmlns:a="http://schemas.openxmlformats.org/drawingml/2006/main" noGrp="1"/>
          </p:cNvSpPr>
          <p:nvPr/>
        </p:nvSpPr>
        <p:spPr>
          <a:xfrm xmlns:a="http://schemas.openxmlformats.org/drawingml/2006/main">
            <a:off x="4305300" y="3305175"/>
            <a:ext cx="666750" cy="304800"/>
          </a:xfrm>
          <a:prstGeom xmlns:a="http://schemas.openxmlformats.org/drawingml/2006/main" prst="rightArrow">
            <a:avLst/>
          </a:prstGeom>
          <a:solidFill xmlns:a="http://schemas.openxmlformats.org/drawingml/2006/main">
            <a:srgbClr val="FFFFFF"/>
          </a:solidFill>
          <a:ln xmlns:a="http://schemas.openxmlformats.org/drawingml/2006/main" w="9525">
            <a:solidFill>
              <a:srgbClr val="7F7F7F"/>
            </a:solidFill>
            <a:prstDash val="solid"/>
          </a:ln>
        </p:spPr>
      </p:sp>
      <p:sp>
        <p:nvSpPr>
          <p:cNvPr id="24" name="s15-gate-2">
            <a:extLst xmlns:a="http://schemas.openxmlformats.org/drawingml/2006/main">
              <a:ext uri="{FF2B5EF4-FFF2-40B4-BE49-F238E27FC236}">
                <a16:creationId xmlns:a16="http://schemas.microsoft.com/office/drawing/2014/main" id="{A8380033-22E7-463C-BD57-B448BB7C8A99}"/>
              </a:ext>
            </a:extLst>
          </p:cNvPr>
          <p:cNvSpPr>
            <a:spLocks xmlns:a="http://schemas.openxmlformats.org/drawingml/2006/main" noGrp="1"/>
          </p:cNvSpPr>
          <p:nvPr/>
        </p:nvSpPr>
        <p:spPr>
          <a:xfrm xmlns:a="http://schemas.openxmlformats.org/drawingml/2006/main">
            <a:off x="5143500" y="3143250"/>
            <a:ext cx="3286125" cy="628650"/>
          </a:xfrm>
          <a:prstGeom xmlns:a="http://schemas.openxmlformats.org/drawingml/2006/main" prst="roundRect">
            <a:avLst>
              <a:gd name="adj" fmla="val 12121"/>
            </a:avLst>
          </a:prstGeom>
          <a:solidFill xmlns:a="http://schemas.openxmlformats.org/drawingml/2006/main">
            <a:srgbClr val="E8F5E9"/>
          </a:solidFill>
          <a:ln xmlns:a="http://schemas.openxmlformats.org/drawingml/2006/main" w="9525">
            <a:solidFill>
              <a:srgbClr val="2E7D32"/>
            </a:solidFill>
            <a:prstDash val="solid"/>
          </a:ln>
        </p:spPr>
      </p:sp>
      <p:sp>
        <p:nvSpPr>
          <p:cNvPr id="25" name="s15-gate-t-2">
            <a:extLst xmlns:a="http://schemas.openxmlformats.org/drawingml/2006/main">
              <a:ext uri="{FF2B5EF4-FFF2-40B4-BE49-F238E27FC236}">
                <a16:creationId xmlns:a16="http://schemas.microsoft.com/office/drawing/2014/main" id="{E650FDD7-F5AC-4B76-82EE-34543D1A0F03}"/>
              </a:ext>
            </a:extLst>
          </p:cNvPr>
          <p:cNvSpPr>
            <a:spLocks xmlns:a="http://schemas.openxmlformats.org/drawingml/2006/main" noGrp="1"/>
          </p:cNvSpPr>
          <p:nvPr/>
        </p:nvSpPr>
        <p:spPr>
          <a:xfrm xmlns:a="http://schemas.openxmlformats.org/drawingml/2006/main">
            <a:off x="5257800" y="321945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88" b="1" i="0">
                <a:solidFill>
                  <a:srgbClr val="2E7D32"/>
                </a:solidFill>
                <a:latin typeface="Arial"/>
                <a:ea typeface="Arial"/>
                <a:cs typeface="Arial"/>
              </a:defRPr>
            </a:pPr>
            <a:r>
              <a:rPr sz="1088" b="1" i="0">
                <a:solidFill>
                  <a:srgbClr val="2E7D32"/>
                </a:solidFill>
                <a:latin typeface="Arial"/>
                <a:ea typeface="Arial"/>
                <a:cs typeface="Arial"/>
              </a:rPr>
              <a:t>Fixed-occ eigenvalues</a:t>
            </a:r>
          </a:p>
        </p:txBody>
      </p:sp>
      <p:sp>
        <p:nvSpPr>
          <p:cNvPr id="26" name="s15-claim-3">
            <a:extLst xmlns:a="http://schemas.openxmlformats.org/drawingml/2006/main">
              <a:ext uri="{FF2B5EF4-FFF2-40B4-BE49-F238E27FC236}">
                <a16:creationId xmlns:a16="http://schemas.microsoft.com/office/drawing/2014/main" id="{C398E003-6AFB-4D86-8FA0-8BD8A33F5E82}"/>
              </a:ext>
            </a:extLst>
          </p:cNvPr>
          <p:cNvSpPr>
            <a:spLocks xmlns:a="http://schemas.openxmlformats.org/drawingml/2006/main" noGrp="1"/>
          </p:cNvSpPr>
          <p:nvPr/>
        </p:nvSpPr>
        <p:spPr>
          <a:xfrm xmlns:a="http://schemas.openxmlformats.org/drawingml/2006/main">
            <a:off x="666750" y="4010025"/>
            <a:ext cx="3476625" cy="628650"/>
          </a:xfrm>
          <a:prstGeom xmlns:a="http://schemas.openxmlformats.org/drawingml/2006/main" prst="roundRect">
            <a:avLst>
              <a:gd name="adj" fmla="val 12121"/>
            </a:avLst>
          </a:prstGeom>
          <a:solidFill xmlns:a="http://schemas.openxmlformats.org/drawingml/2006/main">
            <a:srgbClr val="FBE9E7"/>
          </a:solidFill>
          <a:ln xmlns:a="http://schemas.openxmlformats.org/drawingml/2006/main" w="9525">
            <a:solidFill>
              <a:srgbClr val="9E2A2B"/>
            </a:solidFill>
            <a:prstDash val="solid"/>
          </a:ln>
        </p:spPr>
      </p:sp>
      <p:sp>
        <p:nvSpPr>
          <p:cNvPr id="27" name="s15-claim-t-3">
            <a:extLst xmlns:a="http://schemas.openxmlformats.org/drawingml/2006/main">
              <a:ext uri="{FF2B5EF4-FFF2-40B4-BE49-F238E27FC236}">
                <a16:creationId xmlns:a16="http://schemas.microsoft.com/office/drawing/2014/main" id="{FCC60058-E54A-4E50-B761-F6F6668525F5}"/>
              </a:ext>
            </a:extLst>
          </p:cNvPr>
          <p:cNvSpPr>
            <a:spLocks xmlns:a="http://schemas.openxmlformats.org/drawingml/2006/main" noGrp="1"/>
          </p:cNvSpPr>
          <p:nvPr/>
        </p:nvSpPr>
        <p:spPr>
          <a:xfrm xmlns:a="http://schemas.openxmlformats.org/drawingml/2006/main">
            <a:off x="781050" y="4086225"/>
            <a:ext cx="323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88" b="1" i="0">
                <a:solidFill>
                  <a:srgbClr val="9E2A2B"/>
                </a:solidFill>
                <a:latin typeface="Arial"/>
                <a:ea typeface="Arial"/>
                <a:cs typeface="Arial"/>
              </a:defRPr>
            </a:pPr>
            <a:r>
              <a:rPr sz="1088" b="1" i="0">
                <a:solidFill>
                  <a:srgbClr val="9E2A2B"/>
                </a:solidFill>
                <a:latin typeface="Arial"/>
                <a:ea typeface="Arial"/>
                <a:cs typeface="Arial"/>
              </a:rPr>
              <a:t>Deep adsorption = strong bond</a:t>
            </a:r>
          </a:p>
        </p:txBody>
      </p:sp>
      <p:sp>
        <p:nvSpPr>
          <p:cNvPr id="28" name="s15-a-3">
            <a:extLst xmlns:a="http://schemas.openxmlformats.org/drawingml/2006/main">
              <a:ext uri="{FF2B5EF4-FFF2-40B4-BE49-F238E27FC236}">
                <a16:creationId xmlns:a16="http://schemas.microsoft.com/office/drawing/2014/main" id="{4FA676AF-FA76-428D-A077-5A26A92E66D0}"/>
              </a:ext>
            </a:extLst>
          </p:cNvPr>
          <p:cNvSpPr>
            <a:spLocks xmlns:a="http://schemas.openxmlformats.org/drawingml/2006/main" noGrp="1"/>
          </p:cNvSpPr>
          <p:nvPr/>
        </p:nvSpPr>
        <p:spPr>
          <a:xfrm xmlns:a="http://schemas.openxmlformats.org/drawingml/2006/main">
            <a:off x="4305300" y="4171950"/>
            <a:ext cx="666750" cy="304800"/>
          </a:xfrm>
          <a:prstGeom xmlns:a="http://schemas.openxmlformats.org/drawingml/2006/main" prst="rightArrow">
            <a:avLst/>
          </a:prstGeom>
          <a:solidFill xmlns:a="http://schemas.openxmlformats.org/drawingml/2006/main">
            <a:srgbClr val="FFFFFF"/>
          </a:solidFill>
          <a:ln xmlns:a="http://schemas.openxmlformats.org/drawingml/2006/main" w="9525">
            <a:solidFill>
              <a:srgbClr val="7F7F7F"/>
            </a:solidFill>
            <a:prstDash val="solid"/>
          </a:ln>
        </p:spPr>
      </p:sp>
      <p:sp>
        <p:nvSpPr>
          <p:cNvPr id="29" name="s15-gate-3">
            <a:extLst xmlns:a="http://schemas.openxmlformats.org/drawingml/2006/main">
              <a:ext uri="{FF2B5EF4-FFF2-40B4-BE49-F238E27FC236}">
                <a16:creationId xmlns:a16="http://schemas.microsoft.com/office/drawing/2014/main" id="{0E694585-CEA9-4994-9578-08E4C2A7BD21}"/>
              </a:ext>
            </a:extLst>
          </p:cNvPr>
          <p:cNvSpPr>
            <a:spLocks xmlns:a="http://schemas.openxmlformats.org/drawingml/2006/main" noGrp="1"/>
          </p:cNvSpPr>
          <p:nvPr/>
        </p:nvSpPr>
        <p:spPr>
          <a:xfrm xmlns:a="http://schemas.openxmlformats.org/drawingml/2006/main">
            <a:off x="5143500" y="4010025"/>
            <a:ext cx="3286125" cy="628650"/>
          </a:xfrm>
          <a:prstGeom xmlns:a="http://schemas.openxmlformats.org/drawingml/2006/main" prst="roundRect">
            <a:avLst>
              <a:gd name="adj" fmla="val 12121"/>
            </a:avLst>
          </a:prstGeom>
          <a:solidFill xmlns:a="http://schemas.openxmlformats.org/drawingml/2006/main">
            <a:srgbClr val="E8F5E9"/>
          </a:solidFill>
          <a:ln xmlns:a="http://schemas.openxmlformats.org/drawingml/2006/main" w="9525">
            <a:solidFill>
              <a:srgbClr val="2E7D32"/>
            </a:solidFill>
            <a:prstDash val="solid"/>
          </a:ln>
        </p:spPr>
      </p:sp>
      <p:sp>
        <p:nvSpPr>
          <p:cNvPr id="30" name="s15-gate-t-3">
            <a:extLst xmlns:a="http://schemas.openxmlformats.org/drawingml/2006/main">
              <a:ext uri="{FF2B5EF4-FFF2-40B4-BE49-F238E27FC236}">
                <a16:creationId xmlns:a16="http://schemas.microsoft.com/office/drawing/2014/main" id="{2348069C-F807-4D7C-B93C-4468733095A5}"/>
              </a:ext>
            </a:extLst>
          </p:cNvPr>
          <p:cNvSpPr>
            <a:spLocks xmlns:a="http://schemas.openxmlformats.org/drawingml/2006/main" noGrp="1"/>
          </p:cNvSpPr>
          <p:nvPr/>
        </p:nvSpPr>
        <p:spPr>
          <a:xfrm xmlns:a="http://schemas.openxmlformats.org/drawingml/2006/main">
            <a:off x="5257800" y="408622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88" b="1" i="0">
                <a:solidFill>
                  <a:srgbClr val="2E7D32"/>
                </a:solidFill>
                <a:latin typeface="Arial"/>
                <a:ea typeface="Arial"/>
                <a:cs typeface="Arial"/>
              </a:defRPr>
            </a:pPr>
            <a:r>
              <a:rPr sz="1088" b="1" i="0">
                <a:solidFill>
                  <a:srgbClr val="2E7D32"/>
                </a:solidFill>
                <a:latin typeface="Arial"/>
                <a:ea typeface="Arial"/>
                <a:cs typeface="Arial"/>
              </a:rPr>
              <a:t>Geometry + charge-state audit</a:t>
            </a:r>
          </a:p>
        </p:txBody>
      </p:sp>
      <p:sp>
        <p:nvSpPr>
          <p:cNvPr id="31" name="s15-claim-4">
            <a:extLst xmlns:a="http://schemas.openxmlformats.org/drawingml/2006/main">
              <a:ext uri="{FF2B5EF4-FFF2-40B4-BE49-F238E27FC236}">
                <a16:creationId xmlns:a16="http://schemas.microsoft.com/office/drawing/2014/main" id="{25D9F945-73FA-458F-B80C-819A206520B6}"/>
              </a:ext>
            </a:extLst>
          </p:cNvPr>
          <p:cNvSpPr>
            <a:spLocks xmlns:a="http://schemas.openxmlformats.org/drawingml/2006/main" noGrp="1"/>
          </p:cNvSpPr>
          <p:nvPr/>
        </p:nvSpPr>
        <p:spPr>
          <a:xfrm xmlns:a="http://schemas.openxmlformats.org/drawingml/2006/main">
            <a:off x="666750" y="4876800"/>
            <a:ext cx="3476625" cy="628650"/>
          </a:xfrm>
          <a:prstGeom xmlns:a="http://schemas.openxmlformats.org/drawingml/2006/main" prst="roundRect">
            <a:avLst>
              <a:gd name="adj" fmla="val 12121"/>
            </a:avLst>
          </a:prstGeom>
          <a:solidFill xmlns:a="http://schemas.openxmlformats.org/drawingml/2006/main">
            <a:srgbClr val="FBE9E7"/>
          </a:solidFill>
          <a:ln xmlns:a="http://schemas.openxmlformats.org/drawingml/2006/main" w="9525">
            <a:solidFill>
              <a:srgbClr val="9E2A2B"/>
            </a:solidFill>
            <a:prstDash val="solid"/>
          </a:ln>
        </p:spPr>
      </p:sp>
      <p:sp>
        <p:nvSpPr>
          <p:cNvPr id="32" name="s15-claim-t-4">
            <a:extLst xmlns:a="http://schemas.openxmlformats.org/drawingml/2006/main">
              <a:ext uri="{FF2B5EF4-FFF2-40B4-BE49-F238E27FC236}">
                <a16:creationId xmlns:a16="http://schemas.microsoft.com/office/drawing/2014/main" id="{03D77291-87CD-43E3-A168-E3E07DA4414D}"/>
              </a:ext>
            </a:extLst>
          </p:cNvPr>
          <p:cNvSpPr>
            <a:spLocks xmlns:a="http://schemas.openxmlformats.org/drawingml/2006/main" noGrp="1"/>
          </p:cNvSpPr>
          <p:nvPr/>
        </p:nvSpPr>
        <p:spPr>
          <a:xfrm xmlns:a="http://schemas.openxmlformats.org/drawingml/2006/main">
            <a:off x="781050" y="4953000"/>
            <a:ext cx="323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88" b="1" i="0">
                <a:solidFill>
                  <a:srgbClr val="9E2A2B"/>
                </a:solidFill>
                <a:latin typeface="Arial"/>
                <a:ea typeface="Arial"/>
                <a:cs typeface="Arial"/>
              </a:defRPr>
            </a:pPr>
            <a:r>
              <a:rPr sz="1088" b="1" i="0">
                <a:solidFill>
                  <a:srgbClr val="9E2A2B"/>
                </a:solidFill>
                <a:latin typeface="Arial"/>
                <a:ea typeface="Arial"/>
                <a:cs typeface="Arial"/>
              </a:rPr>
              <a:t>9 meV pose difference = preference</a:t>
            </a:r>
          </a:p>
        </p:txBody>
      </p:sp>
      <p:sp>
        <p:nvSpPr>
          <p:cNvPr id="33" name="s15-a-4">
            <a:extLst xmlns:a="http://schemas.openxmlformats.org/drawingml/2006/main">
              <a:ext uri="{FF2B5EF4-FFF2-40B4-BE49-F238E27FC236}">
                <a16:creationId xmlns:a16="http://schemas.microsoft.com/office/drawing/2014/main" id="{067D61A2-4FC5-4F3B-8377-2F63398EFE10}"/>
              </a:ext>
            </a:extLst>
          </p:cNvPr>
          <p:cNvSpPr>
            <a:spLocks xmlns:a="http://schemas.openxmlformats.org/drawingml/2006/main" noGrp="1"/>
          </p:cNvSpPr>
          <p:nvPr/>
        </p:nvSpPr>
        <p:spPr>
          <a:xfrm xmlns:a="http://schemas.openxmlformats.org/drawingml/2006/main">
            <a:off x="4305300" y="5038725"/>
            <a:ext cx="666750" cy="304800"/>
          </a:xfrm>
          <a:prstGeom xmlns:a="http://schemas.openxmlformats.org/drawingml/2006/main" prst="rightArrow">
            <a:avLst/>
          </a:prstGeom>
          <a:solidFill xmlns:a="http://schemas.openxmlformats.org/drawingml/2006/main">
            <a:srgbClr val="FFFFFF"/>
          </a:solidFill>
          <a:ln xmlns:a="http://schemas.openxmlformats.org/drawingml/2006/main" w="9525">
            <a:solidFill>
              <a:srgbClr val="7F7F7F"/>
            </a:solidFill>
            <a:prstDash val="solid"/>
          </a:ln>
        </p:spPr>
      </p:sp>
      <p:sp>
        <p:nvSpPr>
          <p:cNvPr id="34" name="s15-gate-4">
            <a:extLst xmlns:a="http://schemas.openxmlformats.org/drawingml/2006/main">
              <a:ext uri="{FF2B5EF4-FFF2-40B4-BE49-F238E27FC236}">
                <a16:creationId xmlns:a16="http://schemas.microsoft.com/office/drawing/2014/main" id="{FEDE0845-2A3A-4A8A-A8D8-0632CB13906A}"/>
              </a:ext>
            </a:extLst>
          </p:cNvPr>
          <p:cNvSpPr>
            <a:spLocks xmlns:a="http://schemas.openxmlformats.org/drawingml/2006/main" noGrp="1"/>
          </p:cNvSpPr>
          <p:nvPr/>
        </p:nvSpPr>
        <p:spPr>
          <a:xfrm xmlns:a="http://schemas.openxmlformats.org/drawingml/2006/main">
            <a:off x="5143500" y="4876800"/>
            <a:ext cx="3286125" cy="628650"/>
          </a:xfrm>
          <a:prstGeom xmlns:a="http://schemas.openxmlformats.org/drawingml/2006/main" prst="roundRect">
            <a:avLst>
              <a:gd name="adj" fmla="val 12121"/>
            </a:avLst>
          </a:prstGeom>
          <a:solidFill xmlns:a="http://schemas.openxmlformats.org/drawingml/2006/main">
            <a:srgbClr val="E8F5E9"/>
          </a:solidFill>
          <a:ln xmlns:a="http://schemas.openxmlformats.org/drawingml/2006/main" w="9525">
            <a:solidFill>
              <a:srgbClr val="2E7D32"/>
            </a:solidFill>
            <a:prstDash val="solid"/>
          </a:ln>
        </p:spPr>
      </p:sp>
      <p:sp>
        <p:nvSpPr>
          <p:cNvPr id="35" name="s15-gate-t-4">
            <a:extLst xmlns:a="http://schemas.openxmlformats.org/drawingml/2006/main">
              <a:ext uri="{FF2B5EF4-FFF2-40B4-BE49-F238E27FC236}">
                <a16:creationId xmlns:a16="http://schemas.microsoft.com/office/drawing/2014/main" id="{B8515E9E-B9F4-4BF8-920F-3EBD9B9B7E48}"/>
              </a:ext>
            </a:extLst>
          </p:cNvPr>
          <p:cNvSpPr>
            <a:spLocks xmlns:a="http://schemas.openxmlformats.org/drawingml/2006/main" noGrp="1"/>
          </p:cNvSpPr>
          <p:nvPr/>
        </p:nvSpPr>
        <p:spPr>
          <a:xfrm xmlns:a="http://schemas.openxmlformats.org/drawingml/2006/main">
            <a:off x="5257800" y="495300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88" b="1" i="0">
                <a:solidFill>
                  <a:srgbClr val="2E7D32"/>
                </a:solidFill>
                <a:latin typeface="Arial"/>
                <a:ea typeface="Arial"/>
                <a:cs typeface="Arial"/>
              </a:defRPr>
            </a:pPr>
            <a:r>
              <a:rPr sz="1088" b="1" i="0">
                <a:solidFill>
                  <a:srgbClr val="2E7D32"/>
                </a:solidFill>
                <a:latin typeface="Arial"/>
                <a:ea typeface="Arial"/>
                <a:cs typeface="Arial"/>
              </a:rPr>
              <a:t>Matched counterfactual required</a:t>
            </a:r>
          </a:p>
        </p:txBody>
      </p:sp>
      <p:sp>
        <p:nvSpPr>
          <p:cNvPr id="36" name="s15-take">
            <a:extLst xmlns:a="http://schemas.openxmlformats.org/drawingml/2006/main">
              <a:ext uri="{FF2B5EF4-FFF2-40B4-BE49-F238E27FC236}">
                <a16:creationId xmlns:a16="http://schemas.microsoft.com/office/drawing/2014/main" id="{2EB2BB8F-2BC4-4623-B344-9BA71FD57F79}"/>
              </a:ext>
            </a:extLst>
          </p:cNvPr>
          <p:cNvSpPr>
            <a:spLocks xmlns:a="http://schemas.openxmlformats.org/drawingml/2006/main" noGrp="1"/>
          </p:cNvSpPr>
          <p:nvPr/>
        </p:nvSpPr>
        <p:spPr>
          <a:xfrm xmlns:a="http://schemas.openxmlformats.org/drawingml/2006/main">
            <a:off x="2095500" y="58102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275" b="1" i="0">
                <a:solidFill>
                  <a:srgbClr val="1F4E79"/>
                </a:solidFill>
                <a:latin typeface="Arial"/>
                <a:ea typeface="Arial"/>
                <a:cs typeface="Arial"/>
              </a:defRPr>
            </a:pPr>
            <a:r>
              <a:rPr sz="1275" b="1" i="0">
                <a:solidFill>
                  <a:srgbClr val="1F4E79"/>
                </a:solidFill>
                <a:latin typeface="Arial"/>
                <a:ea typeface="Arial"/>
                <a:cs typeface="Arial"/>
              </a:rPr>
              <a:t>A deeper energy is not necessarily a stronger bond.</a:t>
            </a:r>
          </a:p>
        </p:txBody>
      </p:sp>
    </p:spTree>
    <p:extLst>
      <p:ext uri="{BB962C8B-B14F-4D97-AF65-F5344CB8AC3E}">
        <p14:creationId xmlns:p14="http://schemas.microsoft.com/office/powerpoint/2010/main" val="1396119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Validation</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Current deep-DFT coverage: 2 / 47</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Three coverage counts — not a linear funnel</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16</a:t>
            </a:r>
            <a:endParaRPr sz="1000"/>
          </a:p>
        </p:txBody>
      </p:sp>
      <p:sp>
        <p:nvSpPr>
          <p:cNvPr id="11" name="s16-screen-box">
            <a:extLst xmlns:a="http://schemas.openxmlformats.org/drawingml/2006/main">
              <a:ext uri="{FF2B5EF4-FFF2-40B4-BE49-F238E27FC236}">
                <a16:creationId xmlns:a16="http://schemas.microsoft.com/office/drawing/2014/main" id="{34E4DAAC-4D0D-4984-B69F-068EE3CD6B5F}"/>
              </a:ext>
            </a:extLst>
          </p:cNvPr>
          <p:cNvSpPr>
            <a:spLocks xmlns:a="http://schemas.openxmlformats.org/drawingml/2006/main" noGrp="1"/>
          </p:cNvSpPr>
          <p:nvPr/>
        </p:nvSpPr>
        <p:spPr>
          <a:xfrm xmlns:a="http://schemas.openxmlformats.org/drawingml/2006/main">
            <a:off x="809625" y="1762125"/>
            <a:ext cx="219075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D9E1F2"/>
            </a:solidFill>
            <a:prstDash val="solid"/>
          </a:ln>
        </p:spPr>
      </p:sp>
      <p:sp>
        <p:nvSpPr>
          <p:cNvPr id="12" name="s16-screen-value">
            <a:extLst xmlns:a="http://schemas.openxmlformats.org/drawingml/2006/main">
              <a:ext uri="{FF2B5EF4-FFF2-40B4-BE49-F238E27FC236}">
                <a16:creationId xmlns:a16="http://schemas.microsoft.com/office/drawing/2014/main" id="{E19A9A22-8D87-42E2-B5C2-4DDD0FE3511B}"/>
              </a:ext>
            </a:extLst>
          </p:cNvPr>
          <p:cNvSpPr>
            <a:spLocks xmlns:a="http://schemas.openxmlformats.org/drawingml/2006/main" noGrp="1"/>
          </p:cNvSpPr>
          <p:nvPr/>
        </p:nvSpPr>
        <p:spPr>
          <a:xfrm xmlns:a="http://schemas.openxmlformats.org/drawingml/2006/main">
            <a:off x="885825" y="1857375"/>
            <a:ext cx="2038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2100" b="1" i="0">
                <a:solidFill>
                  <a:srgbClr val="1F4E79"/>
                </a:solidFill>
                <a:latin typeface="Arial"/>
                <a:ea typeface="Arial"/>
                <a:cs typeface="Arial"/>
              </a:defRPr>
            </a:pPr>
            <a:r>
              <a:rPr sz="2100" b="1" i="0">
                <a:solidFill>
                  <a:srgbClr val="1F4E79"/>
                </a:solidFill>
                <a:latin typeface="Arial"/>
                <a:ea typeface="Arial"/>
                <a:cs typeface="Arial"/>
              </a:rPr>
              <a:t>47</a:t>
            </a:r>
          </a:p>
        </p:txBody>
      </p:sp>
      <p:sp>
        <p:nvSpPr>
          <p:cNvPr id="13" name="s16-screen-label">
            <a:extLst xmlns:a="http://schemas.openxmlformats.org/drawingml/2006/main">
              <a:ext uri="{FF2B5EF4-FFF2-40B4-BE49-F238E27FC236}">
                <a16:creationId xmlns:a16="http://schemas.microsoft.com/office/drawing/2014/main" id="{E421F6A2-FCD8-40EF-9797-58714C819C79}"/>
              </a:ext>
            </a:extLst>
          </p:cNvPr>
          <p:cNvSpPr>
            <a:spLocks xmlns:a="http://schemas.openxmlformats.org/drawingml/2006/main" noGrp="1"/>
          </p:cNvSpPr>
          <p:nvPr/>
        </p:nvSpPr>
        <p:spPr>
          <a:xfrm xmlns:a="http://schemas.openxmlformats.org/drawingml/2006/main">
            <a:off x="885825" y="2314575"/>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38" b="0" i="0">
                <a:solidFill>
                  <a:srgbClr val="7F7F7F"/>
                </a:solidFill>
                <a:latin typeface="Arial"/>
                <a:ea typeface="Arial"/>
                <a:cs typeface="Arial"/>
              </a:defRPr>
            </a:pPr>
            <a:r>
              <a:rPr sz="938" b="0" i="0">
                <a:solidFill>
                  <a:srgbClr val="7F7F7F"/>
                </a:solidFill>
                <a:latin typeface="Arial"/>
                <a:ea typeface="Arial"/>
                <a:cs typeface="Arial"/>
              </a:rPr>
              <a:t>data-complete relative screens</a:t>
            </a:r>
          </a:p>
        </p:txBody>
      </p:sp>
      <p:sp>
        <p:nvSpPr>
          <p:cNvPr id="14" name="s16-survive-box">
            <a:extLst xmlns:a="http://schemas.openxmlformats.org/drawingml/2006/main">
              <a:ext uri="{FF2B5EF4-FFF2-40B4-BE49-F238E27FC236}">
                <a16:creationId xmlns:a16="http://schemas.microsoft.com/office/drawing/2014/main" id="{58D1C9D1-CDB1-445A-B4EF-53C64719614C}"/>
              </a:ext>
            </a:extLst>
          </p:cNvPr>
          <p:cNvSpPr>
            <a:spLocks xmlns:a="http://schemas.openxmlformats.org/drawingml/2006/main" noGrp="1"/>
          </p:cNvSpPr>
          <p:nvPr/>
        </p:nvSpPr>
        <p:spPr>
          <a:xfrm xmlns:a="http://schemas.openxmlformats.org/drawingml/2006/main">
            <a:off x="3476625" y="1762125"/>
            <a:ext cx="2190750" cy="914400"/>
          </a:xfrm>
          <a:prstGeom xmlns:a="http://schemas.openxmlformats.org/drawingml/2006/main" prst="roundRect">
            <a:avLst>
              <a:gd name="adj" fmla="val 8333"/>
            </a:avLst>
          </a:prstGeom>
          <a:solidFill xmlns:a="http://schemas.openxmlformats.org/drawingml/2006/main">
            <a:srgbClr val="E8F5E9"/>
          </a:solidFill>
          <a:ln xmlns:a="http://schemas.openxmlformats.org/drawingml/2006/main" w="9525">
            <a:solidFill>
              <a:srgbClr val="D9E1F2"/>
            </a:solidFill>
            <a:prstDash val="solid"/>
          </a:ln>
        </p:spPr>
      </p:sp>
      <p:sp>
        <p:nvSpPr>
          <p:cNvPr id="15" name="s16-survive-value">
            <a:extLst xmlns:a="http://schemas.openxmlformats.org/drawingml/2006/main">
              <a:ext uri="{FF2B5EF4-FFF2-40B4-BE49-F238E27FC236}">
                <a16:creationId xmlns:a16="http://schemas.microsoft.com/office/drawing/2014/main" id="{9FED85AF-6AE9-48BB-A94C-97F1AC38A684}"/>
              </a:ext>
            </a:extLst>
          </p:cNvPr>
          <p:cNvSpPr>
            <a:spLocks xmlns:a="http://schemas.openxmlformats.org/drawingml/2006/main" noGrp="1"/>
          </p:cNvSpPr>
          <p:nvPr/>
        </p:nvSpPr>
        <p:spPr>
          <a:xfrm xmlns:a="http://schemas.openxmlformats.org/drawingml/2006/main">
            <a:off x="3552825" y="1857375"/>
            <a:ext cx="2038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2100" b="1" i="0">
                <a:solidFill>
                  <a:srgbClr val="2E7D32"/>
                </a:solidFill>
                <a:latin typeface="Arial"/>
                <a:ea typeface="Arial"/>
                <a:cs typeface="Arial"/>
              </a:defRPr>
            </a:pPr>
            <a:r>
              <a:rPr sz="2100" b="1" i="0">
                <a:solidFill>
                  <a:srgbClr val="2E7D32"/>
                </a:solidFill>
                <a:latin typeface="Arial"/>
                <a:ea typeface="Arial"/>
                <a:cs typeface="Arial"/>
              </a:rPr>
              <a:t>11</a:t>
            </a:r>
          </a:p>
        </p:txBody>
      </p:sp>
      <p:sp>
        <p:nvSpPr>
          <p:cNvPr id="16" name="s16-survive-label">
            <a:extLst xmlns:a="http://schemas.openxmlformats.org/drawingml/2006/main">
              <a:ext uri="{FF2B5EF4-FFF2-40B4-BE49-F238E27FC236}">
                <a16:creationId xmlns:a16="http://schemas.microsoft.com/office/drawing/2014/main" id="{0BEBE1DC-F9FC-4C78-8379-52819146D374}"/>
              </a:ext>
            </a:extLst>
          </p:cNvPr>
          <p:cNvSpPr>
            <a:spLocks xmlns:a="http://schemas.openxmlformats.org/drawingml/2006/main" noGrp="1"/>
          </p:cNvSpPr>
          <p:nvPr/>
        </p:nvSpPr>
        <p:spPr>
          <a:xfrm xmlns:a="http://schemas.openxmlformats.org/drawingml/2006/main">
            <a:off x="3552825" y="2314575"/>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38" b="0" i="0">
                <a:solidFill>
                  <a:srgbClr val="7F7F7F"/>
                </a:solidFill>
                <a:latin typeface="Arial"/>
                <a:ea typeface="Arial"/>
                <a:cs typeface="Arial"/>
              </a:defRPr>
            </a:pPr>
            <a:r>
              <a:rPr sz="938" b="0" i="0">
                <a:solidFill>
                  <a:srgbClr val="7F7F7F"/>
                </a:solidFill>
                <a:latin typeface="Arial"/>
                <a:ea typeface="Arial"/>
                <a:cs typeface="Arial"/>
              </a:rPr>
              <a:t>post-hoc G1–G4 survivors</a:t>
            </a:r>
          </a:p>
        </p:txBody>
      </p:sp>
      <p:sp>
        <p:nvSpPr>
          <p:cNvPr id="17" name="s16-dft-box">
            <a:extLst xmlns:a="http://schemas.openxmlformats.org/drawingml/2006/main">
              <a:ext uri="{FF2B5EF4-FFF2-40B4-BE49-F238E27FC236}">
                <a16:creationId xmlns:a16="http://schemas.microsoft.com/office/drawing/2014/main" id="{10B8EAA4-6535-42B3-9A47-0213A6A52E51}"/>
              </a:ext>
            </a:extLst>
          </p:cNvPr>
          <p:cNvSpPr>
            <a:spLocks xmlns:a="http://schemas.openxmlformats.org/drawingml/2006/main" noGrp="1"/>
          </p:cNvSpPr>
          <p:nvPr/>
        </p:nvSpPr>
        <p:spPr>
          <a:xfrm xmlns:a="http://schemas.openxmlformats.org/drawingml/2006/main">
            <a:off x="6143625" y="1762125"/>
            <a:ext cx="2190750" cy="914400"/>
          </a:xfrm>
          <a:prstGeom xmlns:a="http://schemas.openxmlformats.org/drawingml/2006/main" prst="roundRect">
            <a:avLst>
              <a:gd name="adj" fmla="val 8333"/>
            </a:avLst>
          </a:prstGeom>
          <a:solidFill xmlns:a="http://schemas.openxmlformats.org/drawingml/2006/main">
            <a:srgbClr val="FFF4E0"/>
          </a:solidFill>
          <a:ln xmlns:a="http://schemas.openxmlformats.org/drawingml/2006/main" w="9525">
            <a:solidFill>
              <a:srgbClr val="D9E1F2"/>
            </a:solidFill>
            <a:prstDash val="solid"/>
          </a:ln>
        </p:spPr>
      </p:sp>
      <p:sp>
        <p:nvSpPr>
          <p:cNvPr id="18" name="s16-dft-value">
            <a:extLst xmlns:a="http://schemas.openxmlformats.org/drawingml/2006/main">
              <a:ext uri="{FF2B5EF4-FFF2-40B4-BE49-F238E27FC236}">
                <a16:creationId xmlns:a16="http://schemas.microsoft.com/office/drawing/2014/main" id="{6A22DFFF-8B11-48F2-8785-4142CEBBF29B}"/>
              </a:ext>
            </a:extLst>
          </p:cNvPr>
          <p:cNvSpPr>
            <a:spLocks xmlns:a="http://schemas.openxmlformats.org/drawingml/2006/main" noGrp="1"/>
          </p:cNvSpPr>
          <p:nvPr/>
        </p:nvSpPr>
        <p:spPr>
          <a:xfrm xmlns:a="http://schemas.openxmlformats.org/drawingml/2006/main">
            <a:off x="6219825" y="1857375"/>
            <a:ext cx="2038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2100" b="1" i="0">
                <a:solidFill>
                  <a:srgbClr val="B26A00"/>
                </a:solidFill>
                <a:latin typeface="Arial"/>
                <a:ea typeface="Arial"/>
                <a:cs typeface="Arial"/>
              </a:defRPr>
            </a:pPr>
            <a:r>
              <a:rPr sz="2100" b="1" i="0">
                <a:solidFill>
                  <a:srgbClr val="B26A00"/>
                </a:solidFill>
                <a:latin typeface="Arial"/>
                <a:ea typeface="Arial"/>
                <a:cs typeface="Arial"/>
              </a:rPr>
              <a:t>2</a:t>
            </a:r>
          </a:p>
        </p:txBody>
      </p:sp>
      <p:sp>
        <p:nvSpPr>
          <p:cNvPr id="19" name="s16-dft-label">
            <a:extLst xmlns:a="http://schemas.openxmlformats.org/drawingml/2006/main">
              <a:ext uri="{FF2B5EF4-FFF2-40B4-BE49-F238E27FC236}">
                <a16:creationId xmlns:a16="http://schemas.microsoft.com/office/drawing/2014/main" id="{34942D46-664D-47DC-BC8D-7A0905C67081}"/>
              </a:ext>
            </a:extLst>
          </p:cNvPr>
          <p:cNvSpPr>
            <a:spLocks xmlns:a="http://schemas.openxmlformats.org/drawingml/2006/main" noGrp="1"/>
          </p:cNvSpPr>
          <p:nvPr/>
        </p:nvSpPr>
        <p:spPr>
          <a:xfrm xmlns:a="http://schemas.openxmlformats.org/drawingml/2006/main">
            <a:off x="6219825" y="2314575"/>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38" b="0" i="0">
                <a:solidFill>
                  <a:srgbClr val="7F7F7F"/>
                </a:solidFill>
                <a:latin typeface="Arial"/>
                <a:ea typeface="Arial"/>
                <a:cs typeface="Arial"/>
              </a:defRPr>
            </a:pPr>
            <a:r>
              <a:rPr sz="938" b="0" i="0">
                <a:solidFill>
                  <a:srgbClr val="7F7F7F"/>
                </a:solidFill>
                <a:latin typeface="Arial"/>
                <a:ea typeface="Arial"/>
                <a:cs typeface="Arial"/>
              </a:rPr>
              <a:t>selected deep-DFT cases</a:t>
            </a:r>
          </a:p>
        </p:txBody>
      </p:sp>
      <p:sp>
        <p:nvSpPr>
          <p:cNvPr id="20" name="s16-parallel">
            <a:extLst xmlns:a="http://schemas.openxmlformats.org/drawingml/2006/main">
              <a:ext uri="{FF2B5EF4-FFF2-40B4-BE49-F238E27FC236}">
                <a16:creationId xmlns:a16="http://schemas.microsoft.com/office/drawing/2014/main" id="{89CA76E7-7583-4199-9E2A-B90CCA24C724}"/>
              </a:ext>
            </a:extLst>
          </p:cNvPr>
          <p:cNvSpPr>
            <a:spLocks xmlns:a="http://schemas.openxmlformats.org/drawingml/2006/main" noGrp="1"/>
          </p:cNvSpPr>
          <p:nvPr/>
        </p:nvSpPr>
        <p:spPr>
          <a:xfrm xmlns:a="http://schemas.openxmlformats.org/drawingml/2006/main">
            <a:off x="1524000" y="2781300"/>
            <a:ext cx="609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13" b="1" i="0">
                <a:solidFill>
                  <a:srgbClr val="B26A00"/>
                </a:solidFill>
                <a:latin typeface="Arial"/>
                <a:ea typeface="Arial"/>
                <a:cs typeface="Arial"/>
              </a:defRPr>
            </a:pPr>
            <a:r>
              <a:rPr sz="1013" b="1" i="0">
                <a:solidFill>
                  <a:srgbClr val="B26A00"/>
                </a:solidFill>
                <a:latin typeface="Arial"/>
                <a:ea typeface="Arial"/>
                <a:cs typeface="Arial"/>
              </a:rPr>
              <a:t>PARALLEL COVERAGE RECORDS  ·  B2O3 is not inside the G4 survivor set</a:t>
            </a:r>
          </a:p>
        </p:txBody>
      </p:sp>
      <p:sp>
        <p:nvSpPr>
          <p:cNvPr id="21" name="s16-when-box">
            <a:extLst xmlns:a="http://schemas.openxmlformats.org/drawingml/2006/main">
              <a:ext uri="{FF2B5EF4-FFF2-40B4-BE49-F238E27FC236}">
                <a16:creationId xmlns:a16="http://schemas.microsoft.com/office/drawing/2014/main" id="{C219FB99-2B00-4D05-B101-685026A0C86E}"/>
              </a:ext>
            </a:extLst>
          </p:cNvPr>
          <p:cNvSpPr>
            <a:spLocks xmlns:a="http://schemas.openxmlformats.org/drawingml/2006/main" noGrp="1"/>
          </p:cNvSpPr>
          <p:nvPr/>
        </p:nvSpPr>
        <p:spPr>
          <a:xfrm xmlns:a="http://schemas.openxmlformats.org/drawingml/2006/main">
            <a:off x="952500" y="3381375"/>
            <a:ext cx="3143250" cy="1809750"/>
          </a:xfrm>
          <a:prstGeom xmlns:a="http://schemas.openxmlformats.org/drawingml/2006/main" prst="roundRect">
            <a:avLst>
              <a:gd name="adj" fmla="val 4211"/>
            </a:avLst>
          </a:prstGeom>
          <a:solidFill xmlns:a="http://schemas.openxmlformats.org/drawingml/2006/main">
            <a:srgbClr val="F3F7FB"/>
          </a:solidFill>
          <a:ln xmlns:a="http://schemas.openxmlformats.org/drawingml/2006/main" w="9525">
            <a:solidFill>
              <a:srgbClr val="D9E1F2"/>
            </a:solidFill>
            <a:prstDash val="solid"/>
          </a:ln>
        </p:spPr>
      </p:sp>
      <p:sp>
        <p:nvSpPr>
          <p:cNvPr id="22" name="s16-when-accent">
            <a:extLst xmlns:a="http://schemas.openxmlformats.org/drawingml/2006/main">
              <a:ext uri="{FF2B5EF4-FFF2-40B4-BE49-F238E27FC236}">
                <a16:creationId xmlns:a16="http://schemas.microsoft.com/office/drawing/2014/main" id="{4B9DEB61-690A-4CA2-930C-9F612B467979}"/>
              </a:ext>
            </a:extLst>
          </p:cNvPr>
          <p:cNvSpPr>
            <a:spLocks xmlns:a="http://schemas.openxmlformats.org/drawingml/2006/main" noGrp="1"/>
          </p:cNvSpPr>
          <p:nvPr/>
        </p:nvSpPr>
        <p:spPr>
          <a:xfrm xmlns:a="http://schemas.openxmlformats.org/drawingml/2006/main">
            <a:off x="952500" y="3381375"/>
            <a:ext cx="66675" cy="18097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23" name="s16-when-title">
            <a:extLst xmlns:a="http://schemas.openxmlformats.org/drawingml/2006/main">
              <a:ext uri="{FF2B5EF4-FFF2-40B4-BE49-F238E27FC236}">
                <a16:creationId xmlns:a16="http://schemas.microsoft.com/office/drawing/2014/main" id="{C2643C57-02EE-44E5-96EA-8BF24664FA0C}"/>
              </a:ext>
            </a:extLst>
          </p:cNvPr>
          <p:cNvSpPr>
            <a:spLocks xmlns:a="http://schemas.openxmlformats.org/drawingml/2006/main" noGrp="1"/>
          </p:cNvSpPr>
          <p:nvPr/>
        </p:nvSpPr>
        <p:spPr>
          <a:xfrm xmlns:a="http://schemas.openxmlformats.org/drawingml/2006/main">
            <a:off x="1085850" y="3457575"/>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88235"/>
          </a:bodyPr>
          <a:lstStyle xmlns:a="http://schemas.openxmlformats.org/drawingml/2006/main"/>
          <a:p xmlns:a="http://schemas.openxmlformats.org/drawingml/2006/main">
            <a:pPr algn="l">
              <a:defRPr sz="1275" b="1" i="0">
                <a:solidFill>
                  <a:srgbClr val="1F4E79"/>
                </a:solidFill>
                <a:latin typeface="Arial"/>
                <a:ea typeface="Arial"/>
                <a:cs typeface="Arial"/>
              </a:defRPr>
            </a:pPr>
            <a:r>
              <a:rPr sz="1275" b="1" i="0">
                <a:solidFill>
                  <a:srgbClr val="1F4E79"/>
                </a:solidFill>
                <a:latin typeface="Arial"/>
                <a:ea typeface="Arial"/>
                <a:cs typeface="Arial"/>
              </a:rPr>
              <a:t>Promote when</a:t>
            </a:r>
          </a:p>
        </p:txBody>
      </p:sp>
      <p:sp>
        <p:nvSpPr>
          <p:cNvPr id="24" name="s16-when-body">
            <a:extLst xmlns:a="http://schemas.openxmlformats.org/drawingml/2006/main">
              <a:ext uri="{FF2B5EF4-FFF2-40B4-BE49-F238E27FC236}">
                <a16:creationId xmlns:a16="http://schemas.microsoft.com/office/drawing/2014/main" id="{C8675A1F-27E4-4128-85E0-1F62225E928F}"/>
              </a:ext>
            </a:extLst>
          </p:cNvPr>
          <p:cNvSpPr>
            <a:spLocks xmlns:a="http://schemas.openxmlformats.org/drawingml/2006/main" noGrp="1"/>
          </p:cNvSpPr>
          <p:nvPr/>
        </p:nvSpPr>
        <p:spPr>
          <a:xfrm xmlns:a="http://schemas.openxmlformats.org/drawingml/2006/main">
            <a:off x="1085850" y="3752850"/>
            <a:ext cx="29146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 Near a gate boundary</a:t>
            </a:r>
          </a:p>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 Model heads disagree</a:t>
            </a:r>
          </a:p>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 Pareto value is high</a:t>
            </a:r>
          </a:p>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 Chemistry is under-sampled</a:t>
            </a:r>
          </a:p>
        </p:txBody>
      </p:sp>
      <p:sp>
        <p:nvSpPr>
          <p:cNvPr id="25" name="s16-contract-box">
            <a:extLst xmlns:a="http://schemas.openxmlformats.org/drawingml/2006/main">
              <a:ext uri="{FF2B5EF4-FFF2-40B4-BE49-F238E27FC236}">
                <a16:creationId xmlns:a16="http://schemas.microsoft.com/office/drawing/2014/main" id="{9BABC05A-6B31-47F3-BAF5-5409D7CECF9B}"/>
              </a:ext>
            </a:extLst>
          </p:cNvPr>
          <p:cNvSpPr>
            <a:spLocks xmlns:a="http://schemas.openxmlformats.org/drawingml/2006/main" noGrp="1"/>
          </p:cNvSpPr>
          <p:nvPr/>
        </p:nvSpPr>
        <p:spPr>
          <a:xfrm xmlns:a="http://schemas.openxmlformats.org/drawingml/2006/main">
            <a:off x="5000625" y="3381375"/>
            <a:ext cx="3143250" cy="1809750"/>
          </a:xfrm>
          <a:prstGeom xmlns:a="http://schemas.openxmlformats.org/drawingml/2006/main" prst="roundRect">
            <a:avLst>
              <a:gd name="adj" fmla="val 4211"/>
            </a:avLst>
          </a:prstGeom>
          <a:solidFill xmlns:a="http://schemas.openxmlformats.org/drawingml/2006/main">
            <a:srgbClr val="FBE9E7"/>
          </a:solidFill>
          <a:ln xmlns:a="http://schemas.openxmlformats.org/drawingml/2006/main" w="9525">
            <a:solidFill>
              <a:srgbClr val="D9E1F2"/>
            </a:solidFill>
            <a:prstDash val="solid"/>
          </a:ln>
        </p:spPr>
      </p:sp>
      <p:sp>
        <p:nvSpPr>
          <p:cNvPr id="26" name="s16-contract-accent">
            <a:extLst xmlns:a="http://schemas.openxmlformats.org/drawingml/2006/main">
              <a:ext uri="{FF2B5EF4-FFF2-40B4-BE49-F238E27FC236}">
                <a16:creationId xmlns:a16="http://schemas.microsoft.com/office/drawing/2014/main" id="{F9D172A6-F1CA-4565-958A-21FEEE6F4CFB}"/>
              </a:ext>
            </a:extLst>
          </p:cNvPr>
          <p:cNvSpPr>
            <a:spLocks xmlns:a="http://schemas.openxmlformats.org/drawingml/2006/main" noGrp="1"/>
          </p:cNvSpPr>
          <p:nvPr/>
        </p:nvSpPr>
        <p:spPr>
          <a:xfrm xmlns:a="http://schemas.openxmlformats.org/drawingml/2006/main">
            <a:off x="5000625" y="3381375"/>
            <a:ext cx="66675" cy="1809750"/>
          </a:xfrm>
          <a:prstGeom xmlns:a="http://schemas.openxmlformats.org/drawingml/2006/main" prst="rect">
            <a:avLst/>
          </a:prstGeom>
          <a:solidFill xmlns:a="http://schemas.openxmlformats.org/drawingml/2006/main">
            <a:srgbClr val="9E2A2B"/>
          </a:solidFill>
          <a:ln xmlns:a="http://schemas.openxmlformats.org/drawingml/2006/main" w="0">
            <a:solidFill>
              <a:srgbClr val="9E2A2B"/>
            </a:solidFill>
            <a:prstDash val="solid"/>
          </a:ln>
        </p:spPr>
      </p:sp>
      <p:sp>
        <p:nvSpPr>
          <p:cNvPr id="27" name="s16-contract-title">
            <a:extLst xmlns:a="http://schemas.openxmlformats.org/drawingml/2006/main">
              <a:ext uri="{FF2B5EF4-FFF2-40B4-BE49-F238E27FC236}">
                <a16:creationId xmlns:a16="http://schemas.microsoft.com/office/drawing/2014/main" id="{6BDC5B45-87CF-4AEA-A9A7-BCAB1CA93EDA}"/>
              </a:ext>
            </a:extLst>
          </p:cNvPr>
          <p:cNvSpPr>
            <a:spLocks xmlns:a="http://schemas.openxmlformats.org/drawingml/2006/main" noGrp="1"/>
          </p:cNvSpPr>
          <p:nvPr/>
        </p:nvSpPr>
        <p:spPr>
          <a:xfrm xmlns:a="http://schemas.openxmlformats.org/drawingml/2006/main">
            <a:off x="5133975" y="3457575"/>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88235"/>
          </a:bodyPr>
          <a:lstStyle xmlns:a="http://schemas.openxmlformats.org/drawingml/2006/main"/>
          <a:p xmlns:a="http://schemas.openxmlformats.org/drawingml/2006/main">
            <a:pPr algn="l">
              <a:defRPr sz="1275" b="1" i="0">
                <a:solidFill>
                  <a:srgbClr val="1F4E79"/>
                </a:solidFill>
                <a:latin typeface="Arial"/>
                <a:ea typeface="Arial"/>
                <a:cs typeface="Arial"/>
              </a:defRPr>
            </a:pPr>
            <a:r>
              <a:rPr sz="1275" b="1" i="0">
                <a:solidFill>
                  <a:srgbClr val="1F4E79"/>
                </a:solidFill>
                <a:latin typeface="Arial"/>
                <a:ea typeface="Arial"/>
                <a:cs typeface="Arial"/>
              </a:rPr>
              <a:t>Matched validation contract</a:t>
            </a:r>
          </a:p>
        </p:txBody>
      </p:sp>
      <p:sp>
        <p:nvSpPr>
          <p:cNvPr id="28" name="s16-contract-body">
            <a:extLst xmlns:a="http://schemas.openxmlformats.org/drawingml/2006/main">
              <a:ext uri="{FF2B5EF4-FFF2-40B4-BE49-F238E27FC236}">
                <a16:creationId xmlns:a16="http://schemas.microsoft.com/office/drawing/2014/main" id="{B67EEA1C-5FEA-4D61-A09B-FA1224B90964}"/>
              </a:ext>
            </a:extLst>
          </p:cNvPr>
          <p:cNvSpPr>
            <a:spLocks xmlns:a="http://schemas.openxmlformats.org/drawingml/2006/main" noGrp="1"/>
          </p:cNvSpPr>
          <p:nvPr/>
        </p:nvSpPr>
        <p:spPr>
          <a:xfrm xmlns:a="http://schemas.openxmlformats.org/drawingml/2006/main">
            <a:off x="5133975" y="3752850"/>
            <a:ext cx="29146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1050" b="0" i="0">
                <a:solidFill>
                  <a:srgbClr val="262626"/>
                </a:solidFill>
                <a:latin typeface="Arial"/>
                <a:ea typeface="Arial"/>
                <a:cs typeface="Arial"/>
              </a:defRPr>
            </a:pPr>
            <a:r>
              <a:rPr sz="1050" b="0" i="0">
                <a:solidFill>
                  <a:srgbClr val="262626"/>
                </a:solidFill>
                <a:latin typeface="Arial"/>
                <a:ea typeface="Arial"/>
                <a:cs typeface="Arial"/>
              </a:rPr>
              <a:t>Same structure, cell, constraint, k-mesh, reference, and magnetic protocol.</a:t>
            </a:r>
          </a:p>
          <a:p xmlns:a="http://schemas.openxmlformats.org/drawingml/2006/main">
            <a:pPr algn="l">
              <a:defRPr sz="1050" b="0" i="0">
                <a:solidFill>
                  <a:srgbClr val="262626"/>
                </a:solidFill>
                <a:latin typeface="Arial"/>
                <a:ea typeface="Arial"/>
                <a:cs typeface="Arial"/>
              </a:defRPr>
            </a:pPr>
            <a:r>
              <a:rPr sz="1050" b="0" i="0">
                <a:solidFill>
                  <a:srgbClr val="262626"/>
                </a:solidFill>
                <a:latin typeface="Arial"/>
                <a:ea typeface="Arial"/>
                <a:cs typeface="Arial"/>
              </a:rPr>
              <a:t>Compare only inside one protocol lineage.</a:t>
            </a:r>
          </a:p>
        </p:txBody>
      </p:sp>
      <p:sp>
        <p:nvSpPr>
          <p:cNvPr id="29" name="s16-take">
            <a:extLst xmlns:a="http://schemas.openxmlformats.org/drawingml/2006/main">
              <a:ext uri="{FF2B5EF4-FFF2-40B4-BE49-F238E27FC236}">
                <a16:creationId xmlns:a16="http://schemas.microsoft.com/office/drawing/2014/main" id="{CE388C19-AD8B-4DA2-A037-CD7DEE31E6BF}"/>
              </a:ext>
            </a:extLst>
          </p:cNvPr>
          <p:cNvSpPr>
            <a:spLocks xmlns:a="http://schemas.openxmlformats.org/drawingml/2006/main" noGrp="1"/>
          </p:cNvSpPr>
          <p:nvPr/>
        </p:nvSpPr>
        <p:spPr>
          <a:xfrm xmlns:a="http://schemas.openxmlformats.org/drawingml/2006/main">
            <a:off x="1619250" y="5572125"/>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313" b="1" i="0">
                <a:solidFill>
                  <a:srgbClr val="9E2A2B"/>
                </a:solidFill>
                <a:latin typeface="Arial"/>
                <a:ea typeface="Arial"/>
                <a:cs typeface="Arial"/>
              </a:defRPr>
            </a:pPr>
            <a:r>
              <a:rPr sz="1313" b="1" i="0">
                <a:solidFill>
                  <a:srgbClr val="9E2A2B"/>
                </a:solidFill>
                <a:latin typeface="Arial"/>
                <a:ea typeface="Arial"/>
                <a:cs typeface="Arial"/>
              </a:rPr>
              <a:t>The 47-candidate result is a relative screen — not 47 DFT confirmations.</a:t>
            </a:r>
          </a:p>
        </p:txBody>
      </p:sp>
    </p:spTree>
    <p:extLst>
      <p:ext uri="{BB962C8B-B14F-4D97-AF65-F5344CB8AC3E}">
        <p14:creationId xmlns:p14="http://schemas.microsoft.com/office/powerpoint/2010/main" val="1396119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ML roadmap</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UMA screen + co-doping hypothesis model</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ML is already here — but it is not yet a discovery model</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17</a:t>
            </a:r>
            <a:endParaRPr sz="1000"/>
          </a:p>
        </p:txBody>
      </p:sp>
      <p:sp>
        <p:nvSpPr>
          <p:cNvPr id="11" name="s17-uma-box">
            <a:extLst xmlns:a="http://schemas.openxmlformats.org/drawingml/2006/main">
              <a:ext uri="{FF2B5EF4-FFF2-40B4-BE49-F238E27FC236}">
                <a16:creationId xmlns:a16="http://schemas.microsoft.com/office/drawing/2014/main" id="{4156BF71-299F-4479-AFA1-A4793B2302CB}"/>
              </a:ext>
            </a:extLst>
          </p:cNvPr>
          <p:cNvSpPr>
            <a:spLocks xmlns:a="http://schemas.openxmlformats.org/drawingml/2006/main" noGrp="1"/>
          </p:cNvSpPr>
          <p:nvPr/>
        </p:nvSpPr>
        <p:spPr>
          <a:xfrm xmlns:a="http://schemas.openxmlformats.org/drawingml/2006/main">
            <a:off x="666750" y="1619250"/>
            <a:ext cx="2762250" cy="2095500"/>
          </a:xfrm>
          <a:prstGeom xmlns:a="http://schemas.openxmlformats.org/drawingml/2006/main" prst="roundRect">
            <a:avLst>
              <a:gd name="adj" fmla="val 3636"/>
            </a:avLst>
          </a:prstGeom>
          <a:solidFill xmlns:a="http://schemas.openxmlformats.org/drawingml/2006/main">
            <a:srgbClr val="F3F7FB"/>
          </a:solidFill>
          <a:ln xmlns:a="http://schemas.openxmlformats.org/drawingml/2006/main" w="9525">
            <a:solidFill>
              <a:srgbClr val="D9E1F2"/>
            </a:solidFill>
            <a:prstDash val="solid"/>
          </a:ln>
        </p:spPr>
      </p:sp>
      <p:sp>
        <p:nvSpPr>
          <p:cNvPr id="12" name="s17-uma-accent">
            <a:extLst xmlns:a="http://schemas.openxmlformats.org/drawingml/2006/main">
              <a:ext uri="{FF2B5EF4-FFF2-40B4-BE49-F238E27FC236}">
                <a16:creationId xmlns:a16="http://schemas.microsoft.com/office/drawing/2014/main" id="{30977976-41A1-435A-9AFF-274DD3417E80}"/>
              </a:ext>
            </a:extLst>
          </p:cNvPr>
          <p:cNvSpPr>
            <a:spLocks xmlns:a="http://schemas.openxmlformats.org/drawingml/2006/main" noGrp="1"/>
          </p:cNvSpPr>
          <p:nvPr/>
        </p:nvSpPr>
        <p:spPr>
          <a:xfrm xmlns:a="http://schemas.openxmlformats.org/drawingml/2006/main">
            <a:off x="666750" y="1619250"/>
            <a:ext cx="66675" cy="2095500"/>
          </a:xfrm>
          <a:prstGeom xmlns:a="http://schemas.openxmlformats.org/drawingml/2006/main" prst="rect">
            <a:avLst/>
          </a:prstGeom>
          <a:solidFill xmlns:a="http://schemas.openxmlformats.org/drawingml/2006/main">
            <a:srgbClr val="0070C0"/>
          </a:solidFill>
          <a:ln xmlns:a="http://schemas.openxmlformats.org/drawingml/2006/main" w="0">
            <a:solidFill>
              <a:srgbClr val="0070C0"/>
            </a:solidFill>
            <a:prstDash val="solid"/>
          </a:ln>
        </p:spPr>
      </p:sp>
      <p:sp>
        <p:nvSpPr>
          <p:cNvPr id="13" name="s17-uma-title">
            <a:extLst xmlns:a="http://schemas.openxmlformats.org/drawingml/2006/main">
              <a:ext uri="{FF2B5EF4-FFF2-40B4-BE49-F238E27FC236}">
                <a16:creationId xmlns:a16="http://schemas.microsoft.com/office/drawing/2014/main" id="{D9936A2A-8FB9-4A78-A031-6294FC2D6E22}"/>
              </a:ext>
            </a:extLst>
          </p:cNvPr>
          <p:cNvSpPr>
            <a:spLocks xmlns:a="http://schemas.openxmlformats.org/drawingml/2006/main" noGrp="1"/>
          </p:cNvSpPr>
          <p:nvPr/>
        </p:nvSpPr>
        <p:spPr>
          <a:xfrm xmlns:a="http://schemas.openxmlformats.org/drawingml/2006/main">
            <a:off x="800100" y="1695450"/>
            <a:ext cx="2533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71429"/>
          </a:bodyPr>
          <a:lstStyle xmlns:a="http://schemas.openxmlformats.org/drawingml/2006/main"/>
          <a:p xmlns:a="http://schemas.openxmlformats.org/drawingml/2006/main">
            <a:pPr algn="l">
              <a:defRPr sz="1575" b="1" i="0">
                <a:solidFill>
                  <a:srgbClr val="1F4E79"/>
                </a:solidFill>
                <a:latin typeface="Arial"/>
                <a:ea typeface="Arial"/>
                <a:cs typeface="Arial"/>
              </a:defRPr>
            </a:pPr>
            <a:r>
              <a:rPr sz="1575" b="1" i="0">
                <a:solidFill>
                  <a:srgbClr val="1F4E79"/>
                </a:solidFill>
                <a:latin typeface="Arial"/>
                <a:ea typeface="Arial"/>
                <a:cs typeface="Arial"/>
              </a:rPr>
              <a:t>UMA MLIP</a:t>
            </a:r>
          </a:p>
        </p:txBody>
      </p:sp>
      <p:sp>
        <p:nvSpPr>
          <p:cNvPr id="14" name="s17-uma-body">
            <a:extLst xmlns:a="http://schemas.openxmlformats.org/drawingml/2006/main">
              <a:ext uri="{FF2B5EF4-FFF2-40B4-BE49-F238E27FC236}">
                <a16:creationId xmlns:a16="http://schemas.microsoft.com/office/drawing/2014/main" id="{68266AA0-083C-46AD-9FEF-802A8C27A3A0}"/>
              </a:ext>
            </a:extLst>
          </p:cNvPr>
          <p:cNvSpPr>
            <a:spLocks xmlns:a="http://schemas.openxmlformats.org/drawingml/2006/main" noGrp="1"/>
          </p:cNvSpPr>
          <p:nvPr/>
        </p:nvSpPr>
        <p:spPr>
          <a:xfrm xmlns:a="http://schemas.openxmlformats.org/drawingml/2006/main">
            <a:off x="800100" y="1990725"/>
            <a:ext cx="25336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Energy and force surrogate</a:t>
            </a:r>
          </a:p>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Fast configuration search</a:t>
            </a:r>
          </a:p>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Same-protocol relative screen</a:t>
            </a:r>
          </a:p>
        </p:txBody>
      </p:sp>
      <p:sp>
        <p:nvSpPr>
          <p:cNvPr id="15" name="s17-a">
            <a:extLst xmlns:a="http://schemas.openxmlformats.org/drawingml/2006/main">
              <a:ext uri="{FF2B5EF4-FFF2-40B4-BE49-F238E27FC236}">
                <a16:creationId xmlns:a16="http://schemas.microsoft.com/office/drawing/2014/main" id="{E0A77BD1-A187-4E00-805A-28D4A5442211}"/>
              </a:ext>
            </a:extLst>
          </p:cNvPr>
          <p:cNvSpPr>
            <a:spLocks xmlns:a="http://schemas.openxmlformats.org/drawingml/2006/main" noGrp="1"/>
          </p:cNvSpPr>
          <p:nvPr/>
        </p:nvSpPr>
        <p:spPr>
          <a:xfrm xmlns:a="http://schemas.openxmlformats.org/drawingml/2006/main">
            <a:off x="3667125" y="2333625"/>
            <a:ext cx="904875" cy="438150"/>
          </a:xfrm>
          <a:prstGeom xmlns:a="http://schemas.openxmlformats.org/drawingml/2006/main" prst="rightArrow">
            <a:avLst/>
          </a:prstGeom>
          <a:solidFill xmlns:a="http://schemas.openxmlformats.org/drawingml/2006/main">
            <a:srgbClr val="DCE6F1"/>
          </a:solidFill>
          <a:ln xmlns:a="http://schemas.openxmlformats.org/drawingml/2006/main" w="9525">
            <a:solidFill>
              <a:srgbClr val="0070C0"/>
            </a:solidFill>
            <a:prstDash val="solid"/>
          </a:ln>
        </p:spPr>
      </p:sp>
      <p:sp>
        <p:nvSpPr>
          <p:cNvPr id="16" name="s17-gate-box">
            <a:extLst xmlns:a="http://schemas.openxmlformats.org/drawingml/2006/main">
              <a:ext uri="{FF2B5EF4-FFF2-40B4-BE49-F238E27FC236}">
                <a16:creationId xmlns:a16="http://schemas.microsoft.com/office/drawing/2014/main" id="{FDE9717B-B8C3-4E58-8D24-A8B7AECFF5C7}"/>
              </a:ext>
            </a:extLst>
          </p:cNvPr>
          <p:cNvSpPr>
            <a:spLocks xmlns:a="http://schemas.openxmlformats.org/drawingml/2006/main" noGrp="1"/>
          </p:cNvSpPr>
          <p:nvPr/>
        </p:nvSpPr>
        <p:spPr>
          <a:xfrm xmlns:a="http://schemas.openxmlformats.org/drawingml/2006/main">
            <a:off x="4810125" y="1619250"/>
            <a:ext cx="2762250" cy="2095500"/>
          </a:xfrm>
          <a:prstGeom xmlns:a="http://schemas.openxmlformats.org/drawingml/2006/main" prst="roundRect">
            <a:avLst>
              <a:gd name="adj" fmla="val 3636"/>
            </a:avLst>
          </a:prstGeom>
          <a:solidFill xmlns:a="http://schemas.openxmlformats.org/drawingml/2006/main">
            <a:srgbClr val="E8F5E9"/>
          </a:solidFill>
          <a:ln xmlns:a="http://schemas.openxmlformats.org/drawingml/2006/main" w="9525">
            <a:solidFill>
              <a:srgbClr val="D9E1F2"/>
            </a:solidFill>
            <a:prstDash val="solid"/>
          </a:ln>
        </p:spPr>
      </p:sp>
      <p:sp>
        <p:nvSpPr>
          <p:cNvPr id="17" name="s17-gate-accent">
            <a:extLst xmlns:a="http://schemas.openxmlformats.org/drawingml/2006/main">
              <a:ext uri="{FF2B5EF4-FFF2-40B4-BE49-F238E27FC236}">
                <a16:creationId xmlns:a16="http://schemas.microsoft.com/office/drawing/2014/main" id="{1DE5B76B-A35F-4810-AAA4-45C267F62CF2}"/>
              </a:ext>
            </a:extLst>
          </p:cNvPr>
          <p:cNvSpPr>
            <a:spLocks xmlns:a="http://schemas.openxmlformats.org/drawingml/2006/main" noGrp="1"/>
          </p:cNvSpPr>
          <p:nvPr/>
        </p:nvSpPr>
        <p:spPr>
          <a:xfrm xmlns:a="http://schemas.openxmlformats.org/drawingml/2006/main">
            <a:off x="4810125" y="1619250"/>
            <a:ext cx="66675" cy="2095500"/>
          </a:xfrm>
          <a:prstGeom xmlns:a="http://schemas.openxmlformats.org/drawingml/2006/main" prst="rect">
            <a:avLst/>
          </a:prstGeom>
          <a:solidFill xmlns:a="http://schemas.openxmlformats.org/drawingml/2006/main">
            <a:srgbClr val="2E7D32"/>
          </a:solidFill>
          <a:ln xmlns:a="http://schemas.openxmlformats.org/drawingml/2006/main" w="0">
            <a:solidFill>
              <a:srgbClr val="2E7D32"/>
            </a:solidFill>
            <a:prstDash val="solid"/>
          </a:ln>
        </p:spPr>
      </p:sp>
      <p:sp>
        <p:nvSpPr>
          <p:cNvPr id="18" name="s17-gate-title">
            <a:extLst xmlns:a="http://schemas.openxmlformats.org/drawingml/2006/main">
              <a:ext uri="{FF2B5EF4-FFF2-40B4-BE49-F238E27FC236}">
                <a16:creationId xmlns:a16="http://schemas.microsoft.com/office/drawing/2014/main" id="{0EBFFA75-8464-428D-B368-161224ED200E}"/>
              </a:ext>
            </a:extLst>
          </p:cNvPr>
          <p:cNvSpPr>
            <a:spLocks xmlns:a="http://schemas.openxmlformats.org/drawingml/2006/main" noGrp="1"/>
          </p:cNvSpPr>
          <p:nvPr/>
        </p:nvSpPr>
        <p:spPr>
          <a:xfrm xmlns:a="http://schemas.openxmlformats.org/drawingml/2006/main">
            <a:off x="4943475" y="1695450"/>
            <a:ext cx="2533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71429"/>
          </a:bodyPr>
          <a:lstStyle xmlns:a="http://schemas.openxmlformats.org/drawingml/2006/main"/>
          <a:p xmlns:a="http://schemas.openxmlformats.org/drawingml/2006/main">
            <a:pPr algn="l">
              <a:defRPr sz="1575" b="1" i="0">
                <a:solidFill>
                  <a:srgbClr val="1F4E79"/>
                </a:solidFill>
                <a:latin typeface="Arial"/>
                <a:ea typeface="Arial"/>
                <a:cs typeface="Arial"/>
              </a:defRPr>
            </a:pPr>
            <a:r>
              <a:rPr sz="1575" b="1" i="0">
                <a:solidFill>
                  <a:srgbClr val="1F4E79"/>
                </a:solidFill>
                <a:latin typeface="Arial"/>
                <a:ea typeface="Arial"/>
                <a:cs typeface="Arial"/>
              </a:rPr>
              <a:t>Physics cascade</a:t>
            </a:r>
          </a:p>
        </p:txBody>
      </p:sp>
      <p:sp>
        <p:nvSpPr>
          <p:cNvPr id="19" name="s17-gate-body">
            <a:extLst xmlns:a="http://schemas.openxmlformats.org/drawingml/2006/main">
              <a:ext uri="{FF2B5EF4-FFF2-40B4-BE49-F238E27FC236}">
                <a16:creationId xmlns:a16="http://schemas.microsoft.com/office/drawing/2014/main" id="{11E877B3-4765-4927-A5BA-ED7902DE317A}"/>
              </a:ext>
            </a:extLst>
          </p:cNvPr>
          <p:cNvSpPr>
            <a:spLocks xmlns:a="http://schemas.openxmlformats.org/drawingml/2006/main" noGrp="1"/>
          </p:cNvSpPr>
          <p:nvPr/>
        </p:nvSpPr>
        <p:spPr>
          <a:xfrm xmlns:a="http://schemas.openxmlformats.org/drawingml/2006/main">
            <a:off x="4943475" y="1990725"/>
            <a:ext cx="25336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Gate pass / fail</a:t>
            </a:r>
          </a:p>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Trade-off structure</a:t>
            </a:r>
          </a:p>
          <a:p xmlns:a="http://schemas.openxmlformats.org/drawingml/2006/main">
            <a:pPr algn="l">
              <a:defRPr sz="1125" b="0" i="0">
                <a:solidFill>
                  <a:srgbClr val="262626"/>
                </a:solidFill>
                <a:latin typeface="Arial"/>
                <a:ea typeface="Arial"/>
                <a:cs typeface="Arial"/>
              </a:defRPr>
            </a:pPr>
            <a:r>
              <a:rPr sz="1125" b="0" i="0">
                <a:solidFill>
                  <a:srgbClr val="262626"/>
                </a:solidFill>
                <a:latin typeface="Arial"/>
                <a:ea typeface="Arial"/>
                <a:cs typeface="Arial"/>
              </a:rPr>
              <a:t>Shortlist for expensive validation</a:t>
            </a:r>
          </a:p>
        </p:txBody>
      </p:sp>
      <p:sp>
        <p:nvSpPr>
          <p:cNvPr id="20" name="s17-line">
            <a:extLst xmlns:a="http://schemas.openxmlformats.org/drawingml/2006/main">
              <a:ext uri="{FF2B5EF4-FFF2-40B4-BE49-F238E27FC236}">
                <a16:creationId xmlns:a16="http://schemas.microsoft.com/office/drawing/2014/main" id="{1DE419E7-4527-40AB-A6EE-A5B4FD80BF3D}"/>
              </a:ext>
            </a:extLst>
          </p:cNvPr>
          <p:cNvSpPr>
            <a:spLocks xmlns:a="http://schemas.openxmlformats.org/drawingml/2006/main" noGrp="1"/>
          </p:cNvSpPr>
          <p:nvPr/>
        </p:nvSpPr>
        <p:spPr>
          <a:xfrm xmlns:a="http://schemas.openxmlformats.org/drawingml/2006/main">
            <a:off x="1000125" y="4000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50" b="1" i="0">
                <a:solidFill>
                  <a:srgbClr val="2E7D32"/>
                </a:solidFill>
                <a:latin typeface="Arial"/>
                <a:ea typeface="Arial"/>
                <a:cs typeface="Arial"/>
              </a:defRPr>
            </a:pPr>
            <a:r>
              <a:rPr sz="1050" b="1" i="0">
                <a:solidFill>
                  <a:srgbClr val="2E7D32"/>
                </a:solidFill>
                <a:latin typeface="Arial"/>
                <a:ea typeface="Arial"/>
                <a:cs typeface="Arial"/>
              </a:rPr>
              <a:t>CALCULATED / GATED</a:t>
            </a:r>
          </a:p>
        </p:txBody>
      </p:sp>
      <p:sp>
        <p:nvSpPr>
          <p:cNvPr id="21" name="s17-bound">
            <a:extLst xmlns:a="http://schemas.openxmlformats.org/drawingml/2006/main">
              <a:ext uri="{FF2B5EF4-FFF2-40B4-BE49-F238E27FC236}">
                <a16:creationId xmlns:a16="http://schemas.microsoft.com/office/drawing/2014/main" id="{2E167B27-F3C7-4769-BB8B-0A81030977B1}"/>
              </a:ext>
            </a:extLst>
          </p:cNvPr>
          <p:cNvSpPr>
            <a:spLocks xmlns:a="http://schemas.openxmlformats.org/drawingml/2006/main" noGrp="1"/>
          </p:cNvSpPr>
          <p:nvPr/>
        </p:nvSpPr>
        <p:spPr>
          <a:xfrm xmlns:a="http://schemas.openxmlformats.org/drawingml/2006/main">
            <a:off x="4000500" y="4000500"/>
            <a:ext cx="1619250" cy="342900"/>
          </a:xfrm>
          <a:prstGeom xmlns:a="http://schemas.openxmlformats.org/drawingml/2006/main" prst="rect">
            <a:avLst/>
          </a:prstGeom>
          <a:solidFill xmlns:a="http://schemas.openxmlformats.org/drawingml/2006/main">
            <a:srgbClr val="FBE9E7"/>
          </a:solidFill>
          <a:ln xmlns:a="http://schemas.openxmlformats.org/drawingml/2006/main" w="9525">
            <a:solidFill>
              <a:srgbClr val="9E2A2B"/>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75" b="1" i="0">
                <a:solidFill>
                  <a:srgbClr val="9E2A2B"/>
                </a:solidFill>
                <a:latin typeface="Arial"/>
                <a:ea typeface="Arial"/>
                <a:cs typeface="Arial"/>
              </a:defRPr>
            </a:pPr>
            <a:r>
              <a:rPr sz="975" b="1" i="0">
                <a:solidFill>
                  <a:srgbClr val="9E2A2B"/>
                </a:solidFill>
                <a:latin typeface="Arial"/>
                <a:ea typeface="Arial"/>
                <a:cs typeface="Arial"/>
              </a:rPr>
              <a:t>VALIDATION BOUNDARY</a:t>
            </a:r>
          </a:p>
        </p:txBody>
      </p:sp>
      <p:sp>
        <p:nvSpPr>
          <p:cNvPr id="22" name="s17-unval">
            <a:extLst xmlns:a="http://schemas.openxmlformats.org/drawingml/2006/main">
              <a:ext uri="{FF2B5EF4-FFF2-40B4-BE49-F238E27FC236}">
                <a16:creationId xmlns:a16="http://schemas.microsoft.com/office/drawing/2014/main" id="{44559C91-CC33-4EAC-AAE7-93DE97860D29}"/>
              </a:ext>
            </a:extLst>
          </p:cNvPr>
          <p:cNvSpPr>
            <a:spLocks xmlns:a="http://schemas.openxmlformats.org/drawingml/2006/main" noGrp="1"/>
          </p:cNvSpPr>
          <p:nvPr/>
        </p:nvSpPr>
        <p:spPr>
          <a:xfrm xmlns:a="http://schemas.openxmlformats.org/drawingml/2006/main">
            <a:off x="5619750" y="4000500"/>
            <a:ext cx="2428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50" b="1" i="0">
                <a:solidFill>
                  <a:srgbClr val="9E2A2B"/>
                </a:solidFill>
                <a:latin typeface="Arial"/>
                <a:ea typeface="Arial"/>
                <a:cs typeface="Arial"/>
              </a:defRPr>
            </a:pPr>
            <a:r>
              <a:rPr sz="1050" b="1" i="0">
                <a:solidFill>
                  <a:srgbClr val="9E2A2B"/>
                </a:solidFill>
                <a:latin typeface="Arial"/>
                <a:ea typeface="Arial"/>
                <a:cs typeface="Arial"/>
              </a:rPr>
              <a:t>NOT YET VALIDATED</a:t>
            </a:r>
          </a:p>
        </p:txBody>
      </p:sp>
      <p:sp>
        <p:nvSpPr>
          <p:cNvPr id="23" name="s17-ridge-box">
            <a:extLst xmlns:a="http://schemas.openxmlformats.org/drawingml/2006/main">
              <a:ext uri="{FF2B5EF4-FFF2-40B4-BE49-F238E27FC236}">
                <a16:creationId xmlns:a16="http://schemas.microsoft.com/office/drawing/2014/main" id="{CCF49D52-ECD4-4098-AADC-5B8FAA778DF5}"/>
              </a:ext>
            </a:extLst>
          </p:cNvPr>
          <p:cNvSpPr>
            <a:spLocks xmlns:a="http://schemas.openxmlformats.org/drawingml/2006/main" noGrp="1"/>
          </p:cNvSpPr>
          <p:nvPr/>
        </p:nvSpPr>
        <p:spPr>
          <a:xfrm xmlns:a="http://schemas.openxmlformats.org/drawingml/2006/main">
            <a:off x="1714500" y="4524375"/>
            <a:ext cx="5715000" cy="1190625"/>
          </a:xfrm>
          <a:prstGeom xmlns:a="http://schemas.openxmlformats.org/drawingml/2006/main" prst="roundRect">
            <a:avLst>
              <a:gd name="adj" fmla="val 6400"/>
            </a:avLst>
          </a:prstGeom>
          <a:solidFill xmlns:a="http://schemas.openxmlformats.org/drawingml/2006/main">
            <a:srgbClr val="FFF4E0"/>
          </a:solidFill>
          <a:ln xmlns:a="http://schemas.openxmlformats.org/drawingml/2006/main" w="9525">
            <a:solidFill>
              <a:srgbClr val="D9E1F2"/>
            </a:solidFill>
            <a:prstDash val="solid"/>
          </a:ln>
        </p:spPr>
      </p:sp>
      <p:sp>
        <p:nvSpPr>
          <p:cNvPr id="24" name="s17-ridge-accent">
            <a:extLst xmlns:a="http://schemas.openxmlformats.org/drawingml/2006/main">
              <a:ext uri="{FF2B5EF4-FFF2-40B4-BE49-F238E27FC236}">
                <a16:creationId xmlns:a16="http://schemas.microsoft.com/office/drawing/2014/main" id="{385C8987-31A1-4C3C-A51C-0A0648A84078}"/>
              </a:ext>
            </a:extLst>
          </p:cNvPr>
          <p:cNvSpPr>
            <a:spLocks xmlns:a="http://schemas.openxmlformats.org/drawingml/2006/main" noGrp="1"/>
          </p:cNvSpPr>
          <p:nvPr/>
        </p:nvSpPr>
        <p:spPr>
          <a:xfrm xmlns:a="http://schemas.openxmlformats.org/drawingml/2006/main">
            <a:off x="1714500" y="4524375"/>
            <a:ext cx="66675" cy="1190625"/>
          </a:xfrm>
          <a:prstGeom xmlns:a="http://schemas.openxmlformats.org/drawingml/2006/main" prst="rect">
            <a:avLst/>
          </a:prstGeom>
          <a:solidFill xmlns:a="http://schemas.openxmlformats.org/drawingml/2006/main">
            <a:srgbClr val="B26A00"/>
          </a:solidFill>
          <a:ln xmlns:a="http://schemas.openxmlformats.org/drawingml/2006/main" w="0">
            <a:solidFill>
              <a:srgbClr val="B26A00"/>
            </a:solidFill>
            <a:prstDash val="solid"/>
          </a:ln>
        </p:spPr>
      </p:sp>
      <p:sp>
        <p:nvSpPr>
          <p:cNvPr id="25" name="s17-ridge-title">
            <a:extLst xmlns:a="http://schemas.openxmlformats.org/drawingml/2006/main">
              <a:ext uri="{FF2B5EF4-FFF2-40B4-BE49-F238E27FC236}">
                <a16:creationId xmlns:a16="http://schemas.microsoft.com/office/drawing/2014/main" id="{E29C939C-C1F8-4431-872E-5492DB42B624}"/>
              </a:ext>
            </a:extLst>
          </p:cNvPr>
          <p:cNvSpPr>
            <a:spLocks xmlns:a="http://schemas.openxmlformats.org/drawingml/2006/main" noGrp="1"/>
          </p:cNvSpPr>
          <p:nvPr/>
        </p:nvSpPr>
        <p:spPr>
          <a:xfrm xmlns:a="http://schemas.openxmlformats.org/drawingml/2006/main">
            <a:off x="1847850" y="4600575"/>
            <a:ext cx="548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83333"/>
          </a:bodyPr>
          <a:lstStyle xmlns:a="http://schemas.openxmlformats.org/drawingml/2006/main"/>
          <a:p xmlns:a="http://schemas.openxmlformats.org/drawingml/2006/main">
            <a:pPr algn="l">
              <a:defRPr sz="1350" b="1" i="0">
                <a:solidFill>
                  <a:srgbClr val="1F4E79"/>
                </a:solidFill>
                <a:latin typeface="Arial"/>
                <a:ea typeface="Arial"/>
                <a:cs typeface="Arial"/>
              </a:defRPr>
            </a:pPr>
            <a:r>
              <a:rPr sz="1350" b="1" i="0">
                <a:solidFill>
                  <a:srgbClr val="1F4E79"/>
                </a:solidFill>
                <a:latin typeface="Arial"/>
                <a:ea typeface="Arial"/>
                <a:cs typeface="Arial"/>
              </a:rPr>
              <a:t>Co-doping ML v2</a:t>
            </a:r>
          </a:p>
        </p:txBody>
      </p:sp>
      <p:sp>
        <p:nvSpPr>
          <p:cNvPr id="26" name="s17-ridge-body">
            <a:extLst xmlns:a="http://schemas.openxmlformats.org/drawingml/2006/main">
              <a:ext uri="{FF2B5EF4-FFF2-40B4-BE49-F238E27FC236}">
                <a16:creationId xmlns:a16="http://schemas.microsoft.com/office/drawing/2014/main" id="{0659AFDD-B96F-40D2-9642-57D089F84C66}"/>
              </a:ext>
            </a:extLst>
          </p:cNvPr>
          <p:cNvSpPr>
            <a:spLocks xmlns:a="http://schemas.openxmlformats.org/drawingml/2006/main" noGrp="1"/>
          </p:cNvSpPr>
          <p:nvPr/>
        </p:nvSpPr>
        <p:spPr>
          <a:xfrm xmlns:a="http://schemas.openxmlformats.org/drawingml/2006/main">
            <a:off x="1847850" y="4895850"/>
            <a:ext cx="54864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t">
            <a:normAutofit fontScale="100000"/>
          </a:bodyPr>
          <a:lstStyle xmlns:a="http://schemas.openxmlformats.org/drawingml/2006/main"/>
          <a:p xmlns:a="http://schemas.openxmlformats.org/drawingml/2006/main">
            <a:pPr algn="l">
              <a:defRPr sz="1013" b="0" i="0">
                <a:solidFill>
                  <a:srgbClr val="262626"/>
                </a:solidFill>
                <a:latin typeface="Arial"/>
                <a:ea typeface="Arial"/>
                <a:cs typeface="Arial"/>
              </a:defRPr>
            </a:pPr>
            <a:r>
              <a:rPr sz="1013" b="0" i="0">
                <a:solidFill>
                  <a:srgbClr val="262626"/>
                </a:solidFill>
                <a:latin typeface="Arial"/>
                <a:ea typeface="Arial"/>
                <a:cs typeface="Arial"/>
              </a:rPr>
              <a:t>47 single-dopant scores → 1,081 pair hypotheses</a:t>
            </a:r>
          </a:p>
          <a:p xmlns:a="http://schemas.openxmlformats.org/drawingml/2006/main">
            <a:pPr algn="l">
              <a:defRPr sz="1013" b="0" i="0">
                <a:solidFill>
                  <a:srgbClr val="262626"/>
                </a:solidFill>
                <a:latin typeface="Arial"/>
                <a:ea typeface="Arial"/>
                <a:cs typeface="Arial"/>
              </a:defRPr>
            </a:pPr>
            <a:r>
              <a:rPr sz="1013" b="0" i="0">
                <a:solidFill>
                  <a:srgbClr val="262626"/>
                </a:solidFill>
                <a:latin typeface="Arial"/>
                <a:ea typeface="Arial"/>
                <a:cs typeface="Arial"/>
              </a:rPr>
              <a:t>No real co-doped labels yet</a:t>
            </a:r>
          </a:p>
          <a:p xmlns:a="http://schemas.openxmlformats.org/drawingml/2006/main">
            <a:pPr algn="l">
              <a:defRPr sz="1013" b="0" i="0">
                <a:solidFill>
                  <a:srgbClr val="262626"/>
                </a:solidFill>
                <a:latin typeface="Arial"/>
                <a:ea typeface="Arial"/>
                <a:cs typeface="Arial"/>
              </a:defRPr>
            </a:pPr>
            <a:r>
              <a:rPr sz="1013" b="0" i="0">
                <a:solidFill>
                  <a:srgbClr val="262626"/>
                </a:solidFill>
                <a:latin typeface="Arial"/>
                <a:ea typeface="Arial"/>
                <a:cs typeface="Arial"/>
              </a:rPr>
              <a:t>LODO / L2DO R² &lt; 0</a:t>
            </a:r>
          </a:p>
        </p:txBody>
      </p:sp>
      <p:sp>
        <p:nvSpPr>
          <p:cNvPr id="27" name="s17-take">
            <a:extLst xmlns:a="http://schemas.openxmlformats.org/drawingml/2006/main">
              <a:ext uri="{FF2B5EF4-FFF2-40B4-BE49-F238E27FC236}">
                <a16:creationId xmlns:a16="http://schemas.microsoft.com/office/drawing/2014/main" id="{0A1B0674-A570-4487-B257-20B9088E64B3}"/>
              </a:ext>
            </a:extLst>
          </p:cNvPr>
          <p:cNvSpPr>
            <a:spLocks xmlns:a="http://schemas.openxmlformats.org/drawingml/2006/main" noGrp="1"/>
          </p:cNvSpPr>
          <p:nvPr/>
        </p:nvSpPr>
        <p:spPr>
          <a:xfrm xmlns:a="http://schemas.openxmlformats.org/drawingml/2006/main">
            <a:off x="1381125" y="5857875"/>
            <a:ext cx="638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i="0">
                <a:solidFill>
                  <a:srgbClr val="1F4E79"/>
                </a:solidFill>
                <a:latin typeface="Arial"/>
                <a:ea typeface="Arial"/>
                <a:cs typeface="Arial"/>
              </a:defRPr>
            </a:pPr>
            <a:r>
              <a:rPr sz="1163" b="1" i="0">
                <a:solidFill>
                  <a:srgbClr val="1F4E79"/>
                </a:solidFill>
                <a:latin typeface="Arial"/>
                <a:ea typeface="Arial"/>
                <a:cs typeface="Arial"/>
              </a:rPr>
              <a:t>Current role: cost reduction + hypothesis ordering, not discovery certification.</a:t>
            </a:r>
          </a:p>
        </p:txBody>
      </p:sp>
    </p:spTree>
    <p:extLst>
      <p:ext uri="{BB962C8B-B14F-4D97-AF65-F5344CB8AC3E}">
        <p14:creationId xmlns:p14="http://schemas.microsoft.com/office/powerpoint/2010/main" val="139611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2AC68E-A430-4E1D-B70D-DCB247DE7D49}"/>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Outlook</a:t>
            </a:r>
            <a:endParaRPr sz="2600"/>
          </a:p>
        </p:txBody>
      </p:sp>
      <p:sp>
        <p:nvSpPr>
          <p:cNvPr id="3" name="Shape 1">
            <a:extLst xmlns:a="http://schemas.openxmlformats.org/drawingml/2006/main">
              <a:ext uri="{FF2B5EF4-FFF2-40B4-BE49-F238E27FC236}">
                <a16:creationId xmlns:a16="http://schemas.microsoft.com/office/drawing/2014/main" id="{7A9735BA-5B16-404A-ADF4-ED674174F8BB}"/>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Text 2">
            <a:extLst xmlns:a="http://schemas.openxmlformats.org/drawingml/2006/main">
              <a:ext uri="{FF2B5EF4-FFF2-40B4-BE49-F238E27FC236}">
                <a16:creationId xmlns:a16="http://schemas.microsoft.com/office/drawing/2014/main" id="{EA5F4B49-9161-4CDC-8C9C-1455756E73C1}"/>
              </a:ext>
            </a:extLst>
          </p:cNvPr>
          <p:cNvSpPr>
            <a:spLocks xmlns:a="http://schemas.openxmlformats.org/drawingml/2006/main" noGrp="1"/>
          </p:cNvSpPr>
          <p:nvPr/>
        </p:nvSpPr>
        <p:spPr>
          <a:xfrm xmlns:a="http://schemas.openxmlformats.org/drawingml/2006/main">
            <a:off x="4389120" y="256032"/>
            <a:ext cx="4251960" cy="2743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marL="0" indent="0" algn="r">
              <a:buNone/>
              <a:defRPr sz="850" i="1">
                <a:solidFill>
                  <a:srgbClr val="7F7F7F"/>
                </a:solidFill>
                <a:latin typeface="Arial"/>
                <a:ea typeface="Arial"/>
                <a:cs typeface="Arial"/>
              </a:defRPr>
            </a:pPr>
            <a:r>
              <a:rPr sz="850" i="1">
                <a:solidFill>
                  <a:srgbClr val="7F7F7F"/>
                </a:solidFill>
                <a:latin typeface="Arial"/>
                <a:ea typeface="Arial"/>
                <a:cs typeface="Arial"/>
              </a:rPr>
              <a:t>Pattern: Sendek 2017 · GNoME 2023 · Kim 2025</a:t>
            </a:r>
            <a:endParaRPr sz="850"/>
          </a:p>
        </p:txBody>
      </p:sp>
      <p:sp>
        <p:nvSpPr>
          <p:cNvPr id="5" name="Shape 3">
            <a:extLst xmlns:a="http://schemas.openxmlformats.org/drawingml/2006/main">
              <a:ext uri="{FF2B5EF4-FFF2-40B4-BE49-F238E27FC236}">
                <a16:creationId xmlns:a16="http://schemas.microsoft.com/office/drawing/2014/main" id="{A7E4AB5D-B657-451B-AED1-8B27C08EC70C}"/>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53F958B-A727-43C1-A6AE-3CB5A95525F8}"/>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The next cascade learns where to calculate next</a:t>
            </a:r>
            <a:endParaRPr sz="1500"/>
          </a:p>
        </p:txBody>
      </p:sp>
      <p:sp>
        <p:nvSpPr>
          <p:cNvPr id="8" name="Text 6">
            <a:extLst xmlns:a="http://schemas.openxmlformats.org/drawingml/2006/main">
              <a:ext uri="{FF2B5EF4-FFF2-40B4-BE49-F238E27FC236}">
                <a16:creationId xmlns:a16="http://schemas.microsoft.com/office/drawing/2014/main" id="{E0D92FD8-70C8-4F45-9B3E-96C7E57A6F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9" name="Text 7">
            <a:extLst xmlns:a="http://schemas.openxmlformats.org/drawingml/2006/main">
              <a:ext uri="{FF2B5EF4-FFF2-40B4-BE49-F238E27FC236}">
                <a16:creationId xmlns:a16="http://schemas.microsoft.com/office/drawing/2014/main" id="{F2048C18-86C2-4E90-BAD5-85B9C401476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10" name="Text 8">
            <a:extLst xmlns:a="http://schemas.openxmlformats.org/drawingml/2006/main">
              <a:ext uri="{FF2B5EF4-FFF2-40B4-BE49-F238E27FC236}">
                <a16:creationId xmlns:a16="http://schemas.microsoft.com/office/drawing/2014/main" id="{75442DBF-45B4-4EF0-AB48-DF4E55687F7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18</a:t>
            </a:r>
            <a:endParaRPr sz="1000"/>
          </a:p>
        </p:txBody>
      </p:sp>
      <p:sp>
        <p:nvSpPr>
          <p:cNvPr id="11" name="s18-loop-0">
            <a:extLst xmlns:a="http://schemas.openxmlformats.org/drawingml/2006/main">
              <a:ext uri="{FF2B5EF4-FFF2-40B4-BE49-F238E27FC236}">
                <a16:creationId xmlns:a16="http://schemas.microsoft.com/office/drawing/2014/main" id="{9528291E-8918-4254-BFAE-1ED356D4B501}"/>
              </a:ext>
            </a:extLst>
          </p:cNvPr>
          <p:cNvSpPr>
            <a:spLocks xmlns:a="http://schemas.openxmlformats.org/drawingml/2006/main" noGrp="1"/>
          </p:cNvSpPr>
          <p:nvPr/>
        </p:nvSpPr>
        <p:spPr>
          <a:xfrm xmlns:a="http://schemas.openxmlformats.org/drawingml/2006/main">
            <a:off x="3571875" y="1352550"/>
            <a:ext cx="200025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1F4E79"/>
            </a:solidFill>
            <a:prstDash val="solid"/>
          </a:ln>
        </p:spPr>
      </p:sp>
      <p:sp>
        <p:nvSpPr>
          <p:cNvPr id="12" name="s18-loop-t-0">
            <a:extLst xmlns:a="http://schemas.openxmlformats.org/drawingml/2006/main">
              <a:ext uri="{FF2B5EF4-FFF2-40B4-BE49-F238E27FC236}">
                <a16:creationId xmlns:a16="http://schemas.microsoft.com/office/drawing/2014/main" id="{E989B867-F846-45CD-89D3-49D1E803A4B7}"/>
              </a:ext>
            </a:extLst>
          </p:cNvPr>
          <p:cNvSpPr>
            <a:spLocks xmlns:a="http://schemas.openxmlformats.org/drawingml/2006/main" noGrp="1"/>
          </p:cNvSpPr>
          <p:nvPr/>
        </p:nvSpPr>
        <p:spPr>
          <a:xfrm xmlns:a="http://schemas.openxmlformats.org/drawingml/2006/main">
            <a:off x="3667125" y="14478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88" b="1" i="0">
                <a:solidFill>
                  <a:srgbClr val="1F4E79"/>
                </a:solidFill>
                <a:latin typeface="Arial"/>
                <a:ea typeface="Arial"/>
                <a:cs typeface="Arial"/>
              </a:defRPr>
            </a:pPr>
            <a:r>
              <a:rPr sz="1088" b="1" i="0">
                <a:solidFill>
                  <a:srgbClr val="1F4E79"/>
                </a:solidFill>
                <a:latin typeface="Arial"/>
                <a:ea typeface="Arial"/>
                <a:cs typeface="Arial"/>
              </a:rPr>
              <a:t>CANDIDATE SPACE</a:t>
            </a:r>
          </a:p>
        </p:txBody>
      </p:sp>
      <p:sp>
        <p:nvSpPr>
          <p:cNvPr id="13" name="s18-loop-b-0">
            <a:extLst xmlns:a="http://schemas.openxmlformats.org/drawingml/2006/main">
              <a:ext uri="{FF2B5EF4-FFF2-40B4-BE49-F238E27FC236}">
                <a16:creationId xmlns:a16="http://schemas.microsoft.com/office/drawing/2014/main" id="{134C7CC6-0FB8-4DBB-A7D6-72A96736E738}"/>
              </a:ext>
            </a:extLst>
          </p:cNvPr>
          <p:cNvSpPr>
            <a:spLocks xmlns:a="http://schemas.openxmlformats.org/drawingml/2006/main" noGrp="1"/>
          </p:cNvSpPr>
          <p:nvPr/>
        </p:nvSpPr>
        <p:spPr>
          <a:xfrm xmlns:a="http://schemas.openxmlformats.org/drawingml/2006/main">
            <a:off x="3667125" y="18288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15" b="0" i="0">
                <a:solidFill>
                  <a:srgbClr val="262626"/>
                </a:solidFill>
                <a:latin typeface="Arial"/>
                <a:ea typeface="Arial"/>
                <a:cs typeface="Arial"/>
              </a:defRPr>
            </a:pPr>
            <a:r>
              <a:rPr sz="915" b="0" i="0">
                <a:solidFill>
                  <a:srgbClr val="262626"/>
                </a:solidFill>
                <a:latin typeface="Arial"/>
                <a:ea typeface="Arial"/>
                <a:cs typeface="Arial"/>
              </a:rPr>
              <a:t>dopant × x × configuration</a:t>
            </a:r>
          </a:p>
        </p:txBody>
      </p:sp>
      <p:sp>
        <p:nvSpPr>
          <p:cNvPr id="14" name="s18-loop-1">
            <a:extLst xmlns:a="http://schemas.openxmlformats.org/drawingml/2006/main">
              <a:ext uri="{FF2B5EF4-FFF2-40B4-BE49-F238E27FC236}">
                <a16:creationId xmlns:a16="http://schemas.microsoft.com/office/drawing/2014/main" id="{D35CC2D2-3735-42A1-B485-56FBCF58FB60}"/>
              </a:ext>
            </a:extLst>
          </p:cNvPr>
          <p:cNvSpPr>
            <a:spLocks xmlns:a="http://schemas.openxmlformats.org/drawingml/2006/main" noGrp="1"/>
          </p:cNvSpPr>
          <p:nvPr/>
        </p:nvSpPr>
        <p:spPr>
          <a:xfrm xmlns:a="http://schemas.openxmlformats.org/drawingml/2006/main">
            <a:off x="6153637" y="2504332"/>
            <a:ext cx="2000250" cy="914400"/>
          </a:xfrm>
          <a:prstGeom xmlns:a="http://schemas.openxmlformats.org/drawingml/2006/main" prst="roundRect">
            <a:avLst>
              <a:gd name="adj" fmla="val 8333"/>
            </a:avLst>
          </a:prstGeom>
          <a:solidFill xmlns:a="http://schemas.openxmlformats.org/drawingml/2006/main">
            <a:srgbClr val="DCE6F1"/>
          </a:solidFill>
          <a:ln xmlns:a="http://schemas.openxmlformats.org/drawingml/2006/main" w="9525">
            <a:solidFill>
              <a:srgbClr val="0070C0"/>
            </a:solidFill>
            <a:prstDash val="solid"/>
          </a:ln>
        </p:spPr>
      </p:sp>
      <p:sp>
        <p:nvSpPr>
          <p:cNvPr id="15" name="s18-loop-t-1">
            <a:extLst xmlns:a="http://schemas.openxmlformats.org/drawingml/2006/main">
              <a:ext uri="{FF2B5EF4-FFF2-40B4-BE49-F238E27FC236}">
                <a16:creationId xmlns:a16="http://schemas.microsoft.com/office/drawing/2014/main" id="{30FC5513-AD79-479C-BA7B-698AADADEA35}"/>
              </a:ext>
            </a:extLst>
          </p:cNvPr>
          <p:cNvSpPr>
            <a:spLocks xmlns:a="http://schemas.openxmlformats.org/drawingml/2006/main" noGrp="1"/>
          </p:cNvSpPr>
          <p:nvPr/>
        </p:nvSpPr>
        <p:spPr>
          <a:xfrm xmlns:a="http://schemas.openxmlformats.org/drawingml/2006/main">
            <a:off x="6248887" y="2599582"/>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88" b="1" i="0">
                <a:solidFill>
                  <a:srgbClr val="0070C0"/>
                </a:solidFill>
                <a:latin typeface="Arial"/>
                <a:ea typeface="Arial"/>
                <a:cs typeface="Arial"/>
              </a:defRPr>
            </a:pPr>
            <a:r>
              <a:rPr sz="1088" b="1" i="0">
                <a:solidFill>
                  <a:srgbClr val="0070C0"/>
                </a:solidFill>
                <a:latin typeface="Arial"/>
                <a:ea typeface="Arial"/>
                <a:cs typeface="Arial"/>
              </a:rPr>
              <a:t>L1  FAST SCREEN</a:t>
            </a:r>
          </a:p>
        </p:txBody>
      </p:sp>
      <p:sp>
        <p:nvSpPr>
          <p:cNvPr id="16" name="s18-loop-b-1">
            <a:extLst xmlns:a="http://schemas.openxmlformats.org/drawingml/2006/main">
              <a:ext uri="{FF2B5EF4-FFF2-40B4-BE49-F238E27FC236}">
                <a16:creationId xmlns:a16="http://schemas.microsoft.com/office/drawing/2014/main" id="{CB8F4D2A-F73B-4CAE-A0F3-44DDC51DDAC8}"/>
              </a:ext>
            </a:extLst>
          </p:cNvPr>
          <p:cNvSpPr>
            <a:spLocks xmlns:a="http://schemas.openxmlformats.org/drawingml/2006/main" noGrp="1"/>
          </p:cNvSpPr>
          <p:nvPr/>
        </p:nvSpPr>
        <p:spPr>
          <a:xfrm xmlns:a="http://schemas.openxmlformats.org/drawingml/2006/main">
            <a:off x="6248887" y="2980582"/>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15" b="0" i="0">
                <a:solidFill>
                  <a:srgbClr val="262626"/>
                </a:solidFill>
                <a:latin typeface="Arial"/>
                <a:ea typeface="Arial"/>
                <a:cs typeface="Arial"/>
              </a:defRPr>
            </a:pPr>
            <a:r>
              <a:rPr sz="915" b="0" i="0">
                <a:solidFill>
                  <a:srgbClr val="262626"/>
                </a:solidFill>
                <a:latin typeface="Arial"/>
                <a:ea typeface="Arial"/>
                <a:cs typeface="Arial"/>
              </a:rPr>
              <a:t>UMA + BVSE + gate risk</a:t>
            </a:r>
          </a:p>
        </p:txBody>
      </p:sp>
      <p:sp>
        <p:nvSpPr>
          <p:cNvPr id="17" name="s18-loop-2">
            <a:extLst xmlns:a="http://schemas.openxmlformats.org/drawingml/2006/main">
              <a:ext uri="{FF2B5EF4-FFF2-40B4-BE49-F238E27FC236}">
                <a16:creationId xmlns:a16="http://schemas.microsoft.com/office/drawing/2014/main" id="{6F239D11-BB48-4FE7-BCCA-7F59A160AC88}"/>
              </a:ext>
            </a:extLst>
          </p:cNvPr>
          <p:cNvSpPr>
            <a:spLocks xmlns:a="http://schemas.openxmlformats.org/drawingml/2006/main" noGrp="1"/>
          </p:cNvSpPr>
          <p:nvPr/>
        </p:nvSpPr>
        <p:spPr>
          <a:xfrm xmlns:a="http://schemas.openxmlformats.org/drawingml/2006/main">
            <a:off x="5167492" y="4367955"/>
            <a:ext cx="2000250" cy="914400"/>
          </a:xfrm>
          <a:prstGeom xmlns:a="http://schemas.openxmlformats.org/drawingml/2006/main" prst="roundRect">
            <a:avLst>
              <a:gd name="adj" fmla="val 8333"/>
            </a:avLst>
          </a:prstGeom>
          <a:solidFill xmlns:a="http://schemas.openxmlformats.org/drawingml/2006/main">
            <a:srgbClr val="FFF4E0"/>
          </a:solidFill>
          <a:ln xmlns:a="http://schemas.openxmlformats.org/drawingml/2006/main" w="9525">
            <a:solidFill>
              <a:srgbClr val="B26A00"/>
            </a:solidFill>
            <a:prstDash val="solid"/>
          </a:ln>
        </p:spPr>
      </p:sp>
      <p:sp>
        <p:nvSpPr>
          <p:cNvPr id="18" name="s18-loop-t-2">
            <a:extLst xmlns:a="http://schemas.openxmlformats.org/drawingml/2006/main">
              <a:ext uri="{FF2B5EF4-FFF2-40B4-BE49-F238E27FC236}">
                <a16:creationId xmlns:a16="http://schemas.microsoft.com/office/drawing/2014/main" id="{CA7B0243-684E-4B5F-9628-910B4093AA43}"/>
              </a:ext>
            </a:extLst>
          </p:cNvPr>
          <p:cNvSpPr>
            <a:spLocks xmlns:a="http://schemas.openxmlformats.org/drawingml/2006/main" noGrp="1"/>
          </p:cNvSpPr>
          <p:nvPr/>
        </p:nvSpPr>
        <p:spPr>
          <a:xfrm xmlns:a="http://schemas.openxmlformats.org/drawingml/2006/main">
            <a:off x="5262742" y="446320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88" b="1" i="0">
                <a:solidFill>
                  <a:srgbClr val="B26A00"/>
                </a:solidFill>
                <a:latin typeface="Arial"/>
                <a:ea typeface="Arial"/>
                <a:cs typeface="Arial"/>
              </a:defRPr>
            </a:pPr>
            <a:r>
              <a:rPr sz="1088" b="1" i="0">
                <a:solidFill>
                  <a:srgbClr val="B26A00"/>
                </a:solidFill>
                <a:latin typeface="Arial"/>
                <a:ea typeface="Arial"/>
                <a:cs typeface="Arial"/>
              </a:rPr>
              <a:t>ACQUISITION</a:t>
            </a:r>
          </a:p>
        </p:txBody>
      </p:sp>
      <p:sp>
        <p:nvSpPr>
          <p:cNvPr id="19" name="s18-loop-b-2">
            <a:extLst xmlns:a="http://schemas.openxmlformats.org/drawingml/2006/main">
              <a:ext uri="{FF2B5EF4-FFF2-40B4-BE49-F238E27FC236}">
                <a16:creationId xmlns:a16="http://schemas.microsoft.com/office/drawing/2014/main" id="{61AA72B8-03D9-47A7-A66B-67DB130906E3}"/>
              </a:ext>
            </a:extLst>
          </p:cNvPr>
          <p:cNvSpPr>
            <a:spLocks xmlns:a="http://schemas.openxmlformats.org/drawingml/2006/main" noGrp="1"/>
          </p:cNvSpPr>
          <p:nvPr/>
        </p:nvSpPr>
        <p:spPr>
          <a:xfrm xmlns:a="http://schemas.openxmlformats.org/drawingml/2006/main">
            <a:off x="5262742" y="484420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90963"/>
          </a:bodyPr>
          <a:lstStyle xmlns:a="http://schemas.openxmlformats.org/drawingml/2006/main"/>
          <a:p xmlns:a="http://schemas.openxmlformats.org/drawingml/2006/main">
            <a:pPr algn="ctr">
              <a:defRPr sz="915" b="0" i="0">
                <a:solidFill>
                  <a:srgbClr val="262626"/>
                </a:solidFill>
                <a:latin typeface="Arial"/>
                <a:ea typeface="Arial"/>
                <a:cs typeface="Arial"/>
              </a:defRPr>
            </a:pPr>
            <a:r>
              <a:rPr sz="915" b="0" i="0">
                <a:solidFill>
                  <a:srgbClr val="262626"/>
                </a:solidFill>
                <a:latin typeface="Arial"/>
                <a:ea typeface="Arial"/>
                <a:cs typeface="Arial"/>
              </a:rPr>
              <a:t>Pareto gain + uncertainty + diversity</a:t>
            </a:r>
          </a:p>
        </p:txBody>
      </p:sp>
      <p:sp>
        <p:nvSpPr>
          <p:cNvPr id="20" name="s18-loop-3">
            <a:extLst xmlns:a="http://schemas.openxmlformats.org/drawingml/2006/main">
              <a:ext uri="{FF2B5EF4-FFF2-40B4-BE49-F238E27FC236}">
                <a16:creationId xmlns:a16="http://schemas.microsoft.com/office/drawing/2014/main" id="{A6E8A81A-CEB2-49A5-88EE-F434A470E8B5}"/>
              </a:ext>
            </a:extLst>
          </p:cNvPr>
          <p:cNvSpPr>
            <a:spLocks xmlns:a="http://schemas.openxmlformats.org/drawingml/2006/main" noGrp="1"/>
          </p:cNvSpPr>
          <p:nvPr/>
        </p:nvSpPr>
        <p:spPr>
          <a:xfrm xmlns:a="http://schemas.openxmlformats.org/drawingml/2006/main">
            <a:off x="1976258" y="4367955"/>
            <a:ext cx="2000250" cy="914400"/>
          </a:xfrm>
          <a:prstGeom xmlns:a="http://schemas.openxmlformats.org/drawingml/2006/main" prst="roundRect">
            <a:avLst>
              <a:gd name="adj" fmla="val 8333"/>
            </a:avLst>
          </a:prstGeom>
          <a:solidFill xmlns:a="http://schemas.openxmlformats.org/drawingml/2006/main">
            <a:srgbClr val="FBE9E7"/>
          </a:solidFill>
          <a:ln xmlns:a="http://schemas.openxmlformats.org/drawingml/2006/main" w="9525">
            <a:solidFill>
              <a:srgbClr val="9E2A2B"/>
            </a:solidFill>
            <a:prstDash val="solid"/>
          </a:ln>
        </p:spPr>
      </p:sp>
      <p:sp>
        <p:nvSpPr>
          <p:cNvPr id="21" name="s18-loop-t-3">
            <a:extLst xmlns:a="http://schemas.openxmlformats.org/drawingml/2006/main">
              <a:ext uri="{FF2B5EF4-FFF2-40B4-BE49-F238E27FC236}">
                <a16:creationId xmlns:a16="http://schemas.microsoft.com/office/drawing/2014/main" id="{1132F3F2-FC4E-46B3-84FB-BBD938803B6D}"/>
              </a:ext>
            </a:extLst>
          </p:cNvPr>
          <p:cNvSpPr>
            <a:spLocks xmlns:a="http://schemas.openxmlformats.org/drawingml/2006/main" noGrp="1"/>
          </p:cNvSpPr>
          <p:nvPr/>
        </p:nvSpPr>
        <p:spPr>
          <a:xfrm xmlns:a="http://schemas.openxmlformats.org/drawingml/2006/main">
            <a:off x="2071508" y="446320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88" b="1" i="0">
                <a:solidFill>
                  <a:srgbClr val="9E2A2B"/>
                </a:solidFill>
                <a:latin typeface="Arial"/>
                <a:ea typeface="Arial"/>
                <a:cs typeface="Arial"/>
              </a:defRPr>
            </a:pPr>
            <a:r>
              <a:rPr sz="1088" b="1" i="0">
                <a:solidFill>
                  <a:srgbClr val="9E2A2B"/>
                </a:solidFill>
                <a:latin typeface="Arial"/>
                <a:ea typeface="Arial"/>
                <a:cs typeface="Arial"/>
              </a:rPr>
              <a:t>L2  DFT</a:t>
            </a:r>
          </a:p>
        </p:txBody>
      </p:sp>
      <p:sp>
        <p:nvSpPr>
          <p:cNvPr id="22" name="s18-loop-b-3">
            <a:extLst xmlns:a="http://schemas.openxmlformats.org/drawingml/2006/main">
              <a:ext uri="{FF2B5EF4-FFF2-40B4-BE49-F238E27FC236}">
                <a16:creationId xmlns:a16="http://schemas.microsoft.com/office/drawing/2014/main" id="{38BE1A77-024A-42DB-80FB-86044392DB46}"/>
              </a:ext>
            </a:extLst>
          </p:cNvPr>
          <p:cNvSpPr>
            <a:spLocks xmlns:a="http://schemas.openxmlformats.org/drawingml/2006/main" noGrp="1"/>
          </p:cNvSpPr>
          <p:nvPr/>
        </p:nvSpPr>
        <p:spPr>
          <a:xfrm xmlns:a="http://schemas.openxmlformats.org/drawingml/2006/main">
            <a:off x="2071508" y="484420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15" b="0" i="0">
                <a:solidFill>
                  <a:srgbClr val="262626"/>
                </a:solidFill>
                <a:latin typeface="Arial"/>
                <a:ea typeface="Arial"/>
                <a:cs typeface="Arial"/>
              </a:defRPr>
            </a:pPr>
            <a:r>
              <a:rPr sz="915" b="0" i="0">
                <a:solidFill>
                  <a:srgbClr val="262626"/>
                </a:solidFill>
                <a:latin typeface="Arial"/>
                <a:ea typeface="Arial"/>
                <a:cs typeface="Arial"/>
              </a:rPr>
              <a:t>matched validation</a:t>
            </a:r>
          </a:p>
        </p:txBody>
      </p:sp>
      <p:sp>
        <p:nvSpPr>
          <p:cNvPr id="23" name="s18-loop-4">
            <a:extLst xmlns:a="http://schemas.openxmlformats.org/drawingml/2006/main">
              <a:ext uri="{FF2B5EF4-FFF2-40B4-BE49-F238E27FC236}">
                <a16:creationId xmlns:a16="http://schemas.microsoft.com/office/drawing/2014/main" id="{E458BC33-C0AE-45A2-9502-E4BD41DB970F}"/>
              </a:ext>
            </a:extLst>
          </p:cNvPr>
          <p:cNvSpPr>
            <a:spLocks xmlns:a="http://schemas.openxmlformats.org/drawingml/2006/main" noGrp="1"/>
          </p:cNvSpPr>
          <p:nvPr/>
        </p:nvSpPr>
        <p:spPr>
          <a:xfrm xmlns:a="http://schemas.openxmlformats.org/drawingml/2006/main">
            <a:off x="990113" y="2504332"/>
            <a:ext cx="2000250" cy="914400"/>
          </a:xfrm>
          <a:prstGeom xmlns:a="http://schemas.openxmlformats.org/drawingml/2006/main" prst="roundRect">
            <a:avLst>
              <a:gd name="adj" fmla="val 8333"/>
            </a:avLst>
          </a:prstGeom>
          <a:solidFill xmlns:a="http://schemas.openxmlformats.org/drawingml/2006/main">
            <a:srgbClr val="E8F5E9"/>
          </a:solidFill>
          <a:ln xmlns:a="http://schemas.openxmlformats.org/drawingml/2006/main" w="9525">
            <a:solidFill>
              <a:srgbClr val="2E7D32"/>
            </a:solidFill>
            <a:prstDash val="solid"/>
          </a:ln>
        </p:spPr>
      </p:sp>
      <p:sp>
        <p:nvSpPr>
          <p:cNvPr id="24" name="s18-loop-t-4">
            <a:extLst xmlns:a="http://schemas.openxmlformats.org/drawingml/2006/main">
              <a:ext uri="{FF2B5EF4-FFF2-40B4-BE49-F238E27FC236}">
                <a16:creationId xmlns:a16="http://schemas.microsoft.com/office/drawing/2014/main" id="{B0069CD3-8611-4B93-8719-BA004C98E63F}"/>
              </a:ext>
            </a:extLst>
          </p:cNvPr>
          <p:cNvSpPr>
            <a:spLocks xmlns:a="http://schemas.openxmlformats.org/drawingml/2006/main" noGrp="1"/>
          </p:cNvSpPr>
          <p:nvPr/>
        </p:nvSpPr>
        <p:spPr>
          <a:xfrm xmlns:a="http://schemas.openxmlformats.org/drawingml/2006/main">
            <a:off x="1085363" y="2599582"/>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88" b="1" i="0">
                <a:solidFill>
                  <a:srgbClr val="2E7D32"/>
                </a:solidFill>
                <a:latin typeface="Arial"/>
                <a:ea typeface="Arial"/>
                <a:cs typeface="Arial"/>
              </a:defRPr>
            </a:pPr>
            <a:r>
              <a:rPr sz="1088" b="1" i="0">
                <a:solidFill>
                  <a:srgbClr val="2E7D32"/>
                </a:solidFill>
                <a:latin typeface="Arial"/>
                <a:ea typeface="Arial"/>
                <a:cs typeface="Arial"/>
              </a:rPr>
              <a:t>L3  EXPERIMENT</a:t>
            </a:r>
          </a:p>
        </p:txBody>
      </p:sp>
      <p:sp>
        <p:nvSpPr>
          <p:cNvPr id="25" name="s18-loop-b-4">
            <a:extLst xmlns:a="http://schemas.openxmlformats.org/drawingml/2006/main">
              <a:ext uri="{FF2B5EF4-FFF2-40B4-BE49-F238E27FC236}">
                <a16:creationId xmlns:a16="http://schemas.microsoft.com/office/drawing/2014/main" id="{195F11CF-A2A6-43F8-8522-732FD138F663}"/>
              </a:ext>
            </a:extLst>
          </p:cNvPr>
          <p:cNvSpPr>
            <a:spLocks xmlns:a="http://schemas.openxmlformats.org/drawingml/2006/main" noGrp="1"/>
          </p:cNvSpPr>
          <p:nvPr/>
        </p:nvSpPr>
        <p:spPr>
          <a:xfrm xmlns:a="http://schemas.openxmlformats.org/drawingml/2006/main">
            <a:off x="1085363" y="2980582"/>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915" b="0" i="0">
                <a:solidFill>
                  <a:srgbClr val="262626"/>
                </a:solidFill>
                <a:latin typeface="Arial"/>
                <a:ea typeface="Arial"/>
                <a:cs typeface="Arial"/>
              </a:defRPr>
            </a:pPr>
            <a:r>
              <a:rPr sz="915" b="0" i="0">
                <a:solidFill>
                  <a:srgbClr val="262626"/>
                </a:solidFill>
                <a:latin typeface="Arial"/>
                <a:ea typeface="Arial"/>
                <a:cs typeface="Arial"/>
              </a:rPr>
              <a:t>phase · sigma(T) · stability</a:t>
            </a:r>
          </a:p>
        </p:txBody>
      </p:sp>
      <p:sp>
        <p:nvSpPr>
          <p:cNvPr id="26" name="s18-db">
            <a:extLst xmlns:a="http://schemas.openxmlformats.org/drawingml/2006/main">
              <a:ext uri="{FF2B5EF4-FFF2-40B4-BE49-F238E27FC236}">
                <a16:creationId xmlns:a16="http://schemas.microsoft.com/office/drawing/2014/main" id="{226AC5FF-7793-498C-8F98-3D1C5FF2BE35}"/>
              </a:ext>
            </a:extLst>
          </p:cNvPr>
          <p:cNvSpPr>
            <a:spLocks xmlns:a="http://schemas.openxmlformats.org/drawingml/2006/main" noGrp="1"/>
          </p:cNvSpPr>
          <p:nvPr/>
        </p:nvSpPr>
        <p:spPr>
          <a:xfrm xmlns:a="http://schemas.openxmlformats.org/drawingml/2006/main">
            <a:off x="3714750" y="3000375"/>
            <a:ext cx="17145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1F4E79"/>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575" b="1" i="0">
                <a:solidFill>
                  <a:srgbClr val="1F4E79"/>
                </a:solidFill>
                <a:latin typeface="Arial"/>
                <a:ea typeface="Arial"/>
                <a:cs typeface="Arial"/>
              </a:defRPr>
            </a:pPr>
            <a:r>
              <a:rPr sz="1575" b="1" i="0">
                <a:solidFill>
                  <a:srgbClr val="1F4E79"/>
                </a:solidFill>
                <a:latin typeface="Arial"/>
                <a:ea typeface="Arial"/>
                <a:cs typeface="Arial"/>
              </a:rPr>
              <a:t>VERSIONED</a:t>
            </a:r>
          </a:p>
          <a:p xmlns:a="http://schemas.openxmlformats.org/drawingml/2006/main">
            <a:pPr algn="ctr">
              <a:defRPr sz="1575" b="1" i="0">
                <a:solidFill>
                  <a:srgbClr val="1F4E79"/>
                </a:solidFill>
                <a:latin typeface="Arial"/>
                <a:ea typeface="Arial"/>
                <a:cs typeface="Arial"/>
              </a:defRPr>
            </a:pPr>
            <a:r>
              <a:rPr sz="1575" b="1" i="0">
                <a:solidFill>
                  <a:srgbClr val="1F4E79"/>
                </a:solidFill>
                <a:latin typeface="Arial"/>
                <a:ea typeface="Arial"/>
                <a:cs typeface="Arial"/>
              </a:rPr>
              <a:t>DATABASE</a:t>
            </a:r>
          </a:p>
        </p:txBody>
      </p:sp>
      <p:sp>
        <p:nvSpPr>
          <p:cNvPr id="27" name="s18-route">
            <a:extLst xmlns:a="http://schemas.openxmlformats.org/drawingml/2006/main">
              <a:ext uri="{FF2B5EF4-FFF2-40B4-BE49-F238E27FC236}">
                <a16:creationId xmlns:a16="http://schemas.microsoft.com/office/drawing/2014/main" id="{85676137-607C-423A-8D92-DDDDDA0F4FDC}"/>
              </a:ext>
            </a:extLst>
          </p:cNvPr>
          <p:cNvSpPr>
            <a:spLocks xmlns:a="http://schemas.openxmlformats.org/drawingml/2006/main" noGrp="1"/>
          </p:cNvSpPr>
          <p:nvPr/>
        </p:nvSpPr>
        <p:spPr>
          <a:xfrm xmlns:a="http://schemas.openxmlformats.org/drawingml/2006/main">
            <a:off x="762000" y="5334000"/>
            <a:ext cx="7620000" cy="400050"/>
          </a:xfrm>
          <a:prstGeom xmlns:a="http://schemas.openxmlformats.org/drawingml/2006/main" prst="rect">
            <a:avLst/>
          </a:prstGeom>
          <a:solidFill xmlns:a="http://schemas.openxmlformats.org/drawingml/2006/main">
            <a:srgbClr val="F2F2F2"/>
          </a:solidFill>
          <a:ln xmlns:a="http://schemas.openxmlformats.org/drawingml/2006/main" w="9525">
            <a:solidFill>
              <a:srgbClr val="D9E1F2"/>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013" b="1" i="0">
                <a:solidFill>
                  <a:srgbClr val="262626"/>
                </a:solidFill>
                <a:latin typeface="Arial"/>
                <a:ea typeface="Arial"/>
                <a:cs typeface="Arial"/>
              </a:defRPr>
            </a:pPr>
            <a:r>
              <a:rPr sz="1013" b="1" i="0">
                <a:solidFill>
                  <a:srgbClr val="262626"/>
                </a:solidFill>
                <a:latin typeface="Arial"/>
                <a:ea typeface="Arial"/>
                <a:cs typeface="Arial"/>
              </a:rPr>
              <a:t>EXPLOIT: predicted Pareto gain     EXPLORE: uncertainty / new chemistry     VALIDATE: gate boundary</a:t>
            </a:r>
          </a:p>
        </p:txBody>
      </p:sp>
      <p:sp>
        <p:nvSpPr>
          <p:cNvPr id="28" name="s18-take">
            <a:extLst xmlns:a="http://schemas.openxmlformats.org/drawingml/2006/main">
              <a:ext uri="{FF2B5EF4-FFF2-40B4-BE49-F238E27FC236}">
                <a16:creationId xmlns:a16="http://schemas.microsoft.com/office/drawing/2014/main" id="{EB94AD59-29E4-4F86-AE34-52E770C4CB15}"/>
              </a:ext>
            </a:extLst>
          </p:cNvPr>
          <p:cNvSpPr>
            <a:spLocks xmlns:a="http://schemas.openxmlformats.org/drawingml/2006/main" noGrp="1"/>
          </p:cNvSpPr>
          <p:nvPr/>
        </p:nvSpPr>
        <p:spPr>
          <a:xfrm xmlns:a="http://schemas.openxmlformats.org/drawingml/2006/main">
            <a:off x="952500" y="5857875"/>
            <a:ext cx="723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238" b="1" i="0">
                <a:solidFill>
                  <a:srgbClr val="9E2A2B"/>
                </a:solidFill>
                <a:latin typeface="Arial"/>
                <a:ea typeface="Arial"/>
                <a:cs typeface="Arial"/>
              </a:defRPr>
            </a:pPr>
            <a:r>
              <a:rPr sz="1238" b="1" i="0">
                <a:solidFill>
                  <a:srgbClr val="9E2A2B"/>
                </a:solidFill>
                <a:latin typeface="Arial"/>
                <a:ea typeface="Arial"/>
                <a:cs typeface="Arial"/>
              </a:rPr>
              <a:t>ML chooses what to calculate next; physics and experiments decide what is true.</a:t>
            </a:r>
          </a:p>
        </p:txBody>
      </p:sp>
    </p:spTree>
    <p:extLst>
      <p:ext uri="{BB962C8B-B14F-4D97-AF65-F5344CB8AC3E}">
        <p14:creationId xmlns:p14="http://schemas.microsoft.com/office/powerpoint/2010/main" val="1396119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0420FA8-96CA-490D-9661-A4C860ADD6A0}"/>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Appendix A1</a:t>
            </a:r>
            <a:endParaRPr sz="2600"/>
          </a:p>
        </p:txBody>
      </p:sp>
      <p:sp>
        <p:nvSpPr>
          <p:cNvPr id="3" name="Shape 1">
            <a:extLst xmlns:a="http://schemas.openxmlformats.org/drawingml/2006/main">
              <a:ext uri="{FF2B5EF4-FFF2-40B4-BE49-F238E27FC236}">
                <a16:creationId xmlns:a16="http://schemas.microsoft.com/office/drawing/2014/main" id="{CE645B20-45A1-436A-A8AB-CC8058529215}"/>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F011AF5E-555C-4C5D-B56F-0DBE766B946E}"/>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219C26F6-2E7B-47B6-BF27-13594C6AA2E4}"/>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Terminology and symbol conventions</a:t>
            </a:r>
            <a:endParaRPr sz="1500"/>
          </a:p>
        </p:txBody>
      </p:sp>
      <p:sp>
        <p:nvSpPr>
          <p:cNvPr id="6" name="Text 4">
            <a:extLst xmlns:a="http://schemas.openxmlformats.org/drawingml/2006/main">
              <a:ext uri="{FF2B5EF4-FFF2-40B4-BE49-F238E27FC236}">
                <a16:creationId xmlns:a16="http://schemas.microsoft.com/office/drawing/2014/main" id="{0615CC0C-F26E-4E43-AAB5-658650708A4B}"/>
              </a:ext>
            </a:extLst>
          </p:cNvPr>
          <p:cNvSpPr>
            <a:spLocks xmlns:a="http://schemas.openxmlformats.org/drawingml/2006/main" noGrp="1"/>
          </p:cNvSpPr>
          <p:nvPr/>
        </p:nvSpPr>
        <p:spPr>
          <a:xfrm xmlns:a="http://schemas.openxmlformats.org/drawingml/2006/main">
            <a:off x="777240" y="1243584"/>
            <a:ext cx="7818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nSpc>
                <a:spcPts val="1500"/>
              </a:lnSpc>
              <a:spcAft>
                <a:spcPts val="500"/>
              </a:spcAft>
              <a:buSzPct val="100000"/>
              <a:buChar char="•"/>
              <a:defRPr sz="1102">
                <a:solidFill>
                  <a:srgbClr val="262626"/>
                </a:solidFill>
                <a:latin typeface="Arial"/>
                <a:ea typeface="Arial"/>
                <a:cs typeface="Arial"/>
              </a:defRPr>
            </a:pPr>
            <a:r>
              <a:rPr sz="1102">
                <a:solidFill>
                  <a:srgbClr val="262626"/>
                </a:solidFill>
                <a:latin typeface="Arial"/>
                <a:ea typeface="Arial"/>
                <a:cs typeface="Arial"/>
              </a:rPr>
              <a:t>One symbol = one method-qualified quantity. Never reuse a label across protocol lineages.</a:t>
            </a:r>
            <a:endParaRPr sz="1150"/>
          </a:p>
        </p:txBody>
      </p:sp>
      <p:sp>
        <p:nvSpPr>
          <p:cNvPr id="7" name="Text 5">
            <a:extLst xmlns:a="http://schemas.openxmlformats.org/drawingml/2006/main">
              <a:ext uri="{FF2B5EF4-FFF2-40B4-BE49-F238E27FC236}">
                <a16:creationId xmlns:a16="http://schemas.microsoft.com/office/drawing/2014/main" id="{7EF53714-4EBD-4547-8C08-B6267CAED82A}"/>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8" name="Text 6">
            <a:extLst xmlns:a="http://schemas.openxmlformats.org/drawingml/2006/main">
              <a:ext uri="{FF2B5EF4-FFF2-40B4-BE49-F238E27FC236}">
                <a16:creationId xmlns:a16="http://schemas.microsoft.com/office/drawing/2014/main" id="{8F299F68-1E8C-4BC8-BAF9-A7163A18330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9" name="Text 7">
            <a:extLst xmlns:a="http://schemas.openxmlformats.org/drawingml/2006/main">
              <a:ext uri="{FF2B5EF4-FFF2-40B4-BE49-F238E27FC236}">
                <a16:creationId xmlns:a16="http://schemas.microsoft.com/office/drawing/2014/main" id="{7765A90C-8C3D-4494-9E1A-8876EADF65D7}"/>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19</a:t>
            </a:r>
            <a:endParaRPr sz="1000"/>
          </a:p>
        </p:txBody>
      </p:sp>
      <p:graphicFrame>
        <p:nvGraphicFramePr>
          <p:cNvPr id="19" name=""/>
          <p:cNvGraphicFramePr/>
          <p:nvPr/>
        </p:nvGraphicFramePr>
        <p:xfrm>
          <a:off xmlns:a="http://schemas.openxmlformats.org/drawingml/2006/main" x="590550" y="1952625"/>
          <a:ext xmlns:a="http://schemas.openxmlformats.org/drawingml/2006/main" cx="8143875" cy="3619500"/>
        </p:xfrm>
        <a:graphic xmlns:a="http://schemas.openxmlformats.org/drawingml/2006/main">
          <a:graphicData uri="http://schemas.openxmlformats.org/drawingml/2006/table">
            <a:tbl>
              <a:tblPr/>
              <a:tblGrid>
                <a:gridCol w="1476375"/>
                <a:gridCol w="2714625"/>
                <a:gridCol w="3952875"/>
              </a:tblGrid>
              <a:tr h="452438">
                <a:tc>
                  <a:txBody>
                    <a:bodyPr wrap="square">
                      <a:normAutofit/>
                    </a:bodyPr>
                    <a:lstStyle/>
                    <a:p>
                      <a:pPr algn="ctr"/>
                      <a:r>
                        <a:rPr sz="878" b="1">
                          <a:solidFill>
                            <a:srgbClr val="FFFFFF"/>
                          </a:solidFill>
                          <a:latin typeface="Arial"/>
                          <a:ea typeface="Arial"/>
                          <a:cs typeface="Arial"/>
                        </a:rPr>
                        <a:t>Symbol / term</a:t>
                      </a:r>
                    </a:p>
                  </a:txBody>
                  <a:tcPr marL="91440" marR="91440" marT="45720" marB="45720" anchor="ctr">
                    <a:solidFill>
                      <a:srgbClr val="1F4E79"/>
                    </a:solidFill>
                  </a:tcPr>
                </a:tc>
                <a:tc>
                  <a:txBody>
                    <a:bodyPr wrap="square">
                      <a:normAutofit/>
                    </a:bodyPr>
                    <a:lstStyle/>
                    <a:p>
                      <a:pPr algn="ctr"/>
                      <a:r>
                        <a:rPr sz="878" b="1">
                          <a:solidFill>
                            <a:srgbClr val="FFFFFF"/>
                          </a:solidFill>
                          <a:latin typeface="Arial"/>
                          <a:ea typeface="Arial"/>
                          <a:cs typeface="Arial"/>
                        </a:rPr>
                        <a:t>Meaning</a:t>
                      </a:r>
                    </a:p>
                  </a:txBody>
                  <a:tcPr marL="91440" marR="91440" marT="45720" marB="45720" anchor="ctr">
                    <a:solidFill>
                      <a:srgbClr val="1F4E79"/>
                    </a:solidFill>
                  </a:tcPr>
                </a:tc>
                <a:tc>
                  <a:txBody>
                    <a:bodyPr wrap="square">
                      <a:normAutofit/>
                    </a:bodyPr>
                    <a:lstStyle/>
                    <a:p>
                      <a:pPr algn="ctr"/>
                      <a:r>
                        <a:rPr sz="878" b="1">
                          <a:solidFill>
                            <a:srgbClr val="FFFFFF"/>
                          </a:solidFill>
                          <a:latin typeface="Arial"/>
                          <a:ea typeface="Arial"/>
                          <a:cs typeface="Arial"/>
                        </a:rPr>
                        <a:t>Usage rule</a:t>
                      </a:r>
                    </a:p>
                  </a:txBody>
                  <a:tcPr marL="91440" marR="91440" marT="45720" marB="45720" anchor="ctr">
                    <a:solidFill>
                      <a:srgbClr val="1F4E79"/>
                    </a:solidFill>
                  </a:tcPr>
                </a:tc>
              </a:tr>
              <a:tr h="452438">
                <a:tc>
                  <a:txBody>
                    <a:bodyPr wrap="square">
                      <a:normAutofit/>
                    </a:bodyPr>
                    <a:lstStyle/>
                    <a:p>
                      <a:pPr algn="l"/>
                      <a:r>
                        <a:rPr sz="878" b="0">
                          <a:solidFill>
                            <a:srgbClr val="262626"/>
                          </a:solidFill>
                          <a:latin typeface="Arial"/>
                          <a:ea typeface="Arial"/>
                          <a:cs typeface="Arial"/>
                        </a:rPr>
                        <a:t>ΔE</a:t>
                      </a:r>
                    </a:p>
                  </a:txBody>
                  <a:tcPr marL="91440" marR="91440" marT="45720" marB="45720" anchor="ctr">
                    <a:solidFill>
                      <a:srgbClr val="FFFFFF"/>
                    </a:solidFill>
                  </a:tcPr>
                </a:tc>
                <a:tc>
                  <a:txBody>
                    <a:bodyPr wrap="square">
                      <a:normAutofit/>
                    </a:bodyPr>
                    <a:lstStyle/>
                    <a:p>
                      <a:pPr algn="l"/>
                      <a:r>
                        <a:rPr sz="878" b="0">
                          <a:solidFill>
                            <a:srgbClr val="262626"/>
                          </a:solidFill>
                          <a:latin typeface="Arial"/>
                          <a:ea typeface="Arial"/>
                          <a:cs typeface="Arial"/>
                        </a:rPr>
                        <a:t>Doped − host relative energy</a:t>
                      </a:r>
                    </a:p>
                  </a:txBody>
                  <a:tcPr marL="91440" marR="91440" marT="45720" marB="45720" anchor="ctr">
                    <a:solidFill>
                      <a:srgbClr val="FFFFFF"/>
                    </a:solidFill>
                  </a:tcPr>
                </a:tc>
                <a:tc>
                  <a:txBody>
                    <a:bodyPr wrap="square">
                      <a:normAutofit/>
                    </a:bodyPr>
                    <a:lstStyle/>
                    <a:p>
                      <a:pPr algn="l"/>
                      <a:r>
                        <a:rPr sz="878" b="0">
                          <a:solidFill>
                            <a:srgbClr val="262626"/>
                          </a:solidFill>
                          <a:latin typeface="Arial"/>
                          <a:ea typeface="Arial"/>
                          <a:cs typeface="Arial"/>
                        </a:rPr>
                        <a:t>Same engine, cell, composition convention</a:t>
                      </a:r>
                    </a:p>
                  </a:txBody>
                  <a:tcPr marL="91440" marR="91440" marT="45720" marB="45720" anchor="ctr">
                    <a:solidFill>
                      <a:srgbClr val="FFFFFF"/>
                    </a:solidFill>
                  </a:tcPr>
                </a:tc>
              </a:tr>
              <a:tr h="452438">
                <a:tc>
                  <a:txBody>
                    <a:bodyPr wrap="square">
                      <a:normAutofit/>
                    </a:bodyPr>
                    <a:lstStyle/>
                    <a:p>
                      <a:pPr algn="l"/>
                      <a:r>
                        <a:rPr sz="878" b="0">
                          <a:solidFill>
                            <a:srgbClr val="262626"/>
                          </a:solidFill>
                          <a:latin typeface="Arial"/>
                          <a:ea typeface="Arial"/>
                          <a:cs typeface="Arial"/>
                        </a:rPr>
                        <a:t>Vox</a:t>
                      </a:r>
                    </a:p>
                  </a:txBody>
                  <a:tcPr marL="91440" marR="91440" marT="45720" marB="45720" anchor="ctr">
                    <a:solidFill>
                      <a:srgbClr val="F3F7FB"/>
                    </a:solidFill>
                  </a:tcPr>
                </a:tc>
                <a:tc>
                  <a:txBody>
                    <a:bodyPr wrap="square">
                      <a:normAutofit/>
                    </a:bodyPr>
                    <a:lstStyle/>
                    <a:p>
                      <a:pPr algn="l"/>
                      <a:r>
                        <a:rPr sz="878" b="0">
                          <a:solidFill>
                            <a:srgbClr val="262626"/>
                          </a:solidFill>
                          <a:latin typeface="Arial"/>
                          <a:ea typeface="Arial"/>
                          <a:cs typeface="Arial"/>
                        </a:rPr>
                        <a:t>Grand-potential oxidation onset</a:t>
                      </a:r>
                    </a:p>
                  </a:txBody>
                  <a:tcPr marL="91440" marR="91440" marT="45720" marB="45720" anchor="ctr">
                    <a:solidFill>
                      <a:srgbClr val="F3F7FB"/>
                    </a:solidFill>
                  </a:tcPr>
                </a:tc>
                <a:tc>
                  <a:txBody>
                    <a:bodyPr wrap="square">
                      <a:normAutofit/>
                    </a:bodyPr>
                    <a:lstStyle/>
                    <a:p>
                      <a:pPr algn="l"/>
                      <a:r>
                        <a:rPr sz="878" b="0">
                          <a:solidFill>
                            <a:srgbClr val="262626"/>
                          </a:solidFill>
                          <a:latin typeface="Arial"/>
                          <a:ea typeface="Arial"/>
                          <a:cs typeface="Arial"/>
                        </a:rPr>
                        <a:t>V vs Li; ties at 2.14 V remain unresolved</a:t>
                      </a:r>
                    </a:p>
                  </a:txBody>
                  <a:tcPr marL="91440" marR="91440" marT="45720" marB="45720" anchor="ctr">
                    <a:solidFill>
                      <a:srgbClr val="F3F7FB"/>
                    </a:solidFill>
                  </a:tcPr>
                </a:tc>
              </a:tr>
              <a:tr h="452438">
                <a:tc>
                  <a:txBody>
                    <a:bodyPr wrap="square">
                      <a:normAutofit/>
                    </a:bodyPr>
                    <a:lstStyle/>
                    <a:p>
                      <a:pPr algn="l"/>
                      <a:r>
                        <a:rPr sz="878" b="0">
                          <a:solidFill>
                            <a:srgbClr val="262626"/>
                          </a:solidFill>
                          <a:latin typeface="Arial"/>
                          <a:ea typeface="Arial"/>
                          <a:cs typeface="Arial"/>
                        </a:rPr>
                        <a:t>window</a:t>
                      </a:r>
                    </a:p>
                  </a:txBody>
                  <a:tcPr marL="91440" marR="91440" marT="45720" marB="45720" anchor="ctr">
                    <a:solidFill>
                      <a:srgbClr val="FFFFFF"/>
                    </a:solidFill>
                  </a:tcPr>
                </a:tc>
                <a:tc>
                  <a:txBody>
                    <a:bodyPr wrap="square">
                      <a:normAutofit/>
                    </a:bodyPr>
                    <a:lstStyle/>
                    <a:p>
                      <a:pPr algn="l"/>
                      <a:r>
                        <a:rPr sz="878" b="0">
                          <a:solidFill>
                            <a:srgbClr val="262626"/>
                          </a:solidFill>
                          <a:latin typeface="Arial"/>
                          <a:ea typeface="Arial"/>
                          <a:cs typeface="Arial"/>
                        </a:rPr>
                        <a:t>Vox − Vred</a:t>
                      </a:r>
                    </a:p>
                  </a:txBody>
                  <a:tcPr marL="91440" marR="91440" marT="45720" marB="45720" anchor="ctr">
                    <a:solidFill>
                      <a:srgbClr val="FFFFFF"/>
                    </a:solidFill>
                  </a:tcPr>
                </a:tc>
                <a:tc>
                  <a:txBody>
                    <a:bodyPr wrap="square">
                      <a:normAutofit/>
                    </a:bodyPr>
                    <a:lstStyle/>
                    <a:p>
                      <a:pPr algn="l"/>
                      <a:r>
                        <a:rPr sz="878" b="0">
                          <a:solidFill>
                            <a:srgbClr val="262626"/>
                          </a:solidFill>
                          <a:latin typeface="Arial"/>
                          <a:ea typeface="Arial"/>
                          <a:cs typeface="Arial"/>
                        </a:rPr>
                        <a:t>Collapse gate only; not kinetic stability</a:t>
                      </a:r>
                    </a:p>
                  </a:txBody>
                  <a:tcPr marL="91440" marR="91440" marT="45720" marB="45720" anchor="ctr">
                    <a:solidFill>
                      <a:srgbClr val="FFFFFF"/>
                    </a:solidFill>
                  </a:tcPr>
                </a:tc>
              </a:tr>
              <a:tr h="452438">
                <a:tc>
                  <a:txBody>
                    <a:bodyPr wrap="square">
                      <a:normAutofit/>
                    </a:bodyPr>
                    <a:lstStyle/>
                    <a:p>
                      <a:pPr algn="l"/>
                      <a:r>
                        <a:rPr sz="878" b="0">
                          <a:solidFill>
                            <a:srgbClr val="262626"/>
                          </a:solidFill>
                          <a:latin typeface="Arial"/>
                          <a:ea typeface="Arial"/>
                          <a:cs typeface="Arial"/>
                        </a:rPr>
                        <a:t>transport_norm</a:t>
                      </a:r>
                    </a:p>
                  </a:txBody>
                  <a:tcPr marL="91440" marR="91440" marT="45720" marB="45720" anchor="ctr">
                    <a:solidFill>
                      <a:srgbClr val="F3F7FB"/>
                    </a:solidFill>
                  </a:tcPr>
                </a:tc>
                <a:tc>
                  <a:txBody>
                    <a:bodyPr wrap="square">
                      <a:normAutofit/>
                    </a:bodyPr>
                    <a:lstStyle/>
                    <a:p>
                      <a:pPr algn="l"/>
                      <a:r>
                        <a:rPr sz="878" b="0">
                          <a:solidFill>
                            <a:srgbClr val="262626"/>
                          </a:solidFill>
                          <a:latin typeface="Arial"/>
                          <a:ea typeface="Arial"/>
                          <a:cs typeface="Arial"/>
                        </a:rPr>
                        <a:t>BVSE geometric proxy</a:t>
                      </a:r>
                    </a:p>
                  </a:txBody>
                  <a:tcPr marL="91440" marR="91440" marT="45720" marB="45720" anchor="ctr">
                    <a:solidFill>
                      <a:srgbClr val="F3F7FB"/>
                    </a:solidFill>
                  </a:tcPr>
                </a:tc>
                <a:tc>
                  <a:txBody>
                    <a:bodyPr wrap="square">
                      <a:normAutofit/>
                    </a:bodyPr>
                    <a:lstStyle/>
                    <a:p>
                      <a:pPr algn="l"/>
                      <a:r>
                        <a:rPr sz="878" b="0">
                          <a:solidFill>
                            <a:srgbClr val="262626"/>
                          </a:solidFill>
                          <a:latin typeface="Arial"/>
                          <a:ea typeface="Arial"/>
                          <a:cs typeface="Arial"/>
                        </a:rPr>
                        <a:t>Never call it D or conductivity</a:t>
                      </a:r>
                    </a:p>
                  </a:txBody>
                  <a:tcPr marL="91440" marR="91440" marT="45720" marB="45720" anchor="ctr">
                    <a:solidFill>
                      <a:srgbClr val="F3F7FB"/>
                    </a:solidFill>
                  </a:tcPr>
                </a:tc>
              </a:tr>
              <a:tr h="452438">
                <a:tc>
                  <a:txBody>
                    <a:bodyPr wrap="square">
                      <a:normAutofit/>
                    </a:bodyPr>
                    <a:lstStyle/>
                    <a:p>
                      <a:pPr algn="l"/>
                      <a:r>
                        <a:rPr sz="878" b="0">
                          <a:solidFill>
                            <a:srgbClr val="262626"/>
                          </a:solidFill>
                          <a:latin typeface="Arial"/>
                          <a:ea typeface="Arial"/>
                          <a:cs typeface="Arial"/>
                        </a:rPr>
                        <a:t>β</a:t>
                      </a:r>
                    </a:p>
                  </a:txBody>
                  <a:tcPr marL="91440" marR="91440" marT="45720" marB="45720" anchor="ctr">
                    <a:solidFill>
                      <a:srgbClr val="FFFFFF"/>
                    </a:solidFill>
                  </a:tcPr>
                </a:tc>
                <a:tc>
                  <a:txBody>
                    <a:bodyPr wrap="square">
                      <a:normAutofit/>
                    </a:bodyPr>
                    <a:lstStyle/>
                    <a:p>
                      <a:pPr algn="l"/>
                      <a:r>
                        <a:rPr sz="878" b="0">
                          <a:solidFill>
                            <a:srgbClr val="262626"/>
                          </a:solidFill>
                          <a:latin typeface="Arial"/>
                          <a:ea typeface="Arial"/>
                          <a:cs typeface="Arial"/>
                        </a:rPr>
                        <a:t>d log(MSD) / d log(t)</a:t>
                      </a:r>
                    </a:p>
                  </a:txBody>
                  <a:tcPr marL="91440" marR="91440" marT="45720" marB="45720" anchor="ctr">
                    <a:solidFill>
                      <a:srgbClr val="FFFFFF"/>
                    </a:solidFill>
                  </a:tcPr>
                </a:tc>
                <a:tc>
                  <a:txBody>
                    <a:bodyPr wrap="square">
                      <a:normAutofit/>
                    </a:bodyPr>
                    <a:lstStyle/>
                    <a:p>
                      <a:pPr algn="l"/>
                      <a:r>
                        <a:rPr sz="878" b="0">
                          <a:solidFill>
                            <a:srgbClr val="262626"/>
                          </a:solidFill>
                          <a:latin typeface="Arial"/>
                          <a:ea typeface="Arial"/>
                          <a:cs typeface="Arial"/>
                        </a:rPr>
                        <a:t>0.8–1.2 required for diffusive verdict</a:t>
                      </a:r>
                    </a:p>
                  </a:txBody>
                  <a:tcPr marL="91440" marR="91440" marT="45720" marB="45720" anchor="ctr">
                    <a:solidFill>
                      <a:srgbClr val="FFFFFF"/>
                    </a:solidFill>
                  </a:tcPr>
                </a:tc>
              </a:tr>
              <a:tr h="452438">
                <a:tc>
                  <a:txBody>
                    <a:bodyPr wrap="square">
                      <a:normAutofit/>
                    </a:bodyPr>
                    <a:lstStyle/>
                    <a:p>
                      <a:pPr algn="l"/>
                      <a:r>
                        <a:rPr sz="878" b="0">
                          <a:solidFill>
                            <a:srgbClr val="262626"/>
                          </a:solidFill>
                          <a:latin typeface="Arial"/>
                          <a:ea typeface="Arial"/>
                          <a:cs typeface="Arial"/>
                        </a:rPr>
                        <a:t>Ea</a:t>
                      </a:r>
                    </a:p>
                  </a:txBody>
                  <a:tcPr marL="91440" marR="91440" marT="45720" marB="45720" anchor="ctr">
                    <a:solidFill>
                      <a:srgbClr val="F3F7FB"/>
                    </a:solidFill>
                  </a:tcPr>
                </a:tc>
                <a:tc>
                  <a:txBody>
                    <a:bodyPr wrap="square">
                      <a:normAutofit/>
                    </a:bodyPr>
                    <a:lstStyle/>
                    <a:p>
                      <a:pPr algn="l"/>
                      <a:r>
                        <a:rPr sz="878" b="0">
                          <a:solidFill>
                            <a:srgbClr val="262626"/>
                          </a:solidFill>
                          <a:latin typeface="Arial"/>
                          <a:ea typeface="Arial"/>
                          <a:cs typeface="Arial"/>
                        </a:rPr>
                        <a:t>Arrhenius activation energy</a:t>
                      </a:r>
                    </a:p>
                  </a:txBody>
                  <a:tcPr marL="91440" marR="91440" marT="45720" marB="45720" anchor="ctr">
                    <a:solidFill>
                      <a:srgbClr val="F3F7FB"/>
                    </a:solidFill>
                  </a:tcPr>
                </a:tc>
                <a:tc>
                  <a:txBody>
                    <a:bodyPr wrap="square">
                      <a:normAutofit/>
                    </a:bodyPr>
                    <a:lstStyle/>
                    <a:p>
                      <a:pPr algn="l"/>
                      <a:r>
                        <a:rPr sz="878" b="0">
                          <a:solidFill>
                            <a:srgbClr val="262626"/>
                          </a:solidFill>
                          <a:latin typeface="Arial"/>
                          <a:ea typeface="Arial"/>
                          <a:cs typeface="Arial"/>
                        </a:rPr>
                        <a:t>State temperatures, window, seeds</a:t>
                      </a:r>
                    </a:p>
                  </a:txBody>
                  <a:tcPr marL="91440" marR="91440" marT="45720" marB="45720" anchor="ctr">
                    <a:solidFill>
                      <a:srgbClr val="F3F7FB"/>
                    </a:solidFill>
                  </a:tcPr>
                </a:tc>
              </a:tr>
              <a:tr h="452438">
                <a:tc>
                  <a:txBody>
                    <a:bodyPr wrap="square">
                      <a:normAutofit/>
                    </a:bodyPr>
                    <a:lstStyle/>
                    <a:p>
                      <a:pPr algn="l"/>
                      <a:r>
                        <a:rPr sz="878" b="0">
                          <a:solidFill>
                            <a:srgbClr val="262626"/>
                          </a:solidFill>
                          <a:latin typeface="Arial"/>
                          <a:ea typeface="Arial"/>
                          <a:cs typeface="Arial"/>
                        </a:rPr>
                        <a:t>missing</a:t>
                      </a:r>
                    </a:p>
                  </a:txBody>
                  <a:tcPr marL="91440" marR="91440" marT="45720" marB="45720" anchor="ctr">
                    <a:solidFill>
                      <a:srgbClr val="FFFFFF"/>
                    </a:solidFill>
                  </a:tcPr>
                </a:tc>
                <a:tc>
                  <a:txBody>
                    <a:bodyPr wrap="square">
                      <a:normAutofit/>
                    </a:bodyPr>
                    <a:lstStyle/>
                    <a:p>
                      <a:pPr algn="l"/>
                      <a:r>
                        <a:rPr sz="878" b="0">
                          <a:solidFill>
                            <a:srgbClr val="262626"/>
                          </a:solidFill>
                          <a:latin typeface="Arial"/>
                          <a:ea typeface="Arial"/>
                          <a:cs typeface="Arial"/>
                        </a:rPr>
                        <a:t>Not calculated / incomplete</a:t>
                      </a:r>
                    </a:p>
                  </a:txBody>
                  <a:tcPr marL="91440" marR="91440" marT="45720" marB="45720" anchor="ctr">
                    <a:solidFill>
                      <a:srgbClr val="FFFFFF"/>
                    </a:solidFill>
                  </a:tcPr>
                </a:tc>
                <a:tc>
                  <a:txBody>
                    <a:bodyPr wrap="square">
                      <a:normAutofit/>
                    </a:bodyPr>
                    <a:lstStyle/>
                    <a:p>
                      <a:pPr algn="l"/>
                      <a:r>
                        <a:rPr sz="878" b="0">
                          <a:solidFill>
                            <a:srgbClr val="262626"/>
                          </a:solidFill>
                          <a:latin typeface="Arial"/>
                          <a:ea typeface="Arial"/>
                          <a:cs typeface="Arial"/>
                        </a:rPr>
                        <a:t>Not a zero and not a failure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06288272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0420FA8-96CA-490D-9661-A4C860ADD6A0}"/>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Appendix A2</a:t>
            </a:r>
            <a:endParaRPr sz="2600"/>
          </a:p>
        </p:txBody>
      </p:sp>
      <p:sp>
        <p:nvSpPr>
          <p:cNvPr id="3" name="Shape 1">
            <a:extLst xmlns:a="http://schemas.openxmlformats.org/drawingml/2006/main">
              <a:ext uri="{FF2B5EF4-FFF2-40B4-BE49-F238E27FC236}">
                <a16:creationId xmlns:a16="http://schemas.microsoft.com/office/drawing/2014/main" id="{CE645B20-45A1-436A-A8AB-CC8058529215}"/>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F011AF5E-555C-4C5D-B56F-0DBE766B946E}"/>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219C26F6-2E7B-47B6-BF27-13594C6AA2E4}"/>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Protocol matrix and allowed claims</a:t>
            </a:r>
            <a:endParaRPr sz="1500"/>
          </a:p>
        </p:txBody>
      </p:sp>
      <p:sp>
        <p:nvSpPr>
          <p:cNvPr id="6" name="Text 4">
            <a:extLst xmlns:a="http://schemas.openxmlformats.org/drawingml/2006/main">
              <a:ext uri="{FF2B5EF4-FFF2-40B4-BE49-F238E27FC236}">
                <a16:creationId xmlns:a16="http://schemas.microsoft.com/office/drawing/2014/main" id="{0615CC0C-F26E-4E43-AAB5-658650708A4B}"/>
              </a:ext>
            </a:extLst>
          </p:cNvPr>
          <p:cNvSpPr>
            <a:spLocks xmlns:a="http://schemas.openxmlformats.org/drawingml/2006/main" noGrp="1"/>
          </p:cNvSpPr>
          <p:nvPr/>
        </p:nvSpPr>
        <p:spPr>
          <a:xfrm xmlns:a="http://schemas.openxmlformats.org/drawingml/2006/main">
            <a:off x="777240" y="1243584"/>
            <a:ext cx="7818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nSpc>
                <a:spcPts val="1500"/>
              </a:lnSpc>
              <a:spcAft>
                <a:spcPts val="500"/>
              </a:spcAft>
              <a:buSzPct val="100000"/>
              <a:buChar char="•"/>
              <a:defRPr sz="1102">
                <a:solidFill>
                  <a:srgbClr val="262626"/>
                </a:solidFill>
                <a:latin typeface="Arial"/>
                <a:ea typeface="Arial"/>
                <a:cs typeface="Arial"/>
              </a:defRPr>
            </a:pPr>
            <a:r>
              <a:rPr sz="1102">
                <a:solidFill>
                  <a:srgbClr val="262626"/>
                </a:solidFill>
                <a:latin typeface="Arial"/>
                <a:ea typeface="Arial"/>
                <a:cs typeface="Arial"/>
              </a:rPr>
              <a:t>The method tag controls the strongest defensible statement.</a:t>
            </a:r>
            <a:endParaRPr sz="1150"/>
          </a:p>
        </p:txBody>
      </p:sp>
      <p:sp>
        <p:nvSpPr>
          <p:cNvPr id="7" name="Text 5">
            <a:extLst xmlns:a="http://schemas.openxmlformats.org/drawingml/2006/main">
              <a:ext uri="{FF2B5EF4-FFF2-40B4-BE49-F238E27FC236}">
                <a16:creationId xmlns:a16="http://schemas.microsoft.com/office/drawing/2014/main" id="{7EF53714-4EBD-4547-8C08-B6267CAED82A}"/>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8" name="Text 6">
            <a:extLst xmlns:a="http://schemas.openxmlformats.org/drawingml/2006/main">
              <a:ext uri="{FF2B5EF4-FFF2-40B4-BE49-F238E27FC236}">
                <a16:creationId xmlns:a16="http://schemas.microsoft.com/office/drawing/2014/main" id="{8F299F68-1E8C-4BC8-BAF9-A7163A18330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9" name="Text 7">
            <a:extLst xmlns:a="http://schemas.openxmlformats.org/drawingml/2006/main">
              <a:ext uri="{FF2B5EF4-FFF2-40B4-BE49-F238E27FC236}">
                <a16:creationId xmlns:a16="http://schemas.microsoft.com/office/drawing/2014/main" id="{7765A90C-8C3D-4494-9E1A-8876EADF65D7}"/>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20</a:t>
            </a:r>
            <a:endParaRPr sz="1000"/>
          </a:p>
        </p:txBody>
      </p:sp>
      <p:graphicFrame>
        <p:nvGraphicFramePr>
          <p:cNvPr id="19" name=""/>
          <p:cNvGraphicFramePr/>
          <p:nvPr/>
        </p:nvGraphicFramePr>
        <p:xfrm>
          <a:off xmlns:a="http://schemas.openxmlformats.org/drawingml/2006/main" x="476250" y="2000250"/>
          <a:ext xmlns:a="http://schemas.openxmlformats.org/drawingml/2006/main" cx="8334375" cy="3333750"/>
        </p:xfrm>
        <a:graphic xmlns:a="http://schemas.openxmlformats.org/drawingml/2006/main">
          <a:graphicData uri="http://schemas.openxmlformats.org/drawingml/2006/table">
            <a:tbl>
              <a:tblPr/>
              <a:tblGrid>
                <a:gridCol w="1476375"/>
                <a:gridCol w="2143125"/>
                <a:gridCol w="2476500"/>
                <a:gridCol w="2238375"/>
              </a:tblGrid>
              <a:tr h="555625">
                <a:tc>
                  <a:txBody>
                    <a:bodyPr wrap="square">
                      <a:normAutofit/>
                    </a:bodyPr>
                    <a:lstStyle/>
                    <a:p>
                      <a:pPr algn="ctr"/>
                      <a:r>
                        <a:rPr sz="855" b="1">
                          <a:solidFill>
                            <a:srgbClr val="FFFFFF"/>
                          </a:solidFill>
                          <a:latin typeface="Arial"/>
                          <a:ea typeface="Arial"/>
                          <a:cs typeface="Arial"/>
                        </a:rPr>
                        <a:t>Tier / method</a:t>
                      </a:r>
                    </a:p>
                  </a:txBody>
                  <a:tcPr marL="91440" marR="91440" marT="45720" marB="45720" anchor="ctr">
                    <a:solidFill>
                      <a:srgbClr val="1F4E79"/>
                    </a:solidFill>
                  </a:tcPr>
                </a:tc>
                <a:tc>
                  <a:txBody>
                    <a:bodyPr wrap="square">
                      <a:normAutofit/>
                    </a:bodyPr>
                    <a:lstStyle/>
                    <a:p>
                      <a:pPr algn="ctr"/>
                      <a:r>
                        <a:rPr sz="855" b="1">
                          <a:solidFill>
                            <a:srgbClr val="FFFFFF"/>
                          </a:solidFill>
                          <a:latin typeface="Arial"/>
                          <a:ea typeface="Arial"/>
                          <a:cs typeface="Arial"/>
                        </a:rPr>
                        <a:t>Primary output</a:t>
                      </a:r>
                    </a:p>
                  </a:txBody>
                  <a:tcPr marL="91440" marR="91440" marT="45720" marB="45720" anchor="ctr">
                    <a:solidFill>
                      <a:srgbClr val="1F4E79"/>
                    </a:solidFill>
                  </a:tcPr>
                </a:tc>
                <a:tc>
                  <a:txBody>
                    <a:bodyPr wrap="square">
                      <a:normAutofit/>
                    </a:bodyPr>
                    <a:lstStyle/>
                    <a:p>
                      <a:pPr algn="ctr"/>
                      <a:r>
                        <a:rPr sz="855" b="1">
                          <a:solidFill>
                            <a:srgbClr val="FFFFFF"/>
                          </a:solidFill>
                          <a:latin typeface="Arial"/>
                          <a:ea typeface="Arial"/>
                          <a:cs typeface="Arial"/>
                        </a:rPr>
                        <a:t>Allowed claim</a:t>
                      </a:r>
                    </a:p>
                  </a:txBody>
                  <a:tcPr marL="91440" marR="91440" marT="45720" marB="45720" anchor="ctr">
                    <a:solidFill>
                      <a:srgbClr val="1F4E79"/>
                    </a:solidFill>
                  </a:tcPr>
                </a:tc>
                <a:tc>
                  <a:txBody>
                    <a:bodyPr wrap="square">
                      <a:normAutofit/>
                    </a:bodyPr>
                    <a:lstStyle/>
                    <a:p>
                      <a:pPr algn="ctr"/>
                      <a:r>
                        <a:rPr sz="855" b="1">
                          <a:solidFill>
                            <a:srgbClr val="FFFFFF"/>
                          </a:solidFill>
                          <a:latin typeface="Arial"/>
                          <a:ea typeface="Arial"/>
                          <a:cs typeface="Arial"/>
                        </a:rPr>
                        <a:t>Do not claim</a:t>
                      </a:r>
                    </a:p>
                  </a:txBody>
                  <a:tcPr marL="91440" marR="91440" marT="45720" marB="45720" anchor="ctr">
                    <a:solidFill>
                      <a:srgbClr val="1F4E79"/>
                    </a:solidFill>
                  </a:tcPr>
                </a:tc>
              </a:tr>
              <a:tr h="555625">
                <a:tc>
                  <a:txBody>
                    <a:bodyPr wrap="square">
                      <a:normAutofit/>
                    </a:bodyPr>
                    <a:lstStyle/>
                    <a:p>
                      <a:pPr algn="l"/>
                      <a:r>
                        <a:rPr sz="855" b="0">
                          <a:solidFill>
                            <a:srgbClr val="262626"/>
                          </a:solidFill>
                          <a:latin typeface="Arial"/>
                          <a:ea typeface="Arial"/>
                          <a:cs typeface="Arial"/>
                        </a:rPr>
                        <a:t>UMA MLIP</a:t>
                      </a:r>
                    </a:p>
                  </a:txBody>
                  <a:tcPr marL="91440" marR="91440" marT="45720" marB="45720" anchor="ctr">
                    <a:solidFill>
                      <a:srgbClr val="FFFFFF"/>
                    </a:solidFill>
                  </a:tcPr>
                </a:tc>
                <a:tc>
                  <a:txBody>
                    <a:bodyPr wrap="square">
                      <a:normAutofit/>
                    </a:bodyPr>
                    <a:lstStyle/>
                    <a:p>
                      <a:pPr algn="l"/>
                      <a:r>
                        <a:rPr sz="855" b="0">
                          <a:solidFill>
                            <a:srgbClr val="262626"/>
                          </a:solidFill>
                          <a:latin typeface="Arial"/>
                          <a:ea typeface="Arial"/>
                          <a:cs typeface="Arial"/>
                        </a:rPr>
                        <a:t>Relative E, forces, relaxation</a:t>
                      </a:r>
                    </a:p>
                  </a:txBody>
                  <a:tcPr marL="91440" marR="91440" marT="45720" marB="45720" anchor="ctr">
                    <a:solidFill>
                      <a:srgbClr val="FFFFFF"/>
                    </a:solidFill>
                  </a:tcPr>
                </a:tc>
                <a:tc>
                  <a:txBody>
                    <a:bodyPr wrap="square">
                      <a:normAutofit/>
                    </a:bodyPr>
                    <a:lstStyle/>
                    <a:p>
                      <a:pPr algn="l"/>
                      <a:r>
                        <a:rPr sz="855" b="0">
                          <a:solidFill>
                            <a:srgbClr val="262626"/>
                          </a:solidFill>
                          <a:latin typeface="Arial"/>
                          <a:ea typeface="Arial"/>
                          <a:cs typeface="Arial"/>
                        </a:rPr>
                        <a:t>Same-protocol candidate ordering</a:t>
                      </a:r>
                    </a:p>
                  </a:txBody>
                  <a:tcPr marL="91440" marR="91440" marT="45720" marB="45720" anchor="ctr">
                    <a:solidFill>
                      <a:srgbClr val="FFFFFF"/>
                    </a:solidFill>
                  </a:tcPr>
                </a:tc>
                <a:tc>
                  <a:txBody>
                    <a:bodyPr wrap="square">
                      <a:normAutofit/>
                    </a:bodyPr>
                    <a:lstStyle/>
                    <a:p>
                      <a:pPr algn="l"/>
                      <a:r>
                        <a:rPr sz="855" b="0">
                          <a:solidFill>
                            <a:srgbClr val="262626"/>
                          </a:solidFill>
                          <a:latin typeface="Arial"/>
                          <a:ea typeface="Arial"/>
                          <a:cs typeface="Arial"/>
                        </a:rPr>
                        <a:t>Absolute thermodynamics</a:t>
                      </a:r>
                    </a:p>
                  </a:txBody>
                  <a:tcPr marL="91440" marR="91440" marT="45720" marB="45720" anchor="ctr">
                    <a:solidFill>
                      <a:srgbClr val="FFFFFF"/>
                    </a:solidFill>
                  </a:tcPr>
                </a:tc>
              </a:tr>
              <a:tr h="555625">
                <a:tc>
                  <a:txBody>
                    <a:bodyPr wrap="square">
                      <a:normAutofit/>
                    </a:bodyPr>
                    <a:lstStyle/>
                    <a:p>
                      <a:pPr algn="l"/>
                      <a:r>
                        <a:rPr sz="855" b="0">
                          <a:solidFill>
                            <a:srgbClr val="262626"/>
                          </a:solidFill>
                          <a:latin typeface="Arial"/>
                          <a:ea typeface="Arial"/>
                          <a:cs typeface="Arial"/>
                        </a:rPr>
                        <a:t>BVSE</a:t>
                      </a:r>
                    </a:p>
                  </a:txBody>
                  <a:tcPr marL="91440" marR="91440" marT="45720" marB="45720" anchor="ctr">
                    <a:solidFill>
                      <a:srgbClr val="F3F7FB"/>
                    </a:solidFill>
                  </a:tcPr>
                </a:tc>
                <a:tc>
                  <a:txBody>
                    <a:bodyPr wrap="square">
                      <a:normAutofit/>
                    </a:bodyPr>
                    <a:lstStyle/>
                    <a:p>
                      <a:pPr algn="l"/>
                      <a:r>
                        <a:rPr sz="855" b="0">
                          <a:solidFill>
                            <a:srgbClr val="262626"/>
                          </a:solidFill>
                          <a:latin typeface="Arial"/>
                          <a:ea typeface="Arial"/>
                          <a:cs typeface="Arial"/>
                        </a:rPr>
                        <a:t>Static pathway geometry</a:t>
                      </a:r>
                    </a:p>
                  </a:txBody>
                  <a:tcPr marL="91440" marR="91440" marT="45720" marB="45720" anchor="ctr">
                    <a:solidFill>
                      <a:srgbClr val="F3F7FB"/>
                    </a:solidFill>
                  </a:tcPr>
                </a:tc>
                <a:tc>
                  <a:txBody>
                    <a:bodyPr wrap="square">
                      <a:normAutofit/>
                    </a:bodyPr>
                    <a:lstStyle/>
                    <a:p>
                      <a:pPr algn="l"/>
                      <a:r>
                        <a:rPr sz="855" b="0">
                          <a:solidFill>
                            <a:srgbClr val="262626"/>
                          </a:solidFill>
                          <a:latin typeface="Arial"/>
                          <a:ea typeface="Arial"/>
                          <a:cs typeface="Arial"/>
                        </a:rPr>
                        <a:t>Pathway retention risk</a:t>
                      </a:r>
                    </a:p>
                  </a:txBody>
                  <a:tcPr marL="91440" marR="91440" marT="45720" marB="45720" anchor="ctr">
                    <a:solidFill>
                      <a:srgbClr val="F3F7FB"/>
                    </a:solidFill>
                  </a:tcPr>
                </a:tc>
                <a:tc>
                  <a:txBody>
                    <a:bodyPr wrap="square">
                      <a:normAutofit/>
                    </a:bodyPr>
                    <a:lstStyle/>
                    <a:p>
                      <a:pPr algn="l"/>
                      <a:r>
                        <a:rPr sz="855" b="0">
                          <a:solidFill>
                            <a:srgbClr val="262626"/>
                          </a:solidFill>
                          <a:latin typeface="Arial"/>
                          <a:ea typeface="Arial"/>
                          <a:cs typeface="Arial"/>
                        </a:rPr>
                        <a:t>D or conductivity</a:t>
                      </a:r>
                    </a:p>
                  </a:txBody>
                  <a:tcPr marL="91440" marR="91440" marT="45720" marB="45720" anchor="ctr">
                    <a:solidFill>
                      <a:srgbClr val="F3F7FB"/>
                    </a:solidFill>
                  </a:tcPr>
                </a:tc>
              </a:tr>
              <a:tr h="555625">
                <a:tc>
                  <a:txBody>
                    <a:bodyPr wrap="square">
                      <a:normAutofit/>
                    </a:bodyPr>
                    <a:lstStyle/>
                    <a:p>
                      <a:pPr algn="l"/>
                      <a:r>
                        <a:rPr sz="855" b="0">
                          <a:solidFill>
                            <a:srgbClr val="262626"/>
                          </a:solidFill>
                          <a:latin typeface="Arial"/>
                          <a:ea typeface="Arial"/>
                          <a:cs typeface="Arial"/>
                        </a:rPr>
                        <a:t>MLIP-MD</a:t>
                      </a:r>
                    </a:p>
                  </a:txBody>
                  <a:tcPr marL="91440" marR="91440" marT="45720" marB="45720" anchor="ctr">
                    <a:solidFill>
                      <a:srgbClr val="FFFFFF"/>
                    </a:solidFill>
                  </a:tcPr>
                </a:tc>
                <a:tc>
                  <a:txBody>
                    <a:bodyPr wrap="square">
                      <a:normAutofit/>
                    </a:bodyPr>
                    <a:lstStyle/>
                    <a:p>
                      <a:pPr algn="l"/>
                      <a:r>
                        <a:rPr sz="855" b="0">
                          <a:solidFill>
                            <a:srgbClr val="262626"/>
                          </a:solidFill>
                          <a:latin typeface="Arial"/>
                          <a:ea typeface="Arial"/>
                          <a:cs typeface="Arial"/>
                        </a:rPr>
                        <a:t>MSD, D(T), Ea</a:t>
                      </a:r>
                    </a:p>
                  </a:txBody>
                  <a:tcPr marL="91440" marR="91440" marT="45720" marB="45720" anchor="ctr">
                    <a:solidFill>
                      <a:srgbClr val="FFFFFF"/>
                    </a:solidFill>
                  </a:tcPr>
                </a:tc>
                <a:tc>
                  <a:txBody>
                    <a:bodyPr wrap="square">
                      <a:normAutofit/>
                    </a:bodyPr>
                    <a:lstStyle/>
                    <a:p>
                      <a:pPr algn="l"/>
                      <a:r>
                        <a:rPr sz="855" b="0">
                          <a:solidFill>
                            <a:srgbClr val="262626"/>
                          </a:solidFill>
                          <a:latin typeface="Arial"/>
                          <a:ea typeface="Arial"/>
                          <a:cs typeface="Arial"/>
                        </a:rPr>
                        <a:t>Multiseed verdict at 600/800/1000 K</a:t>
                      </a:r>
                    </a:p>
                  </a:txBody>
                  <a:tcPr marL="91440" marR="91440" marT="45720" marB="45720" anchor="ctr">
                    <a:solidFill>
                      <a:srgbClr val="FFFFFF"/>
                    </a:solidFill>
                  </a:tcPr>
                </a:tc>
                <a:tc>
                  <a:txBody>
                    <a:bodyPr wrap="square">
                      <a:normAutofit/>
                    </a:bodyPr>
                    <a:lstStyle/>
                    <a:p>
                      <a:pPr algn="l"/>
                      <a:r>
                        <a:rPr sz="855" b="0">
                          <a:solidFill>
                            <a:srgbClr val="262626"/>
                          </a:solidFill>
                          <a:latin typeface="Arial"/>
                          <a:ea typeface="Arial"/>
                          <a:cs typeface="Arial"/>
                        </a:rPr>
                        <a:t>Single-seed ratio</a:t>
                      </a:r>
                    </a:p>
                  </a:txBody>
                  <a:tcPr marL="91440" marR="91440" marT="45720" marB="45720" anchor="ctr">
                    <a:solidFill>
                      <a:srgbClr val="FFFFFF"/>
                    </a:solidFill>
                  </a:tcPr>
                </a:tc>
              </a:tr>
              <a:tr h="555625">
                <a:tc>
                  <a:txBody>
                    <a:bodyPr wrap="square">
                      <a:normAutofit/>
                    </a:bodyPr>
                    <a:lstStyle/>
                    <a:p>
                      <a:pPr algn="l"/>
                      <a:r>
                        <a:rPr sz="855" b="0">
                          <a:solidFill>
                            <a:srgbClr val="262626"/>
                          </a:solidFill>
                          <a:latin typeface="Arial"/>
                          <a:ea typeface="Arial"/>
                          <a:cs typeface="Arial"/>
                        </a:rPr>
                        <a:t>DFT</a:t>
                      </a:r>
                    </a:p>
                  </a:txBody>
                  <a:tcPr marL="91440" marR="91440" marT="45720" marB="45720" anchor="ctr">
                    <a:solidFill>
                      <a:srgbClr val="F3F7FB"/>
                    </a:solidFill>
                  </a:tcPr>
                </a:tc>
                <a:tc>
                  <a:txBody>
                    <a:bodyPr wrap="square">
                      <a:normAutofit/>
                    </a:bodyPr>
                    <a:lstStyle/>
                    <a:p>
                      <a:pPr algn="l"/>
                      <a:r>
                        <a:rPr sz="855" b="0">
                          <a:solidFill>
                            <a:srgbClr val="262626"/>
                          </a:solidFill>
                          <a:latin typeface="Arial"/>
                          <a:ea typeface="Arial"/>
                          <a:cs typeface="Arial"/>
                        </a:rPr>
                        <a:t>Matched energy/electronic response</a:t>
                      </a:r>
                    </a:p>
                  </a:txBody>
                  <a:tcPr marL="91440" marR="91440" marT="45720" marB="45720" anchor="ctr">
                    <a:solidFill>
                      <a:srgbClr val="F3F7FB"/>
                    </a:solidFill>
                  </a:tcPr>
                </a:tc>
                <a:tc>
                  <a:txBody>
                    <a:bodyPr wrap="square">
                      <a:normAutofit/>
                    </a:bodyPr>
                    <a:lstStyle/>
                    <a:p>
                      <a:pPr algn="l"/>
                      <a:r>
                        <a:rPr sz="855" b="0">
                          <a:solidFill>
                            <a:srgbClr val="262626"/>
                          </a:solidFill>
                          <a:latin typeface="Arial"/>
                          <a:ea typeface="Arial"/>
                          <a:cs typeface="Arial"/>
                        </a:rPr>
                        <a:t>Selected candidate validation</a:t>
                      </a:r>
                    </a:p>
                  </a:txBody>
                  <a:tcPr marL="91440" marR="91440" marT="45720" marB="45720" anchor="ctr">
                    <a:solidFill>
                      <a:srgbClr val="F3F7FB"/>
                    </a:solidFill>
                  </a:tcPr>
                </a:tc>
                <a:tc>
                  <a:txBody>
                    <a:bodyPr wrap="square">
                      <a:normAutofit/>
                    </a:bodyPr>
                    <a:lstStyle/>
                    <a:p>
                      <a:pPr algn="l"/>
                      <a:r>
                        <a:rPr sz="855" b="0">
                          <a:solidFill>
                            <a:srgbClr val="262626"/>
                          </a:solidFill>
                          <a:latin typeface="Arial"/>
                          <a:ea typeface="Arial"/>
                          <a:cs typeface="Arial"/>
                        </a:rPr>
                        <a:t>47/47 DFT coverage</a:t>
                      </a:r>
                    </a:p>
                  </a:txBody>
                  <a:tcPr marL="91440" marR="91440" marT="45720" marB="45720" anchor="ctr">
                    <a:solidFill>
                      <a:srgbClr val="F3F7FB"/>
                    </a:solidFill>
                  </a:tcPr>
                </a:tc>
              </a:tr>
              <a:tr h="555625">
                <a:tc>
                  <a:txBody>
                    <a:bodyPr wrap="square">
                      <a:normAutofit/>
                    </a:bodyPr>
                    <a:lstStyle/>
                    <a:p>
                      <a:pPr algn="l"/>
                      <a:r>
                        <a:rPr sz="855" b="0">
                          <a:solidFill>
                            <a:srgbClr val="262626"/>
                          </a:solidFill>
                          <a:latin typeface="Arial"/>
                          <a:ea typeface="Arial"/>
                          <a:cs typeface="Arial"/>
                        </a:rPr>
                        <a:t>Literature / experiment</a:t>
                      </a:r>
                    </a:p>
                  </a:txBody>
                  <a:tcPr marL="91440" marR="91440" marT="45720" marB="45720" anchor="ctr">
                    <a:solidFill>
                      <a:srgbClr val="FFFFFF"/>
                    </a:solidFill>
                  </a:tcPr>
                </a:tc>
                <a:tc>
                  <a:txBody>
                    <a:bodyPr wrap="square">
                      <a:normAutofit/>
                    </a:bodyPr>
                    <a:lstStyle/>
                    <a:p>
                      <a:pPr algn="l"/>
                      <a:r>
                        <a:rPr sz="855" b="0">
                          <a:solidFill>
                            <a:srgbClr val="262626"/>
                          </a:solidFill>
                          <a:latin typeface="Arial"/>
                          <a:ea typeface="Arial"/>
                          <a:cs typeface="Arial"/>
                        </a:rPr>
                        <a:t>External measured or computed values</a:t>
                      </a:r>
                    </a:p>
                  </a:txBody>
                  <a:tcPr marL="91440" marR="91440" marT="45720" marB="45720" anchor="ctr">
                    <a:solidFill>
                      <a:srgbClr val="FFFFFF"/>
                    </a:solidFill>
                  </a:tcPr>
                </a:tc>
                <a:tc>
                  <a:txBody>
                    <a:bodyPr wrap="square">
                      <a:normAutofit/>
                    </a:bodyPr>
                    <a:lstStyle/>
                    <a:p>
                      <a:pPr algn="l"/>
                      <a:r>
                        <a:rPr sz="855" b="0">
                          <a:solidFill>
                            <a:srgbClr val="262626"/>
                          </a:solidFill>
                          <a:latin typeface="Arial"/>
                          <a:ea typeface="Arial"/>
                          <a:cs typeface="Arial"/>
                        </a:rPr>
                        <a:t>Directional cross-check</a:t>
                      </a:r>
                    </a:p>
                  </a:txBody>
                  <a:tcPr marL="91440" marR="91440" marT="45720" marB="45720" anchor="ctr">
                    <a:solidFill>
                      <a:srgbClr val="FFFFFF"/>
                    </a:solidFill>
                  </a:tcPr>
                </a:tc>
                <a:tc>
                  <a:txBody>
                    <a:bodyPr wrap="square">
                      <a:normAutofit/>
                    </a:bodyPr>
                    <a:lstStyle/>
                    <a:p>
                      <a:pPr algn="l"/>
                      <a:r>
                        <a:rPr sz="855" b="0">
                          <a:solidFill>
                            <a:srgbClr val="262626"/>
                          </a:solidFill>
                          <a:latin typeface="Arial"/>
                          <a:ea typeface="Arial"/>
                          <a:cs typeface="Arial"/>
                        </a:rPr>
                        <a:t>Mix with internal absolutes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06288272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0420FA8-96CA-490D-9661-A4C860ADD6A0}"/>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Appendix A3</a:t>
            </a:r>
            <a:endParaRPr sz="2600"/>
          </a:p>
        </p:txBody>
      </p:sp>
      <p:sp>
        <p:nvSpPr>
          <p:cNvPr id="3" name="Shape 1">
            <a:extLst xmlns:a="http://schemas.openxmlformats.org/drawingml/2006/main">
              <a:ext uri="{FF2B5EF4-FFF2-40B4-BE49-F238E27FC236}">
                <a16:creationId xmlns:a16="http://schemas.microsoft.com/office/drawing/2014/main" id="{CE645B20-45A1-436A-A8AB-CC8058529215}"/>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8" name="Text 6">
            <a:extLst xmlns:a="http://schemas.openxmlformats.org/drawingml/2006/main">
              <a:ext uri="{FF2B5EF4-FFF2-40B4-BE49-F238E27FC236}">
                <a16:creationId xmlns:a16="http://schemas.microsoft.com/office/drawing/2014/main" id="{8F299F68-1E8C-4BC8-BAF9-A7163A18330C}"/>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9" name="Text 7">
            <a:extLst xmlns:a="http://schemas.openxmlformats.org/drawingml/2006/main">
              <a:ext uri="{FF2B5EF4-FFF2-40B4-BE49-F238E27FC236}">
                <a16:creationId xmlns:a16="http://schemas.microsoft.com/office/drawing/2014/main" id="{7765A90C-8C3D-4494-9E1A-8876EADF65D7}"/>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21</a:t>
            </a:r>
            <a:endParaRPr sz="1000"/>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182f7e2711a4708"/>
          <a:stretch xmlns:a="http://schemas.openxmlformats.org/drawingml/2006/main"/>
        </p:blipFill>
        <p:spPr>
          <a:xfrm xmlns:a="http://schemas.openxmlformats.org/drawingml/2006/main">
            <a:off x="1223672" y="952500"/>
            <a:ext cx="6696656" cy="5334000"/>
          </a:xfrm>
          <a:prstGeom xmlns:a="http://schemas.openxmlformats.org/drawingml/2006/main" prst="rect">
            <a:avLst/>
          </a:prstGeom>
        </p:spPr>
      </p:pic>
      <p:sp>
        <p:nvSpPr>
          <p:cNvPr id="11" name="a03-footer">
            <a:extLst xmlns:a="http://schemas.openxmlformats.org/drawingml/2006/main">
              <a:ext uri="{FF2B5EF4-FFF2-40B4-BE49-F238E27FC236}">
                <a16:creationId xmlns:a16="http://schemas.microsoft.com/office/drawing/2014/main" id="{96DCCB51-D0FC-4EE0-9875-B7CC591AE6FF}"/>
              </a:ext>
            </a:extLst>
          </p:cNvPr>
          <p:cNvSpPr>
            <a:spLocks xmlns:a="http://schemas.openxmlformats.org/drawingml/2006/main" noGrp="1"/>
          </p:cNvSpPr>
          <p:nvPr/>
        </p:nvSpPr>
        <p:spPr>
          <a:xfrm xmlns:a="http://schemas.openxmlformats.org/drawingml/2006/main">
            <a:off x="590550" y="647700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47625" rIns="66675" bIns="47625" anchor="ctr">
            <a:normAutofit fontScale="79315"/>
          </a:bodyPr>
          <a:lstStyle xmlns:a="http://schemas.openxmlformats.org/drawingml/2006/main"/>
          <a:p xmlns:a="http://schemas.openxmlformats.org/drawingml/2006/main">
            <a:pPr algn="l">
              <a:defRPr sz="788" b="1" i="0">
                <a:solidFill>
                  <a:srgbClr val="1F4E79"/>
                </a:solidFill>
                <a:latin typeface="Arial"/>
                <a:ea typeface="Arial"/>
                <a:cs typeface="Arial"/>
              </a:defRPr>
            </a:pPr>
            <a:r>
              <a:rPr sz="788" b="1" i="0">
                <a:solidFill>
                  <a:srgbClr val="1F4E79"/>
                </a:solidFill>
                <a:latin typeface="Arial"/>
                <a:ea typeface="Arial"/>
                <a:cs typeface="Arial"/>
              </a:rPr>
              <a:t>HANYANG UNIVERSITY</a:t>
            </a:r>
          </a:p>
        </p:txBody>
      </p:sp>
    </p:spTree>
    <p:extLst>
      <p:ext uri="{BB962C8B-B14F-4D97-AF65-F5344CB8AC3E}">
        <p14:creationId xmlns:p14="http://schemas.microsoft.com/office/powerpoint/2010/main" val="206288272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D0F5E39-3FEF-43B6-AAB0-47A839F12A31}"/>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Appendix A4</a:t>
            </a:r>
            <a:endParaRPr sz="2600"/>
          </a:p>
        </p:txBody>
      </p:sp>
      <p:sp>
        <p:nvSpPr>
          <p:cNvPr id="3" name="Shape 1">
            <a:extLst xmlns:a="http://schemas.openxmlformats.org/drawingml/2006/main">
              <a:ext uri="{FF2B5EF4-FFF2-40B4-BE49-F238E27FC236}">
                <a16:creationId xmlns:a16="http://schemas.microsoft.com/office/drawing/2014/main" id="{30294125-5ED9-46CA-B133-94EBFA4B0A28}"/>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9900B060-6C70-42DF-8FBC-184CF5B42795}"/>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5E844E72-FC8A-4B39-B011-C13FE97A136E}"/>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Defense Q&amp;A — cascade and evidence</a:t>
            </a:r>
            <a:endParaRPr sz="1500"/>
          </a:p>
        </p:txBody>
      </p:sp>
      <p:sp>
        <p:nvSpPr>
          <p:cNvPr id="6" name="Text 4">
            <a:extLst xmlns:a="http://schemas.openxmlformats.org/drawingml/2006/main">
              <a:ext uri="{FF2B5EF4-FFF2-40B4-BE49-F238E27FC236}">
                <a16:creationId xmlns:a16="http://schemas.microsoft.com/office/drawing/2014/main" id="{4217D05D-868C-4532-BCEF-E095FF7DDC87}"/>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7" name="Text 5">
            <a:extLst xmlns:a="http://schemas.openxmlformats.org/drawingml/2006/main">
              <a:ext uri="{FF2B5EF4-FFF2-40B4-BE49-F238E27FC236}">
                <a16:creationId xmlns:a16="http://schemas.microsoft.com/office/drawing/2014/main" id="{A7562CA4-336A-4F68-9716-90B618AE4E36}"/>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8" name="Text 6">
            <a:extLst xmlns:a="http://schemas.openxmlformats.org/drawingml/2006/main">
              <a:ext uri="{FF2B5EF4-FFF2-40B4-BE49-F238E27FC236}">
                <a16:creationId xmlns:a16="http://schemas.microsoft.com/office/drawing/2014/main" id="{B4FD4EE0-657B-464D-878C-F961CEDCB6C6}"/>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22</a:t>
            </a:r>
            <a:endParaRPr sz="1000"/>
          </a:p>
        </p:txBody>
      </p:sp>
      <p:graphicFrame>
        <p:nvGraphicFramePr>
          <p:cNvPr id="17" name=""/>
          <p:cNvGraphicFramePr/>
          <p:nvPr/>
        </p:nvGraphicFramePr>
        <p:xfrm>
          <a:off xmlns:a="http://schemas.openxmlformats.org/drawingml/2006/main" x="523875" y="1428750"/>
          <a:ext xmlns:a="http://schemas.openxmlformats.org/drawingml/2006/main" cx="8239125" cy="4095750"/>
        </p:xfrm>
        <a:graphic xmlns:a="http://schemas.openxmlformats.org/drawingml/2006/main">
          <a:graphicData uri="http://schemas.openxmlformats.org/drawingml/2006/table">
            <a:tbl>
              <a:tblPr/>
              <a:tblGrid>
                <a:gridCol w="2952750"/>
                <a:gridCol w="5286375"/>
              </a:tblGrid>
              <a:tr h="682625">
                <a:tc>
                  <a:txBody>
                    <a:bodyPr wrap="square">
                      <a:normAutofit/>
                    </a:bodyPr>
                    <a:lstStyle/>
                    <a:p>
                      <a:pPr algn="ctr"/>
                      <a:r>
                        <a:rPr sz="900" b="1">
                          <a:solidFill>
                            <a:srgbClr val="FFFFFF"/>
                          </a:solidFill>
                          <a:latin typeface="Arial"/>
                          <a:ea typeface="Arial"/>
                          <a:cs typeface="Arial"/>
                        </a:rPr>
                        <a:t>Question</a:t>
                      </a:r>
                    </a:p>
                  </a:txBody>
                  <a:tcPr marL="91440" marR="91440" marT="45720" marB="45720" anchor="ctr">
                    <a:solidFill>
                      <a:srgbClr val="1F4E79"/>
                    </a:solidFill>
                  </a:tcPr>
                </a:tc>
                <a:tc>
                  <a:txBody>
                    <a:bodyPr wrap="square">
                      <a:normAutofit/>
                    </a:bodyPr>
                    <a:lstStyle/>
                    <a:p>
                      <a:pPr algn="ctr"/>
                      <a:r>
                        <a:rPr sz="900" b="1">
                          <a:solidFill>
                            <a:srgbClr val="FFFFFF"/>
                          </a:solidFill>
                          <a:latin typeface="Arial"/>
                          <a:ea typeface="Arial"/>
                          <a:cs typeface="Arial"/>
                        </a:rPr>
                        <a:t>Defense answer</a:t>
                      </a:r>
                    </a:p>
                  </a:txBody>
                  <a:tcPr marL="91440" marR="91440" marT="45720" marB="45720" anchor="ctr">
                    <a:solidFill>
                      <a:srgbClr val="1F4E79"/>
                    </a:solidFill>
                  </a:tcPr>
                </a:tc>
              </a:tr>
              <a:tr h="682625">
                <a:tc>
                  <a:txBody>
                    <a:bodyPr wrap="square">
                      <a:normAutofit/>
                    </a:bodyPr>
                    <a:lstStyle/>
                    <a:p>
                      <a:pPr algn="l"/>
                      <a:r>
                        <a:rPr sz="900" b="0">
                          <a:solidFill>
                            <a:srgbClr val="262626"/>
                          </a:solidFill>
                          <a:latin typeface="Arial"/>
                          <a:ea typeface="Arial"/>
                          <a:cs typeface="Arial"/>
                        </a:rPr>
                        <a:t>Is 47 a high-throughput discovery funnel?</a:t>
                      </a:r>
                    </a:p>
                  </a:txBody>
                  <a:tcPr marL="91440" marR="91440" marT="45720" marB="45720" anchor="ctr">
                    <a:solidFill>
                      <a:srgbClr val="FFFFFF"/>
                    </a:solidFill>
                  </a:tcPr>
                </a:tc>
                <a:tc>
                  <a:txBody>
                    <a:bodyPr wrap="square">
                      <a:normAutofit/>
                    </a:bodyPr>
                    <a:lstStyle/>
                    <a:p>
                      <a:pPr algn="l"/>
                      <a:r>
                        <a:rPr sz="900" b="0">
                          <a:solidFill>
                            <a:srgbClr val="262626"/>
                          </a:solidFill>
                          <a:latin typeface="Arial"/>
                          <a:ea typeface="Arial"/>
                          <a:cs typeface="Arial"/>
                        </a:rPr>
                        <a:t>No. It is a human-curated, host-specific composition-family scan.</a:t>
                      </a:r>
                    </a:p>
                  </a:txBody>
                  <a:tcPr marL="91440" marR="91440" marT="45720" marB="45720" anchor="ctr">
                    <a:solidFill>
                      <a:srgbClr val="FFFFFF"/>
                    </a:solidFill>
                  </a:tcPr>
                </a:tc>
              </a:tr>
              <a:tr h="682625">
                <a:tc>
                  <a:txBody>
                    <a:bodyPr wrap="square">
                      <a:normAutofit/>
                    </a:bodyPr>
                    <a:lstStyle/>
                    <a:p>
                      <a:pPr algn="l"/>
                      <a:r>
                        <a:rPr sz="900" b="0">
                          <a:solidFill>
                            <a:srgbClr val="262626"/>
                          </a:solidFill>
                          <a:latin typeface="Arial"/>
                          <a:ea typeface="Arial"/>
                          <a:cs typeface="Arial"/>
                        </a:rPr>
                        <a:t>What happened to the other 44 of 91?</a:t>
                      </a:r>
                    </a:p>
                  </a:txBody>
                  <a:tcPr marL="91440" marR="91440" marT="45720" marB="45720" anchor="ctr">
                    <a:solidFill>
                      <a:srgbClr val="F3F7FB"/>
                    </a:solidFill>
                  </a:tcPr>
                </a:tc>
                <a:tc>
                  <a:txBody>
                    <a:bodyPr wrap="square">
                      <a:normAutofit/>
                    </a:bodyPr>
                    <a:lstStyle/>
                    <a:p>
                      <a:pPr algn="l"/>
                      <a:r>
                        <a:rPr sz="900" b="0">
                          <a:solidFill>
                            <a:srgbClr val="262626"/>
                          </a:solidFill>
                          <a:latin typeface="Arial"/>
                          <a:ea typeface="Arial"/>
                          <a:cs typeface="Arial"/>
                        </a:rPr>
                        <a:t>They are absent from the versioned canonical snapshot. The unified 273-row table is not versioned; absence is not physical rejection.</a:t>
                      </a:r>
                    </a:p>
                  </a:txBody>
                  <a:tcPr marL="91440" marR="91440" marT="45720" marB="45720" anchor="ctr">
                    <a:solidFill>
                      <a:srgbClr val="F3F7FB"/>
                    </a:solidFill>
                  </a:tcPr>
                </a:tc>
              </a:tr>
              <a:tr h="682625">
                <a:tc>
                  <a:txBody>
                    <a:bodyPr wrap="square">
                      <a:normAutofit/>
                    </a:bodyPr>
                    <a:lstStyle/>
                    <a:p>
                      <a:pPr algn="l"/>
                      <a:r>
                        <a:rPr sz="900" b="0">
                          <a:solidFill>
                            <a:srgbClr val="262626"/>
                          </a:solidFill>
                          <a:latin typeface="Arial"/>
                          <a:ea typeface="Arial"/>
                          <a:cs typeface="Arial"/>
                        </a:rPr>
                        <a:t>Why keep vacuous or redundant gates?</a:t>
                      </a:r>
                    </a:p>
                  </a:txBody>
                  <a:tcPr marL="91440" marR="91440" marT="45720" marB="45720" anchor="ctr">
                    <a:solidFill>
                      <a:srgbClr val="FFFFFF"/>
                    </a:solidFill>
                  </a:tcPr>
                </a:tc>
                <a:tc>
                  <a:txBody>
                    <a:bodyPr wrap="square">
                      <a:normAutofit/>
                    </a:bodyPr>
                    <a:lstStyle/>
                    <a:p>
                      <a:pPr algn="l"/>
                      <a:r>
                        <a:rPr sz="900" b="0">
                          <a:solidFill>
                            <a:srgbClr val="262626"/>
                          </a:solidFill>
                          <a:latin typeface="Arial"/>
                          <a:ea typeface="Arial"/>
                          <a:cs typeface="Arial"/>
                        </a:rPr>
                        <a:t>Auditability. Their current selection pressure is reported and may change with a new pool.</a:t>
                      </a:r>
                    </a:p>
                  </a:txBody>
                  <a:tcPr marL="91440" marR="91440" marT="45720" marB="45720" anchor="ctr">
                    <a:solidFill>
                      <a:srgbClr val="FFFFFF"/>
                    </a:solidFill>
                  </a:tcPr>
                </a:tc>
              </a:tr>
              <a:tr h="682625">
                <a:tc>
                  <a:txBody>
                    <a:bodyPr wrap="square">
                      <a:normAutofit/>
                    </a:bodyPr>
                    <a:lstStyle/>
                    <a:p>
                      <a:pPr algn="l"/>
                      <a:r>
                        <a:rPr sz="900" b="0">
                          <a:solidFill>
                            <a:srgbClr val="262626"/>
                          </a:solidFill>
                          <a:latin typeface="Arial"/>
                          <a:ea typeface="Arial"/>
                          <a:cs typeface="Arial"/>
                        </a:rPr>
                        <a:t>Why conclude at 11 instead of one?</a:t>
                      </a:r>
                    </a:p>
                  </a:txBody>
                  <a:tcPr marL="91440" marR="91440" marT="45720" marB="45720" anchor="ctr">
                    <a:solidFill>
                      <a:srgbClr val="F3F7FB"/>
                    </a:solidFill>
                  </a:tcPr>
                </a:tc>
                <a:tc>
                  <a:txBody>
                    <a:bodyPr wrap="square">
                      <a:normAutofit/>
                    </a:bodyPr>
                    <a:lstStyle/>
                    <a:p>
                      <a:pPr algn="l"/>
                      <a:r>
                        <a:rPr sz="900" b="0">
                          <a:solidFill>
                            <a:srgbClr val="262626"/>
                          </a:solidFill>
                          <a:latin typeface="Arial"/>
                          <a:ea typeface="Arial"/>
                          <a:cs typeface="Arial"/>
                        </a:rPr>
                        <a:t>G5 is roster-median ranking. G4 defines the defensible physical survivor set.</a:t>
                      </a:r>
                    </a:p>
                  </a:txBody>
                  <a:tcPr marL="91440" marR="91440" marT="45720" marB="45720" anchor="ctr">
                    <a:solidFill>
                      <a:srgbClr val="F3F7FB"/>
                    </a:solidFill>
                  </a:tcPr>
                </a:tc>
              </a:tr>
              <a:tr h="682625">
                <a:tc>
                  <a:txBody>
                    <a:bodyPr wrap="square">
                      <a:normAutofit/>
                    </a:bodyPr>
                    <a:lstStyle/>
                    <a:p>
                      <a:pPr algn="l"/>
                      <a:r>
                        <a:rPr sz="900" b="0">
                          <a:solidFill>
                            <a:srgbClr val="262626"/>
                          </a:solidFill>
                          <a:latin typeface="Arial"/>
                          <a:ea typeface="Arial"/>
                          <a:cs typeface="Arial"/>
                        </a:rPr>
                        <a:t>Does BVSE failure prove low conductivity?</a:t>
                      </a:r>
                    </a:p>
                  </a:txBody>
                  <a:tcPr marL="91440" marR="91440" marT="45720" marB="45720" anchor="ctr">
                    <a:solidFill>
                      <a:srgbClr val="FFFFFF"/>
                    </a:solidFill>
                  </a:tcPr>
                </a:tc>
                <a:tc>
                  <a:txBody>
                    <a:bodyPr wrap="square">
                      <a:normAutofit/>
                    </a:bodyPr>
                    <a:lstStyle/>
                    <a:p>
                      <a:pPr algn="l"/>
                      <a:r>
                        <a:rPr sz="900" b="0">
                          <a:solidFill>
                            <a:srgbClr val="262626"/>
                          </a:solidFill>
                          <a:latin typeface="Arial"/>
                          <a:ea typeface="Arial"/>
                          <a:cs typeface="Arial"/>
                        </a:rPr>
                        <a:t>No. It flags pathway risk; multiseed MD or experiment is required.</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3117352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68B58B-1A15-4B98-AA8B-6B820287F933}"/>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Appendix A5</a:t>
            </a:r>
            <a:endParaRPr sz="2600"/>
          </a:p>
        </p:txBody>
      </p:sp>
      <p:sp>
        <p:nvSpPr>
          <p:cNvPr id="3" name="Shape 1">
            <a:extLst xmlns:a="http://schemas.openxmlformats.org/drawingml/2006/main">
              <a:ext uri="{FF2B5EF4-FFF2-40B4-BE49-F238E27FC236}">
                <a16:creationId xmlns:a16="http://schemas.microsoft.com/office/drawing/2014/main" id="{A8E89A70-6DF2-41C5-8F37-CBF053B79950}"/>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E6950D30-9681-4D02-80EC-4A2D67506BBB}"/>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7A5504D9-582E-4CE7-B17F-D5A452295DD2}"/>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Defense Q&amp;A — validation and ML</a:t>
            </a:r>
            <a:endParaRPr sz="1500"/>
          </a:p>
        </p:txBody>
      </p:sp>
      <p:sp>
        <p:nvSpPr>
          <p:cNvPr id="6" name="Text 4">
            <a:extLst xmlns:a="http://schemas.openxmlformats.org/drawingml/2006/main">
              <a:ext uri="{FF2B5EF4-FFF2-40B4-BE49-F238E27FC236}">
                <a16:creationId xmlns:a16="http://schemas.microsoft.com/office/drawing/2014/main" id="{803137B8-9E36-4394-B66D-36F1732AC68A}"/>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7" name="Text 5">
            <a:extLst xmlns:a="http://schemas.openxmlformats.org/drawingml/2006/main">
              <a:ext uri="{FF2B5EF4-FFF2-40B4-BE49-F238E27FC236}">
                <a16:creationId xmlns:a16="http://schemas.microsoft.com/office/drawing/2014/main" id="{FDB0F788-113C-4B1C-A264-06E197E575E8}"/>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8" name="Text 6">
            <a:extLst xmlns:a="http://schemas.openxmlformats.org/drawingml/2006/main">
              <a:ext uri="{FF2B5EF4-FFF2-40B4-BE49-F238E27FC236}">
                <a16:creationId xmlns:a16="http://schemas.microsoft.com/office/drawing/2014/main" id="{08FD20AB-9EBD-48BB-9540-0A3C042E8E1F}"/>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23</a:t>
            </a:r>
            <a:endParaRPr sz="1000"/>
          </a:p>
        </p:txBody>
      </p:sp>
      <p:graphicFrame>
        <p:nvGraphicFramePr>
          <p:cNvPr id="17" name=""/>
          <p:cNvGraphicFramePr/>
          <p:nvPr/>
        </p:nvGraphicFramePr>
        <p:xfrm>
          <a:off xmlns:a="http://schemas.openxmlformats.org/drawingml/2006/main" x="523875" y="1428750"/>
          <a:ext xmlns:a="http://schemas.openxmlformats.org/drawingml/2006/main" cx="8239125" cy="4095750"/>
        </p:xfrm>
        <a:graphic xmlns:a="http://schemas.openxmlformats.org/drawingml/2006/main">
          <a:graphicData uri="http://schemas.openxmlformats.org/drawingml/2006/table">
            <a:tbl>
              <a:tblPr/>
              <a:tblGrid>
                <a:gridCol w="2952750"/>
                <a:gridCol w="5286375"/>
              </a:tblGrid>
              <a:tr h="682625">
                <a:tc>
                  <a:txBody>
                    <a:bodyPr wrap="square">
                      <a:normAutofit/>
                    </a:bodyPr>
                    <a:lstStyle/>
                    <a:p>
                      <a:pPr algn="ctr"/>
                      <a:r>
                        <a:rPr sz="900" b="1">
                          <a:solidFill>
                            <a:srgbClr val="FFFFFF"/>
                          </a:solidFill>
                          <a:latin typeface="Arial"/>
                          <a:ea typeface="Arial"/>
                          <a:cs typeface="Arial"/>
                        </a:rPr>
                        <a:t>Question</a:t>
                      </a:r>
                    </a:p>
                  </a:txBody>
                  <a:tcPr marL="91440" marR="91440" marT="45720" marB="45720" anchor="ctr">
                    <a:solidFill>
                      <a:srgbClr val="1F4E79"/>
                    </a:solidFill>
                  </a:tcPr>
                </a:tc>
                <a:tc>
                  <a:txBody>
                    <a:bodyPr wrap="square">
                      <a:normAutofit/>
                    </a:bodyPr>
                    <a:lstStyle/>
                    <a:p>
                      <a:pPr algn="ctr"/>
                      <a:r>
                        <a:rPr sz="900" b="1">
                          <a:solidFill>
                            <a:srgbClr val="FFFFFF"/>
                          </a:solidFill>
                          <a:latin typeface="Arial"/>
                          <a:ea typeface="Arial"/>
                          <a:cs typeface="Arial"/>
                        </a:rPr>
                        <a:t>Defense answer</a:t>
                      </a:r>
                    </a:p>
                  </a:txBody>
                  <a:tcPr marL="91440" marR="91440" marT="45720" marB="45720" anchor="ctr">
                    <a:solidFill>
                      <a:srgbClr val="1F4E79"/>
                    </a:solidFill>
                  </a:tcPr>
                </a:tc>
              </a:tr>
              <a:tr h="682625">
                <a:tc>
                  <a:txBody>
                    <a:bodyPr wrap="square">
                      <a:normAutofit/>
                    </a:bodyPr>
                    <a:lstStyle/>
                    <a:p>
                      <a:pPr algn="l"/>
                      <a:r>
                        <a:rPr sz="900" b="0">
                          <a:solidFill>
                            <a:srgbClr val="262626"/>
                          </a:solidFill>
                          <a:latin typeface="Arial"/>
                          <a:ea typeface="Arial"/>
                          <a:cs typeface="Arial"/>
                        </a:rPr>
                        <a:t>Are all 47 candidates DFT-validated?</a:t>
                      </a:r>
                    </a:p>
                  </a:txBody>
                  <a:tcPr marL="91440" marR="91440" marT="45720" marB="45720" anchor="ctr">
                    <a:solidFill>
                      <a:srgbClr val="FFFFFF"/>
                    </a:solidFill>
                  </a:tcPr>
                </a:tc>
                <a:tc>
                  <a:txBody>
                    <a:bodyPr wrap="square">
                      <a:normAutofit/>
                    </a:bodyPr>
                    <a:lstStyle/>
                    <a:p>
                      <a:pPr algn="l"/>
                      <a:r>
                        <a:rPr sz="900" b="0">
                          <a:solidFill>
                            <a:srgbClr val="262626"/>
                          </a:solidFill>
                          <a:latin typeface="Arial"/>
                          <a:ea typeface="Arial"/>
                          <a:cs typeface="Arial"/>
                        </a:rPr>
                        <a:t>No. Current DFT coverage is 2/47; the rest are relative screens.</a:t>
                      </a:r>
                    </a:p>
                  </a:txBody>
                  <a:tcPr marL="91440" marR="91440" marT="45720" marB="45720" anchor="ctr">
                    <a:solidFill>
                      <a:srgbClr val="FFFFFF"/>
                    </a:solidFill>
                  </a:tcPr>
                </a:tc>
              </a:tr>
              <a:tr h="682625">
                <a:tc>
                  <a:txBody>
                    <a:bodyPr wrap="square">
                      <a:normAutofit/>
                    </a:bodyPr>
                    <a:lstStyle/>
                    <a:p>
                      <a:pPr algn="l"/>
                      <a:r>
                        <a:rPr sz="900" b="0">
                          <a:solidFill>
                            <a:srgbClr val="262626"/>
                          </a:solidFill>
                          <a:latin typeface="Arial"/>
                          <a:ea typeface="Arial"/>
                          <a:cs typeface="Arial"/>
                        </a:rPr>
                        <a:t>Can 47 rows train a discovery model?</a:t>
                      </a:r>
                    </a:p>
                  </a:txBody>
                  <a:tcPr marL="91440" marR="91440" marT="45720" marB="45720" anchor="ctr">
                    <a:solidFill>
                      <a:srgbClr val="F3F7FB"/>
                    </a:solidFill>
                  </a:tcPr>
                </a:tc>
                <a:tc>
                  <a:txBody>
                    <a:bodyPr wrap="square">
                      <a:normAutofit/>
                    </a:bodyPr>
                    <a:lstStyle/>
                    <a:p>
                      <a:pPr algn="l"/>
                      <a:r>
                        <a:rPr sz="900" b="0">
                          <a:solidFill>
                            <a:srgbClr val="262626"/>
                          </a:solidFill>
                          <a:latin typeface="Arial"/>
                          <a:ea typeface="Arial"/>
                          <a:cs typeface="Arial"/>
                        </a:rPr>
                        <a:t>Not a general model. They can seed small gate-specific surrogates and active learning.</a:t>
                      </a:r>
                    </a:p>
                  </a:txBody>
                  <a:tcPr marL="91440" marR="91440" marT="45720" marB="45720" anchor="ctr">
                    <a:solidFill>
                      <a:srgbClr val="F3F7FB"/>
                    </a:solidFill>
                  </a:tcPr>
                </a:tc>
              </a:tr>
              <a:tr h="682625">
                <a:tc>
                  <a:txBody>
                    <a:bodyPr wrap="square">
                      <a:normAutofit/>
                    </a:bodyPr>
                    <a:lstStyle/>
                    <a:p>
                      <a:pPr algn="l"/>
                      <a:r>
                        <a:rPr sz="900" b="0">
                          <a:solidFill>
                            <a:srgbClr val="262626"/>
                          </a:solidFill>
                          <a:latin typeface="Arial"/>
                          <a:ea typeface="Arial"/>
                          <a:cs typeface="Arial"/>
                        </a:rPr>
                        <a:t>Why not trust LOOCV R² = 0.9998?</a:t>
                      </a:r>
                    </a:p>
                  </a:txBody>
                  <a:tcPr marL="91440" marR="91440" marT="45720" marB="45720" anchor="ctr">
                    <a:solidFill>
                      <a:srgbClr val="FFFFFF"/>
                    </a:solidFill>
                  </a:tcPr>
                </a:tc>
                <a:tc>
                  <a:txBody>
                    <a:bodyPr wrap="square">
                      <a:normAutofit/>
                    </a:bodyPr>
                    <a:lstStyle/>
                    <a:p>
                      <a:pPr algn="l"/>
                      <a:r>
                        <a:rPr sz="900" b="0">
                          <a:solidFill>
                            <a:srgbClr val="262626"/>
                          </a:solidFill>
                          <a:latin typeface="Arial"/>
                          <a:ea typeface="Arial"/>
                          <a:cs typeface="Arial"/>
                        </a:rPr>
                        <a:t>The target score is constructed from the same inputs; independent dopant splits collapse.</a:t>
                      </a:r>
                    </a:p>
                  </a:txBody>
                  <a:tcPr marL="91440" marR="91440" marT="45720" marB="45720" anchor="ctr">
                    <a:solidFill>
                      <a:srgbClr val="FFFFFF"/>
                    </a:solidFill>
                  </a:tcPr>
                </a:tc>
              </a:tr>
              <a:tr h="682625">
                <a:tc>
                  <a:txBody>
                    <a:bodyPr wrap="square">
                      <a:normAutofit/>
                    </a:bodyPr>
                    <a:lstStyle/>
                    <a:p>
                      <a:pPr algn="l"/>
                      <a:r>
                        <a:rPr sz="900" b="0">
                          <a:solidFill>
                            <a:srgbClr val="262626"/>
                          </a:solidFill>
                          <a:latin typeface="Arial"/>
                          <a:ea typeface="Arial"/>
                          <a:cs typeface="Arial"/>
                        </a:rPr>
                        <a:t>Why not choose only the predicted top candidate?</a:t>
                      </a:r>
                    </a:p>
                  </a:txBody>
                  <a:tcPr marL="91440" marR="91440" marT="45720" marB="45720" anchor="ctr">
                    <a:solidFill>
                      <a:srgbClr val="F3F7FB"/>
                    </a:solidFill>
                  </a:tcPr>
                </a:tc>
                <a:tc>
                  <a:txBody>
                    <a:bodyPr wrap="square">
                      <a:normAutofit/>
                    </a:bodyPr>
                    <a:lstStyle/>
                    <a:p>
                      <a:pPr algn="l"/>
                      <a:r>
                        <a:rPr sz="900" b="0">
                          <a:solidFill>
                            <a:srgbClr val="262626"/>
                          </a:solidFill>
                          <a:latin typeface="Arial"/>
                          <a:ea typeface="Arial"/>
                          <a:cs typeface="Arial"/>
                        </a:rPr>
                        <a:t>That creates winner's curse. Acquisition must include uncertainty and chemical diversity.</a:t>
                      </a:r>
                    </a:p>
                  </a:txBody>
                  <a:tcPr marL="91440" marR="91440" marT="45720" marB="45720" anchor="ctr">
                    <a:solidFill>
                      <a:srgbClr val="F3F7FB"/>
                    </a:solidFill>
                  </a:tcPr>
                </a:tc>
              </a:tr>
              <a:tr h="682625">
                <a:tc>
                  <a:txBody>
                    <a:bodyPr wrap="square">
                      <a:normAutofit/>
                    </a:bodyPr>
                    <a:lstStyle/>
                    <a:p>
                      <a:pPr algn="l"/>
                      <a:r>
                        <a:rPr sz="900" b="0">
                          <a:solidFill>
                            <a:srgbClr val="262626"/>
                          </a:solidFill>
                          <a:latin typeface="Arial"/>
                          <a:ea typeface="Arial"/>
                          <a:cs typeface="Arial"/>
                        </a:rPr>
                        <a:t>When can the model be called predictive?</a:t>
                      </a:r>
                    </a:p>
                  </a:txBody>
                  <a:tcPr marL="91440" marR="91440" marT="45720" marB="45720" anchor="ctr">
                    <a:solidFill>
                      <a:srgbClr val="FFFFFF"/>
                    </a:solidFill>
                  </a:tcPr>
                </a:tc>
                <a:tc>
                  <a:txBody>
                    <a:bodyPr wrap="square">
                      <a:normAutofit/>
                    </a:bodyPr>
                    <a:lstStyle/>
                    <a:p>
                      <a:pPr algn="l"/>
                      <a:r>
                        <a:rPr sz="900" b="0">
                          <a:solidFill>
                            <a:srgbClr val="262626"/>
                          </a:solidFill>
                          <a:latin typeface="Arial"/>
                          <a:ea typeface="Arial"/>
                          <a:cs typeface="Arial"/>
                        </a:rPr>
                        <a:t>After real co-doped labels, group-CV, and at least one prospective validation round.</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220604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BE754DB-967C-4658-AD65-0246B7602510}"/>
              </a:ext>
            </a:extLst>
          </p:cNvPr>
          <p:cNvSpPr>
            <a:spLocks xmlns:a="http://schemas.openxmlformats.org/drawingml/2006/main" noGrp="1"/>
          </p:cNvSpPr>
          <p:nvPr/>
        </p:nvSpPr>
        <p:spPr>
          <a:xfrm xmlns:a="http://schemas.openxmlformats.org/drawingml/2006/main">
            <a:off x="502920" y="274320"/>
            <a:ext cx="5029200" cy="457200"/>
          </a:xfrm>
          <a:prstGeom xmlns:a="http://schemas.openxmlformats.org/drawingml/2006/main" prst="rect">
            <a:avLst/>
          </a:prstGeom>
          <a:noFill xmlns:a="http://schemas.openxmlformats.org/drawingml/2006/main"/>
        </p:spPr>
        <p:txBody>
          <a:bodyPr xmlns:a="http://schemas.openxmlformats.org/drawingml/2006/main" wrap="square" anchor="ctr">
            <a:normAutofit fontScale="92308"/>
          </a:bodyPr>
          <a:lstStyle xmlns:a="http://schemas.openxmlformats.org/drawingml/2006/main"/>
          <a:p xmlns:a="http://schemas.openxmlformats.org/drawingml/2006/main">
            <a:pPr marL="0" indent="0">
              <a:buNone/>
              <a:defRPr sz="2600" b="1">
                <a:solidFill>
                  <a:srgbClr val="1F4E79"/>
                </a:solidFill>
                <a:latin typeface="Arial"/>
                <a:ea typeface="Arial"/>
                <a:cs typeface="Arial"/>
              </a:defRPr>
            </a:pPr>
            <a:r>
              <a:rPr sz="2600" b="1">
                <a:solidFill>
                  <a:srgbClr val="1F4E79"/>
                </a:solidFill>
                <a:latin typeface="Arial"/>
                <a:ea typeface="Arial"/>
                <a:cs typeface="Arial"/>
              </a:rPr>
              <a:t>Appendix A6</a:t>
            </a:r>
            <a:endParaRPr sz="2600"/>
          </a:p>
        </p:txBody>
      </p:sp>
      <p:sp>
        <p:nvSpPr>
          <p:cNvPr id="3" name="Shape 1">
            <a:extLst xmlns:a="http://schemas.openxmlformats.org/drawingml/2006/main">
              <a:ext uri="{FF2B5EF4-FFF2-40B4-BE49-F238E27FC236}">
                <a16:creationId xmlns:a16="http://schemas.microsoft.com/office/drawing/2014/main" id="{89D6F8DA-361B-49B1-B179-5F474C881C2C}"/>
              </a:ext>
            </a:extLst>
          </p:cNvPr>
          <p:cNvSpPr>
            <a:spLocks xmlns:a="http://schemas.openxmlformats.org/drawingml/2006/main" noGrp="1"/>
          </p:cNvSpPr>
          <p:nvPr/>
        </p:nvSpPr>
        <p:spPr>
          <a:xfrm xmlns:a="http://schemas.openxmlformats.org/drawingml/2006/main">
            <a:off x="502920" y="786384"/>
            <a:ext cx="813816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BAAC4DA3-C247-454F-A080-A122E20D7AF5}"/>
              </a:ext>
            </a:extLst>
          </p:cNvPr>
          <p:cNvSpPr>
            <a:spLocks xmlns:a="http://schemas.openxmlformats.org/drawingml/2006/main" noGrp="1"/>
          </p:cNvSpPr>
          <p:nvPr/>
        </p:nvSpPr>
        <p:spPr>
          <a:xfrm xmlns:a="http://schemas.openxmlformats.org/drawingml/2006/main">
            <a:off x="502920" y="969264"/>
            <a:ext cx="91440" cy="91440"/>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72D1633C-FF1D-41A4-8EB6-1111F4E1E16C}"/>
              </a:ext>
            </a:extLst>
          </p:cNvPr>
          <p:cNvSpPr>
            <a:spLocks xmlns:a="http://schemas.openxmlformats.org/drawingml/2006/main" noGrp="1"/>
          </p:cNvSpPr>
          <p:nvPr/>
        </p:nvSpPr>
        <p:spPr>
          <a:xfrm xmlns:a="http://schemas.openxmlformats.org/drawingml/2006/main">
            <a:off x="704088" y="868680"/>
            <a:ext cx="7863840" cy="310896"/>
          </a:xfrm>
          <a:prstGeom xmlns:a="http://schemas.openxmlformats.org/drawingml/2006/main" prst="rect">
            <a:avLst/>
          </a:prstGeom>
          <a:noFill xmlns:a="http://schemas.openxmlformats.org/drawingml/2006/main"/>
        </p:spPr>
        <p:txBody>
          <a:bodyPr xmlns:a="http://schemas.openxmlformats.org/drawingml/2006/main" wrap="square" anchor="ctr">
            <a:normAutofit fontScale="96000"/>
          </a:bodyPr>
          <a:lstStyle xmlns:a="http://schemas.openxmlformats.org/drawingml/2006/main"/>
          <a:p xmlns:a="http://schemas.openxmlformats.org/drawingml/2006/main">
            <a:pPr marL="0" indent="0">
              <a:buNone/>
              <a:defRPr sz="1500" b="1">
                <a:solidFill>
                  <a:srgbClr val="262626"/>
                </a:solidFill>
                <a:latin typeface="Arial"/>
                <a:ea typeface="Arial"/>
                <a:cs typeface="Arial"/>
              </a:defRPr>
            </a:pPr>
            <a:r>
              <a:rPr sz="1500" b="1">
                <a:solidFill>
                  <a:srgbClr val="262626"/>
                </a:solidFill>
                <a:latin typeface="Arial"/>
                <a:ea typeface="Arial"/>
                <a:cs typeface="Arial"/>
              </a:rPr>
              <a:t>Canonical sources held in the repository</a:t>
            </a:r>
            <a:endParaRPr sz="1500"/>
          </a:p>
        </p:txBody>
      </p:sp>
      <p:sp>
        <p:nvSpPr>
          <p:cNvPr id="6" name="Text 4">
            <a:extLst xmlns:a="http://schemas.openxmlformats.org/drawingml/2006/main">
              <a:ext uri="{FF2B5EF4-FFF2-40B4-BE49-F238E27FC236}">
                <a16:creationId xmlns:a16="http://schemas.microsoft.com/office/drawing/2014/main" id="{311F3FA8-F5FA-4EA8-B414-058EC637F932}"/>
              </a:ext>
            </a:extLst>
          </p:cNvPr>
          <p:cNvSpPr>
            <a:spLocks xmlns:a="http://schemas.openxmlformats.org/drawingml/2006/main" noGrp="1"/>
          </p:cNvSpPr>
          <p:nvPr/>
        </p:nvSpPr>
        <p:spPr>
          <a:xfrm xmlns:a="http://schemas.openxmlformats.org/drawingml/2006/main">
            <a:off x="777240" y="1243584"/>
            <a:ext cx="7818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342900" indent="-342900">
              <a:lnSpc>
                <a:spcPts val="1500"/>
              </a:lnSpc>
              <a:spcAft>
                <a:spcPts val="500"/>
              </a:spcAft>
              <a:buSzPct val="100000"/>
              <a:buChar char="•"/>
              <a:defRPr sz="1102">
                <a:solidFill>
                  <a:srgbClr val="262626"/>
                </a:solidFill>
                <a:latin typeface="Arial"/>
                <a:ea typeface="Arial"/>
                <a:cs typeface="Arial"/>
              </a:defRPr>
            </a:pPr>
            <a:r>
              <a:rPr sz="1102">
                <a:solidFill>
                  <a:srgbClr val="262626"/>
                </a:solidFill>
                <a:latin typeface="Arial"/>
                <a:ea typeface="Arial"/>
                <a:cs typeface="Arial"/>
              </a:rPr>
              <a:t>Every claim in the main deck is traceable to a versioned file, not presentation memory.</a:t>
            </a:r>
            <a:endParaRPr sz="1150"/>
          </a:p>
        </p:txBody>
      </p:sp>
      <p:sp>
        <p:nvSpPr>
          <p:cNvPr id="7" name="Text 5">
            <a:extLst xmlns:a="http://schemas.openxmlformats.org/drawingml/2006/main">
              <a:ext uri="{FF2B5EF4-FFF2-40B4-BE49-F238E27FC236}">
                <a16:creationId xmlns:a16="http://schemas.microsoft.com/office/drawing/2014/main" id="{7AB79BA5-085E-438B-9C94-13682A724FBA}"/>
              </a:ext>
            </a:extLst>
          </p:cNvPr>
          <p:cNvSpPr>
            <a:spLocks xmlns:a="http://schemas.openxmlformats.org/drawingml/2006/main" noGrp="1"/>
          </p:cNvSpPr>
          <p:nvPr/>
        </p:nvSpPr>
        <p:spPr>
          <a:xfrm xmlns:a="http://schemas.openxmlformats.org/drawingml/2006/main">
            <a:off x="502920" y="6473952"/>
            <a:ext cx="2194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b="1">
                <a:solidFill>
                  <a:srgbClr val="1F4E79"/>
                </a:solidFill>
                <a:latin typeface="Arial"/>
                <a:ea typeface="Arial"/>
                <a:cs typeface="Arial"/>
              </a:rPr>
              <a:t>HANYANG UNIVERSITY</a:t>
            </a:r>
            <a:endParaRPr sz="900"/>
          </a:p>
        </p:txBody>
      </p:sp>
      <p:sp>
        <p:nvSpPr>
          <p:cNvPr id="8" name="Text 6">
            <a:extLst xmlns:a="http://schemas.openxmlformats.org/drawingml/2006/main">
              <a:ext uri="{FF2B5EF4-FFF2-40B4-BE49-F238E27FC236}">
                <a16:creationId xmlns:a16="http://schemas.microsoft.com/office/drawing/2014/main" id="{8FC7E41B-A115-4886-9839-64A51D4AC47F}"/>
              </a:ext>
            </a:extLst>
          </p:cNvPr>
          <p:cNvSpPr>
            <a:spLocks xmlns:a="http://schemas.openxmlformats.org/drawingml/2006/main" noGrp="1"/>
          </p:cNvSpPr>
          <p:nvPr/>
        </p:nvSpPr>
        <p:spPr>
          <a:xfrm xmlns:a="http://schemas.openxmlformats.org/drawingml/2006/main">
            <a:off x="2788920" y="6473952"/>
            <a:ext cx="201168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F7F7F"/>
                </a:solidFill>
                <a:latin typeface="Arial"/>
                <a:ea typeface="Arial"/>
                <a:cs typeface="Arial"/>
              </a:rPr>
              <a:t>Battery Materials Lab.</a:t>
            </a:r>
            <a:endParaRPr sz="900"/>
          </a:p>
        </p:txBody>
      </p:sp>
      <p:sp>
        <p:nvSpPr>
          <p:cNvPr id="9" name="Text 7">
            <a:extLst xmlns:a="http://schemas.openxmlformats.org/drawingml/2006/main">
              <a:ext uri="{FF2B5EF4-FFF2-40B4-BE49-F238E27FC236}">
                <a16:creationId xmlns:a16="http://schemas.microsoft.com/office/drawing/2014/main" id="{23109F59-3D66-4053-A200-E23936D33D9C}"/>
              </a:ext>
            </a:extLst>
          </p:cNvPr>
          <p:cNvSpPr>
            <a:spLocks xmlns:a="http://schemas.openxmlformats.org/drawingml/2006/main" noGrp="1"/>
          </p:cNvSpPr>
          <p:nvPr/>
        </p:nvSpPr>
        <p:spPr>
          <a:xfrm xmlns:a="http://schemas.openxmlformats.org/drawingml/2006/main">
            <a:off x="8092440" y="6473952"/>
            <a:ext cx="548640" cy="228600"/>
          </a:xfrm>
          <a:prstGeom xmlns:a="http://schemas.openxmlformats.org/drawingml/2006/main" prst="rect">
            <a:avLst/>
          </a:prstGeom>
          <a:noFill xmlns:a="http://schemas.openxmlformats.org/drawingml/2006/main"/>
        </p:spPr>
        <p:txBody>
          <a:bodyPr xmlns:a="http://schemas.openxmlformats.org/drawingml/2006/main" wrap="square" anchor="ctr">
            <a:normAutofit fontScale="90000"/>
          </a:bodyPr>
          <a:lstStyle xmlns:a="http://schemas.openxmlformats.org/drawingml/2006/main"/>
          <a:p xmlns:a="http://schemas.openxmlformats.org/drawingml/2006/main">
            <a:pPr marL="0" indent="0" algn="r">
              <a:buNone/>
              <a:defRPr sz="1000">
                <a:solidFill>
                  <a:srgbClr val="7F7F7F"/>
                </a:solidFill>
                <a:latin typeface="Arial"/>
                <a:ea typeface="Arial"/>
                <a:cs typeface="Arial"/>
              </a:defRPr>
            </a:pPr>
            <a:r>
              <a:rPr sz="1000">
                <a:solidFill>
                  <a:srgbClr val="7F7F7F"/>
                </a:solidFill>
                <a:latin typeface="Arial"/>
                <a:ea typeface="Arial"/>
                <a:cs typeface="Arial"/>
              </a:rPr>
              <a:t>24</a:t>
            </a:r>
            <a:endParaRPr sz="1000"/>
          </a:p>
        </p:txBody>
      </p:sp>
      <p:graphicFrame>
        <p:nvGraphicFramePr>
          <p:cNvPr id="19" name=""/>
          <p:cNvGraphicFramePr/>
          <p:nvPr/>
        </p:nvGraphicFramePr>
        <p:xfrm>
          <a:off xmlns:a="http://schemas.openxmlformats.org/drawingml/2006/main" x="523875" y="1714500"/>
          <a:ext xmlns:a="http://schemas.openxmlformats.org/drawingml/2006/main" cx="8239125" cy="4000500"/>
        </p:xfrm>
        <a:graphic xmlns:a="http://schemas.openxmlformats.org/drawingml/2006/main">
          <a:graphicData uri="http://schemas.openxmlformats.org/drawingml/2006/table">
            <a:tbl>
              <a:tblPr/>
              <a:tblGrid>
                <a:gridCol w="4429125"/>
                <a:gridCol w="3810000"/>
              </a:tblGrid>
              <a:tr h="333375">
                <a:tc>
                  <a:txBody>
                    <a:bodyPr wrap="square">
                      <a:normAutofit/>
                    </a:bodyPr>
                    <a:lstStyle/>
                    <a:p>
                      <a:pPr algn="ctr"/>
                      <a:r>
                        <a:rPr sz="780" b="1">
                          <a:solidFill>
                            <a:srgbClr val="FFFFFF"/>
                          </a:solidFill>
                          <a:latin typeface="Arial"/>
                          <a:ea typeface="Arial"/>
                          <a:cs typeface="Arial"/>
                        </a:rPr>
                        <a:t>Source</a:t>
                      </a:r>
                    </a:p>
                  </a:txBody>
                  <a:tcPr marL="91440" marR="91440" marT="45720" marB="45720" anchor="ctr">
                    <a:solidFill>
                      <a:srgbClr val="1F4E79"/>
                    </a:solidFill>
                  </a:tcPr>
                </a:tc>
                <a:tc>
                  <a:txBody>
                    <a:bodyPr wrap="square">
                      <a:normAutofit/>
                    </a:bodyPr>
                    <a:lstStyle/>
                    <a:p>
                      <a:pPr algn="ctr"/>
                      <a:r>
                        <a:rPr sz="780" b="1">
                          <a:solidFill>
                            <a:srgbClr val="FFFFFF"/>
                          </a:solidFill>
                          <a:latin typeface="Arial"/>
                          <a:ea typeface="Arial"/>
                          <a:cs typeface="Arial"/>
                        </a:rPr>
                        <a:t>Role</a:t>
                      </a:r>
                    </a:p>
                  </a:txBody>
                  <a:tcPr marL="91440" marR="91440" marT="45720" marB="45720" anchor="ctr">
                    <a:solidFill>
                      <a:srgbClr val="1F4E79"/>
                    </a:solidFill>
                  </a:tcPr>
                </a:tc>
              </a:tr>
              <a:tr h="333375">
                <a:tc>
                  <a:txBody>
                    <a:bodyPr wrap="square">
                      <a:normAutofit/>
                    </a:bodyPr>
                    <a:lstStyle/>
                    <a:p>
                      <a:pPr algn="l"/>
                      <a:r>
                        <a:rPr sz="780" b="0">
                          <a:solidFill>
                            <a:srgbClr val="262626"/>
                          </a:solidFill>
                          <a:latin typeface="Arial"/>
                          <a:ea typeface="Arial"/>
                          <a:cs typeface="Arial"/>
                        </a:rPr>
                        <a:t>docs/cascade_pipeline_guide.md</a:t>
                      </a:r>
                    </a:p>
                  </a:txBody>
                  <a:tcPr marL="91440" marR="91440" marT="45720" marB="45720" anchor="ctr">
                    <a:solidFill>
                      <a:srgbClr val="FFFFFF"/>
                    </a:solidFill>
                  </a:tcPr>
                </a:tc>
                <a:tc>
                  <a:txBody>
                    <a:bodyPr wrap="square">
                      <a:normAutofit/>
                    </a:bodyPr>
                    <a:lstStyle/>
                    <a:p>
                      <a:pPr algn="l"/>
                      <a:r>
                        <a:rPr sz="780" b="0">
                          <a:solidFill>
                            <a:srgbClr val="262626"/>
                          </a:solidFill>
                          <a:latin typeface="Arial"/>
                          <a:ea typeface="Arial"/>
                          <a:cs typeface="Arial"/>
                        </a:rPr>
                        <a:t>Canonical narrative, gates, trust limits</a:t>
                      </a:r>
                    </a:p>
                  </a:txBody>
                  <a:tcPr marL="91440" marR="91440" marT="45720" marB="45720" anchor="ctr">
                    <a:solidFill>
                      <a:srgbClr val="FFFFFF"/>
                    </a:solidFill>
                  </a:tcPr>
                </a:tc>
              </a:tr>
              <a:tr h="333375">
                <a:tc>
                  <a:txBody>
                    <a:bodyPr wrap="square">
                      <a:normAutofit/>
                    </a:bodyPr>
                    <a:lstStyle/>
                    <a:p>
                      <a:pPr algn="l"/>
                      <a:r>
                        <a:rPr sz="780" b="0">
                          <a:solidFill>
                            <a:srgbClr val="262626"/>
                          </a:solidFill>
                          <a:latin typeface="Arial"/>
                          <a:ea typeface="Arial"/>
                          <a:cs typeface="Arial"/>
                        </a:rPr>
                        <a:t>db/properties/cascade_screening_funnel.json</a:t>
                      </a:r>
                    </a:p>
                  </a:txBody>
                  <a:tcPr marL="91440" marR="91440" marT="45720" marB="45720" anchor="ctr">
                    <a:solidFill>
                      <a:srgbClr val="F3F7FB"/>
                    </a:solidFill>
                  </a:tcPr>
                </a:tc>
                <a:tc>
                  <a:txBody>
                    <a:bodyPr wrap="square">
                      <a:normAutofit/>
                    </a:bodyPr>
                    <a:lstStyle/>
                    <a:p>
                      <a:pPr algn="l"/>
                      <a:r>
                        <a:rPr sz="780" b="0">
                          <a:solidFill>
                            <a:srgbClr val="262626"/>
                          </a:solidFill>
                          <a:latin typeface="Arial"/>
                          <a:ea typeface="Arial"/>
                          <a:cs typeface="Arial"/>
                        </a:rPr>
                        <a:t>Waterfall, gate outcomes, permutations</a:t>
                      </a:r>
                    </a:p>
                  </a:txBody>
                  <a:tcPr marL="91440" marR="91440" marT="45720" marB="45720" anchor="ctr">
                    <a:solidFill>
                      <a:srgbClr val="F3F7FB"/>
                    </a:solidFill>
                  </a:tcPr>
                </a:tc>
              </a:tr>
              <a:tr h="333375">
                <a:tc>
                  <a:txBody>
                    <a:bodyPr wrap="square">
                      <a:normAutofit/>
                    </a:bodyPr>
                    <a:lstStyle/>
                    <a:p>
                      <a:pPr algn="l"/>
                      <a:r>
                        <a:rPr sz="780" b="0">
                          <a:solidFill>
                            <a:srgbClr val="262626"/>
                          </a:solidFill>
                          <a:latin typeface="Arial"/>
                          <a:ea typeface="Arial"/>
                          <a:cs typeface="Arial"/>
                        </a:rPr>
                        <a:t>db/properties/cascade_v23_ranked.csv</a:t>
                      </a:r>
                    </a:p>
                  </a:txBody>
                  <a:tcPr marL="91440" marR="91440" marT="45720" marB="45720" anchor="ctr">
                    <a:solidFill>
                      <a:srgbClr val="FFFFFF"/>
                    </a:solidFill>
                  </a:tcPr>
                </a:tc>
                <a:tc>
                  <a:txBody>
                    <a:bodyPr wrap="square">
                      <a:normAutofit/>
                    </a:bodyPr>
                    <a:lstStyle/>
                    <a:p>
                      <a:pPr algn="l"/>
                      <a:r>
                        <a:rPr sz="780" b="0">
                          <a:solidFill>
                            <a:srgbClr val="262626"/>
                          </a:solidFill>
                          <a:latin typeface="Arial"/>
                          <a:ea typeface="Arial"/>
                          <a:cs typeface="Arial"/>
                        </a:rPr>
                        <a:t>47-candidate ranked property table</a:t>
                      </a:r>
                    </a:p>
                  </a:txBody>
                  <a:tcPr marL="91440" marR="91440" marT="45720" marB="45720" anchor="ctr">
                    <a:solidFill>
                      <a:srgbClr val="FFFFFF"/>
                    </a:solidFill>
                  </a:tcPr>
                </a:tc>
              </a:tr>
              <a:tr h="333375">
                <a:tc>
                  <a:txBody>
                    <a:bodyPr wrap="square">
                      <a:normAutofit/>
                    </a:bodyPr>
                    <a:lstStyle/>
                    <a:p>
                      <a:pPr algn="l"/>
                      <a:r>
                        <a:rPr sz="780" b="0">
                          <a:solidFill>
                            <a:srgbClr val="262626"/>
                          </a:solidFill>
                          <a:latin typeface="Arial"/>
                          <a:ea typeface="Arial"/>
                          <a:cs typeface="Arial"/>
                        </a:rPr>
                        <a:t>db/properties/oxidation_stability_cascade.csv</a:t>
                      </a:r>
                    </a:p>
                  </a:txBody>
                  <a:tcPr marL="91440" marR="91440" marT="45720" marB="45720" anchor="ctr">
                    <a:solidFill>
                      <a:srgbClr val="F3F7FB"/>
                    </a:solidFill>
                  </a:tcPr>
                </a:tc>
                <a:tc>
                  <a:txBody>
                    <a:bodyPr wrap="square">
                      <a:normAutofit/>
                    </a:bodyPr>
                    <a:lstStyle/>
                    <a:p>
                      <a:pPr algn="l"/>
                      <a:r>
                        <a:rPr sz="780" b="0">
                          <a:solidFill>
                            <a:srgbClr val="262626"/>
                          </a:solidFill>
                          <a:latin typeface="Arial"/>
                          <a:ea typeface="Arial"/>
                          <a:cs typeface="Arial"/>
                        </a:rPr>
                        <a:t>Vox and ESW lineage</a:t>
                      </a:r>
                    </a:p>
                  </a:txBody>
                  <a:tcPr marL="91440" marR="91440" marT="45720" marB="45720" anchor="ctr">
                    <a:solidFill>
                      <a:srgbClr val="F3F7FB"/>
                    </a:solidFill>
                  </a:tcPr>
                </a:tc>
              </a:tr>
              <a:tr h="333375">
                <a:tc>
                  <a:txBody>
                    <a:bodyPr wrap="square">
                      <a:normAutofit/>
                    </a:bodyPr>
                    <a:lstStyle/>
                    <a:p>
                      <a:pPr algn="l"/>
                      <a:r>
                        <a:rPr sz="780" b="0">
                          <a:solidFill>
                            <a:srgbClr val="262626"/>
                          </a:solidFill>
                          <a:latin typeface="Arial"/>
                          <a:ea typeface="Arial"/>
                          <a:cs typeface="Arial"/>
                        </a:rPr>
                        <a:t>db/properties/cascade_v23_litransport.csv</a:t>
                      </a:r>
                    </a:p>
                  </a:txBody>
                  <a:tcPr marL="91440" marR="91440" marT="45720" marB="45720" anchor="ctr">
                    <a:solidFill>
                      <a:srgbClr val="FFFFFF"/>
                    </a:solidFill>
                  </a:tcPr>
                </a:tc>
                <a:tc>
                  <a:txBody>
                    <a:bodyPr wrap="square">
                      <a:normAutofit/>
                    </a:bodyPr>
                    <a:lstStyle/>
                    <a:p>
                      <a:pPr algn="l"/>
                      <a:r>
                        <a:rPr sz="780" b="0">
                          <a:solidFill>
                            <a:srgbClr val="262626"/>
                          </a:solidFill>
                          <a:latin typeface="Arial"/>
                          <a:ea typeface="Arial"/>
                          <a:cs typeface="Arial"/>
                        </a:rPr>
                        <a:t>BVSE transport proxy</a:t>
                      </a:r>
                    </a:p>
                  </a:txBody>
                  <a:tcPr marL="91440" marR="91440" marT="45720" marB="45720" anchor="ctr">
                    <a:solidFill>
                      <a:srgbClr val="FFFFFF"/>
                    </a:solidFill>
                  </a:tcPr>
                </a:tc>
              </a:tr>
              <a:tr h="333375">
                <a:tc>
                  <a:txBody>
                    <a:bodyPr wrap="square">
                      <a:normAutofit/>
                    </a:bodyPr>
                    <a:lstStyle/>
                    <a:p>
                      <a:pPr algn="l"/>
                      <a:r>
                        <a:rPr sz="780" b="0">
                          <a:solidFill>
                            <a:srgbClr val="262626"/>
                          </a:solidFill>
                          <a:latin typeface="Arial"/>
                          <a:ea typeface="Arial"/>
                          <a:cs typeface="Arial"/>
                        </a:rPr>
                        <a:t>db/properties/canonical_registry.json</a:t>
                      </a:r>
                    </a:p>
                  </a:txBody>
                  <a:tcPr marL="91440" marR="91440" marT="45720" marB="45720" anchor="ctr">
                    <a:solidFill>
                      <a:srgbClr val="F3F7FB"/>
                    </a:solidFill>
                  </a:tcPr>
                </a:tc>
                <a:tc>
                  <a:txBody>
                    <a:bodyPr wrap="square">
                      <a:normAutofit/>
                    </a:bodyPr>
                    <a:lstStyle/>
                    <a:p>
                      <a:pPr algn="l"/>
                      <a:r>
                        <a:rPr sz="780" b="0">
                          <a:solidFill>
                            <a:srgbClr val="262626"/>
                          </a:solidFill>
                          <a:latin typeface="Arial"/>
                          <a:ea typeface="Arial"/>
                          <a:cs typeface="Arial"/>
                        </a:rPr>
                        <a:t>Canonical values and provenance flags</a:t>
                      </a:r>
                    </a:p>
                  </a:txBody>
                  <a:tcPr marL="91440" marR="91440" marT="45720" marB="45720" anchor="ctr">
                    <a:solidFill>
                      <a:srgbClr val="F3F7FB"/>
                    </a:solidFill>
                  </a:tcPr>
                </a:tc>
              </a:tr>
              <a:tr h="333375">
                <a:tc>
                  <a:txBody>
                    <a:bodyPr wrap="square">
                      <a:normAutofit/>
                    </a:bodyPr>
                    <a:lstStyle/>
                    <a:p>
                      <a:pPr algn="l"/>
                      <a:r>
                        <a:rPr sz="780" b="0">
                          <a:solidFill>
                            <a:srgbClr val="262626"/>
                          </a:solidFill>
                          <a:latin typeface="Arial"/>
                          <a:ea typeface="Arial"/>
                          <a:cs typeface="Arial"/>
                        </a:rPr>
                        <a:t>db/properties/electronic.json</a:t>
                      </a:r>
                    </a:p>
                  </a:txBody>
                  <a:tcPr marL="91440" marR="91440" marT="45720" marB="45720" anchor="ctr">
                    <a:solidFill>
                      <a:srgbClr val="FFFFFF"/>
                    </a:solidFill>
                  </a:tcPr>
                </a:tc>
                <a:tc>
                  <a:txBody>
                    <a:bodyPr wrap="square">
                      <a:normAutofit/>
                    </a:bodyPr>
                    <a:lstStyle/>
                    <a:p>
                      <a:pPr algn="l"/>
                      <a:r>
                        <a:rPr sz="780" b="0">
                          <a:solidFill>
                            <a:srgbClr val="262626"/>
                          </a:solidFill>
                          <a:latin typeface="Arial"/>
                          <a:ea typeface="Arial"/>
                          <a:cs typeface="Arial"/>
                        </a:rPr>
                        <a:t>Fixed-occupation band gaps</a:t>
                      </a:r>
                    </a:p>
                  </a:txBody>
                  <a:tcPr marL="91440" marR="91440" marT="45720" marB="45720" anchor="ctr">
                    <a:solidFill>
                      <a:srgbClr val="FFFFFF"/>
                    </a:solidFill>
                  </a:tcPr>
                </a:tc>
              </a:tr>
              <a:tr h="333375">
                <a:tc>
                  <a:txBody>
                    <a:bodyPr wrap="square">
                      <a:normAutofit/>
                    </a:bodyPr>
                    <a:lstStyle/>
                    <a:p>
                      <a:pPr algn="l"/>
                      <a:r>
                        <a:rPr sz="780" b="0">
                          <a:solidFill>
                            <a:srgbClr val="262626"/>
                          </a:solidFill>
                          <a:latin typeface="Arial"/>
                          <a:ea typeface="Arial"/>
                          <a:cs typeface="Arial"/>
                        </a:rPr>
                        <a:t>db/properties/codoping_ml_v2_meta.json</a:t>
                      </a:r>
                    </a:p>
                  </a:txBody>
                  <a:tcPr marL="91440" marR="91440" marT="45720" marB="45720" anchor="ctr">
                    <a:solidFill>
                      <a:srgbClr val="F3F7FB"/>
                    </a:solidFill>
                  </a:tcPr>
                </a:tc>
                <a:tc>
                  <a:txBody>
                    <a:bodyPr wrap="square">
                      <a:normAutofit/>
                    </a:bodyPr>
                    <a:lstStyle/>
                    <a:p>
                      <a:pPr algn="l"/>
                      <a:r>
                        <a:rPr sz="780" b="0">
                          <a:solidFill>
                            <a:srgbClr val="262626"/>
                          </a:solidFill>
                          <a:latin typeface="Arial"/>
                          <a:ea typeface="Arial"/>
                          <a:cs typeface="Arial"/>
                        </a:rPr>
                        <a:t>ML validation limits</a:t>
                      </a:r>
                    </a:p>
                  </a:txBody>
                  <a:tcPr marL="91440" marR="91440" marT="45720" marB="45720" anchor="ctr">
                    <a:solidFill>
                      <a:srgbClr val="F3F7FB"/>
                    </a:solidFill>
                  </a:tcPr>
                </a:tc>
              </a:tr>
              <a:tr h="333375">
                <a:tc>
                  <a:txBody>
                    <a:bodyPr wrap="square">
                      <a:normAutofit/>
                    </a:bodyPr>
                    <a:lstStyle/>
                    <a:p>
                      <a:pPr algn="l"/>
                      <a:r>
                        <a:rPr sz="780" b="0">
                          <a:solidFill>
                            <a:srgbClr val="262626"/>
                          </a:solidFill>
                          <a:latin typeface="Arial"/>
                          <a:ea typeface="Arial"/>
                          <a:cs typeface="Arial"/>
                        </a:rPr>
                        <a:t>kb/methodology/terminology_register.md</a:t>
                      </a:r>
                    </a:p>
                  </a:txBody>
                  <a:tcPr marL="91440" marR="91440" marT="45720" marB="45720" anchor="ctr">
                    <a:solidFill>
                      <a:srgbClr val="FFFFFF"/>
                    </a:solidFill>
                  </a:tcPr>
                </a:tc>
                <a:tc>
                  <a:txBody>
                    <a:bodyPr wrap="square">
                      <a:normAutofit/>
                    </a:bodyPr>
                    <a:lstStyle/>
                    <a:p>
                      <a:pPr algn="l"/>
                      <a:r>
                        <a:rPr sz="780" b="0">
                          <a:solidFill>
                            <a:srgbClr val="262626"/>
                          </a:solidFill>
                          <a:latin typeface="Arial"/>
                          <a:ea typeface="Arial"/>
                          <a:cs typeface="Arial"/>
                        </a:rPr>
                        <a:t>Terms and symbol contract</a:t>
                      </a:r>
                    </a:p>
                  </a:txBody>
                  <a:tcPr marL="91440" marR="91440" marT="45720" marB="45720" anchor="ctr">
                    <a:solidFill>
                      <a:srgbClr val="FFFFFF"/>
                    </a:solidFill>
                  </a:tcPr>
                </a:tc>
              </a:tr>
              <a:tr h="333375">
                <a:tc>
                  <a:txBody>
                    <a:bodyPr wrap="square">
                      <a:normAutofit/>
                    </a:bodyPr>
                    <a:lstStyle/>
                    <a:p>
                      <a:pPr algn="l"/>
                      <a:r>
                        <a:rPr sz="780" b="0">
                          <a:solidFill>
                            <a:srgbClr val="262626"/>
                          </a:solidFill>
                          <a:latin typeface="Arial"/>
                          <a:ea typeface="Arial"/>
                          <a:cs typeface="Arial"/>
                        </a:rPr>
                        <a:t>docs/reviews/cascade_db_ml_readiness_audit_2026_08_10.md</a:t>
                      </a:r>
                    </a:p>
                  </a:txBody>
                  <a:tcPr marL="91440" marR="91440" marT="45720" marB="45720" anchor="ctr">
                    <a:solidFill>
                      <a:srgbClr val="F3F7FB"/>
                    </a:solidFill>
                  </a:tcPr>
                </a:tc>
                <a:tc>
                  <a:txBody>
                    <a:bodyPr wrap="square">
                      <a:normAutofit/>
                    </a:bodyPr>
                    <a:lstStyle/>
                    <a:p>
                      <a:pPr algn="l"/>
                      <a:r>
                        <a:rPr sz="780" b="0">
                          <a:solidFill>
                            <a:srgbClr val="262626"/>
                          </a:solidFill>
                          <a:latin typeface="Arial"/>
                          <a:ea typeface="Arial"/>
                          <a:cs typeface="Arial"/>
                        </a:rPr>
                        <a:t>273-to-47 provenance and ML readiness</a:t>
                      </a:r>
                    </a:p>
                  </a:txBody>
                  <a:tcPr marL="91440" marR="91440" marT="45720" marB="45720" anchor="ctr">
                    <a:solidFill>
                      <a:srgbClr val="F3F7FB"/>
                    </a:solidFill>
                  </a:tcPr>
                </a:tc>
              </a:tr>
              <a:tr h="333375">
                <a:tc>
                  <a:txBody>
                    <a:bodyPr wrap="square">
                      <a:normAutofit/>
                    </a:bodyPr>
                    <a:lstStyle/>
                    <a:p>
                      <a:pPr algn="l"/>
                      <a:r>
                        <a:rPr sz="780" b="0">
                          <a:solidFill>
                            <a:srgbClr val="262626"/>
                          </a:solidFill>
                          <a:latin typeface="Arial"/>
                          <a:ea typeface="Arial"/>
                          <a:cs typeface="Arial"/>
                        </a:rPr>
                        <a:t>docs/reviews/cascade_ai_screening_literature_comparison_2026_08_10.md</a:t>
                      </a:r>
                    </a:p>
                  </a:txBody>
                  <a:tcPr marL="91440" marR="91440" marT="45720" marB="45720" anchor="ctr">
                    <a:solidFill>
                      <a:srgbClr val="FFFFFF"/>
                    </a:solidFill>
                  </a:tcPr>
                </a:tc>
                <a:tc>
                  <a:txBody>
                    <a:bodyPr wrap="square">
                      <a:normAutofit/>
                    </a:bodyPr>
                    <a:lstStyle/>
                    <a:p>
                      <a:pPr algn="l"/>
                      <a:r>
                        <a:rPr sz="780" b="0">
                          <a:solidFill>
                            <a:srgbClr val="262626"/>
                          </a:solidFill>
                          <a:latin typeface="Arial"/>
                          <a:ea typeface="Arial"/>
                          <a:cs typeface="Arial"/>
                        </a:rPr>
                        <a:t>AI screening precedents and figure plan</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05175123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2026-08-10T15:11:00.7560000Z</dcterms:created>
  <dcterms:modified xsi:type="dcterms:W3CDTF">2026-08-10T15:11:00.7560000Z</dcterms:modified>
</coreProperties>
</file>