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survivors</c:v>
                </c:pt>
              </c:strCache>
            </c:strRef>
          </c:tx>
          <c:spPr>
            <a:solidFill>
              <a:srgbClr val="1F4E79"/>
            </a:solidFill>
            <a:effectLst/>
          </c:spPr>
          <c:invertIfNegative val="0"/>
          <c:dLbls>
            <c:numFmt formatCode="#,##0" sourceLinked="0"/>
            <c:txPr>
              <a:bodyPr/>
              <a:lstStyle/>
              <a:p>
                <a:pPr>
                  <a:defRPr b="0" i="0" strike="noStrike" sz="1100" u="none">
                    <a:solidFill>
                      <a:srgbClr val="262626"/>
                    </a:solidFill>
                    <a:latin typeface="Arial"/>
                  </a:defRPr>
                </a:pPr>
              </a:p>
            </c:txPr>
            <c:showLegendKey val="0"/>
            <c:showVal val="1"/>
            <c:showCatName val="0"/>
            <c:showSerName val="0"/>
            <c:showPercent val="0"/>
            <c:showBubbleSize val="0"/>
            <c:showLeaderLines val="0"/>
          </c:dLbls>
          <c:cat>
            <c:multiLvlStrRef>
              <c:f>Sheet1!$A$2:$A$7</c:f>
              <c:multiLvlStrCache>
                <c:ptCount val="6"/>
                <c:lvl>
                  <c:pt idx="0">
                    <c:v>pool</c:v>
                  </c:pt>
                  <c:pt idx="1">
                    <c:v>G1 structural</c:v>
                  </c:pt>
                  <c:pt idx="2">
                    <c:v>G2 window</c:v>
                  </c:pt>
                  <c:pt idx="3">
                    <c:v>G3 oxidation</c:v>
                  </c:pt>
                  <c:pt idx="4">
                    <c:v>G4 transport</c:v>
                  </c:pt>
                  <c:pt idx="5">
                    <c:v>G5 mechanical</c:v>
                  </c:pt>
                </c:lvl>
              </c:multiLvlStrCache>
            </c:multiLvlStrRef>
          </c:cat>
          <c:val>
            <c:numRef>
              <c:f>Sheet1!$B$2:$B$7</c:f>
              <c:numCache>
                <c:formatCode>General</c:formatCode>
                <c:ptCount val="6"/>
                <c:pt idx="0">
                  <c:v>47</c:v>
                </c:pt>
                <c:pt idx="1">
                  <c:v>47</c:v>
                </c:pt>
                <c:pt idx="2">
                  <c:v>43</c:v>
                </c:pt>
                <c:pt idx="3">
                  <c:v>25</c:v>
                </c:pt>
                <c:pt idx="4">
                  <c:v>11</c:v>
                </c:pt>
                <c:pt idx="5">
                  <c:v>1</c:v>
                </c:pt>
              </c:numCache>
            </c:numRef>
          </c:val>
        </c:ser>
        <c:dLbls>
          <c:numFmt formatCode="#,##0" sourceLinked="0"/>
          <c:txPr>
            <a:bodyPr/>
            <a:lstStyle/>
            <a:p>
              <a:pPr>
                <a:defRPr b="0" i="0" strike="noStrike" sz="1100" u="none">
                  <a:solidFill>
                    <a:srgbClr val="26262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262626"/>
                </a:solidFill>
                <a:latin typeface="Arial"/>
              </a:defRPr>
            </a:pPr>
            <a:endParaRPr lang="en-US"/>
          </a:p>
        </c:txPr>
        <c:crossAx val="2094734552"/>
        <c:crosses val="autoZero"/>
        <c:auto val="1"/>
        <c:lblAlgn val="ctr"/>
        <c:noMultiLvlLbl val="1"/>
      </c:catAx>
      <c:valAx>
        <c:axId val="2094734552"/>
        <c:scaling>
          <c:orientation val="minMax"/>
          <c:max val="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7F7F7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재료공학과 안용훈입니다. 오늘은 황화물 고체전해질을 계산으로 스크리닝한 이야기인데, '무엇을 찾았나'만큼 '무엇을 저희 손으로 철회했나'를 같이 보여드리겠습니다. 철회 기록이 왜 숨길 일이 아니라 보여드릴 성과인지, 오늘 그걸 설득해 보겠습니다.
[용어] sulfide solid electrolyte(황화물 고체전해질): 액체 전해질을 대체하는 이온전도성 고체. 우리 대상은 아지로다이트 Li6PS5Cl 계열.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아지로다이트 하나에도 조절 손잡이가 네 개고 이건 곱으로 늘어납니다. 실험 한 점이 몇 주, 계산 한 점이 몇 시간이면 - 계산의 일은 대체가 아니라 실험이 갈 곳을 좁히는 것입니다.
[Q] 계산이 몇 시간이라는 근거? -&gt; SCF/relax 급 기준. MD/NEB는 며칠 - 그래서 3-tier로 싼 것부터 겁니다.
[용어] argyrodite: Ag8GeS6 광물형 구조족, Li6PS5Cl이 대표. EIS: 교류 임피던스로 이온전도도 측정.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스크리닝 발표는 보통 '몇 개에서 몇 개를 찾았다'로 끝납니다. 더 어려운 질문은 '떨어져야 할 게 정말 떨어졌나'인데, 이걸 보고하는 발표가 드뭅니다. 저희는 그걸 표로 보여드리겠습니다 - 저희 판정 열한 건을 감사대에 올렸고 아홉 건을 철회했습니다. 그리고 이 열한 개 중 하나는 실제로 지난 세미나에서 결론으로 발표됐던 숫자입니다. 오늘 그 철회부터 보여드립니다.
[Q 핵심 1합] 철회가 많다 = 부실? -&gt; 철회 건수는 신뢰도의 반대 지표가 아니라 게이트 밀도의 지표입니다. 게이트 없는 파이프라인은 철회가 0건입니다 - 틀린 게 없어서가 아니라 못 찾아서입니다.
[Q 핵심 2합 - 사후 명명 공격] '오류를 발견한 뒤에 게이트라고 이름 붙인 것 아닌가' -&gt; 절반은 인정합니다. 오류가 규칙을 낳았습니다. 하지만 규칙이 코드에 박힌 뒤에는 사람이 아니라 규칙이 잡습니다: 7번(SDCP)은 'UMA는 전하 분리를 판정할 수 없다'를 사고 전에 미리 코드에 박아둔 규칙이 잡았고, 11번은 자동 감사기가 잡았고, 11건 중 6건이 지난 사흘간 돌던 게이트에서 나왔습니다.
[EN] Isn't that a red flag? -&gt; A pipeline with no gates reports zero retractions - not because nothing is wrong but because nothing is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전체가 이 한 바퀴입니다. 여섯 정거장 - 묻고, 재고, 배우고, 거르고, 엮고, 마지막에 의심합니다. 그리고 의심에서 나온 화살표가 다시 앞으로 돌아갑니다. 이 되돌아가는 화살표가 오늘 발표의 핵심 주장입니다. 각 Part 시작마다 이 지도에 지금 어디인지 표시하겠습니다.
[Q] 왜 지도부터? -&gt; 마지막 정거장(VERIFY)이 논지라서, 구조를 먼저 보여야 앞 다섯이 왜 필요한지 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전자가 백 개면 파동함수가 삼백 차원이라 저장이 안 됩니다. 첫 도약이 Hohenberg-Kohn이고요, 바닥상태는 3차원 밀도만으로 결정됩니다. 두 번째 도약이 Kohn-Sham인데요, 같은 밀도를 주는 가짜 전자계로 바꿔서 풉니다. 모르는 부분은 전부 한 항 - 교환상관 항에 몰아넣고요. 요점은 하나입니다: 근사가 한 곳에만 들어가니까 오차의 성격을 예측할 수 있고, 그래서 저희는 갭 절대값을 안 씁니다. Ni 3d의 U 6.2도 경험 파라미터라서 고정하고 같은 U 안의 차이만 인용합니다. (90초 컷)
[질문 대비 - 미분 불연속 1분 설명] 전자 수 N을 연속으로 늘리면 총에너지 곡선이 정수마다 꺾여야 하고, 그 꺾임(도함수의 점프)이 갭의 일부입니다. PBE 같은 semi-local 범함수는 이 점프가 0이라 그만큼 갭이 작게 나옵니다 - 부정확이 아니라 구조적 부재.
[Q] 왜 hybrid 안 쓰나 -&gt; 273계산 스크리닝에 비용 두 자릿수. 순위 문제라 같은 방법 안 차이면 충분.
[Q] U=6.2 출처 -&gt; MP VASP GGA+U 관례값과 동일 계보. 인용 전 원전 확인 조건을 입력 주석에 박아둠.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총에너지 하나에서 사다리처럼 내려옵니다. 여기 규율 하나 - 갭을 DOS 문턱으로 읽지 않습니다. 0.3 eV 과소평가, 실제로 겪었고 철회 목록에 있습니다. ICOHP/ELF는 게이트가 아니라 설명 변수. 이 사다리 어디에도 입자 스케일은 없습니다 - 원자 계산으로 전극 성능을 직접 말할 수 없습니다.
[Q] BVSE로 왜 Ea를 안 내나 -&gt; 정적 격자 프록시라 순위/병목 판독용. 정량은 MD로만.
[용어] fixed occupations: 정수 점유 고정 계산, 절연체 갭의 정본 판독법. grand potential: Li 화학퍼텐셜을 변수로 둔 퍼텐셜 - 전압축 안정성 판정.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[그림 단서] 이 그림의 피팅 음영은 표시용 창이고 정본 MSD 창은 2-50 ps 고정 - 질문 나오면 그렇게 답한다.
DFT로 200 ps MD는 불가능합니다. 그래서 MLIP. 다만 저희 계에서 실측으로 확인된 한계가 셋: 전하 상태를 못 다루고(이게 Part 6에서 제일 비싼 교훈으로 돌아옵니다), 자기 상태를 못 고르고, 분산력이 훈련에 없습니다. Li3N에는 금지 - 결정론적 편향 확인. 원칙은 하나: MLIP는 스크리닝 대체 모델, 챔피언은 반드시 DFT 재검.
[Q] MLIP 오차? -&gt; 계/물성마다 달라 오차 '값'보다 실패 유형(전하/자기/분산)으로 관리 - 유형에 걸리는 질문은 MLIP로 안 닫습니다.
[용어] omat: UMA 무기재료 헤드. deterministic bias: 시드를 바꿔도 같은 방향으로 틀리는 오차.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출발점. Cl을 늘리면 전도도가 오르는데, 왜? 전자구조 가설부터 봤습니다. 갭 차이 0.033 eV, ICOHP 거의 동일, ELF 두 장도 사실상 같은 그림. 차이가 작다는 것 자체가 결론입니다 - 이득은 여기서 오지 않았습니다.
(질문 오면) 이 갭 4종은 지금 재현성 감사 중 - P30에서 정면으로 다룹니다.
[Q] 0.033이 오차보다 큰가 -&gt; 같은 프로토콜 안의 차이라 방법 오차는 공통 모드로 상쇄. 어느 쪽이든 '작다' 판정은 불변.
[용어] ELF: 전자 국재도(0-1), 결합의 모양을 보는 지도.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바뀐 건 구조입니다. Cl이 늘면 전하 균형 때문에 Li 공공이 늘고, anti-site 무질서가 커져서 홉 네트워크가 열립니다. 왼쪽 그림이 그 네트워크인데요, 경로를 따라 늘어선 자리들이 전부 vacancy 자리입니다. 그래서 스크리닝 축을 전자 기술자가 아니라 구조 기술자로 세웠습니다. 전자절연은 게이트로만 씁니다. 이 한 장이 cascade의 설계 이유입니다.
[Q] 무질서가 이득이라는 직접 증거 -&gt; MD에서 공공 농도와 D의 동반 상승이 직접 증거입니다(beta 게이트 통과분만 인용). ⚠ BVSE 채널%는 여기서 근거로 쓰지 않는다 - 채널 부피는 D0쪽(prefactor) 지표라 Ea/σ 순위를 못 매긴다는 걸 저희 CSV 헤더에 직접 박아 뒀다(LPSOCl은 채널 +43%인데 Ea가 더 높음). '채널% 증가' 답변 금지.
[용어] anti-site: 원소가 남의 자리(Cl-S)에 앉는 점결함. percolation: 경로가 셀 전체를 관통하게 이어지는 문턱 현상. empty-lattice proxy: 빈 격자에 Li 탐침 하나 - 지형 모양 기술용, 측정 Ea 아님(그림 하단 단서 그대로).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여기는 단위를 분리해서 말합니다. 273은 91종에 세 개 nominal label을 곱한 실행 슬롯입니다. versioned canonical table은 6월 25일 스냅샷으로 oxide 37 + fluoride 10, 47종의 141개 record만 담고 있습니다 - 141 = 47 x 3, 실측 확인했습니다. 나머지 44종이 물리적으로 탈락한 게 아니라 개별 실패 manifest가 없어 미분류입니다. 유일하게 문서화된 실패는 As2S3 세 슬롯(n_structures=0)뿐입니다. 그래서 273에서 47로 '걸러냈다'는 발견 서사는 쓰지 않습니다.
[출처] Codex closed 판에서 채택, 141행은 champions.csv 로 재검산.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풀은 큐레이션된 47종. 화합물 91 x 농도 3점 = 273계산. 싼 것부터 - UMA 이완 전수, 물성 배터리, 게이트. 그리고 데이터 파일 맨 위 문장을 그대로 읽겠습니다: '이 통과 수는 발견 성능 지표가 아니다.' 저희는 만 종을 거른 게 아니라 사람이 고른 47종을 문헌 표준 게이트로 재표현한 겁니다. 이 구분을 흐리면 아까 Sendek 쪽과 억지 비교가 돼 버립니다. 그리고 47종이 왜 화합물 91개가 되는지 - 도펀트마다 산화물, Cl-rich 같은 화합물 형태가 하나에서 셋이라 91개입니다.
[Q] 왜/어떻게 47종 -&gt; 코팅 문헌/전구체/원자가 다양성 기준 화학 큐레이션 + 리뷰어 권고 확장. 선정 이력이 JSON pool_provenance에 단계별로.
[용어] dose: 치환 분율 x. 도펀트마다 3점 강제 - 농도 내성 축의 재료.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발표에 나오는 화합물 전부를 한 장에 분류해 둔 로스터입니다. 전이금속 23, 주족 9, 알칼리토 6, 란타나이드 6, 알칼리 3 - 합쳐서 47이고, 진한 남색이 G4까지 통과한 11종, 단검 표시가 deep DFT까지 간 2종입니다. 아래 줄은 host 4계, SEI 분해상 9종(인용 가능 6 + Nd 3종은 MP 인용), co-doping 상위 4쌍입니다.
[Q] 어느 게 최종 후보냐 -&gt; 이 장은 후보 명단이 아니라 출연진 명단입니다. 판정은 각 파트에서.
[Q] 빠진 원소는? -&gt; A5b 마지막 문항 - Si/Sn/Zr 계는 있고, 예: P-site 치환계(Ge는 있음), S-site 계열(Se, Te), 그리고 Rb/Cs 같은 무거운 알칼리가 없습니다. pool_provenance 에 선정 이력.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실물부터. Sendek은 만이천여 종에서 전제조건 게이트 4개로 317, 실측 전도도 40종으로 훈련한 분류기로 21종. 교훈: 전도도 스크린보다 전제조건 게이트가 더 세게 거릅니다. 분류기만 쓰면 1,408종이 남아요. '40종 훈련셋'을 기억해 두세요 - 저희 47종과 체급이 같아 소표본 방어 절차를 계승합니다.
[Q] 40개로 훈련한 모델을 믿나 -&gt; LOOCV, 전수 조합 특징선택, X-randomization으로 방어했고 우리도 같은 절차(P24). 핵심은 '맞다'가 아니라 '방어 절차가 문서화됐다'.
[용어] LOOCV: 표본 1개를 빼고 학습-예측을 전 표본 반복. 소표본 표준 검증.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게이트를 한 표로. 컷 값을 그대로 읽어드리면 - 구조안정은 0인데 이게 host 자기 자신이고요, 산화 게이트의 2.14 V도 undoped host의 onset입니다. 다섯 중 둘이 host를 영점으로 씁니다. 창 게이트는 0.05 V - 창이 존재하기는 해야 한다는 최소 조건. 수송은 BVSE 프록시 정규화 0.3, 역학은 로스터 중앙값 이하(연질+연성). 그리고 농도 3점 챔피언 평균이라 제일 좋은 농도 하나만 골라 자랑하는 체리피킹이 구조적으로 막혀 있습니다.
[Q] 임계값 민감도 -&gt; 민감합니다. 그래서 다음 장 '1'을 결론으로 안 씁니다. 중앙값 컷(G5)은 정의상 로스터 의존이고, 그래서 게이트 상태와 값이 교차 못하게 평탄화 + 동점군 내 순위 무의미 명시.
[Q] G4가 왜 MD가 아니라 BVSE 프록시? -&gt; 273계산 전수에 MD는 불가능. 프록시로 거르고 챔피언만 MD/DFT 재검 - 3-tier의 요지.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문헌 방식 그대로 그리면 이렇게 됩니다. 이 깔때기를 감사하면 세 가지가 나옵니다. 첫째, 구조안정 47/47은 게이트가 세서가 아니라 풀이 안정 위주로 큐레이션된 결과 - 데이터 파일이 스스로 vacuous 플래그를 답니다. 둘째, 창 게이트 탈락 4종(late-TM 산화물)은 전부 산화 게이트에서도 떨어집니다 - unique kill 0, 중복 게이트. 셋째가 제일 중요한데, 다섯 게이트의 120개 순서를 전부 돌렸습니다. 최종 집합은 순서 불변입니다. waterfall 모양은 결과가 아니라 설명 순서입니다. 그리고 G4 blocking 컷은 휴리스틱, G5는 로스터 중앙값 정렬이라 물리적으로 방어 가능한 끝은 '1'이 아니라 G4 통과 11종입니다.
[Q] WO3가 뭐가 좋았나 -&gt; 다섯 게이트를 모두 통과한 유일 후보라는 사실뿐. G5 자체가 랭킹 전용이라 그 '1'을 후보 확정으로 안 씁니다.
[출처] 120 순열: docs/cascade_pipeline_guide.md 366행(정본). unique kill: cascade_seminar_scorecard_47.csv 검산(G2 first-stop = CoO/Fe2O3/MnO/NiO, 전부 Vox&lt;2.14).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장 더 - 이 충돌이 B2O3 하나의 불운이 아니라는 걸 보여드립니다. 산화 onset 을 host 위로 올린 후보가 여섯인데, 여섯 전부가 같은 수송 게이트에서 멈춥니다. 화학의 모양 자체가 이렇습니다 - 산화를 막는 강한 M-O 결합이 Li 경로도 막습니다. 그리고 이게 co-doping 이 존재하는 이유입니다. 이 여섯이 정확히 저희 상위 쌍의 양극측 절반입니다. Cr2O3+HfO2, Ga2O3+HfO2, HfO2+In2O3. 깔때기가 버린 후보들이 조합의 재료가 됩니다.
[주의] G4는 정적 BVSE 프록시 - 전도도가 아니라 경로 위험 플래그. 그림 하단에 명기돼 있습니다.
[출처] Codex 판 세미나 자료에서 채택, CSV 검산 완료(6/6 G4_pass=0).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가지 이유. 첫째, 마지막 '1'은 화학이 아니라 임계값의 성질. 둘째가 핵심 - 순차 AND는 상보성을 구조적으로 파괴합니다. 수송이 약한데 산화안정이 뛰어난 후보는 수송 게이트에서 죽는데요, 그런 후보일수록 수송이 강한 후보와 짝지었을 때 제일 아깝습니다. 깔때기는 그 짝을 만들어 보기도 전에 버립니다. 셋째, 실제로 충돌합니다. 저희 B2O3는 수송 축 1등이면서, Zhu 그림 맨 아래 저 B3+ - 가수분해 -0.9로 공기안정 최악군. 이 후보를 점수 하나로 표현할 방법이 없습니다. 그래서 지우지 않고 엮는 쪽으로 갑니다.
[Q] 다목적이면 결정 회피 아닌가 -&gt; 용도가 축 가중을 정합니다. 드라이룸 공정이면 공기축 가중 다운. 결정권을 용도에 돌려주는 것.
[EN] Isn't multi-objective just indecision? -&gt; No - the application picks the weights; a funnel picks them for you, silently.
[용어] PMF dF_perc: 시간평균 Li 밀도 자유에너지 지형의 퍼콜레이션 문턱(이 온도의 자유에너지, Ea 아님).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조합의 아이디어는 단순합니다. 양극 쪽 막는 도펀트 + 음극 쪽 막는 도펀트로 합동 창을 넓히자. 반경 정합을 곱하고요. 1등 Cr2O3+HfO2 - 단일 최고보다 0.36 V 넓고 상위가 전부 anode-cathode 태그. 상보성이 실제로 구동 변수로 잡혔습니다. 그런데 - 만들 수는 있나? 세 점검: 자리 경쟁(InF3 선례는 서로 다른 자리 = 성공 패턴), 전하 산술, 공동 치환 형성에너지. 앞 둘은 지금 데이터로 점검 가능, 셋째가 계산 필요. 파일 첫 줄에 '가설, 미검증' 박아둔 이유.
[Q] 실험 선례 -&gt; 아지로다이트 한 염 두 도펀트 계보가 litdb에 있습니다 - 연도순 CuCl(2021), MgF2(2023), InF3(2024), CuBr2/La2O3(2025), GaF3(2026). InF3(2024)가 이 그룹 자리배정의 원본입니다.
[Q] 비율은? -&gt; 다음 장 - 지금 모델엔 비율 축이 없다는 게 정직한 답.
[용어] joint window: max(산화한계)-min(환원한계) - 두 상이 양쪽을 각각 커버한다는 상보 가정.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모델의 두 단은 성적이 완전히 다릅니다. 1단 R2 0.9998 - 성공이 아닙니다. 타깃이 저희가 만든 합성 점수라 모델은 저희 공식을 해부한 것뿐. 이것만 보여드리면 거짓말. 진짜 숫자는 3단 - 쌍 천여 개 상호작용 항 R2 0.089. 거의 못 배웁니다. 누수 감사: 폴드 밖 재표준화로 3.4% - 무시 수준, 낮은 성적은 누수 탓이 아닙니다. 방법 한 판 바꾸니 top10 중 2개만 겹칩니다. 원인은 명확 - co-doping 라벨이 없고 도펀트끼리의 화학이 특징에 없습니다. 소표본 방어는 Sendek 계승 - 절차만.
[Q] 0.089면 버려야 -&gt; 예측기로는 그렇습니다. 가설 생성기로 격하해 쓰고, 상위 가설의 라벨 계산이 다음 단계. 숨기는 것보다 격하가 낫습니다.
[Q] 왜 ridge/1-SE -&gt; 47 표본 과적합 방지 최소 복잡도 + CV 최저점보다 한 단계 보수적인 관례.
[용어] X-randomization: 라벨을 섞어 재학습 - 우연 적합 검사.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라벨을 만드는 계획입니다. 상위 쌍부터 공동 치환 슈퍼셀 - 형성에너지, 자리 배정, Li 개수 닫힘. 그리고 비율 그리드. 지금 모델엔 비율 축이 아예 없습니다. 단일 도펀트 농도 3점을 쌍으로 확장하면 쌍당 9개 조성 - 비율 축의 최소 라벨. 성공하면 0.089가 움직이고 실패하면 상보성 가정이 기각 - 어느 쪽이든 배웁니다. ML 쪽은 TabPFN 벤치, dopant 단위 leave-one-out, 역설계 루프, 능동학습이 줄 서 있습니다.
[스킵라인] '요지는 하나 - 라벨 없는 축은 계산으로 라벨을 만든다, 비율 축 포함.'
[Q] TabPFN 왜 -&gt; 소표본 표형 전용 사전학습 모델, 47 체급에 맞음. ridge 대비 이득은 벤치(M1)로 확인 후.
[용어] leave-one-dopant-out: 행이 아니라 도펀트 단위로 빼는 CV - 같은 도펀트 다른 농도가 훈련에 남는 누수 차단.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표가 오늘의 중심입니다. 2번 - MSD 기울기로 Ea를 냈는데 그 구간이 확산 영역이 아니었습니다. 케이지 진동을 확산으로 착각. beta 게이트가 6중 6을 떨어뜨렸습니다. 10번 - Nd2S3 갭 1.79, 알고 보니 hull 위 20 meV의 '예측만' 다형체(mp-32586) 값이었습니다. id를 박으니 관측상은 0.76. 그림에 이미 들어가 있던 숫자입니다. 6-7-8번이 한 덩어리 - 다음 장. 장부로 읽으면 아홉 건 철회, 한 건 보류, 한 건 재현성 플래그이고, 다섯 건이 지난 나흘 사이입니다. 게이트는 지금도 돌고 있습니다.
[Q] 각 철회의 원자료 -&gt; 전부 repo에 있습니다 - open_items 항목 번호와 커밋으로 추적되고, 7-8번(SDCP DFT+U)은 runs/sdcp_phaseB_vasp_v1_2026_08_08/ + db/properties/sdcp_phaseB_dftu_v1.json 에 2026-08-10 등재했습니다.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시간 순서대로. 슬랩을 얼리고 재니 -0.26, 약한 물리흡착. 얼린 게 걸려 풀고 재니 -1.27, 다섯 배 - 구조를 여니 표면 리튬이 뽑혀 나와 있었습니다. '흡착이 아니라 추출'로 판정을 바꿨습니다 - 이게 저희 이전 발표의 결론이었습니다. DFT+U로 재검하니 추출 반응에너지 +0.34 eV, 양수. 추출은 오르막. 두 번째 판정이 MLIP 아티팩트였습니다. 철회를 철회했습니다. 교훈 둘 - 제약 하나가 결론을 뒤집는다, 그리고 뒤집힌 결론도 틀릴 수 있다. 이걸 잡은 건 'UMA는 전하 분리를 판정할 수 없다, DFT로만 닫는다'를 미리 코드에 박아 둔 규칙이었습니다.
[Q] 최종 결합에너지는 -&gt; 아직 인용 불가 - 자세 불일치/전자설정 문제로 v2 프로토콜 재계산 발주됨. 오늘 확정은 추출 불리(+0.34)의 부호뿐.
[용어] charge separation: Li+가 떠나며 전자가 남는 사건 - 정수 전하 상태를 모르는 퍼텐셜은 이 비용을 오산.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공기 축을 문헌과 정면 대조. SI를 99행 전부 옮기고 산화수까지 맞춰서. 일치 26, 어긋남 9, 문헌 없음 12. 숫자보다 중요한 건 - 어긋난 아홉이 전부 같은 방향, 전부 과소평가였습니다. 무작위면 양쪽으로 흩어집니다. 한쪽으로 몰리면 체계 편향. 원인은 축의 물리를 잘못 잡은 것 - softness가 아니라 oxophilicity. 처방은 정성 축을 계산 축으로 대체 - 레시피와 정답지 확보됨.
[용어] HSAB: 굳고 무른 산염기 이론. oxophilicity: 양이온이 O와 결합하려는 경향 - 가수분해 구동의 실제 변수.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제일 불편한 장입니다. 규율은 '갭은 고정 점유수 고윳값만'인데, 정본 네 값을 만든 실행 파일을 못 찾았습니다. 남은 입력은 전부 DOS용. 값을 의심하는 게 아닙니다 - 재현 능력을 의심하는 겁니다. 값은 유지하되 플래그를 달고 검증기가 돌 때마다 경고를 찍게 했습니다. 처음엔 문서에만 적었는데 검사를 돌리면 초록불이 떴어요. 문서는 검사 경로가 아니니까. 검사하는 경로가 곧 쓰이는 경로여야 한다 - 이 감사의 교훈입니다.
[Q] 재현 안 되면 -&gt; 순서대로: 서버/백업 수색 -&gt; 동일 조건 재계산 -&gt; 그때까지 플래그 유지. 감사 항목으로 등록돼 절차가 돌고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내놓은 걸 먼저 표로 - 기전 하나, 스크리닝과 다목적 랭킹, 조합 가설과 정직한 감사, SEI 갭 여섯에 NEB 하나, 인프라, 그리고 철회 열한 건의 기록. 그 위에 오늘의 한 문장: 스크리닝의 값어치는 게이트에 있다. 저희 게이트는 저희 자신의 판정 열한 건을 잡았고, 그중 하나는 두 번 잡았다.
[Q] 실험 검증은 -&gt; 아직. DFT 재검 2계열(B2O3/Nd2O3), 실험은 다음 단계. 그래서 절대값 표를 만들지 않고 순위/가설로만.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계획은 레시피가 손에 있는 것부터 - 공기 축 직접 계산은 정답지까지 있고, co-doping 라벨은 방금 그 그리드, SEI NEB 두 개, Nd는 frozen-4f로 일곱 상이 저희 숫자가 됩니다. beta 게이트에 걸린 계는 셀을 여덟 배로 키워 구조적으로 풉니다. 설계 중: 화학-역학 다리, SDCP 재계산, 퍼텐셜 위원회.
[스킵라인] 확정 큐 다섯 줄만 읽고 넘어감.
[Q] 우선순위 -&gt; 협업 마감 걸린 SEI NEB -&gt; co-doping 라벨 -&gt; dG_hyd. 근거는 요청 기한과 재사용 빈도.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저희는 이 사다리의 왼쪽 두 칸에 있습니다. 재료 상수를 저희가 대면 입자 스케일은 DEM이 받습니다 - 그건 다른 발표의 주제. 오늘 발표는 처음 보여드린 지도를 한 바퀴 돈 것입니다. 마지막 정거장의 화살표가 앞으로 돌아간다는 것 - 그게 저희 파이프라인이 자기를 감사하는 방식입니다.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 용어 방어용.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A2b. 방법 태그가 허용 주장 강도를 정합니다 - 질문이 어느 행이든 이 표로 돌아오면 됩니다. (Codex 판 A2에서 채택한 형식)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A3. beta 게이트 정의식은 여기 있습니다 - 앙상블 평균 MSD에 적용한다는 게 요점(시드별 beta 평균이 아님). 오른쪽 그림은 모식도라고 제목에 박아 뒀습니다 - 실측 곡선 아님.
[감사 이력] 원래 이 자리에 있던 Arrhenius 그림 2장은 철회값 0.253 eV와 절대 sigma 주석을 달고 있어 내렸다(자체 리뷰 F3). 재출력 전까지 모식도로 대체.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깔때기 대신 이렇게 둡니다. 축 열넷, 조합은 기하평균 - 한 축이 바닥이면 종합도 바닥인 AND 성질. 데이터 없는 축은 0이 아니라 제외 후 명시 - 0으로 깔면 '모름'이 '나쁨'으로 둔갑합니다. 축마다 챔피언이 다른 게 화면에서 바로 보입니다 - 그게 조합으로 가는 이유입니다.
[용어] geometric mean: 곱의 n제곱근. 한 축의 0을 다른 축이 못 가려 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A5. 첫 문장만 외웁니다.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A5b. 자체 레드팀이 만든 5문항 - Q12에 없던 것들. 마지막 답은 빠진 원소 3개를 실제로 외워야 성립한다(발표 전 pool_provenance에서 확인).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A7. Part 5 뒤 숫자 백업.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A6. 원전 미보유 목록이 핵심 - 기억으로 서지를 쓰지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02920" y="457200"/>
            <a:ext cx="27432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August 2026</a:t>
            </a:r>
            <a:endParaRPr lang="en-US" sz="1100" dirty="0"/>
          </a:p>
        </p:txBody>
      </p:sp>
      <p:sp>
        <p:nvSpPr>
          <p:cNvPr id="3" name="Text 1"/>
          <p:cNvSpPr/>
          <p:nvPr/>
        </p:nvSpPr>
        <p:spPr>
          <a:xfrm>
            <a:off x="502920" y="1234440"/>
            <a:ext cx="8138160" cy="640080"/>
          </a:xfrm>
          <a:prstGeom prst="rect">
            <a:avLst/>
          </a:prstGeom>
          <a:noFill/>
          <a:ln/>
        </p:spPr>
        <p:txBody>
          <a:bodyPr wrap="square" lIns="0" tIns="0" rIns="0" bIns="0" rtlCol="0" anchor="ctr"/>
          <a:lstStyle/>
          <a:p>
            <a:pPr indent="0" marL="0">
              <a:buNone/>
            </a:pPr>
            <a:r>
              <a:rPr lang="en-US" sz="3400" b="1" dirty="0">
                <a:solidFill>
                  <a:srgbClr val="1F4E79"/>
                </a:solidFill>
                <a:latin typeface="Arial" pitchFamily="34" charset="0"/>
                <a:ea typeface="Arial" pitchFamily="34" charset="-122"/>
                <a:cs typeface="Arial" pitchFamily="34" charset="-120"/>
              </a:rPr>
              <a:t>Research Seminar</a:t>
            </a:r>
            <a:endParaRPr lang="en-US" sz="3400" dirty="0"/>
          </a:p>
        </p:txBody>
      </p:sp>
      <p:sp>
        <p:nvSpPr>
          <p:cNvPr id="4" name="Text 2"/>
          <p:cNvSpPr/>
          <p:nvPr/>
        </p:nvSpPr>
        <p:spPr>
          <a:xfrm>
            <a:off x="502920" y="2286000"/>
            <a:ext cx="8138160" cy="1188720"/>
          </a:xfrm>
          <a:prstGeom prst="rect">
            <a:avLst/>
          </a:prstGeom>
          <a:noFill/>
          <a:ln/>
        </p:spPr>
        <p:txBody>
          <a:bodyPr wrap="square" lIns="0" tIns="0" rIns="0" bIns="0" rtlCol="0" anchor="ctr"/>
          <a:lstStyle/>
          <a:p>
            <a:pPr indent="0" marL="0">
              <a:buNone/>
            </a:pPr>
            <a:r>
              <a:rPr lang="en-US" sz="2400" b="1" dirty="0">
                <a:solidFill>
                  <a:srgbClr val="262626"/>
                </a:solidFill>
                <a:latin typeface="Arial" pitchFamily="34" charset="0"/>
                <a:ea typeface="Arial" pitchFamily="34" charset="-122"/>
                <a:cs typeface="Arial" pitchFamily="34" charset="-120"/>
              </a:rPr>
              <a:t>Self-Auditing Computational Screening of</a:t>
            </a:r>
            <a:endParaRPr lang="en-US" sz="2400" dirty="0"/>
          </a:p>
          <a:p>
            <a:pPr indent="0" marL="0">
              <a:buNone/>
            </a:pPr>
            <a:r>
              <a:rPr lang="en-US" sz="2400" b="1" dirty="0">
                <a:solidFill>
                  <a:srgbClr val="262626"/>
                </a:solidFill>
                <a:latin typeface="Arial" pitchFamily="34" charset="0"/>
                <a:ea typeface="Arial" pitchFamily="34" charset="-122"/>
                <a:cs typeface="Arial" pitchFamily="34" charset="-120"/>
              </a:rPr>
              <a:t>Sulfide Solid Electrolytes</a:t>
            </a:r>
            <a:endParaRPr lang="en-US" sz="2400" dirty="0"/>
          </a:p>
        </p:txBody>
      </p:sp>
      <p:sp>
        <p:nvSpPr>
          <p:cNvPr id="5" name="Text 3"/>
          <p:cNvSpPr/>
          <p:nvPr/>
        </p:nvSpPr>
        <p:spPr>
          <a:xfrm>
            <a:off x="502920" y="4224528"/>
            <a:ext cx="8138160" cy="274320"/>
          </a:xfrm>
          <a:prstGeom prst="rect">
            <a:avLst/>
          </a:prstGeom>
          <a:noFill/>
          <a:ln/>
        </p:spPr>
        <p:txBody>
          <a:bodyPr wrap="square" lIns="0" tIns="0" rIns="0" bIns="0" rtlCol="0" anchor="ctr"/>
          <a:lstStyle/>
          <a:p>
            <a:pPr indent="0" marL="0">
              <a:buNone/>
            </a:pPr>
            <a:r>
              <a:rPr lang="en-US" sz="1100" i="1" dirty="0">
                <a:solidFill>
                  <a:srgbClr val="7F7F7F"/>
                </a:solidFill>
                <a:latin typeface="Arial" pitchFamily="34" charset="0"/>
                <a:ea typeface="Arial" pitchFamily="34" charset="-122"/>
                <a:cs typeface="Arial" pitchFamily="34" charset="-120"/>
              </a:rPr>
              <a:t>An audited cascade: from 47-species screening to prospective co-doping labels</a:t>
            </a:r>
            <a:endParaRPr lang="en-US" sz="1100" dirty="0"/>
          </a:p>
        </p:txBody>
      </p:sp>
      <p:sp>
        <p:nvSpPr>
          <p:cNvPr id="6" name="Text 4"/>
          <p:cNvSpPr/>
          <p:nvPr/>
        </p:nvSpPr>
        <p:spPr>
          <a:xfrm>
            <a:off x="502920" y="3474720"/>
            <a:ext cx="8138160" cy="365760"/>
          </a:xfrm>
          <a:prstGeom prst="rect">
            <a:avLst/>
          </a:prstGeom>
          <a:noFill/>
          <a:ln/>
        </p:spPr>
        <p:txBody>
          <a:bodyPr wrap="square" lIns="0" tIns="0" rIns="0" bIns="0" rtlCol="0" anchor="ctr"/>
          <a:lstStyle/>
          <a:p>
            <a:pPr indent="0" marL="0">
              <a:buNone/>
            </a:pPr>
            <a:r>
              <a:rPr lang="en-US" sz="1500" i="1" dirty="0">
                <a:solidFill>
                  <a:srgbClr val="7F7F7F"/>
                </a:solidFill>
                <a:latin typeface="Arial" pitchFamily="34" charset="0"/>
                <a:ea typeface="Arial" pitchFamily="34" charset="-122"/>
                <a:cs typeface="Arial" pitchFamily="34" charset="-120"/>
              </a:rPr>
              <a:t>— from DFT gates to dopant combinations</a:t>
            </a:r>
            <a:endParaRPr lang="en-US" sz="1500" dirty="0"/>
          </a:p>
        </p:txBody>
      </p:sp>
      <p:sp>
        <p:nvSpPr>
          <p:cNvPr id="7" name="Text 5"/>
          <p:cNvSpPr/>
          <p:nvPr/>
        </p:nvSpPr>
        <p:spPr>
          <a:xfrm>
            <a:off x="502920" y="4572000"/>
            <a:ext cx="8138160" cy="320040"/>
          </a:xfrm>
          <a:prstGeom prst="rect">
            <a:avLst/>
          </a:prstGeom>
          <a:noFill/>
          <a:ln/>
        </p:spPr>
        <p:txBody>
          <a:bodyPr wrap="square" lIns="0" tIns="0" rIns="0" bIns="0" rtlCol="0" anchor="ctr"/>
          <a:lstStyle/>
          <a:p>
            <a:pPr indent="0" marL="0">
              <a:buNone/>
            </a:pPr>
            <a:r>
              <a:rPr lang="en-US" sz="1500" b="1" dirty="0">
                <a:solidFill>
                  <a:srgbClr val="262626"/>
                </a:solidFill>
                <a:latin typeface="Arial" pitchFamily="34" charset="0"/>
                <a:ea typeface="Arial" pitchFamily="34" charset="-122"/>
                <a:cs typeface="Arial" pitchFamily="34" charset="-120"/>
              </a:rPr>
              <a:t>Yonghoon An</a:t>
            </a:r>
            <a:endParaRPr lang="en-US" sz="1500" dirty="0"/>
          </a:p>
        </p:txBody>
      </p:sp>
      <p:sp>
        <p:nvSpPr>
          <p:cNvPr id="8" name="Text 6"/>
          <p:cNvSpPr/>
          <p:nvPr/>
        </p:nvSpPr>
        <p:spPr>
          <a:xfrm>
            <a:off x="502920" y="4919472"/>
            <a:ext cx="8138160" cy="54864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Division of Materials Science &amp; Engineering, Hanyang University</a:t>
            </a:r>
            <a:endParaRPr lang="en-US" sz="1100" dirty="0"/>
          </a:p>
          <a:p>
            <a:pPr indent="0" marL="0">
              <a:buNone/>
            </a:pPr>
            <a:r>
              <a:rPr lang="en-US" sz="1100" dirty="0">
                <a:solidFill>
                  <a:srgbClr val="7F7F7F"/>
                </a:solidFill>
                <a:latin typeface="Arial" pitchFamily="34" charset="0"/>
                <a:ea typeface="Arial" pitchFamily="34" charset="-122"/>
                <a:cs typeface="Arial" pitchFamily="34" charset="-120"/>
              </a:rPr>
              <a:t>(E-mail : yonghoon71@hanyang.ac.kr)</a:t>
            </a:r>
            <a:endParaRPr lang="en-US" sz="1100" dirty="0"/>
          </a:p>
        </p:txBody>
      </p:sp>
      <p:sp>
        <p:nvSpPr>
          <p:cNvPr id="9" name="Text 7"/>
          <p:cNvSpPr/>
          <p:nvPr/>
        </p:nvSpPr>
        <p:spPr>
          <a:xfrm>
            <a:off x="502920" y="3886200"/>
            <a:ext cx="8138160" cy="274320"/>
          </a:xfrm>
          <a:prstGeom prst="rect">
            <a:avLst/>
          </a:prstGeom>
          <a:noFill/>
          <a:ln/>
        </p:spPr>
        <p:txBody>
          <a:bodyPr wrap="square" lIns="0" tIns="0" rIns="0" bIns="0" rtlCol="0" anchor="ctr"/>
          <a:lstStyle/>
          <a:p>
            <a:pPr indent="0" marL="0">
              <a:buNone/>
            </a:pPr>
            <a:r>
              <a:rPr lang="en-US" sz="1050" dirty="0">
                <a:solidFill>
                  <a:srgbClr val="7F7F7F"/>
                </a:solidFill>
                <a:latin typeface="Arial" pitchFamily="34" charset="0"/>
                <a:ea typeface="Arial" pitchFamily="34" charset="-122"/>
                <a:cs typeface="Arial" pitchFamily="34" charset="-120"/>
              </a:rPr>
              <a:t>게이트가 걸러낸 것들의 기록 — 판정 11건을 감사해 9건을 철회시킨 파이프라인</a:t>
            </a:r>
            <a:endParaRPr lang="en-US" sz="1050" dirty="0"/>
          </a:p>
        </p:txBody>
      </p:sp>
      <p:sp>
        <p:nvSpPr>
          <p:cNvPr id="10" name="Text 8"/>
          <p:cNvSpPr/>
          <p:nvPr/>
        </p:nvSpPr>
        <p:spPr>
          <a:xfrm>
            <a:off x="502920" y="6309360"/>
            <a:ext cx="3657600" cy="274320"/>
          </a:xfrm>
          <a:prstGeom prst="rect">
            <a:avLst/>
          </a:prstGeom>
          <a:noFill/>
          <a:ln/>
        </p:spPr>
        <p:txBody>
          <a:bodyPr wrap="square" lIns="0" tIns="0" rIns="0" bIns="0" rtlCol="0" anchor="ctr"/>
          <a:lstStyle/>
          <a:p>
            <a:pPr indent="0" marL="0">
              <a:buNone/>
            </a:pPr>
            <a:r>
              <a:rPr lang="en-US" sz="1000" b="1" dirty="0">
                <a:solidFill>
                  <a:srgbClr val="1F4E79"/>
                </a:solidFill>
                <a:latin typeface="Arial" pitchFamily="34" charset="0"/>
                <a:ea typeface="Arial" pitchFamily="34" charset="-122"/>
                <a:cs typeface="Arial" pitchFamily="34" charset="-120"/>
              </a:rPr>
              <a:t>HANYANG UNIVERSITY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Motivation</a:t>
            </a:r>
            <a:endParaRPr lang="en-US" sz="1100" dirty="0"/>
          </a:p>
        </p:txBody>
      </p:sp>
      <p:sp>
        <p:nvSpPr>
          <p:cNvPr id="3" name="Text 1"/>
          <p:cNvSpPr/>
          <p:nvPr/>
        </p:nvSpPr>
        <p:spPr>
          <a:xfrm>
            <a:off x="3840480" y="219456"/>
            <a:ext cx="4846320" cy="292608"/>
          </a:xfrm>
          <a:prstGeom prst="rect">
            <a:avLst/>
          </a:prstGeom>
          <a:noFill/>
          <a:ln/>
        </p:spPr>
        <p:txBody>
          <a:bodyPr wrap="square" lIns="0" tIns="0" rIns="0" bIns="0" rtlCol="0" anchor="ctr"/>
          <a:lstStyle/>
          <a:p>
            <a:pPr algn="r" indent="0" marL="0">
              <a:buNone/>
            </a:pPr>
            <a:r>
              <a:rPr lang="en-US" sz="850" i="1" dirty="0">
                <a:solidFill>
                  <a:srgbClr val="7F7F7F"/>
                </a:solidFill>
                <a:latin typeface="Arial" pitchFamily="34" charset="0"/>
                <a:ea typeface="Arial" pitchFamily="34" charset="-122"/>
                <a:cs typeface="Arial" pitchFamily="34" charset="-120"/>
              </a:rPr>
              <a:t>Sendek et al., EES 2017 · EIS = impedance spectroscopy</a:t>
            </a:r>
            <a:endParaRPr lang="en-US" sz="850" dirty="0"/>
          </a:p>
        </p:txBody>
      </p:sp>
      <p:sp>
        <p:nvSpPr>
          <p:cNvPr id="4" name="Text 2"/>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The screening problem</a:t>
            </a:r>
            <a:endParaRPr lang="en-US" sz="2000" dirty="0"/>
          </a:p>
        </p:txBody>
      </p:sp>
      <p:sp>
        <p:nvSpPr>
          <p:cNvPr id="5" name="Shape 3"/>
          <p:cNvSpPr/>
          <p:nvPr/>
        </p:nvSpPr>
        <p:spPr>
          <a:xfrm>
            <a:off x="457200" y="1115568"/>
            <a:ext cx="8229600" cy="0"/>
          </a:xfrm>
          <a:prstGeom prst="line">
            <a:avLst/>
          </a:prstGeom>
          <a:noFill/>
          <a:ln w="12700">
            <a:solidFill>
              <a:srgbClr val="D9D9D9"/>
            </a:solidFill>
            <a:prstDash val="solid"/>
          </a:ln>
        </p:spPr>
      </p:sp>
      <p:sp>
        <p:nvSpPr>
          <p:cNvPr id="6" name="Shape 4"/>
          <p:cNvSpPr/>
          <p:nvPr/>
        </p:nvSpPr>
        <p:spPr>
          <a:xfrm>
            <a:off x="502920" y="2514600"/>
            <a:ext cx="1371600" cy="548640"/>
          </a:xfrm>
          <a:prstGeom prst="roundRect">
            <a:avLst>
              <a:gd name="adj" fmla="val 10000"/>
            </a:avLst>
          </a:prstGeom>
          <a:solidFill>
            <a:srgbClr val="1F4E79"/>
          </a:solidFill>
          <a:ln/>
        </p:spPr>
      </p:sp>
      <p:sp>
        <p:nvSpPr>
          <p:cNvPr id="7" name="Text 5"/>
          <p:cNvSpPr/>
          <p:nvPr/>
        </p:nvSpPr>
        <p:spPr>
          <a:xfrm>
            <a:off x="502920" y="2514600"/>
            <a:ext cx="1371600"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Li₆PS₅Cl</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host</a:t>
            </a:r>
            <a:endParaRPr lang="en-US" sz="1000" dirty="0"/>
          </a:p>
        </p:txBody>
      </p:sp>
      <p:sp>
        <p:nvSpPr>
          <p:cNvPr id="8" name="Shape 6"/>
          <p:cNvSpPr/>
          <p:nvPr/>
        </p:nvSpPr>
        <p:spPr>
          <a:xfrm>
            <a:off x="1874520" y="2788920"/>
            <a:ext cx="502920" cy="-987552"/>
          </a:xfrm>
          <a:prstGeom prst="line">
            <a:avLst/>
          </a:prstGeom>
          <a:noFill/>
          <a:ln w="12700">
            <a:solidFill>
              <a:srgbClr val="7F7F7F"/>
            </a:solidFill>
            <a:prstDash val="solid"/>
          </a:ln>
        </p:spPr>
      </p:sp>
      <p:sp>
        <p:nvSpPr>
          <p:cNvPr id="9" name="Shape 7"/>
          <p:cNvSpPr/>
          <p:nvPr/>
        </p:nvSpPr>
        <p:spPr>
          <a:xfrm>
            <a:off x="2377440" y="1554480"/>
            <a:ext cx="1600200" cy="493776"/>
          </a:xfrm>
          <a:prstGeom prst="roundRect">
            <a:avLst>
              <a:gd name="adj" fmla="val 9259"/>
            </a:avLst>
          </a:prstGeom>
          <a:solidFill>
            <a:srgbClr val="EEF3F9"/>
          </a:solidFill>
          <a:ln w="12700">
            <a:solidFill>
              <a:srgbClr val="1F4E79"/>
            </a:solidFill>
            <a:prstDash val="solid"/>
          </a:ln>
        </p:spPr>
      </p:sp>
      <p:sp>
        <p:nvSpPr>
          <p:cNvPr id="10" name="Text 8"/>
          <p:cNvSpPr/>
          <p:nvPr/>
        </p:nvSpPr>
        <p:spPr>
          <a:xfrm>
            <a:off x="2377440" y="1554480"/>
            <a:ext cx="1600200" cy="493776"/>
          </a:xfrm>
          <a:prstGeom prst="rect">
            <a:avLst/>
          </a:prstGeom>
          <a:noFill/>
          <a:ln/>
        </p:spPr>
        <p:txBody>
          <a:bodyPr wrap="square" lIns="0" tIns="0" rIns="0" bIns="0" rtlCol="0" anchor="ctr"/>
          <a:lstStyle/>
          <a:p>
            <a:pPr algn="ctr" indent="0" marL="0">
              <a:buNone/>
            </a:pPr>
            <a:r>
              <a:rPr lang="en-US" sz="950" dirty="0">
                <a:solidFill>
                  <a:srgbClr val="1F4E79"/>
                </a:solidFill>
                <a:latin typeface="Arial" pitchFamily="34" charset="0"/>
                <a:ea typeface="Arial" pitchFamily="34" charset="-122"/>
                <a:cs typeface="Arial" pitchFamily="34" charset="-120"/>
              </a:rPr>
              <a:t>halogen species</a:t>
            </a:r>
            <a:endParaRPr lang="en-US" sz="950" dirty="0"/>
          </a:p>
        </p:txBody>
      </p:sp>
      <p:sp>
        <p:nvSpPr>
          <p:cNvPr id="11" name="Shape 9"/>
          <p:cNvSpPr/>
          <p:nvPr/>
        </p:nvSpPr>
        <p:spPr>
          <a:xfrm>
            <a:off x="1874520" y="2788920"/>
            <a:ext cx="502920" cy="-329184"/>
          </a:xfrm>
          <a:prstGeom prst="line">
            <a:avLst/>
          </a:prstGeom>
          <a:noFill/>
          <a:ln w="12700">
            <a:solidFill>
              <a:srgbClr val="7F7F7F"/>
            </a:solidFill>
            <a:prstDash val="solid"/>
          </a:ln>
        </p:spPr>
      </p:sp>
      <p:sp>
        <p:nvSpPr>
          <p:cNvPr id="12" name="Shape 10"/>
          <p:cNvSpPr/>
          <p:nvPr/>
        </p:nvSpPr>
        <p:spPr>
          <a:xfrm>
            <a:off x="2377440" y="2212848"/>
            <a:ext cx="1600200" cy="493776"/>
          </a:xfrm>
          <a:prstGeom prst="roundRect">
            <a:avLst>
              <a:gd name="adj" fmla="val 9259"/>
            </a:avLst>
          </a:prstGeom>
          <a:solidFill>
            <a:srgbClr val="EEF3F9"/>
          </a:solidFill>
          <a:ln w="12700">
            <a:solidFill>
              <a:srgbClr val="1F4E79"/>
            </a:solidFill>
            <a:prstDash val="solid"/>
          </a:ln>
        </p:spPr>
      </p:sp>
      <p:sp>
        <p:nvSpPr>
          <p:cNvPr id="13" name="Text 11"/>
          <p:cNvSpPr/>
          <p:nvPr/>
        </p:nvSpPr>
        <p:spPr>
          <a:xfrm>
            <a:off x="2377440" y="2212848"/>
            <a:ext cx="1600200" cy="493776"/>
          </a:xfrm>
          <a:prstGeom prst="rect">
            <a:avLst/>
          </a:prstGeom>
          <a:noFill/>
          <a:ln/>
        </p:spPr>
        <p:txBody>
          <a:bodyPr wrap="square" lIns="0" tIns="0" rIns="0" bIns="0" rtlCol="0" anchor="ctr"/>
          <a:lstStyle/>
          <a:p>
            <a:pPr algn="ctr" indent="0" marL="0">
              <a:buNone/>
            </a:pPr>
            <a:r>
              <a:rPr lang="en-US" sz="950" dirty="0">
                <a:solidFill>
                  <a:srgbClr val="1F4E79"/>
                </a:solidFill>
                <a:latin typeface="Arial" pitchFamily="34" charset="0"/>
                <a:ea typeface="Arial" pitchFamily="34" charset="-122"/>
                <a:cs typeface="Arial" pitchFamily="34" charset="-120"/>
              </a:rPr>
              <a:t>halogen ratio</a:t>
            </a:r>
            <a:endParaRPr lang="en-US" sz="950" dirty="0"/>
          </a:p>
        </p:txBody>
      </p:sp>
      <p:sp>
        <p:nvSpPr>
          <p:cNvPr id="14" name="Shape 12"/>
          <p:cNvSpPr/>
          <p:nvPr/>
        </p:nvSpPr>
        <p:spPr>
          <a:xfrm>
            <a:off x="1874520" y="2788920"/>
            <a:ext cx="502920" cy="329184"/>
          </a:xfrm>
          <a:prstGeom prst="line">
            <a:avLst/>
          </a:prstGeom>
          <a:noFill/>
          <a:ln w="12700">
            <a:solidFill>
              <a:srgbClr val="7F7F7F"/>
            </a:solidFill>
            <a:prstDash val="solid"/>
          </a:ln>
        </p:spPr>
      </p:sp>
      <p:sp>
        <p:nvSpPr>
          <p:cNvPr id="15" name="Shape 13"/>
          <p:cNvSpPr/>
          <p:nvPr/>
        </p:nvSpPr>
        <p:spPr>
          <a:xfrm>
            <a:off x="2377440" y="2871216"/>
            <a:ext cx="1600200" cy="493776"/>
          </a:xfrm>
          <a:prstGeom prst="roundRect">
            <a:avLst>
              <a:gd name="adj" fmla="val 9259"/>
            </a:avLst>
          </a:prstGeom>
          <a:solidFill>
            <a:srgbClr val="EEF3F9"/>
          </a:solidFill>
          <a:ln w="12700">
            <a:solidFill>
              <a:srgbClr val="1F4E79"/>
            </a:solidFill>
            <a:prstDash val="solid"/>
          </a:ln>
        </p:spPr>
      </p:sp>
      <p:sp>
        <p:nvSpPr>
          <p:cNvPr id="16" name="Text 14"/>
          <p:cNvSpPr/>
          <p:nvPr/>
        </p:nvSpPr>
        <p:spPr>
          <a:xfrm>
            <a:off x="2377440" y="2871216"/>
            <a:ext cx="1600200" cy="493776"/>
          </a:xfrm>
          <a:prstGeom prst="rect">
            <a:avLst/>
          </a:prstGeom>
          <a:noFill/>
          <a:ln/>
        </p:spPr>
        <p:txBody>
          <a:bodyPr wrap="square" lIns="0" tIns="0" rIns="0" bIns="0" rtlCol="0" anchor="ctr"/>
          <a:lstStyle/>
          <a:p>
            <a:pPr algn="ctr" indent="0" marL="0">
              <a:buNone/>
            </a:pPr>
            <a:r>
              <a:rPr lang="en-US" sz="950" dirty="0">
                <a:solidFill>
                  <a:srgbClr val="1F4E79"/>
                </a:solidFill>
                <a:latin typeface="Arial" pitchFamily="34" charset="0"/>
                <a:ea typeface="Arial" pitchFamily="34" charset="-122"/>
                <a:cs typeface="Arial" pitchFamily="34" charset="-120"/>
              </a:rPr>
              <a:t>dopant (47)</a:t>
            </a:r>
            <a:endParaRPr lang="en-US" sz="950" dirty="0"/>
          </a:p>
        </p:txBody>
      </p:sp>
      <p:sp>
        <p:nvSpPr>
          <p:cNvPr id="17" name="Shape 15"/>
          <p:cNvSpPr/>
          <p:nvPr/>
        </p:nvSpPr>
        <p:spPr>
          <a:xfrm>
            <a:off x="1874520" y="2788920"/>
            <a:ext cx="502920" cy="987552"/>
          </a:xfrm>
          <a:prstGeom prst="line">
            <a:avLst/>
          </a:prstGeom>
          <a:noFill/>
          <a:ln w="12700">
            <a:solidFill>
              <a:srgbClr val="7F7F7F"/>
            </a:solidFill>
            <a:prstDash val="solid"/>
          </a:ln>
        </p:spPr>
      </p:sp>
      <p:sp>
        <p:nvSpPr>
          <p:cNvPr id="18" name="Shape 16"/>
          <p:cNvSpPr/>
          <p:nvPr/>
        </p:nvSpPr>
        <p:spPr>
          <a:xfrm>
            <a:off x="2377440" y="3529584"/>
            <a:ext cx="1600200" cy="493776"/>
          </a:xfrm>
          <a:prstGeom prst="roundRect">
            <a:avLst>
              <a:gd name="adj" fmla="val 9259"/>
            </a:avLst>
          </a:prstGeom>
          <a:solidFill>
            <a:srgbClr val="EEF3F9"/>
          </a:solidFill>
          <a:ln w="12700">
            <a:solidFill>
              <a:srgbClr val="1F4E79"/>
            </a:solidFill>
            <a:prstDash val="solid"/>
          </a:ln>
        </p:spPr>
      </p:sp>
      <p:sp>
        <p:nvSpPr>
          <p:cNvPr id="19" name="Text 17"/>
          <p:cNvSpPr/>
          <p:nvPr/>
        </p:nvSpPr>
        <p:spPr>
          <a:xfrm>
            <a:off x="2377440" y="3529584"/>
            <a:ext cx="1600200" cy="493776"/>
          </a:xfrm>
          <a:prstGeom prst="rect">
            <a:avLst/>
          </a:prstGeom>
          <a:noFill/>
          <a:ln/>
        </p:spPr>
        <p:txBody>
          <a:bodyPr wrap="square" lIns="0" tIns="0" rIns="0" bIns="0" rtlCol="0" anchor="ctr"/>
          <a:lstStyle/>
          <a:p>
            <a:pPr algn="ctr" indent="0" marL="0">
              <a:buNone/>
            </a:pPr>
            <a:r>
              <a:rPr lang="en-US" sz="950" dirty="0">
                <a:solidFill>
                  <a:srgbClr val="1F4E79"/>
                </a:solidFill>
                <a:latin typeface="Arial" pitchFamily="34" charset="0"/>
                <a:ea typeface="Arial" pitchFamily="34" charset="-122"/>
                <a:cs typeface="Arial" pitchFamily="34" charset="-120"/>
              </a:rPr>
              <a:t>campaign label (3)</a:t>
            </a:r>
            <a:endParaRPr lang="en-US" sz="950" dirty="0"/>
          </a:p>
        </p:txBody>
      </p:sp>
      <p:sp>
        <p:nvSpPr>
          <p:cNvPr id="20" name="Text 18"/>
          <p:cNvSpPr/>
          <p:nvPr/>
        </p:nvSpPr>
        <p:spPr>
          <a:xfrm>
            <a:off x="2377440" y="4297680"/>
            <a:ext cx="1600200" cy="274320"/>
          </a:xfrm>
          <a:prstGeom prst="rect">
            <a:avLst/>
          </a:prstGeom>
          <a:noFill/>
          <a:ln/>
        </p:spPr>
        <p:txBody>
          <a:bodyPr wrap="square" lIns="0" tIns="0" rIns="0" bIns="0" rtlCol="0" anchor="ctr"/>
          <a:lstStyle/>
          <a:p>
            <a:pPr algn="ctr" indent="0" marL="0">
              <a:buNone/>
            </a:pPr>
            <a:r>
              <a:rPr lang="en-US" sz="950" i="1" dirty="0">
                <a:solidFill>
                  <a:srgbClr val="9E2A2B"/>
                </a:solidFill>
                <a:latin typeface="Arial" pitchFamily="34" charset="0"/>
                <a:ea typeface="Arial" pitchFamily="34" charset="-122"/>
                <a:cs typeface="Arial" pitchFamily="34" charset="-120"/>
              </a:rPr>
              <a:t>× multiplicative</a:t>
            </a:r>
            <a:endParaRPr lang="en-US" sz="950" dirty="0"/>
          </a:p>
        </p:txBody>
      </p:sp>
      <p:sp>
        <p:nvSpPr>
          <p:cNvPr id="21" name="Text 19"/>
          <p:cNvSpPr/>
          <p:nvPr/>
        </p:nvSpPr>
        <p:spPr>
          <a:xfrm>
            <a:off x="502920" y="4709160"/>
            <a:ext cx="3063240" cy="274320"/>
          </a:xfrm>
          <a:prstGeom prst="rect">
            <a:avLst/>
          </a:prstGeom>
          <a:noFill/>
          <a:ln/>
        </p:spPr>
        <p:txBody>
          <a:bodyPr wrap="square" lIns="0" tIns="0" rIns="0" bIns="0" rtlCol="0" anchor="ctr"/>
          <a:lstStyle/>
          <a:p>
            <a:pPr algn="ctr" indent="0" marL="0">
              <a:buNone/>
            </a:pPr>
            <a:r>
              <a:rPr lang="en-US" sz="850" i="1" dirty="0">
                <a:solidFill>
                  <a:srgbClr val="7F7F7F"/>
                </a:solidFill>
                <a:latin typeface="Arial" pitchFamily="34" charset="0"/>
                <a:ea typeface="Arial" pitchFamily="34" charset="-122"/>
                <a:cs typeface="Arial" pitchFamily="34" charset="-120"/>
              </a:rPr>
              <a:t>Four knobs on one host; the label knob is nominal, not a verified concentration</a:t>
            </a:r>
            <a:endParaRPr lang="en-US" sz="850" dirty="0"/>
          </a:p>
        </p:txBody>
      </p:sp>
      <p:sp>
        <p:nvSpPr>
          <p:cNvPr id="22" name="Text 20"/>
          <p:cNvSpPr/>
          <p:nvPr/>
        </p:nvSpPr>
        <p:spPr>
          <a:xfrm>
            <a:off x="3977640" y="1463040"/>
            <a:ext cx="4663440" cy="2011680"/>
          </a:xfrm>
          <a:prstGeom prst="rect">
            <a:avLst/>
          </a:prstGeom>
          <a:noFill/>
          <a:ln/>
        </p:spPr>
        <p:txBody>
          <a:bodyPr wrap="square" lIns="0" tIns="0" rIns="0" bIns="0" rtlCol="0" anchor="t"/>
          <a:lstStyle/>
          <a:p>
            <a:pPr marL="127000" indent="-127000">
              <a:spcAft>
                <a:spcPts val="500"/>
              </a:spcAft>
              <a:buSzPct val="100000"/>
              <a:buChar char="·"/>
            </a:pPr>
            <a:r>
              <a:rPr lang="en-US" sz="1250" b="1" dirty="0">
                <a:solidFill>
                  <a:srgbClr val="262626"/>
                </a:solidFill>
                <a:latin typeface="Arial" pitchFamily="34" charset="0"/>
                <a:ea typeface="Arial" pitchFamily="34" charset="-122"/>
                <a:cs typeface="Arial" pitchFamily="34" charset="-120"/>
              </a:rPr>
              <a:t>One experiment = synthesis + XRD + EIS + cell ≈ weeks</a:t>
            </a:r>
            <a:endParaRPr lang="en-US" sz="1250" dirty="0"/>
          </a:p>
          <a:p>
            <a:pPr marL="127000" indent="-127000">
              <a:spcAft>
                <a:spcPts val="500"/>
              </a:spcAft>
              <a:buSzPct val="100000"/>
              <a:buChar char="·"/>
            </a:pPr>
            <a:r>
              <a:rPr lang="en-US" sz="1250" b="1" dirty="0">
                <a:solidFill>
                  <a:srgbClr val="262626"/>
                </a:solidFill>
                <a:latin typeface="Arial" pitchFamily="34" charset="0"/>
                <a:ea typeface="Arial" pitchFamily="34" charset="-122"/>
                <a:cs typeface="Arial" pitchFamily="34" charset="-120"/>
              </a:rPr>
              <a:t>One calculation = hours–days</a:t>
            </a:r>
            <a:endParaRPr lang="en-US" sz="1250" dirty="0"/>
          </a:p>
          <a:p>
            <a:pPr marL="127000" indent="-127000">
              <a:spcAft>
                <a:spcPts val="500"/>
              </a:spcAft>
              <a:buSzPct val="100000"/>
              <a:buChar char="·"/>
            </a:pPr>
            <a:r>
              <a:rPr lang="en-US" sz="1250" b="1" dirty="0">
                <a:solidFill>
                  <a:srgbClr val="1F4E79"/>
                </a:solidFill>
                <a:latin typeface="Arial" pitchFamily="34" charset="0"/>
                <a:ea typeface="Arial" pitchFamily="34" charset="-122"/>
                <a:cs typeface="Arial" pitchFamily="34" charset="-120"/>
              </a:rPr>
              <a:t>Computation does not replace experiments — it narrows where they go</a:t>
            </a:r>
            <a:endParaRPr lang="en-US" sz="1250" dirty="0"/>
          </a:p>
          <a:p>
            <a:pPr marL="127000" indent="-127000">
              <a:spcAft>
                <a:spcPts val="200"/>
              </a:spcAft>
              <a:buSzPct val="100000"/>
              <a:buChar char="·"/>
            </a:pPr>
            <a:r>
              <a:rPr lang="en-US" sz="1250" dirty="0">
                <a:solidFill>
                  <a:srgbClr val="262626"/>
                </a:solidFill>
                <a:latin typeface="Arial" pitchFamily="34" charset="0"/>
                <a:ea typeface="Arial" pitchFamily="34" charset="-122"/>
                <a:cs typeface="Arial" pitchFamily="34" charset="-120"/>
              </a:rPr>
              <a:t>Preview of our funnel (drawn the field's way):</a:t>
            </a:r>
            <a:endParaRPr lang="en-US" sz="1250" dirty="0"/>
          </a:p>
        </p:txBody>
      </p:sp>
      <p:sp>
        <p:nvSpPr>
          <p:cNvPr id="23" name="Shape 21"/>
          <p:cNvSpPr/>
          <p:nvPr/>
        </p:nvSpPr>
        <p:spPr>
          <a:xfrm>
            <a:off x="4206240" y="3566160"/>
            <a:ext cx="2606040" cy="365760"/>
          </a:xfrm>
          <a:prstGeom prst="rect">
            <a:avLst/>
          </a:prstGeom>
          <a:solidFill>
            <a:srgbClr val="1F4E79"/>
          </a:solidFill>
          <a:ln/>
        </p:spPr>
      </p:sp>
      <p:sp>
        <p:nvSpPr>
          <p:cNvPr id="24" name="Text 22"/>
          <p:cNvSpPr/>
          <p:nvPr/>
        </p:nvSpPr>
        <p:spPr>
          <a:xfrm>
            <a:off x="6885432" y="3602736"/>
            <a:ext cx="1188720" cy="292608"/>
          </a:xfrm>
          <a:prstGeom prst="rect">
            <a:avLst/>
          </a:prstGeom>
          <a:noFill/>
          <a:ln/>
        </p:spPr>
        <p:txBody>
          <a:bodyPr wrap="square" lIns="0" tIns="0" rIns="0" bIns="0" rtlCol="0" anchor="ctr"/>
          <a:lstStyle/>
          <a:p>
            <a:pPr indent="0" marL="0">
              <a:buNone/>
            </a:pPr>
            <a:r>
              <a:rPr lang="en-US" sz="1000" dirty="0">
                <a:solidFill>
                  <a:srgbClr val="262626"/>
                </a:solidFill>
                <a:latin typeface="Arial" pitchFamily="34" charset="0"/>
                <a:ea typeface="Arial" pitchFamily="34" charset="-122"/>
                <a:cs typeface="Arial" pitchFamily="34" charset="-120"/>
              </a:rPr>
              <a:t>pool  47</a:t>
            </a:r>
            <a:endParaRPr lang="en-US" sz="1000" dirty="0"/>
          </a:p>
        </p:txBody>
      </p:sp>
      <p:sp>
        <p:nvSpPr>
          <p:cNvPr id="25" name="Shape 23"/>
          <p:cNvSpPr/>
          <p:nvPr/>
        </p:nvSpPr>
        <p:spPr>
          <a:xfrm>
            <a:off x="4206240" y="4041648"/>
            <a:ext cx="2403705" cy="365760"/>
          </a:xfrm>
          <a:prstGeom prst="rect">
            <a:avLst/>
          </a:prstGeom>
          <a:solidFill>
            <a:srgbClr val="1F4E79"/>
          </a:solidFill>
          <a:ln/>
        </p:spPr>
      </p:sp>
      <p:sp>
        <p:nvSpPr>
          <p:cNvPr id="26" name="Text 24"/>
          <p:cNvSpPr/>
          <p:nvPr/>
        </p:nvSpPr>
        <p:spPr>
          <a:xfrm>
            <a:off x="6683097" y="4078224"/>
            <a:ext cx="1188720" cy="292608"/>
          </a:xfrm>
          <a:prstGeom prst="rect">
            <a:avLst/>
          </a:prstGeom>
          <a:noFill/>
          <a:ln/>
        </p:spPr>
        <p:txBody>
          <a:bodyPr wrap="square" lIns="0" tIns="0" rIns="0" bIns="0" rtlCol="0" anchor="ctr"/>
          <a:lstStyle/>
          <a:p>
            <a:pPr indent="0" marL="0">
              <a:buNone/>
            </a:pPr>
            <a:r>
              <a:rPr lang="en-US" sz="1000" dirty="0">
                <a:solidFill>
                  <a:srgbClr val="262626"/>
                </a:solidFill>
                <a:latin typeface="Arial" pitchFamily="34" charset="0"/>
                <a:ea typeface="Arial" pitchFamily="34" charset="-122"/>
                <a:cs typeface="Arial" pitchFamily="34" charset="-120"/>
              </a:rPr>
              <a:t>G2  43</a:t>
            </a:r>
            <a:endParaRPr lang="en-US" sz="1000" dirty="0"/>
          </a:p>
        </p:txBody>
      </p:sp>
      <p:sp>
        <p:nvSpPr>
          <p:cNvPr id="27" name="Shape 25"/>
          <p:cNvSpPr/>
          <p:nvPr/>
        </p:nvSpPr>
        <p:spPr>
          <a:xfrm>
            <a:off x="4206240" y="4517136"/>
            <a:ext cx="1493196" cy="365760"/>
          </a:xfrm>
          <a:prstGeom prst="rect">
            <a:avLst/>
          </a:prstGeom>
          <a:solidFill>
            <a:srgbClr val="1F4E79"/>
          </a:solidFill>
          <a:ln/>
        </p:spPr>
      </p:sp>
      <p:sp>
        <p:nvSpPr>
          <p:cNvPr id="28" name="Text 26"/>
          <p:cNvSpPr/>
          <p:nvPr/>
        </p:nvSpPr>
        <p:spPr>
          <a:xfrm>
            <a:off x="5772588" y="4553712"/>
            <a:ext cx="1188720" cy="292608"/>
          </a:xfrm>
          <a:prstGeom prst="rect">
            <a:avLst/>
          </a:prstGeom>
          <a:noFill/>
          <a:ln/>
        </p:spPr>
        <p:txBody>
          <a:bodyPr wrap="square" lIns="0" tIns="0" rIns="0" bIns="0" rtlCol="0" anchor="ctr"/>
          <a:lstStyle/>
          <a:p>
            <a:pPr indent="0" marL="0">
              <a:buNone/>
            </a:pPr>
            <a:r>
              <a:rPr lang="en-US" sz="1000" dirty="0">
                <a:solidFill>
                  <a:srgbClr val="262626"/>
                </a:solidFill>
                <a:latin typeface="Arial" pitchFamily="34" charset="0"/>
                <a:ea typeface="Arial" pitchFamily="34" charset="-122"/>
                <a:cs typeface="Arial" pitchFamily="34" charset="-120"/>
              </a:rPr>
              <a:t>G3  25</a:t>
            </a:r>
            <a:endParaRPr lang="en-US" sz="1000" dirty="0"/>
          </a:p>
        </p:txBody>
      </p:sp>
      <p:sp>
        <p:nvSpPr>
          <p:cNvPr id="29" name="Shape 27"/>
          <p:cNvSpPr/>
          <p:nvPr/>
        </p:nvSpPr>
        <p:spPr>
          <a:xfrm>
            <a:off x="4206240" y="4992624"/>
            <a:ext cx="785022" cy="365760"/>
          </a:xfrm>
          <a:prstGeom prst="rect">
            <a:avLst/>
          </a:prstGeom>
          <a:solidFill>
            <a:srgbClr val="1F4E79"/>
          </a:solidFill>
          <a:ln/>
        </p:spPr>
      </p:sp>
      <p:sp>
        <p:nvSpPr>
          <p:cNvPr id="30" name="Text 28"/>
          <p:cNvSpPr/>
          <p:nvPr/>
        </p:nvSpPr>
        <p:spPr>
          <a:xfrm>
            <a:off x="5064414" y="5029200"/>
            <a:ext cx="1188720" cy="292608"/>
          </a:xfrm>
          <a:prstGeom prst="rect">
            <a:avLst/>
          </a:prstGeom>
          <a:noFill/>
          <a:ln/>
        </p:spPr>
        <p:txBody>
          <a:bodyPr wrap="square" lIns="0" tIns="0" rIns="0" bIns="0" rtlCol="0" anchor="ctr"/>
          <a:lstStyle/>
          <a:p>
            <a:pPr indent="0" marL="0">
              <a:buNone/>
            </a:pPr>
            <a:r>
              <a:rPr lang="en-US" sz="1000" dirty="0">
                <a:solidFill>
                  <a:srgbClr val="262626"/>
                </a:solidFill>
                <a:latin typeface="Arial" pitchFamily="34" charset="0"/>
                <a:ea typeface="Arial" pitchFamily="34" charset="-122"/>
                <a:cs typeface="Arial" pitchFamily="34" charset="-120"/>
              </a:rPr>
              <a:t>G4  11</a:t>
            </a:r>
            <a:endParaRPr lang="en-US" sz="1000" dirty="0"/>
          </a:p>
        </p:txBody>
      </p:sp>
      <p:sp>
        <p:nvSpPr>
          <p:cNvPr id="31" name="Shape 29"/>
          <p:cNvSpPr/>
          <p:nvPr/>
        </p:nvSpPr>
        <p:spPr>
          <a:xfrm>
            <a:off x="4206240" y="5468112"/>
            <a:ext cx="279184" cy="365760"/>
          </a:xfrm>
          <a:prstGeom prst="rect">
            <a:avLst/>
          </a:prstGeom>
          <a:solidFill>
            <a:srgbClr val="9E2A2B"/>
          </a:solidFill>
          <a:ln/>
        </p:spPr>
      </p:sp>
      <p:sp>
        <p:nvSpPr>
          <p:cNvPr id="32" name="Text 30"/>
          <p:cNvSpPr/>
          <p:nvPr/>
        </p:nvSpPr>
        <p:spPr>
          <a:xfrm>
            <a:off x="4558576" y="5504688"/>
            <a:ext cx="1188720" cy="292608"/>
          </a:xfrm>
          <a:prstGeom prst="rect">
            <a:avLst/>
          </a:prstGeom>
          <a:noFill/>
          <a:ln/>
        </p:spPr>
        <p:txBody>
          <a:bodyPr wrap="square" lIns="0" tIns="0" rIns="0" bIns="0" rtlCol="0" anchor="ctr"/>
          <a:lstStyle/>
          <a:p>
            <a:pPr indent="0" marL="0">
              <a:buNone/>
            </a:pPr>
            <a:r>
              <a:rPr lang="en-US" sz="1000" dirty="0">
                <a:solidFill>
                  <a:srgbClr val="262626"/>
                </a:solidFill>
                <a:latin typeface="Arial" pitchFamily="34" charset="0"/>
                <a:ea typeface="Arial" pitchFamily="34" charset="-122"/>
                <a:cs typeface="Arial" pitchFamily="34" charset="-120"/>
              </a:rPr>
              <a:t>G5  1</a:t>
            </a:r>
            <a:endParaRPr lang="en-US" sz="1000" dirty="0"/>
          </a:p>
        </p:txBody>
      </p:sp>
      <p:sp>
        <p:nvSpPr>
          <p:cNvPr id="34" name="Text 31"/>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35" name="Text 32"/>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Motivation</a:t>
            </a:r>
            <a:endParaRPr lang="en-US" sz="1100" dirty="0"/>
          </a:p>
        </p:txBody>
      </p:sp>
      <p:sp>
        <p:nvSpPr>
          <p:cNvPr id="3" name="Text 1"/>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Screening is only as good as its gates</a:t>
            </a:r>
            <a:endParaRPr lang="en-US" sz="2000" dirty="0"/>
          </a:p>
        </p:txBody>
      </p:sp>
      <p:sp>
        <p:nvSpPr>
          <p:cNvPr id="4" name="Shape 2"/>
          <p:cNvSpPr/>
          <p:nvPr/>
        </p:nvSpPr>
        <p:spPr>
          <a:xfrm>
            <a:off x="457200" y="1115568"/>
            <a:ext cx="8229600" cy="0"/>
          </a:xfrm>
          <a:prstGeom prst="line">
            <a:avLst/>
          </a:prstGeom>
          <a:noFill/>
          <a:ln w="12700">
            <a:solidFill>
              <a:srgbClr val="D9D9D9"/>
            </a:solidFill>
            <a:prstDash val="solid"/>
          </a:ln>
        </p:spPr>
      </p:sp>
      <p:sp>
        <p:nvSpPr>
          <p:cNvPr id="5" name="Text 3"/>
          <p:cNvSpPr/>
          <p:nvPr/>
        </p:nvSpPr>
        <p:spPr>
          <a:xfrm>
            <a:off x="502920" y="1371600"/>
            <a:ext cx="8138160" cy="1828800"/>
          </a:xfrm>
          <a:prstGeom prst="rect">
            <a:avLst/>
          </a:prstGeom>
          <a:noFill/>
          <a:ln/>
        </p:spPr>
        <p:txBody>
          <a:bodyPr wrap="square" lIns="0" tIns="0" rIns="0" bIns="0" rtlCol="0" anchor="t"/>
          <a:lstStyle/>
          <a:p>
            <a:pPr marL="127000" indent="-127000">
              <a:spcAft>
                <a:spcPts val="500"/>
              </a:spcAft>
              <a:buSzPct val="100000"/>
              <a:buChar char="·"/>
            </a:pPr>
            <a:r>
              <a:rPr lang="en-US" sz="1300" b="1" dirty="0">
                <a:solidFill>
                  <a:srgbClr val="262626"/>
                </a:solidFill>
                <a:latin typeface="Arial" pitchFamily="34" charset="0"/>
                <a:ea typeface="Arial" pitchFamily="34" charset="-122"/>
                <a:cs typeface="Arial" pitchFamily="34" charset="-120"/>
              </a:rPr>
              <a:t>Screening talks end with “we found X out of N” — the pass side</a:t>
            </a:r>
            <a:endParaRPr lang="en-US" sz="1300" dirty="0"/>
          </a:p>
          <a:p>
            <a:pPr marL="127000" indent="-127000">
              <a:spcAft>
                <a:spcPts val="500"/>
              </a:spcAft>
              <a:buSzPct val="100000"/>
              <a:buChar char="·"/>
            </a:pPr>
            <a:r>
              <a:rPr lang="en-US" sz="1300" b="1" dirty="0">
                <a:solidFill>
                  <a:srgbClr val="1F4E79"/>
                </a:solidFill>
                <a:latin typeface="Arial" pitchFamily="34" charset="0"/>
                <a:ea typeface="Arial" pitchFamily="34" charset="-122"/>
                <a:cs typeface="Arial" pitchFamily="34" charset="-120"/>
              </a:rPr>
              <a:t>The harder question: did the wrong ones actually fail?  That is rarely reported</a:t>
            </a:r>
            <a:endParaRPr lang="en-US" sz="1300" dirty="0"/>
          </a:p>
          <a:p>
            <a:pPr marL="127000" indent="-127000">
              <a:spcAft>
                <a:spcPts val="500"/>
              </a:spcAft>
              <a:buSzPct val="100000"/>
              <a:buChar char="·"/>
            </a:pPr>
            <a:r>
              <a:rPr lang="en-US" sz="1300" b="1" dirty="0">
                <a:solidFill>
                  <a:srgbClr val="9E2A2B"/>
                </a:solidFill>
                <a:latin typeface="Arial" pitchFamily="34" charset="0"/>
                <a:ea typeface="Arial" pitchFamily="34" charset="-122"/>
                <a:cs typeface="Arial" pitchFamily="34" charset="-120"/>
              </a:rPr>
              <a:t>This talk puts 11 of our own verdicts under audit — 9 retracted — with the gate that caught each</a:t>
            </a:r>
            <a:endParaRPr lang="en-US" sz="1300" dirty="0"/>
          </a:p>
          <a:p>
            <a:pPr marL="127000" indent="-127000">
              <a:spcAft>
                <a:spcPts val="500"/>
              </a:spcAft>
              <a:buSzPct val="100000"/>
              <a:buChar char="·"/>
            </a:pPr>
            <a:r>
              <a:rPr lang="en-US" sz="1300" i="1" dirty="0">
                <a:solidFill>
                  <a:srgbClr val="262626"/>
                </a:solidFill>
                <a:latin typeface="Arial" pitchFamily="34" charset="0"/>
                <a:ea typeface="Arial" pitchFamily="34" charset="-122"/>
                <a:cs typeface="Arial" pitchFamily="34" charset="-120"/>
              </a:rPr>
              <a:t>One of the 11 was presented as a conclusion in our previous seminar deck</a:t>
            </a:r>
            <a:endParaRPr lang="en-US" sz="1300" dirty="0"/>
          </a:p>
        </p:txBody>
      </p:sp>
      <p:sp>
        <p:nvSpPr>
          <p:cNvPr id="6" name="Shape 4"/>
          <p:cNvSpPr/>
          <p:nvPr/>
        </p:nvSpPr>
        <p:spPr>
          <a:xfrm>
            <a:off x="502920" y="3474720"/>
            <a:ext cx="3886200" cy="2286000"/>
          </a:xfrm>
          <a:prstGeom prst="roundRect">
            <a:avLst>
              <a:gd name="adj" fmla="val 3200"/>
            </a:avLst>
          </a:prstGeom>
          <a:solidFill>
            <a:srgbClr val="F7F7F7"/>
          </a:solidFill>
          <a:ln w="12700">
            <a:solidFill>
              <a:srgbClr val="D9D9D9"/>
            </a:solidFill>
            <a:prstDash val="solid"/>
          </a:ln>
        </p:spPr>
      </p:sp>
      <p:sp>
        <p:nvSpPr>
          <p:cNvPr id="7" name="Text 5"/>
          <p:cNvSpPr/>
          <p:nvPr/>
        </p:nvSpPr>
        <p:spPr>
          <a:xfrm>
            <a:off x="685800" y="3611880"/>
            <a:ext cx="3566160" cy="274320"/>
          </a:xfrm>
          <a:prstGeom prst="rect">
            <a:avLst/>
          </a:prstGeom>
          <a:noFill/>
          <a:ln/>
        </p:spPr>
        <p:txBody>
          <a:bodyPr wrap="square" lIns="0" tIns="0" rIns="0" bIns="0" rtlCol="0" anchor="ctr"/>
          <a:lstStyle/>
          <a:p>
            <a:pPr indent="0" marL="0">
              <a:buNone/>
            </a:pPr>
            <a:r>
              <a:rPr lang="en-US" sz="1200" b="1" dirty="0">
                <a:solidFill>
                  <a:srgbClr val="7F7F7F"/>
                </a:solidFill>
                <a:latin typeface="Arial" pitchFamily="34" charset="0"/>
                <a:ea typeface="Arial" pitchFamily="34" charset="-122"/>
                <a:cs typeface="Arial" pitchFamily="34" charset="-120"/>
              </a:rPr>
              <a:t>usual funnel</a:t>
            </a:r>
            <a:endParaRPr lang="en-US" sz="1200" dirty="0"/>
          </a:p>
        </p:txBody>
      </p:sp>
      <p:sp>
        <p:nvSpPr>
          <p:cNvPr id="8" name="Shape 6"/>
          <p:cNvSpPr/>
          <p:nvPr/>
        </p:nvSpPr>
        <p:spPr>
          <a:xfrm>
            <a:off x="777240" y="4041648"/>
            <a:ext cx="2377440" cy="201168"/>
          </a:xfrm>
          <a:prstGeom prst="rect">
            <a:avLst/>
          </a:prstGeom>
          <a:solidFill>
            <a:srgbClr val="C9CDD3"/>
          </a:solidFill>
          <a:ln/>
        </p:spPr>
      </p:sp>
      <p:sp>
        <p:nvSpPr>
          <p:cNvPr id="9" name="Shape 7"/>
          <p:cNvSpPr/>
          <p:nvPr/>
        </p:nvSpPr>
        <p:spPr>
          <a:xfrm>
            <a:off x="1097280" y="4334256"/>
            <a:ext cx="1737360" cy="201168"/>
          </a:xfrm>
          <a:prstGeom prst="rect">
            <a:avLst/>
          </a:prstGeom>
          <a:solidFill>
            <a:srgbClr val="C9CDD3"/>
          </a:solidFill>
          <a:ln/>
        </p:spPr>
      </p:sp>
      <p:sp>
        <p:nvSpPr>
          <p:cNvPr id="10" name="Shape 8"/>
          <p:cNvSpPr/>
          <p:nvPr/>
        </p:nvSpPr>
        <p:spPr>
          <a:xfrm>
            <a:off x="1417320" y="4626864"/>
            <a:ext cx="1097280" cy="201168"/>
          </a:xfrm>
          <a:prstGeom prst="rect">
            <a:avLst/>
          </a:prstGeom>
          <a:solidFill>
            <a:srgbClr val="C9CDD3"/>
          </a:solidFill>
          <a:ln/>
        </p:spPr>
      </p:sp>
      <p:sp>
        <p:nvSpPr>
          <p:cNvPr id="11" name="Shape 9"/>
          <p:cNvSpPr/>
          <p:nvPr/>
        </p:nvSpPr>
        <p:spPr>
          <a:xfrm>
            <a:off x="1737360" y="4919472"/>
            <a:ext cx="457200" cy="201168"/>
          </a:xfrm>
          <a:prstGeom prst="rect">
            <a:avLst/>
          </a:prstGeom>
          <a:solidFill>
            <a:srgbClr val="C9CDD3"/>
          </a:solidFill>
          <a:ln/>
        </p:spPr>
      </p:sp>
      <p:sp>
        <p:nvSpPr>
          <p:cNvPr id="12" name="Text 10"/>
          <p:cNvSpPr/>
          <p:nvPr/>
        </p:nvSpPr>
        <p:spPr>
          <a:xfrm>
            <a:off x="685800" y="5257800"/>
            <a:ext cx="3566160" cy="457200"/>
          </a:xfrm>
          <a:prstGeom prst="rect">
            <a:avLst/>
          </a:prstGeom>
          <a:noFill/>
          <a:ln/>
        </p:spPr>
        <p:txBody>
          <a:bodyPr wrap="square" lIns="0" tIns="0" rIns="0" bIns="0" rtlCol="0" anchor="ctr"/>
          <a:lstStyle/>
          <a:p>
            <a:pPr indent="0" marL="0">
              <a:buNone/>
            </a:pPr>
            <a:r>
              <a:rPr lang="en-US" sz="1050" dirty="0">
                <a:solidFill>
                  <a:srgbClr val="7F7F7F"/>
                </a:solidFill>
                <a:latin typeface="Arial" pitchFamily="34" charset="0"/>
                <a:ea typeface="Arial" pitchFamily="34" charset="-122"/>
                <a:cs typeface="Arial" pitchFamily="34" charset="-120"/>
              </a:rPr>
              <a:t>pass counts only</a:t>
            </a:r>
            <a:endParaRPr lang="en-US" sz="1050" dirty="0"/>
          </a:p>
          <a:p>
            <a:pPr indent="0" marL="0">
              <a:buNone/>
            </a:pPr>
            <a:r>
              <a:rPr lang="en-US" sz="1050" dirty="0">
                <a:solidFill>
                  <a:srgbClr val="7F7F7F"/>
                </a:solidFill>
                <a:latin typeface="Arial" pitchFamily="34" charset="0"/>
                <a:ea typeface="Arial" pitchFamily="34" charset="-122"/>
                <a:cs typeface="Arial" pitchFamily="34" charset="-120"/>
              </a:rPr>
              <a:t>false rejects invisible</a:t>
            </a:r>
            <a:endParaRPr lang="en-US" sz="1050" dirty="0"/>
          </a:p>
        </p:txBody>
      </p:sp>
      <p:sp>
        <p:nvSpPr>
          <p:cNvPr id="13" name="Shape 11"/>
          <p:cNvSpPr/>
          <p:nvPr/>
        </p:nvSpPr>
        <p:spPr>
          <a:xfrm>
            <a:off x="4754880" y="3474720"/>
            <a:ext cx="3886200" cy="2286000"/>
          </a:xfrm>
          <a:prstGeom prst="roundRect">
            <a:avLst>
              <a:gd name="adj" fmla="val 3200"/>
            </a:avLst>
          </a:prstGeom>
          <a:solidFill>
            <a:srgbClr val="EEF3F9"/>
          </a:solidFill>
          <a:ln w="19050">
            <a:solidFill>
              <a:srgbClr val="1F4E79"/>
            </a:solidFill>
            <a:prstDash val="solid"/>
          </a:ln>
        </p:spPr>
      </p:sp>
      <p:sp>
        <p:nvSpPr>
          <p:cNvPr id="14" name="Text 12"/>
          <p:cNvSpPr/>
          <p:nvPr/>
        </p:nvSpPr>
        <p:spPr>
          <a:xfrm>
            <a:off x="4937760" y="3611880"/>
            <a:ext cx="3566160" cy="274320"/>
          </a:xfrm>
          <a:prstGeom prst="rect">
            <a:avLst/>
          </a:prstGeom>
          <a:noFill/>
          <a:ln/>
        </p:spPr>
        <p:txBody>
          <a:bodyPr wrap="square" lIns="0" tIns="0" rIns="0" bIns="0" rtlCol="0" anchor="ctr"/>
          <a:lstStyle/>
          <a:p>
            <a:pPr indent="0" marL="0">
              <a:buNone/>
            </a:pPr>
            <a:r>
              <a:rPr lang="en-US" sz="1200" b="1" dirty="0">
                <a:solidFill>
                  <a:srgbClr val="1F4E79"/>
                </a:solidFill>
                <a:latin typeface="Arial" pitchFamily="34" charset="0"/>
                <a:ea typeface="Arial" pitchFamily="34" charset="-122"/>
                <a:cs typeface="Arial" pitchFamily="34" charset="-120"/>
              </a:rPr>
              <a:t>ours</a:t>
            </a:r>
            <a:endParaRPr lang="en-US" sz="1200" dirty="0"/>
          </a:p>
        </p:txBody>
      </p:sp>
      <p:sp>
        <p:nvSpPr>
          <p:cNvPr id="15" name="Shape 13"/>
          <p:cNvSpPr/>
          <p:nvPr/>
        </p:nvSpPr>
        <p:spPr>
          <a:xfrm>
            <a:off x="5029200" y="4041648"/>
            <a:ext cx="2377440" cy="201168"/>
          </a:xfrm>
          <a:prstGeom prst="rect">
            <a:avLst/>
          </a:prstGeom>
          <a:solidFill>
            <a:srgbClr val="1F4E79"/>
          </a:solidFill>
          <a:ln/>
        </p:spPr>
      </p:sp>
      <p:sp>
        <p:nvSpPr>
          <p:cNvPr id="16" name="Text 14"/>
          <p:cNvSpPr/>
          <p:nvPr/>
        </p:nvSpPr>
        <p:spPr>
          <a:xfrm>
            <a:off x="7452360" y="3986784"/>
            <a:ext cx="274320" cy="274320"/>
          </a:xfrm>
          <a:prstGeom prst="rect">
            <a:avLst/>
          </a:prstGeom>
          <a:noFill/>
          <a:ln/>
        </p:spPr>
        <p:txBody>
          <a:bodyPr wrap="square" lIns="0" tIns="0" rIns="0" bIns="0" rtlCol="0" anchor="ctr"/>
          <a:lstStyle/>
          <a:p>
            <a:pPr indent="0" marL="0">
              <a:buNone/>
            </a:pPr>
            <a:r>
              <a:rPr lang="en-US" sz="1300" b="1" dirty="0">
                <a:solidFill>
                  <a:srgbClr val="9E2A2B"/>
                </a:solidFill>
                <a:latin typeface="Arial" pitchFamily="34" charset="0"/>
                <a:ea typeface="Arial" pitchFamily="34" charset="-122"/>
                <a:cs typeface="Arial" pitchFamily="34" charset="-120"/>
              </a:rPr>
              <a:t>×</a:t>
            </a:r>
            <a:endParaRPr lang="en-US" sz="1300" dirty="0"/>
          </a:p>
        </p:txBody>
      </p:sp>
      <p:sp>
        <p:nvSpPr>
          <p:cNvPr id="17" name="Shape 15"/>
          <p:cNvSpPr/>
          <p:nvPr/>
        </p:nvSpPr>
        <p:spPr>
          <a:xfrm>
            <a:off x="5349240" y="4334256"/>
            <a:ext cx="1737360" cy="201168"/>
          </a:xfrm>
          <a:prstGeom prst="rect">
            <a:avLst/>
          </a:prstGeom>
          <a:solidFill>
            <a:srgbClr val="1F4E79"/>
          </a:solidFill>
          <a:ln/>
        </p:spPr>
      </p:sp>
      <p:sp>
        <p:nvSpPr>
          <p:cNvPr id="18" name="Text 16"/>
          <p:cNvSpPr/>
          <p:nvPr/>
        </p:nvSpPr>
        <p:spPr>
          <a:xfrm>
            <a:off x="7132320" y="4279392"/>
            <a:ext cx="274320" cy="274320"/>
          </a:xfrm>
          <a:prstGeom prst="rect">
            <a:avLst/>
          </a:prstGeom>
          <a:noFill/>
          <a:ln/>
        </p:spPr>
        <p:txBody>
          <a:bodyPr wrap="square" lIns="0" tIns="0" rIns="0" bIns="0" rtlCol="0" anchor="ctr"/>
          <a:lstStyle/>
          <a:p>
            <a:pPr indent="0" marL="0">
              <a:buNone/>
            </a:pPr>
            <a:r>
              <a:rPr lang="en-US" sz="1300" b="1" dirty="0">
                <a:solidFill>
                  <a:srgbClr val="9E2A2B"/>
                </a:solidFill>
                <a:latin typeface="Arial" pitchFamily="34" charset="0"/>
                <a:ea typeface="Arial" pitchFamily="34" charset="-122"/>
                <a:cs typeface="Arial" pitchFamily="34" charset="-120"/>
              </a:rPr>
              <a:t>×</a:t>
            </a:r>
            <a:endParaRPr lang="en-US" sz="1300" dirty="0"/>
          </a:p>
        </p:txBody>
      </p:sp>
      <p:sp>
        <p:nvSpPr>
          <p:cNvPr id="19" name="Shape 17"/>
          <p:cNvSpPr/>
          <p:nvPr/>
        </p:nvSpPr>
        <p:spPr>
          <a:xfrm>
            <a:off x="5669280" y="4626864"/>
            <a:ext cx="1097280" cy="201168"/>
          </a:xfrm>
          <a:prstGeom prst="rect">
            <a:avLst/>
          </a:prstGeom>
          <a:solidFill>
            <a:srgbClr val="1F4E79"/>
          </a:solidFill>
          <a:ln/>
        </p:spPr>
      </p:sp>
      <p:sp>
        <p:nvSpPr>
          <p:cNvPr id="20" name="Text 18"/>
          <p:cNvSpPr/>
          <p:nvPr/>
        </p:nvSpPr>
        <p:spPr>
          <a:xfrm>
            <a:off x="6812280" y="4572000"/>
            <a:ext cx="274320" cy="274320"/>
          </a:xfrm>
          <a:prstGeom prst="rect">
            <a:avLst/>
          </a:prstGeom>
          <a:noFill/>
          <a:ln/>
        </p:spPr>
        <p:txBody>
          <a:bodyPr wrap="square" lIns="0" tIns="0" rIns="0" bIns="0" rtlCol="0" anchor="ctr"/>
          <a:lstStyle/>
          <a:p>
            <a:pPr indent="0" marL="0">
              <a:buNone/>
            </a:pPr>
            <a:r>
              <a:rPr lang="en-US" sz="1300" b="1" dirty="0">
                <a:solidFill>
                  <a:srgbClr val="9E2A2B"/>
                </a:solidFill>
                <a:latin typeface="Arial" pitchFamily="34" charset="0"/>
                <a:ea typeface="Arial" pitchFamily="34" charset="-122"/>
                <a:cs typeface="Arial" pitchFamily="34" charset="-120"/>
              </a:rPr>
              <a:t>×</a:t>
            </a:r>
            <a:endParaRPr lang="en-US" sz="1300" dirty="0"/>
          </a:p>
        </p:txBody>
      </p:sp>
      <p:sp>
        <p:nvSpPr>
          <p:cNvPr id="21" name="Shape 19"/>
          <p:cNvSpPr/>
          <p:nvPr/>
        </p:nvSpPr>
        <p:spPr>
          <a:xfrm>
            <a:off x="5989320" y="4919472"/>
            <a:ext cx="457200" cy="201168"/>
          </a:xfrm>
          <a:prstGeom prst="rect">
            <a:avLst/>
          </a:prstGeom>
          <a:solidFill>
            <a:srgbClr val="1F4E79"/>
          </a:solidFill>
          <a:ln/>
        </p:spPr>
      </p:sp>
      <p:sp>
        <p:nvSpPr>
          <p:cNvPr id="22" name="Text 20"/>
          <p:cNvSpPr/>
          <p:nvPr/>
        </p:nvSpPr>
        <p:spPr>
          <a:xfrm>
            <a:off x="6492240" y="4864608"/>
            <a:ext cx="274320" cy="274320"/>
          </a:xfrm>
          <a:prstGeom prst="rect">
            <a:avLst/>
          </a:prstGeom>
          <a:noFill/>
          <a:ln/>
        </p:spPr>
        <p:txBody>
          <a:bodyPr wrap="square" lIns="0" tIns="0" rIns="0" bIns="0" rtlCol="0" anchor="ctr"/>
          <a:lstStyle/>
          <a:p>
            <a:pPr indent="0" marL="0">
              <a:buNone/>
            </a:pPr>
            <a:r>
              <a:rPr lang="en-US" sz="1300" b="1" dirty="0">
                <a:solidFill>
                  <a:srgbClr val="9E2A2B"/>
                </a:solidFill>
                <a:latin typeface="Arial" pitchFamily="34" charset="0"/>
                <a:ea typeface="Arial" pitchFamily="34" charset="-122"/>
                <a:cs typeface="Arial" pitchFamily="34" charset="-120"/>
              </a:rPr>
              <a:t>×</a:t>
            </a:r>
            <a:endParaRPr lang="en-US" sz="1300" dirty="0"/>
          </a:p>
        </p:txBody>
      </p:sp>
      <p:sp>
        <p:nvSpPr>
          <p:cNvPr id="23" name="Text 21"/>
          <p:cNvSpPr/>
          <p:nvPr/>
        </p:nvSpPr>
        <p:spPr>
          <a:xfrm>
            <a:off x="4937760" y="5257800"/>
            <a:ext cx="3566160" cy="457200"/>
          </a:xfrm>
          <a:prstGeom prst="rect">
            <a:avLst/>
          </a:prstGeom>
          <a:noFill/>
          <a:ln/>
        </p:spPr>
        <p:txBody>
          <a:bodyPr wrap="square" lIns="0" tIns="0" rIns="0" bIns="0" rtlCol="0" anchor="ctr"/>
          <a:lstStyle/>
          <a:p>
            <a:pPr indent="0" marL="0">
              <a:buNone/>
            </a:pPr>
            <a:r>
              <a:rPr lang="en-US" sz="1050" dirty="0">
                <a:solidFill>
                  <a:srgbClr val="262626"/>
                </a:solidFill>
                <a:latin typeface="Arial" pitchFamily="34" charset="0"/>
                <a:ea typeface="Arial" pitchFamily="34" charset="-122"/>
                <a:cs typeface="Arial" pitchFamily="34" charset="-120"/>
              </a:rPr>
              <a:t>every rejection carries its reason</a:t>
            </a:r>
            <a:endParaRPr lang="en-US" sz="1050" dirty="0"/>
          </a:p>
          <a:p>
            <a:pPr indent="0" marL="0">
              <a:buNone/>
            </a:pPr>
            <a:r>
              <a:rPr lang="en-US" sz="1050" dirty="0">
                <a:solidFill>
                  <a:srgbClr val="262626"/>
                </a:solidFill>
                <a:latin typeface="Arial" pitchFamily="34" charset="0"/>
                <a:ea typeface="Arial" pitchFamily="34" charset="-122"/>
                <a:cs typeface="Arial" pitchFamily="34" charset="-120"/>
              </a:rPr>
              <a:t>9 retractions + 2 flags published</a:t>
            </a:r>
            <a:endParaRPr lang="en-US" sz="1050" dirty="0"/>
          </a:p>
        </p:txBody>
      </p:sp>
      <p:sp>
        <p:nvSpPr>
          <p:cNvPr id="25" name="Text 22"/>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26" name="Text 23"/>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Roadmap</a:t>
            </a:r>
            <a:endParaRPr lang="en-US" sz="1100" dirty="0"/>
          </a:p>
        </p:txBody>
      </p:sp>
      <p:sp>
        <p:nvSpPr>
          <p:cNvPr id="3" name="Text 1"/>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One loop, six stops</a:t>
            </a:r>
            <a:endParaRPr lang="en-US" sz="2000" dirty="0"/>
          </a:p>
        </p:txBody>
      </p:sp>
      <p:sp>
        <p:nvSpPr>
          <p:cNvPr id="4" name="Shape 2"/>
          <p:cNvSpPr/>
          <p:nvPr/>
        </p:nvSpPr>
        <p:spPr>
          <a:xfrm>
            <a:off x="457200" y="1115568"/>
            <a:ext cx="8229600" cy="0"/>
          </a:xfrm>
          <a:prstGeom prst="line">
            <a:avLst/>
          </a:prstGeom>
          <a:noFill/>
          <a:ln w="12700">
            <a:solidFill>
              <a:srgbClr val="D9D9D9"/>
            </a:solidFill>
            <a:prstDash val="solid"/>
          </a:ln>
        </p:spPr>
      </p:sp>
      <p:sp>
        <p:nvSpPr>
          <p:cNvPr id="5" name="Shape 3"/>
          <p:cNvSpPr/>
          <p:nvPr/>
        </p:nvSpPr>
        <p:spPr>
          <a:xfrm>
            <a:off x="502920" y="2743200"/>
            <a:ext cx="1188720" cy="786384"/>
          </a:xfrm>
          <a:prstGeom prst="roundRect">
            <a:avLst>
              <a:gd name="adj" fmla="val 6977"/>
            </a:avLst>
          </a:prstGeom>
          <a:solidFill>
            <a:srgbClr val="FFFFFF"/>
          </a:solidFill>
          <a:ln w="15875">
            <a:solidFill>
              <a:srgbClr val="1F4E79"/>
            </a:solidFill>
            <a:prstDash val="solid"/>
          </a:ln>
        </p:spPr>
      </p:sp>
      <p:sp>
        <p:nvSpPr>
          <p:cNvPr id="6" name="Text 4"/>
          <p:cNvSpPr/>
          <p:nvPr/>
        </p:nvSpPr>
        <p:spPr>
          <a:xfrm>
            <a:off x="502920" y="2743200"/>
            <a:ext cx="1188720" cy="786384"/>
          </a:xfrm>
          <a:prstGeom prst="rect">
            <a:avLst/>
          </a:prstGeom>
          <a:noFill/>
          <a:ln/>
        </p:spPr>
        <p:txBody>
          <a:bodyPr wrap="square" lIns="0" tIns="0" rIns="0" bIns="0" rtlCol="0" anchor="ctr"/>
          <a:lstStyle/>
          <a:p>
            <a:pPr algn="ctr" indent="0" marL="0">
              <a:buNone/>
            </a:pPr>
            <a:r>
              <a:rPr lang="en-US" sz="1000" b="1" dirty="0">
                <a:solidFill>
                  <a:srgbClr val="1F4E79"/>
                </a:solidFill>
                <a:latin typeface="Arial" pitchFamily="34" charset="0"/>
                <a:ea typeface="Arial" pitchFamily="34" charset="-122"/>
                <a:cs typeface="Arial" pitchFamily="34" charset="-120"/>
              </a:rPr>
              <a:t>(1) ASK
</a:t>
            </a:r>
            <a:endParaRPr lang="en-US" sz="1000" dirty="0"/>
          </a:p>
          <a:p>
            <a:pPr algn="ctr" indent="0" marL="0">
              <a:buNone/>
            </a:pPr>
            <a:r>
              <a:rPr lang="en-US" sz="800" dirty="0">
                <a:solidFill>
                  <a:srgbClr val="1F4E79"/>
                </a:solidFill>
                <a:latin typeface="Arial" pitchFamily="34" charset="0"/>
                <a:ea typeface="Arial" pitchFamily="34" charset="-122"/>
                <a:cs typeface="Arial" pitchFamily="34" charset="-120"/>
              </a:rPr>
              <a:t>too many candidates</a:t>
            </a:r>
            <a:endParaRPr lang="en-US" sz="1000" dirty="0"/>
          </a:p>
        </p:txBody>
      </p:sp>
      <p:sp>
        <p:nvSpPr>
          <p:cNvPr id="7" name="Text 5"/>
          <p:cNvSpPr/>
          <p:nvPr/>
        </p:nvSpPr>
        <p:spPr>
          <a:xfrm>
            <a:off x="502920" y="3575304"/>
            <a:ext cx="1188720" cy="201168"/>
          </a:xfrm>
          <a:prstGeom prst="rect">
            <a:avLst/>
          </a:prstGeom>
          <a:noFill/>
          <a:ln/>
        </p:spPr>
        <p:txBody>
          <a:bodyPr wrap="square" lIns="0" tIns="0" rIns="0" bIns="0" rtlCol="0" anchor="ctr"/>
          <a:lstStyle/>
          <a:p>
            <a:pPr algn="ctr" indent="0" marL="0">
              <a:buNone/>
            </a:pPr>
            <a:r>
              <a:rPr lang="en-US" sz="850" i="1" dirty="0">
                <a:solidFill>
                  <a:srgbClr val="7F7F7F"/>
                </a:solidFill>
                <a:latin typeface="Arial" pitchFamily="34" charset="0"/>
                <a:ea typeface="Arial" pitchFamily="34" charset="-122"/>
                <a:cs typeface="Arial" pitchFamily="34" charset="-120"/>
              </a:rPr>
              <a:t>ask</a:t>
            </a:r>
            <a:endParaRPr lang="en-US" sz="850" dirty="0"/>
          </a:p>
        </p:txBody>
      </p:sp>
      <p:sp>
        <p:nvSpPr>
          <p:cNvPr id="8" name="Shape 6"/>
          <p:cNvSpPr/>
          <p:nvPr/>
        </p:nvSpPr>
        <p:spPr>
          <a:xfrm>
            <a:off x="1705356" y="3136392"/>
            <a:ext cx="173736" cy="0"/>
          </a:xfrm>
          <a:prstGeom prst="line">
            <a:avLst/>
          </a:prstGeom>
          <a:noFill/>
          <a:ln w="22225">
            <a:solidFill>
              <a:srgbClr val="7F7F7F"/>
            </a:solidFill>
            <a:prstDash val="solid"/>
            <a:tailEnd type="triangle"/>
          </a:ln>
        </p:spPr>
      </p:sp>
      <p:sp>
        <p:nvSpPr>
          <p:cNvPr id="9" name="Shape 7"/>
          <p:cNvSpPr/>
          <p:nvPr/>
        </p:nvSpPr>
        <p:spPr>
          <a:xfrm>
            <a:off x="1892808" y="2743200"/>
            <a:ext cx="1188720" cy="786384"/>
          </a:xfrm>
          <a:prstGeom prst="roundRect">
            <a:avLst>
              <a:gd name="adj" fmla="val 6977"/>
            </a:avLst>
          </a:prstGeom>
          <a:solidFill>
            <a:srgbClr val="FFFFFF"/>
          </a:solidFill>
          <a:ln w="15875">
            <a:solidFill>
              <a:srgbClr val="1F4E79"/>
            </a:solidFill>
            <a:prstDash val="solid"/>
          </a:ln>
        </p:spPr>
      </p:sp>
      <p:sp>
        <p:nvSpPr>
          <p:cNvPr id="10" name="Text 8"/>
          <p:cNvSpPr/>
          <p:nvPr/>
        </p:nvSpPr>
        <p:spPr>
          <a:xfrm>
            <a:off x="1892808" y="2743200"/>
            <a:ext cx="1188720" cy="786384"/>
          </a:xfrm>
          <a:prstGeom prst="rect">
            <a:avLst/>
          </a:prstGeom>
          <a:noFill/>
          <a:ln/>
        </p:spPr>
        <p:txBody>
          <a:bodyPr wrap="square" lIns="0" tIns="0" rIns="0" bIns="0" rtlCol="0" anchor="ctr"/>
          <a:lstStyle/>
          <a:p>
            <a:pPr algn="ctr" indent="0" marL="0">
              <a:buNone/>
            </a:pPr>
            <a:r>
              <a:rPr lang="en-US" sz="1000" b="1" dirty="0">
                <a:solidFill>
                  <a:srgbClr val="1F4E79"/>
                </a:solidFill>
                <a:latin typeface="Arial" pitchFamily="34" charset="0"/>
                <a:ea typeface="Arial" pitchFamily="34" charset="-122"/>
                <a:cs typeface="Arial" pitchFamily="34" charset="-120"/>
              </a:rPr>
              <a:t>(2) TOOLS
</a:t>
            </a:r>
            <a:endParaRPr lang="en-US" sz="1000" dirty="0"/>
          </a:p>
          <a:p>
            <a:pPr algn="ctr" indent="0" marL="0">
              <a:buNone/>
            </a:pPr>
            <a:r>
              <a:rPr lang="en-US" sz="800" dirty="0">
                <a:solidFill>
                  <a:srgbClr val="1F4E79"/>
                </a:solidFill>
                <a:latin typeface="Arial" pitchFamily="34" charset="0"/>
                <a:ea typeface="Arial" pitchFamily="34" charset="-122"/>
                <a:cs typeface="Arial" pitchFamily="34" charset="-120"/>
              </a:rPr>
              <a:t>DFT + MLIP limits</a:t>
            </a:r>
            <a:endParaRPr lang="en-US" sz="1000" dirty="0"/>
          </a:p>
        </p:txBody>
      </p:sp>
      <p:sp>
        <p:nvSpPr>
          <p:cNvPr id="11" name="Text 9"/>
          <p:cNvSpPr/>
          <p:nvPr/>
        </p:nvSpPr>
        <p:spPr>
          <a:xfrm>
            <a:off x="1892808" y="3575304"/>
            <a:ext cx="1188720" cy="201168"/>
          </a:xfrm>
          <a:prstGeom prst="rect">
            <a:avLst/>
          </a:prstGeom>
          <a:noFill/>
          <a:ln/>
        </p:spPr>
        <p:txBody>
          <a:bodyPr wrap="square" lIns="0" tIns="0" rIns="0" bIns="0" rtlCol="0" anchor="ctr"/>
          <a:lstStyle/>
          <a:p>
            <a:pPr algn="ctr" indent="0" marL="0">
              <a:buNone/>
            </a:pPr>
            <a:r>
              <a:rPr lang="en-US" sz="850" i="1" dirty="0">
                <a:solidFill>
                  <a:srgbClr val="7F7F7F"/>
                </a:solidFill>
                <a:latin typeface="Arial" pitchFamily="34" charset="0"/>
                <a:ea typeface="Arial" pitchFamily="34" charset="-122"/>
                <a:cs typeface="Arial" pitchFamily="34" charset="-120"/>
              </a:rPr>
              <a:t>measure</a:t>
            </a:r>
            <a:endParaRPr lang="en-US" sz="850" dirty="0"/>
          </a:p>
        </p:txBody>
      </p:sp>
      <p:sp>
        <p:nvSpPr>
          <p:cNvPr id="12" name="Shape 10"/>
          <p:cNvSpPr/>
          <p:nvPr/>
        </p:nvSpPr>
        <p:spPr>
          <a:xfrm>
            <a:off x="3095244" y="3136392"/>
            <a:ext cx="173736" cy="0"/>
          </a:xfrm>
          <a:prstGeom prst="line">
            <a:avLst/>
          </a:prstGeom>
          <a:noFill/>
          <a:ln w="22225">
            <a:solidFill>
              <a:srgbClr val="7F7F7F"/>
            </a:solidFill>
            <a:prstDash val="solid"/>
            <a:tailEnd type="triangle"/>
          </a:ln>
        </p:spPr>
      </p:sp>
      <p:sp>
        <p:nvSpPr>
          <p:cNvPr id="13" name="Shape 11"/>
          <p:cNvSpPr/>
          <p:nvPr/>
        </p:nvSpPr>
        <p:spPr>
          <a:xfrm>
            <a:off x="3282696" y="2743200"/>
            <a:ext cx="1188720" cy="786384"/>
          </a:xfrm>
          <a:prstGeom prst="roundRect">
            <a:avLst>
              <a:gd name="adj" fmla="val 6977"/>
            </a:avLst>
          </a:prstGeom>
          <a:solidFill>
            <a:srgbClr val="FFFFFF"/>
          </a:solidFill>
          <a:ln w="15875">
            <a:solidFill>
              <a:srgbClr val="1F4E79"/>
            </a:solidFill>
            <a:prstDash val="solid"/>
          </a:ln>
        </p:spPr>
      </p:sp>
      <p:sp>
        <p:nvSpPr>
          <p:cNvPr id="14" name="Text 12"/>
          <p:cNvSpPr/>
          <p:nvPr/>
        </p:nvSpPr>
        <p:spPr>
          <a:xfrm>
            <a:off x="3282696" y="2743200"/>
            <a:ext cx="1188720" cy="786384"/>
          </a:xfrm>
          <a:prstGeom prst="rect">
            <a:avLst/>
          </a:prstGeom>
          <a:noFill/>
          <a:ln/>
        </p:spPr>
        <p:txBody>
          <a:bodyPr wrap="square" lIns="0" tIns="0" rIns="0" bIns="0" rtlCol="0" anchor="ctr"/>
          <a:lstStyle/>
          <a:p>
            <a:pPr algn="ctr" indent="0" marL="0">
              <a:buNone/>
            </a:pPr>
            <a:r>
              <a:rPr lang="en-US" sz="1000" b="1" dirty="0">
                <a:solidFill>
                  <a:srgbClr val="1F4E79"/>
                </a:solidFill>
                <a:latin typeface="Arial" pitchFamily="34" charset="0"/>
                <a:ea typeface="Arial" pitchFamily="34" charset="-122"/>
                <a:cs typeface="Arial" pitchFamily="34" charset="-120"/>
              </a:rPr>
              <a:t>(3) ORIGIN
</a:t>
            </a:r>
            <a:endParaRPr lang="en-US" sz="1000" dirty="0"/>
          </a:p>
          <a:p>
            <a:pPr algn="ctr" indent="0" marL="0">
              <a:buNone/>
            </a:pPr>
            <a:r>
              <a:rPr lang="en-US" sz="800" dirty="0">
                <a:solidFill>
                  <a:srgbClr val="1F4E79"/>
                </a:solidFill>
                <a:latin typeface="Arial" pitchFamily="34" charset="0"/>
                <a:ea typeface="Arial" pitchFamily="34" charset="-122"/>
                <a:cs typeface="Arial" pitchFamily="34" charset="-120"/>
              </a:rPr>
              <a:t>LPSCl: disorder</a:t>
            </a:r>
            <a:endParaRPr lang="en-US" sz="1000" dirty="0"/>
          </a:p>
        </p:txBody>
      </p:sp>
      <p:sp>
        <p:nvSpPr>
          <p:cNvPr id="15" name="Text 13"/>
          <p:cNvSpPr/>
          <p:nvPr/>
        </p:nvSpPr>
        <p:spPr>
          <a:xfrm>
            <a:off x="3282696" y="3575304"/>
            <a:ext cx="1188720" cy="201168"/>
          </a:xfrm>
          <a:prstGeom prst="rect">
            <a:avLst/>
          </a:prstGeom>
          <a:noFill/>
          <a:ln/>
        </p:spPr>
        <p:txBody>
          <a:bodyPr wrap="square" lIns="0" tIns="0" rIns="0" bIns="0" rtlCol="0" anchor="ctr"/>
          <a:lstStyle/>
          <a:p>
            <a:pPr algn="ctr" indent="0" marL="0">
              <a:buNone/>
            </a:pPr>
            <a:r>
              <a:rPr lang="en-US" sz="850" i="1" dirty="0">
                <a:solidFill>
                  <a:srgbClr val="7F7F7F"/>
                </a:solidFill>
                <a:latin typeface="Arial" pitchFamily="34" charset="0"/>
                <a:ea typeface="Arial" pitchFamily="34" charset="-122"/>
                <a:cs typeface="Arial" pitchFamily="34" charset="-120"/>
              </a:rPr>
              <a:t>learn</a:t>
            </a:r>
            <a:endParaRPr lang="en-US" sz="850" dirty="0"/>
          </a:p>
        </p:txBody>
      </p:sp>
      <p:sp>
        <p:nvSpPr>
          <p:cNvPr id="16" name="Shape 14"/>
          <p:cNvSpPr/>
          <p:nvPr/>
        </p:nvSpPr>
        <p:spPr>
          <a:xfrm>
            <a:off x="4485132" y="3136392"/>
            <a:ext cx="173736" cy="0"/>
          </a:xfrm>
          <a:prstGeom prst="line">
            <a:avLst/>
          </a:prstGeom>
          <a:noFill/>
          <a:ln w="22225">
            <a:solidFill>
              <a:srgbClr val="7F7F7F"/>
            </a:solidFill>
            <a:prstDash val="solid"/>
            <a:tailEnd type="triangle"/>
          </a:ln>
        </p:spPr>
      </p:sp>
      <p:sp>
        <p:nvSpPr>
          <p:cNvPr id="17" name="Shape 15"/>
          <p:cNvSpPr/>
          <p:nvPr/>
        </p:nvSpPr>
        <p:spPr>
          <a:xfrm>
            <a:off x="4672584" y="2743200"/>
            <a:ext cx="1188720" cy="786384"/>
          </a:xfrm>
          <a:prstGeom prst="roundRect">
            <a:avLst>
              <a:gd name="adj" fmla="val 6977"/>
            </a:avLst>
          </a:prstGeom>
          <a:solidFill>
            <a:srgbClr val="FFFFFF"/>
          </a:solidFill>
          <a:ln w="15875">
            <a:solidFill>
              <a:srgbClr val="1F4E79"/>
            </a:solidFill>
            <a:prstDash val="solid"/>
          </a:ln>
        </p:spPr>
      </p:sp>
      <p:sp>
        <p:nvSpPr>
          <p:cNvPr id="18" name="Text 16"/>
          <p:cNvSpPr/>
          <p:nvPr/>
        </p:nvSpPr>
        <p:spPr>
          <a:xfrm>
            <a:off x="4672584" y="2743200"/>
            <a:ext cx="1188720" cy="786384"/>
          </a:xfrm>
          <a:prstGeom prst="rect">
            <a:avLst/>
          </a:prstGeom>
          <a:noFill/>
          <a:ln/>
        </p:spPr>
        <p:txBody>
          <a:bodyPr wrap="square" lIns="0" tIns="0" rIns="0" bIns="0" rtlCol="0" anchor="ctr"/>
          <a:lstStyle/>
          <a:p>
            <a:pPr algn="ctr" indent="0" marL="0">
              <a:buNone/>
            </a:pPr>
            <a:r>
              <a:rPr lang="en-US" sz="1000" b="1" dirty="0">
                <a:solidFill>
                  <a:srgbClr val="1F4E79"/>
                </a:solidFill>
                <a:latin typeface="Arial" pitchFamily="34" charset="0"/>
                <a:ea typeface="Arial" pitchFamily="34" charset="-122"/>
                <a:cs typeface="Arial" pitchFamily="34" charset="-120"/>
              </a:rPr>
              <a:t>(4) SCREEN
</a:t>
            </a:r>
            <a:endParaRPr lang="en-US" sz="1000" dirty="0"/>
          </a:p>
          <a:p>
            <a:pPr algn="ctr" indent="0" marL="0">
              <a:buNone/>
            </a:pPr>
            <a:r>
              <a:rPr lang="en-US" sz="800" dirty="0">
                <a:solidFill>
                  <a:srgbClr val="1F4E79"/>
                </a:solidFill>
                <a:latin typeface="Arial" pitchFamily="34" charset="0"/>
                <a:ea typeface="Arial" pitchFamily="34" charset="-122"/>
                <a:cs typeface="Arial" pitchFamily="34" charset="-120"/>
              </a:rPr>
              <a:t>273 calcs, 5 gates</a:t>
            </a:r>
            <a:endParaRPr lang="en-US" sz="1000" dirty="0"/>
          </a:p>
        </p:txBody>
      </p:sp>
      <p:sp>
        <p:nvSpPr>
          <p:cNvPr id="19" name="Text 17"/>
          <p:cNvSpPr/>
          <p:nvPr/>
        </p:nvSpPr>
        <p:spPr>
          <a:xfrm>
            <a:off x="4672584" y="3575304"/>
            <a:ext cx="1188720" cy="201168"/>
          </a:xfrm>
          <a:prstGeom prst="rect">
            <a:avLst/>
          </a:prstGeom>
          <a:noFill/>
          <a:ln/>
        </p:spPr>
        <p:txBody>
          <a:bodyPr wrap="square" lIns="0" tIns="0" rIns="0" bIns="0" rtlCol="0" anchor="ctr"/>
          <a:lstStyle/>
          <a:p>
            <a:pPr algn="ctr" indent="0" marL="0">
              <a:buNone/>
            </a:pPr>
            <a:r>
              <a:rPr lang="en-US" sz="850" i="1" dirty="0">
                <a:solidFill>
                  <a:srgbClr val="7F7F7F"/>
                </a:solidFill>
                <a:latin typeface="Arial" pitchFamily="34" charset="0"/>
                <a:ea typeface="Arial" pitchFamily="34" charset="-122"/>
                <a:cs typeface="Arial" pitchFamily="34" charset="-120"/>
              </a:rPr>
              <a:t>gate</a:t>
            </a:r>
            <a:endParaRPr lang="en-US" sz="850" dirty="0"/>
          </a:p>
        </p:txBody>
      </p:sp>
      <p:sp>
        <p:nvSpPr>
          <p:cNvPr id="20" name="Shape 18"/>
          <p:cNvSpPr/>
          <p:nvPr/>
        </p:nvSpPr>
        <p:spPr>
          <a:xfrm>
            <a:off x="5875020" y="3136392"/>
            <a:ext cx="173736" cy="0"/>
          </a:xfrm>
          <a:prstGeom prst="line">
            <a:avLst/>
          </a:prstGeom>
          <a:noFill/>
          <a:ln w="22225">
            <a:solidFill>
              <a:srgbClr val="7F7F7F"/>
            </a:solidFill>
            <a:prstDash val="solid"/>
            <a:tailEnd type="triangle"/>
          </a:ln>
        </p:spPr>
      </p:sp>
      <p:sp>
        <p:nvSpPr>
          <p:cNvPr id="21" name="Shape 19"/>
          <p:cNvSpPr/>
          <p:nvPr/>
        </p:nvSpPr>
        <p:spPr>
          <a:xfrm>
            <a:off x="6062472" y="2743200"/>
            <a:ext cx="1188720" cy="786384"/>
          </a:xfrm>
          <a:prstGeom prst="roundRect">
            <a:avLst>
              <a:gd name="adj" fmla="val 6977"/>
            </a:avLst>
          </a:prstGeom>
          <a:solidFill>
            <a:srgbClr val="FFFFFF"/>
          </a:solidFill>
          <a:ln w="15875">
            <a:solidFill>
              <a:srgbClr val="1F4E79"/>
            </a:solidFill>
            <a:prstDash val="solid"/>
          </a:ln>
        </p:spPr>
      </p:sp>
      <p:sp>
        <p:nvSpPr>
          <p:cNvPr id="22" name="Text 20"/>
          <p:cNvSpPr/>
          <p:nvPr/>
        </p:nvSpPr>
        <p:spPr>
          <a:xfrm>
            <a:off x="6062472" y="2743200"/>
            <a:ext cx="1188720" cy="786384"/>
          </a:xfrm>
          <a:prstGeom prst="rect">
            <a:avLst/>
          </a:prstGeom>
          <a:noFill/>
          <a:ln/>
        </p:spPr>
        <p:txBody>
          <a:bodyPr wrap="square" lIns="0" tIns="0" rIns="0" bIns="0" rtlCol="0" anchor="ctr"/>
          <a:lstStyle/>
          <a:p>
            <a:pPr algn="ctr" indent="0" marL="0">
              <a:buNone/>
            </a:pPr>
            <a:r>
              <a:rPr lang="en-US" sz="1000" b="1" dirty="0">
                <a:solidFill>
                  <a:srgbClr val="1F4E79"/>
                </a:solidFill>
                <a:latin typeface="Arial" pitchFamily="34" charset="0"/>
                <a:ea typeface="Arial" pitchFamily="34" charset="-122"/>
                <a:cs typeface="Arial" pitchFamily="34" charset="-120"/>
              </a:rPr>
              <a:t>(5) COMBINE
</a:t>
            </a:r>
            <a:endParaRPr lang="en-US" sz="1000" dirty="0"/>
          </a:p>
          <a:p>
            <a:pPr algn="ctr" indent="0" marL="0">
              <a:buNone/>
            </a:pPr>
            <a:r>
              <a:rPr lang="en-US" sz="800" dirty="0">
                <a:solidFill>
                  <a:srgbClr val="1F4E79"/>
                </a:solidFill>
                <a:latin typeface="Arial" pitchFamily="34" charset="0"/>
                <a:ea typeface="Arial" pitchFamily="34" charset="-122"/>
                <a:cs typeface="Arial" pitchFamily="34" charset="-120"/>
              </a:rPr>
              <a:t>co-doping ML</a:t>
            </a:r>
            <a:endParaRPr lang="en-US" sz="1000" dirty="0"/>
          </a:p>
        </p:txBody>
      </p:sp>
      <p:sp>
        <p:nvSpPr>
          <p:cNvPr id="23" name="Text 21"/>
          <p:cNvSpPr/>
          <p:nvPr/>
        </p:nvSpPr>
        <p:spPr>
          <a:xfrm>
            <a:off x="6062472" y="3575304"/>
            <a:ext cx="1188720" cy="201168"/>
          </a:xfrm>
          <a:prstGeom prst="rect">
            <a:avLst/>
          </a:prstGeom>
          <a:noFill/>
          <a:ln/>
        </p:spPr>
        <p:txBody>
          <a:bodyPr wrap="square" lIns="0" tIns="0" rIns="0" bIns="0" rtlCol="0" anchor="ctr"/>
          <a:lstStyle/>
          <a:p>
            <a:pPr algn="ctr" indent="0" marL="0">
              <a:buNone/>
            </a:pPr>
            <a:r>
              <a:rPr lang="en-US" sz="850" i="1" dirty="0">
                <a:solidFill>
                  <a:srgbClr val="7F7F7F"/>
                </a:solidFill>
                <a:latin typeface="Arial" pitchFamily="34" charset="0"/>
                <a:ea typeface="Arial" pitchFamily="34" charset="-122"/>
                <a:cs typeface="Arial" pitchFamily="34" charset="-120"/>
              </a:rPr>
              <a:t>combine</a:t>
            </a:r>
            <a:endParaRPr lang="en-US" sz="850" dirty="0"/>
          </a:p>
        </p:txBody>
      </p:sp>
      <p:sp>
        <p:nvSpPr>
          <p:cNvPr id="24" name="Shape 22"/>
          <p:cNvSpPr/>
          <p:nvPr/>
        </p:nvSpPr>
        <p:spPr>
          <a:xfrm>
            <a:off x="7264908" y="3136392"/>
            <a:ext cx="173736" cy="0"/>
          </a:xfrm>
          <a:prstGeom prst="line">
            <a:avLst/>
          </a:prstGeom>
          <a:noFill/>
          <a:ln w="22225">
            <a:solidFill>
              <a:srgbClr val="7F7F7F"/>
            </a:solidFill>
            <a:prstDash val="solid"/>
            <a:tailEnd type="triangle"/>
          </a:ln>
        </p:spPr>
      </p:sp>
      <p:sp>
        <p:nvSpPr>
          <p:cNvPr id="25" name="Shape 23"/>
          <p:cNvSpPr/>
          <p:nvPr/>
        </p:nvSpPr>
        <p:spPr>
          <a:xfrm>
            <a:off x="7452360" y="2743200"/>
            <a:ext cx="1188720" cy="786384"/>
          </a:xfrm>
          <a:prstGeom prst="roundRect">
            <a:avLst>
              <a:gd name="adj" fmla="val 6977"/>
            </a:avLst>
          </a:prstGeom>
          <a:solidFill>
            <a:srgbClr val="FFFFFF"/>
          </a:solidFill>
          <a:ln w="15875">
            <a:solidFill>
              <a:srgbClr val="9E2A2B"/>
            </a:solidFill>
            <a:prstDash val="solid"/>
          </a:ln>
        </p:spPr>
      </p:sp>
      <p:sp>
        <p:nvSpPr>
          <p:cNvPr id="26" name="Text 24"/>
          <p:cNvSpPr/>
          <p:nvPr/>
        </p:nvSpPr>
        <p:spPr>
          <a:xfrm>
            <a:off x="7452360" y="2743200"/>
            <a:ext cx="1188720" cy="786384"/>
          </a:xfrm>
          <a:prstGeom prst="rect">
            <a:avLst/>
          </a:prstGeom>
          <a:noFill/>
          <a:ln/>
        </p:spPr>
        <p:txBody>
          <a:bodyPr wrap="square" lIns="0" tIns="0" rIns="0" bIns="0" rtlCol="0" anchor="ctr"/>
          <a:lstStyle/>
          <a:p>
            <a:pPr algn="ctr" indent="0" marL="0">
              <a:buNone/>
            </a:pPr>
            <a:r>
              <a:rPr lang="en-US" sz="1000" b="1" dirty="0">
                <a:solidFill>
                  <a:srgbClr val="9E2A2B"/>
                </a:solidFill>
                <a:latin typeface="Arial" pitchFamily="34" charset="0"/>
                <a:ea typeface="Arial" pitchFamily="34" charset="-122"/>
                <a:cs typeface="Arial" pitchFamily="34" charset="-120"/>
              </a:rPr>
              <a:t>(6) VERIFY
</a:t>
            </a:r>
            <a:endParaRPr lang="en-US" sz="1000" dirty="0"/>
          </a:p>
          <a:p>
            <a:pPr algn="ctr" indent="0" marL="0">
              <a:buNone/>
            </a:pPr>
            <a:r>
              <a:rPr lang="en-US" sz="800" dirty="0">
                <a:solidFill>
                  <a:srgbClr val="9E2A2B"/>
                </a:solidFill>
                <a:latin typeface="Arial" pitchFamily="34" charset="0"/>
                <a:ea typeface="Arial" pitchFamily="34" charset="-122"/>
                <a:cs typeface="Arial" pitchFamily="34" charset="-120"/>
              </a:rPr>
              <a:t>11 audited verdicts</a:t>
            </a:r>
            <a:endParaRPr lang="en-US" sz="1000" dirty="0"/>
          </a:p>
        </p:txBody>
      </p:sp>
      <p:sp>
        <p:nvSpPr>
          <p:cNvPr id="27" name="Text 25"/>
          <p:cNvSpPr/>
          <p:nvPr/>
        </p:nvSpPr>
        <p:spPr>
          <a:xfrm>
            <a:off x="7452360" y="3575304"/>
            <a:ext cx="1188720" cy="201168"/>
          </a:xfrm>
          <a:prstGeom prst="rect">
            <a:avLst/>
          </a:prstGeom>
          <a:noFill/>
          <a:ln/>
        </p:spPr>
        <p:txBody>
          <a:bodyPr wrap="square" lIns="0" tIns="0" rIns="0" bIns="0" rtlCol="0" anchor="ctr"/>
          <a:lstStyle/>
          <a:p>
            <a:pPr algn="ctr" indent="0" marL="0">
              <a:buNone/>
            </a:pPr>
            <a:r>
              <a:rPr lang="en-US" sz="850" i="1" dirty="0">
                <a:solidFill>
                  <a:srgbClr val="7F7F7F"/>
                </a:solidFill>
                <a:latin typeface="Arial" pitchFamily="34" charset="0"/>
                <a:ea typeface="Arial" pitchFamily="34" charset="-122"/>
                <a:cs typeface="Arial" pitchFamily="34" charset="-120"/>
              </a:rPr>
              <a:t>doubt</a:t>
            </a:r>
            <a:endParaRPr lang="en-US" sz="850" dirty="0"/>
          </a:p>
        </p:txBody>
      </p:sp>
      <p:sp>
        <p:nvSpPr>
          <p:cNvPr id="28" name="Shape 26"/>
          <p:cNvSpPr/>
          <p:nvPr/>
        </p:nvSpPr>
        <p:spPr>
          <a:xfrm>
            <a:off x="5266944" y="3840480"/>
            <a:ext cx="2779776" cy="0"/>
          </a:xfrm>
          <a:prstGeom prst="line">
            <a:avLst/>
          </a:prstGeom>
          <a:noFill/>
          <a:ln w="19050">
            <a:solidFill>
              <a:srgbClr val="1F4E79"/>
            </a:solidFill>
            <a:prstDash val="solid"/>
            <a:headEnd type="triangle"/>
          </a:ln>
        </p:spPr>
      </p:sp>
      <p:sp>
        <p:nvSpPr>
          <p:cNvPr id="29" name="Shape 27"/>
          <p:cNvSpPr/>
          <p:nvPr/>
        </p:nvSpPr>
        <p:spPr>
          <a:xfrm>
            <a:off x="8046720" y="3529584"/>
            <a:ext cx="0" cy="310896"/>
          </a:xfrm>
          <a:prstGeom prst="line">
            <a:avLst/>
          </a:prstGeom>
          <a:noFill/>
          <a:ln w="19050">
            <a:solidFill>
              <a:srgbClr val="1F4E79"/>
            </a:solidFill>
            <a:prstDash val="solid"/>
          </a:ln>
        </p:spPr>
      </p:sp>
      <p:sp>
        <p:nvSpPr>
          <p:cNvPr id="30" name="Shape 28"/>
          <p:cNvSpPr/>
          <p:nvPr/>
        </p:nvSpPr>
        <p:spPr>
          <a:xfrm>
            <a:off x="5266944" y="3529584"/>
            <a:ext cx="0" cy="310896"/>
          </a:xfrm>
          <a:prstGeom prst="line">
            <a:avLst/>
          </a:prstGeom>
          <a:noFill/>
          <a:ln w="19050">
            <a:solidFill>
              <a:srgbClr val="1F4E79"/>
            </a:solidFill>
            <a:prstDash val="solid"/>
          </a:ln>
        </p:spPr>
      </p:sp>
      <p:sp>
        <p:nvSpPr>
          <p:cNvPr id="31" name="Text 29"/>
          <p:cNvSpPr/>
          <p:nvPr/>
        </p:nvSpPr>
        <p:spPr>
          <a:xfrm>
            <a:off x="5650992" y="3849624"/>
            <a:ext cx="2011680" cy="201168"/>
          </a:xfrm>
          <a:prstGeom prst="rect">
            <a:avLst/>
          </a:prstGeom>
          <a:noFill/>
          <a:ln/>
        </p:spPr>
        <p:txBody>
          <a:bodyPr wrap="square" lIns="0" tIns="0" rIns="0" bIns="0" rtlCol="0" anchor="ctr"/>
          <a:lstStyle/>
          <a:p>
            <a:pPr algn="ctr" indent="0" marL="0">
              <a:buNone/>
            </a:pPr>
            <a:r>
              <a:rPr lang="en-US" sz="800" i="1" dirty="0">
                <a:solidFill>
                  <a:srgbClr val="1F4E79"/>
                </a:solidFill>
                <a:latin typeface="Arial" pitchFamily="34" charset="0"/>
                <a:ea typeface="Arial" pitchFamily="34" charset="-122"/>
                <a:cs typeface="Arial" pitchFamily="34" charset="-120"/>
              </a:rPr>
              <a:t>new labels, new sims</a:t>
            </a:r>
            <a:endParaRPr lang="en-US" sz="800" dirty="0"/>
          </a:p>
        </p:txBody>
      </p:sp>
      <p:sp>
        <p:nvSpPr>
          <p:cNvPr id="32" name="Shape 30"/>
          <p:cNvSpPr/>
          <p:nvPr/>
        </p:nvSpPr>
        <p:spPr>
          <a:xfrm>
            <a:off x="2487168" y="2468880"/>
            <a:ext cx="5559552" cy="0"/>
          </a:xfrm>
          <a:prstGeom prst="line">
            <a:avLst/>
          </a:prstGeom>
          <a:noFill/>
          <a:ln w="15875">
            <a:solidFill>
              <a:srgbClr val="7F7F7F"/>
            </a:solidFill>
            <a:prstDash val="dash"/>
            <a:headEnd type="triangle"/>
          </a:ln>
        </p:spPr>
      </p:sp>
      <p:sp>
        <p:nvSpPr>
          <p:cNvPr id="33" name="Shape 31"/>
          <p:cNvSpPr/>
          <p:nvPr/>
        </p:nvSpPr>
        <p:spPr>
          <a:xfrm>
            <a:off x="8046720" y="2468880"/>
            <a:ext cx="0" cy="274320"/>
          </a:xfrm>
          <a:prstGeom prst="line">
            <a:avLst/>
          </a:prstGeom>
          <a:noFill/>
          <a:ln w="15875">
            <a:solidFill>
              <a:srgbClr val="7F7F7F"/>
            </a:solidFill>
            <a:prstDash val="dash"/>
          </a:ln>
        </p:spPr>
      </p:sp>
      <p:sp>
        <p:nvSpPr>
          <p:cNvPr id="34" name="Shape 32"/>
          <p:cNvSpPr/>
          <p:nvPr/>
        </p:nvSpPr>
        <p:spPr>
          <a:xfrm>
            <a:off x="2487168" y="2468880"/>
            <a:ext cx="0" cy="274320"/>
          </a:xfrm>
          <a:prstGeom prst="line">
            <a:avLst/>
          </a:prstGeom>
          <a:noFill/>
          <a:ln w="15875">
            <a:solidFill>
              <a:srgbClr val="7F7F7F"/>
            </a:solidFill>
            <a:prstDash val="dash"/>
          </a:ln>
        </p:spPr>
      </p:sp>
      <p:sp>
        <p:nvSpPr>
          <p:cNvPr id="35" name="Text 33"/>
          <p:cNvSpPr/>
          <p:nvPr/>
        </p:nvSpPr>
        <p:spPr>
          <a:xfrm>
            <a:off x="4352544" y="2267712"/>
            <a:ext cx="1828800" cy="182880"/>
          </a:xfrm>
          <a:prstGeom prst="rect">
            <a:avLst/>
          </a:prstGeom>
          <a:noFill/>
          <a:ln/>
        </p:spPr>
        <p:txBody>
          <a:bodyPr wrap="square" lIns="0" tIns="0" rIns="0" bIns="0" rtlCol="0" anchor="ctr"/>
          <a:lstStyle/>
          <a:p>
            <a:pPr algn="ctr" indent="0" marL="0">
              <a:buNone/>
            </a:pPr>
            <a:r>
              <a:rPr lang="en-US" sz="800" i="1" dirty="0">
                <a:solidFill>
                  <a:srgbClr val="7F7F7F"/>
                </a:solidFill>
                <a:latin typeface="Arial" pitchFamily="34" charset="0"/>
                <a:ea typeface="Arial" pitchFamily="34" charset="-122"/>
                <a:cs typeface="Arial" pitchFamily="34" charset="-120"/>
              </a:rPr>
              <a:t>tool limits exposed</a:t>
            </a:r>
            <a:endParaRPr lang="en-US" sz="800" dirty="0"/>
          </a:p>
        </p:txBody>
      </p:sp>
      <p:sp>
        <p:nvSpPr>
          <p:cNvPr id="36" name="Text 34"/>
          <p:cNvSpPr/>
          <p:nvPr/>
        </p:nvSpPr>
        <p:spPr>
          <a:xfrm>
            <a:off x="502920" y="1371600"/>
            <a:ext cx="8138160" cy="1097280"/>
          </a:xfrm>
          <a:prstGeom prst="rect">
            <a:avLst/>
          </a:prstGeom>
          <a:noFill/>
          <a:ln/>
        </p:spPr>
        <p:txBody>
          <a:bodyPr wrap="square" lIns="0" tIns="0" rIns="0" bIns="0" rtlCol="0" anchor="t"/>
          <a:lstStyle/>
          <a:p>
            <a:pPr marL="127000" indent="-127000">
              <a:spcAft>
                <a:spcPts val="500"/>
              </a:spcAft>
              <a:buSzPct val="100000"/>
              <a:buChar char="·"/>
            </a:pPr>
            <a:r>
              <a:rPr lang="en-US" sz="1300" b="1" dirty="0">
                <a:solidFill>
                  <a:srgbClr val="262626"/>
                </a:solidFill>
                <a:latin typeface="Arial" pitchFamily="34" charset="0"/>
                <a:ea typeface="Arial" pitchFamily="34" charset="-122"/>
                <a:cs typeface="Arial" pitchFamily="34" charset="-120"/>
              </a:rPr>
              <a:t>ASK → TOOLS → ORIGIN → SCREEN → COMBINE → VERIFY → (back)</a:t>
            </a:r>
            <a:endParaRPr lang="en-US" sz="1300" dirty="0"/>
          </a:p>
          <a:p>
            <a:pPr marL="127000" indent="-127000">
              <a:spcAft>
                <a:spcPts val="500"/>
              </a:spcAft>
              <a:buSzPct val="100000"/>
              <a:buChar char="·"/>
            </a:pPr>
            <a:r>
              <a:rPr lang="en-US" sz="1300" b="1" dirty="0">
                <a:solidFill>
                  <a:srgbClr val="9E2A2B"/>
                </a:solidFill>
                <a:latin typeface="Arial" pitchFamily="34" charset="0"/>
                <a:ea typeface="Arial" pitchFamily="34" charset="-122"/>
                <a:cs typeface="Arial" pitchFamily="34" charset="-120"/>
              </a:rPr>
              <a:t>The last stop feeds the first ones — that returning arrow IS the method</a:t>
            </a:r>
            <a:endParaRPr lang="en-US" sz="1300" dirty="0"/>
          </a:p>
          <a:p>
            <a:pPr lvl="1" marL="254000" indent="-127000">
              <a:spcAft>
                <a:spcPts val="500"/>
              </a:spcAft>
              <a:buSzPct val="100000"/>
              <a:buChar char="–"/>
            </a:pPr>
            <a:r>
              <a:rPr lang="en-US" sz="1300" dirty="0">
                <a:solidFill>
                  <a:srgbClr val="7F7F7F"/>
                </a:solidFill>
                <a:latin typeface="Arial" pitchFamily="34" charset="0"/>
                <a:ea typeface="Arial" pitchFamily="34" charset="-122"/>
                <a:cs typeface="Arial" pitchFamily="34" charset="-120"/>
              </a:rPr>
              <a:t>Each part opens by lighting its stop on this map</a:t>
            </a:r>
            <a:endParaRPr lang="en-US" sz="1300" dirty="0"/>
          </a:p>
        </p:txBody>
      </p:sp>
      <p:sp>
        <p:nvSpPr>
          <p:cNvPr id="37" name="Text 35"/>
          <p:cNvSpPr/>
          <p:nvPr/>
        </p:nvSpPr>
        <p:spPr>
          <a:xfrm>
            <a:off x="502920" y="5760720"/>
            <a:ext cx="8138160" cy="320040"/>
          </a:xfrm>
          <a:prstGeom prst="rect">
            <a:avLst/>
          </a:prstGeom>
          <a:noFill/>
          <a:ln/>
        </p:spPr>
        <p:txBody>
          <a:bodyPr wrap="square" lIns="0" tIns="0" rIns="0" bIns="0" rtlCol="0" anchor="ctr"/>
          <a:lstStyle/>
          <a:p>
            <a:pPr algn="ctr" indent="0" marL="0">
              <a:buNone/>
            </a:pPr>
            <a:r>
              <a:rPr lang="en-US" sz="1200" i="1" dirty="0">
                <a:solidFill>
                  <a:srgbClr val="1F4E79"/>
                </a:solidFill>
                <a:latin typeface="Arial" pitchFamily="34" charset="0"/>
                <a:ea typeface="Arial" pitchFamily="34" charset="-122"/>
                <a:cs typeface="Arial" pitchFamily="34" charset="-120"/>
              </a:rPr>
              <a:t>ask · measure · learn · gate · combine · doubt</a:t>
            </a:r>
            <a:endParaRPr lang="en-US" sz="1200" dirty="0"/>
          </a:p>
        </p:txBody>
      </p:sp>
      <p:sp>
        <p:nvSpPr>
          <p:cNvPr id="39" name="Text 36"/>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40" name="Text 37"/>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Tools · DFT</a:t>
            </a:r>
            <a:endParaRPr lang="en-US" sz="1100" dirty="0"/>
          </a:p>
        </p:txBody>
      </p:sp>
      <p:sp>
        <p:nvSpPr>
          <p:cNvPr id="3" name="Text 1"/>
          <p:cNvSpPr/>
          <p:nvPr/>
        </p:nvSpPr>
        <p:spPr>
          <a:xfrm>
            <a:off x="3840480" y="219456"/>
            <a:ext cx="4846320" cy="292608"/>
          </a:xfrm>
          <a:prstGeom prst="rect">
            <a:avLst/>
          </a:prstGeom>
          <a:noFill/>
          <a:ln/>
        </p:spPr>
        <p:txBody>
          <a:bodyPr wrap="square" lIns="0" tIns="0" rIns="0" bIns="0" rtlCol="0" anchor="ctr"/>
          <a:lstStyle/>
          <a:p>
            <a:pPr algn="r" indent="0" marL="0">
              <a:buNone/>
            </a:pPr>
            <a:r>
              <a:rPr lang="en-US" sz="850" i="1" dirty="0">
                <a:solidFill>
                  <a:srgbClr val="7F7F7F"/>
                </a:solidFill>
                <a:latin typeface="Arial" pitchFamily="34" charset="0"/>
                <a:ea typeface="Arial" pitchFamily="34" charset="-122"/>
                <a:cs typeface="Arial" pitchFamily="34" charset="-120"/>
              </a:rPr>
              <a:t>He et al., EEM 2019 · XC = exchange–correlation</a:t>
            </a:r>
            <a:endParaRPr lang="en-US" sz="850" dirty="0"/>
          </a:p>
        </p:txBody>
      </p:sp>
      <p:sp>
        <p:nvSpPr>
          <p:cNvPr id="4" name="Text 2"/>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Where the approximation enters</a:t>
            </a:r>
            <a:endParaRPr lang="en-US" sz="2000" dirty="0"/>
          </a:p>
        </p:txBody>
      </p:sp>
      <p:sp>
        <p:nvSpPr>
          <p:cNvPr id="5" name="Shape 3"/>
          <p:cNvSpPr/>
          <p:nvPr/>
        </p:nvSpPr>
        <p:spPr>
          <a:xfrm>
            <a:off x="457200" y="1115568"/>
            <a:ext cx="8229600" cy="0"/>
          </a:xfrm>
          <a:prstGeom prst="line">
            <a:avLst/>
          </a:prstGeom>
          <a:noFill/>
          <a:ln w="12700">
            <a:solidFill>
              <a:srgbClr val="D9D9D9"/>
            </a:solidFill>
            <a:prstDash val="solid"/>
          </a:ln>
        </p:spPr>
      </p:sp>
      <p:sp>
        <p:nvSpPr>
          <p:cNvPr id="6" name="Shape 4"/>
          <p:cNvSpPr/>
          <p:nvPr/>
        </p:nvSpPr>
        <p:spPr>
          <a:xfrm>
            <a:off x="502920" y="1554480"/>
            <a:ext cx="3291840" cy="658368"/>
          </a:xfrm>
          <a:prstGeom prst="roundRect">
            <a:avLst>
              <a:gd name="adj" fmla="val 8333"/>
            </a:avLst>
          </a:prstGeom>
          <a:solidFill>
            <a:srgbClr val="F7F7F7"/>
          </a:solidFill>
          <a:ln w="15875">
            <a:solidFill>
              <a:srgbClr val="7F7F7F"/>
            </a:solidFill>
            <a:prstDash val="solid"/>
          </a:ln>
        </p:spPr>
      </p:sp>
      <p:sp>
        <p:nvSpPr>
          <p:cNvPr id="7" name="Text 5"/>
          <p:cNvSpPr/>
          <p:nvPr/>
        </p:nvSpPr>
        <p:spPr>
          <a:xfrm>
            <a:off x="502920" y="1554480"/>
            <a:ext cx="3291840" cy="658368"/>
          </a:xfrm>
          <a:prstGeom prst="rect">
            <a:avLst/>
          </a:prstGeom>
          <a:noFill/>
          <a:ln/>
        </p:spPr>
        <p:txBody>
          <a:bodyPr wrap="square" lIns="0" tIns="0" rIns="0" bIns="0" rtlCol="0" anchor="ctr"/>
          <a:lstStyle/>
          <a:p>
            <a:pPr algn="ctr" indent="0" marL="0">
              <a:buNone/>
            </a:pPr>
            <a:r>
              <a:rPr lang="en-US" sz="1050" dirty="0">
                <a:solidFill>
                  <a:srgbClr val="7F7F7F"/>
                </a:solidFill>
                <a:latin typeface="Arial" pitchFamily="34" charset="0"/>
                <a:ea typeface="Arial" pitchFamily="34" charset="-122"/>
                <a:cs typeface="Arial" pitchFamily="34" charset="-120"/>
              </a:rPr>
              <a:t>Ψ(r₁…r_N) — 3N dimensions</a:t>
            </a:r>
            <a:endParaRPr lang="en-US" sz="1050" dirty="0"/>
          </a:p>
          <a:p>
            <a:pPr algn="ctr" indent="0" marL="0">
              <a:buNone/>
            </a:pPr>
            <a:r>
              <a:rPr lang="en-US" sz="1050" dirty="0">
                <a:solidFill>
                  <a:srgbClr val="7F7F7F"/>
                </a:solidFill>
                <a:latin typeface="Arial" pitchFamily="34" charset="0"/>
                <a:ea typeface="Arial" pitchFamily="34" charset="-122"/>
                <a:cs typeface="Arial" pitchFamily="34" charset="-120"/>
              </a:rPr>
              <a:t>(unstorable)</a:t>
            </a:r>
            <a:endParaRPr lang="en-US" sz="1050" dirty="0"/>
          </a:p>
        </p:txBody>
      </p:sp>
      <p:sp>
        <p:nvSpPr>
          <p:cNvPr id="8" name="Shape 6"/>
          <p:cNvSpPr/>
          <p:nvPr/>
        </p:nvSpPr>
        <p:spPr>
          <a:xfrm>
            <a:off x="2148840" y="2212848"/>
            <a:ext cx="0" cy="310896"/>
          </a:xfrm>
          <a:prstGeom prst="line">
            <a:avLst/>
          </a:prstGeom>
          <a:noFill/>
          <a:ln w="22225">
            <a:solidFill>
              <a:srgbClr val="1F4E79"/>
            </a:solidFill>
            <a:prstDash val="solid"/>
            <a:tailEnd type="triangle"/>
          </a:ln>
        </p:spPr>
      </p:sp>
      <p:sp>
        <p:nvSpPr>
          <p:cNvPr id="9" name="Text 7"/>
          <p:cNvSpPr/>
          <p:nvPr/>
        </p:nvSpPr>
        <p:spPr>
          <a:xfrm>
            <a:off x="2240280" y="2249424"/>
            <a:ext cx="1828800" cy="228600"/>
          </a:xfrm>
          <a:prstGeom prst="rect">
            <a:avLst/>
          </a:prstGeom>
          <a:noFill/>
          <a:ln/>
        </p:spPr>
        <p:txBody>
          <a:bodyPr wrap="square" lIns="0" tIns="0" rIns="0" bIns="0" rtlCol="0" anchor="ctr"/>
          <a:lstStyle/>
          <a:p>
            <a:pPr indent="0" marL="0">
              <a:buNone/>
            </a:pPr>
            <a:r>
              <a:rPr lang="en-US" sz="850" i="1" dirty="0">
                <a:solidFill>
                  <a:srgbClr val="1F4E79"/>
                </a:solidFill>
                <a:latin typeface="Arial" pitchFamily="34" charset="0"/>
                <a:ea typeface="Arial" pitchFamily="34" charset="-122"/>
                <a:cs typeface="Arial" pitchFamily="34" charset="-120"/>
              </a:rPr>
              <a:t>Hohenberg–Kohn</a:t>
            </a:r>
            <a:endParaRPr lang="en-US" sz="850" dirty="0"/>
          </a:p>
        </p:txBody>
      </p:sp>
      <p:sp>
        <p:nvSpPr>
          <p:cNvPr id="10" name="Shape 8"/>
          <p:cNvSpPr/>
          <p:nvPr/>
        </p:nvSpPr>
        <p:spPr>
          <a:xfrm>
            <a:off x="502920" y="2523744"/>
            <a:ext cx="3291840" cy="658368"/>
          </a:xfrm>
          <a:prstGeom prst="roundRect">
            <a:avLst>
              <a:gd name="adj" fmla="val 8333"/>
            </a:avLst>
          </a:prstGeom>
          <a:solidFill>
            <a:srgbClr val="EEF3F9"/>
          </a:solidFill>
          <a:ln w="15875">
            <a:solidFill>
              <a:srgbClr val="1F4E79"/>
            </a:solidFill>
            <a:prstDash val="solid"/>
          </a:ln>
        </p:spPr>
      </p:sp>
      <p:sp>
        <p:nvSpPr>
          <p:cNvPr id="11" name="Text 9"/>
          <p:cNvSpPr/>
          <p:nvPr/>
        </p:nvSpPr>
        <p:spPr>
          <a:xfrm>
            <a:off x="502920" y="2523744"/>
            <a:ext cx="3291840" cy="658368"/>
          </a:xfrm>
          <a:prstGeom prst="rect">
            <a:avLst/>
          </a:prstGeom>
          <a:noFill/>
          <a:ln/>
        </p:spPr>
        <p:txBody>
          <a:bodyPr wrap="square" lIns="0" tIns="0" rIns="0" bIns="0" rtlCol="0" anchor="ctr"/>
          <a:lstStyle/>
          <a:p>
            <a:pPr algn="ctr" indent="0" marL="0">
              <a:buNone/>
            </a:pPr>
            <a:r>
              <a:rPr lang="en-US" sz="1050" dirty="0">
                <a:solidFill>
                  <a:srgbClr val="1F4E79"/>
                </a:solidFill>
                <a:latin typeface="Arial" pitchFamily="34" charset="0"/>
                <a:ea typeface="Arial" pitchFamily="34" charset="-122"/>
                <a:cs typeface="Arial" pitchFamily="34" charset="-120"/>
              </a:rPr>
              <a:t>electron density n(r) — 3-D</a:t>
            </a:r>
            <a:endParaRPr lang="en-US" sz="1050" dirty="0"/>
          </a:p>
        </p:txBody>
      </p:sp>
      <p:sp>
        <p:nvSpPr>
          <p:cNvPr id="12" name="Shape 10"/>
          <p:cNvSpPr/>
          <p:nvPr/>
        </p:nvSpPr>
        <p:spPr>
          <a:xfrm>
            <a:off x="2148840" y="3182112"/>
            <a:ext cx="0" cy="310896"/>
          </a:xfrm>
          <a:prstGeom prst="line">
            <a:avLst/>
          </a:prstGeom>
          <a:noFill/>
          <a:ln w="22225">
            <a:solidFill>
              <a:srgbClr val="1F4E79"/>
            </a:solidFill>
            <a:prstDash val="solid"/>
            <a:tailEnd type="triangle"/>
          </a:ln>
        </p:spPr>
      </p:sp>
      <p:sp>
        <p:nvSpPr>
          <p:cNvPr id="13" name="Text 11"/>
          <p:cNvSpPr/>
          <p:nvPr/>
        </p:nvSpPr>
        <p:spPr>
          <a:xfrm>
            <a:off x="2240280" y="3218688"/>
            <a:ext cx="1828800" cy="228600"/>
          </a:xfrm>
          <a:prstGeom prst="rect">
            <a:avLst/>
          </a:prstGeom>
          <a:noFill/>
          <a:ln/>
        </p:spPr>
        <p:txBody>
          <a:bodyPr wrap="square" lIns="0" tIns="0" rIns="0" bIns="0" rtlCol="0" anchor="ctr"/>
          <a:lstStyle/>
          <a:p>
            <a:pPr indent="0" marL="0">
              <a:buNone/>
            </a:pPr>
            <a:r>
              <a:rPr lang="en-US" sz="850" i="1" dirty="0">
                <a:solidFill>
                  <a:srgbClr val="1F4E79"/>
                </a:solidFill>
                <a:latin typeface="Arial" pitchFamily="34" charset="0"/>
                <a:ea typeface="Arial" pitchFamily="34" charset="-122"/>
                <a:cs typeface="Arial" pitchFamily="34" charset="-120"/>
              </a:rPr>
              <a:t>Kohn–Sham</a:t>
            </a:r>
            <a:endParaRPr lang="en-US" sz="850" dirty="0"/>
          </a:p>
        </p:txBody>
      </p:sp>
      <p:sp>
        <p:nvSpPr>
          <p:cNvPr id="14" name="Shape 12"/>
          <p:cNvSpPr/>
          <p:nvPr/>
        </p:nvSpPr>
        <p:spPr>
          <a:xfrm>
            <a:off x="502920" y="3493008"/>
            <a:ext cx="3291840" cy="658368"/>
          </a:xfrm>
          <a:prstGeom prst="roundRect">
            <a:avLst>
              <a:gd name="adj" fmla="val 8333"/>
            </a:avLst>
          </a:prstGeom>
          <a:solidFill>
            <a:srgbClr val="FFFFFF"/>
          </a:solidFill>
          <a:ln w="15875">
            <a:solidFill>
              <a:srgbClr val="9E2A2B"/>
            </a:solidFill>
            <a:prstDash val="solid"/>
          </a:ln>
        </p:spPr>
      </p:sp>
      <p:sp>
        <p:nvSpPr>
          <p:cNvPr id="15" name="Text 13"/>
          <p:cNvSpPr/>
          <p:nvPr/>
        </p:nvSpPr>
        <p:spPr>
          <a:xfrm>
            <a:off x="502920" y="3493008"/>
            <a:ext cx="3291840" cy="658368"/>
          </a:xfrm>
          <a:prstGeom prst="rect">
            <a:avLst/>
          </a:prstGeom>
          <a:noFill/>
          <a:ln/>
        </p:spPr>
        <p:txBody>
          <a:bodyPr wrap="square" lIns="0" tIns="0" rIns="0" bIns="0" rtlCol="0" anchor="ctr"/>
          <a:lstStyle/>
          <a:p>
            <a:pPr algn="ctr" indent="0" marL="0">
              <a:buNone/>
            </a:pPr>
            <a:r>
              <a:rPr lang="en-US" sz="1050" dirty="0">
                <a:solidFill>
                  <a:srgbClr val="9E2A2B"/>
                </a:solidFill>
                <a:latin typeface="Arial" pitchFamily="34" charset="0"/>
                <a:ea typeface="Arial" pitchFamily="34" charset="-122"/>
                <a:cs typeface="Arial" pitchFamily="34" charset="-120"/>
              </a:rPr>
              <a:t>KS orbitals + E_xc[n]</a:t>
            </a:r>
            <a:endParaRPr lang="en-US" sz="1050" dirty="0"/>
          </a:p>
          <a:p>
            <a:pPr algn="ctr" indent="0" marL="0">
              <a:buNone/>
            </a:pPr>
            <a:r>
              <a:rPr lang="en-US" sz="1050" dirty="0">
                <a:solidFill>
                  <a:srgbClr val="9E2A2B"/>
                </a:solidFill>
                <a:latin typeface="Arial" pitchFamily="34" charset="0"/>
                <a:ea typeface="Arial" pitchFamily="34" charset="-122"/>
                <a:cs typeface="Arial" pitchFamily="34" charset="-120"/>
              </a:rPr>
              <a:t>← the ONLY approximation</a:t>
            </a:r>
            <a:endParaRPr lang="en-US" sz="1050" dirty="0"/>
          </a:p>
        </p:txBody>
      </p:sp>
      <p:sp>
        <p:nvSpPr>
          <p:cNvPr id="16" name="Text 14"/>
          <p:cNvSpPr/>
          <p:nvPr/>
        </p:nvSpPr>
        <p:spPr>
          <a:xfrm>
            <a:off x="502920" y="4297680"/>
            <a:ext cx="3291840" cy="274320"/>
          </a:xfrm>
          <a:prstGeom prst="rect">
            <a:avLst/>
          </a:prstGeom>
          <a:noFill/>
          <a:ln/>
        </p:spPr>
        <p:txBody>
          <a:bodyPr wrap="square" lIns="0" tIns="0" rIns="0" bIns="0" rtlCol="0" anchor="ctr"/>
          <a:lstStyle/>
          <a:p>
            <a:pPr algn="ctr" indent="0" marL="0">
              <a:buNone/>
            </a:pPr>
            <a:r>
              <a:rPr lang="en-US" sz="850" i="1" dirty="0">
                <a:solidFill>
                  <a:srgbClr val="7F7F7F"/>
                </a:solidFill>
                <a:latin typeface="Arial" pitchFamily="34" charset="0"/>
                <a:ea typeface="Arial" pitchFamily="34" charset="-122"/>
                <a:cs typeface="Arial" pitchFamily="34" charset="-120"/>
              </a:rPr>
              <a:t>One place of approximation ⇒ predictable error character</a:t>
            </a:r>
            <a:endParaRPr lang="en-US" sz="850" dirty="0"/>
          </a:p>
        </p:txBody>
      </p:sp>
      <p:sp>
        <p:nvSpPr>
          <p:cNvPr id="17" name="Text 15"/>
          <p:cNvSpPr/>
          <p:nvPr/>
        </p:nvSpPr>
        <p:spPr>
          <a:xfrm>
            <a:off x="4114800" y="1554480"/>
            <a:ext cx="4572000" cy="2377440"/>
          </a:xfrm>
          <a:prstGeom prst="rect">
            <a:avLst/>
          </a:prstGeom>
          <a:noFill/>
          <a:ln/>
        </p:spPr>
        <p:txBody>
          <a:bodyPr wrap="square" lIns="0" tIns="0" rIns="0" bIns="0" rtlCol="0" anchor="t"/>
          <a:lstStyle/>
          <a:p>
            <a:pPr marL="127000" indent="-127000">
              <a:spcAft>
                <a:spcPts val="500"/>
              </a:spcAft>
              <a:buSzPct val="100000"/>
              <a:buChar char="·"/>
            </a:pPr>
            <a:r>
              <a:rPr lang="en-US" sz="1200" b="1" dirty="0">
                <a:solidFill>
                  <a:srgbClr val="262626"/>
                </a:solidFill>
                <a:latin typeface="Arial" pitchFamily="34" charset="0"/>
                <a:ea typeface="Arial" pitchFamily="34" charset="-122"/>
                <a:cs typeface="Arial" pitchFamily="34" charset="-120"/>
              </a:rPr>
              <a:t>Semi-local (PBE) underestimates gaps 30–50% — missing derivative discontinuity, not “inaccuracy”</a:t>
            </a:r>
            <a:endParaRPr lang="en-US" sz="1200" dirty="0"/>
          </a:p>
          <a:p>
            <a:pPr marL="127000" indent="-127000">
              <a:spcAft>
                <a:spcPts val="500"/>
              </a:spcAft>
              <a:buSzPct val="100000"/>
              <a:buChar char="·"/>
            </a:pPr>
            <a:r>
              <a:rPr lang="en-US" sz="1200" b="1" dirty="0">
                <a:solidFill>
                  <a:srgbClr val="262626"/>
                </a:solidFill>
                <a:latin typeface="Arial" pitchFamily="34" charset="0"/>
                <a:ea typeface="Arial" pitchFamily="34" charset="-122"/>
                <a:cs typeface="Arial" pitchFamily="34" charset="-120"/>
              </a:rPr>
              <a:t>DFT+U for localized d/f states — our Ni 3d, U = 6.2 eV</a:t>
            </a:r>
            <a:endParaRPr lang="en-US" sz="1200" dirty="0"/>
          </a:p>
          <a:p>
            <a:pPr lvl="1" marL="254000" indent="-127000">
              <a:spcAft>
                <a:spcPts val="500"/>
              </a:spcAft>
              <a:buSzPct val="100000"/>
              <a:buChar char="–"/>
            </a:pPr>
            <a:r>
              <a:rPr lang="en-US" sz="1200" dirty="0">
                <a:solidFill>
                  <a:srgbClr val="7F7F7F"/>
                </a:solidFill>
                <a:latin typeface="Arial" pitchFamily="34" charset="0"/>
                <a:ea typeface="Arial" pitchFamily="34" charset="-122"/>
                <a:cs typeface="Arial" pitchFamily="34" charset="-120"/>
              </a:rPr>
              <a:t>U is an empirical parameter — fix it, quote only same-U differences</a:t>
            </a:r>
            <a:endParaRPr lang="en-US" sz="1200" dirty="0"/>
          </a:p>
        </p:txBody>
      </p:sp>
      <p:sp>
        <p:nvSpPr>
          <p:cNvPr id="18" name="Shape 16"/>
          <p:cNvSpPr/>
          <p:nvPr/>
        </p:nvSpPr>
        <p:spPr>
          <a:xfrm>
            <a:off x="502920" y="5120640"/>
            <a:ext cx="8138160" cy="731520"/>
          </a:xfrm>
          <a:prstGeom prst="roundRect">
            <a:avLst>
              <a:gd name="adj" fmla="val 10000"/>
            </a:avLst>
          </a:prstGeom>
          <a:solidFill>
            <a:srgbClr val="EEF3F9"/>
          </a:solidFill>
          <a:ln w="15875">
            <a:solidFill>
              <a:srgbClr val="1F4E79"/>
            </a:solidFill>
            <a:prstDash val="solid"/>
          </a:ln>
        </p:spPr>
      </p:sp>
      <p:sp>
        <p:nvSpPr>
          <p:cNvPr id="19" name="Text 17"/>
          <p:cNvSpPr/>
          <p:nvPr/>
        </p:nvSpPr>
        <p:spPr>
          <a:xfrm>
            <a:off x="731520" y="5120640"/>
            <a:ext cx="7680960" cy="731520"/>
          </a:xfrm>
          <a:prstGeom prst="rect">
            <a:avLst/>
          </a:prstGeom>
          <a:noFill/>
          <a:ln/>
        </p:spPr>
        <p:txBody>
          <a:bodyPr wrap="square" lIns="0" tIns="0" rIns="0" bIns="0" rtlCol="0" anchor="ctr"/>
          <a:lstStyle/>
          <a:p>
            <a:pPr algn="ctr" indent="0" marL="0">
              <a:buNone/>
            </a:pPr>
            <a:r>
              <a:rPr lang="en-US" sz="1250" b="1" dirty="0">
                <a:solidFill>
                  <a:srgbClr val="1F4E79"/>
                </a:solidFill>
                <a:latin typeface="Arial" pitchFamily="34" charset="0"/>
                <a:ea typeface="Arial" pitchFamily="34" charset="-122"/>
                <a:cs typeface="Arial" pitchFamily="34" charset="-120"/>
              </a:rPr>
              <a:t>If one line survives from this part: the approximation enters once, so error character is predictable, so we never quote absolute gaps</a:t>
            </a:r>
            <a:endParaRPr lang="en-US" sz="1250" dirty="0"/>
          </a:p>
        </p:txBody>
      </p:sp>
      <p:sp>
        <p:nvSpPr>
          <p:cNvPr id="21" name="Text 18"/>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22" name="Text 19"/>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Tools · DFT</a:t>
            </a:r>
            <a:endParaRPr lang="en-US" sz="1100" dirty="0"/>
          </a:p>
        </p:txBody>
      </p:sp>
      <p:sp>
        <p:nvSpPr>
          <p:cNvPr id="3" name="Text 1"/>
          <p:cNvSpPr/>
          <p:nvPr/>
        </p:nvSpPr>
        <p:spPr>
          <a:xfrm>
            <a:off x="3840480" y="219456"/>
            <a:ext cx="4846320" cy="292608"/>
          </a:xfrm>
          <a:prstGeom prst="rect">
            <a:avLst/>
          </a:prstGeom>
          <a:noFill/>
          <a:ln/>
        </p:spPr>
        <p:txBody>
          <a:bodyPr wrap="square" lIns="0" tIns="0" rIns="0" bIns="0" rtlCol="0" anchor="ctr"/>
          <a:lstStyle/>
          <a:p>
            <a:pPr algn="r" indent="0" marL="0">
              <a:buNone/>
            </a:pPr>
            <a:r>
              <a:rPr lang="en-US" sz="850" i="1" dirty="0">
                <a:solidFill>
                  <a:srgbClr val="7F7F7F"/>
                </a:solidFill>
                <a:latin typeface="Arial" pitchFamily="34" charset="0"/>
                <a:ea typeface="Arial" pitchFamily="34" charset="-122"/>
                <a:cs typeface="Arial" pitchFamily="34" charset="-120"/>
              </a:rPr>
              <a:t>EOS · VRH · ESW · BVSE defined in Appendix A1–A2</a:t>
            </a:r>
            <a:endParaRPr lang="en-US" sz="850" dirty="0"/>
          </a:p>
        </p:txBody>
      </p:sp>
      <p:sp>
        <p:nvSpPr>
          <p:cNvPr id="4" name="Text 2"/>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From total energy to observables — and into which gate</a:t>
            </a:r>
            <a:endParaRPr lang="en-US" sz="2000" dirty="0"/>
          </a:p>
        </p:txBody>
      </p:sp>
      <p:sp>
        <p:nvSpPr>
          <p:cNvPr id="5" name="Shape 3"/>
          <p:cNvSpPr/>
          <p:nvPr/>
        </p:nvSpPr>
        <p:spPr>
          <a:xfrm>
            <a:off x="457200" y="1115568"/>
            <a:ext cx="8229600" cy="0"/>
          </a:xfrm>
          <a:prstGeom prst="line">
            <a:avLst/>
          </a:prstGeom>
          <a:noFill/>
          <a:ln w="12700">
            <a:solidFill>
              <a:srgbClr val="D9D9D9"/>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8138160" cy="914400"/>
        </p:xfrm>
        <a:graphic>
          <a:graphicData uri="http://schemas.openxmlformats.org/drawingml/2006/table">
            <a:tbl>
              <a:tblPr/>
              <a:tblGrid>
                <a:gridCol w="3108960"/>
                <a:gridCol w="2926080"/>
                <a:gridCol w="2103120"/>
              </a:tblGrid>
              <a:tr h="310896">
                <a:tc>
                  <a:txBody>
                    <a:bodyPr/>
                    <a:lstStyle/>
                    <a:p>
                      <a:pPr indent="0" marL="0">
                        <a:buNone/>
                      </a:pPr>
                      <a:r>
                        <a:rPr lang="en-US" sz="1050" b="1" dirty="0">
                          <a:solidFill>
                            <a:srgbClr val="FFFFFF"/>
                          </a:solidFill>
                          <a:latin typeface="Arial" pitchFamily="34" charset="0"/>
                          <a:ea typeface="Arial" pitchFamily="34" charset="-122"/>
                          <a:cs typeface="Arial" pitchFamily="34" charset="-120"/>
                        </a:rPr>
                        <a:t>Quantity</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Judges</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Used in gate</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r>
              <a:tr h="310896">
                <a:tc>
                  <a:txBody>
                    <a:bodyPr/>
                    <a:lstStyle/>
                    <a:p>
                      <a:pPr indent="0" marL="0">
                        <a:buNone/>
                      </a:pPr>
                      <a:r>
                        <a:rPr lang="en-US" sz="1050" dirty="0">
                          <a:solidFill>
                            <a:srgbClr val="262626"/>
                          </a:solidFill>
                          <a:latin typeface="Arial" pitchFamily="34" charset="0"/>
                          <a:ea typeface="Arial" pitchFamily="34" charset="-122"/>
                          <a:cs typeface="Arial" pitchFamily="34" charset="-120"/>
                        </a:rPr>
                        <a:t>E(V) → BM3 EOS</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B₀ (stiffness)</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G5 mechanical</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10896">
                <a:tc>
                  <a:txBody>
                    <a:bodyPr/>
                    <a:lstStyle/>
                    <a:p>
                      <a:pPr indent="0" marL="0">
                        <a:buNone/>
                      </a:pPr>
                      <a:r>
                        <a:rPr lang="en-US" sz="1050" dirty="0">
                          <a:solidFill>
                            <a:srgbClr val="262626"/>
                          </a:solidFill>
                          <a:latin typeface="Arial" pitchFamily="34" charset="0"/>
                          <a:ea typeface="Arial" pitchFamily="34" charset="-122"/>
                          <a:cs typeface="Arial" pitchFamily="34" charset="-120"/>
                        </a:rPr>
                        <a:t>C_ij → VRH</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E, G, Pugh ratio</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G5 mechanical</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10896">
                <a:tc>
                  <a:txBody>
                    <a:bodyPr/>
                    <a:lstStyle/>
                    <a:p>
                      <a:pPr indent="0" marL="0">
                        <a:buNone/>
                      </a:pPr>
                      <a:r>
                        <a:rPr lang="en-US" sz="1050" dirty="0">
                          <a:solidFill>
                            <a:srgbClr val="262626"/>
                          </a:solidFill>
                          <a:latin typeface="Arial" pitchFamily="34" charset="0"/>
                          <a:ea typeface="Arial" pitchFamily="34" charset="-122"/>
                          <a:cs typeface="Arial" pitchFamily="34" charset="-120"/>
                        </a:rPr>
                        <a:t>grand-potential hull</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ESW window · oxidation onset</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G2 window + G3 oxidation</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10896">
                <a:tc>
                  <a:txBody>
                    <a:bodyPr/>
                    <a:lstStyle/>
                    <a:p>
                      <a:pPr indent="0" marL="0">
                        <a:buNone/>
                      </a:pPr>
                      <a:r>
                        <a:rPr lang="en-US" sz="1050" dirty="0">
                          <a:solidFill>
                            <a:srgbClr val="262626"/>
                          </a:solidFill>
                          <a:latin typeface="Arial" pitchFamily="34" charset="0"/>
                          <a:ea typeface="Arial" pitchFamily="34" charset="-122"/>
                          <a:cs typeface="Arial" pitchFamily="34" charset="-120"/>
                        </a:rPr>
                        <a:t>BVSE (bond valence)</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channels, bottlenecks (cheap)</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G4 transport — the gate engine</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10896">
                <a:tc>
                  <a:txBody>
                    <a:bodyPr/>
                    <a:lstStyle/>
                    <a:p>
                      <a:pPr indent="0" marL="0">
                        <a:buNone/>
                      </a:pPr>
                      <a:r>
                        <a:rPr lang="en-US" sz="1050" dirty="0">
                          <a:solidFill>
                            <a:srgbClr val="262626"/>
                          </a:solidFill>
                          <a:latin typeface="Arial" pitchFamily="34" charset="0"/>
                          <a:ea typeface="Arial" pitchFamily="34" charset="-122"/>
                          <a:cs typeface="Arial" pitchFamily="34" charset="-120"/>
                        </a:rPr>
                        <a:t>MLIP-MD → MSD → Arrhenius</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Ea, D</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champion validation (after the gates)</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10896">
                <a:tc>
                  <a:txBody>
                    <a:bodyPr/>
                    <a:lstStyle/>
                    <a:p>
                      <a:pPr indent="0" marL="0">
                        <a:buNone/>
                      </a:pPr>
                      <a:r>
                        <a:rPr lang="en-US" sz="1050" dirty="0">
                          <a:solidFill>
                            <a:srgbClr val="262626"/>
                          </a:solidFill>
                          <a:latin typeface="Arial" pitchFamily="34" charset="0"/>
                          <a:ea typeface="Arial" pitchFamily="34" charset="-122"/>
                          <a:cs typeface="Arial" pitchFamily="34" charset="-120"/>
                        </a:rPr>
                        <a:t>fixed-occupation nscf eigenvalues</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band gap = e⁻ insulation</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diagnostic axis, not a gate</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10896">
                <a:tc>
                  <a:txBody>
                    <a:bodyPr/>
                    <a:lstStyle/>
                    <a:p>
                      <a:pPr indent="0" marL="0">
                        <a:buNone/>
                      </a:pPr>
                      <a:r>
                        <a:rPr lang="en-US" sz="1050" dirty="0">
                          <a:solidFill>
                            <a:srgbClr val="262626"/>
                          </a:solidFill>
                          <a:latin typeface="Arial" pitchFamily="34" charset="0"/>
                          <a:ea typeface="Arial" pitchFamily="34" charset="-122"/>
                          <a:cs typeface="Arial" pitchFamily="34" charset="-120"/>
                        </a:rPr>
                        <a:t>ICOHP / ELF / Bader</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bonding character</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not a gate; explanation only</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7" name="Text 4"/>
          <p:cNvSpPr/>
          <p:nvPr/>
        </p:nvSpPr>
        <p:spPr>
          <a:xfrm>
            <a:off x="502920" y="4297680"/>
            <a:ext cx="8138160" cy="1554480"/>
          </a:xfrm>
          <a:prstGeom prst="rect">
            <a:avLst/>
          </a:prstGeom>
          <a:noFill/>
          <a:ln/>
        </p:spPr>
        <p:txBody>
          <a:bodyPr wrap="square" lIns="0" tIns="0" rIns="0" bIns="0" rtlCol="0" anchor="t"/>
          <a:lstStyle/>
          <a:p>
            <a:pPr marL="127000" indent="-127000">
              <a:spcAft>
                <a:spcPts val="500"/>
              </a:spcAft>
              <a:buSzPct val="100000"/>
              <a:buChar char="·"/>
            </a:pPr>
            <a:r>
              <a:rPr lang="en-US" sz="1150" b="1" dirty="0">
                <a:solidFill>
                  <a:srgbClr val="9E2A2B"/>
                </a:solidFill>
                <a:latin typeface="Arial" pitchFamily="34" charset="0"/>
                <a:ea typeface="Arial" pitchFamily="34" charset="-122"/>
                <a:cs typeface="Arial" pitchFamily="34" charset="-120"/>
              </a:rPr>
              <a:t>Gap rule: fixed-occupation eigenvalues ONLY — DOS-threshold reading under-estimates by ~0.3 eV (we did it once; see the retraction table)</a:t>
            </a:r>
            <a:endParaRPr lang="en-US" sz="1150" dirty="0"/>
          </a:p>
          <a:p>
            <a:pPr lvl="1" marL="254000" indent="-127000">
              <a:spcAft>
                <a:spcPts val="500"/>
              </a:spcAft>
              <a:buSzPct val="100000"/>
              <a:buChar char="–"/>
            </a:pPr>
            <a:r>
              <a:rPr lang="en-US" sz="1150" dirty="0">
                <a:solidFill>
                  <a:srgbClr val="7F7F7F"/>
                </a:solidFill>
                <a:latin typeface="Arial" pitchFamily="34" charset="0"/>
                <a:ea typeface="Arial" pitchFamily="34" charset="-122"/>
                <a:cs typeface="Arial" pitchFamily="34" charset="-120"/>
              </a:rPr>
              <a:t>ICOHP sign convention: negative = bonding — always printed on the table</a:t>
            </a:r>
            <a:endParaRPr lang="en-US" sz="1150" dirty="0"/>
          </a:p>
          <a:p>
            <a:pPr marL="127000" indent="-127000">
              <a:spcAft>
                <a:spcPts val="500"/>
              </a:spcAft>
              <a:buSzPct val="100000"/>
              <a:buChar char="·"/>
            </a:pPr>
            <a:r>
              <a:rPr lang="en-US" sz="1150" b="1" dirty="0">
                <a:solidFill>
                  <a:srgbClr val="262626"/>
                </a:solidFill>
                <a:latin typeface="Arial" pitchFamily="34" charset="0"/>
                <a:ea typeface="Arial" pitchFamily="34" charset="-122"/>
                <a:cs typeface="Arial" pitchFamily="34" charset="-120"/>
              </a:rPr>
              <a:t>Nothing on this ladder reaches particle/electrode scale</a:t>
            </a:r>
            <a:endParaRPr lang="en-US" sz="1150" dirty="0"/>
          </a:p>
        </p:txBody>
      </p:sp>
      <p:sp>
        <p:nvSpPr>
          <p:cNvPr id="9" name="Text 5"/>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10" name="Text 6"/>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Tools · MLIP</a:t>
            </a:r>
            <a:endParaRPr lang="en-US" sz="1100" dirty="0"/>
          </a:p>
        </p:txBody>
      </p:sp>
      <p:sp>
        <p:nvSpPr>
          <p:cNvPr id="3" name="Text 1"/>
          <p:cNvSpPr/>
          <p:nvPr/>
        </p:nvSpPr>
        <p:spPr>
          <a:xfrm>
            <a:off x="3840480" y="219456"/>
            <a:ext cx="4846320" cy="292608"/>
          </a:xfrm>
          <a:prstGeom prst="rect">
            <a:avLst/>
          </a:prstGeom>
          <a:noFill/>
          <a:ln/>
        </p:spPr>
        <p:txBody>
          <a:bodyPr wrap="square" lIns="0" tIns="0" rIns="0" bIns="0" rtlCol="0" anchor="ctr"/>
          <a:lstStyle/>
          <a:p>
            <a:pPr algn="r" indent="0" marL="0">
              <a:buNone/>
            </a:pPr>
            <a:r>
              <a:rPr lang="en-US" sz="850" i="1" dirty="0">
                <a:solidFill>
                  <a:srgbClr val="7F7F7F"/>
                </a:solidFill>
                <a:latin typeface="Arial" pitchFamily="34" charset="0"/>
                <a:ea typeface="Arial" pitchFamily="34" charset="-122"/>
                <a:cs typeface="Arial" pitchFamily="34" charset="-120"/>
              </a:rPr>
              <a:t>kb/results/mlip_md_diffusive_gate · UMA = universal MLIP (Meta)</a:t>
            </a:r>
            <a:endParaRPr lang="en-US" sz="850" dirty="0"/>
          </a:p>
        </p:txBody>
      </p:sp>
      <p:sp>
        <p:nvSpPr>
          <p:cNvPr id="4" name="Text 2"/>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Machine-learned potentials: what they buy, what they cannot</a:t>
            </a:r>
            <a:endParaRPr lang="en-US" sz="2000" dirty="0"/>
          </a:p>
        </p:txBody>
      </p:sp>
      <p:sp>
        <p:nvSpPr>
          <p:cNvPr id="5" name="Shape 3"/>
          <p:cNvSpPr/>
          <p:nvPr/>
        </p:nvSpPr>
        <p:spPr>
          <a:xfrm>
            <a:off x="457200" y="1115568"/>
            <a:ext cx="8229600" cy="0"/>
          </a:xfrm>
          <a:prstGeom prst="line">
            <a:avLst/>
          </a:prstGeom>
          <a:noFill/>
          <a:ln w="12700">
            <a:solidFill>
              <a:srgbClr val="D9D9D9"/>
            </a:solidFill>
            <a:prstDash val="solid"/>
          </a:ln>
        </p:spPr>
      </p:sp>
      <p:sp>
        <p:nvSpPr>
          <p:cNvPr id="6" name="Text 4"/>
          <p:cNvSpPr/>
          <p:nvPr/>
        </p:nvSpPr>
        <p:spPr>
          <a:xfrm>
            <a:off x="502920" y="1371600"/>
            <a:ext cx="4297680" cy="4206240"/>
          </a:xfrm>
          <a:prstGeom prst="rect">
            <a:avLst/>
          </a:prstGeom>
          <a:noFill/>
          <a:ln/>
        </p:spPr>
        <p:txBody>
          <a:bodyPr wrap="square" lIns="0" tIns="0" rIns="0" bIns="0" rtlCol="0" anchor="t"/>
          <a:lstStyle/>
          <a:p>
            <a:pPr marL="127000" indent="-127000">
              <a:spcAft>
                <a:spcPts val="500"/>
              </a:spcAft>
              <a:buSzPct val="100000"/>
              <a:buChar char="·"/>
            </a:pPr>
            <a:r>
              <a:rPr lang="en-US" sz="1150" b="1" dirty="0">
                <a:solidFill>
                  <a:srgbClr val="262626"/>
                </a:solidFill>
                <a:latin typeface="Arial" pitchFamily="34" charset="0"/>
                <a:ea typeface="Arial" pitchFamily="34" charset="-122"/>
                <a:cs typeface="Arial" pitchFamily="34" charset="-120"/>
              </a:rPr>
              <a:t>UMA (omat head): 200 ps MD, hundreds of atoms — impossible with DFT-MD</a:t>
            </a:r>
            <a:endParaRPr lang="en-US" sz="1150" dirty="0"/>
          </a:p>
          <a:p>
            <a:pPr marL="127000" indent="-127000">
              <a:spcAft>
                <a:spcPts val="200"/>
              </a:spcAft>
              <a:buSzPct val="100000"/>
              <a:buChar char="·"/>
            </a:pPr>
            <a:r>
              <a:rPr lang="en-US" sz="1150" b="1" dirty="0">
                <a:solidFill>
                  <a:srgbClr val="262626"/>
                </a:solidFill>
                <a:latin typeface="Arial" pitchFamily="34" charset="0"/>
                <a:ea typeface="Arial" pitchFamily="34" charset="-122"/>
                <a:cs typeface="Arial" pitchFamily="34" charset="-120"/>
              </a:rPr>
              <a:t>Three failures measured in OUR systems:</a:t>
            </a:r>
            <a:endParaRPr lang="en-US" sz="1150" dirty="0"/>
          </a:p>
          <a:p>
            <a:pPr lvl="1" marL="254000" indent="-127000">
              <a:spcAft>
                <a:spcPts val="500"/>
              </a:spcAft>
              <a:buSzPct val="100000"/>
              <a:buChar char="–"/>
            </a:pPr>
            <a:r>
              <a:rPr lang="en-US" sz="1150" dirty="0">
                <a:solidFill>
                  <a:srgbClr val="7F7F7F"/>
                </a:solidFill>
                <a:latin typeface="Arial" pitchFamily="34" charset="0"/>
                <a:ea typeface="Arial" pitchFamily="34" charset="-122"/>
                <a:cs typeface="Arial" pitchFamily="34" charset="-120"/>
              </a:rPr>
              <a:t>① no explicit charge states — bit us in SDCP (Part 6)</a:t>
            </a:r>
            <a:endParaRPr lang="en-US" sz="1150" dirty="0"/>
          </a:p>
          <a:p>
            <a:pPr lvl="1" marL="254000" indent="-127000">
              <a:spcAft>
                <a:spcPts val="500"/>
              </a:spcAft>
              <a:buSzPct val="100000"/>
              <a:buChar char="–"/>
            </a:pPr>
            <a:r>
              <a:rPr lang="en-US" sz="1150" dirty="0">
                <a:solidFill>
                  <a:srgbClr val="7F7F7F"/>
                </a:solidFill>
                <a:latin typeface="Arial" pitchFamily="34" charset="0"/>
                <a:ea typeface="Arial" pitchFamily="34" charset="-122"/>
                <a:cs typeface="Arial" pitchFamily="34" charset="-120"/>
              </a:rPr>
              <a:t>② cannot select magnetic states — Ni oxides AFM/FM</a:t>
            </a:r>
            <a:endParaRPr lang="en-US" sz="1150" dirty="0"/>
          </a:p>
          <a:p>
            <a:pPr lvl="1" marL="254000" indent="-127000">
              <a:spcAft>
                <a:spcPts val="500"/>
              </a:spcAft>
              <a:buSzPct val="100000"/>
              <a:buChar char="–"/>
            </a:pPr>
            <a:r>
              <a:rPr lang="en-US" sz="1150" dirty="0">
                <a:solidFill>
                  <a:srgbClr val="7F7F7F"/>
                </a:solidFill>
                <a:latin typeface="Arial" pitchFamily="34" charset="0"/>
                <a:ea typeface="Arial" pitchFamily="34" charset="-122"/>
                <a:cs typeface="Arial" pitchFamily="34" charset="-120"/>
              </a:rPr>
              <a:t>③ no dispersion in training — fatal for physisorption</a:t>
            </a:r>
            <a:endParaRPr lang="en-US" sz="1150" dirty="0"/>
          </a:p>
          <a:p>
            <a:pPr marL="127000" indent="-127000">
              <a:spcAft>
                <a:spcPts val="500"/>
              </a:spcAft>
              <a:buSzPct val="100000"/>
              <a:buChar char="·"/>
            </a:pPr>
            <a:r>
              <a:rPr lang="en-US" sz="1150" b="1" dirty="0">
                <a:solidFill>
                  <a:srgbClr val="262626"/>
                </a:solidFill>
                <a:latin typeface="Arial" pitchFamily="34" charset="0"/>
                <a:ea typeface="Arial" pitchFamily="34" charset="-122"/>
                <a:cs typeface="Arial" pitchFamily="34" charset="-120"/>
              </a:rPr>
              <a:t>Banned on Li₃N (deterministic bias, 2026-06); validated standard on LPSCl family</a:t>
            </a:r>
            <a:endParaRPr lang="en-US" sz="1150" dirty="0"/>
          </a:p>
          <a:p>
            <a:pPr marL="127000" indent="-127000">
              <a:spcAft>
                <a:spcPts val="500"/>
              </a:spcAft>
              <a:buSzPct val="100000"/>
              <a:buChar char="·"/>
            </a:pPr>
            <a:r>
              <a:rPr lang="en-US" sz="1150" b="1" dirty="0">
                <a:solidFill>
                  <a:srgbClr val="1F4E79"/>
                </a:solidFill>
                <a:latin typeface="Arial" pitchFamily="34" charset="0"/>
                <a:ea typeface="Arial" pitchFamily="34" charset="-122"/>
                <a:cs typeface="Arial" pitchFamily="34" charset="-120"/>
              </a:rPr>
              <a:t>⇒ MLIP = screening-stage surrogate; champions go back to DFT</a:t>
            </a:r>
            <a:endParaRPr lang="en-US" sz="1150" dirty="0"/>
          </a:p>
        </p:txBody>
      </p:sp>
      <p:pic>
        <p:nvPicPr>
          <p:cNvPr id="7" name="Image 0" descr="/tmp/claude-0/-home-user-Yonghoon-DEM-DFT/82ea256b-12bc-5a75-994e-7718d79c71ba/scratchpad/msd_crop.png">    </p:cNvPr>
          <p:cNvPicPr>
            <a:picLocks noChangeAspect="1"/>
          </p:cNvPicPr>
          <p:nvPr/>
        </p:nvPicPr>
        <p:blipFill>
          <a:blip r:embed="rId1"/>
          <a:srcRect l="0" r="0" t="0" b="0"/>
          <a:stretch/>
        </p:blipFill>
        <p:spPr>
          <a:xfrm>
            <a:off x="4937760" y="1463040"/>
            <a:ext cx="3749040" cy="2743200"/>
          </a:xfrm>
          <a:prstGeom prst="rect">
            <a:avLst/>
          </a:prstGeom>
        </p:spPr>
      </p:pic>
      <p:sp>
        <p:nvSpPr>
          <p:cNvPr id="8" name="Text 5"/>
          <p:cNvSpPr/>
          <p:nvPr/>
        </p:nvSpPr>
        <p:spPr>
          <a:xfrm>
            <a:off x="4937760" y="4224528"/>
            <a:ext cx="3749040" cy="274320"/>
          </a:xfrm>
          <a:prstGeom prst="rect">
            <a:avLst/>
          </a:prstGeom>
          <a:noFill/>
          <a:ln/>
        </p:spPr>
        <p:txBody>
          <a:bodyPr wrap="square" lIns="0" tIns="0" rIns="0" bIns="0" rtlCol="0" anchor="ctr"/>
          <a:lstStyle/>
          <a:p>
            <a:pPr algn="ctr" indent="0" marL="0">
              <a:buNone/>
            </a:pPr>
            <a:r>
              <a:rPr lang="en-US" sz="850" i="1" dirty="0">
                <a:solidFill>
                  <a:srgbClr val="7F7F7F"/>
                </a:solidFill>
                <a:latin typeface="Arial" pitchFamily="34" charset="0"/>
                <a:ea typeface="Arial" pitchFamily="34" charset="-122"/>
                <a:cs typeface="Arial" pitchFamily="34" charset="-120"/>
              </a:rPr>
              <a:t>MLIP-MD Li MSD, LPSCl vs LPSCl₁.₆ (multi-T; 100 ps window shown)</a:t>
            </a:r>
            <a:endParaRPr lang="en-US" sz="850" dirty="0"/>
          </a:p>
        </p:txBody>
      </p:sp>
      <p:sp>
        <p:nvSpPr>
          <p:cNvPr id="10" name="Text 6"/>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11" name="Text 7"/>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Origin</a:t>
            </a:r>
            <a:endParaRPr lang="en-US" sz="1100" dirty="0"/>
          </a:p>
        </p:txBody>
      </p:sp>
      <p:sp>
        <p:nvSpPr>
          <p:cNvPr id="3" name="Text 1"/>
          <p:cNvSpPr/>
          <p:nvPr/>
        </p:nvSpPr>
        <p:spPr>
          <a:xfrm>
            <a:off x="3840480" y="219456"/>
            <a:ext cx="4846320" cy="292608"/>
          </a:xfrm>
          <a:prstGeom prst="rect">
            <a:avLst/>
          </a:prstGeom>
          <a:noFill/>
          <a:ln/>
        </p:spPr>
        <p:txBody>
          <a:bodyPr wrap="square" lIns="0" tIns="0" rIns="0" bIns="0" rtlCol="0" anchor="ctr"/>
          <a:lstStyle/>
          <a:p>
            <a:pPr algn="r" indent="0" marL="0">
              <a:buNone/>
            </a:pPr>
            <a:r>
              <a:rPr lang="en-US" sz="850" i="1" dirty="0">
                <a:solidFill>
                  <a:srgbClr val="7F7F7F"/>
                </a:solidFill>
                <a:latin typeface="Arial" pitchFamily="34" charset="0"/>
                <a:ea typeface="Arial" pitchFamily="34" charset="-122"/>
                <a:cs typeface="Arial" pitchFamily="34" charset="-120"/>
              </a:rPr>
              <a:t>gap = fixed-occ eigenvalues · ICOHP: negative = bonding</a:t>
            </a:r>
            <a:endParaRPr lang="en-US" sz="850" dirty="0"/>
          </a:p>
        </p:txBody>
      </p:sp>
      <p:sp>
        <p:nvSpPr>
          <p:cNvPr id="4" name="Text 2"/>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The electronic structure barely moves</a:t>
            </a:r>
            <a:endParaRPr lang="en-US" sz="2000" dirty="0"/>
          </a:p>
        </p:txBody>
      </p:sp>
      <p:sp>
        <p:nvSpPr>
          <p:cNvPr id="5" name="Shape 3"/>
          <p:cNvSpPr/>
          <p:nvPr/>
        </p:nvSpPr>
        <p:spPr>
          <a:xfrm>
            <a:off x="457200" y="1115568"/>
            <a:ext cx="8229600" cy="0"/>
          </a:xfrm>
          <a:prstGeom prst="line">
            <a:avLst/>
          </a:prstGeom>
          <a:noFill/>
          <a:ln w="12700">
            <a:solidFill>
              <a:srgbClr val="D9D9D9"/>
            </a:solidFill>
            <a:prstDash val="solid"/>
          </a:ln>
        </p:spPr>
      </p:sp>
      <p:pic>
        <p:nvPicPr>
          <p:cNvPr id="6" name="Image 0" descr="/home/user/Yonghoon-DEM-DFT/docs/figures/deck_extracted/elf_comp1.png">    </p:cNvPr>
          <p:cNvPicPr>
            <a:picLocks noChangeAspect="1"/>
          </p:cNvPicPr>
          <p:nvPr/>
        </p:nvPicPr>
        <p:blipFill>
          <a:blip r:embed="rId1"/>
          <a:srcRect l="0" r="0" t="0" b="0"/>
          <a:stretch/>
        </p:blipFill>
        <p:spPr>
          <a:xfrm>
            <a:off x="502920" y="1463040"/>
            <a:ext cx="3931920" cy="2606040"/>
          </a:xfrm>
          <a:prstGeom prst="rect">
            <a:avLst/>
          </a:prstGeom>
        </p:spPr>
      </p:pic>
      <p:sp>
        <p:nvSpPr>
          <p:cNvPr id="7" name="Text 4"/>
          <p:cNvSpPr/>
          <p:nvPr/>
        </p:nvSpPr>
        <p:spPr>
          <a:xfrm>
            <a:off x="502920" y="4087368"/>
            <a:ext cx="3931920" cy="274320"/>
          </a:xfrm>
          <a:prstGeom prst="rect">
            <a:avLst/>
          </a:prstGeom>
          <a:noFill/>
          <a:ln/>
        </p:spPr>
        <p:txBody>
          <a:bodyPr wrap="square" lIns="0" tIns="0" rIns="0" bIns="0" rtlCol="0" anchor="ctr"/>
          <a:lstStyle/>
          <a:p>
            <a:pPr algn="ctr" indent="0" marL="0">
              <a:buNone/>
            </a:pPr>
            <a:r>
              <a:rPr lang="en-US" sz="850" i="1" dirty="0">
                <a:solidFill>
                  <a:srgbClr val="7F7F7F"/>
                </a:solidFill>
                <a:latin typeface="Arial" pitchFamily="34" charset="0"/>
                <a:ea typeface="Arial" pitchFamily="34" charset="-122"/>
                <a:cs typeface="Arial" pitchFamily="34" charset="-120"/>
              </a:rPr>
              <a:t>ELF, Li₆PS₅Cl</a:t>
            </a:r>
            <a:endParaRPr lang="en-US" sz="850" dirty="0"/>
          </a:p>
        </p:txBody>
      </p:sp>
      <p:pic>
        <p:nvPicPr>
          <p:cNvPr id="8" name="Image 1" descr="/home/user/Yonghoon-DEM-DFT/docs/figures/deck_extracted/elf_modelc.png">    </p:cNvPr>
          <p:cNvPicPr>
            <a:picLocks noChangeAspect="1"/>
          </p:cNvPicPr>
          <p:nvPr/>
        </p:nvPicPr>
        <p:blipFill>
          <a:blip r:embed="rId2"/>
          <a:srcRect l="0" r="0" t="0" b="0"/>
          <a:stretch/>
        </p:blipFill>
        <p:spPr>
          <a:xfrm>
            <a:off x="4709160" y="1463040"/>
            <a:ext cx="3931920" cy="2606040"/>
          </a:xfrm>
          <a:prstGeom prst="rect">
            <a:avLst/>
          </a:prstGeom>
        </p:spPr>
      </p:pic>
      <p:sp>
        <p:nvSpPr>
          <p:cNvPr id="9" name="Text 5"/>
          <p:cNvSpPr/>
          <p:nvPr/>
        </p:nvSpPr>
        <p:spPr>
          <a:xfrm>
            <a:off x="4709160" y="4087368"/>
            <a:ext cx="3931920" cy="274320"/>
          </a:xfrm>
          <a:prstGeom prst="rect">
            <a:avLst/>
          </a:prstGeom>
          <a:noFill/>
          <a:ln/>
        </p:spPr>
        <p:txBody>
          <a:bodyPr wrap="square" lIns="0" tIns="0" rIns="0" bIns="0" rtlCol="0" anchor="ctr"/>
          <a:lstStyle/>
          <a:p>
            <a:pPr algn="ctr" indent="0" marL="0">
              <a:buNone/>
            </a:pPr>
            <a:r>
              <a:rPr lang="en-US" sz="850" i="1" dirty="0">
                <a:solidFill>
                  <a:srgbClr val="7F7F7F"/>
                </a:solidFill>
                <a:latin typeface="Arial" pitchFamily="34" charset="0"/>
                <a:ea typeface="Arial" pitchFamily="34" charset="-122"/>
                <a:cs typeface="Arial" pitchFamily="34" charset="-120"/>
              </a:rPr>
              <a:t>ELF, Li₅.₄PS₄.₄Cl₁.₆ — near-identical topology</a:t>
            </a:r>
            <a:endParaRPr lang="en-US" sz="8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554480" y="4434840"/>
          <a:ext cx="6035040" cy="914400"/>
        </p:xfrm>
        <a:graphic>
          <a:graphicData uri="http://schemas.openxmlformats.org/drawingml/2006/table">
            <a:tbl>
              <a:tblPr/>
              <a:tblGrid>
                <a:gridCol w="1508760"/>
                <a:gridCol w="1508760"/>
                <a:gridCol w="1508760"/>
                <a:gridCol w="1508760"/>
              </a:tblGrid>
              <a:tr h="274320">
                <a:tc>
                  <a:txBody>
                    <a:bodyPr/>
                    <a:lstStyle/>
                    <a:p>
                      <a:pPr indent="0" marL="0">
                        <a:buNone/>
                      </a:pP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Li₆PS₅Cl</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Li₅.₄PS₄.₄Cl₁.₆</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Δ</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r>
              <a:tr h="274320">
                <a:tc>
                  <a:txBody>
                    <a:bodyPr/>
                    <a:lstStyle/>
                    <a:p>
                      <a:pPr indent="0" marL="0">
                        <a:buNone/>
                      </a:pPr>
                      <a:r>
                        <a:rPr lang="en-US" sz="1050" dirty="0">
                          <a:solidFill>
                            <a:srgbClr val="262626"/>
                          </a:solidFill>
                          <a:latin typeface="Arial" pitchFamily="34" charset="0"/>
                          <a:ea typeface="Arial" pitchFamily="34" charset="-122"/>
                          <a:cs typeface="Arial" pitchFamily="34" charset="-120"/>
                        </a:rPr>
                        <a:t>gap (eV)</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2.066</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2.099</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b="1" dirty="0">
                          <a:solidFill>
                            <a:srgbClr val="9E2A2B"/>
                          </a:solidFill>
                          <a:latin typeface="Arial" pitchFamily="34" charset="0"/>
                          <a:ea typeface="Arial" pitchFamily="34" charset="-122"/>
                          <a:cs typeface="Arial" pitchFamily="34" charset="-120"/>
                        </a:rPr>
                        <a:t>0.033</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274320">
                <a:tc>
                  <a:txBody>
                    <a:bodyPr/>
                    <a:lstStyle/>
                    <a:p>
                      <a:pPr indent="0" marL="0">
                        <a:buNone/>
                      </a:pPr>
                      <a:r>
                        <a:rPr lang="en-US" sz="1050" dirty="0">
                          <a:solidFill>
                            <a:srgbClr val="262626"/>
                          </a:solidFill>
                          <a:latin typeface="Arial" pitchFamily="34" charset="0"/>
                          <a:ea typeface="Arial" pitchFamily="34" charset="-122"/>
                          <a:cs typeface="Arial" pitchFamily="34" charset="-120"/>
                        </a:rPr>
                        <a:t>ICOHP PS₄ (eV/bond)</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−5.938</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−6.000</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≈0</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11" name="Text 6"/>
          <p:cNvSpPr/>
          <p:nvPr/>
        </p:nvSpPr>
        <p:spPr>
          <a:xfrm>
            <a:off x="502920" y="5394960"/>
            <a:ext cx="8138160" cy="457200"/>
          </a:xfrm>
          <a:prstGeom prst="rect">
            <a:avLst/>
          </a:prstGeom>
          <a:noFill/>
          <a:ln/>
        </p:spPr>
        <p:txBody>
          <a:bodyPr wrap="square" lIns="0" tIns="0" rIns="0" bIns="0" rtlCol="0" anchor="t"/>
          <a:lstStyle/>
          <a:p>
            <a:pPr marL="127000" indent="-127000">
              <a:spcAft>
                <a:spcPts val="500"/>
              </a:spcAft>
              <a:buSzPct val="100000"/>
              <a:buChar char="·"/>
            </a:pPr>
            <a:r>
              <a:rPr lang="en-US" sz="1150" b="1" dirty="0">
                <a:solidFill>
                  <a:srgbClr val="1F4E79"/>
                </a:solidFill>
                <a:latin typeface="Arial" pitchFamily="34" charset="0"/>
                <a:ea typeface="Arial" pitchFamily="34" charset="-122"/>
                <a:cs typeface="Arial" pitchFamily="34" charset="-120"/>
              </a:rPr>
              <a:t>Absolute values not quoted (PBE); within-method differences only — and the smallness IS the result</a:t>
            </a:r>
            <a:endParaRPr lang="en-US" sz="1150" dirty="0"/>
          </a:p>
        </p:txBody>
      </p:sp>
      <p:sp>
        <p:nvSpPr>
          <p:cNvPr id="13" name="Text 7"/>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14" name="Text 8"/>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Origin</a:t>
            </a:r>
            <a:endParaRPr lang="en-US" sz="1100" dirty="0"/>
          </a:p>
        </p:txBody>
      </p:sp>
      <p:sp>
        <p:nvSpPr>
          <p:cNvPr id="3" name="Text 1"/>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The gain is structural, not electronic</a:t>
            </a:r>
            <a:endParaRPr lang="en-US" sz="2000" dirty="0"/>
          </a:p>
        </p:txBody>
      </p:sp>
      <p:sp>
        <p:nvSpPr>
          <p:cNvPr id="4" name="Shape 2"/>
          <p:cNvSpPr/>
          <p:nvPr/>
        </p:nvSpPr>
        <p:spPr>
          <a:xfrm>
            <a:off x="457200" y="1115568"/>
            <a:ext cx="8229600" cy="0"/>
          </a:xfrm>
          <a:prstGeom prst="line">
            <a:avLst/>
          </a:prstGeom>
          <a:noFill/>
          <a:ln w="12700">
            <a:solidFill>
              <a:srgbClr val="D9D9D9"/>
            </a:solidFill>
            <a:prstDash val="solid"/>
          </a:ln>
        </p:spPr>
      </p:sp>
      <p:pic>
        <p:nvPicPr>
          <p:cNvPr id="5" name="Image 0" descr="/home/user/Yonghoon-DEM-DFT/docs/figures/bv_path_annotated_modelc.png">    </p:cNvPr>
          <p:cNvPicPr>
            <a:picLocks noChangeAspect="1"/>
          </p:cNvPicPr>
          <p:nvPr/>
        </p:nvPicPr>
        <p:blipFill>
          <a:blip r:embed="rId1"/>
          <a:srcRect l="0" r="0" t="0" b="0"/>
          <a:stretch/>
        </p:blipFill>
        <p:spPr>
          <a:xfrm>
            <a:off x="502920" y="1371600"/>
            <a:ext cx="4572000" cy="4206240"/>
          </a:xfrm>
          <a:prstGeom prst="rect">
            <a:avLst/>
          </a:prstGeom>
        </p:spPr>
      </p:pic>
      <p:sp>
        <p:nvSpPr>
          <p:cNvPr id="6" name="Text 3"/>
          <p:cNvSpPr/>
          <p:nvPr/>
        </p:nvSpPr>
        <p:spPr>
          <a:xfrm>
            <a:off x="502920" y="5596128"/>
            <a:ext cx="4572000" cy="274320"/>
          </a:xfrm>
          <a:prstGeom prst="rect">
            <a:avLst/>
          </a:prstGeom>
          <a:noFill/>
          <a:ln/>
        </p:spPr>
        <p:txBody>
          <a:bodyPr wrap="square" lIns="0" tIns="0" rIns="0" bIns="0" rtlCol="0" anchor="ctr"/>
          <a:lstStyle/>
          <a:p>
            <a:pPr algn="ctr" indent="0" marL="0">
              <a:buNone/>
            </a:pPr>
            <a:r>
              <a:rPr lang="en-US" sz="850" i="1" dirty="0">
                <a:solidFill>
                  <a:srgbClr val="7F7F7F"/>
                </a:solidFill>
                <a:latin typeface="Arial" pitchFamily="34" charset="0"/>
                <a:ea typeface="Arial" pitchFamily="34" charset="-122"/>
                <a:cs typeface="Arial" pitchFamily="34" charset="-120"/>
              </a:rPr>
              <a:t>BV percolation path, LPSCl₁.₆ — vacancy sites line the hop network (empty-lattice proxy; ranking by MLIP-MD)</a:t>
            </a:r>
            <a:endParaRPr lang="en-US" sz="850" dirty="0"/>
          </a:p>
        </p:txBody>
      </p:sp>
      <p:sp>
        <p:nvSpPr>
          <p:cNvPr id="7" name="Text 4"/>
          <p:cNvSpPr/>
          <p:nvPr/>
        </p:nvSpPr>
        <p:spPr>
          <a:xfrm>
            <a:off x="5349240" y="1463040"/>
            <a:ext cx="3337560" cy="4023360"/>
          </a:xfrm>
          <a:prstGeom prst="rect">
            <a:avLst/>
          </a:prstGeom>
          <a:noFill/>
          <a:ln/>
        </p:spPr>
        <p:txBody>
          <a:bodyPr wrap="square" lIns="0" tIns="0" rIns="0" bIns="0" rtlCol="0" anchor="t"/>
          <a:lstStyle/>
          <a:p>
            <a:pPr marL="127000" indent="-127000">
              <a:spcAft>
                <a:spcPts val="500"/>
              </a:spcAft>
              <a:buSzPct val="100000"/>
              <a:buChar char="·"/>
            </a:pPr>
            <a:r>
              <a:rPr lang="en-US" sz="1150" b="1" dirty="0">
                <a:solidFill>
                  <a:srgbClr val="262626"/>
                </a:solidFill>
                <a:latin typeface="Arial" pitchFamily="34" charset="0"/>
                <a:ea typeface="Arial" pitchFamily="34" charset="-122"/>
                <a:cs typeface="Arial" pitchFamily="34" charset="-120"/>
              </a:rPr>
              <a:t>More Cl → Li vacancies (charge balance) + 4d Cl anti-site → hop network opens</a:t>
            </a:r>
            <a:endParaRPr lang="en-US" sz="1150" dirty="0"/>
          </a:p>
          <a:p>
            <a:pPr lvl="1" marL="254000" indent="-127000">
              <a:spcAft>
                <a:spcPts val="500"/>
              </a:spcAft>
              <a:buSzPct val="100000"/>
              <a:buChar char="–"/>
            </a:pPr>
            <a:r>
              <a:rPr lang="en-US" sz="1150" dirty="0">
                <a:solidFill>
                  <a:srgbClr val="7F7F7F"/>
                </a:solidFill>
                <a:latin typeface="Arial" pitchFamily="34" charset="0"/>
                <a:ea typeface="Arial" pitchFamily="34" charset="-122"/>
                <a:cs typeface="Arial" pitchFamily="34" charset="-120"/>
              </a:rPr>
              <a:t>The static BVSE channel actually shrinks (−15%) — the gain is dynamic: vacancies in motion</a:t>
            </a:r>
            <a:endParaRPr lang="en-US" sz="1150" dirty="0"/>
          </a:p>
          <a:p>
            <a:pPr marL="127000" indent="-127000">
              <a:spcAft>
                <a:spcPts val="500"/>
              </a:spcAft>
              <a:buSzPct val="100000"/>
              <a:buChar char="·"/>
            </a:pPr>
            <a:r>
              <a:rPr lang="en-US" sz="1150" b="1" dirty="0">
                <a:solidFill>
                  <a:srgbClr val="1F4E79"/>
                </a:solidFill>
                <a:latin typeface="Arial" pitchFamily="34" charset="0"/>
                <a:ea typeface="Arial" pitchFamily="34" charset="-122"/>
                <a:cs typeface="Arial" pitchFamily="34" charset="-120"/>
              </a:rPr>
              <a:t>Substitution acts through disorder, not bands</a:t>
            </a:r>
            <a:endParaRPr lang="en-US" sz="1150" dirty="0"/>
          </a:p>
          <a:p>
            <a:pPr marL="127000" indent="-127000">
              <a:spcAft>
                <a:spcPts val="200"/>
              </a:spcAft>
              <a:buSzPct val="100000"/>
              <a:buChar char="·"/>
            </a:pPr>
            <a:r>
              <a:rPr lang="en-US" sz="1150" b="1" dirty="0">
                <a:solidFill>
                  <a:srgbClr val="262626"/>
                </a:solidFill>
                <a:latin typeface="Arial" pitchFamily="34" charset="0"/>
                <a:ea typeface="Arial" pitchFamily="34" charset="-122"/>
                <a:cs typeface="Arial" pitchFamily="34" charset="-120"/>
              </a:rPr>
              <a:t>⇒ screening axes = structural descriptors:</a:t>
            </a:r>
            <a:endParaRPr lang="en-US" sz="1150" dirty="0"/>
          </a:p>
          <a:p>
            <a:pPr lvl="1" marL="254000" indent="-127000">
              <a:spcAft>
                <a:spcPts val="500"/>
              </a:spcAft>
              <a:buSzPct val="100000"/>
              <a:buChar char="–"/>
            </a:pPr>
            <a:r>
              <a:rPr lang="en-US" sz="1150" dirty="0">
                <a:solidFill>
                  <a:srgbClr val="7F7F7F"/>
                </a:solidFill>
                <a:latin typeface="Arial" pitchFamily="34" charset="0"/>
                <a:ea typeface="Arial" pitchFamily="34" charset="-122"/>
                <a:cs typeface="Arial" pitchFamily="34" charset="-120"/>
              </a:rPr>
              <a:t>disorder promotion · Li transport · dose robustness · structural stability</a:t>
            </a:r>
            <a:endParaRPr lang="en-US" sz="1150" dirty="0"/>
          </a:p>
          <a:p>
            <a:pPr marL="127000" indent="-127000">
              <a:spcAft>
                <a:spcPts val="500"/>
              </a:spcAft>
              <a:buSzPct val="100000"/>
              <a:buChar char="·"/>
            </a:pPr>
            <a:r>
              <a:rPr lang="en-US" sz="1150" b="1" dirty="0">
                <a:solidFill>
                  <a:srgbClr val="9E2A2B"/>
                </a:solidFill>
                <a:latin typeface="Arial" pitchFamily="34" charset="0"/>
                <a:ea typeface="Arial" pitchFamily="34" charset="-122"/>
                <a:cs typeface="Arial" pitchFamily="34" charset="-120"/>
              </a:rPr>
              <a:t>Electronic axis kept as a gate only — never a ranking variable</a:t>
            </a:r>
            <a:endParaRPr lang="en-US" sz="1150" dirty="0"/>
          </a:p>
        </p:txBody>
      </p:sp>
      <p:sp>
        <p:nvSpPr>
          <p:cNvPr id="9" name="Text 5"/>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10" name="Text 6"/>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Screen · ours</a:t>
            </a:r>
            <a:endParaRPr lang="en-US" sz="1100" dirty="0"/>
          </a:p>
        </p:txBody>
      </p:sp>
      <p:sp>
        <p:nvSpPr>
          <p:cNvPr id="3" name="Text 1"/>
          <p:cNvSpPr/>
          <p:nvPr/>
        </p:nvSpPr>
        <p:spPr>
          <a:xfrm>
            <a:off x="3840480" y="219456"/>
            <a:ext cx="4846320" cy="292608"/>
          </a:xfrm>
          <a:prstGeom prst="rect">
            <a:avLst/>
          </a:prstGeom>
          <a:noFill/>
          <a:ln/>
        </p:spPr>
        <p:txBody>
          <a:bodyPr wrap="square" lIns="0" tIns="0" rIns="0" bIns="0" rtlCol="0" anchor="ctr"/>
          <a:lstStyle/>
          <a:p>
            <a:pPr algn="r" indent="0" marL="0">
              <a:buNone/>
            </a:pPr>
            <a:r>
              <a:rPr lang="en-US" sz="850" i="1" dirty="0">
                <a:solidFill>
                  <a:srgbClr val="7F7F7F"/>
                </a:solidFill>
                <a:latin typeface="Arial" pitchFamily="34" charset="0"/>
                <a:ea typeface="Arial" pitchFamily="34" charset="-122"/>
                <a:cs typeface="Arial" pitchFamily="34" charset="-120"/>
              </a:rPr>
              <a:t>source: cascade_v23_champions.csv (141 rows verified)</a:t>
            </a:r>
            <a:endParaRPr lang="en-US" sz="850" dirty="0"/>
          </a:p>
        </p:txBody>
      </p:sp>
      <p:sp>
        <p:nvSpPr>
          <p:cNvPr id="4" name="Text 2"/>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Campaign lineage: 91 × 3 attempted slots → versioned 47-species snapshot</a:t>
            </a:r>
            <a:endParaRPr lang="en-US" sz="2000" dirty="0"/>
          </a:p>
        </p:txBody>
      </p:sp>
      <p:sp>
        <p:nvSpPr>
          <p:cNvPr id="5" name="Shape 3"/>
          <p:cNvSpPr/>
          <p:nvPr/>
        </p:nvSpPr>
        <p:spPr>
          <a:xfrm>
            <a:off x="457200" y="1115568"/>
            <a:ext cx="8229600" cy="0"/>
          </a:xfrm>
          <a:prstGeom prst="line">
            <a:avLst/>
          </a:prstGeom>
          <a:noFill/>
          <a:ln w="12700">
            <a:solidFill>
              <a:srgbClr val="D9D9D9"/>
            </a:solidFill>
            <a:prstDash val="solid"/>
          </a:ln>
        </p:spPr>
      </p:sp>
      <p:sp>
        <p:nvSpPr>
          <p:cNvPr id="6" name="Shape 4"/>
          <p:cNvSpPr/>
          <p:nvPr/>
        </p:nvSpPr>
        <p:spPr>
          <a:xfrm>
            <a:off x="502920" y="1463040"/>
            <a:ext cx="2514600" cy="868680"/>
          </a:xfrm>
          <a:prstGeom prst="roundRect">
            <a:avLst>
              <a:gd name="adj" fmla="val 7368"/>
            </a:avLst>
          </a:prstGeom>
          <a:solidFill>
            <a:srgbClr val="EEF3F9"/>
          </a:solidFill>
          <a:ln w="15875">
            <a:solidFill>
              <a:srgbClr val="1F4E79"/>
            </a:solidFill>
            <a:prstDash val="solid"/>
          </a:ln>
        </p:spPr>
      </p:sp>
      <p:sp>
        <p:nvSpPr>
          <p:cNvPr id="7" name="Text 5"/>
          <p:cNvSpPr/>
          <p:nvPr/>
        </p:nvSpPr>
        <p:spPr>
          <a:xfrm>
            <a:off x="502920" y="1463040"/>
            <a:ext cx="2514600" cy="868680"/>
          </a:xfrm>
          <a:prstGeom prst="rect">
            <a:avLst/>
          </a:prstGeom>
          <a:noFill/>
          <a:ln/>
        </p:spPr>
        <p:txBody>
          <a:bodyPr wrap="square" lIns="0" tIns="0" rIns="0" bIns="0" rtlCol="0" anchor="ctr"/>
          <a:lstStyle/>
          <a:p>
            <a:pPr algn="ctr" indent="0" marL="0">
              <a:buNone/>
            </a:pPr>
            <a:r>
              <a:rPr lang="en-US" sz="1100" b="1" dirty="0">
                <a:solidFill>
                  <a:srgbClr val="1F4E79"/>
                </a:solidFill>
                <a:latin typeface="Arial" pitchFamily="34" charset="0"/>
                <a:ea typeface="Arial" pitchFamily="34" charset="-122"/>
                <a:cs typeface="Arial" pitchFamily="34" charset="-120"/>
              </a:rPr>
              <a:t>Curated roster
</a:t>
            </a:r>
            <a:endParaRPr lang="en-US" sz="1100" dirty="0"/>
          </a:p>
          <a:p>
            <a:pPr algn="ctr" indent="0" marL="0">
              <a:buNone/>
            </a:pPr>
            <a:r>
              <a:rPr lang="en-US" sz="950" dirty="0">
                <a:solidFill>
                  <a:srgbClr val="1F4E79"/>
                </a:solidFill>
                <a:latin typeface="Arial" pitchFamily="34" charset="0"/>
                <a:ea typeface="Arial" pitchFamily="34" charset="-122"/>
                <a:cs typeface="Arial" pitchFamily="34" charset="-120"/>
              </a:rPr>
              <a:t>91 species</a:t>
            </a:r>
            <a:endParaRPr lang="en-US" sz="1100" dirty="0"/>
          </a:p>
        </p:txBody>
      </p:sp>
      <p:sp>
        <p:nvSpPr>
          <p:cNvPr id="8" name="Shape 6"/>
          <p:cNvSpPr/>
          <p:nvPr/>
        </p:nvSpPr>
        <p:spPr>
          <a:xfrm>
            <a:off x="3044952" y="1892808"/>
            <a:ext cx="219456" cy="0"/>
          </a:xfrm>
          <a:prstGeom prst="line">
            <a:avLst/>
          </a:prstGeom>
          <a:noFill/>
          <a:ln w="22225">
            <a:solidFill>
              <a:srgbClr val="7F7F7F"/>
            </a:solidFill>
            <a:prstDash val="solid"/>
            <a:tailEnd type="triangle"/>
          </a:ln>
        </p:spPr>
      </p:sp>
      <p:sp>
        <p:nvSpPr>
          <p:cNvPr id="9" name="Shape 7"/>
          <p:cNvSpPr/>
          <p:nvPr/>
        </p:nvSpPr>
        <p:spPr>
          <a:xfrm>
            <a:off x="3291840" y="1463040"/>
            <a:ext cx="2514600" cy="868680"/>
          </a:xfrm>
          <a:prstGeom prst="roundRect">
            <a:avLst>
              <a:gd name="adj" fmla="val 7368"/>
            </a:avLst>
          </a:prstGeom>
          <a:solidFill>
            <a:srgbClr val="EEF3F9"/>
          </a:solidFill>
          <a:ln w="15875">
            <a:solidFill>
              <a:srgbClr val="1F4E79"/>
            </a:solidFill>
            <a:prstDash val="solid"/>
          </a:ln>
        </p:spPr>
      </p:sp>
      <p:sp>
        <p:nvSpPr>
          <p:cNvPr id="10" name="Text 8"/>
          <p:cNvSpPr/>
          <p:nvPr/>
        </p:nvSpPr>
        <p:spPr>
          <a:xfrm>
            <a:off x="3291840" y="1463040"/>
            <a:ext cx="2514600" cy="868680"/>
          </a:xfrm>
          <a:prstGeom prst="rect">
            <a:avLst/>
          </a:prstGeom>
          <a:noFill/>
          <a:ln/>
        </p:spPr>
        <p:txBody>
          <a:bodyPr wrap="square" lIns="0" tIns="0" rIns="0" bIns="0" rtlCol="0" anchor="ctr"/>
          <a:lstStyle/>
          <a:p>
            <a:pPr algn="ctr" indent="0" marL="0">
              <a:buNone/>
            </a:pPr>
            <a:r>
              <a:rPr lang="en-US" sz="1100" b="1" dirty="0">
                <a:solidFill>
                  <a:srgbClr val="1F4E79"/>
                </a:solidFill>
                <a:latin typeface="Arial" pitchFamily="34" charset="0"/>
                <a:ea typeface="Arial" pitchFamily="34" charset="-122"/>
                <a:cs typeface="Arial" pitchFamily="34" charset="-120"/>
              </a:rPr>
              <a:t>Attempted campaign
</a:t>
            </a:r>
            <a:endParaRPr lang="en-US" sz="1100" dirty="0"/>
          </a:p>
          <a:p>
            <a:pPr algn="ctr" indent="0" marL="0">
              <a:buNone/>
            </a:pPr>
            <a:r>
              <a:rPr lang="en-US" sz="950" dirty="0">
                <a:solidFill>
                  <a:srgbClr val="1F4E79"/>
                </a:solidFill>
                <a:latin typeface="Arial" pitchFamily="34" charset="0"/>
                <a:ea typeface="Arial" pitchFamily="34" charset="-122"/>
                <a:cs typeface="Arial" pitchFamily="34" charset="-120"/>
              </a:rPr>
              <a:t>273 run slots (3 labels)</a:t>
            </a:r>
            <a:endParaRPr lang="en-US" sz="1100" dirty="0"/>
          </a:p>
        </p:txBody>
      </p:sp>
      <p:sp>
        <p:nvSpPr>
          <p:cNvPr id="11" name="Shape 9"/>
          <p:cNvSpPr/>
          <p:nvPr/>
        </p:nvSpPr>
        <p:spPr>
          <a:xfrm>
            <a:off x="5833872" y="1892808"/>
            <a:ext cx="219456" cy="0"/>
          </a:xfrm>
          <a:prstGeom prst="line">
            <a:avLst/>
          </a:prstGeom>
          <a:noFill/>
          <a:ln w="22225">
            <a:solidFill>
              <a:srgbClr val="7F7F7F"/>
            </a:solidFill>
            <a:prstDash val="solid"/>
            <a:tailEnd type="triangle"/>
          </a:ln>
        </p:spPr>
      </p:sp>
      <p:sp>
        <p:nvSpPr>
          <p:cNvPr id="12" name="Shape 10"/>
          <p:cNvSpPr/>
          <p:nvPr/>
        </p:nvSpPr>
        <p:spPr>
          <a:xfrm>
            <a:off x="6080760" y="1463040"/>
            <a:ext cx="2514600" cy="868680"/>
          </a:xfrm>
          <a:prstGeom prst="roundRect">
            <a:avLst>
              <a:gd name="adj" fmla="val 7368"/>
            </a:avLst>
          </a:prstGeom>
          <a:solidFill>
            <a:srgbClr val="1F4E79"/>
          </a:solidFill>
          <a:ln w="15875">
            <a:solidFill>
              <a:srgbClr val="1F4E79"/>
            </a:solidFill>
            <a:prstDash val="solid"/>
          </a:ln>
        </p:spPr>
      </p:sp>
      <p:sp>
        <p:nvSpPr>
          <p:cNvPr id="13" name="Text 11"/>
          <p:cNvSpPr/>
          <p:nvPr/>
        </p:nvSpPr>
        <p:spPr>
          <a:xfrm>
            <a:off x="6080760" y="1463040"/>
            <a:ext cx="2514600" cy="86868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Versioned snapshot
</a:t>
            </a:r>
            <a:endParaRPr lang="en-US" sz="1100" dirty="0"/>
          </a:p>
          <a:p>
            <a:pPr algn="ctr" indent="0" marL="0">
              <a:buNone/>
            </a:pPr>
            <a:r>
              <a:rPr lang="en-US" sz="950" dirty="0">
                <a:solidFill>
                  <a:srgbClr val="FFFFFF"/>
                </a:solidFill>
                <a:latin typeface="Arial" pitchFamily="34" charset="0"/>
                <a:ea typeface="Arial" pitchFamily="34" charset="-122"/>
                <a:cs typeface="Arial" pitchFamily="34" charset="-120"/>
              </a:rPr>
              <a:t>141 records = 47 × 3</a:t>
            </a:r>
            <a:endParaRPr lang="en-US" sz="1100" dirty="0"/>
          </a:p>
        </p:txBody>
      </p:sp>
      <p:sp>
        <p:nvSpPr>
          <p:cNvPr id="14" name="Text 12"/>
          <p:cNvSpPr/>
          <p:nvPr/>
        </p:nvSpPr>
        <p:spPr>
          <a:xfrm>
            <a:off x="502920" y="2606040"/>
            <a:ext cx="8138160" cy="1554480"/>
          </a:xfrm>
          <a:prstGeom prst="rect">
            <a:avLst/>
          </a:prstGeom>
          <a:noFill/>
          <a:ln/>
        </p:spPr>
        <p:txBody>
          <a:bodyPr wrap="square" lIns="0" tIns="0" rIns="0" bIns="0" rtlCol="0" anchor="t"/>
          <a:lstStyle/>
          <a:p>
            <a:pPr marL="127000" indent="-127000">
              <a:spcAft>
                <a:spcPts val="500"/>
              </a:spcAft>
              <a:buSzPct val="100000"/>
              <a:buChar char="·"/>
            </a:pPr>
            <a:r>
              <a:rPr lang="en-US" sz="1150" b="1" dirty="0">
                <a:solidFill>
                  <a:srgbClr val="262626"/>
                </a:solidFill>
                <a:latin typeface="Arial" pitchFamily="34" charset="0"/>
                <a:ea typeface="Arial" pitchFamily="34" charset="-122"/>
                <a:cs typeface="Arial" pitchFamily="34" charset="-120"/>
              </a:rPr>
              <a:t>The 2026-06-25 canonical table holds 37 oxides + 10 fluorides; the other 44 species are absent from it</a:t>
            </a:r>
            <a:endParaRPr lang="en-US" sz="1150" dirty="0"/>
          </a:p>
          <a:p>
            <a:pPr marL="127000" indent="-127000">
              <a:spcAft>
                <a:spcPts val="500"/>
              </a:spcAft>
              <a:buSzPct val="100000"/>
              <a:buChar char="·"/>
            </a:pPr>
            <a:r>
              <a:rPr lang="en-US" sz="1150" b="1" dirty="0">
                <a:solidFill>
                  <a:srgbClr val="9E2A2B"/>
                </a:solidFill>
                <a:latin typeface="Arial" pitchFamily="34" charset="0"/>
                <a:ea typeface="Arial" pitchFamily="34" charset="-122"/>
                <a:cs typeface="Arial" pitchFamily="34" charset="-120"/>
              </a:rPr>
              <a:t>x002/x005/x010 are campaign labels; conflicting concentration metadata means nominal x is unresolved</a:t>
            </a:r>
            <a:endParaRPr lang="en-US" sz="1150" dirty="0"/>
          </a:p>
          <a:p>
            <a:pPr marL="127000" indent="-127000">
              <a:spcAft>
                <a:spcPts val="500"/>
              </a:spcAft>
              <a:buSzPct val="100000"/>
              <a:buChar char="·"/>
            </a:pPr>
            <a:r>
              <a:rPr lang="en-US" sz="1150" b="1" dirty="0">
                <a:solidFill>
                  <a:srgbClr val="262626"/>
                </a:solidFill>
                <a:latin typeface="Arial" pitchFamily="34" charset="0"/>
                <a:ea typeface="Arial" pitchFamily="34" charset="-122"/>
                <a:cs typeface="Arial" pitchFamily="34" charset="-120"/>
              </a:rPr>
              <a:t>Absence is not physical rejection: no per-species failure manifest is versioned (only As₂S₃ ×3 is documented, n_structures = 0)</a:t>
            </a:r>
            <a:endParaRPr lang="en-US" sz="1150" dirty="0"/>
          </a:p>
        </p:txBody>
      </p:sp>
      <p:sp>
        <p:nvSpPr>
          <p:cNvPr id="15" name="Shape 13"/>
          <p:cNvSpPr/>
          <p:nvPr/>
        </p:nvSpPr>
        <p:spPr>
          <a:xfrm>
            <a:off x="731520" y="4343400"/>
            <a:ext cx="7680960" cy="960120"/>
          </a:xfrm>
          <a:prstGeom prst="roundRect">
            <a:avLst>
              <a:gd name="adj" fmla="val 6667"/>
            </a:avLst>
          </a:prstGeom>
          <a:solidFill>
            <a:srgbClr val="F7F7F7"/>
          </a:solidFill>
          <a:ln w="15875">
            <a:solidFill>
              <a:srgbClr val="9E2A2B"/>
            </a:solidFill>
            <a:prstDash val="solid"/>
          </a:ln>
        </p:spPr>
      </p:sp>
      <p:sp>
        <p:nvSpPr>
          <p:cNvPr id="16" name="Text 14"/>
          <p:cNvSpPr/>
          <p:nvPr/>
        </p:nvSpPr>
        <p:spPr>
          <a:xfrm>
            <a:off x="914400" y="4343400"/>
            <a:ext cx="7315200" cy="960120"/>
          </a:xfrm>
          <a:prstGeom prst="rect">
            <a:avLst/>
          </a:prstGeom>
          <a:noFill/>
          <a:ln/>
        </p:spPr>
        <p:txBody>
          <a:bodyPr wrap="square" lIns="0" tIns="0" rIns="0" bIns="0" rtlCol="0" anchor="ctr"/>
          <a:lstStyle/>
          <a:p>
            <a:pPr indent="0" marL="0">
              <a:buNone/>
            </a:pPr>
            <a:r>
              <a:rPr lang="en-US" sz="1150" i="1" dirty="0">
                <a:solidFill>
                  <a:srgbClr val="9E2A2B"/>
                </a:solidFill>
                <a:latin typeface="Arial" pitchFamily="34" charset="0"/>
                <a:ea typeface="Arial" pitchFamily="34" charset="-122"/>
                <a:cs typeface="Arial" pitchFamily="34" charset="-120"/>
              </a:rPr>
              <a:t>PROVENANCE BOUNDARY — the post-hoc gate audit starts from the 47-species table; it does not explain the 91→47 gap</a:t>
            </a:r>
            <a:endParaRPr lang="en-US" sz="1150" dirty="0"/>
          </a:p>
        </p:txBody>
      </p:sp>
      <p:sp>
        <p:nvSpPr>
          <p:cNvPr id="18" name="Text 15"/>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19" name="Text 16"/>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Screen · ours</a:t>
            </a:r>
            <a:endParaRPr lang="en-US" sz="1100" dirty="0"/>
          </a:p>
        </p:txBody>
      </p:sp>
      <p:sp>
        <p:nvSpPr>
          <p:cNvPr id="3" name="Text 1"/>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Our pipeline: 273 run slots (91 × 3 labels) → 47 dopants with complete axes</a:t>
            </a:r>
            <a:endParaRPr lang="en-US" sz="2000" dirty="0"/>
          </a:p>
        </p:txBody>
      </p:sp>
      <p:sp>
        <p:nvSpPr>
          <p:cNvPr id="4" name="Shape 2"/>
          <p:cNvSpPr/>
          <p:nvPr/>
        </p:nvSpPr>
        <p:spPr>
          <a:xfrm>
            <a:off x="457200" y="1115568"/>
            <a:ext cx="8229600" cy="0"/>
          </a:xfrm>
          <a:prstGeom prst="line">
            <a:avLst/>
          </a:prstGeom>
          <a:noFill/>
          <a:ln w="12700">
            <a:solidFill>
              <a:srgbClr val="D9D9D9"/>
            </a:solidFill>
            <a:prstDash val="solid"/>
          </a:ln>
        </p:spPr>
      </p:sp>
      <p:sp>
        <p:nvSpPr>
          <p:cNvPr id="5" name="Shape 3"/>
          <p:cNvSpPr/>
          <p:nvPr/>
        </p:nvSpPr>
        <p:spPr>
          <a:xfrm>
            <a:off x="502920" y="1417320"/>
            <a:ext cx="2514600" cy="868680"/>
          </a:xfrm>
          <a:prstGeom prst="roundRect">
            <a:avLst>
              <a:gd name="adj" fmla="val 7368"/>
            </a:avLst>
          </a:prstGeom>
          <a:solidFill>
            <a:srgbClr val="EEF3F9"/>
          </a:solidFill>
          <a:ln w="15875">
            <a:solidFill>
              <a:srgbClr val="1F4E79"/>
            </a:solidFill>
            <a:prstDash val="solid"/>
          </a:ln>
        </p:spPr>
      </p:sp>
      <p:sp>
        <p:nvSpPr>
          <p:cNvPr id="6" name="Text 4"/>
          <p:cNvSpPr/>
          <p:nvPr/>
        </p:nvSpPr>
        <p:spPr>
          <a:xfrm>
            <a:off x="502920" y="1417320"/>
            <a:ext cx="2514600" cy="868680"/>
          </a:xfrm>
          <a:prstGeom prst="rect">
            <a:avLst/>
          </a:prstGeom>
          <a:noFill/>
          <a:ln/>
        </p:spPr>
        <p:txBody>
          <a:bodyPr wrap="square" lIns="0" tIns="0" rIns="0" bIns="0" rtlCol="0" anchor="ctr"/>
          <a:lstStyle/>
          <a:p>
            <a:pPr algn="ctr" indent="0" marL="0">
              <a:buNone/>
            </a:pPr>
            <a:r>
              <a:rPr lang="en-US" sz="1100" b="1" dirty="0">
                <a:solidFill>
                  <a:srgbClr val="1F4E79"/>
                </a:solidFill>
                <a:latin typeface="Arial" pitchFamily="34" charset="0"/>
                <a:ea typeface="Arial" pitchFamily="34" charset="-122"/>
                <a:cs typeface="Arial" pitchFamily="34" charset="-120"/>
              </a:rPr>
              <a:t>Tier 1 — UMA relax
</a:t>
            </a:r>
            <a:endParaRPr lang="en-US" sz="1100" dirty="0"/>
          </a:p>
          <a:p>
            <a:pPr algn="ctr" indent="0" marL="0">
              <a:buNone/>
            </a:pPr>
            <a:r>
              <a:rPr lang="en-US" sz="900" dirty="0">
                <a:solidFill>
                  <a:srgbClr val="1F4E79"/>
                </a:solidFill>
                <a:latin typeface="Arial" pitchFamily="34" charset="0"/>
                <a:ea typeface="Arial" pitchFamily="34" charset="-122"/>
                <a:cs typeface="Arial" pitchFamily="34" charset="-120"/>
              </a:rPr>
              <a:t>all 273</a:t>
            </a:r>
            <a:endParaRPr lang="en-US" sz="1100" dirty="0"/>
          </a:p>
        </p:txBody>
      </p:sp>
      <p:sp>
        <p:nvSpPr>
          <p:cNvPr id="7" name="Shape 5"/>
          <p:cNvSpPr/>
          <p:nvPr/>
        </p:nvSpPr>
        <p:spPr>
          <a:xfrm>
            <a:off x="3044952" y="1847088"/>
            <a:ext cx="219456" cy="0"/>
          </a:xfrm>
          <a:prstGeom prst="line">
            <a:avLst/>
          </a:prstGeom>
          <a:noFill/>
          <a:ln w="22225">
            <a:solidFill>
              <a:srgbClr val="7F7F7F"/>
            </a:solidFill>
            <a:prstDash val="solid"/>
            <a:tailEnd type="triangle"/>
          </a:ln>
        </p:spPr>
      </p:sp>
      <p:sp>
        <p:nvSpPr>
          <p:cNvPr id="8" name="Shape 6"/>
          <p:cNvSpPr/>
          <p:nvPr/>
        </p:nvSpPr>
        <p:spPr>
          <a:xfrm>
            <a:off x="3291840" y="1417320"/>
            <a:ext cx="2514600" cy="868680"/>
          </a:xfrm>
          <a:prstGeom prst="roundRect">
            <a:avLst>
              <a:gd name="adj" fmla="val 7368"/>
            </a:avLst>
          </a:prstGeom>
          <a:solidFill>
            <a:srgbClr val="EEF3F9"/>
          </a:solidFill>
          <a:ln w="15875">
            <a:solidFill>
              <a:srgbClr val="1F4E79"/>
            </a:solidFill>
            <a:prstDash val="solid"/>
          </a:ln>
        </p:spPr>
      </p:sp>
      <p:sp>
        <p:nvSpPr>
          <p:cNvPr id="9" name="Text 7"/>
          <p:cNvSpPr/>
          <p:nvPr/>
        </p:nvSpPr>
        <p:spPr>
          <a:xfrm>
            <a:off x="3291840" y="1417320"/>
            <a:ext cx="2514600" cy="868680"/>
          </a:xfrm>
          <a:prstGeom prst="rect">
            <a:avLst/>
          </a:prstGeom>
          <a:noFill/>
          <a:ln/>
        </p:spPr>
        <p:txBody>
          <a:bodyPr wrap="square" lIns="0" tIns="0" rIns="0" bIns="0" rtlCol="0" anchor="ctr"/>
          <a:lstStyle/>
          <a:p>
            <a:pPr algn="ctr" indent="0" marL="0">
              <a:buNone/>
            </a:pPr>
            <a:r>
              <a:rPr lang="en-US" sz="1100" b="1" dirty="0">
                <a:solidFill>
                  <a:srgbClr val="1F4E79"/>
                </a:solidFill>
                <a:latin typeface="Arial" pitchFamily="34" charset="0"/>
                <a:ea typeface="Arial" pitchFamily="34" charset="-122"/>
                <a:cs typeface="Arial" pitchFamily="34" charset="-120"/>
              </a:rPr>
              <a:t>Tier 2 — property battery
</a:t>
            </a:r>
            <a:endParaRPr lang="en-US" sz="1100" dirty="0"/>
          </a:p>
          <a:p>
            <a:pPr algn="ctr" indent="0" marL="0">
              <a:buNone/>
            </a:pPr>
            <a:r>
              <a:rPr lang="en-US" sz="900" dirty="0">
                <a:solidFill>
                  <a:srgbClr val="1F4E79"/>
                </a:solidFill>
                <a:latin typeface="Arial" pitchFamily="34" charset="0"/>
                <a:ea typeface="Arial" pitchFamily="34" charset="-122"/>
                <a:cs typeface="Arial" pitchFamily="34" charset="-120"/>
              </a:rPr>
              <a:t>EOS · window · transport · …</a:t>
            </a:r>
            <a:endParaRPr lang="en-US" sz="1100" dirty="0"/>
          </a:p>
        </p:txBody>
      </p:sp>
      <p:sp>
        <p:nvSpPr>
          <p:cNvPr id="10" name="Shape 8"/>
          <p:cNvSpPr/>
          <p:nvPr/>
        </p:nvSpPr>
        <p:spPr>
          <a:xfrm>
            <a:off x="5833872" y="1847088"/>
            <a:ext cx="219456" cy="0"/>
          </a:xfrm>
          <a:prstGeom prst="line">
            <a:avLst/>
          </a:prstGeom>
          <a:noFill/>
          <a:ln w="22225">
            <a:solidFill>
              <a:srgbClr val="7F7F7F"/>
            </a:solidFill>
            <a:prstDash val="solid"/>
            <a:tailEnd type="triangle"/>
          </a:ln>
        </p:spPr>
      </p:sp>
      <p:sp>
        <p:nvSpPr>
          <p:cNvPr id="11" name="Shape 9"/>
          <p:cNvSpPr/>
          <p:nvPr/>
        </p:nvSpPr>
        <p:spPr>
          <a:xfrm>
            <a:off x="6080760" y="1417320"/>
            <a:ext cx="2514600" cy="868680"/>
          </a:xfrm>
          <a:prstGeom prst="roundRect">
            <a:avLst>
              <a:gd name="adj" fmla="val 7368"/>
            </a:avLst>
          </a:prstGeom>
          <a:solidFill>
            <a:srgbClr val="1F4E79"/>
          </a:solidFill>
          <a:ln w="15875">
            <a:solidFill>
              <a:srgbClr val="1F4E79"/>
            </a:solidFill>
            <a:prstDash val="solid"/>
          </a:ln>
        </p:spPr>
      </p:sp>
      <p:sp>
        <p:nvSpPr>
          <p:cNvPr id="12" name="Text 10"/>
          <p:cNvSpPr/>
          <p:nvPr/>
        </p:nvSpPr>
        <p:spPr>
          <a:xfrm>
            <a:off x="6080760" y="1417320"/>
            <a:ext cx="2514600" cy="86868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Tier 3 — gates &amp; axes
</a:t>
            </a:r>
            <a:endParaRPr lang="en-US" sz="1100" dirty="0"/>
          </a:p>
          <a:p>
            <a:pPr algn="ctr" indent="0" marL="0">
              <a:buNone/>
            </a:pPr>
            <a:r>
              <a:rPr lang="en-US" sz="900" dirty="0">
                <a:solidFill>
                  <a:srgbClr val="FFFFFF"/>
                </a:solidFill>
                <a:latin typeface="Arial" pitchFamily="34" charset="0"/>
                <a:ea typeface="Arial" pitchFamily="34" charset="-122"/>
                <a:cs typeface="Arial" pitchFamily="34" charset="-120"/>
              </a:rPr>
              <a:t>5 gates · 14 axes</a:t>
            </a:r>
            <a:endParaRPr lang="en-US" sz="1100" dirty="0"/>
          </a:p>
        </p:txBody>
      </p:sp>
      <p:sp>
        <p:nvSpPr>
          <p:cNvPr id="13" name="Text 11"/>
          <p:cNvSpPr/>
          <p:nvPr/>
        </p:nvSpPr>
        <p:spPr>
          <a:xfrm>
            <a:off x="502920" y="2359152"/>
            <a:ext cx="8138160" cy="237744"/>
          </a:xfrm>
          <a:prstGeom prst="rect">
            <a:avLst/>
          </a:prstGeom>
          <a:noFill/>
          <a:ln/>
        </p:spPr>
        <p:txBody>
          <a:bodyPr wrap="square" lIns="0" tIns="0" rIns="0" bIns="0" rtlCol="0" anchor="ctr"/>
          <a:lstStyle/>
          <a:p>
            <a:pPr algn="ctr" indent="0" marL="0">
              <a:buNone/>
            </a:pPr>
            <a:r>
              <a:rPr lang="en-US" sz="950" i="1" dirty="0">
                <a:solidFill>
                  <a:srgbClr val="7F7F7F"/>
                </a:solidFill>
                <a:latin typeface="Arial" pitchFamily="34" charset="0"/>
                <a:ea typeface="Arial" pitchFamily="34" charset="-122"/>
                <a:cs typeface="Arial" pitchFamily="34" charset="-120"/>
              </a:rPr>
              <a:t>cost architecture: cheap first, expensive last — the data lineage behind these counts is on the previous slide</a:t>
            </a:r>
            <a:endParaRPr lang="en-US" sz="950" dirty="0"/>
          </a:p>
        </p:txBody>
      </p:sp>
      <p:sp>
        <p:nvSpPr>
          <p:cNvPr id="14" name="Text 12"/>
          <p:cNvSpPr/>
          <p:nvPr/>
        </p:nvSpPr>
        <p:spPr>
          <a:xfrm>
            <a:off x="502920" y="2697480"/>
            <a:ext cx="8138160" cy="777240"/>
          </a:xfrm>
          <a:prstGeom prst="rect">
            <a:avLst/>
          </a:prstGeom>
          <a:noFill/>
          <a:ln/>
        </p:spPr>
        <p:txBody>
          <a:bodyPr wrap="square" lIns="0" tIns="0" rIns="0" bIns="0" rtlCol="0" anchor="t"/>
          <a:lstStyle/>
          <a:p>
            <a:pPr marL="127000" indent="-127000">
              <a:spcAft>
                <a:spcPts val="500"/>
              </a:spcAft>
              <a:buSzPct val="100000"/>
              <a:buChar char="·"/>
            </a:pPr>
            <a:r>
              <a:rPr lang="en-US" sz="1100" b="1" dirty="0">
                <a:solidFill>
                  <a:srgbClr val="9E2A2B"/>
                </a:solidFill>
                <a:latin typeface="Arial" pitchFamily="34" charset="0"/>
                <a:ea typeface="Arial" pitchFamily="34" charset="-122"/>
                <a:cs typeface="Arial" pitchFamily="34" charset="-120"/>
              </a:rPr>
              <a:t>⚠ x002/x005/x010 are campaign labels: the canonical CSV records concentration = 0.25, so nominal x is unresolved; every Δ is still referenced to the same undoped host cell</a:t>
            </a:r>
            <a:endParaRPr lang="en-US" sz="1100" dirty="0"/>
          </a:p>
          <a:p>
            <a:pPr marL="127000" indent="-127000">
              <a:spcAft>
                <a:spcPts val="200"/>
              </a:spcAft>
              <a:buSzPct val="100000"/>
              <a:buChar char="·"/>
            </a:pPr>
            <a:r>
              <a:rPr lang="en-US" sz="1100" b="1" dirty="0">
                <a:solidFill>
                  <a:srgbClr val="262626"/>
                </a:solidFill>
                <a:latin typeface="Arial" pitchFamily="34" charset="0"/>
                <a:ea typeface="Arial" pitchFamily="34" charset="-122"/>
                <a:cs typeface="Arial" pitchFamily="34" charset="-120"/>
              </a:rPr>
              <a:t>Honesty header, shipped inside the data file (translated from its Korean original):</a:t>
            </a:r>
            <a:endParaRPr lang="en-US" sz="1100" dirty="0"/>
          </a:p>
        </p:txBody>
      </p:sp>
      <p:sp>
        <p:nvSpPr>
          <p:cNvPr id="15" name="Shape 13"/>
          <p:cNvSpPr/>
          <p:nvPr/>
        </p:nvSpPr>
        <p:spPr>
          <a:xfrm>
            <a:off x="731520" y="3474720"/>
            <a:ext cx="7680960" cy="960120"/>
          </a:xfrm>
          <a:prstGeom prst="roundRect">
            <a:avLst>
              <a:gd name="adj" fmla="val 6667"/>
            </a:avLst>
          </a:prstGeom>
          <a:solidFill>
            <a:srgbClr val="F7F7F7"/>
          </a:solidFill>
          <a:ln w="15875">
            <a:solidFill>
              <a:srgbClr val="9E2A2B"/>
            </a:solidFill>
            <a:prstDash val="solid"/>
          </a:ln>
        </p:spPr>
      </p:sp>
      <p:sp>
        <p:nvSpPr>
          <p:cNvPr id="16" name="Text 14"/>
          <p:cNvSpPr/>
          <p:nvPr/>
        </p:nvSpPr>
        <p:spPr>
          <a:xfrm>
            <a:off x="914400" y="3566160"/>
            <a:ext cx="7315200" cy="777240"/>
          </a:xfrm>
          <a:prstGeom prst="rect">
            <a:avLst/>
          </a:prstGeom>
          <a:noFill/>
          <a:ln/>
        </p:spPr>
        <p:txBody>
          <a:bodyPr wrap="square" lIns="0" tIns="0" rIns="0" bIns="0" rtlCol="0" anchor="ctr"/>
          <a:lstStyle/>
          <a:p>
            <a:pPr indent="0" marL="0">
              <a:buNone/>
            </a:pPr>
            <a:r>
              <a:rPr lang="en-US" sz="1150" i="1" dirty="0">
                <a:solidFill>
                  <a:srgbClr val="9E2A2B"/>
                </a:solidFill>
                <a:latin typeface="Arial" pitchFamily="34" charset="0"/>
                <a:ea typeface="Arial" pitchFamily="34" charset="-122"/>
                <a:cs typeface="Arial" pitchFamily="34" charset="-120"/>
              </a:rPr>
              <a:t>“Pass counts are NOT discovery metrics. This is a curated 47-dopant pool re-expressed through</a:t>
            </a:r>
            <a:endParaRPr lang="en-US" sz="1150" dirty="0"/>
          </a:p>
          <a:p>
            <a:pPr indent="0" marL="0">
              <a:buNone/>
            </a:pPr>
            <a:r>
              <a:rPr lang="en-US" sz="1150" i="1" dirty="0">
                <a:solidFill>
                  <a:srgbClr val="9E2A2B"/>
                </a:solidFill>
                <a:latin typeface="Arial" pitchFamily="34" charset="0"/>
                <a:ea typeface="Arial" pitchFamily="34" charset="-122"/>
                <a:cs typeface="Arial" pitchFamily="34" charset="-120"/>
              </a:rPr>
              <a:t>literature-standard gates — not ‘we filtered N thousands’.”</a:t>
            </a:r>
            <a:endParaRPr lang="en-US" sz="1150" dirty="0"/>
          </a:p>
        </p:txBody>
      </p:sp>
      <p:sp>
        <p:nvSpPr>
          <p:cNvPr id="17" name="Shape 15"/>
          <p:cNvSpPr/>
          <p:nvPr/>
        </p:nvSpPr>
        <p:spPr>
          <a:xfrm>
            <a:off x="731520" y="4617720"/>
            <a:ext cx="7680960" cy="1234440"/>
          </a:xfrm>
          <a:prstGeom prst="rect">
            <a:avLst/>
          </a:prstGeom>
          <a:solidFill>
            <a:srgbClr val="F7F7F7"/>
          </a:solidFill>
          <a:ln w="12700">
            <a:solidFill>
              <a:srgbClr val="7F7F7F"/>
            </a:solidFill>
            <a:prstDash val="dash"/>
          </a:ln>
        </p:spPr>
      </p:sp>
      <p:sp>
        <p:nvSpPr>
          <p:cNvPr id="18" name="Text 16"/>
          <p:cNvSpPr/>
          <p:nvPr/>
        </p:nvSpPr>
        <p:spPr>
          <a:xfrm>
            <a:off x="731520" y="4823460"/>
            <a:ext cx="7680960" cy="822960"/>
          </a:xfrm>
          <a:prstGeom prst="rect">
            <a:avLst/>
          </a:prstGeom>
          <a:noFill/>
          <a:ln/>
        </p:spPr>
        <p:txBody>
          <a:bodyPr wrap="square" lIns="0" tIns="0" rIns="0" bIns="0" rtlCol="0" anchor="ctr"/>
          <a:lstStyle/>
          <a:p>
            <a:pPr algn="ctr" indent="0" marL="0">
              <a:buNone/>
            </a:pPr>
            <a:r>
              <a:rPr lang="en-US" sz="1100" b="1" dirty="0">
                <a:solidFill>
                  <a:srgbClr val="7F7F7F"/>
                </a:solidFill>
                <a:latin typeface="Arial" pitchFamily="34" charset="0"/>
                <a:ea typeface="Arial" pitchFamily="34" charset="-122"/>
                <a:cs typeface="Arial" pitchFamily="34" charset="-120"/>
              </a:rPr>
              <a:t>PASTE SCREENSHOT
</a:t>
            </a:r>
            <a:endParaRPr lang="en-US" sz="1100" dirty="0"/>
          </a:p>
          <a:p>
            <a:pPr algn="ctr" indent="0" marL="0">
              <a:buNone/>
            </a:pPr>
            <a:r>
              <a:rPr lang="en-US" sz="900" dirty="0">
                <a:solidFill>
                  <a:srgbClr val="7F7F7F"/>
                </a:solidFill>
                <a:latin typeface="Arial" pitchFamily="34" charset="0"/>
                <a:ea typeface="Arial" pitchFamily="34" charset="-122"/>
                <a:cs typeface="Arial" pitchFamily="34" charset="-120"/>
              </a:rPr>
              <a:t>web app  /cascade  (funnel card area)</a:t>
            </a:r>
            <a:endParaRPr lang="en-US" sz="1100" dirty="0"/>
          </a:p>
        </p:txBody>
      </p:sp>
      <p:sp>
        <p:nvSpPr>
          <p:cNvPr id="19" name="Text 17"/>
          <p:cNvSpPr/>
          <p:nvPr/>
        </p:nvSpPr>
        <p:spPr>
          <a:xfrm>
            <a:off x="731520" y="5870448"/>
            <a:ext cx="7680960" cy="274320"/>
          </a:xfrm>
          <a:prstGeom prst="rect">
            <a:avLst/>
          </a:prstGeom>
          <a:noFill/>
          <a:ln/>
        </p:spPr>
        <p:txBody>
          <a:bodyPr wrap="square" lIns="0" tIns="0" rIns="0" bIns="0" rtlCol="0" anchor="ctr"/>
          <a:lstStyle/>
          <a:p>
            <a:pPr algn="ctr" indent="0" marL="0">
              <a:buNone/>
            </a:pPr>
            <a:r>
              <a:rPr lang="en-US" sz="850" i="1" dirty="0">
                <a:solidFill>
                  <a:srgbClr val="7F7F7F"/>
                </a:solidFill>
                <a:latin typeface="Arial" pitchFamily="34" charset="0"/>
                <a:ea typeface="Arial" pitchFamily="34" charset="-122"/>
                <a:cs typeface="Arial" pitchFamily="34" charset="-120"/>
              </a:rPr>
              <a:t>Live cascade view (web app, synced to db/)</a:t>
            </a:r>
            <a:endParaRPr lang="en-US" sz="850" dirty="0"/>
          </a:p>
        </p:txBody>
      </p:sp>
      <p:sp>
        <p:nvSpPr>
          <p:cNvPr id="21" name="Text 18"/>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22" name="Text 19"/>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Screen · ours</a:t>
            </a:r>
            <a:endParaRPr lang="en-US" sz="1100" dirty="0"/>
          </a:p>
        </p:txBody>
      </p:sp>
      <p:sp>
        <p:nvSpPr>
          <p:cNvPr id="3" name="Text 1"/>
          <p:cNvSpPr/>
          <p:nvPr/>
        </p:nvSpPr>
        <p:spPr>
          <a:xfrm>
            <a:off x="3840480" y="219456"/>
            <a:ext cx="4846320" cy="292608"/>
          </a:xfrm>
          <a:prstGeom prst="rect">
            <a:avLst/>
          </a:prstGeom>
          <a:noFill/>
          <a:ln/>
        </p:spPr>
        <p:txBody>
          <a:bodyPr wrap="square" lIns="0" tIns="0" rIns="0" bIns="0" rtlCol="0" anchor="ctr"/>
          <a:lstStyle/>
          <a:p>
            <a:pPr algn="r" indent="0" marL="0">
              <a:buNone/>
            </a:pPr>
            <a:r>
              <a:rPr lang="en-US" sz="850" i="1" dirty="0">
                <a:solidFill>
                  <a:srgbClr val="7F7F7F"/>
                </a:solidFill>
                <a:latin typeface="Arial" pitchFamily="34" charset="0"/>
                <a:ea typeface="Arial" pitchFamily="34" charset="-122"/>
                <a:cs typeface="Arial" pitchFamily="34" charset="-120"/>
              </a:rPr>
              <a:t>source: cascade_seminar_scorecard_47.csv (groups, first-stop, deep-DFT)</a:t>
            </a:r>
            <a:endParaRPr lang="en-US" sz="850" dirty="0"/>
          </a:p>
        </p:txBody>
      </p:sp>
      <p:sp>
        <p:nvSpPr>
          <p:cNvPr id="4" name="Text 2"/>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Every compound in this campaign, classified</a:t>
            </a:r>
            <a:endParaRPr lang="en-US" sz="2000" dirty="0"/>
          </a:p>
        </p:txBody>
      </p:sp>
      <p:sp>
        <p:nvSpPr>
          <p:cNvPr id="5" name="Shape 3"/>
          <p:cNvSpPr/>
          <p:nvPr/>
        </p:nvSpPr>
        <p:spPr>
          <a:xfrm>
            <a:off x="457200" y="1115568"/>
            <a:ext cx="8229600" cy="0"/>
          </a:xfrm>
          <a:prstGeom prst="line">
            <a:avLst/>
          </a:prstGeom>
          <a:noFill/>
          <a:ln w="12700">
            <a:solidFill>
              <a:srgbClr val="D9D9D9"/>
            </a:solidFill>
            <a:prstDash val="solid"/>
          </a:ln>
        </p:spPr>
      </p:sp>
      <p:sp>
        <p:nvSpPr>
          <p:cNvPr id="6" name="Shape 4"/>
          <p:cNvSpPr/>
          <p:nvPr/>
        </p:nvSpPr>
        <p:spPr>
          <a:xfrm>
            <a:off x="502920" y="1417320"/>
            <a:ext cx="2880360" cy="3200400"/>
          </a:xfrm>
          <a:prstGeom prst="roundRect">
            <a:avLst>
              <a:gd name="adj" fmla="val 1905"/>
            </a:avLst>
          </a:prstGeom>
          <a:solidFill>
            <a:srgbClr val="EEF3F9"/>
          </a:solidFill>
          <a:ln w="12700">
            <a:solidFill>
              <a:srgbClr val="1F4E79"/>
            </a:solidFill>
            <a:prstDash val="solid"/>
          </a:ln>
        </p:spPr>
      </p:sp>
      <p:sp>
        <p:nvSpPr>
          <p:cNvPr id="7" name="Text 5"/>
          <p:cNvSpPr/>
          <p:nvPr/>
        </p:nvSpPr>
        <p:spPr>
          <a:xfrm>
            <a:off x="612648" y="1472184"/>
            <a:ext cx="2660904" cy="219456"/>
          </a:xfrm>
          <a:prstGeom prst="rect">
            <a:avLst/>
          </a:prstGeom>
          <a:noFill/>
          <a:ln/>
        </p:spPr>
        <p:txBody>
          <a:bodyPr wrap="square" lIns="0" tIns="0" rIns="0" bIns="0" rtlCol="0" anchor="ctr"/>
          <a:lstStyle/>
          <a:p>
            <a:pPr indent="0" marL="0">
              <a:buNone/>
            </a:pPr>
            <a:r>
              <a:rPr lang="en-US" sz="950" b="1" dirty="0">
                <a:solidFill>
                  <a:srgbClr val="7F7F7F"/>
                </a:solidFill>
                <a:latin typeface="Arial" pitchFamily="34" charset="0"/>
                <a:ea typeface="Arial" pitchFamily="34" charset="-122"/>
                <a:cs typeface="Arial" pitchFamily="34" charset="-120"/>
              </a:rPr>
              <a:t>Transition metal (23)</a:t>
            </a:r>
            <a:endParaRPr lang="en-US" sz="950" dirty="0"/>
          </a:p>
        </p:txBody>
      </p:sp>
      <p:sp>
        <p:nvSpPr>
          <p:cNvPr id="8" name="Text 6"/>
          <p:cNvSpPr/>
          <p:nvPr/>
        </p:nvSpPr>
        <p:spPr>
          <a:xfrm>
            <a:off x="612648" y="1691640"/>
            <a:ext cx="2660904" cy="2852928"/>
          </a:xfrm>
          <a:prstGeom prst="rect">
            <a:avLst/>
          </a:prstGeom>
          <a:noFill/>
          <a:ln/>
        </p:spPr>
        <p:txBody>
          <a:bodyPr wrap="square" lIns="0" tIns="0" rIns="0" bIns="0" rtlCol="0" anchor="t"/>
          <a:lstStyle/>
          <a:p>
            <a:pPr indent="0" marL="0">
              <a:buNone/>
            </a:pPr>
            <a:r>
              <a:rPr lang="en-US" sz="950" b="1" dirty="0">
                <a:solidFill>
                  <a:srgbClr val="1F4E79"/>
                </a:solidFill>
                <a:latin typeface="Arial" pitchFamily="34" charset="0"/>
                <a:ea typeface="Arial" pitchFamily="34" charset="-122"/>
                <a:cs typeface="Arial" pitchFamily="34" charset="-120"/>
              </a:rPr>
              <a:t>Ag₂O</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CoO</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Cr₂O₃</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CrO₃</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Cu₂O</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Fe₂O₃</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HfO₂</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MnO</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MoO₃</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Nb₂O₅</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NiO</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Sc₂O₃</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ScF₃</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Ta₂O₅</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TiF₄</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TiO₂</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V₂O₅</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b="1" dirty="0">
                <a:solidFill>
                  <a:srgbClr val="1F4E79"/>
                </a:solidFill>
                <a:latin typeface="Arial" pitchFamily="34" charset="0"/>
                <a:ea typeface="Arial" pitchFamily="34" charset="-122"/>
                <a:cs typeface="Arial" pitchFamily="34" charset="-120"/>
              </a:rPr>
              <a:t>WO₃</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Y₂O₃</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YF₃</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b="1" dirty="0">
                <a:solidFill>
                  <a:srgbClr val="1F4E79"/>
                </a:solidFill>
                <a:latin typeface="Arial" pitchFamily="34" charset="0"/>
                <a:ea typeface="Arial" pitchFamily="34" charset="-122"/>
                <a:cs typeface="Arial" pitchFamily="34" charset="-120"/>
              </a:rPr>
              <a:t>ZnO</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ZrF₄</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ZrO₂</a:t>
            </a:r>
            <a:endParaRPr lang="en-US" sz="950" dirty="0"/>
          </a:p>
        </p:txBody>
      </p:sp>
      <p:sp>
        <p:nvSpPr>
          <p:cNvPr id="9" name="Shape 7"/>
          <p:cNvSpPr/>
          <p:nvPr/>
        </p:nvSpPr>
        <p:spPr>
          <a:xfrm>
            <a:off x="3566160" y="1417320"/>
            <a:ext cx="5074920" cy="1170432"/>
          </a:xfrm>
          <a:prstGeom prst="roundRect">
            <a:avLst>
              <a:gd name="adj" fmla="val 4688"/>
            </a:avLst>
          </a:prstGeom>
          <a:solidFill>
            <a:srgbClr val="FFFFFF"/>
          </a:solidFill>
          <a:ln w="12700">
            <a:solidFill>
              <a:srgbClr val="1F4E79"/>
            </a:solidFill>
            <a:prstDash val="solid"/>
          </a:ln>
        </p:spPr>
      </p:sp>
      <p:sp>
        <p:nvSpPr>
          <p:cNvPr id="10" name="Text 8"/>
          <p:cNvSpPr/>
          <p:nvPr/>
        </p:nvSpPr>
        <p:spPr>
          <a:xfrm>
            <a:off x="3675888" y="1472184"/>
            <a:ext cx="4855464" cy="219456"/>
          </a:xfrm>
          <a:prstGeom prst="rect">
            <a:avLst/>
          </a:prstGeom>
          <a:noFill/>
          <a:ln/>
        </p:spPr>
        <p:txBody>
          <a:bodyPr wrap="square" lIns="0" tIns="0" rIns="0" bIns="0" rtlCol="0" anchor="ctr"/>
          <a:lstStyle/>
          <a:p>
            <a:pPr indent="0" marL="0">
              <a:buNone/>
            </a:pPr>
            <a:r>
              <a:rPr lang="en-US" sz="950" b="1" dirty="0">
                <a:solidFill>
                  <a:srgbClr val="7F7F7F"/>
                </a:solidFill>
                <a:latin typeface="Arial" pitchFamily="34" charset="0"/>
                <a:ea typeface="Arial" pitchFamily="34" charset="-122"/>
                <a:cs typeface="Arial" pitchFamily="34" charset="-120"/>
              </a:rPr>
              <a:t>Main group (9)</a:t>
            </a:r>
            <a:endParaRPr lang="en-US" sz="950" dirty="0"/>
          </a:p>
        </p:txBody>
      </p:sp>
      <p:sp>
        <p:nvSpPr>
          <p:cNvPr id="11" name="Text 9"/>
          <p:cNvSpPr/>
          <p:nvPr/>
        </p:nvSpPr>
        <p:spPr>
          <a:xfrm>
            <a:off x="3675888" y="1691640"/>
            <a:ext cx="4855464" cy="822960"/>
          </a:xfrm>
          <a:prstGeom prst="rect">
            <a:avLst/>
          </a:prstGeom>
          <a:noFill/>
          <a:ln/>
        </p:spPr>
        <p:txBody>
          <a:bodyPr wrap="square" lIns="0" tIns="0" rIns="0" bIns="0" rtlCol="0" anchor="t"/>
          <a:lstStyle/>
          <a:p>
            <a:pPr indent="0" marL="0">
              <a:buNone/>
            </a:pPr>
            <a:r>
              <a:rPr lang="en-US" sz="950" dirty="0">
                <a:solidFill>
                  <a:srgbClr val="262626"/>
                </a:solidFill>
                <a:latin typeface="Arial" pitchFamily="34" charset="0"/>
                <a:ea typeface="Arial" pitchFamily="34" charset="-122"/>
                <a:cs typeface="Arial" pitchFamily="34" charset="-120"/>
              </a:rPr>
              <a:t>Al₂O₃</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AlF₃</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B₂O₃†</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Ga₂O₃</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GeO₂</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In₂O₃</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Sb₂O₅</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b="1" dirty="0">
                <a:solidFill>
                  <a:srgbClr val="1F4E79"/>
                </a:solidFill>
                <a:latin typeface="Arial" pitchFamily="34" charset="0"/>
                <a:ea typeface="Arial" pitchFamily="34" charset="-122"/>
                <a:cs typeface="Arial" pitchFamily="34" charset="-120"/>
              </a:rPr>
              <a:t>SiO₂</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b="1" dirty="0">
                <a:solidFill>
                  <a:srgbClr val="1F4E79"/>
                </a:solidFill>
                <a:latin typeface="Arial" pitchFamily="34" charset="0"/>
                <a:ea typeface="Arial" pitchFamily="34" charset="-122"/>
                <a:cs typeface="Arial" pitchFamily="34" charset="-120"/>
              </a:rPr>
              <a:t>SnO₂</a:t>
            </a:r>
            <a:endParaRPr lang="en-US" sz="950" dirty="0"/>
          </a:p>
        </p:txBody>
      </p:sp>
      <p:sp>
        <p:nvSpPr>
          <p:cNvPr id="12" name="Shape 10"/>
          <p:cNvSpPr/>
          <p:nvPr/>
        </p:nvSpPr>
        <p:spPr>
          <a:xfrm>
            <a:off x="3566160" y="2724912"/>
            <a:ext cx="2468880" cy="960120"/>
          </a:xfrm>
          <a:prstGeom prst="roundRect">
            <a:avLst>
              <a:gd name="adj" fmla="val 5714"/>
            </a:avLst>
          </a:prstGeom>
          <a:solidFill>
            <a:srgbClr val="FFFFFF"/>
          </a:solidFill>
          <a:ln w="12700">
            <a:solidFill>
              <a:srgbClr val="1F4E79"/>
            </a:solidFill>
            <a:prstDash val="solid"/>
          </a:ln>
        </p:spPr>
      </p:sp>
      <p:sp>
        <p:nvSpPr>
          <p:cNvPr id="13" name="Text 11"/>
          <p:cNvSpPr/>
          <p:nvPr/>
        </p:nvSpPr>
        <p:spPr>
          <a:xfrm>
            <a:off x="3675888" y="2779776"/>
            <a:ext cx="2249424" cy="219456"/>
          </a:xfrm>
          <a:prstGeom prst="rect">
            <a:avLst/>
          </a:prstGeom>
          <a:noFill/>
          <a:ln/>
        </p:spPr>
        <p:txBody>
          <a:bodyPr wrap="square" lIns="0" tIns="0" rIns="0" bIns="0" rtlCol="0" anchor="ctr"/>
          <a:lstStyle/>
          <a:p>
            <a:pPr indent="0" marL="0">
              <a:buNone/>
            </a:pPr>
            <a:r>
              <a:rPr lang="en-US" sz="950" b="1" dirty="0">
                <a:solidFill>
                  <a:srgbClr val="7F7F7F"/>
                </a:solidFill>
                <a:latin typeface="Arial" pitchFamily="34" charset="0"/>
                <a:ea typeface="Arial" pitchFamily="34" charset="-122"/>
                <a:cs typeface="Arial" pitchFamily="34" charset="-120"/>
              </a:rPr>
              <a:t>Alkaline earth (6)</a:t>
            </a:r>
            <a:endParaRPr lang="en-US" sz="950" dirty="0"/>
          </a:p>
        </p:txBody>
      </p:sp>
      <p:sp>
        <p:nvSpPr>
          <p:cNvPr id="14" name="Text 12"/>
          <p:cNvSpPr/>
          <p:nvPr/>
        </p:nvSpPr>
        <p:spPr>
          <a:xfrm>
            <a:off x="3675888" y="2999232"/>
            <a:ext cx="2249424" cy="612648"/>
          </a:xfrm>
          <a:prstGeom prst="rect">
            <a:avLst/>
          </a:prstGeom>
          <a:noFill/>
          <a:ln/>
        </p:spPr>
        <p:txBody>
          <a:bodyPr wrap="square" lIns="0" tIns="0" rIns="0" bIns="0" rtlCol="0" anchor="t"/>
          <a:lstStyle/>
          <a:p>
            <a:pPr indent="0" marL="0">
              <a:buNone/>
            </a:pPr>
            <a:r>
              <a:rPr lang="en-US" sz="950" dirty="0">
                <a:solidFill>
                  <a:srgbClr val="262626"/>
                </a:solidFill>
                <a:latin typeface="Arial" pitchFamily="34" charset="0"/>
                <a:ea typeface="Arial" pitchFamily="34" charset="-122"/>
                <a:cs typeface="Arial" pitchFamily="34" charset="-120"/>
              </a:rPr>
              <a:t>BaO</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b="1" dirty="0">
                <a:solidFill>
                  <a:srgbClr val="1F4E79"/>
                </a:solidFill>
                <a:latin typeface="Arial" pitchFamily="34" charset="0"/>
                <a:ea typeface="Arial" pitchFamily="34" charset="-122"/>
                <a:cs typeface="Arial" pitchFamily="34" charset="-120"/>
              </a:rPr>
              <a:t>CaF₂</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b="1" dirty="0">
                <a:solidFill>
                  <a:srgbClr val="1F4E79"/>
                </a:solidFill>
                <a:latin typeface="Arial" pitchFamily="34" charset="0"/>
                <a:ea typeface="Arial" pitchFamily="34" charset="-122"/>
                <a:cs typeface="Arial" pitchFamily="34" charset="-120"/>
              </a:rPr>
              <a:t>CaO</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b="1" dirty="0">
                <a:solidFill>
                  <a:srgbClr val="1F4E79"/>
                </a:solidFill>
                <a:latin typeface="Arial" pitchFamily="34" charset="0"/>
                <a:ea typeface="Arial" pitchFamily="34" charset="-122"/>
                <a:cs typeface="Arial" pitchFamily="34" charset="-120"/>
              </a:rPr>
              <a:t>MgF₂</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b="1" dirty="0">
                <a:solidFill>
                  <a:srgbClr val="1F4E79"/>
                </a:solidFill>
                <a:latin typeface="Arial" pitchFamily="34" charset="0"/>
                <a:ea typeface="Arial" pitchFamily="34" charset="-122"/>
                <a:cs typeface="Arial" pitchFamily="34" charset="-120"/>
              </a:rPr>
              <a:t>MgO</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SrO</a:t>
            </a:r>
            <a:endParaRPr lang="en-US" sz="950" dirty="0"/>
          </a:p>
        </p:txBody>
      </p:sp>
      <p:sp>
        <p:nvSpPr>
          <p:cNvPr id="15" name="Shape 13"/>
          <p:cNvSpPr/>
          <p:nvPr/>
        </p:nvSpPr>
        <p:spPr>
          <a:xfrm>
            <a:off x="6172200" y="2724912"/>
            <a:ext cx="2468880" cy="960120"/>
          </a:xfrm>
          <a:prstGeom prst="roundRect">
            <a:avLst>
              <a:gd name="adj" fmla="val 5714"/>
            </a:avLst>
          </a:prstGeom>
          <a:solidFill>
            <a:srgbClr val="FFFFFF"/>
          </a:solidFill>
          <a:ln w="12700">
            <a:solidFill>
              <a:srgbClr val="1F4E79"/>
            </a:solidFill>
            <a:prstDash val="solid"/>
          </a:ln>
        </p:spPr>
      </p:sp>
      <p:sp>
        <p:nvSpPr>
          <p:cNvPr id="16" name="Text 14"/>
          <p:cNvSpPr/>
          <p:nvPr/>
        </p:nvSpPr>
        <p:spPr>
          <a:xfrm>
            <a:off x="6281928" y="2779776"/>
            <a:ext cx="2249424" cy="219456"/>
          </a:xfrm>
          <a:prstGeom prst="rect">
            <a:avLst/>
          </a:prstGeom>
          <a:noFill/>
          <a:ln/>
        </p:spPr>
        <p:txBody>
          <a:bodyPr wrap="square" lIns="0" tIns="0" rIns="0" bIns="0" rtlCol="0" anchor="ctr"/>
          <a:lstStyle/>
          <a:p>
            <a:pPr indent="0" marL="0">
              <a:buNone/>
            </a:pPr>
            <a:r>
              <a:rPr lang="en-US" sz="950" b="1" dirty="0">
                <a:solidFill>
                  <a:srgbClr val="7F7F7F"/>
                </a:solidFill>
                <a:latin typeface="Arial" pitchFamily="34" charset="0"/>
                <a:ea typeface="Arial" pitchFamily="34" charset="-122"/>
                <a:cs typeface="Arial" pitchFamily="34" charset="-120"/>
              </a:rPr>
              <a:t>Lanthanide (6)</a:t>
            </a:r>
            <a:endParaRPr lang="en-US" sz="950" dirty="0"/>
          </a:p>
        </p:txBody>
      </p:sp>
      <p:sp>
        <p:nvSpPr>
          <p:cNvPr id="17" name="Text 15"/>
          <p:cNvSpPr/>
          <p:nvPr/>
        </p:nvSpPr>
        <p:spPr>
          <a:xfrm>
            <a:off x="6281928" y="2999232"/>
            <a:ext cx="2249424" cy="612648"/>
          </a:xfrm>
          <a:prstGeom prst="rect">
            <a:avLst/>
          </a:prstGeom>
          <a:noFill/>
          <a:ln/>
        </p:spPr>
        <p:txBody>
          <a:bodyPr wrap="square" lIns="0" tIns="0" rIns="0" bIns="0" rtlCol="0" anchor="t"/>
          <a:lstStyle/>
          <a:p>
            <a:pPr indent="0" marL="0">
              <a:buNone/>
            </a:pPr>
            <a:r>
              <a:rPr lang="en-US" sz="950" dirty="0">
                <a:solidFill>
                  <a:srgbClr val="262626"/>
                </a:solidFill>
                <a:latin typeface="Arial" pitchFamily="34" charset="0"/>
                <a:ea typeface="Arial" pitchFamily="34" charset="-122"/>
                <a:cs typeface="Arial" pitchFamily="34" charset="-120"/>
              </a:rPr>
              <a:t>Gd₂O₃</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La₂O₃</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LaF₃</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Nd₂O₃†</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NdF₃</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Sm₂O₃</a:t>
            </a:r>
            <a:endParaRPr lang="en-US" sz="950" dirty="0"/>
          </a:p>
        </p:txBody>
      </p:sp>
      <p:sp>
        <p:nvSpPr>
          <p:cNvPr id="18" name="Shape 16"/>
          <p:cNvSpPr/>
          <p:nvPr/>
        </p:nvSpPr>
        <p:spPr>
          <a:xfrm>
            <a:off x="3566160" y="3822192"/>
            <a:ext cx="2468880" cy="795528"/>
          </a:xfrm>
          <a:prstGeom prst="roundRect">
            <a:avLst>
              <a:gd name="adj" fmla="val 6897"/>
            </a:avLst>
          </a:prstGeom>
          <a:solidFill>
            <a:srgbClr val="FFFFFF"/>
          </a:solidFill>
          <a:ln w="12700">
            <a:solidFill>
              <a:srgbClr val="1F4E79"/>
            </a:solidFill>
            <a:prstDash val="solid"/>
          </a:ln>
        </p:spPr>
      </p:sp>
      <p:sp>
        <p:nvSpPr>
          <p:cNvPr id="19" name="Text 17"/>
          <p:cNvSpPr/>
          <p:nvPr/>
        </p:nvSpPr>
        <p:spPr>
          <a:xfrm>
            <a:off x="3675888" y="3877056"/>
            <a:ext cx="2249424" cy="219456"/>
          </a:xfrm>
          <a:prstGeom prst="rect">
            <a:avLst/>
          </a:prstGeom>
          <a:noFill/>
          <a:ln/>
        </p:spPr>
        <p:txBody>
          <a:bodyPr wrap="square" lIns="0" tIns="0" rIns="0" bIns="0" rtlCol="0" anchor="ctr"/>
          <a:lstStyle/>
          <a:p>
            <a:pPr indent="0" marL="0">
              <a:buNone/>
            </a:pPr>
            <a:r>
              <a:rPr lang="en-US" sz="950" b="1" dirty="0">
                <a:solidFill>
                  <a:srgbClr val="7F7F7F"/>
                </a:solidFill>
                <a:latin typeface="Arial" pitchFamily="34" charset="0"/>
                <a:ea typeface="Arial" pitchFamily="34" charset="-122"/>
                <a:cs typeface="Arial" pitchFamily="34" charset="-120"/>
              </a:rPr>
              <a:t>Alkali (3)</a:t>
            </a:r>
            <a:endParaRPr lang="en-US" sz="950" dirty="0"/>
          </a:p>
        </p:txBody>
      </p:sp>
      <p:sp>
        <p:nvSpPr>
          <p:cNvPr id="20" name="Text 18"/>
          <p:cNvSpPr/>
          <p:nvPr/>
        </p:nvSpPr>
        <p:spPr>
          <a:xfrm>
            <a:off x="3675888" y="4096512"/>
            <a:ext cx="2249424" cy="448056"/>
          </a:xfrm>
          <a:prstGeom prst="rect">
            <a:avLst/>
          </a:prstGeom>
          <a:noFill/>
          <a:ln/>
        </p:spPr>
        <p:txBody>
          <a:bodyPr wrap="square" lIns="0" tIns="0" rIns="0" bIns="0" rtlCol="0" anchor="t"/>
          <a:lstStyle/>
          <a:p>
            <a:pPr indent="0" marL="0">
              <a:buNone/>
            </a:pPr>
            <a:r>
              <a:rPr lang="en-US" sz="950" b="1" dirty="0">
                <a:solidFill>
                  <a:srgbClr val="1F4E79"/>
                </a:solidFill>
                <a:latin typeface="Arial" pitchFamily="34" charset="0"/>
                <a:ea typeface="Arial" pitchFamily="34" charset="-122"/>
                <a:cs typeface="Arial" pitchFamily="34" charset="-120"/>
              </a:rPr>
              <a:t>Li₂O</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b="1" dirty="0">
                <a:solidFill>
                  <a:srgbClr val="1F4E79"/>
                </a:solidFill>
                <a:latin typeface="Arial" pitchFamily="34" charset="0"/>
                <a:ea typeface="Arial" pitchFamily="34" charset="-122"/>
                <a:cs typeface="Arial" pitchFamily="34" charset="-120"/>
              </a:rPr>
              <a:t>LiF</a:t>
            </a:r>
            <a:pPr indent="0" marL="0">
              <a:buNone/>
            </a:pPr>
            <a:r>
              <a:rPr lang="en-US" sz="950" dirty="0">
                <a:solidFill>
                  <a:srgbClr val="D9D9D9"/>
                </a:solidFill>
                <a:latin typeface="Arial" pitchFamily="34" charset="0"/>
                <a:ea typeface="Arial" pitchFamily="34" charset="-122"/>
                <a:cs typeface="Arial" pitchFamily="34" charset="-120"/>
              </a:rPr>
              <a:t>  ·  </a:t>
            </a:r>
            <a:pPr indent="0" marL="0">
              <a:buNone/>
            </a:pPr>
            <a:r>
              <a:rPr lang="en-US" sz="950" dirty="0">
                <a:solidFill>
                  <a:srgbClr val="262626"/>
                </a:solidFill>
                <a:latin typeface="Arial" pitchFamily="34" charset="0"/>
                <a:ea typeface="Arial" pitchFamily="34" charset="-122"/>
                <a:cs typeface="Arial" pitchFamily="34" charset="-120"/>
              </a:rPr>
              <a:t>Na₂O</a:t>
            </a:r>
            <a:endParaRPr lang="en-US" sz="950" dirty="0"/>
          </a:p>
        </p:txBody>
      </p:sp>
      <p:sp>
        <p:nvSpPr>
          <p:cNvPr id="21" name="Text 19"/>
          <p:cNvSpPr/>
          <p:nvPr/>
        </p:nvSpPr>
        <p:spPr>
          <a:xfrm>
            <a:off x="6172200" y="3886200"/>
            <a:ext cx="2514600" cy="685800"/>
          </a:xfrm>
          <a:prstGeom prst="rect">
            <a:avLst/>
          </a:prstGeom>
          <a:noFill/>
          <a:ln/>
        </p:spPr>
        <p:txBody>
          <a:bodyPr wrap="square" lIns="0" tIns="0" rIns="0" bIns="0" rtlCol="0" anchor="ctr"/>
          <a:lstStyle/>
          <a:p>
            <a:pPr indent="0" marL="0">
              <a:buNone/>
            </a:pPr>
            <a:r>
              <a:rPr lang="en-US" sz="900" b="1" dirty="0">
                <a:solidFill>
                  <a:srgbClr val="1F4E79"/>
                </a:solidFill>
                <a:latin typeface="Arial" pitchFamily="34" charset="0"/>
                <a:ea typeface="Arial" pitchFamily="34" charset="-122"/>
                <a:cs typeface="Arial" pitchFamily="34" charset="-120"/>
              </a:rPr>
              <a:t>bold navy</a:t>
            </a:r>
            <a:pPr indent="0" marL="0">
              <a:buNone/>
            </a:pPr>
            <a:r>
              <a:rPr lang="en-US" sz="900" dirty="0">
                <a:solidFill>
                  <a:srgbClr val="7F7F7F"/>
                </a:solidFill>
                <a:latin typeface="Arial" pitchFamily="34" charset="0"/>
                <a:ea typeface="Arial" pitchFamily="34" charset="-122"/>
                <a:cs typeface="Arial" pitchFamily="34" charset="-120"/>
              </a:rPr>
              <a:t> = through G4 (11)   </a:t>
            </a:r>
            <a:pPr indent="0" marL="0">
              <a:buNone/>
            </a:pPr>
            <a:r>
              <a:rPr lang="en-US" sz="900" b="1" dirty="0">
                <a:solidFill>
                  <a:srgbClr val="262626"/>
                </a:solidFill>
                <a:latin typeface="Arial" pitchFamily="34" charset="0"/>
                <a:ea typeface="Arial" pitchFamily="34" charset="-122"/>
                <a:cs typeface="Arial" pitchFamily="34" charset="-120"/>
              </a:rPr>
              <a:t>†</a:t>
            </a:r>
            <a:pPr indent="0" marL="0">
              <a:buNone/>
            </a:pPr>
            <a:r>
              <a:rPr lang="en-US" sz="900" dirty="0">
                <a:solidFill>
                  <a:srgbClr val="7F7F7F"/>
                </a:solidFill>
                <a:latin typeface="Arial" pitchFamily="34" charset="0"/>
                <a:ea typeface="Arial" pitchFamily="34" charset="-122"/>
                <a:cs typeface="Arial" pitchFamily="34" charset="-120"/>
              </a:rPr>
              <a:t> = deep-DFT validated (2/47: B₂O₃, Nd₂O₃)</a:t>
            </a:r>
            <a:endParaRPr lang="en-US" sz="900" dirty="0"/>
          </a:p>
        </p:txBody>
      </p:sp>
      <p:sp>
        <p:nvSpPr>
          <p:cNvPr id="22" name="Shape 20"/>
          <p:cNvSpPr/>
          <p:nvPr/>
        </p:nvSpPr>
        <p:spPr>
          <a:xfrm>
            <a:off x="502920" y="4828032"/>
            <a:ext cx="8138160" cy="0"/>
          </a:xfrm>
          <a:prstGeom prst="line">
            <a:avLst/>
          </a:prstGeom>
          <a:noFill/>
          <a:ln w="12700">
            <a:solidFill>
              <a:srgbClr val="D9D9D9"/>
            </a:solidFill>
            <a:prstDash val="solid"/>
          </a:ln>
        </p:spPr>
      </p:sp>
      <p:sp>
        <p:nvSpPr>
          <p:cNvPr id="23" name="Text 21"/>
          <p:cNvSpPr/>
          <p:nvPr/>
        </p:nvSpPr>
        <p:spPr>
          <a:xfrm>
            <a:off x="502920" y="4956048"/>
            <a:ext cx="8138160" cy="1051560"/>
          </a:xfrm>
          <a:prstGeom prst="rect">
            <a:avLst/>
          </a:prstGeom>
          <a:noFill/>
          <a:ln/>
        </p:spPr>
        <p:txBody>
          <a:bodyPr wrap="square" lIns="0" tIns="0" rIns="0" bIns="0" rtlCol="0" anchor="t"/>
          <a:lstStyle/>
          <a:p>
            <a:pPr indent="0" marL="0">
              <a:buNone/>
            </a:pPr>
            <a:r>
              <a:rPr lang="en-US" sz="950" b="1" dirty="0">
                <a:solidFill>
                  <a:srgbClr val="1F4E79"/>
                </a:solidFill>
                <a:latin typeface="Arial" pitchFamily="34" charset="0"/>
                <a:ea typeface="Arial" pitchFamily="34" charset="-122"/>
                <a:cs typeface="Arial" pitchFamily="34" charset="-120"/>
              </a:rPr>
              <a:t>Hosts:  </a:t>
            </a:r>
            <a:pPr indent="0" marL="0">
              <a:buNone/>
            </a:pPr>
            <a:r>
              <a:rPr lang="en-US" sz="950" dirty="0">
                <a:solidFill>
                  <a:srgbClr val="262626"/>
                </a:solidFill>
                <a:latin typeface="Arial" pitchFamily="34" charset="0"/>
                <a:ea typeface="Arial" pitchFamily="34" charset="-122"/>
                <a:cs typeface="Arial" pitchFamily="34" charset="-120"/>
              </a:rPr>
              <a:t>Li₆PS₅Cl (comp1) · Li₅.₄PS₄.₄Cl₁.₆ (modelc) · +B₂O₃ · LPSOCl (+O)
</a:t>
            </a:r>
            <a:endParaRPr lang="en-US" sz="950" dirty="0"/>
          </a:p>
          <a:p>
            <a:pPr indent="0" marL="0">
              <a:buNone/>
            </a:pPr>
            <a:r>
              <a:rPr lang="en-US" sz="950" b="1" dirty="0">
                <a:solidFill>
                  <a:srgbClr val="1F4E79"/>
                </a:solidFill>
                <a:latin typeface="Arial" pitchFamily="34" charset="0"/>
                <a:ea typeface="Arial" pitchFamily="34" charset="-122"/>
                <a:cs typeface="Arial" pitchFamily="34" charset="-120"/>
              </a:rPr>
              <a:t>SEI decomposition phases:  </a:t>
            </a:r>
            <a:pPr indent="0" marL="0">
              <a:buNone/>
            </a:pPr>
            <a:r>
              <a:rPr lang="en-US" sz="950" dirty="0">
                <a:solidFill>
                  <a:srgbClr val="262626"/>
                </a:solidFill>
                <a:latin typeface="Arial" pitchFamily="34" charset="0"/>
                <a:ea typeface="Arial" pitchFamily="34" charset="-122"/>
                <a:cs typeface="Arial" pitchFamily="34" charset="-120"/>
              </a:rPr>
              <a:t>Li₂O · Li₂S · Li₃P · Li₃PO₄ · Li₃PO₄γ · LiCl (6 citable gaps)  +  </a:t>
            </a:r>
            <a:pPr indent="0" marL="0">
              <a:buNone/>
            </a:pPr>
            <a:r>
              <a:rPr lang="en-US" sz="950" dirty="0">
                <a:solidFill>
                  <a:srgbClr val="9E2A2B"/>
                </a:solidFill>
                <a:latin typeface="Arial" pitchFamily="34" charset="0"/>
                <a:ea typeface="Arial" pitchFamily="34" charset="-122"/>
                <a:cs typeface="Arial" pitchFamily="34" charset="-120"/>
              </a:rPr>
              <a:t>LiNdO₂ · Nd₂O₃ · Nd₂S₃ (gap undefined in PBE+U → cite MP frozen-4f)
</a:t>
            </a:r>
            <a:endParaRPr lang="en-US" sz="950" dirty="0"/>
          </a:p>
          <a:p>
            <a:pPr indent="0" marL="0">
              <a:buNone/>
            </a:pPr>
            <a:r>
              <a:rPr lang="en-US" sz="950" b="1" dirty="0">
                <a:solidFill>
                  <a:srgbClr val="1F4E79"/>
                </a:solidFill>
                <a:latin typeface="Arial" pitchFamily="34" charset="0"/>
                <a:ea typeface="Arial" pitchFamily="34" charset="-122"/>
                <a:cs typeface="Arial" pitchFamily="34" charset="-120"/>
              </a:rPr>
              <a:t>Co-doping hypothesis pairs:  </a:t>
            </a:r>
            <a:pPr indent="0" marL="0">
              <a:buNone/>
            </a:pPr>
            <a:r>
              <a:rPr lang="en-US" sz="950" dirty="0">
                <a:solidFill>
                  <a:srgbClr val="262626"/>
                </a:solidFill>
                <a:latin typeface="Arial" pitchFamily="34" charset="0"/>
                <a:ea typeface="Arial" pitchFamily="34" charset="-122"/>
                <a:cs typeface="Arial" pitchFamily="34" charset="-120"/>
              </a:rPr>
              <a:t>Cr₂O₃+HfO₂ · Al₂O₃+Cr₂O₃ · HfO₂+In₂O₃ · Ga₂O₃+HfO₂ (not validated)</a:t>
            </a:r>
            <a:endParaRPr lang="en-US" sz="950" dirty="0"/>
          </a:p>
        </p:txBody>
      </p:sp>
      <p:sp>
        <p:nvSpPr>
          <p:cNvPr id="25" name="Text 22"/>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26" name="Text 23"/>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Screen · the field</a:t>
            </a:r>
            <a:endParaRPr lang="en-US" sz="1100" dirty="0"/>
          </a:p>
        </p:txBody>
      </p:sp>
      <p:sp>
        <p:nvSpPr>
          <p:cNvPr id="3" name="Text 1"/>
          <p:cNvSpPr/>
          <p:nvPr/>
        </p:nvSpPr>
        <p:spPr>
          <a:xfrm>
            <a:off x="3840480" y="219456"/>
            <a:ext cx="4846320" cy="292608"/>
          </a:xfrm>
          <a:prstGeom prst="rect">
            <a:avLst/>
          </a:prstGeom>
          <a:noFill/>
          <a:ln/>
        </p:spPr>
        <p:txBody>
          <a:bodyPr wrap="square" lIns="0" tIns="0" rIns="0" bIns="0" rtlCol="0" anchor="ctr"/>
          <a:lstStyle/>
          <a:p>
            <a:pPr algn="r" indent="0" marL="0">
              <a:buNone/>
            </a:pPr>
            <a:r>
              <a:rPr lang="en-US" sz="850" i="1" dirty="0">
                <a:solidFill>
                  <a:srgbClr val="7F7F7F"/>
                </a:solidFill>
                <a:latin typeface="Arial" pitchFamily="34" charset="0"/>
                <a:ea typeface="Arial" pitchFamily="34" charset="-122"/>
                <a:cs typeface="Arial" pitchFamily="34" charset="-120"/>
              </a:rPr>
              <a:t>Sendek et al., EES 2017, 10, 306</a:t>
            </a:r>
            <a:endParaRPr lang="en-US" sz="850" dirty="0"/>
          </a:p>
        </p:txBody>
      </p:sp>
      <p:sp>
        <p:nvSpPr>
          <p:cNvPr id="4" name="Text 2"/>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How the field screens ①: 12,831 → 21</a:t>
            </a:r>
            <a:endParaRPr lang="en-US" sz="2000" dirty="0"/>
          </a:p>
        </p:txBody>
      </p:sp>
      <p:sp>
        <p:nvSpPr>
          <p:cNvPr id="5" name="Shape 3"/>
          <p:cNvSpPr/>
          <p:nvPr/>
        </p:nvSpPr>
        <p:spPr>
          <a:xfrm>
            <a:off x="457200" y="1115568"/>
            <a:ext cx="8229600" cy="0"/>
          </a:xfrm>
          <a:prstGeom prst="line">
            <a:avLst/>
          </a:prstGeom>
          <a:noFill/>
          <a:ln w="12700">
            <a:solidFill>
              <a:srgbClr val="D9D9D9"/>
            </a:solidFill>
            <a:prstDash val="solid"/>
          </a:ln>
        </p:spPr>
      </p:sp>
      <p:pic>
        <p:nvPicPr>
          <p:cNvPr id="6" name="Image 0" descr="/home/user/Yonghoon-DEM-DFT/litdb/figures/sendek2017_ml_screening_12k_conductors/fig_1.png">    </p:cNvPr>
          <p:cNvPicPr>
            <a:picLocks noChangeAspect="1"/>
          </p:cNvPicPr>
          <p:nvPr/>
        </p:nvPicPr>
        <p:blipFill>
          <a:blip r:embed="rId1"/>
          <a:srcRect l="0" r="0" t="0" b="0"/>
          <a:stretch/>
        </p:blipFill>
        <p:spPr>
          <a:xfrm>
            <a:off x="502920" y="1371600"/>
            <a:ext cx="8138160" cy="3017520"/>
          </a:xfrm>
          <a:prstGeom prst="rect">
            <a:avLst/>
          </a:prstGeom>
        </p:spPr>
      </p:pic>
      <p:sp>
        <p:nvSpPr>
          <p:cNvPr id="7" name="Text 4"/>
          <p:cNvSpPr/>
          <p:nvPr/>
        </p:nvSpPr>
        <p:spPr>
          <a:xfrm>
            <a:off x="502920" y="4407408"/>
            <a:ext cx="8138160" cy="274320"/>
          </a:xfrm>
          <a:prstGeom prst="rect">
            <a:avLst/>
          </a:prstGeom>
          <a:noFill/>
          <a:ln/>
        </p:spPr>
        <p:txBody>
          <a:bodyPr wrap="square" lIns="0" tIns="0" rIns="0" bIns="0" rtlCol="0" anchor="ctr"/>
          <a:lstStyle/>
          <a:p>
            <a:pPr algn="ctr" indent="0" marL="0">
              <a:buNone/>
            </a:pPr>
            <a:r>
              <a:rPr lang="en-US" sz="850" i="1" dirty="0">
                <a:solidFill>
                  <a:srgbClr val="7F7F7F"/>
                </a:solidFill>
                <a:latin typeface="Arial" pitchFamily="34" charset="0"/>
                <a:ea typeface="Arial" pitchFamily="34" charset="-122"/>
                <a:cs typeface="Arial" pitchFamily="34" charset="-120"/>
              </a:rPr>
              <a:t>Two tracks: structure screening (12,831 candidates) + model building on 40 measured conductors (Sendek 2017)</a:t>
            </a:r>
            <a:endParaRPr lang="en-US" sz="850" dirty="0"/>
          </a:p>
        </p:txBody>
      </p:sp>
      <p:sp>
        <p:nvSpPr>
          <p:cNvPr id="8" name="Text 5"/>
          <p:cNvSpPr/>
          <p:nvPr/>
        </p:nvSpPr>
        <p:spPr>
          <a:xfrm>
            <a:off x="502920" y="4617720"/>
            <a:ext cx="8138160" cy="1371600"/>
          </a:xfrm>
          <a:prstGeom prst="rect">
            <a:avLst/>
          </a:prstGeom>
          <a:noFill/>
          <a:ln/>
        </p:spPr>
        <p:txBody>
          <a:bodyPr wrap="square" lIns="0" tIns="0" rIns="0" bIns="0" rtlCol="0" anchor="t"/>
          <a:lstStyle/>
          <a:p>
            <a:pPr marL="127000" indent="-127000">
              <a:spcAft>
                <a:spcPts val="500"/>
              </a:spcAft>
              <a:buSzPct val="100000"/>
              <a:buChar char="·"/>
            </a:pPr>
            <a:r>
              <a:rPr lang="en-US" sz="1100" b="1" dirty="0">
                <a:solidFill>
                  <a:srgbClr val="262626"/>
                </a:solidFill>
                <a:latin typeface="Arial" pitchFamily="34" charset="0"/>
                <a:ea typeface="Arial" pitchFamily="34" charset="-122"/>
                <a:cs typeface="Arial" pitchFamily="34" charset="-120"/>
              </a:rPr>
              <a:t>4 prerequisite gates (E_hull = 0 · gap ≥ 1 eV · V_ox ≥ 4 V · no TM) → 317; logistic classifier trained on 40 measured σ → 21 (0.16%)</a:t>
            </a:r>
            <a:endParaRPr lang="en-US" sz="1100" dirty="0"/>
          </a:p>
          <a:p>
            <a:pPr marL="127000" indent="-127000">
              <a:spcAft>
                <a:spcPts val="500"/>
              </a:spcAft>
              <a:buSzPct val="100000"/>
              <a:buChar char="·"/>
            </a:pPr>
            <a:r>
              <a:rPr lang="en-US" sz="1100" b="1" dirty="0">
                <a:solidFill>
                  <a:srgbClr val="1F4E79"/>
                </a:solidFill>
                <a:latin typeface="Arial" pitchFamily="34" charset="0"/>
                <a:ea typeface="Arial" pitchFamily="34" charset="-122"/>
                <a:cs typeface="Arial" pitchFamily="34" charset="-120"/>
              </a:rPr>
              <a:t>Their lesson: prerequisite gates cut harder than the conductivity screen (model alone leaves 1,408)</a:t>
            </a:r>
            <a:endParaRPr lang="en-US" sz="1100" dirty="0"/>
          </a:p>
          <a:p>
            <a:pPr marL="127000" indent="-127000">
              <a:spcAft>
                <a:spcPts val="500"/>
              </a:spcAft>
              <a:buSzPct val="100000"/>
              <a:buChar char="·"/>
            </a:pPr>
            <a:r>
              <a:rPr lang="en-US" sz="1100" b="1" dirty="0">
                <a:solidFill>
                  <a:srgbClr val="9E2A2B"/>
                </a:solidFill>
                <a:latin typeface="Arial" pitchFamily="34" charset="0"/>
                <a:ea typeface="Arial" pitchFamily="34" charset="-122"/>
                <a:cs typeface="Arial" pitchFamily="34" charset="-120"/>
              </a:rPr>
              <a:t>Small-sample lesson, not dataset equivalence: our 47 in-host candidates need grouped CV and prospective labels</a:t>
            </a:r>
            <a:endParaRPr lang="en-US" sz="1100" dirty="0"/>
          </a:p>
        </p:txBody>
      </p:sp>
      <p:sp>
        <p:nvSpPr>
          <p:cNvPr id="10" name="Text 6"/>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11" name="Text 7"/>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Screen · ours</a:t>
            </a:r>
            <a:endParaRPr lang="en-US" sz="1100" dirty="0"/>
          </a:p>
        </p:txBody>
      </p:sp>
      <p:sp>
        <p:nvSpPr>
          <p:cNvPr id="3" name="Text 1"/>
          <p:cNvSpPr/>
          <p:nvPr/>
        </p:nvSpPr>
        <p:spPr>
          <a:xfrm>
            <a:off x="3840480" y="219456"/>
            <a:ext cx="4846320" cy="292608"/>
          </a:xfrm>
          <a:prstGeom prst="rect">
            <a:avLst/>
          </a:prstGeom>
          <a:noFill/>
          <a:ln/>
        </p:spPr>
        <p:txBody>
          <a:bodyPr wrap="square" lIns="0" tIns="0" rIns="0" bIns="0" rtlCol="0" anchor="ctr"/>
          <a:lstStyle/>
          <a:p>
            <a:pPr algn="r" indent="0" marL="0">
              <a:buNone/>
            </a:pPr>
            <a:r>
              <a:rPr lang="en-US" sz="850" i="1" dirty="0">
                <a:solidFill>
                  <a:srgbClr val="7F7F7F"/>
                </a:solidFill>
                <a:latin typeface="Arial" pitchFamily="34" charset="0"/>
                <a:ea typeface="Arial" pitchFamily="34" charset="-122"/>
                <a:cs typeface="Arial" pitchFamily="34" charset="-120"/>
              </a:rPr>
              <a:t>G4 lineage: Kahle et al. 2020 (HT-AIMD)</a:t>
            </a:r>
            <a:endParaRPr lang="en-US" sz="850" dirty="0"/>
          </a:p>
        </p:txBody>
      </p:sp>
      <p:sp>
        <p:nvSpPr>
          <p:cNvPr id="4" name="Text 2"/>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Five gates: metric, threshold, and why</a:t>
            </a:r>
            <a:endParaRPr lang="en-US" sz="2000" dirty="0"/>
          </a:p>
        </p:txBody>
      </p:sp>
      <p:sp>
        <p:nvSpPr>
          <p:cNvPr id="5" name="Shape 3"/>
          <p:cNvSpPr/>
          <p:nvPr/>
        </p:nvSpPr>
        <p:spPr>
          <a:xfrm>
            <a:off x="457200" y="1115568"/>
            <a:ext cx="8229600" cy="0"/>
          </a:xfrm>
          <a:prstGeom prst="line">
            <a:avLst/>
          </a:prstGeom>
          <a:noFill/>
          <a:ln w="12700">
            <a:solidFill>
              <a:srgbClr val="D9D9D9"/>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8138160" cy="914400"/>
        </p:xfrm>
        <a:graphic>
          <a:graphicData uri="http://schemas.openxmlformats.org/drawingml/2006/table">
            <a:tbl>
              <a:tblPr/>
              <a:tblGrid>
                <a:gridCol w="1097280"/>
                <a:gridCol w="2148840"/>
                <a:gridCol w="1965960"/>
                <a:gridCol w="1828800"/>
                <a:gridCol w="1097280"/>
              </a:tblGrid>
              <a:tr h="512064">
                <a:tc>
                  <a:txBody>
                    <a:bodyPr/>
                    <a:lstStyle/>
                    <a:p>
                      <a:pPr indent="0" marL="0">
                        <a:buNone/>
                      </a:pPr>
                      <a:r>
                        <a:rPr lang="en-US" sz="900" b="1" dirty="0">
                          <a:solidFill>
                            <a:srgbClr val="FFFFFF"/>
                          </a:solidFill>
                          <a:latin typeface="Arial" pitchFamily="34" charset="0"/>
                          <a:ea typeface="Arial" pitchFamily="34" charset="-122"/>
                          <a:cs typeface="Arial" pitchFamily="34" charset="-120"/>
                        </a:rPr>
                        <a:t>Gate</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Metric</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Threshold</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Physical basis</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Lit. analog</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r>
              <a:tr h="512064">
                <a:tc>
                  <a:txBody>
                    <a:bodyPr/>
                    <a:lstStyle/>
                    <a:p>
                      <a:pPr indent="0" marL="0">
                        <a:buNone/>
                      </a:pPr>
                      <a:r>
                        <a:rPr lang="en-US" sz="900" dirty="0">
                          <a:solidFill>
                            <a:srgbClr val="262626"/>
                          </a:solidFill>
                          <a:latin typeface="Arial" pitchFamily="34" charset="0"/>
                          <a:ea typeface="Arial" pitchFamily="34" charset="-122"/>
                          <a:cs typeface="Arial" pitchFamily="34" charset="-120"/>
                        </a:rPr>
                        <a:t>G1 structural</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mean over x of Δe = E(doped)−E(host), UMA</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Δe &lt; 0  (zero = the host itself)</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favorability vs host; 47/47 pass → vacuous in this snapshot</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Xiao F2 · Sendek P1</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12064">
                <a:tc>
                  <a:txBody>
                    <a:bodyPr/>
                    <a:lstStyle/>
                    <a:p>
                      <a:pPr indent="0" marL="0">
                        <a:buNone/>
                      </a:pPr>
                      <a:r>
                        <a:rPr lang="en-US" sz="900" dirty="0">
                          <a:solidFill>
                            <a:srgbClr val="262626"/>
                          </a:solidFill>
                          <a:latin typeface="Arial" pitchFamily="34" charset="0"/>
                          <a:ea typeface="Arial" pitchFamily="34" charset="-122"/>
                          <a:cs typeface="Arial" pitchFamily="34" charset="-120"/>
                        </a:rPr>
                        <a:t>G2 window</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grand-potential ESW width</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window ≥ 0.05 V</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a window must exist at all</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Zhu 2015 · Xiao F3</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12064">
                <a:tc>
                  <a:txBody>
                    <a:bodyPr/>
                    <a:lstStyle/>
                    <a:p>
                      <a:pPr indent="0" marL="0">
                        <a:buNone/>
                      </a:pPr>
                      <a:r>
                        <a:rPr lang="en-US" sz="900" dirty="0">
                          <a:solidFill>
                            <a:srgbClr val="262626"/>
                          </a:solidFill>
                          <a:latin typeface="Arial" pitchFamily="34" charset="0"/>
                          <a:ea typeface="Arial" pitchFamily="34" charset="-122"/>
                          <a:cs typeface="Arial" pitchFamily="34" charset="-120"/>
                        </a:rPr>
                        <a:t>G3 oxidation</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oxidation onset (V vs Li)</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V_ox ≥ 2.14 V  (= undoped host onset)</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must not be worse than the host</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Richards windows</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12064">
                <a:tc>
                  <a:txBody>
                    <a:bodyPr/>
                    <a:lstStyle/>
                    <a:p>
                      <a:pPr indent="0" marL="0">
                        <a:buNone/>
                      </a:pPr>
                      <a:r>
                        <a:rPr lang="en-US" sz="900" dirty="0">
                          <a:solidFill>
                            <a:srgbClr val="262626"/>
                          </a:solidFill>
                          <a:latin typeface="Arial" pitchFamily="34" charset="0"/>
                          <a:ea typeface="Arial" pitchFamily="34" charset="-122"/>
                          <a:cs typeface="Arial" pitchFamily="34" charset="-120"/>
                        </a:rPr>
                        <a:t>G4 transport</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BVSE proxy (x005 label), min–max norm</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norm &gt; 0.3 AND blocking &lt; 0.6*</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the property we exist for</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Kahle HT-AIMD</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12064">
                <a:tc>
                  <a:txBody>
                    <a:bodyPr/>
                    <a:lstStyle/>
                    <a:p>
                      <a:pPr indent="0" marL="0">
                        <a:buNone/>
                      </a:pPr>
                      <a:r>
                        <a:rPr lang="en-US" sz="900" dirty="0">
                          <a:solidFill>
                            <a:srgbClr val="262626"/>
                          </a:solidFill>
                          <a:latin typeface="Arial" pitchFamily="34" charset="0"/>
                          <a:ea typeface="Arial" pitchFamily="34" charset="-122"/>
                          <a:cs typeface="Arial" pitchFamily="34" charset="-120"/>
                        </a:rPr>
                        <a:t>G5 mechanical</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E (UMA) and G/B</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E ≤ 46.9 GPa AND G/B ≤ 0.78  (roster medians)</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soft + ductile keeps contact in SSB</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7" name="Text 4"/>
          <p:cNvSpPr/>
          <p:nvPr/>
        </p:nvSpPr>
        <p:spPr>
          <a:xfrm>
            <a:off x="502920" y="4892040"/>
            <a:ext cx="8138160" cy="1097280"/>
          </a:xfrm>
          <a:prstGeom prst="rect">
            <a:avLst/>
          </a:prstGeom>
          <a:noFill/>
          <a:ln/>
        </p:spPr>
        <p:txBody>
          <a:bodyPr wrap="square" lIns="0" tIns="0" rIns="0" bIns="0" rtlCol="0" anchor="t"/>
          <a:lstStyle/>
          <a:p>
            <a:pPr marL="127000" indent="-127000">
              <a:spcAft>
                <a:spcPts val="500"/>
              </a:spcAft>
              <a:buSzPct val="100000"/>
              <a:buChar char="·"/>
            </a:pPr>
            <a:r>
              <a:rPr lang="en-US" sz="1100" b="1" dirty="0">
                <a:solidFill>
                  <a:srgbClr val="1F4E79"/>
                </a:solidFill>
                <a:latin typeface="Arial" pitchFamily="34" charset="0"/>
                <a:ea typeface="Arial" pitchFamily="34" charset="-122"/>
                <a:cs typeface="Arial" pitchFamily="34" charset="-120"/>
              </a:rPr>
              <a:t>Two of five gates use the host as the zero point (G1, G3) — the cut is physics, not taste</a:t>
            </a:r>
            <a:endParaRPr lang="en-US" sz="1100" dirty="0"/>
          </a:p>
          <a:p>
            <a:pPr marL="127000" indent="-127000">
              <a:spcAft>
                <a:spcPts val="500"/>
              </a:spcAft>
              <a:buSzPct val="100000"/>
              <a:buChar char="·"/>
            </a:pPr>
            <a:r>
              <a:rPr lang="en-US" sz="1100" b="1" dirty="0">
                <a:solidFill>
                  <a:srgbClr val="262626"/>
                </a:solidFill>
                <a:latin typeface="Arial" pitchFamily="34" charset="0"/>
                <a:ea typeface="Arial" pitchFamily="34" charset="-122"/>
                <a:cs typeface="Arial" pitchFamily="34" charset="-120"/>
              </a:rPr>
              <a:t>Δe uses the mean of 3 label champions (verified 47/47) — label-blind cherry-picking is structurally blocked</a:t>
            </a:r>
            <a:endParaRPr lang="en-US" sz="1100" dirty="0"/>
          </a:p>
          <a:p>
            <a:pPr lvl="1" marL="254000" indent="-127000">
              <a:spcAft>
                <a:spcPts val="500"/>
              </a:spcAft>
              <a:buSzPct val="100000"/>
              <a:buChar char="–"/>
            </a:pPr>
            <a:r>
              <a:rPr lang="en-US" sz="1100" dirty="0">
                <a:solidFill>
                  <a:srgbClr val="7F7F7F"/>
                </a:solidFill>
                <a:latin typeface="Arial" pitchFamily="34" charset="0"/>
                <a:ea typeface="Arial" pitchFamily="34" charset="-122"/>
                <a:cs typeface="Arial" pitchFamily="34" charset="-120"/>
              </a:rPr>
              <a:t>* blocking &lt; 0.6 is a heuristic with no host/literature anchor; G5 is roster-relative ranking — so the physical funnel ends at G4</a:t>
            </a:r>
            <a:endParaRPr lang="en-US" sz="1100" dirty="0"/>
          </a:p>
        </p:txBody>
      </p:sp>
      <p:sp>
        <p:nvSpPr>
          <p:cNvPr id="9" name="Text 5"/>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10" name="Text 6"/>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Screen · ours</a:t>
            </a:r>
            <a:endParaRPr lang="en-US" sz="1100" dirty="0"/>
          </a:p>
        </p:txBody>
      </p:sp>
      <p:sp>
        <p:nvSpPr>
          <p:cNvPr id="3" name="Text 1"/>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The waterfall, drawn the field's way</a:t>
            </a:r>
            <a:endParaRPr lang="en-US" sz="2000" dirty="0"/>
          </a:p>
        </p:txBody>
      </p:sp>
      <p:sp>
        <p:nvSpPr>
          <p:cNvPr id="4" name="Shape 2"/>
          <p:cNvSpPr/>
          <p:nvPr/>
        </p:nvSpPr>
        <p:spPr>
          <a:xfrm>
            <a:off x="457200" y="1115568"/>
            <a:ext cx="8229600" cy="0"/>
          </a:xfrm>
          <a:prstGeom prst="line">
            <a:avLst/>
          </a:prstGeom>
          <a:noFill/>
          <a:ln w="12700">
            <a:solidFill>
              <a:srgbClr val="D9D9D9"/>
            </a:solidFill>
            <a:prstDash val="solid"/>
          </a:ln>
        </p:spPr>
      </p:sp>
      <p:graphicFrame>
        <p:nvGraphicFramePr>
          <p:cNvPr id="5" name="Chart 0" descr=""/>
          <p:cNvGraphicFramePr/>
          <p:nvPr/>
        </p:nvGraphicFramePr>
        <p:xfrm>
          <a:off x="502920" y="1371600"/>
          <a:ext cx="5120640" cy="40233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852160" y="1463040"/>
            <a:ext cx="2834640" cy="4114800"/>
          </a:xfrm>
          <a:prstGeom prst="rect">
            <a:avLst/>
          </a:prstGeom>
          <a:noFill/>
          <a:ln/>
        </p:spPr>
        <p:txBody>
          <a:bodyPr wrap="square" lIns="0" tIns="0" rIns="0" bIns="0" rtlCol="0" anchor="t"/>
          <a:lstStyle/>
          <a:p>
            <a:pPr marL="127000" indent="-127000">
              <a:spcAft>
                <a:spcPts val="500"/>
              </a:spcAft>
              <a:buSzPct val="100000"/>
              <a:buChar char="·"/>
            </a:pPr>
            <a:r>
              <a:rPr lang="en-US" sz="1050" b="1" dirty="0">
                <a:solidFill>
                  <a:srgbClr val="262626"/>
                </a:solidFill>
                <a:latin typeface="Arial" pitchFamily="34" charset="0"/>
                <a:ea typeface="Arial" pitchFamily="34" charset="-122"/>
                <a:cs typeface="Arial" pitchFamily="34" charset="-120"/>
              </a:rPr>
              <a:t>G1 47/47 = curated pool, not gate power (flagged vacuous in the JSON itself)</a:t>
            </a:r>
            <a:endParaRPr lang="en-US" sz="1050" dirty="0"/>
          </a:p>
          <a:p>
            <a:pPr marL="127000" indent="-127000">
              <a:spcAft>
                <a:spcPts val="500"/>
              </a:spcAft>
              <a:buSzPct val="100000"/>
              <a:buChar char="·"/>
            </a:pPr>
            <a:r>
              <a:rPr lang="en-US" sz="1050" b="1" dirty="0">
                <a:solidFill>
                  <a:srgbClr val="262626"/>
                </a:solidFill>
                <a:latin typeface="Arial" pitchFamily="34" charset="0"/>
                <a:ea typeface="Arial" pitchFamily="34" charset="-122"/>
                <a:cs typeface="Arial" pitchFamily="34" charset="-120"/>
              </a:rPr>
              <a:t>Unique-kill audit: G2's 4 kills (late-TM oxides) ALL also fail G3 — unique kill = 0</a:t>
            </a:r>
            <a:endParaRPr lang="en-US" sz="1050" dirty="0"/>
          </a:p>
          <a:p>
            <a:pPr marL="127000" indent="-127000">
              <a:spcAft>
                <a:spcPts val="500"/>
              </a:spcAft>
              <a:buSzPct val="100000"/>
              <a:buChar char="·"/>
            </a:pPr>
            <a:r>
              <a:rPr lang="en-US" sz="1050" b="1" dirty="0">
                <a:solidFill>
                  <a:srgbClr val="1F4E79"/>
                </a:solidFill>
                <a:latin typeface="Arial" pitchFamily="34" charset="0"/>
                <a:ea typeface="Arial" pitchFamily="34" charset="-122"/>
                <a:cs typeface="Arial" pitchFamily="34" charset="-120"/>
              </a:rPr>
              <a:t>All 5! = 120 gate orders enumerated: terminal set invariant — the waterfall shape is narrative, not result</a:t>
            </a:r>
            <a:endParaRPr lang="en-US" sz="1050" dirty="0"/>
          </a:p>
          <a:p>
            <a:pPr marL="127000" indent="-127000">
              <a:spcAft>
                <a:spcPts val="200"/>
              </a:spcAft>
              <a:buSzPct val="100000"/>
              <a:buChar char="·"/>
            </a:pPr>
            <a:r>
              <a:rPr lang="en-US" sz="1050" b="1" dirty="0">
                <a:solidFill>
                  <a:srgbClr val="9E2A2B"/>
                </a:solidFill>
                <a:latin typeface="Arial" pitchFamily="34" charset="0"/>
                <a:ea typeface="Arial" pitchFamily="34" charset="-122"/>
                <a:cs typeface="Arial" pitchFamily="34" charset="-120"/>
              </a:rPr>
              <a:t>G5 is ranking-only → the defensible physical endpoint is the G4 set of 11, not “1”</a:t>
            </a:r>
            <a:endParaRPr lang="en-US" sz="1050" dirty="0"/>
          </a:p>
        </p:txBody>
      </p:sp>
      <p:sp>
        <p:nvSpPr>
          <p:cNvPr id="8" name="Text 4"/>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9" name="Text 5"/>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Screen · ours</a:t>
            </a:r>
            <a:endParaRPr lang="en-US" sz="1100" dirty="0"/>
          </a:p>
        </p:txBody>
      </p:sp>
      <p:sp>
        <p:nvSpPr>
          <p:cNvPr id="3" name="Text 1"/>
          <p:cNvSpPr/>
          <p:nvPr/>
        </p:nvSpPr>
        <p:spPr>
          <a:xfrm>
            <a:off x="3840480" y="219456"/>
            <a:ext cx="4846320" cy="292608"/>
          </a:xfrm>
          <a:prstGeom prst="rect">
            <a:avLst/>
          </a:prstGeom>
          <a:noFill/>
          <a:ln/>
        </p:spPr>
        <p:txBody>
          <a:bodyPr wrap="square" lIns="0" tIns="0" rIns="0" bIns="0" rtlCol="0" anchor="ctr"/>
          <a:lstStyle/>
          <a:p>
            <a:pPr algn="r" indent="0" marL="0">
              <a:buNone/>
            </a:pPr>
            <a:r>
              <a:rPr lang="en-US" sz="850" i="1" dirty="0">
                <a:solidFill>
                  <a:srgbClr val="7F7F7F"/>
                </a:solidFill>
                <a:latin typeface="Arial" pitchFamily="34" charset="0"/>
                <a:ea typeface="Arial" pitchFamily="34" charset="-122"/>
                <a:cs typeface="Arial" pitchFamily="34" charset="-120"/>
              </a:rPr>
              <a:t>source: cascade_seminar_oxidation_transport_47.csv</a:t>
            </a:r>
            <a:endParaRPr lang="en-US" sz="850" dirty="0"/>
          </a:p>
        </p:txBody>
      </p:sp>
      <p:sp>
        <p:nvSpPr>
          <p:cNvPr id="4" name="Text 2"/>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The trade-off is systematic: six for six</a:t>
            </a:r>
            <a:endParaRPr lang="en-US" sz="2000" dirty="0"/>
          </a:p>
        </p:txBody>
      </p:sp>
      <p:sp>
        <p:nvSpPr>
          <p:cNvPr id="5" name="Shape 3"/>
          <p:cNvSpPr/>
          <p:nvPr/>
        </p:nvSpPr>
        <p:spPr>
          <a:xfrm>
            <a:off x="457200" y="1115568"/>
            <a:ext cx="8229600" cy="0"/>
          </a:xfrm>
          <a:prstGeom prst="line">
            <a:avLst/>
          </a:prstGeom>
          <a:noFill/>
          <a:ln w="12700">
            <a:solidFill>
              <a:srgbClr val="D9D9D9"/>
            </a:solidFill>
            <a:prstDash val="solid"/>
          </a:ln>
        </p:spPr>
      </p:sp>
      <p:pic>
        <p:nvPicPr>
          <p:cNvPr id="6" name="Image 0" descr="/home/user/Yonghoon-DEM-DFT/docs/figures/cascade/cascade_seminar_oxidation_transport_47.png">    </p:cNvPr>
          <p:cNvPicPr>
            <a:picLocks noChangeAspect="1"/>
          </p:cNvPicPr>
          <p:nvPr/>
        </p:nvPicPr>
        <p:blipFill>
          <a:blip r:embed="rId1"/>
          <a:srcRect l="0" r="0" t="0" b="0"/>
          <a:stretch/>
        </p:blipFill>
        <p:spPr>
          <a:xfrm>
            <a:off x="502920" y="1371600"/>
            <a:ext cx="5669280" cy="4297680"/>
          </a:xfrm>
          <a:prstGeom prst="rect">
            <a:avLst/>
          </a:prstGeom>
        </p:spPr>
      </p:pic>
      <p:sp>
        <p:nvSpPr>
          <p:cNvPr id="7" name="Text 4"/>
          <p:cNvSpPr/>
          <p:nvPr/>
        </p:nvSpPr>
        <p:spPr>
          <a:xfrm>
            <a:off x="502920" y="5687568"/>
            <a:ext cx="5669280" cy="274320"/>
          </a:xfrm>
          <a:prstGeom prst="rect">
            <a:avLst/>
          </a:prstGeom>
          <a:noFill/>
          <a:ln/>
        </p:spPr>
        <p:txBody>
          <a:bodyPr wrap="square" lIns="0" tIns="0" rIns="0" bIns="0" rtlCol="0" anchor="ctr"/>
          <a:lstStyle/>
          <a:p>
            <a:pPr algn="ctr" indent="0" marL="0">
              <a:buNone/>
            </a:pPr>
            <a:r>
              <a:rPr lang="en-US" sz="850" i="1" dirty="0">
                <a:solidFill>
                  <a:srgbClr val="7F7F7F"/>
                </a:solidFill>
                <a:latin typeface="Arial" pitchFamily="34" charset="0"/>
                <a:ea typeface="Arial" pitchFamily="34" charset="-122"/>
                <a:cs typeface="Arial" pitchFamily="34" charset="-120"/>
              </a:rPr>
              <a:t>All six oxidation-raising candidates stop at the same transport gate (static proxy; not conductivity)</a:t>
            </a:r>
            <a:endParaRPr lang="en-US" sz="850" dirty="0"/>
          </a:p>
        </p:txBody>
      </p:sp>
      <p:sp>
        <p:nvSpPr>
          <p:cNvPr id="8" name="Text 5"/>
          <p:cNvSpPr/>
          <p:nvPr/>
        </p:nvSpPr>
        <p:spPr>
          <a:xfrm>
            <a:off x="6355080" y="1463040"/>
            <a:ext cx="2331720" cy="4206240"/>
          </a:xfrm>
          <a:prstGeom prst="rect">
            <a:avLst/>
          </a:prstGeom>
          <a:noFill/>
          <a:ln/>
        </p:spPr>
        <p:txBody>
          <a:bodyPr wrap="square" lIns="0" tIns="0" rIns="0" bIns="0" rtlCol="0" anchor="t"/>
          <a:lstStyle/>
          <a:p>
            <a:pPr marL="127000" indent="-127000">
              <a:spcAft>
                <a:spcPts val="500"/>
              </a:spcAft>
              <a:buSzPct val="100000"/>
              <a:buChar char="·"/>
            </a:pPr>
            <a:r>
              <a:rPr lang="en-US" sz="1050" b="1" dirty="0">
                <a:solidFill>
                  <a:srgbClr val="9E2A2B"/>
                </a:solidFill>
                <a:latin typeface="Arial" pitchFamily="34" charset="0"/>
                <a:ea typeface="Arial" pitchFamily="34" charset="-122"/>
                <a:cs typeface="Arial" pitchFamily="34" charset="-120"/>
              </a:rPr>
              <a:t>Every candidate that raises the oxidation onset (Cr₂O₃/Ga₂O₃/In₂O₃/Sc₂O₃ +0.22 V · B₂O₃ +0.18 · Y₂O₃ +0.14) fails G4</a:t>
            </a:r>
            <a:endParaRPr lang="en-US" sz="1050" dirty="0"/>
          </a:p>
          <a:p>
            <a:pPr marL="127000" indent="-127000">
              <a:spcAft>
                <a:spcPts val="500"/>
              </a:spcAft>
              <a:buSzPct val="100000"/>
              <a:buChar char="·"/>
            </a:pPr>
            <a:r>
              <a:rPr lang="en-US" sz="1050" b="1" dirty="0">
                <a:solidFill>
                  <a:srgbClr val="262626"/>
                </a:solidFill>
                <a:latin typeface="Arial" pitchFamily="34" charset="0"/>
                <a:ea typeface="Arial" pitchFamily="34" charset="-122"/>
                <a:cs typeface="Arial" pitchFamily="34" charset="-120"/>
              </a:rPr>
              <a:t>A dataset-level trade-off across all six — though not, by itself, proof that M–O bonding causes the blocking</a:t>
            </a:r>
            <a:endParaRPr lang="en-US" sz="1050" dirty="0"/>
          </a:p>
          <a:p>
            <a:pPr marL="127000" indent="-127000">
              <a:spcAft>
                <a:spcPts val="500"/>
              </a:spcAft>
              <a:buSzPct val="100000"/>
              <a:buChar char="·"/>
            </a:pPr>
            <a:r>
              <a:rPr lang="en-US" sz="1050" b="1" dirty="0">
                <a:solidFill>
                  <a:srgbClr val="1F4E79"/>
                </a:solidFill>
                <a:latin typeface="Arial" pitchFamily="34" charset="0"/>
                <a:ea typeface="Arial" pitchFamily="34" charset="-122"/>
                <a:cs typeface="Arial" pitchFamily="34" charset="-120"/>
              </a:rPr>
              <a:t>And it is why co-doping exists: these six are exactly the cathode-side halves of our top pairs (Cr₂O₃+HfO₂, Ga₂O₃+HfO₂, HfO₂+In₂O₃…)</a:t>
            </a:r>
            <a:endParaRPr lang="en-US" sz="1050" dirty="0"/>
          </a:p>
        </p:txBody>
      </p:sp>
      <p:sp>
        <p:nvSpPr>
          <p:cNvPr id="10" name="Text 6"/>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11" name="Text 7"/>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Screen · ours</a:t>
            </a:r>
            <a:endParaRPr lang="en-US" sz="1100" dirty="0"/>
          </a:p>
        </p:txBody>
      </p:sp>
      <p:sp>
        <p:nvSpPr>
          <p:cNvPr id="3" name="Text 1"/>
          <p:cNvSpPr/>
          <p:nvPr/>
        </p:nvSpPr>
        <p:spPr>
          <a:xfrm>
            <a:off x="3840480" y="219456"/>
            <a:ext cx="4846320" cy="292608"/>
          </a:xfrm>
          <a:prstGeom prst="rect">
            <a:avLst/>
          </a:prstGeom>
          <a:noFill/>
          <a:ln/>
        </p:spPr>
        <p:txBody>
          <a:bodyPr wrap="square" lIns="0" tIns="0" rIns="0" bIns="0" rtlCol="0" anchor="ctr"/>
          <a:lstStyle/>
          <a:p>
            <a:pPr algn="r" indent="0" marL="0">
              <a:buNone/>
            </a:pPr>
            <a:r>
              <a:rPr lang="en-US" sz="850" i="1" dirty="0">
                <a:solidFill>
                  <a:srgbClr val="7F7F7F"/>
                </a:solidFill>
                <a:latin typeface="Arial" pitchFamily="34" charset="0"/>
                <a:ea typeface="Arial" pitchFamily="34" charset="-122"/>
                <a:cs typeface="Arial" pitchFamily="34" charset="-120"/>
              </a:rPr>
              <a:t>Zhu et al., Angew. 2020 (hydrolysis map)</a:t>
            </a:r>
            <a:endParaRPr lang="en-US" sz="850" dirty="0"/>
          </a:p>
        </p:txBody>
      </p:sp>
      <p:sp>
        <p:nvSpPr>
          <p:cNvPr id="4" name="Text 2"/>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Why the funnel is the wrong endpoint for our question</a:t>
            </a:r>
            <a:endParaRPr lang="en-US" sz="2000" dirty="0"/>
          </a:p>
        </p:txBody>
      </p:sp>
      <p:sp>
        <p:nvSpPr>
          <p:cNvPr id="5" name="Shape 3"/>
          <p:cNvSpPr/>
          <p:nvPr/>
        </p:nvSpPr>
        <p:spPr>
          <a:xfrm>
            <a:off x="457200" y="1115568"/>
            <a:ext cx="8229600" cy="0"/>
          </a:xfrm>
          <a:prstGeom prst="line">
            <a:avLst/>
          </a:prstGeom>
          <a:noFill/>
          <a:ln w="12700">
            <a:solidFill>
              <a:srgbClr val="D9D9D9"/>
            </a:solidFill>
            <a:prstDash val="solid"/>
          </a:ln>
        </p:spPr>
      </p:sp>
      <p:sp>
        <p:nvSpPr>
          <p:cNvPr id="6" name="Text 4"/>
          <p:cNvSpPr/>
          <p:nvPr/>
        </p:nvSpPr>
        <p:spPr>
          <a:xfrm>
            <a:off x="502920" y="1371600"/>
            <a:ext cx="4846320" cy="4480560"/>
          </a:xfrm>
          <a:prstGeom prst="rect">
            <a:avLst/>
          </a:prstGeom>
          <a:noFill/>
          <a:ln/>
        </p:spPr>
        <p:txBody>
          <a:bodyPr wrap="square" lIns="0" tIns="0" rIns="0" bIns="0" rtlCol="0" anchor="t"/>
          <a:lstStyle/>
          <a:p>
            <a:pPr marL="127000" indent="-127000">
              <a:spcAft>
                <a:spcPts val="500"/>
              </a:spcAft>
              <a:buSzPct val="100000"/>
              <a:buChar char="·"/>
            </a:pPr>
            <a:r>
              <a:rPr lang="en-US" sz="1100" b="1" dirty="0">
                <a:solidFill>
                  <a:srgbClr val="262626"/>
                </a:solidFill>
                <a:latin typeface="Arial" pitchFamily="34" charset="0"/>
                <a:ea typeface="Arial" pitchFamily="34" charset="-122"/>
                <a:cs typeface="Arial" pitchFamily="34" charset="-120"/>
              </a:rPr>
              <a:t>① “1 survivor” is a property of the thresholds, not of chemistry — nudge a cut, the count moves</a:t>
            </a:r>
            <a:endParaRPr lang="en-US" sz="1100" dirty="0"/>
          </a:p>
          <a:p>
            <a:pPr marL="127000" indent="-127000">
              <a:spcAft>
                <a:spcPts val="500"/>
              </a:spcAft>
              <a:buSzPct val="100000"/>
              <a:buChar char="·"/>
            </a:pPr>
            <a:r>
              <a:rPr lang="en-US" sz="1100" b="1" dirty="0">
                <a:solidFill>
                  <a:srgbClr val="1F4E79"/>
                </a:solidFill>
                <a:latin typeface="Arial" pitchFamily="34" charset="0"/>
                <a:ea typeface="Arial" pitchFamily="34" charset="-122"/>
                <a:cs typeface="Arial" pitchFamily="34" charset="-120"/>
              </a:rPr>
              <a:t>② Sequential AND destroys complementarity:</a:t>
            </a:r>
            <a:endParaRPr lang="en-US" sz="1100" dirty="0"/>
          </a:p>
          <a:p>
            <a:pPr lvl="1" marL="254000" indent="-127000">
              <a:spcAft>
                <a:spcPts val="500"/>
              </a:spcAft>
              <a:buSzPct val="100000"/>
              <a:buChar char="–"/>
            </a:pPr>
            <a:r>
              <a:rPr lang="en-US" sz="1100" dirty="0">
                <a:solidFill>
                  <a:srgbClr val="7F7F7F"/>
                </a:solidFill>
                <a:latin typeface="Arial" pitchFamily="34" charset="0"/>
                <a:ea typeface="Arial" pitchFamily="34" charset="-122"/>
                <a:cs typeface="Arial" pitchFamily="34" charset="-120"/>
              </a:rPr>
              <a:t>a weak-transport / superb-oxidation dopant dies at G4 — exactly the one most valuable when paired</a:t>
            </a:r>
            <a:endParaRPr lang="en-US" sz="1100" dirty="0"/>
          </a:p>
          <a:p>
            <a:pPr marL="127000" indent="-127000">
              <a:spcAft>
                <a:spcPts val="500"/>
              </a:spcAft>
              <a:buSzPct val="100000"/>
              <a:buChar char="·"/>
            </a:pPr>
            <a:r>
              <a:rPr lang="en-US" sz="1100" b="1" dirty="0">
                <a:solidFill>
                  <a:srgbClr val="9E2A2B"/>
                </a:solidFill>
                <a:latin typeface="Arial" pitchFamily="34" charset="0"/>
                <a:ea typeface="Arial" pitchFamily="34" charset="-122"/>
                <a:cs typeface="Arial" pitchFamily="34" charset="-120"/>
              </a:rPr>
              <a:t>③ Axes really collide — our own data, three ways at once:</a:t>
            </a:r>
            <a:endParaRPr lang="en-US" sz="1100" dirty="0"/>
          </a:p>
          <a:p>
            <a:pPr lvl="1" marL="254000" indent="-127000">
              <a:spcAft>
                <a:spcPts val="500"/>
              </a:spcAft>
              <a:buSzPct val="100000"/>
              <a:buChar char="–"/>
            </a:pPr>
            <a:r>
              <a:rPr lang="en-US" sz="1100" dirty="0">
                <a:solidFill>
                  <a:srgbClr val="7F7F7F"/>
                </a:solidFill>
                <a:latin typeface="Arial" pitchFamily="34" charset="0"/>
                <a:ea typeface="Arial" pitchFamily="34" charset="-122"/>
                <a:cs typeface="Arial" pitchFamily="34" charset="-120"/>
              </a:rPr>
              <a:t>+B₂O₃ shows it three ways at once: best MD free-energy landscape (PMF 0.16 eV @600 K) · rejected by the static pathway proxy · provisional-worst on air axes (B₂S₃ hydrolysis −0.90, 3rd-worst of 46 [Zhu20])</a:t>
            </a:r>
            <a:endParaRPr lang="en-US" sz="1100" dirty="0"/>
          </a:p>
          <a:p>
            <a:pPr marL="127000" indent="-127000">
              <a:spcAft>
                <a:spcPts val="500"/>
              </a:spcAft>
              <a:buSzPct val="100000"/>
              <a:buChar char="·"/>
            </a:pPr>
            <a:r>
              <a:rPr lang="en-US" sz="1100" b="1" dirty="0">
                <a:solidFill>
                  <a:srgbClr val="262626"/>
                </a:solidFill>
                <a:latin typeface="Arial" pitchFamily="34" charset="0"/>
                <a:ea typeface="Arial" pitchFamily="34" charset="-122"/>
                <a:cs typeface="Arial" pitchFamily="34" charset="-120"/>
              </a:rPr>
              <a:t>One composite score cannot represent this candidate — high is a lie, low is a lie</a:t>
            </a:r>
            <a:endParaRPr lang="en-US" sz="1100" dirty="0"/>
          </a:p>
          <a:p>
            <a:pPr marL="127000" indent="-127000">
              <a:spcAft>
                <a:spcPts val="200"/>
              </a:spcAft>
              <a:buSzPct val="100000"/>
              <a:buChar char="·"/>
            </a:pPr>
            <a:r>
              <a:rPr lang="en-US" sz="1100" b="1" dirty="0">
                <a:solidFill>
                  <a:srgbClr val="1F4E79"/>
                </a:solidFill>
                <a:latin typeface="Arial" pitchFamily="34" charset="0"/>
                <a:ea typeface="Arial" pitchFamily="34" charset="-122"/>
                <a:cs typeface="Arial" pitchFamily="34" charset="-120"/>
              </a:rPr>
              <a:t>⇒ ranking stays multi-objective (14 axes); the next step is combination, not elimination</a:t>
            </a:r>
            <a:endParaRPr lang="en-US" sz="1100" dirty="0"/>
          </a:p>
        </p:txBody>
      </p:sp>
      <p:pic>
        <p:nvPicPr>
          <p:cNvPr id="7" name="Image 0" descr="/tmp/claude-0/-home-user-Yonghoon-DEM-DFT/82ea256b-12bc-5a75-994e-7718d79c71ba/scratchpad/zhu_fig3a_annot.png">    </p:cNvPr>
          <p:cNvPicPr>
            <a:picLocks noChangeAspect="1"/>
          </p:cNvPicPr>
          <p:nvPr/>
        </p:nvPicPr>
        <p:blipFill>
          <a:blip r:embed="rId1"/>
          <a:srcRect l="0" r="0" t="0" b="0"/>
          <a:stretch/>
        </p:blipFill>
        <p:spPr>
          <a:xfrm>
            <a:off x="5486400" y="1417320"/>
            <a:ext cx="3200400" cy="3108960"/>
          </a:xfrm>
          <a:prstGeom prst="rect">
            <a:avLst/>
          </a:prstGeom>
        </p:spPr>
      </p:pic>
      <p:sp>
        <p:nvSpPr>
          <p:cNvPr id="8" name="Text 5"/>
          <p:cNvSpPr/>
          <p:nvPr/>
        </p:nvSpPr>
        <p:spPr>
          <a:xfrm>
            <a:off x="5486400" y="4544568"/>
            <a:ext cx="3200400" cy="274320"/>
          </a:xfrm>
          <a:prstGeom prst="rect">
            <a:avLst/>
          </a:prstGeom>
          <a:noFill/>
          <a:ln/>
        </p:spPr>
        <p:txBody>
          <a:bodyPr wrap="square" lIns="0" tIns="0" rIns="0" bIns="0" rtlCol="0" anchor="ctr"/>
          <a:lstStyle/>
          <a:p>
            <a:pPr algn="ctr" indent="0" marL="0">
              <a:buNone/>
            </a:pPr>
            <a:r>
              <a:rPr lang="en-US" sz="850" i="1" dirty="0">
                <a:solidFill>
                  <a:srgbClr val="7F7F7F"/>
                </a:solidFill>
                <a:latin typeface="Arial" pitchFamily="34" charset="0"/>
                <a:ea typeface="Arial" pitchFamily="34" charset="-122"/>
                <a:cs typeface="Arial" pitchFamily="34" charset="-120"/>
              </a:rPr>
              <a:t>Hydrolysis vs reduction map (Zhu 2020; circle added) — B³⁺ at the bottom is the same B our MD landscape ranks best</a:t>
            </a:r>
            <a:endParaRPr lang="en-US" sz="850" dirty="0"/>
          </a:p>
        </p:txBody>
      </p:sp>
      <p:sp>
        <p:nvSpPr>
          <p:cNvPr id="10" name="Text 6"/>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11" name="Text 7"/>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Combine</a:t>
            </a:r>
            <a:endParaRPr lang="en-US" sz="1100" dirty="0"/>
          </a:p>
        </p:txBody>
      </p:sp>
      <p:sp>
        <p:nvSpPr>
          <p:cNvPr id="3" name="Text 1"/>
          <p:cNvSpPr/>
          <p:nvPr/>
        </p:nvSpPr>
        <p:spPr>
          <a:xfrm>
            <a:off x="3840480" y="219456"/>
            <a:ext cx="4846320" cy="292608"/>
          </a:xfrm>
          <a:prstGeom prst="rect">
            <a:avLst/>
          </a:prstGeom>
          <a:noFill/>
          <a:ln/>
        </p:spPr>
        <p:txBody>
          <a:bodyPr wrap="square" lIns="0" tIns="0" rIns="0" bIns="0" rtlCol="0" anchor="ctr"/>
          <a:lstStyle/>
          <a:p>
            <a:pPr algn="r" indent="0" marL="0">
              <a:buNone/>
            </a:pPr>
            <a:r>
              <a:rPr lang="en-US" sz="850" i="1" dirty="0">
                <a:solidFill>
                  <a:srgbClr val="7F7F7F"/>
                </a:solidFill>
                <a:latin typeface="Arial" pitchFamily="34" charset="0"/>
                <a:ea typeface="Arial" pitchFamily="34" charset="-122"/>
                <a:cs typeface="Arial" pitchFamily="34" charset="-120"/>
              </a:rPr>
              <a:t>synergy = max(joint-window gain, 0) × radius-match × stability</a:t>
            </a:r>
            <a:endParaRPr lang="en-US" sz="850" dirty="0"/>
          </a:p>
        </p:txBody>
      </p:sp>
      <p:sp>
        <p:nvSpPr>
          <p:cNvPr id="4" name="Text 2"/>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Co-doping: complementarity as the design variable</a:t>
            </a:r>
            <a:endParaRPr lang="en-US" sz="2000" dirty="0"/>
          </a:p>
        </p:txBody>
      </p:sp>
      <p:sp>
        <p:nvSpPr>
          <p:cNvPr id="5" name="Shape 3"/>
          <p:cNvSpPr/>
          <p:nvPr/>
        </p:nvSpPr>
        <p:spPr>
          <a:xfrm>
            <a:off x="457200" y="1115568"/>
            <a:ext cx="8229600" cy="0"/>
          </a:xfrm>
          <a:prstGeom prst="line">
            <a:avLst/>
          </a:prstGeom>
          <a:noFill/>
          <a:ln w="12700">
            <a:solidFill>
              <a:srgbClr val="D9D9D9"/>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8138160" cy="914400"/>
        </p:xfrm>
        <a:graphic>
          <a:graphicData uri="http://schemas.openxmlformats.org/drawingml/2006/table">
            <a:tbl>
              <a:tblPr/>
              <a:tblGrid>
                <a:gridCol w="2011680"/>
                <a:gridCol w="1737360"/>
                <a:gridCol w="1554480"/>
                <a:gridCol w="1371600"/>
                <a:gridCol w="1463040"/>
              </a:tblGrid>
              <a:tr h="310896">
                <a:tc>
                  <a:txBody>
                    <a:bodyPr/>
                    <a:lstStyle/>
                    <a:p>
                      <a:pPr indent="0" marL="0">
                        <a:buNone/>
                      </a:pPr>
                      <a:r>
                        <a:rPr lang="en-US" sz="1050" b="1" dirty="0">
                          <a:solidFill>
                            <a:srgbClr val="FFFFFF"/>
                          </a:solidFill>
                          <a:latin typeface="Arial" pitchFamily="34" charset="0"/>
                          <a:ea typeface="Arial" pitchFamily="34" charset="-122"/>
                          <a:cs typeface="Arial" pitchFamily="34" charset="-120"/>
                        </a:rPr>
                        <a:t>Pair</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proxy joint window (V)</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vs best single</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radius match</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tag</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r>
              <a:tr h="310896">
                <a:tc>
                  <a:txBody>
                    <a:bodyPr/>
                    <a:lstStyle/>
                    <a:p>
                      <a:pPr indent="0" marL="0">
                        <a:buNone/>
                      </a:pPr>
                      <a:r>
                        <a:rPr lang="en-US" sz="1050" b="1" dirty="0">
                          <a:solidFill>
                            <a:srgbClr val="262626"/>
                          </a:solidFill>
                          <a:latin typeface="Arial" pitchFamily="34" charset="0"/>
                          <a:ea typeface="Arial" pitchFamily="34" charset="-122"/>
                          <a:cs typeface="Arial" pitchFamily="34" charset="-120"/>
                        </a:rPr>
                        <a:t>Cr₂O₃ + HfO₂</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1.114</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b="1" dirty="0">
                          <a:solidFill>
                            <a:srgbClr val="9E2A2B"/>
                          </a:solidFill>
                          <a:latin typeface="Arial" pitchFamily="34" charset="0"/>
                          <a:ea typeface="Arial" pitchFamily="34" charset="-122"/>
                          <a:cs typeface="Arial" pitchFamily="34" charset="-120"/>
                        </a:rPr>
                        <a:t>+0.360</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0.87</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anode↔cathode</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10896">
                <a:tc>
                  <a:txBody>
                    <a:bodyPr/>
                    <a:lstStyle/>
                    <a:p>
                      <a:pPr indent="0" marL="0">
                        <a:buNone/>
                      </a:pPr>
                      <a:r>
                        <a:rPr lang="en-US" sz="1050" dirty="0">
                          <a:solidFill>
                            <a:srgbClr val="262626"/>
                          </a:solidFill>
                          <a:latin typeface="Arial" pitchFamily="34" charset="0"/>
                          <a:ea typeface="Arial" pitchFamily="34" charset="-122"/>
                          <a:cs typeface="Arial" pitchFamily="34" charset="-120"/>
                        </a:rPr>
                        <a:t>Al₂O₃ + Cr₂O₃</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0.984</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+0.216</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0.90</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anode↔cathode</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10896">
                <a:tc>
                  <a:txBody>
                    <a:bodyPr/>
                    <a:lstStyle/>
                    <a:p>
                      <a:pPr indent="0" marL="0">
                        <a:buNone/>
                      </a:pPr>
                      <a:r>
                        <a:rPr lang="en-US" sz="1050" dirty="0">
                          <a:solidFill>
                            <a:srgbClr val="262626"/>
                          </a:solidFill>
                          <a:latin typeface="Arial" pitchFamily="34" charset="0"/>
                          <a:ea typeface="Arial" pitchFamily="34" charset="-122"/>
                          <a:cs typeface="Arial" pitchFamily="34" charset="-120"/>
                        </a:rPr>
                        <a:t>HfO₂ + In₂O₃</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1.114</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+0.323</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0.88</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anode↔cathode</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10896">
                <a:tc>
                  <a:txBody>
                    <a:bodyPr/>
                    <a:lstStyle/>
                    <a:p>
                      <a:pPr indent="0" marL="0">
                        <a:buNone/>
                      </a:pPr>
                      <a:r>
                        <a:rPr lang="en-US" sz="1050" dirty="0">
                          <a:solidFill>
                            <a:srgbClr val="262626"/>
                          </a:solidFill>
                          <a:latin typeface="Arial" pitchFamily="34" charset="0"/>
                          <a:ea typeface="Arial" pitchFamily="34" charset="-122"/>
                          <a:cs typeface="Arial" pitchFamily="34" charset="-120"/>
                        </a:rPr>
                        <a:t>Ga₂O₃ + HfO₂</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1.114</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+0.336</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0.88</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anode↔cathode</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7" name="Text 4"/>
          <p:cNvSpPr/>
          <p:nvPr/>
        </p:nvSpPr>
        <p:spPr>
          <a:xfrm>
            <a:off x="502920" y="2999232"/>
            <a:ext cx="8138160" cy="219456"/>
          </a:xfrm>
          <a:prstGeom prst="rect">
            <a:avLst/>
          </a:prstGeom>
          <a:noFill/>
          <a:ln/>
        </p:spPr>
        <p:txBody>
          <a:bodyPr wrap="square" lIns="0" tIns="0" rIns="0" bIns="0" rtlCol="0" anchor="ctr"/>
          <a:lstStyle/>
          <a:p>
            <a:pPr indent="0" marL="0">
              <a:buNone/>
            </a:pPr>
            <a:r>
              <a:rPr lang="en-US" sz="850" i="1" dirty="0">
                <a:solidFill>
                  <a:srgbClr val="7F7F7F"/>
                </a:solidFill>
                <a:latin typeface="Arial" pitchFamily="34" charset="0"/>
                <a:ea typeface="Arial" pitchFamily="34" charset="-122"/>
                <a:cs typeface="Arial" pitchFamily="34" charset="-120"/>
              </a:rPr>
              <a:t>rows 1/3/4 share 1.114 V because HfO₂ supplies the common reduction edge; the Cr/Ga/In oxides supply the oxidation edge. All rows are end-member combinations — not explicit co-doped calculations</a:t>
            </a:r>
            <a:endParaRPr lang="en-US" sz="850" dirty="0"/>
          </a:p>
        </p:txBody>
      </p:sp>
      <p:sp>
        <p:nvSpPr>
          <p:cNvPr id="8" name="Text 5"/>
          <p:cNvSpPr/>
          <p:nvPr/>
        </p:nvSpPr>
        <p:spPr>
          <a:xfrm>
            <a:off x="502920" y="3291840"/>
            <a:ext cx="8138160" cy="2743200"/>
          </a:xfrm>
          <a:prstGeom prst="rect">
            <a:avLst/>
          </a:prstGeom>
          <a:noFill/>
          <a:ln/>
        </p:spPr>
        <p:txBody>
          <a:bodyPr wrap="square" lIns="0" tIns="0" rIns="0" bIns="0" rtlCol="0" anchor="t"/>
          <a:lstStyle/>
          <a:p>
            <a:pPr marL="127000" indent="-127000">
              <a:spcAft>
                <a:spcPts val="500"/>
              </a:spcAft>
              <a:buSzPct val="100000"/>
              <a:buChar char="·"/>
            </a:pPr>
            <a:r>
              <a:rPr lang="en-US" sz="1050" b="1" dirty="0">
                <a:solidFill>
                  <a:srgbClr val="1F4E79"/>
                </a:solidFill>
                <a:latin typeface="Arial" pitchFamily="34" charset="0"/>
                <a:ea typeface="Arial" pitchFamily="34" charset="-122"/>
                <a:cs typeface="Arial" pitchFamily="34" charset="-120"/>
              </a:rPr>
              <a:t>Top pairs are ALL anode↔cathode — complementarity is doing the work</a:t>
            </a:r>
            <a:endParaRPr lang="en-US" sz="1050" dirty="0"/>
          </a:p>
          <a:p>
            <a:pPr marL="127000" indent="-127000">
              <a:spcAft>
                <a:spcPts val="200"/>
              </a:spcAft>
              <a:buSzPct val="100000"/>
              <a:buChar char="·"/>
            </a:pPr>
            <a:r>
              <a:rPr lang="en-US" sz="1050" b="1" dirty="0">
                <a:solidFill>
                  <a:srgbClr val="262626"/>
                </a:solidFill>
                <a:latin typeface="Arial" pitchFamily="34" charset="0"/>
                <a:ea typeface="Arial" pitchFamily="34" charset="-122"/>
                <a:cs typeface="Arial" pitchFamily="34" charset="-120"/>
              </a:rPr>
              <a:t>Is it even makeable?  Three checks before believing:</a:t>
            </a:r>
            <a:endParaRPr lang="en-US" sz="1050" dirty="0"/>
          </a:p>
          <a:p>
            <a:pPr lvl="1" marL="254000" indent="-127000">
              <a:spcAft>
                <a:spcPts val="500"/>
              </a:spcAft>
              <a:buSzPct val="100000"/>
              <a:buChar char="–"/>
            </a:pPr>
            <a:r>
              <a:rPr lang="en-US" sz="1050" dirty="0">
                <a:solidFill>
                  <a:srgbClr val="7F7F7F"/>
                </a:solidFill>
                <a:latin typeface="Arial" pitchFamily="34" charset="0"/>
                <a:ea typeface="Arial" pitchFamily="34" charset="-122"/>
                <a:cs typeface="Arial" pitchFamily="34" charset="-120"/>
              </a:rPr>
              <a:t>① site competition — literature-analogy sites: Cr³⁺ → Li_24g, Hf⁴⁺ amphoteric (P_4b or Li_24g) → same-site competition is a first-order risk (heuristic grades; unresolved until explicit structures)</a:t>
            </a:r>
            <a:endParaRPr lang="en-US" sz="1050" dirty="0"/>
          </a:p>
          <a:p>
            <a:pPr lvl="1" marL="254000" indent="-127000">
              <a:spcAft>
                <a:spcPts val="500"/>
              </a:spcAft>
              <a:buSzPct val="100000"/>
              <a:buChar char="–"/>
            </a:pPr>
            <a:r>
              <a:rPr lang="en-US" sz="1050" dirty="0">
                <a:solidFill>
                  <a:srgbClr val="7F7F7F"/>
                </a:solidFill>
                <a:latin typeface="Arial" pitchFamily="34" charset="0"/>
                <a:ea typeface="Arial" pitchFamily="34" charset="-122"/>
                <a:cs typeface="Arial" pitchFamily="34" charset="-120"/>
              </a:rPr>
              <a:t>② charge arithmetic — M³⁺→P gives +2 Li, M⁴⁺→P gives +1 Li; the Li count must close</a:t>
            </a:r>
            <a:endParaRPr lang="en-US" sz="1050" dirty="0"/>
          </a:p>
          <a:p>
            <a:pPr lvl="1" marL="254000" indent="-127000">
              <a:spcAft>
                <a:spcPts val="500"/>
              </a:spcAft>
              <a:buSzPct val="100000"/>
              <a:buChar char="–"/>
            </a:pPr>
            <a:r>
              <a:rPr lang="en-US" sz="1050" dirty="0">
                <a:solidFill>
                  <a:srgbClr val="7F7F7F"/>
                </a:solidFill>
                <a:latin typeface="Arial" pitchFamily="34" charset="0"/>
                <a:ea typeface="Arial" pitchFamily="34" charset="-122"/>
                <a:cs typeface="Arial" pitchFamily="34" charset="-120"/>
              </a:rPr>
              <a:t>③ co-substituted formation energy — needs the supercell calculation (next slide)</a:t>
            </a:r>
            <a:endParaRPr lang="en-US" sz="1050" dirty="0"/>
          </a:p>
          <a:p>
            <a:pPr marL="127000" indent="-127000">
              <a:spcAft>
                <a:spcPts val="200"/>
              </a:spcAft>
              <a:buSzPct val="100000"/>
              <a:buChar char="·"/>
            </a:pPr>
            <a:r>
              <a:rPr lang="en-US" sz="1050" i="1" dirty="0">
                <a:solidFill>
                  <a:srgbClr val="9E2A2B"/>
                </a:solidFill>
                <a:latin typeface="Arial" pitchFamily="34" charset="0"/>
                <a:ea typeface="Arial" pitchFamily="34" charset="-122"/>
                <a:cs typeface="Arial" pitchFamily="34" charset="-120"/>
              </a:rPr>
              <a:t>File header, verbatim: “co-doping synergy HYPOTHESES (single-dopant proxy, not validated)”</a:t>
            </a:r>
            <a:endParaRPr lang="en-US" sz="1050" dirty="0"/>
          </a:p>
        </p:txBody>
      </p:sp>
      <p:sp>
        <p:nvSpPr>
          <p:cNvPr id="10" name="Text 6"/>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11" name="Text 7"/>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Combine</a:t>
            </a:r>
            <a:endParaRPr lang="en-US" sz="1100" dirty="0"/>
          </a:p>
        </p:txBody>
      </p:sp>
      <p:sp>
        <p:nvSpPr>
          <p:cNvPr id="3" name="Text 1"/>
          <p:cNvSpPr/>
          <p:nvPr/>
        </p:nvSpPr>
        <p:spPr>
          <a:xfrm>
            <a:off x="3840480" y="219456"/>
            <a:ext cx="4846320" cy="292608"/>
          </a:xfrm>
          <a:prstGeom prst="rect">
            <a:avLst/>
          </a:prstGeom>
          <a:noFill/>
          <a:ln/>
        </p:spPr>
        <p:txBody>
          <a:bodyPr wrap="square" lIns="0" tIns="0" rIns="0" bIns="0" rtlCol="0" anchor="ctr"/>
          <a:lstStyle/>
          <a:p>
            <a:pPr algn="r" indent="0" marL="0">
              <a:buNone/>
            </a:pPr>
            <a:r>
              <a:rPr lang="en-US" sz="850" i="1" dirty="0">
                <a:solidFill>
                  <a:srgbClr val="7F7F7F"/>
                </a:solidFill>
                <a:latin typeface="Arial" pitchFamily="34" charset="0"/>
                <a:ea typeface="Arial" pitchFamily="34" charset="-122"/>
                <a:cs typeface="Arial" pitchFamily="34" charset="-120"/>
              </a:rPr>
              <a:t>ridge · λ by 1-SE rule · LOOCV</a:t>
            </a:r>
            <a:endParaRPr lang="en-US" sz="850" dirty="0"/>
          </a:p>
        </p:txBody>
      </p:sp>
      <p:sp>
        <p:nvSpPr>
          <p:cNvPr id="4" name="Text 2"/>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What the model actually knows</a:t>
            </a:r>
            <a:endParaRPr lang="en-US" sz="2000" dirty="0"/>
          </a:p>
        </p:txBody>
      </p:sp>
      <p:sp>
        <p:nvSpPr>
          <p:cNvPr id="5" name="Shape 3"/>
          <p:cNvSpPr/>
          <p:nvPr/>
        </p:nvSpPr>
        <p:spPr>
          <a:xfrm>
            <a:off x="457200" y="1115568"/>
            <a:ext cx="8229600" cy="0"/>
          </a:xfrm>
          <a:prstGeom prst="line">
            <a:avLst/>
          </a:prstGeom>
          <a:noFill/>
          <a:ln w="12700">
            <a:solidFill>
              <a:srgbClr val="D9D9D9"/>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8138160" cy="914400"/>
        </p:xfrm>
        <a:graphic>
          <a:graphicData uri="http://schemas.openxmlformats.org/drawingml/2006/table">
            <a:tbl>
              <a:tblPr/>
              <a:tblGrid>
                <a:gridCol w="1005840"/>
                <a:gridCol w="2377440"/>
                <a:gridCol w="914400"/>
                <a:gridCol w="1097280"/>
                <a:gridCol w="2743200"/>
              </a:tblGrid>
              <a:tr h="457200">
                <a:tc>
                  <a:txBody>
                    <a:bodyPr/>
                    <a:lstStyle/>
                    <a:p>
                      <a:pPr indent="0" marL="0">
                        <a:buNone/>
                      </a:pPr>
                      <a:r>
                        <a:rPr lang="en-US" sz="1000" b="1" dirty="0">
                          <a:solidFill>
                            <a:srgbClr val="FFFFFF"/>
                          </a:solidFill>
                          <a:latin typeface="Arial" pitchFamily="34" charset="0"/>
                          <a:ea typeface="Arial" pitchFamily="34" charset="-122"/>
                          <a:cs typeface="Arial" pitchFamily="34" charset="-120"/>
                        </a:rPr>
                        <a:t>Stage</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Target</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n</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LOOCV R²</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Reading</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r>
              <a:tr h="457200">
                <a:tc>
                  <a:txBody>
                    <a:bodyPr/>
                    <a:lstStyle/>
                    <a:p>
                      <a:pPr indent="0" marL="0">
                        <a:buNone/>
                      </a:pPr>
                      <a:r>
                        <a:rPr lang="en-US" sz="1000" dirty="0">
                          <a:solidFill>
                            <a:srgbClr val="262626"/>
                          </a:solidFill>
                          <a:latin typeface="Arial" pitchFamily="34" charset="0"/>
                          <a:ea typeface="Arial" pitchFamily="34" charset="-122"/>
                          <a:cs typeface="Arial" pitchFamily="34" charset="-120"/>
                        </a:rPr>
                        <a:t>1  ridge</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62626"/>
                          </a:solidFill>
                          <a:latin typeface="Arial" pitchFamily="34" charset="0"/>
                          <a:ea typeface="Arial" pitchFamily="34" charset="-122"/>
                          <a:cs typeface="Arial" pitchFamily="34" charset="-120"/>
                        </a:rPr>
                        <a:t>our cascade score (composite)</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62626"/>
                          </a:solidFill>
                          <a:latin typeface="Arial" pitchFamily="34" charset="0"/>
                          <a:ea typeface="Arial" pitchFamily="34" charset="-122"/>
                          <a:cs typeface="Arial" pitchFamily="34" charset="-120"/>
                        </a:rPr>
                        <a:t>47</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rgbClr val="262626"/>
                          </a:solidFill>
                          <a:latin typeface="Arial" pitchFamily="34" charset="0"/>
                          <a:ea typeface="Arial" pitchFamily="34" charset="-122"/>
                          <a:cs typeface="Arial" pitchFamily="34" charset="-120"/>
                        </a:rPr>
                        <a:t>0.9998</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62626"/>
                          </a:solidFill>
                          <a:latin typeface="Arial" pitchFamily="34" charset="0"/>
                          <a:ea typeface="Arial" pitchFamily="34" charset="-122"/>
                          <a:cs typeface="Arial" pitchFamily="34" charset="-120"/>
                        </a:rPr>
                        <a:t>not success: it dissected our own formula</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000" dirty="0">
                          <a:solidFill>
                            <a:srgbClr val="7F7F7F"/>
                          </a:solidFill>
                          <a:latin typeface="Arial" pitchFamily="34" charset="0"/>
                          <a:ea typeface="Arial" pitchFamily="34" charset="-122"/>
                          <a:cs typeface="Arial" pitchFamily="34" charset="-120"/>
                        </a:rPr>
                        <a:t>2  pair features</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7F7F7F"/>
                          </a:solidFill>
                          <a:latin typeface="Arial" pitchFamily="34" charset="0"/>
                          <a:ea typeface="Arial" pitchFamily="34" charset="-122"/>
                          <a:cs typeface="Arial" pitchFamily="34" charset="-120"/>
                        </a:rPr>
                        <a:t>feature construction (min/max/avg + quadratic)</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7F7F7F"/>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7F7F7F"/>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7F7F7F"/>
                          </a:solidFill>
                          <a:latin typeface="Arial" pitchFamily="34" charset="0"/>
                          <a:ea typeface="Arial" pitchFamily="34" charset="-122"/>
                          <a:cs typeface="Arial" pitchFamily="34" charset="-120"/>
                        </a:rPr>
                        <a:t>construction stage — no CV target</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000" dirty="0">
                          <a:solidFill>
                            <a:srgbClr val="262626"/>
                          </a:solidFill>
                          <a:latin typeface="Arial" pitchFamily="34" charset="0"/>
                          <a:ea typeface="Arial" pitchFamily="34" charset="-122"/>
                          <a:cs typeface="Arial" pitchFamily="34" charset="-120"/>
                        </a:rPr>
                        <a:t>3  interaction</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62626"/>
                          </a:solidFill>
                          <a:latin typeface="Arial" pitchFamily="34" charset="0"/>
                          <a:ea typeface="Arial" pitchFamily="34" charset="-122"/>
                          <a:cs typeface="Arial" pitchFamily="34" charset="-120"/>
                        </a:rPr>
                        <a:t>pair synergy</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62626"/>
                          </a:solidFill>
                          <a:latin typeface="Arial" pitchFamily="34" charset="0"/>
                          <a:ea typeface="Arial" pitchFamily="34" charset="-122"/>
                          <a:cs typeface="Arial" pitchFamily="34" charset="-120"/>
                        </a:rPr>
                        <a:t>1,081 pairs</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rgbClr val="9E2A2B"/>
                          </a:solidFill>
                          <a:latin typeface="Arial" pitchFamily="34" charset="0"/>
                          <a:ea typeface="Arial" pitchFamily="34" charset="-122"/>
                          <a:cs typeface="Arial" pitchFamily="34" charset="-120"/>
                        </a:rPr>
                        <a:t>0.089</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62626"/>
                          </a:solidFill>
                          <a:latin typeface="Arial" pitchFamily="34" charset="0"/>
                          <a:ea typeface="Arial" pitchFamily="34" charset="-122"/>
                          <a:cs typeface="Arial" pitchFamily="34" charset="-120"/>
                        </a:rPr>
                        <a:t>honest number — interactions essentially unlearned</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7" name="Text 4"/>
          <p:cNvSpPr/>
          <p:nvPr/>
        </p:nvSpPr>
        <p:spPr>
          <a:xfrm>
            <a:off x="502920" y="2834640"/>
            <a:ext cx="8138160" cy="3017520"/>
          </a:xfrm>
          <a:prstGeom prst="rect">
            <a:avLst/>
          </a:prstGeom>
          <a:noFill/>
          <a:ln/>
        </p:spPr>
        <p:txBody>
          <a:bodyPr wrap="square" lIns="0" tIns="0" rIns="0" bIns="0" rtlCol="0" anchor="t"/>
          <a:lstStyle/>
          <a:p>
            <a:pPr marL="127000" indent="-127000">
              <a:spcAft>
                <a:spcPts val="500"/>
              </a:spcAft>
              <a:buSzPct val="100000"/>
              <a:buChar char="·"/>
            </a:pPr>
            <a:r>
              <a:rPr lang="en-US" sz="1050" b="1" dirty="0">
                <a:solidFill>
                  <a:srgbClr val="9E2A2B"/>
                </a:solidFill>
                <a:latin typeface="Arial" pitchFamily="34" charset="0"/>
                <a:ea typeface="Arial" pitchFamily="34" charset="-122"/>
                <a:cs typeface="Arial" pitchFamily="34" charset="-120"/>
              </a:rPr>
              <a:t>And 0.089 is the OPTIMISTIC number: dopant-level CV (LODO/L2DO) drives R² negative (−0.18 / −0.25) — optimism bias +0.34 quantified</a:t>
            </a:r>
            <a:endParaRPr lang="en-US" sz="1050" dirty="0"/>
          </a:p>
          <a:p>
            <a:pPr marL="127000" indent="-127000">
              <a:spcAft>
                <a:spcPts val="500"/>
              </a:spcAft>
              <a:buSzPct val="100000"/>
              <a:buChar char="·"/>
            </a:pPr>
            <a:r>
              <a:rPr lang="en-US" sz="1050" b="1" dirty="0">
                <a:solidFill>
                  <a:srgbClr val="262626"/>
                </a:solidFill>
                <a:latin typeface="Arial" pitchFamily="34" charset="0"/>
                <a:ea typeface="Arial" pitchFamily="34" charset="-122"/>
                <a:cs typeface="Arial" pitchFamily="34" charset="-120"/>
              </a:rPr>
              <a:t>v1→v2 method change: top-10 overlap 2/10 (Spearman 0.672) — pair ranking not stable across versions</a:t>
            </a:r>
            <a:endParaRPr lang="en-US" sz="1050" dirty="0"/>
          </a:p>
          <a:p>
            <a:pPr marL="127000" indent="-127000">
              <a:spcAft>
                <a:spcPts val="500"/>
              </a:spcAft>
              <a:buSzPct val="100000"/>
              <a:buChar char="·"/>
            </a:pPr>
            <a:r>
              <a:rPr lang="en-US" sz="1050" b="1" dirty="0">
                <a:solidFill>
                  <a:srgbClr val="262626"/>
                </a:solidFill>
                <a:latin typeface="Arial" pitchFamily="34" charset="0"/>
                <a:ea typeface="Arial" pitchFamily="34" charset="-122"/>
                <a:cs typeface="Arial" pitchFamily="34" charset="-120"/>
              </a:rPr>
              <a:t>Root cause: no co-doping labels; dopant–dopant chemistry (vacancy compensation, phase separation, interphases) absent from features</a:t>
            </a:r>
            <a:endParaRPr lang="en-US" sz="1050" dirty="0"/>
          </a:p>
          <a:p>
            <a:pPr lvl="1" marL="254000" indent="-127000">
              <a:spcAft>
                <a:spcPts val="500"/>
              </a:spcAft>
              <a:buSzPct val="100000"/>
              <a:buChar char="–"/>
            </a:pPr>
            <a:r>
              <a:rPr lang="en-US" sz="1050" dirty="0">
                <a:solidFill>
                  <a:srgbClr val="7F7F7F"/>
                </a:solidFill>
                <a:latin typeface="Arial" pitchFamily="34" charset="0"/>
                <a:ea typeface="Arial" pitchFamily="34" charset="-122"/>
                <a:cs typeface="Arial" pitchFamily="34" charset="-120"/>
              </a:rPr>
              <a:t>Small-sample defense (Sendek procedure, 40 ≈ 47): LOOCV · label-shuffle / X-randomization · applicability domain · dopant-level CV — they classify cross-material; we regress within-host</a:t>
            </a:r>
            <a:endParaRPr lang="en-US" sz="1050" dirty="0"/>
          </a:p>
          <a:p>
            <a:pPr marL="127000" indent="-127000">
              <a:spcAft>
                <a:spcPts val="500"/>
              </a:spcAft>
              <a:buSzPct val="100000"/>
              <a:buChar char="·"/>
            </a:pPr>
            <a:r>
              <a:rPr lang="en-US" sz="1050" b="1" dirty="0">
                <a:solidFill>
                  <a:srgbClr val="9E2A2B"/>
                </a:solidFill>
                <a:latin typeface="Arial" pitchFamily="34" charset="0"/>
                <a:ea typeface="Arial" pitchFamily="34" charset="-122"/>
                <a:cs typeface="Arial" pitchFamily="34" charset="-120"/>
              </a:rPr>
              <a:t>Inventory: 1,081 H0 hypotheses · 0 explicit pair structures · 0 pair UMA/DFT/experiment targets</a:t>
            </a:r>
            <a:endParaRPr lang="en-US" sz="1050" dirty="0"/>
          </a:p>
          <a:p>
            <a:pPr marL="127000" indent="-127000">
              <a:spcAft>
                <a:spcPts val="200"/>
              </a:spcAft>
              <a:buSzPct val="100000"/>
              <a:buChar char="·"/>
            </a:pPr>
            <a:r>
              <a:rPr lang="en-US" sz="1050" b="1" dirty="0">
                <a:solidFill>
                  <a:srgbClr val="1F4E79"/>
                </a:solidFill>
                <a:latin typeface="Arial" pitchFamily="34" charset="0"/>
                <a:ea typeface="Arial" pitchFamily="34" charset="-122"/>
                <a:cs typeface="Arial" pitchFamily="34" charset="-120"/>
              </a:rPr>
              <a:t>Showing only R² = 0.9998 would be a lie — we show both numbers</a:t>
            </a:r>
            <a:endParaRPr lang="en-US" sz="1050" dirty="0"/>
          </a:p>
        </p:txBody>
      </p:sp>
      <p:sp>
        <p:nvSpPr>
          <p:cNvPr id="9" name="Text 5"/>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10" name="Text 6"/>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Combine</a:t>
            </a:r>
            <a:endParaRPr lang="en-US" sz="1100" dirty="0"/>
          </a:p>
        </p:txBody>
      </p:sp>
      <p:sp>
        <p:nvSpPr>
          <p:cNvPr id="3" name="Text 1"/>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Making the labels the model is missing</a:t>
            </a:r>
            <a:endParaRPr lang="en-US" sz="2000" dirty="0"/>
          </a:p>
        </p:txBody>
      </p:sp>
      <p:sp>
        <p:nvSpPr>
          <p:cNvPr id="4" name="Shape 2"/>
          <p:cNvSpPr/>
          <p:nvPr/>
        </p:nvSpPr>
        <p:spPr>
          <a:xfrm>
            <a:off x="457200" y="1115568"/>
            <a:ext cx="8229600" cy="0"/>
          </a:xfrm>
          <a:prstGeom prst="line">
            <a:avLst/>
          </a:prstGeom>
          <a:noFill/>
          <a:ln w="12700">
            <a:solidFill>
              <a:srgbClr val="D9D9D9"/>
            </a:solidFill>
            <a:prstDash val="solid"/>
          </a:ln>
        </p:spPr>
      </p:sp>
      <p:sp>
        <p:nvSpPr>
          <p:cNvPr id="5" name="Text 3"/>
          <p:cNvSpPr/>
          <p:nvPr/>
        </p:nvSpPr>
        <p:spPr>
          <a:xfrm>
            <a:off x="502920" y="1417320"/>
            <a:ext cx="4206240" cy="274320"/>
          </a:xfrm>
          <a:prstGeom prst="rect">
            <a:avLst/>
          </a:prstGeom>
          <a:noFill/>
          <a:ln/>
        </p:spPr>
        <p:txBody>
          <a:bodyPr wrap="square" lIns="0" tIns="0" rIns="0" bIns="0" rtlCol="0" anchor="ctr"/>
          <a:lstStyle/>
          <a:p>
            <a:pPr indent="0" marL="0">
              <a:buNone/>
            </a:pPr>
            <a:r>
              <a:rPr lang="en-US" sz="1050" b="1" dirty="0">
                <a:solidFill>
                  <a:srgbClr val="262626"/>
                </a:solidFill>
                <a:latin typeface="Arial" pitchFamily="34" charset="0"/>
                <a:ea typeface="Arial" pitchFamily="34" charset="-122"/>
                <a:cs typeface="Arial" pitchFamily="34" charset="-120"/>
              </a:rPr>
              <a:t>dose grid per pair:  3 × 3 labels (actual x to be resolved first — see the label caveat)</a:t>
            </a:r>
            <a:endParaRPr lang="en-US" sz="1050" dirty="0"/>
          </a:p>
        </p:txBody>
      </p:sp>
      <p:sp>
        <p:nvSpPr>
          <p:cNvPr id="6" name="Shape 4"/>
          <p:cNvSpPr/>
          <p:nvPr/>
        </p:nvSpPr>
        <p:spPr>
          <a:xfrm>
            <a:off x="868680" y="2148840"/>
            <a:ext cx="475488" cy="475488"/>
          </a:xfrm>
          <a:prstGeom prst="rect">
            <a:avLst/>
          </a:prstGeom>
          <a:solidFill>
            <a:srgbClr val="EEF3F9"/>
          </a:solidFill>
          <a:ln w="12700">
            <a:solidFill>
              <a:srgbClr val="1F4E79"/>
            </a:solidFill>
            <a:prstDash val="solid"/>
          </a:ln>
        </p:spPr>
      </p:sp>
      <p:sp>
        <p:nvSpPr>
          <p:cNvPr id="7" name="Shape 5"/>
          <p:cNvSpPr/>
          <p:nvPr/>
        </p:nvSpPr>
        <p:spPr>
          <a:xfrm>
            <a:off x="1344168" y="2148840"/>
            <a:ext cx="475488" cy="475488"/>
          </a:xfrm>
          <a:prstGeom prst="rect">
            <a:avLst/>
          </a:prstGeom>
          <a:solidFill>
            <a:srgbClr val="EEF3F9"/>
          </a:solidFill>
          <a:ln w="12700">
            <a:solidFill>
              <a:srgbClr val="1F4E79"/>
            </a:solidFill>
            <a:prstDash val="solid"/>
          </a:ln>
        </p:spPr>
      </p:sp>
      <p:sp>
        <p:nvSpPr>
          <p:cNvPr id="8" name="Shape 6"/>
          <p:cNvSpPr/>
          <p:nvPr/>
        </p:nvSpPr>
        <p:spPr>
          <a:xfrm>
            <a:off x="1819656" y="2148840"/>
            <a:ext cx="475488" cy="475488"/>
          </a:xfrm>
          <a:prstGeom prst="rect">
            <a:avLst/>
          </a:prstGeom>
          <a:solidFill>
            <a:srgbClr val="EEF3F9"/>
          </a:solidFill>
          <a:ln w="12700">
            <a:solidFill>
              <a:srgbClr val="1F4E79"/>
            </a:solidFill>
            <a:prstDash val="solid"/>
          </a:ln>
        </p:spPr>
      </p:sp>
      <p:sp>
        <p:nvSpPr>
          <p:cNvPr id="9" name="Shape 7"/>
          <p:cNvSpPr/>
          <p:nvPr/>
        </p:nvSpPr>
        <p:spPr>
          <a:xfrm>
            <a:off x="868680" y="2624328"/>
            <a:ext cx="475488" cy="475488"/>
          </a:xfrm>
          <a:prstGeom prst="rect">
            <a:avLst/>
          </a:prstGeom>
          <a:solidFill>
            <a:srgbClr val="EEF3F9"/>
          </a:solidFill>
          <a:ln w="12700">
            <a:solidFill>
              <a:srgbClr val="1F4E79"/>
            </a:solidFill>
            <a:prstDash val="solid"/>
          </a:ln>
        </p:spPr>
      </p:sp>
      <p:sp>
        <p:nvSpPr>
          <p:cNvPr id="10" name="Shape 8"/>
          <p:cNvSpPr/>
          <p:nvPr/>
        </p:nvSpPr>
        <p:spPr>
          <a:xfrm>
            <a:off x="1344168" y="2624328"/>
            <a:ext cx="475488" cy="475488"/>
          </a:xfrm>
          <a:prstGeom prst="rect">
            <a:avLst/>
          </a:prstGeom>
          <a:solidFill>
            <a:srgbClr val="EEF3F9"/>
          </a:solidFill>
          <a:ln w="12700">
            <a:solidFill>
              <a:srgbClr val="1F4E79"/>
            </a:solidFill>
            <a:prstDash val="solid"/>
          </a:ln>
        </p:spPr>
      </p:sp>
      <p:sp>
        <p:nvSpPr>
          <p:cNvPr id="11" name="Shape 9"/>
          <p:cNvSpPr/>
          <p:nvPr/>
        </p:nvSpPr>
        <p:spPr>
          <a:xfrm>
            <a:off x="1819656" y="2624328"/>
            <a:ext cx="475488" cy="475488"/>
          </a:xfrm>
          <a:prstGeom prst="rect">
            <a:avLst/>
          </a:prstGeom>
          <a:solidFill>
            <a:srgbClr val="EEF3F9"/>
          </a:solidFill>
          <a:ln w="12700">
            <a:solidFill>
              <a:srgbClr val="1F4E79"/>
            </a:solidFill>
            <a:prstDash val="solid"/>
          </a:ln>
        </p:spPr>
      </p:sp>
      <p:sp>
        <p:nvSpPr>
          <p:cNvPr id="12" name="Shape 10"/>
          <p:cNvSpPr/>
          <p:nvPr/>
        </p:nvSpPr>
        <p:spPr>
          <a:xfrm>
            <a:off x="868680" y="3099816"/>
            <a:ext cx="475488" cy="475488"/>
          </a:xfrm>
          <a:prstGeom prst="rect">
            <a:avLst/>
          </a:prstGeom>
          <a:solidFill>
            <a:srgbClr val="EEF3F9"/>
          </a:solidFill>
          <a:ln w="12700">
            <a:solidFill>
              <a:srgbClr val="1F4E79"/>
            </a:solidFill>
            <a:prstDash val="solid"/>
          </a:ln>
        </p:spPr>
      </p:sp>
      <p:sp>
        <p:nvSpPr>
          <p:cNvPr id="13" name="Shape 11"/>
          <p:cNvSpPr/>
          <p:nvPr/>
        </p:nvSpPr>
        <p:spPr>
          <a:xfrm>
            <a:off x="1344168" y="3099816"/>
            <a:ext cx="475488" cy="475488"/>
          </a:xfrm>
          <a:prstGeom prst="rect">
            <a:avLst/>
          </a:prstGeom>
          <a:solidFill>
            <a:srgbClr val="EEF3F9"/>
          </a:solidFill>
          <a:ln w="12700">
            <a:solidFill>
              <a:srgbClr val="1F4E79"/>
            </a:solidFill>
            <a:prstDash val="solid"/>
          </a:ln>
        </p:spPr>
      </p:sp>
      <p:sp>
        <p:nvSpPr>
          <p:cNvPr id="14" name="Shape 12"/>
          <p:cNvSpPr/>
          <p:nvPr/>
        </p:nvSpPr>
        <p:spPr>
          <a:xfrm>
            <a:off x="1819656" y="3099816"/>
            <a:ext cx="475488" cy="475488"/>
          </a:xfrm>
          <a:prstGeom prst="rect">
            <a:avLst/>
          </a:prstGeom>
          <a:solidFill>
            <a:srgbClr val="EEF3F9"/>
          </a:solidFill>
          <a:ln w="12700">
            <a:solidFill>
              <a:srgbClr val="1F4E79"/>
            </a:solidFill>
            <a:prstDash val="solid"/>
          </a:ln>
        </p:spPr>
      </p:sp>
      <p:sp>
        <p:nvSpPr>
          <p:cNvPr id="15" name="Text 13"/>
          <p:cNvSpPr/>
          <p:nvPr/>
        </p:nvSpPr>
        <p:spPr>
          <a:xfrm>
            <a:off x="868680" y="1911096"/>
            <a:ext cx="475488" cy="201168"/>
          </a:xfrm>
          <a:prstGeom prst="rect">
            <a:avLst/>
          </a:prstGeom>
          <a:noFill/>
          <a:ln/>
        </p:spPr>
        <p:txBody>
          <a:bodyPr wrap="square" lIns="0" tIns="0" rIns="0" bIns="0" rtlCol="0" anchor="ctr"/>
          <a:lstStyle/>
          <a:p>
            <a:pPr algn="ctr" indent="0" marL="0">
              <a:buNone/>
            </a:pPr>
            <a:r>
              <a:rPr lang="en-US" sz="850" dirty="0">
                <a:solidFill>
                  <a:srgbClr val="7F7F7F"/>
                </a:solidFill>
                <a:latin typeface="Arial" pitchFamily="34" charset="0"/>
                <a:ea typeface="Arial" pitchFamily="34" charset="-122"/>
                <a:cs typeface="Arial" pitchFamily="34" charset="-120"/>
              </a:rPr>
              <a:t>0.02</a:t>
            </a:r>
            <a:endParaRPr lang="en-US" sz="850" dirty="0"/>
          </a:p>
        </p:txBody>
      </p:sp>
      <p:sp>
        <p:nvSpPr>
          <p:cNvPr id="16" name="Text 14"/>
          <p:cNvSpPr/>
          <p:nvPr/>
        </p:nvSpPr>
        <p:spPr>
          <a:xfrm>
            <a:off x="1344168" y="1911096"/>
            <a:ext cx="475488" cy="201168"/>
          </a:xfrm>
          <a:prstGeom prst="rect">
            <a:avLst/>
          </a:prstGeom>
          <a:noFill/>
          <a:ln/>
        </p:spPr>
        <p:txBody>
          <a:bodyPr wrap="square" lIns="0" tIns="0" rIns="0" bIns="0" rtlCol="0" anchor="ctr"/>
          <a:lstStyle/>
          <a:p>
            <a:pPr algn="ctr" indent="0" marL="0">
              <a:buNone/>
            </a:pPr>
            <a:r>
              <a:rPr lang="en-US" sz="850" dirty="0">
                <a:solidFill>
                  <a:srgbClr val="7F7F7F"/>
                </a:solidFill>
                <a:latin typeface="Arial" pitchFamily="34" charset="0"/>
                <a:ea typeface="Arial" pitchFamily="34" charset="-122"/>
                <a:cs typeface="Arial" pitchFamily="34" charset="-120"/>
              </a:rPr>
              <a:t>0.05</a:t>
            </a:r>
            <a:endParaRPr lang="en-US" sz="850" dirty="0"/>
          </a:p>
        </p:txBody>
      </p:sp>
      <p:sp>
        <p:nvSpPr>
          <p:cNvPr id="17" name="Text 15"/>
          <p:cNvSpPr/>
          <p:nvPr/>
        </p:nvSpPr>
        <p:spPr>
          <a:xfrm>
            <a:off x="1819656" y="1911096"/>
            <a:ext cx="475488" cy="201168"/>
          </a:xfrm>
          <a:prstGeom prst="rect">
            <a:avLst/>
          </a:prstGeom>
          <a:noFill/>
          <a:ln/>
        </p:spPr>
        <p:txBody>
          <a:bodyPr wrap="square" lIns="0" tIns="0" rIns="0" bIns="0" rtlCol="0" anchor="ctr"/>
          <a:lstStyle/>
          <a:p>
            <a:pPr algn="ctr" indent="0" marL="0">
              <a:buNone/>
            </a:pPr>
            <a:r>
              <a:rPr lang="en-US" sz="850" dirty="0">
                <a:solidFill>
                  <a:srgbClr val="7F7F7F"/>
                </a:solidFill>
                <a:latin typeface="Arial" pitchFamily="34" charset="0"/>
                <a:ea typeface="Arial" pitchFamily="34" charset="-122"/>
                <a:cs typeface="Arial" pitchFamily="34" charset="-120"/>
              </a:rPr>
              <a:t>0.10</a:t>
            </a:r>
            <a:endParaRPr lang="en-US" sz="850" dirty="0"/>
          </a:p>
        </p:txBody>
      </p:sp>
      <p:sp>
        <p:nvSpPr>
          <p:cNvPr id="18" name="Text 16"/>
          <p:cNvSpPr/>
          <p:nvPr/>
        </p:nvSpPr>
        <p:spPr>
          <a:xfrm>
            <a:off x="393192" y="2276856"/>
            <a:ext cx="438912" cy="219456"/>
          </a:xfrm>
          <a:prstGeom prst="rect">
            <a:avLst/>
          </a:prstGeom>
          <a:noFill/>
          <a:ln/>
        </p:spPr>
        <p:txBody>
          <a:bodyPr wrap="square" lIns="0" tIns="0" rIns="0" bIns="0" rtlCol="0" anchor="ctr"/>
          <a:lstStyle/>
          <a:p>
            <a:pPr algn="r" indent="0" marL="0">
              <a:buNone/>
            </a:pPr>
            <a:r>
              <a:rPr lang="en-US" sz="850" dirty="0">
                <a:solidFill>
                  <a:srgbClr val="7F7F7F"/>
                </a:solidFill>
                <a:latin typeface="Arial" pitchFamily="34" charset="0"/>
                <a:ea typeface="Arial" pitchFamily="34" charset="-122"/>
                <a:cs typeface="Arial" pitchFamily="34" charset="-120"/>
              </a:rPr>
              <a:t>0.02</a:t>
            </a:r>
            <a:endParaRPr lang="en-US" sz="850" dirty="0"/>
          </a:p>
        </p:txBody>
      </p:sp>
      <p:sp>
        <p:nvSpPr>
          <p:cNvPr id="19" name="Text 17"/>
          <p:cNvSpPr/>
          <p:nvPr/>
        </p:nvSpPr>
        <p:spPr>
          <a:xfrm>
            <a:off x="393192" y="2752344"/>
            <a:ext cx="438912" cy="219456"/>
          </a:xfrm>
          <a:prstGeom prst="rect">
            <a:avLst/>
          </a:prstGeom>
          <a:noFill/>
          <a:ln/>
        </p:spPr>
        <p:txBody>
          <a:bodyPr wrap="square" lIns="0" tIns="0" rIns="0" bIns="0" rtlCol="0" anchor="ctr"/>
          <a:lstStyle/>
          <a:p>
            <a:pPr algn="r" indent="0" marL="0">
              <a:buNone/>
            </a:pPr>
            <a:r>
              <a:rPr lang="en-US" sz="850" dirty="0">
                <a:solidFill>
                  <a:srgbClr val="7F7F7F"/>
                </a:solidFill>
                <a:latin typeface="Arial" pitchFamily="34" charset="0"/>
                <a:ea typeface="Arial" pitchFamily="34" charset="-122"/>
                <a:cs typeface="Arial" pitchFamily="34" charset="-120"/>
              </a:rPr>
              <a:t>0.05</a:t>
            </a:r>
            <a:endParaRPr lang="en-US" sz="850" dirty="0"/>
          </a:p>
        </p:txBody>
      </p:sp>
      <p:sp>
        <p:nvSpPr>
          <p:cNvPr id="20" name="Text 18"/>
          <p:cNvSpPr/>
          <p:nvPr/>
        </p:nvSpPr>
        <p:spPr>
          <a:xfrm>
            <a:off x="393192" y="3227832"/>
            <a:ext cx="438912" cy="219456"/>
          </a:xfrm>
          <a:prstGeom prst="rect">
            <a:avLst/>
          </a:prstGeom>
          <a:noFill/>
          <a:ln/>
        </p:spPr>
        <p:txBody>
          <a:bodyPr wrap="square" lIns="0" tIns="0" rIns="0" bIns="0" rtlCol="0" anchor="ctr"/>
          <a:lstStyle/>
          <a:p>
            <a:pPr algn="r" indent="0" marL="0">
              <a:buNone/>
            </a:pPr>
            <a:r>
              <a:rPr lang="en-US" sz="850" dirty="0">
                <a:solidFill>
                  <a:srgbClr val="7F7F7F"/>
                </a:solidFill>
                <a:latin typeface="Arial" pitchFamily="34" charset="0"/>
                <a:ea typeface="Arial" pitchFamily="34" charset="-122"/>
                <a:cs typeface="Arial" pitchFamily="34" charset="-120"/>
              </a:rPr>
              <a:t>0.10</a:t>
            </a:r>
            <a:endParaRPr lang="en-US" sz="850" dirty="0"/>
          </a:p>
        </p:txBody>
      </p:sp>
      <p:sp>
        <p:nvSpPr>
          <p:cNvPr id="21" name="Text 19"/>
          <p:cNvSpPr/>
          <p:nvPr/>
        </p:nvSpPr>
        <p:spPr>
          <a:xfrm>
            <a:off x="502920" y="3712464"/>
            <a:ext cx="4023360" cy="548640"/>
          </a:xfrm>
          <a:prstGeom prst="rect">
            <a:avLst/>
          </a:prstGeom>
          <a:noFill/>
          <a:ln/>
        </p:spPr>
        <p:txBody>
          <a:bodyPr wrap="square" lIns="0" tIns="0" rIns="0" bIns="0" rtlCol="0" anchor="ctr"/>
          <a:lstStyle/>
          <a:p>
            <a:pPr indent="0" marL="0">
              <a:buNone/>
            </a:pPr>
            <a:r>
              <a:rPr lang="en-US" sz="1050" b="1" dirty="0">
                <a:solidFill>
                  <a:srgbClr val="9E2A2B"/>
                </a:solidFill>
                <a:latin typeface="Arial" pitchFamily="34" charset="0"/>
                <a:ea typeface="Arial" pitchFamily="34" charset="-122"/>
                <a:cs typeface="Arial" pitchFamily="34" charset="-120"/>
              </a:rPr>
              <a:t>= 9 compositions / pair — the ratio axis the current model does not have</a:t>
            </a:r>
            <a:endParaRPr lang="en-US" sz="1050" dirty="0"/>
          </a:p>
        </p:txBody>
      </p:sp>
      <p:sp>
        <p:nvSpPr>
          <p:cNvPr id="22" name="Text 20"/>
          <p:cNvSpPr/>
          <p:nvPr/>
        </p:nvSpPr>
        <p:spPr>
          <a:xfrm>
            <a:off x="4892040" y="1371600"/>
            <a:ext cx="3794760" cy="4389120"/>
          </a:xfrm>
          <a:prstGeom prst="rect">
            <a:avLst/>
          </a:prstGeom>
          <a:noFill/>
          <a:ln/>
        </p:spPr>
        <p:txBody>
          <a:bodyPr wrap="square" lIns="0" tIns="0" rIns="0" bIns="0" rtlCol="0" anchor="t"/>
          <a:lstStyle/>
          <a:p>
            <a:pPr marL="127000" indent="-127000">
              <a:spcAft>
                <a:spcPts val="500"/>
              </a:spcAft>
              <a:buSzPct val="100000"/>
              <a:buChar char="·"/>
            </a:pPr>
            <a:r>
              <a:rPr lang="en-US" sz="1050" b="1" dirty="0">
                <a:solidFill>
                  <a:srgbClr val="262626"/>
                </a:solidFill>
                <a:latin typeface="Arial" pitchFamily="34" charset="0"/>
                <a:ea typeface="Arial" pitchFamily="34" charset="-122"/>
                <a:cs typeface="Arial" pitchFamily="34" charset="-120"/>
              </a:rPr>
              <a:t>Co-substituted supercells for top pairs (start: Cr₂O₃+HfO₂): joint formation energy · site assignment · Li-count closure</a:t>
            </a:r>
            <a:endParaRPr lang="en-US" sz="1050" dirty="0"/>
          </a:p>
          <a:p>
            <a:pPr marL="127000" indent="-127000">
              <a:spcAft>
                <a:spcPts val="500"/>
              </a:spcAft>
              <a:buSzPct val="100000"/>
              <a:buChar char="·"/>
            </a:pPr>
            <a:r>
              <a:rPr lang="en-US" sz="1050" b="1" dirty="0">
                <a:solidFill>
                  <a:srgbClr val="262626"/>
                </a:solidFill>
                <a:latin typeface="Arial" pitchFamily="34" charset="0"/>
                <a:ea typeface="Arial" pitchFamily="34" charset="-122"/>
                <a:cs typeface="Arial" pitchFamily="34" charset="-120"/>
              </a:rPr>
              <a:t>Success = interaction R² moves off 0.089 with real labels</a:t>
            </a:r>
            <a:endParaRPr lang="en-US" sz="1050" dirty="0"/>
          </a:p>
          <a:p>
            <a:pPr marL="127000" indent="-127000">
              <a:spcAft>
                <a:spcPts val="500"/>
              </a:spcAft>
              <a:buSzPct val="100000"/>
              <a:buChar char="·"/>
            </a:pPr>
            <a:r>
              <a:rPr lang="en-US" sz="1050" b="1" dirty="0">
                <a:solidFill>
                  <a:srgbClr val="262626"/>
                </a:solidFill>
                <a:latin typeface="Arial" pitchFamily="34" charset="0"/>
                <a:ea typeface="Arial" pitchFamily="34" charset="-122"/>
                <a:cs typeface="Arial" pitchFamily="34" charset="-120"/>
              </a:rPr>
              <a:t>Failure = complementarity assumption falsified — either way we learn</a:t>
            </a:r>
            <a:endParaRPr lang="en-US" sz="1050" dirty="0"/>
          </a:p>
          <a:p>
            <a:pPr marL="127000" indent="-127000">
              <a:spcAft>
                <a:spcPts val="200"/>
              </a:spcAft>
              <a:buSzPct val="100000"/>
              <a:buChar char="·"/>
            </a:pPr>
            <a:r>
              <a:rPr lang="en-US" sz="1050" b="1" dirty="0">
                <a:solidFill>
                  <a:srgbClr val="262626"/>
                </a:solidFill>
                <a:latin typeface="Arial" pitchFamily="34" charset="0"/>
                <a:ea typeface="Arial" pitchFamily="34" charset="-122"/>
                <a:cs typeface="Arial" pitchFamily="34" charset="-120"/>
              </a:rPr>
              <a:t>ML roadmap (queued):</a:t>
            </a:r>
            <a:endParaRPr lang="en-US" sz="1050" dirty="0"/>
          </a:p>
          <a:p>
            <a:pPr lvl="1" marL="254000" indent="-127000">
              <a:spcAft>
                <a:spcPts val="500"/>
              </a:spcAft>
              <a:buSzPct val="100000"/>
              <a:buChar char="–"/>
            </a:pPr>
            <a:r>
              <a:rPr lang="en-US" sz="1050" dirty="0">
                <a:solidFill>
                  <a:srgbClr val="7F7F7F"/>
                </a:solidFill>
                <a:latin typeface="Arial" pitchFamily="34" charset="0"/>
                <a:ea typeface="Arial" pitchFamily="34" charset="-122"/>
                <a:cs typeface="Arial" pitchFamily="34" charset="-120"/>
              </a:rPr>
              <a:t>M1 TabPFN bench vs ridge · M2 leave-one-dopant-out CV · M3 inverse-design loop → first labels · M4 active-learning disorder surrogate</a:t>
            </a:r>
            <a:endParaRPr lang="en-US" sz="1050" dirty="0"/>
          </a:p>
        </p:txBody>
      </p:sp>
      <p:sp>
        <p:nvSpPr>
          <p:cNvPr id="24" name="Text 21"/>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25" name="Text 22"/>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Verify</a:t>
            </a:r>
            <a:endParaRPr lang="en-US" sz="1100" dirty="0"/>
          </a:p>
        </p:txBody>
      </p:sp>
      <p:sp>
        <p:nvSpPr>
          <p:cNvPr id="3" name="Text 1"/>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Retracted verdicts, and the gates that caught them</a:t>
            </a:r>
            <a:endParaRPr lang="en-US" sz="2000" dirty="0"/>
          </a:p>
        </p:txBody>
      </p:sp>
      <p:sp>
        <p:nvSpPr>
          <p:cNvPr id="4" name="Shape 2"/>
          <p:cNvSpPr/>
          <p:nvPr/>
        </p:nvSpPr>
        <p:spPr>
          <a:xfrm>
            <a:off x="457200" y="1115568"/>
            <a:ext cx="8229600" cy="0"/>
          </a:xfrm>
          <a:prstGeom prst="line">
            <a:avLst/>
          </a:prstGeom>
          <a:noFill/>
          <a:ln w="12700">
            <a:solidFill>
              <a:srgbClr val="D9D9D9"/>
            </a:solidFill>
            <a:prstDash val="solid"/>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8138160" cy="914400"/>
        </p:xfrm>
        <a:graphic>
          <a:graphicData uri="http://schemas.openxmlformats.org/drawingml/2006/table">
            <a:tbl>
              <a:tblPr/>
              <a:tblGrid>
                <a:gridCol w="365760"/>
                <a:gridCol w="2377440"/>
                <a:gridCol w="2743200"/>
                <a:gridCol w="2651760"/>
              </a:tblGrid>
              <a:tr h="306324">
                <a:tc>
                  <a:txBody>
                    <a:bodyPr/>
                    <a:lstStyle/>
                    <a:p>
                      <a:pPr indent="0" marL="0">
                        <a:buNone/>
                      </a:pPr>
                      <a:r>
                        <a:rPr lang="en-US" sz="880" b="1" dirty="0">
                          <a:solidFill>
                            <a:srgbClr val="FFFFFF"/>
                          </a:solidFill>
                          <a:latin typeface="Arial" pitchFamily="34" charset="0"/>
                          <a:ea typeface="Arial" pitchFamily="34" charset="-122"/>
                          <a:cs typeface="Arial" pitchFamily="34" charset="-120"/>
                        </a:rPr>
                        <a:t>#</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Retracted claim</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What was wrong</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Caught by</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r>
              <a:tr h="306324">
                <a:tc>
                  <a:txBody>
                    <a:bodyPr/>
                    <a:lstStyle/>
                    <a:p>
                      <a:pPr indent="0" marL="0">
                        <a:buNone/>
                      </a:pPr>
                      <a:r>
                        <a:rPr lang="en-US" sz="880" dirty="0">
                          <a:solidFill>
                            <a:srgbClr val="262626"/>
                          </a:solidFill>
                          <a:latin typeface="Arial" pitchFamily="34" charset="0"/>
                          <a:ea typeface="Arial" pitchFamily="34" charset="-122"/>
                          <a:cs typeface="Arial" pitchFamily="34" charset="-120"/>
                        </a:rPr>
                        <a:t>1</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σ ratio 1.33×</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single seed</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multi-seed rule</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06324">
                <a:tc>
                  <a:txBody>
                    <a:bodyPr/>
                    <a:lstStyle/>
                    <a:p>
                      <a:pPr indent="0" marL="0">
                        <a:buNone/>
                      </a:pPr>
                      <a:r>
                        <a:rPr lang="en-US" sz="880" dirty="0">
                          <a:solidFill>
                            <a:srgbClr val="262626"/>
                          </a:solidFill>
                          <a:latin typeface="Arial" pitchFamily="34" charset="0"/>
                          <a:ea typeface="Arial" pitchFamily="34" charset="-122"/>
                          <a:cs typeface="Arial" pitchFamily="34" charset="-120"/>
                        </a:rPr>
                        <a:t>2</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comp1 Ea 0.253 eV</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MSD not in diffusive regime</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β-gate (0/6 pass)</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06324">
                <a:tc>
                  <a:txBody>
                    <a:bodyPr/>
                    <a:lstStyle/>
                    <a:p>
                      <a:pPr indent="0" marL="0">
                        <a:buNone/>
                      </a:pPr>
                      <a:r>
                        <a:rPr lang="en-US" sz="880" dirty="0">
                          <a:solidFill>
                            <a:srgbClr val="262626"/>
                          </a:solidFill>
                          <a:latin typeface="Arial" pitchFamily="34" charset="0"/>
                          <a:ea typeface="Arial" pitchFamily="34" charset="-122"/>
                          <a:cs typeface="Arial" pitchFamily="34" charset="-120"/>
                        </a:rPr>
                        <a:t>3</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LPSOCl Ea 0.287 eV</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600 K β = 0.61 (caged)</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β-gate → on hold</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06324">
                <a:tc>
                  <a:txBody>
                    <a:bodyPr/>
                    <a:lstStyle/>
                    <a:p>
                      <a:pPr indent="0" marL="0">
                        <a:buNone/>
                      </a:pPr>
                      <a:r>
                        <a:rPr lang="en-US" sz="880" dirty="0">
                          <a:solidFill>
                            <a:srgbClr val="262626"/>
                          </a:solidFill>
                          <a:latin typeface="Arial" pitchFamily="34" charset="0"/>
                          <a:ea typeface="Arial" pitchFamily="34" charset="-122"/>
                          <a:cs typeface="Arial" pitchFamily="34" charset="-120"/>
                        </a:rPr>
                        <a:t>4</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gaps read from DOS threshold</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~0.3 eV under</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fixed-occ eigenvalue rule</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06324">
                <a:tc>
                  <a:txBody>
                    <a:bodyPr/>
                    <a:lstStyle/>
                    <a:p>
                      <a:pPr indent="0" marL="0">
                        <a:buNone/>
                      </a:pPr>
                      <a:r>
                        <a:rPr lang="en-US" sz="880" dirty="0">
                          <a:solidFill>
                            <a:srgbClr val="262626"/>
                          </a:solidFill>
                          <a:latin typeface="Arial" pitchFamily="34" charset="0"/>
                          <a:ea typeface="Arial" pitchFamily="34" charset="-122"/>
                          <a:cs typeface="Arial" pitchFamily="34" charset="-120"/>
                        </a:rPr>
                        <a:t>5</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air_hsab grades</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wrong driver (softness ≠ oxophilicity)</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[Zhu20] SI check — 9/35 off</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06324">
                <a:tc>
                  <a:txBody>
                    <a:bodyPr/>
                    <a:lstStyle/>
                    <a:p>
                      <a:pPr indent="0" marL="0">
                        <a:buNone/>
                      </a:pPr>
                      <a:r>
                        <a:rPr lang="en-US" sz="880" dirty="0">
                          <a:solidFill>
                            <a:srgbClr val="262626"/>
                          </a:solidFill>
                          <a:latin typeface="Arial" pitchFamily="34" charset="0"/>
                          <a:ea typeface="Arial" pitchFamily="34" charset="-122"/>
                          <a:cs typeface="Arial" pitchFamily="34" charset="-120"/>
                        </a:rPr>
                        <a:t>6</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SDCP frozen-slab UMA score −0.26 eV</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frozen slab blocked relaxation</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constraint variation → Li-transfer pose; not an E_ads</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06324">
                <a:tc>
                  <a:txBody>
                    <a:bodyPr/>
                    <a:lstStyle/>
                    <a:p>
                      <a:pPr indent="0" marL="0">
                        <a:buNone/>
                      </a:pPr>
                      <a:r>
                        <a:rPr lang="en-US" sz="880" b="1" dirty="0">
                          <a:solidFill>
                            <a:srgbClr val="9E2A2B"/>
                          </a:solidFill>
                          <a:latin typeface="Arial" pitchFamily="34" charset="0"/>
                          <a:ea typeface="Arial" pitchFamily="34" charset="-122"/>
                          <a:cs typeface="Arial" pitchFamily="34" charset="-120"/>
                        </a:rPr>
                        <a:t>7</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9E2A2B"/>
                          </a:solidFill>
                          <a:latin typeface="Arial" pitchFamily="34" charset="0"/>
                          <a:ea typeface="Arial" pitchFamily="34" charset="-122"/>
                          <a:cs typeface="Arial" pitchFamily="34" charset="-120"/>
                        </a:rPr>
                        <a:t>the “Li-extraction” reading of −1.27/−1.465</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MLIP lacks charge-state energetics</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b="1" dirty="0">
                          <a:solidFill>
                            <a:srgbClr val="9E2A2B"/>
                          </a:solidFill>
                          <a:latin typeface="Arial" pitchFamily="34" charset="0"/>
                          <a:ea typeface="Arial" pitchFamily="34" charset="-122"/>
                          <a:cs typeface="Arial" pitchFamily="34" charset="-120"/>
                        </a:rPr>
                        <a:t>DFT+U endpoint +0.336/+0.340 eV; v2 recheck open</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06324">
                <a:tc>
                  <a:txBody>
                    <a:bodyPr/>
                    <a:lstStyle/>
                    <a:p>
                      <a:pPr indent="0" marL="0">
                        <a:buNone/>
                      </a:pPr>
                      <a:r>
                        <a:rPr lang="en-US" sz="880" dirty="0">
                          <a:solidFill>
                            <a:srgbClr val="262626"/>
                          </a:solidFill>
                          <a:latin typeface="Arial" pitchFamily="34" charset="0"/>
                          <a:ea typeface="Arial" pitchFamily="34" charset="-122"/>
                          <a:cs typeface="Arial" pitchFamily="34" charset="-120"/>
                        </a:rPr>
                        <a:t>8</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SDCP site/adsorption differences</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9 meV, −32/−26 meV, +0.34 eV were conflated</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matched-endpoint rule; site preference unresolved</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06324">
                <a:tc>
                  <a:txBody>
                    <a:bodyPr/>
                    <a:lstStyle/>
                    <a:p>
                      <a:pPr indent="0" marL="0">
                        <a:buNone/>
                      </a:pPr>
                      <a:r>
                        <a:rPr lang="en-US" sz="880" dirty="0">
                          <a:solidFill>
                            <a:srgbClr val="262626"/>
                          </a:solidFill>
                          <a:latin typeface="Arial" pitchFamily="34" charset="0"/>
                          <a:ea typeface="Arial" pitchFamily="34" charset="-122"/>
                          <a:cs typeface="Arial" pitchFamily="34" charset="-120"/>
                        </a:rPr>
                        <a:t>9</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Nd gaps (3 phases)</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quantity undefined (metallic SCF)</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fixed-occ validity condition</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06324">
                <a:tc>
                  <a:txBody>
                    <a:bodyPr/>
                    <a:lstStyle/>
                    <a:p>
                      <a:pPr indent="0" marL="0">
                        <a:buNone/>
                      </a:pPr>
                      <a:r>
                        <a:rPr lang="en-US" sz="880" dirty="0">
                          <a:solidFill>
                            <a:srgbClr val="262626"/>
                          </a:solidFill>
                          <a:latin typeface="Arial" pitchFamily="34" charset="0"/>
                          <a:ea typeface="Arial" pitchFamily="34" charset="-122"/>
                          <a:cs typeface="Arial" pitchFamily="34" charset="-120"/>
                        </a:rPr>
                        <a:t>10</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Nd₂S₃ gap 1.79 eV</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metastable theoretical polymorph (mp-32586) picked</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material-id pinning → 0.760 (obs. Pnma)</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06324">
                <a:tc>
                  <a:txBody>
                    <a:bodyPr/>
                    <a:lstStyle/>
                    <a:p>
                      <a:pPr indent="0" marL="0">
                        <a:buNone/>
                      </a:pPr>
                      <a:r>
                        <a:rPr lang="en-US" sz="880" dirty="0">
                          <a:solidFill>
                            <a:srgbClr val="262626"/>
                          </a:solidFill>
                          <a:latin typeface="Arial" pitchFamily="34" charset="0"/>
                          <a:ea typeface="Arial" pitchFamily="34" charset="-122"/>
                          <a:cs typeface="Arial" pitchFamily="34" charset="-120"/>
                        </a:rPr>
                        <a:t>11</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4 canonical gaps</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values fine — run files missing</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provenance audit (Part 6 close)</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6" name="Text 3"/>
          <p:cNvSpPr/>
          <p:nvPr/>
        </p:nvSpPr>
        <p:spPr>
          <a:xfrm>
            <a:off x="502920" y="5486400"/>
            <a:ext cx="8138160" cy="365760"/>
          </a:xfrm>
          <a:prstGeom prst="rect">
            <a:avLst/>
          </a:prstGeom>
          <a:noFill/>
          <a:ln/>
        </p:spPr>
        <p:txBody>
          <a:bodyPr wrap="square" lIns="0" tIns="0" rIns="0" bIns="0" rtlCol="0" anchor="t"/>
          <a:lstStyle/>
          <a:p>
            <a:pPr marL="127000" indent="-127000">
              <a:spcAft>
                <a:spcPts val="500"/>
              </a:spcAft>
              <a:buSzPct val="100000"/>
              <a:buChar char="·"/>
            </a:pPr>
            <a:r>
              <a:rPr lang="en-US" sz="1100" b="1" dirty="0">
                <a:solidFill>
                  <a:srgbClr val="1F4E79"/>
                </a:solidFill>
                <a:latin typeface="Arial" pitchFamily="34" charset="0"/>
                <a:ea typeface="Arial" pitchFamily="34" charset="-122"/>
                <a:cs typeface="Arial" pitchFamily="34" charset="-120"/>
              </a:rPr>
              <a:t>Ledger: 9 retracted · 1 on hold (#3) · 1 provenance-flagged (#11) — and 5 of 11 landed within the last four days</a:t>
            </a:r>
            <a:endParaRPr lang="en-US" sz="1100" dirty="0"/>
          </a:p>
        </p:txBody>
      </p:sp>
      <p:sp>
        <p:nvSpPr>
          <p:cNvPr id="8" name="Text 4"/>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9" name="Text 5"/>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Verify</a:t>
            </a:r>
            <a:endParaRPr lang="en-US" sz="1100" dirty="0"/>
          </a:p>
        </p:txBody>
      </p:sp>
      <p:sp>
        <p:nvSpPr>
          <p:cNvPr id="3" name="Text 1"/>
          <p:cNvSpPr/>
          <p:nvPr/>
        </p:nvSpPr>
        <p:spPr>
          <a:xfrm>
            <a:off x="3840480" y="219456"/>
            <a:ext cx="4846320" cy="292608"/>
          </a:xfrm>
          <a:prstGeom prst="rect">
            <a:avLst/>
          </a:prstGeom>
          <a:noFill/>
          <a:ln/>
        </p:spPr>
        <p:txBody>
          <a:bodyPr wrap="square" lIns="0" tIns="0" rIns="0" bIns="0" rtlCol="0" anchor="ctr"/>
          <a:lstStyle/>
          <a:p>
            <a:pPr algn="r" indent="0" marL="0">
              <a:buNone/>
            </a:pPr>
            <a:r>
              <a:rPr lang="en-US" sz="850" i="1" dirty="0">
                <a:solidFill>
                  <a:srgbClr val="7F7F7F"/>
                </a:solidFill>
                <a:latin typeface="Arial" pitchFamily="34" charset="0"/>
                <a:ea typeface="Arial" pitchFamily="34" charset="-122"/>
                <a:cs typeface="Arial" pitchFamily="34" charset="-120"/>
              </a:rPr>
              <a:t>the pre-registered rule that forced step ③ is quoted below</a:t>
            </a:r>
            <a:endParaRPr lang="en-US" sz="850" dirty="0"/>
          </a:p>
        </p:txBody>
      </p:sp>
      <p:sp>
        <p:nvSpPr>
          <p:cNvPr id="4" name="Text 2"/>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We retracted a retraction</a:t>
            </a:r>
            <a:endParaRPr lang="en-US" sz="2000" dirty="0"/>
          </a:p>
        </p:txBody>
      </p:sp>
      <p:sp>
        <p:nvSpPr>
          <p:cNvPr id="5" name="Shape 3"/>
          <p:cNvSpPr/>
          <p:nvPr/>
        </p:nvSpPr>
        <p:spPr>
          <a:xfrm>
            <a:off x="457200" y="1115568"/>
            <a:ext cx="8229600" cy="0"/>
          </a:xfrm>
          <a:prstGeom prst="line">
            <a:avLst/>
          </a:prstGeom>
          <a:noFill/>
          <a:ln w="12700">
            <a:solidFill>
              <a:srgbClr val="D9D9D9"/>
            </a:solidFill>
            <a:prstDash val="solid"/>
          </a:ln>
        </p:spPr>
      </p:sp>
      <p:sp>
        <p:nvSpPr>
          <p:cNvPr id="6" name="Shape 4"/>
          <p:cNvSpPr/>
          <p:nvPr/>
        </p:nvSpPr>
        <p:spPr>
          <a:xfrm>
            <a:off x="502920" y="1463040"/>
            <a:ext cx="2560320" cy="1691640"/>
          </a:xfrm>
          <a:prstGeom prst="roundRect">
            <a:avLst>
              <a:gd name="adj" fmla="val 4324"/>
            </a:avLst>
          </a:prstGeom>
          <a:solidFill>
            <a:srgbClr val="EEF3F9"/>
          </a:solidFill>
          <a:ln w="19050">
            <a:solidFill>
              <a:srgbClr val="1F4E79"/>
            </a:solidFill>
            <a:prstDash val="solid"/>
          </a:ln>
        </p:spPr>
      </p:sp>
      <p:sp>
        <p:nvSpPr>
          <p:cNvPr id="7" name="Text 5"/>
          <p:cNvSpPr/>
          <p:nvPr/>
        </p:nvSpPr>
        <p:spPr>
          <a:xfrm>
            <a:off x="612648" y="1536192"/>
            <a:ext cx="2340864" cy="1554480"/>
          </a:xfrm>
          <a:prstGeom prst="rect">
            <a:avLst/>
          </a:prstGeom>
          <a:noFill/>
          <a:ln/>
        </p:spPr>
        <p:txBody>
          <a:bodyPr wrap="square" lIns="0" tIns="0" rIns="0" bIns="0" rtlCol="0" anchor="t"/>
          <a:lstStyle/>
          <a:p>
            <a:pPr indent="0" marL="0">
              <a:buNone/>
            </a:pPr>
            <a:r>
              <a:rPr lang="en-US" sz="1050" b="1" dirty="0">
                <a:solidFill>
                  <a:srgbClr val="1F4E79"/>
                </a:solidFill>
                <a:latin typeface="Arial" pitchFamily="34" charset="0"/>
                <a:ea typeface="Arial" pitchFamily="34" charset="-122"/>
                <a:cs typeface="Arial" pitchFamily="34" charset="-120"/>
              </a:rPr>
              <a:t>① UMA, frozen slab (ff = 1.0)
</a:t>
            </a:r>
            <a:endParaRPr lang="en-US" sz="1050" dirty="0"/>
          </a:p>
          <a:p>
            <a:pPr indent="0" marL="0">
              <a:buNone/>
            </a:pPr>
            <a:r>
              <a:rPr lang="en-US" sz="1000" dirty="0">
                <a:solidFill>
                  <a:srgbClr val="1F4E79"/>
                </a:solidFill>
                <a:latin typeface="Arial" pitchFamily="34" charset="0"/>
                <a:ea typeface="Arial" pitchFamily="34" charset="-122"/>
                <a:cs typeface="Arial" pitchFamily="34" charset="-120"/>
              </a:rPr>
              <a:t>E_ads = −0.26 eV
</a:t>
            </a:r>
            <a:endParaRPr lang="en-US" sz="1050" dirty="0"/>
          </a:p>
          <a:p>
            <a:pPr indent="0" marL="0">
              <a:buNone/>
            </a:pPr>
            <a:r>
              <a:rPr lang="en-US" sz="950" i="1" dirty="0">
                <a:solidFill>
                  <a:srgbClr val="1F4E79"/>
                </a:solidFill>
                <a:latin typeface="Arial" pitchFamily="34" charset="0"/>
                <a:ea typeface="Arial" pitchFamily="34" charset="-122"/>
                <a:cs typeface="Arial" pitchFamily="34" charset="-120"/>
              </a:rPr>
              <a:t>“weak physisorption”</a:t>
            </a:r>
            <a:endParaRPr lang="en-US" sz="1050" dirty="0"/>
          </a:p>
        </p:txBody>
      </p:sp>
      <p:sp>
        <p:nvSpPr>
          <p:cNvPr id="8" name="Shape 6"/>
          <p:cNvSpPr/>
          <p:nvPr/>
        </p:nvSpPr>
        <p:spPr>
          <a:xfrm>
            <a:off x="3081528" y="2286000"/>
            <a:ext cx="192024" cy="0"/>
          </a:xfrm>
          <a:prstGeom prst="line">
            <a:avLst/>
          </a:prstGeom>
          <a:noFill/>
          <a:ln w="25400">
            <a:solidFill>
              <a:srgbClr val="262626"/>
            </a:solidFill>
            <a:prstDash val="solid"/>
            <a:tailEnd type="triangle"/>
          </a:ln>
        </p:spPr>
      </p:sp>
      <p:sp>
        <p:nvSpPr>
          <p:cNvPr id="9" name="Shape 7"/>
          <p:cNvSpPr/>
          <p:nvPr/>
        </p:nvSpPr>
        <p:spPr>
          <a:xfrm>
            <a:off x="3291840" y="1463040"/>
            <a:ext cx="2560320" cy="1691640"/>
          </a:xfrm>
          <a:prstGeom prst="roundRect">
            <a:avLst>
              <a:gd name="adj" fmla="val 4324"/>
            </a:avLst>
          </a:prstGeom>
          <a:solidFill>
            <a:srgbClr val="F7F7F7"/>
          </a:solidFill>
          <a:ln w="19050">
            <a:solidFill>
              <a:srgbClr val="7F7F7F"/>
            </a:solidFill>
            <a:prstDash val="solid"/>
          </a:ln>
        </p:spPr>
      </p:sp>
      <p:sp>
        <p:nvSpPr>
          <p:cNvPr id="10" name="Text 8"/>
          <p:cNvSpPr/>
          <p:nvPr/>
        </p:nvSpPr>
        <p:spPr>
          <a:xfrm>
            <a:off x="3401568" y="1536192"/>
            <a:ext cx="2340864" cy="1554480"/>
          </a:xfrm>
          <a:prstGeom prst="rect">
            <a:avLst/>
          </a:prstGeom>
          <a:noFill/>
          <a:ln/>
        </p:spPr>
        <p:txBody>
          <a:bodyPr wrap="square" lIns="0" tIns="0" rIns="0" bIns="0" rtlCol="0" anchor="t"/>
          <a:lstStyle/>
          <a:p>
            <a:pPr indent="0" marL="0">
              <a:buNone/>
            </a:pPr>
            <a:r>
              <a:rPr lang="en-US" sz="1050" b="1" dirty="0">
                <a:solidFill>
                  <a:srgbClr val="262626"/>
                </a:solidFill>
                <a:latin typeface="Arial" pitchFamily="34" charset="0"/>
                <a:ea typeface="Arial" pitchFamily="34" charset="-122"/>
                <a:cs typeface="Arial" pitchFamily="34" charset="-120"/>
              </a:rPr>
              <a:t>② unfreeze (0.85 / 0.6)
</a:t>
            </a:r>
            <a:endParaRPr lang="en-US" sz="1050" dirty="0"/>
          </a:p>
          <a:p>
            <a:pPr indent="0" marL="0">
              <a:buNone/>
            </a:pPr>
            <a:r>
              <a:rPr lang="en-US" sz="1000" dirty="0">
                <a:solidFill>
                  <a:srgbClr val="262626"/>
                </a:solidFill>
                <a:latin typeface="Arial" pitchFamily="34" charset="0"/>
                <a:ea typeface="Arial" pitchFamily="34" charset="-122"/>
                <a:cs typeface="Arial" pitchFamily="34" charset="-120"/>
              </a:rPr>
              <a:t>−1.27 / −1.465 eV — surface Li pulled out
</a:t>
            </a:r>
            <a:endParaRPr lang="en-US" sz="1050" dirty="0"/>
          </a:p>
          <a:p>
            <a:pPr indent="0" marL="0">
              <a:buNone/>
            </a:pPr>
            <a:r>
              <a:rPr lang="en-US" sz="950" i="1" dirty="0">
                <a:solidFill>
                  <a:srgbClr val="262626"/>
                </a:solidFill>
                <a:latin typeface="Arial" pitchFamily="34" charset="0"/>
                <a:ea typeface="Arial" pitchFamily="34" charset="-122"/>
                <a:cs typeface="Arial" pitchFamily="34" charset="-120"/>
              </a:rPr>
              <a:t>“not adsorption — Li extraction”  (our previous deck)</a:t>
            </a:r>
            <a:endParaRPr lang="en-US" sz="1050" dirty="0"/>
          </a:p>
        </p:txBody>
      </p:sp>
      <p:sp>
        <p:nvSpPr>
          <p:cNvPr id="11" name="Shape 9"/>
          <p:cNvSpPr/>
          <p:nvPr/>
        </p:nvSpPr>
        <p:spPr>
          <a:xfrm>
            <a:off x="5870448" y="2286000"/>
            <a:ext cx="192024" cy="0"/>
          </a:xfrm>
          <a:prstGeom prst="line">
            <a:avLst/>
          </a:prstGeom>
          <a:noFill/>
          <a:ln w="25400">
            <a:solidFill>
              <a:srgbClr val="262626"/>
            </a:solidFill>
            <a:prstDash val="solid"/>
            <a:tailEnd type="triangle"/>
          </a:ln>
        </p:spPr>
      </p:sp>
      <p:sp>
        <p:nvSpPr>
          <p:cNvPr id="12" name="Shape 10"/>
          <p:cNvSpPr/>
          <p:nvPr/>
        </p:nvSpPr>
        <p:spPr>
          <a:xfrm>
            <a:off x="6080760" y="1463040"/>
            <a:ext cx="2560320" cy="1691640"/>
          </a:xfrm>
          <a:prstGeom prst="roundRect">
            <a:avLst>
              <a:gd name="adj" fmla="val 4324"/>
            </a:avLst>
          </a:prstGeom>
          <a:solidFill>
            <a:srgbClr val="FFFFFF"/>
          </a:solidFill>
          <a:ln w="19050">
            <a:solidFill>
              <a:srgbClr val="9E2A2B"/>
            </a:solidFill>
            <a:prstDash val="solid"/>
          </a:ln>
        </p:spPr>
      </p:sp>
      <p:sp>
        <p:nvSpPr>
          <p:cNvPr id="13" name="Text 11"/>
          <p:cNvSpPr/>
          <p:nvPr/>
        </p:nvSpPr>
        <p:spPr>
          <a:xfrm>
            <a:off x="6190488" y="1536192"/>
            <a:ext cx="2340864" cy="1554480"/>
          </a:xfrm>
          <a:prstGeom prst="rect">
            <a:avLst/>
          </a:prstGeom>
          <a:noFill/>
          <a:ln/>
        </p:spPr>
        <p:txBody>
          <a:bodyPr wrap="square" lIns="0" tIns="0" rIns="0" bIns="0" rtlCol="0" anchor="t"/>
          <a:lstStyle/>
          <a:p>
            <a:pPr indent="0" marL="0">
              <a:buNone/>
            </a:pPr>
            <a:r>
              <a:rPr lang="en-US" sz="1050" b="1" dirty="0">
                <a:solidFill>
                  <a:srgbClr val="9E2A2B"/>
                </a:solidFill>
                <a:latin typeface="Arial" pitchFamily="34" charset="0"/>
                <a:ea typeface="Arial" pitchFamily="34" charset="-122"/>
                <a:cs typeface="Arial" pitchFamily="34" charset="-120"/>
              </a:rPr>
              <a:t>③ DFT+U single points
</a:t>
            </a:r>
            <a:endParaRPr lang="en-US" sz="1050" dirty="0"/>
          </a:p>
          <a:p>
            <a:pPr indent="0" marL="0">
              <a:buNone/>
            </a:pPr>
            <a:r>
              <a:rPr lang="en-US" sz="1000" dirty="0">
                <a:solidFill>
                  <a:srgbClr val="9E2A2B"/>
                </a:solidFill>
                <a:latin typeface="Arial" pitchFamily="34" charset="0"/>
                <a:ea typeface="Arial" pitchFamily="34" charset="-122"/>
                <a:cs typeface="Arial" pitchFamily="34" charset="-120"/>
              </a:rPr>
              <a:t>dE_extract = +0.336 eV (sign holds at σ→0)
</a:t>
            </a:r>
            <a:endParaRPr lang="en-US" sz="1050" dirty="0"/>
          </a:p>
          <a:p>
            <a:pPr indent="0" marL="0">
              <a:buNone/>
            </a:pPr>
            <a:r>
              <a:rPr lang="en-US" sz="950" i="1" dirty="0">
                <a:solidFill>
                  <a:srgbClr val="9E2A2B"/>
                </a:solidFill>
                <a:latin typeface="Arial" pitchFamily="34" charset="0"/>
                <a:ea typeface="Arial" pitchFamily="34" charset="-122"/>
                <a:cs typeface="Arial" pitchFamily="34" charset="-120"/>
              </a:rPr>
              <a:t>extraction is uphill (old-protocol endpoint; v2 recheck open)</a:t>
            </a:r>
            <a:endParaRPr lang="en-US" sz="1050" dirty="0"/>
          </a:p>
        </p:txBody>
      </p:sp>
      <p:sp>
        <p:nvSpPr>
          <p:cNvPr id="14" name="Shape 12"/>
          <p:cNvSpPr/>
          <p:nvPr/>
        </p:nvSpPr>
        <p:spPr>
          <a:xfrm>
            <a:off x="502920" y="3429000"/>
            <a:ext cx="3931920" cy="1828800"/>
          </a:xfrm>
          <a:prstGeom prst="rect">
            <a:avLst/>
          </a:prstGeom>
          <a:solidFill>
            <a:srgbClr val="F7F7F7"/>
          </a:solidFill>
          <a:ln w="12700">
            <a:solidFill>
              <a:srgbClr val="7F7F7F"/>
            </a:solidFill>
            <a:prstDash val="dash"/>
          </a:ln>
        </p:spPr>
      </p:sp>
      <p:sp>
        <p:nvSpPr>
          <p:cNvPr id="15" name="Text 13"/>
          <p:cNvSpPr/>
          <p:nvPr/>
        </p:nvSpPr>
        <p:spPr>
          <a:xfrm>
            <a:off x="502920" y="3931920"/>
            <a:ext cx="3931920" cy="822960"/>
          </a:xfrm>
          <a:prstGeom prst="rect">
            <a:avLst/>
          </a:prstGeom>
          <a:noFill/>
          <a:ln/>
        </p:spPr>
        <p:txBody>
          <a:bodyPr wrap="square" lIns="0" tIns="0" rIns="0" bIns="0" rtlCol="0" anchor="ctr"/>
          <a:lstStyle/>
          <a:p>
            <a:pPr algn="ctr" indent="0" marL="0">
              <a:buNone/>
            </a:pPr>
            <a:r>
              <a:rPr lang="en-US" sz="1100" b="1" dirty="0">
                <a:solidFill>
                  <a:srgbClr val="7F7F7F"/>
                </a:solidFill>
                <a:latin typeface="Arial" pitchFamily="34" charset="0"/>
                <a:ea typeface="Arial" pitchFamily="34" charset="-122"/>
                <a:cs typeface="Arial" pitchFamily="34" charset="-120"/>
              </a:rPr>
              <a:t>PASTE SCREENSHOT
</a:t>
            </a:r>
            <a:endParaRPr lang="en-US" sz="1100" dirty="0"/>
          </a:p>
          <a:p>
            <a:pPr algn="ctr" indent="0" marL="0">
              <a:buNone/>
            </a:pPr>
            <a:r>
              <a:rPr lang="en-US" sz="900" dirty="0">
                <a:solidFill>
                  <a:srgbClr val="7F7F7F"/>
                </a:solidFill>
                <a:latin typeface="Arial" pitchFamily="34" charset="0"/>
                <a:ea typeface="Arial" pitchFamily="34" charset="-122"/>
                <a:cs typeface="Arial" pitchFamily="34" charset="-120"/>
              </a:rPr>
              <a:t>VESTA render: db/structures/sdcp_poses_qe/complex_doped.vesta  (mark O···Li 3.077 Å)</a:t>
            </a:r>
            <a:endParaRPr lang="en-US" sz="1100" dirty="0"/>
          </a:p>
        </p:txBody>
      </p:sp>
      <p:sp>
        <p:nvSpPr>
          <p:cNvPr id="16" name="Text 14"/>
          <p:cNvSpPr/>
          <p:nvPr/>
        </p:nvSpPr>
        <p:spPr>
          <a:xfrm>
            <a:off x="502920" y="5276088"/>
            <a:ext cx="3931920" cy="274320"/>
          </a:xfrm>
          <a:prstGeom prst="rect">
            <a:avLst/>
          </a:prstGeom>
          <a:noFill/>
          <a:ln/>
        </p:spPr>
        <p:txBody>
          <a:bodyPr wrap="square" lIns="0" tIns="0" rIns="0" bIns="0" rtlCol="0" anchor="ctr"/>
          <a:lstStyle/>
          <a:p>
            <a:pPr algn="ctr" indent="0" marL="0">
              <a:buNone/>
            </a:pPr>
            <a:r>
              <a:rPr lang="en-US" sz="850" i="1" dirty="0">
                <a:solidFill>
                  <a:srgbClr val="7F7F7F"/>
                </a:solidFill>
                <a:latin typeface="Arial" pitchFamily="34" charset="0"/>
                <a:ea typeface="Arial" pitchFamily="34" charset="-122"/>
                <a:cs typeface="Arial" pitchFamily="34" charset="-120"/>
              </a:rPr>
              <a:t>Physisorbed endpoint — display geometry; energies: runs/sdcp_phaseB_vasp_v1</a:t>
            </a:r>
            <a:endParaRPr lang="en-US" sz="850" dirty="0"/>
          </a:p>
        </p:txBody>
      </p:sp>
      <p:sp>
        <p:nvSpPr>
          <p:cNvPr id="17" name="Shape 15"/>
          <p:cNvSpPr/>
          <p:nvPr/>
        </p:nvSpPr>
        <p:spPr>
          <a:xfrm>
            <a:off x="4709160" y="3429000"/>
            <a:ext cx="3931920" cy="1828800"/>
          </a:xfrm>
          <a:prstGeom prst="rect">
            <a:avLst/>
          </a:prstGeom>
          <a:solidFill>
            <a:srgbClr val="F7F7F7"/>
          </a:solidFill>
          <a:ln w="12700">
            <a:solidFill>
              <a:srgbClr val="7F7F7F"/>
            </a:solidFill>
            <a:prstDash val="dash"/>
          </a:ln>
        </p:spPr>
      </p:sp>
      <p:sp>
        <p:nvSpPr>
          <p:cNvPr id="18" name="Text 16"/>
          <p:cNvSpPr/>
          <p:nvPr/>
        </p:nvSpPr>
        <p:spPr>
          <a:xfrm>
            <a:off x="4709160" y="3931920"/>
            <a:ext cx="3931920" cy="822960"/>
          </a:xfrm>
          <a:prstGeom prst="rect">
            <a:avLst/>
          </a:prstGeom>
          <a:noFill/>
          <a:ln/>
        </p:spPr>
        <p:txBody>
          <a:bodyPr wrap="square" lIns="0" tIns="0" rIns="0" bIns="0" rtlCol="0" anchor="ctr"/>
          <a:lstStyle/>
          <a:p>
            <a:pPr algn="ctr" indent="0" marL="0">
              <a:buNone/>
            </a:pPr>
            <a:r>
              <a:rPr lang="en-US" sz="1100" b="1" dirty="0">
                <a:solidFill>
                  <a:srgbClr val="7F7F7F"/>
                </a:solidFill>
                <a:latin typeface="Arial" pitchFamily="34" charset="0"/>
                <a:ea typeface="Arial" pitchFamily="34" charset="-122"/>
                <a:cs typeface="Arial" pitchFamily="34" charset="-120"/>
              </a:rPr>
              <a:t>PASTE SCREENSHOT
</a:t>
            </a:r>
            <a:endParaRPr lang="en-US" sz="1100" dirty="0"/>
          </a:p>
          <a:p>
            <a:pPr algn="ctr" indent="0" marL="0">
              <a:buNone/>
            </a:pPr>
            <a:r>
              <a:rPr lang="en-US" sz="900" dirty="0">
                <a:solidFill>
                  <a:srgbClr val="7F7F7F"/>
                </a:solidFill>
                <a:latin typeface="Arial" pitchFamily="34" charset="0"/>
                <a:ea typeface="Arial" pitchFamily="34" charset="-122"/>
                <a:cs typeface="Arial" pitchFamily="34" charset="-120"/>
              </a:rPr>
              <a:t>VESTA render: Li-transfer endpoint  (mark O···Li 1.935 Å)</a:t>
            </a:r>
            <a:endParaRPr lang="en-US" sz="1100" dirty="0"/>
          </a:p>
        </p:txBody>
      </p:sp>
      <p:sp>
        <p:nvSpPr>
          <p:cNvPr id="19" name="Text 17"/>
          <p:cNvSpPr/>
          <p:nvPr/>
        </p:nvSpPr>
        <p:spPr>
          <a:xfrm>
            <a:off x="4709160" y="5276088"/>
            <a:ext cx="3931920" cy="274320"/>
          </a:xfrm>
          <a:prstGeom prst="rect">
            <a:avLst/>
          </a:prstGeom>
          <a:noFill/>
          <a:ln/>
        </p:spPr>
        <p:txBody>
          <a:bodyPr wrap="square" lIns="0" tIns="0" rIns="0" bIns="0" rtlCol="0" anchor="ctr"/>
          <a:lstStyle/>
          <a:p>
            <a:pPr algn="ctr" indent="0" marL="0">
              <a:buNone/>
            </a:pPr>
            <a:r>
              <a:rPr lang="en-US" sz="850" i="1" dirty="0">
                <a:solidFill>
                  <a:srgbClr val="7F7F7F"/>
                </a:solidFill>
                <a:latin typeface="Arial" pitchFamily="34" charset="0"/>
                <a:ea typeface="Arial" pitchFamily="34" charset="-122"/>
                <a:cs typeface="Arial" pitchFamily="34" charset="-120"/>
              </a:rPr>
              <a:t>Li-transfer endpoint (display) — the +0.34 eV side</a:t>
            </a:r>
            <a:endParaRPr lang="en-US" sz="850" dirty="0"/>
          </a:p>
        </p:txBody>
      </p:sp>
      <p:sp>
        <p:nvSpPr>
          <p:cNvPr id="20" name="Text 18"/>
          <p:cNvSpPr/>
          <p:nvPr/>
        </p:nvSpPr>
        <p:spPr>
          <a:xfrm>
            <a:off x="502920" y="5486400"/>
            <a:ext cx="8138160" cy="685800"/>
          </a:xfrm>
          <a:prstGeom prst="rect">
            <a:avLst/>
          </a:prstGeom>
          <a:noFill/>
          <a:ln/>
        </p:spPr>
        <p:txBody>
          <a:bodyPr wrap="square" lIns="0" tIns="0" rIns="0" bIns="0" rtlCol="0" anchor="t"/>
          <a:lstStyle/>
          <a:p>
            <a:pPr marL="127000" indent="-127000">
              <a:spcAft>
                <a:spcPts val="500"/>
              </a:spcAft>
              <a:buSzPct val="100000"/>
              <a:buChar char="·"/>
            </a:pPr>
            <a:r>
              <a:rPr lang="en-US" sz="1050" b="1" dirty="0">
                <a:solidFill>
                  <a:srgbClr val="9E2A2B"/>
                </a:solidFill>
                <a:latin typeface="Arial" pitchFamily="34" charset="0"/>
                <a:ea typeface="Arial" pitchFamily="34" charset="-122"/>
                <a:cs typeface="Arial" pitchFamily="34" charset="-120"/>
              </a:rPr>
              <a:t>Lesson 1: one constraint flips a conclusion (①→②).  Lesson 2: the flipped conclusion can be wrong too (②→③)</a:t>
            </a:r>
            <a:endParaRPr lang="en-US" sz="1050" dirty="0"/>
          </a:p>
          <a:p>
            <a:pPr marL="127000" indent="-127000">
              <a:spcAft>
                <a:spcPts val="500"/>
              </a:spcAft>
              <a:buSzPct val="100000"/>
              <a:buChar char="·"/>
            </a:pPr>
            <a:r>
              <a:rPr lang="en-US" sz="1050" i="1" dirty="0">
                <a:solidFill>
                  <a:srgbClr val="262626"/>
                </a:solidFill>
                <a:latin typeface="Arial" pitchFamily="34" charset="0"/>
                <a:ea typeface="Arial" pitchFamily="34" charset="-122"/>
                <a:cs typeface="Arial" pitchFamily="34" charset="-120"/>
              </a:rPr>
              <a:t>Pre-registered in code, before the fact: “UMA cannot judge charge separation — this path is decided by DFT only”</a:t>
            </a:r>
            <a:endParaRPr lang="en-US" sz="1050" dirty="0"/>
          </a:p>
        </p:txBody>
      </p:sp>
      <p:sp>
        <p:nvSpPr>
          <p:cNvPr id="22" name="Text 19"/>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23" name="Text 20"/>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Verify</a:t>
            </a:r>
            <a:endParaRPr lang="en-US" sz="1100" dirty="0"/>
          </a:p>
        </p:txBody>
      </p:sp>
      <p:sp>
        <p:nvSpPr>
          <p:cNvPr id="3" name="Text 1"/>
          <p:cNvSpPr/>
          <p:nvPr/>
        </p:nvSpPr>
        <p:spPr>
          <a:xfrm>
            <a:off x="3840480" y="219456"/>
            <a:ext cx="4846320" cy="292608"/>
          </a:xfrm>
          <a:prstGeom prst="rect">
            <a:avLst/>
          </a:prstGeom>
          <a:noFill/>
          <a:ln/>
        </p:spPr>
        <p:txBody>
          <a:bodyPr wrap="square" lIns="0" tIns="0" rIns="0" bIns="0" rtlCol="0" anchor="ctr"/>
          <a:lstStyle/>
          <a:p>
            <a:pPr algn="r" indent="0" marL="0">
              <a:buNone/>
            </a:pPr>
            <a:r>
              <a:rPr lang="en-US" sz="850" i="1" dirty="0">
                <a:solidFill>
                  <a:srgbClr val="7F7F7F"/>
                </a:solidFill>
                <a:latin typeface="Arial" pitchFamily="34" charset="0"/>
                <a:ea typeface="Arial" pitchFamily="34" charset="-122"/>
                <a:cs typeface="Arial" pitchFamily="34" charset="-120"/>
              </a:rPr>
              <a:t>Zhu et al., Angew. 2020 · our transcription: 99 SI rows</a:t>
            </a:r>
            <a:endParaRPr lang="en-US" sz="850" dirty="0"/>
          </a:p>
        </p:txBody>
      </p:sp>
      <p:sp>
        <p:nvSpPr>
          <p:cNvPr id="4" name="Text 2"/>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Systematic bias found by cross-checking [Zhu 2020]</a:t>
            </a:r>
            <a:endParaRPr lang="en-US" sz="2000" dirty="0"/>
          </a:p>
        </p:txBody>
      </p:sp>
      <p:sp>
        <p:nvSpPr>
          <p:cNvPr id="5" name="Shape 3"/>
          <p:cNvSpPr/>
          <p:nvPr/>
        </p:nvSpPr>
        <p:spPr>
          <a:xfrm>
            <a:off x="457200" y="1115568"/>
            <a:ext cx="8229600" cy="0"/>
          </a:xfrm>
          <a:prstGeom prst="line">
            <a:avLst/>
          </a:prstGeom>
          <a:noFill/>
          <a:ln w="12700">
            <a:solidFill>
              <a:srgbClr val="D9D9D9"/>
            </a:solidFill>
            <a:prstDash val="solid"/>
          </a:ln>
        </p:spPr>
      </p:sp>
      <p:sp>
        <p:nvSpPr>
          <p:cNvPr id="6" name="Text 4"/>
          <p:cNvSpPr/>
          <p:nvPr/>
        </p:nvSpPr>
        <p:spPr>
          <a:xfrm>
            <a:off x="502920" y="1371600"/>
            <a:ext cx="4846320" cy="3291840"/>
          </a:xfrm>
          <a:prstGeom prst="rect">
            <a:avLst/>
          </a:prstGeom>
          <a:noFill/>
          <a:ln/>
        </p:spPr>
        <p:txBody>
          <a:bodyPr wrap="square" lIns="0" tIns="0" rIns="0" bIns="0" rtlCol="0" anchor="t"/>
          <a:lstStyle/>
          <a:p>
            <a:pPr marL="127000" indent="-127000">
              <a:spcAft>
                <a:spcPts val="500"/>
              </a:spcAft>
              <a:buSzPct val="100000"/>
              <a:buChar char="·"/>
            </a:pPr>
            <a:r>
              <a:rPr lang="en-US" sz="1150" b="1" dirty="0">
                <a:solidFill>
                  <a:srgbClr val="262626"/>
                </a:solidFill>
                <a:latin typeface="Arial" pitchFamily="34" charset="0"/>
                <a:ea typeface="Arial" pitchFamily="34" charset="-122"/>
                <a:cs typeface="Arial" pitchFamily="34" charset="-120"/>
              </a:rPr>
              <a:t>Transcribed their SI in full (99 rows), matched oxidation states, compared to our qualitative air grades</a:t>
            </a:r>
            <a:endParaRPr lang="en-US" sz="1150" dirty="0"/>
          </a:p>
          <a:p>
            <a:pPr marL="127000" indent="-127000">
              <a:spcAft>
                <a:spcPts val="500"/>
              </a:spcAft>
              <a:buSzPct val="100000"/>
              <a:buChar char="·"/>
            </a:pPr>
            <a:r>
              <a:rPr lang="en-US" sz="1150" b="1" dirty="0">
                <a:solidFill>
                  <a:srgbClr val="262626"/>
                </a:solidFill>
                <a:latin typeface="Arial" pitchFamily="34" charset="0"/>
                <a:ea typeface="Arial" pitchFamily="34" charset="-122"/>
                <a:cs typeface="Arial" pitchFamily="34" charset="-120"/>
              </a:rPr>
              <a:t>99 rows → matched to our 47-dopant pool: 35 overlap (26 + 9) + 12 absent</a:t>
            </a:r>
            <a:endParaRPr lang="en-US" sz="1150" dirty="0"/>
          </a:p>
          <a:p>
            <a:pPr marL="127000" indent="-127000">
              <a:spcAft>
                <a:spcPts val="500"/>
              </a:spcAft>
              <a:buSzPct val="100000"/>
              <a:buChar char="·"/>
            </a:pPr>
            <a:r>
              <a:rPr lang="en-US" sz="1150" b="1" dirty="0">
                <a:solidFill>
                  <a:srgbClr val="9E2A2B"/>
                </a:solidFill>
                <a:latin typeface="Arial" pitchFamily="34" charset="0"/>
                <a:ea typeface="Arial" pitchFamily="34" charset="-122"/>
                <a:cs typeface="Arial" pitchFamily="34" charset="-120"/>
              </a:rPr>
              <a:t>All 9 disagreements point the SAME way (we under-rated) — that is bias, not noise</a:t>
            </a:r>
            <a:endParaRPr lang="en-US" sz="1150" dirty="0"/>
          </a:p>
          <a:p>
            <a:pPr marL="127000" indent="-127000">
              <a:spcAft>
                <a:spcPts val="500"/>
              </a:spcAft>
              <a:buSzPct val="100000"/>
              <a:buChar char="·"/>
            </a:pPr>
            <a:r>
              <a:rPr lang="en-US" sz="1150" b="1" dirty="0">
                <a:solidFill>
                  <a:srgbClr val="262626"/>
                </a:solidFill>
                <a:latin typeface="Arial" pitchFamily="34" charset="0"/>
                <a:ea typeface="Arial" pitchFamily="34" charset="-122"/>
                <a:cs typeface="Arial" pitchFamily="34" charset="-120"/>
              </a:rPr>
              <a:t>Root cause: we graded by HSAB softness; the operative variable is oxophilicity</a:t>
            </a:r>
            <a:endParaRPr lang="en-US" sz="1150" dirty="0"/>
          </a:p>
          <a:p>
            <a:pPr marL="127000" indent="-127000">
              <a:spcAft>
                <a:spcPts val="500"/>
              </a:spcAft>
              <a:buSzPct val="100000"/>
              <a:buChar char="·"/>
            </a:pPr>
            <a:r>
              <a:rPr lang="en-US" sz="1150" b="1" dirty="0">
                <a:solidFill>
                  <a:srgbClr val="1F4E79"/>
                </a:solidFill>
                <a:latin typeface="Arial" pitchFamily="34" charset="0"/>
                <a:ea typeface="Arial" pitchFamily="34" charset="-122"/>
                <a:cs typeface="Arial" pitchFamily="34" charset="-120"/>
              </a:rPr>
              <a:t>Fix queued: replace the qualitative axis with computed ΔG_hyd (their recipe + answer key in hand)</a:t>
            </a:r>
            <a:endParaRPr lang="en-US" sz="1150" dirty="0"/>
          </a:p>
        </p:txBody>
      </p:sp>
      <p:sp>
        <p:nvSpPr>
          <p:cNvPr id="7" name="Shape 5"/>
          <p:cNvSpPr/>
          <p:nvPr/>
        </p:nvSpPr>
        <p:spPr>
          <a:xfrm>
            <a:off x="5486400" y="1463040"/>
            <a:ext cx="3154680" cy="3017520"/>
          </a:xfrm>
          <a:prstGeom prst="roundRect">
            <a:avLst>
              <a:gd name="adj" fmla="val 2424"/>
            </a:avLst>
          </a:prstGeom>
          <a:solidFill>
            <a:srgbClr val="F7F7F7"/>
          </a:solidFill>
          <a:ln w="12700">
            <a:solidFill>
              <a:srgbClr val="D9D9D9"/>
            </a:solidFill>
            <a:prstDash val="solid"/>
          </a:ln>
        </p:spPr>
      </p:sp>
      <p:sp>
        <p:nvSpPr>
          <p:cNvPr id="8" name="Text 6"/>
          <p:cNvSpPr/>
          <p:nvPr/>
        </p:nvSpPr>
        <p:spPr>
          <a:xfrm>
            <a:off x="5715000" y="1691640"/>
            <a:ext cx="2743200" cy="2651760"/>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agree      </a:t>
            </a:r>
            <a:pPr indent="0" marL="0">
              <a:buNone/>
            </a:pPr>
            <a:r>
              <a:rPr lang="en-US" sz="2600" b="1" dirty="0">
                <a:solidFill>
                  <a:srgbClr val="1F4E79"/>
                </a:solidFill>
                <a:latin typeface="Arial" pitchFamily="34" charset="0"/>
                <a:ea typeface="Arial" pitchFamily="34" charset="-122"/>
                <a:cs typeface="Arial" pitchFamily="34" charset="-120"/>
              </a:rPr>
              <a:t>26
</a:t>
            </a:r>
            <a:endParaRPr lang="en-US" sz="1200" dirty="0"/>
          </a:p>
          <a:p>
            <a:pPr indent="0" marL="0">
              <a:buNone/>
            </a:pPr>
            <a:r>
              <a:rPr lang="en-US" sz="1200" dirty="0">
                <a:solidFill>
                  <a:srgbClr val="262626"/>
                </a:solidFill>
                <a:latin typeface="Arial" pitchFamily="34" charset="0"/>
                <a:ea typeface="Arial" pitchFamily="34" charset="-122"/>
                <a:cs typeface="Arial" pitchFamily="34" charset="-120"/>
              </a:rPr>
              <a:t>disagree  </a:t>
            </a:r>
            <a:pPr indent="0" marL="0">
              <a:buNone/>
            </a:pPr>
            <a:r>
              <a:rPr lang="en-US" sz="2600" b="1" dirty="0">
                <a:solidFill>
                  <a:srgbClr val="9E2A2B"/>
                </a:solidFill>
                <a:latin typeface="Arial" pitchFamily="34" charset="0"/>
                <a:ea typeface="Arial" pitchFamily="34" charset="-122"/>
                <a:cs typeface="Arial" pitchFamily="34" charset="-120"/>
              </a:rPr>
              <a:t>9</a:t>
            </a:r>
            <a:pPr indent="0" marL="0">
              <a:buNone/>
            </a:pPr>
            <a:r>
              <a:rPr lang="en-US" sz="1000" i="1" dirty="0">
                <a:solidFill>
                  <a:srgbClr val="9E2A2B"/>
                </a:solidFill>
                <a:latin typeface="Arial" pitchFamily="34" charset="0"/>
                <a:ea typeface="Arial" pitchFamily="34" charset="-122"/>
                <a:cs typeface="Arial" pitchFamily="34" charset="-120"/>
              </a:rPr>
              <a:t>  (all one-directional)
</a:t>
            </a:r>
            <a:endParaRPr lang="en-US" sz="1200" dirty="0"/>
          </a:p>
          <a:p>
            <a:pPr indent="0" marL="0">
              <a:buNone/>
            </a:pPr>
            <a:r>
              <a:rPr lang="en-US" sz="1200" dirty="0">
                <a:solidFill>
                  <a:srgbClr val="262626"/>
                </a:solidFill>
                <a:latin typeface="Arial" pitchFamily="34" charset="0"/>
                <a:ea typeface="Arial" pitchFamily="34" charset="-122"/>
                <a:cs typeface="Arial" pitchFamily="34" charset="-120"/>
              </a:rPr>
              <a:t>absent     </a:t>
            </a:r>
            <a:pPr indent="0" marL="0">
              <a:buNone/>
            </a:pPr>
            <a:r>
              <a:rPr lang="en-US" sz="2600" b="1" dirty="0">
                <a:solidFill>
                  <a:srgbClr val="7F7F7F"/>
                </a:solidFill>
                <a:latin typeface="Arial" pitchFamily="34" charset="0"/>
                <a:ea typeface="Arial" pitchFamily="34" charset="-122"/>
                <a:cs typeface="Arial" pitchFamily="34" charset="-120"/>
              </a:rPr>
              <a:t>12</a:t>
            </a:r>
            <a:endParaRPr lang="en-US" sz="1200" dirty="0"/>
          </a:p>
        </p:txBody>
      </p:sp>
      <p:sp>
        <p:nvSpPr>
          <p:cNvPr id="9" name="Text 7"/>
          <p:cNvSpPr/>
          <p:nvPr/>
        </p:nvSpPr>
        <p:spPr>
          <a:xfrm>
            <a:off x="5486400" y="4526280"/>
            <a:ext cx="3154680" cy="274320"/>
          </a:xfrm>
          <a:prstGeom prst="rect">
            <a:avLst/>
          </a:prstGeom>
          <a:noFill/>
          <a:ln/>
        </p:spPr>
        <p:txBody>
          <a:bodyPr wrap="square" lIns="0" tIns="0" rIns="0" bIns="0" rtlCol="0" anchor="ctr"/>
          <a:lstStyle/>
          <a:p>
            <a:pPr algn="ctr" indent="0" marL="0">
              <a:buNone/>
            </a:pPr>
            <a:r>
              <a:rPr lang="en-US" sz="850" i="1" dirty="0">
                <a:solidFill>
                  <a:srgbClr val="7F7F7F"/>
                </a:solidFill>
                <a:latin typeface="Arial" pitchFamily="34" charset="0"/>
                <a:ea typeface="Arial" pitchFamily="34" charset="-122"/>
                <a:cs typeface="Arial" pitchFamily="34" charset="-120"/>
              </a:rPr>
              <a:t>Our grade vs [Zhu20] ΔE_hydrolysis, matched by oxidation state</a:t>
            </a:r>
            <a:endParaRPr lang="en-US" sz="850" dirty="0"/>
          </a:p>
        </p:txBody>
      </p:sp>
      <p:sp>
        <p:nvSpPr>
          <p:cNvPr id="11" name="Text 8"/>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12" name="Text 9"/>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Verify</a:t>
            </a:r>
            <a:endParaRPr lang="en-US" sz="1100" dirty="0"/>
          </a:p>
        </p:txBody>
      </p:sp>
      <p:sp>
        <p:nvSpPr>
          <p:cNvPr id="3" name="Text 1"/>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Our own canonical values fail a provenance audit</a:t>
            </a:r>
            <a:endParaRPr lang="en-US" sz="2000" dirty="0"/>
          </a:p>
        </p:txBody>
      </p:sp>
      <p:sp>
        <p:nvSpPr>
          <p:cNvPr id="4" name="Shape 2"/>
          <p:cNvSpPr/>
          <p:nvPr/>
        </p:nvSpPr>
        <p:spPr>
          <a:xfrm>
            <a:off x="457200" y="1115568"/>
            <a:ext cx="8229600" cy="0"/>
          </a:xfrm>
          <a:prstGeom prst="line">
            <a:avLst/>
          </a:prstGeom>
          <a:noFill/>
          <a:ln w="12700">
            <a:solidFill>
              <a:srgbClr val="D9D9D9"/>
            </a:solidFill>
            <a:prstDash val="solid"/>
          </a:ln>
        </p:spPr>
      </p:sp>
      <p:sp>
        <p:nvSpPr>
          <p:cNvPr id="5" name="Shape 3"/>
          <p:cNvSpPr/>
          <p:nvPr/>
        </p:nvSpPr>
        <p:spPr>
          <a:xfrm>
            <a:off x="502920" y="1417320"/>
            <a:ext cx="4160520" cy="3017520"/>
          </a:xfrm>
          <a:prstGeom prst="rect">
            <a:avLst/>
          </a:prstGeom>
          <a:solidFill>
            <a:srgbClr val="F7F7F7"/>
          </a:solidFill>
          <a:ln w="12700">
            <a:solidFill>
              <a:srgbClr val="7F7F7F"/>
            </a:solidFill>
            <a:prstDash val="dash"/>
          </a:ln>
        </p:spPr>
      </p:sp>
      <p:sp>
        <p:nvSpPr>
          <p:cNvPr id="6" name="Text 4"/>
          <p:cNvSpPr/>
          <p:nvPr/>
        </p:nvSpPr>
        <p:spPr>
          <a:xfrm>
            <a:off x="502920" y="2514600"/>
            <a:ext cx="4160520" cy="822960"/>
          </a:xfrm>
          <a:prstGeom prst="rect">
            <a:avLst/>
          </a:prstGeom>
          <a:noFill/>
          <a:ln/>
        </p:spPr>
        <p:txBody>
          <a:bodyPr wrap="square" lIns="0" tIns="0" rIns="0" bIns="0" rtlCol="0" anchor="ctr"/>
          <a:lstStyle/>
          <a:p>
            <a:pPr algn="ctr" indent="0" marL="0">
              <a:buNone/>
            </a:pPr>
            <a:r>
              <a:rPr lang="en-US" sz="1100" b="1" dirty="0">
                <a:solidFill>
                  <a:srgbClr val="7F7F7F"/>
                </a:solidFill>
                <a:latin typeface="Arial" pitchFamily="34" charset="0"/>
                <a:ea typeface="Arial" pitchFamily="34" charset="-122"/>
                <a:cs typeface="Arial" pitchFamily="34" charset="-120"/>
              </a:rPr>
              <a:t>PASTE SCREENSHOT
</a:t>
            </a:r>
            <a:endParaRPr lang="en-US" sz="1100" dirty="0"/>
          </a:p>
          <a:p>
            <a:pPr algn="ctr" indent="0" marL="0">
              <a:buNone/>
            </a:pPr>
            <a:r>
              <a:rPr lang="en-US" sz="900" dirty="0">
                <a:solidFill>
                  <a:srgbClr val="7F7F7F"/>
                </a:solidFill>
                <a:latin typeface="Arial" pitchFamily="34" charset="0"/>
                <a:ea typeface="Arial" pitchFamily="34" charset="-122"/>
                <a:cs typeface="Arial" pitchFamily="34" charset="-120"/>
              </a:rPr>
              <a:t>terminal:  python3 tools/db/validate_canonical.py  (warning block visible)</a:t>
            </a:r>
            <a:endParaRPr lang="en-US" sz="1100" dirty="0"/>
          </a:p>
        </p:txBody>
      </p:sp>
      <p:sp>
        <p:nvSpPr>
          <p:cNvPr id="7" name="Text 5"/>
          <p:cNvSpPr/>
          <p:nvPr/>
        </p:nvSpPr>
        <p:spPr>
          <a:xfrm>
            <a:off x="502920" y="4453128"/>
            <a:ext cx="4160520" cy="274320"/>
          </a:xfrm>
          <a:prstGeom prst="rect">
            <a:avLst/>
          </a:prstGeom>
          <a:noFill/>
          <a:ln/>
        </p:spPr>
        <p:txBody>
          <a:bodyPr wrap="square" lIns="0" tIns="0" rIns="0" bIns="0" rtlCol="0" anchor="ctr"/>
          <a:lstStyle/>
          <a:p>
            <a:pPr algn="ctr" indent="0" marL="0">
              <a:buNone/>
            </a:pPr>
            <a:r>
              <a:rPr lang="en-US" sz="850" i="1" dirty="0">
                <a:solidFill>
                  <a:srgbClr val="7F7F7F"/>
                </a:solidFill>
                <a:latin typeface="Arial" pitchFamily="34" charset="0"/>
                <a:ea typeface="Arial" pitchFamily="34" charset="-122"/>
                <a:cs typeface="Arial" pitchFamily="34" charset="-120"/>
              </a:rPr>
              <a:t>Registry validator output — the warning ships with the numbers</a:t>
            </a:r>
            <a:endParaRPr lang="en-US" sz="850" dirty="0"/>
          </a:p>
        </p:txBody>
      </p:sp>
      <p:sp>
        <p:nvSpPr>
          <p:cNvPr id="8" name="Text 6"/>
          <p:cNvSpPr/>
          <p:nvPr/>
        </p:nvSpPr>
        <p:spPr>
          <a:xfrm>
            <a:off x="4937760" y="1371600"/>
            <a:ext cx="3749040" cy="4480560"/>
          </a:xfrm>
          <a:prstGeom prst="rect">
            <a:avLst/>
          </a:prstGeom>
          <a:noFill/>
          <a:ln/>
        </p:spPr>
        <p:txBody>
          <a:bodyPr wrap="square" lIns="0" tIns="0" rIns="0" bIns="0" rtlCol="0" anchor="t"/>
          <a:lstStyle/>
          <a:p>
            <a:pPr marL="127000" indent="-127000">
              <a:spcAft>
                <a:spcPts val="500"/>
              </a:spcAft>
              <a:buSzPct val="100000"/>
              <a:buChar char="·"/>
            </a:pPr>
            <a:r>
              <a:rPr lang="en-US" sz="1050" b="1" dirty="0">
                <a:solidFill>
                  <a:srgbClr val="262626"/>
                </a:solidFill>
                <a:latin typeface="Arial" pitchFamily="34" charset="0"/>
                <a:ea typeface="Arial" pitchFamily="34" charset="-122"/>
                <a:cs typeface="Arial" pitchFamily="34" charset="-120"/>
              </a:rPr>
              <a:t>Rule: gaps = fixed-occupation nscf eigenvalues ONLY</a:t>
            </a:r>
            <a:endParaRPr lang="en-US" sz="1050" dirty="0"/>
          </a:p>
          <a:p>
            <a:pPr marL="127000" indent="-127000">
              <a:spcAft>
                <a:spcPts val="500"/>
              </a:spcAft>
              <a:buSzPct val="100000"/>
              <a:buChar char="·"/>
            </a:pPr>
            <a:r>
              <a:rPr lang="en-US" sz="1050" b="1" dirty="0">
                <a:solidFill>
                  <a:srgbClr val="9E2A2B"/>
                </a:solidFill>
                <a:latin typeface="Arial" pitchFamily="34" charset="0"/>
                <a:ea typeface="Arial" pitchFamily="34" charset="-122"/>
                <a:cs typeface="Arial" pitchFamily="34" charset="-120"/>
              </a:rPr>
              <a:t>The 4 canonical gaps (2.066 / 2.099 / 1.967 / 2.231 eV): values match the canon files — but the runs that produced them cannot be located</a:t>
            </a:r>
            <a:endParaRPr lang="en-US" sz="1050" dirty="0"/>
          </a:p>
          <a:p>
            <a:pPr lvl="1" marL="254000" indent="-127000">
              <a:spcAft>
                <a:spcPts val="500"/>
              </a:spcAft>
              <a:buSzPct val="100000"/>
              <a:buChar char="–"/>
            </a:pPr>
            <a:r>
              <a:rPr lang="en-US" sz="1050" dirty="0">
                <a:solidFill>
                  <a:srgbClr val="7F7F7F"/>
                </a:solidFill>
                <a:latin typeface="Arial" pitchFamily="34" charset="0"/>
                <a:ea typeface="Arial" pitchFamily="34" charset="-122"/>
                <a:cs typeface="Arial" pitchFamily="34" charset="-120"/>
              </a:rPr>
              <a:t>Surviving inputs are DOS-mode — not valid evidence</a:t>
            </a:r>
            <a:endParaRPr lang="en-US" sz="1050" dirty="0"/>
          </a:p>
          <a:p>
            <a:pPr marL="127000" indent="-127000">
              <a:spcAft>
                <a:spcPts val="500"/>
              </a:spcAft>
              <a:buSzPct val="100000"/>
              <a:buChar char="·"/>
            </a:pPr>
            <a:r>
              <a:rPr lang="en-US" sz="1050" b="1" dirty="0">
                <a:solidFill>
                  <a:srgbClr val="262626"/>
                </a:solidFill>
                <a:latin typeface="Arial" pitchFamily="34" charset="0"/>
                <a:ea typeface="Arial" pitchFamily="34" charset="-122"/>
                <a:cs typeface="Arial" pitchFamily="34" charset="-120"/>
              </a:rPr>
              <a:t>Not doubting the values — doubting our ability to reproduce them</a:t>
            </a:r>
            <a:endParaRPr lang="en-US" sz="1050" dirty="0"/>
          </a:p>
          <a:p>
            <a:pPr marL="127000" indent="-127000">
              <a:spcAft>
                <a:spcPts val="500"/>
              </a:spcAft>
              <a:buSzPct val="100000"/>
              <a:buChar char="·"/>
            </a:pPr>
            <a:r>
              <a:rPr lang="en-US" sz="1050" b="1" dirty="0">
                <a:solidFill>
                  <a:srgbClr val="1F4E79"/>
                </a:solidFill>
                <a:latin typeface="Arial" pitchFamily="34" charset="0"/>
                <a:ea typeface="Arial" pitchFamily="34" charset="-122"/>
                <a:cs typeface="Arial" pitchFamily="34" charset="-120"/>
              </a:rPr>
              <a:t>Response: keep values, flag provenance_open, make the validator print the warning on EVERY run</a:t>
            </a:r>
            <a:endParaRPr lang="en-US" sz="1050" dirty="0"/>
          </a:p>
          <a:p>
            <a:pPr marL="127000" indent="-127000">
              <a:spcAft>
                <a:spcPts val="200"/>
              </a:spcAft>
              <a:buSzPct val="100000"/>
              <a:buChar char="·"/>
            </a:pPr>
            <a:r>
              <a:rPr lang="en-US" sz="1050" b="1" dirty="0">
                <a:solidFill>
                  <a:srgbClr val="262626"/>
                </a:solidFill>
                <a:latin typeface="Arial" pitchFamily="34" charset="0"/>
                <a:ea typeface="Arial" pitchFamily="34" charset="-122"/>
                <a:cs typeface="Arial" pitchFamily="34" charset="-120"/>
              </a:rPr>
              <a:t>Lesson: notes in documents guard nothing — the checked path must be the used path</a:t>
            </a:r>
            <a:endParaRPr lang="en-US" sz="1050" dirty="0"/>
          </a:p>
        </p:txBody>
      </p:sp>
      <p:sp>
        <p:nvSpPr>
          <p:cNvPr id="10" name="Text 7"/>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11" name="Text 8"/>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Conclusions</a:t>
            </a:r>
            <a:endParaRPr lang="en-US" sz="1100" dirty="0"/>
          </a:p>
        </p:txBody>
      </p:sp>
      <p:sp>
        <p:nvSpPr>
          <p:cNvPr id="3" name="Text 1"/>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What we deliver, then the one sentence</a:t>
            </a:r>
            <a:endParaRPr lang="en-US" sz="2000" dirty="0"/>
          </a:p>
        </p:txBody>
      </p:sp>
      <p:sp>
        <p:nvSpPr>
          <p:cNvPr id="4" name="Shape 2"/>
          <p:cNvSpPr/>
          <p:nvPr/>
        </p:nvSpPr>
        <p:spPr>
          <a:xfrm>
            <a:off x="457200" y="1115568"/>
            <a:ext cx="8229600" cy="0"/>
          </a:xfrm>
          <a:prstGeom prst="line">
            <a:avLst/>
          </a:prstGeom>
          <a:noFill/>
          <a:ln w="12700">
            <a:solidFill>
              <a:srgbClr val="D9D9D9"/>
            </a:solidFill>
            <a:prstDash val="solid"/>
          </a:ln>
        </p:spPr>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8138160" cy="914400"/>
        </p:xfrm>
        <a:graphic>
          <a:graphicData uri="http://schemas.openxmlformats.org/drawingml/2006/table">
            <a:tbl>
              <a:tblPr/>
              <a:tblGrid>
                <a:gridCol w="5577840"/>
                <a:gridCol w="2560320"/>
              </a:tblGrid>
              <a:tr h="347472">
                <a:tc>
                  <a:txBody>
                    <a:bodyPr/>
                    <a:lstStyle/>
                    <a:p>
                      <a:pPr indent="0" marL="0">
                        <a:buNone/>
                      </a:pPr>
                      <a:r>
                        <a:rPr lang="en-US" sz="1050" b="1" dirty="0">
                          <a:solidFill>
                            <a:srgbClr val="FFFFFF"/>
                          </a:solidFill>
                          <a:latin typeface="Arial" pitchFamily="34" charset="0"/>
                          <a:ea typeface="Arial" pitchFamily="34" charset="-122"/>
                          <a:cs typeface="Arial" pitchFamily="34" charset="-120"/>
                        </a:rPr>
                        <a:t>Deliverable</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State</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r>
              <a:tr h="347472">
                <a:tc>
                  <a:txBody>
                    <a:bodyPr/>
                    <a:lstStyle/>
                    <a:p>
                      <a:pPr indent="0" marL="0">
                        <a:buNone/>
                      </a:pPr>
                      <a:r>
                        <a:rPr lang="en-US" sz="1050" dirty="0">
                          <a:solidFill>
                            <a:srgbClr val="262626"/>
                          </a:solidFill>
                          <a:latin typeface="Arial" pitchFamily="34" charset="0"/>
                          <a:ea typeface="Arial" pitchFamily="34" charset="-122"/>
                          <a:cs typeface="Arial" pitchFamily="34" charset="-120"/>
                        </a:rPr>
                        <a:t>LPSCl mechanism: gain = disorder, not bands</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confirmed in-house (consistent with literature) — drives axis design</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47472">
                <a:tc>
                  <a:txBody>
                    <a:bodyPr/>
                    <a:lstStyle/>
                    <a:p>
                      <a:pPr indent="0" marL="0">
                        <a:buNone/>
                      </a:pPr>
                      <a:r>
                        <a:rPr lang="en-US" sz="1050" dirty="0">
                          <a:solidFill>
                            <a:srgbClr val="262626"/>
                          </a:solidFill>
                          <a:latin typeface="Arial" pitchFamily="34" charset="0"/>
                          <a:ea typeface="Arial" pitchFamily="34" charset="-122"/>
                          <a:cs typeface="Arial" pitchFamily="34" charset="-120"/>
                        </a:rPr>
                        <a:t>47-dopant relative screen (273 run slots) + 14-axis ranking</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complete as a screen; deep-DFT coverage 2/47 (B₂O₃, Nd₂O₃)</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47472">
                <a:tc>
                  <a:txBody>
                    <a:bodyPr/>
                    <a:lstStyle/>
                    <a:p>
                      <a:pPr indent="0" marL="0">
                        <a:buNone/>
                      </a:pPr>
                      <a:r>
                        <a:rPr lang="en-US" sz="1050" dirty="0">
                          <a:solidFill>
                            <a:srgbClr val="262626"/>
                          </a:solidFill>
                          <a:latin typeface="Arial" pitchFamily="34" charset="0"/>
                          <a:ea typeface="Arial" pitchFamily="34" charset="-122"/>
                          <a:cs typeface="Arial" pitchFamily="34" charset="-120"/>
                        </a:rPr>
                        <a:t>Co-doping hypothesis set (+0.36 V top pair) + honest model audit</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hypotheses; supercell labels queued (dose-grid design fixed)</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47472">
                <a:tc>
                  <a:txBody>
                    <a:bodyPr/>
                    <a:lstStyle/>
                    <a:p>
                      <a:pPr indent="0" marL="0">
                        <a:buNone/>
                      </a:pPr>
                      <a:r>
                        <a:rPr lang="en-US" sz="1050" dirty="0">
                          <a:solidFill>
                            <a:srgbClr val="262626"/>
                          </a:solidFill>
                          <a:latin typeface="Arial" pitchFamily="34" charset="0"/>
                          <a:ea typeface="Arial" pitchFamily="34" charset="-122"/>
                          <a:cs typeface="Arial" pitchFamily="34" charset="-120"/>
                        </a:rPr>
                        <a:t>SEI phases: 6 citable gaps + Li₂S NEB converged (0.27 eV, fwd = bwd)</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gaps in db; NEB registration syncing (cell-size caveat)</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47472">
                <a:tc>
                  <a:txBody>
                    <a:bodyPr/>
                    <a:lstStyle/>
                    <a:p>
                      <a:pPr indent="0" marL="0">
                        <a:buNone/>
                      </a:pPr>
                      <a:r>
                        <a:rPr lang="en-US" sz="1050" dirty="0">
                          <a:solidFill>
                            <a:srgbClr val="262626"/>
                          </a:solidFill>
                          <a:latin typeface="Arial" pitchFamily="34" charset="0"/>
                          <a:ea typeface="Arial" pitchFamily="34" charset="-122"/>
                          <a:cs typeface="Arial" pitchFamily="34" charset="-120"/>
                        </a:rPr>
                        <a:t>Provenance infrastructure (28/28 wired, drift-checked)</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live</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47472">
                <a:tc>
                  <a:txBody>
                    <a:bodyPr/>
                    <a:lstStyle/>
                    <a:p>
                      <a:pPr indent="0" marL="0">
                        <a:buNone/>
                      </a:pPr>
                      <a:r>
                        <a:rPr lang="en-US" sz="1050" dirty="0">
                          <a:solidFill>
                            <a:srgbClr val="262626"/>
                          </a:solidFill>
                          <a:latin typeface="Arial" pitchFamily="34" charset="0"/>
                          <a:ea typeface="Arial" pitchFamily="34" charset="-122"/>
                          <a:cs typeface="Arial" pitchFamily="34" charset="-120"/>
                        </a:rPr>
                        <a:t>11 documented retractions with gate attribution</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this talk</a:t>
                      </a:r>
                      <a:endParaRPr lang="en-US" sz="10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6" name="Shape 3"/>
          <p:cNvSpPr/>
          <p:nvPr/>
        </p:nvSpPr>
        <p:spPr>
          <a:xfrm>
            <a:off x="502920" y="4206240"/>
            <a:ext cx="8138160" cy="1051560"/>
          </a:xfrm>
          <a:prstGeom prst="roundRect">
            <a:avLst>
              <a:gd name="adj" fmla="val 6957"/>
            </a:avLst>
          </a:prstGeom>
          <a:solidFill>
            <a:srgbClr val="1F4E79"/>
          </a:solidFill>
          <a:ln/>
        </p:spPr>
      </p:sp>
      <p:sp>
        <p:nvSpPr>
          <p:cNvPr id="7" name="Text 4"/>
          <p:cNvSpPr/>
          <p:nvPr/>
        </p:nvSpPr>
        <p:spPr>
          <a:xfrm>
            <a:off x="777240" y="4206240"/>
            <a:ext cx="7589520" cy="1051560"/>
          </a:xfrm>
          <a:prstGeom prst="rect">
            <a:avLst/>
          </a:prstGeom>
          <a:noFill/>
          <a:ln/>
        </p:spPr>
        <p:txBody>
          <a:bodyPr wrap="square" lIns="0" tIns="0" rIns="0" bIns="0" rtlCol="0" anchor="ctr"/>
          <a:lstStyle/>
          <a:p>
            <a:pPr algn="ctr" indent="0" marL="0">
              <a:buNone/>
            </a:pPr>
            <a:r>
              <a:rPr lang="en-US" sz="1450" b="1" dirty="0">
                <a:solidFill>
                  <a:srgbClr val="FFFFFF"/>
                </a:solidFill>
                <a:latin typeface="Arial" pitchFamily="34" charset="0"/>
                <a:ea typeface="Arial" pitchFamily="34" charset="-122"/>
                <a:cs typeface="Arial" pitchFamily="34" charset="-120"/>
              </a:rPr>
              <a:t>Screening is only as good as its gates — ours audited 11 of our own verdicts, retracted 9, one of them twice.</a:t>
            </a:r>
            <a:endParaRPr lang="en-US" sz="1450" dirty="0"/>
          </a:p>
        </p:txBody>
      </p:sp>
      <p:sp>
        <p:nvSpPr>
          <p:cNvPr id="8" name="Text 5"/>
          <p:cNvSpPr/>
          <p:nvPr/>
        </p:nvSpPr>
        <p:spPr>
          <a:xfrm>
            <a:off x="502920" y="5440680"/>
            <a:ext cx="8138160" cy="731520"/>
          </a:xfrm>
          <a:prstGeom prst="rect">
            <a:avLst/>
          </a:prstGeom>
          <a:noFill/>
          <a:ln/>
        </p:spPr>
        <p:txBody>
          <a:bodyPr wrap="square" lIns="0" tIns="0" rIns="0" bIns="0" rtlCol="0" anchor="t"/>
          <a:lstStyle/>
          <a:p>
            <a:pPr lvl="1" marL="254000" indent="-127000">
              <a:spcAft>
                <a:spcPts val="500"/>
              </a:spcAft>
              <a:buSzPct val="100000"/>
              <a:buChar char="–"/>
            </a:pPr>
            <a:r>
              <a:rPr lang="en-US" sz="1050" dirty="0">
                <a:solidFill>
                  <a:srgbClr val="7F7F7F"/>
                </a:solidFill>
                <a:latin typeface="Arial" pitchFamily="34" charset="0"/>
                <a:ea typeface="Arial" pitchFamily="34" charset="-122"/>
                <a:cs typeface="Arial" pitchFamily="34" charset="-120"/>
              </a:rPr>
              <a:t>Supported: relative screening · trade-offs · prospective hypotheses · the audit ledger itself</a:t>
            </a:r>
            <a:endParaRPr lang="en-US" sz="1050" dirty="0"/>
          </a:p>
          <a:p>
            <a:pPr lvl="1" marL="254000" indent="-127000">
              <a:spcAft>
                <a:spcPts val="500"/>
              </a:spcAft>
              <a:buSzPct val="100000"/>
              <a:buChar char="–"/>
            </a:pPr>
            <a:r>
              <a:rPr lang="en-US" sz="1050" dirty="0">
                <a:solidFill>
                  <a:srgbClr val="7F7F7F"/>
                </a:solidFill>
                <a:latin typeface="Arial" pitchFamily="34" charset="0"/>
                <a:ea typeface="Arial" pitchFamily="34" charset="-122"/>
                <a:cs typeface="Arial" pitchFamily="34" charset="-120"/>
              </a:rPr>
              <a:t>Not supported: a unique winner · 47/47 DFT validation · absolute σ · experimental proof</a:t>
            </a:r>
            <a:endParaRPr lang="en-US" sz="1050" dirty="0"/>
          </a:p>
        </p:txBody>
      </p:sp>
      <p:sp>
        <p:nvSpPr>
          <p:cNvPr id="10" name="Text 6"/>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11" name="Text 7"/>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Future plan</a:t>
            </a:r>
            <a:endParaRPr lang="en-US" sz="1100" dirty="0"/>
          </a:p>
        </p:txBody>
      </p:sp>
      <p:sp>
        <p:nvSpPr>
          <p:cNvPr id="3" name="Text 1"/>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Queued simulations: recipes in hand vs in design</a:t>
            </a:r>
            <a:endParaRPr lang="en-US" sz="2000" dirty="0"/>
          </a:p>
        </p:txBody>
      </p:sp>
      <p:sp>
        <p:nvSpPr>
          <p:cNvPr id="4" name="Shape 2"/>
          <p:cNvSpPr/>
          <p:nvPr/>
        </p:nvSpPr>
        <p:spPr>
          <a:xfrm>
            <a:off x="457200" y="1115568"/>
            <a:ext cx="8229600" cy="0"/>
          </a:xfrm>
          <a:prstGeom prst="line">
            <a:avLst/>
          </a:prstGeom>
          <a:noFill/>
          <a:ln w="12700">
            <a:solidFill>
              <a:srgbClr val="D9D9D9"/>
            </a:solidFill>
            <a:prstDash val="solid"/>
          </a:ln>
        </p:spPr>
      </p:sp>
      <p:sp>
        <p:nvSpPr>
          <p:cNvPr id="5" name="Text 3"/>
          <p:cNvSpPr/>
          <p:nvPr/>
        </p:nvSpPr>
        <p:spPr>
          <a:xfrm>
            <a:off x="502920" y="1371600"/>
            <a:ext cx="4297680" cy="4206240"/>
          </a:xfrm>
          <a:prstGeom prst="rect">
            <a:avLst/>
          </a:prstGeom>
          <a:noFill/>
          <a:ln/>
        </p:spPr>
        <p:txBody>
          <a:bodyPr wrap="square" lIns="0" tIns="0" rIns="0" bIns="0" rtlCol="0" anchor="t"/>
          <a:lstStyle/>
          <a:p>
            <a:pPr marL="127000" indent="-127000">
              <a:spcAft>
                <a:spcPts val="500"/>
              </a:spcAft>
              <a:buSzPct val="100000"/>
              <a:buChar char="·"/>
            </a:pPr>
            <a:r>
              <a:rPr lang="en-US" sz="1050" b="1" dirty="0">
                <a:solidFill>
                  <a:srgbClr val="1F4E79"/>
                </a:solidFill>
                <a:latin typeface="Arial" pitchFamily="34" charset="0"/>
                <a:ea typeface="Arial" pitchFamily="34" charset="-122"/>
                <a:cs typeface="Arial" pitchFamily="34" charset="-120"/>
              </a:rPr>
              <a:t>Recipes in hand (queued):</a:t>
            </a:r>
            <a:endParaRPr lang="en-US" sz="1050" dirty="0"/>
          </a:p>
          <a:p>
            <a:pPr lvl="1" marL="254000" indent="-127000">
              <a:spcAft>
                <a:spcPts val="500"/>
              </a:spcAft>
              <a:buSzPct val="100000"/>
              <a:buChar char="–"/>
            </a:pPr>
            <a:r>
              <a:rPr lang="en-US" sz="1050" dirty="0">
                <a:solidFill>
                  <a:srgbClr val="7F7F7F"/>
                </a:solidFill>
                <a:latin typeface="Arial" pitchFamily="34" charset="0"/>
                <a:ea typeface="Arial" pitchFamily="34" charset="-122"/>
                <a:cs typeface="Arial" pitchFamily="34" charset="-120"/>
              </a:rPr>
              <a:t>ΔG_hyd direct for the air axis — [Zhu20] method + their SI as the answer key</a:t>
            </a:r>
            <a:endParaRPr lang="en-US" sz="1050" dirty="0"/>
          </a:p>
          <a:p>
            <a:pPr lvl="1" marL="254000" indent="-127000">
              <a:spcAft>
                <a:spcPts val="500"/>
              </a:spcAft>
              <a:buSzPct val="100000"/>
              <a:buChar char="–"/>
            </a:pPr>
            <a:r>
              <a:rPr lang="en-US" sz="1050" dirty="0">
                <a:solidFill>
                  <a:srgbClr val="7F7F7F"/>
                </a:solidFill>
                <a:latin typeface="Arial" pitchFamily="34" charset="0"/>
                <a:ea typeface="Arial" pitchFamily="34" charset="-122"/>
                <a:cs typeface="Arial" pitchFamily="34" charset="-120"/>
              </a:rPr>
              <a:t>Co-doping labels: co-substituted supercells, dose grid {0.02,0.05,0.10}² (site · charge · formation E)</a:t>
            </a:r>
            <a:endParaRPr lang="en-US" sz="1050" dirty="0"/>
          </a:p>
          <a:p>
            <a:pPr lvl="1" marL="254000" indent="-127000">
              <a:spcAft>
                <a:spcPts val="500"/>
              </a:spcAft>
              <a:buSzPct val="100000"/>
              <a:buChar char="–"/>
            </a:pPr>
            <a:r>
              <a:rPr lang="en-US" sz="1050" dirty="0">
                <a:solidFill>
                  <a:srgbClr val="7F7F7F"/>
                </a:solidFill>
                <a:latin typeface="Arial" pitchFamily="34" charset="0"/>
                <a:ea typeface="Arial" pitchFamily="34" charset="-122"/>
                <a:cs typeface="Arial" pitchFamily="34" charset="-120"/>
              </a:rPr>
              <a:t>SEI NEB finish: Li₃P, Li₃PO₄γ  (Li₂S converged — 0.27 eV, cell-size caveat)</a:t>
            </a:r>
            <a:endParaRPr lang="en-US" sz="1050" dirty="0"/>
          </a:p>
          <a:p>
            <a:pPr lvl="1" marL="254000" indent="-127000">
              <a:spcAft>
                <a:spcPts val="500"/>
              </a:spcAft>
              <a:buSzPct val="100000"/>
              <a:buChar char="–"/>
            </a:pPr>
            <a:r>
              <a:rPr lang="en-US" sz="1050" dirty="0">
                <a:solidFill>
                  <a:srgbClr val="7F7F7F"/>
                </a:solidFill>
                <a:latin typeface="Arial" pitchFamily="34" charset="0"/>
                <a:ea typeface="Arial" pitchFamily="34" charset="-122"/>
                <a:cs typeface="Arial" pitchFamily="34" charset="-120"/>
              </a:rPr>
              <a:t>Nd frozen-4f pseudopotential route → 7 Nd phases become our own numbers</a:t>
            </a:r>
            <a:endParaRPr lang="en-US" sz="1050" dirty="0"/>
          </a:p>
          <a:p>
            <a:pPr lvl="1" marL="254000" indent="-127000">
              <a:spcAft>
                <a:spcPts val="500"/>
              </a:spcAft>
              <a:buSzPct val="100000"/>
              <a:buChar char="–"/>
            </a:pPr>
            <a:r>
              <a:rPr lang="en-US" sz="1050" dirty="0">
                <a:solidFill>
                  <a:srgbClr val="7F7F7F"/>
                </a:solidFill>
                <a:latin typeface="Arial" pitchFamily="34" charset="0"/>
                <a:ea typeface="Arial" pitchFamily="34" charset="-122"/>
                <a:cs typeface="Arial" pitchFamily="34" charset="-120"/>
              </a:rPr>
              <a:t>β-gate rescue: comp1 2×2×2 cell (Li 24→192) · Arrhenius extension 700/900 K first (500 K after feasibility)</a:t>
            </a:r>
            <a:endParaRPr lang="en-US" sz="1050" dirty="0"/>
          </a:p>
        </p:txBody>
      </p:sp>
      <p:sp>
        <p:nvSpPr>
          <p:cNvPr id="6" name="Text 4"/>
          <p:cNvSpPr/>
          <p:nvPr/>
        </p:nvSpPr>
        <p:spPr>
          <a:xfrm>
            <a:off x="4983480" y="1371600"/>
            <a:ext cx="3703320" cy="4206240"/>
          </a:xfrm>
          <a:prstGeom prst="rect">
            <a:avLst/>
          </a:prstGeom>
          <a:noFill/>
          <a:ln/>
        </p:spPr>
        <p:txBody>
          <a:bodyPr wrap="square" lIns="0" tIns="0" rIns="0" bIns="0" rtlCol="0" anchor="t"/>
          <a:lstStyle/>
          <a:p>
            <a:pPr marL="127000" indent="-127000">
              <a:spcAft>
                <a:spcPts val="500"/>
              </a:spcAft>
              <a:buSzPct val="100000"/>
              <a:buChar char="·"/>
            </a:pPr>
            <a:r>
              <a:rPr lang="en-US" sz="1050" b="1" dirty="0">
                <a:solidFill>
                  <a:srgbClr val="1F4E79"/>
                </a:solidFill>
                <a:latin typeface="Arial" pitchFamily="34" charset="0"/>
                <a:ea typeface="Arial" pitchFamily="34" charset="-122"/>
                <a:cs typeface="Arial" pitchFamily="34" charset="-120"/>
              </a:rPr>
              <a:t>In design:</a:t>
            </a:r>
            <a:endParaRPr lang="en-US" sz="1050" dirty="0"/>
          </a:p>
          <a:p>
            <a:pPr lvl="1" marL="254000" indent="-127000">
              <a:spcAft>
                <a:spcPts val="500"/>
              </a:spcAft>
              <a:buSzPct val="100000"/>
              <a:buChar char="–"/>
            </a:pPr>
            <a:r>
              <a:rPr lang="en-US" sz="1050" dirty="0">
                <a:solidFill>
                  <a:srgbClr val="7F7F7F"/>
                </a:solidFill>
                <a:latin typeface="Arial" pitchFamily="34" charset="0"/>
                <a:ea typeface="Arial" pitchFamily="34" charset="-122"/>
                <a:cs typeface="Arial" pitchFamily="34" charset="-120"/>
              </a:rPr>
              <a:t>ΔV_rxn × C_ij → Griffith K_IC chemo-mechanical bridge (all three pieces already in repo)</a:t>
            </a:r>
            <a:endParaRPr lang="en-US" sz="1050" dirty="0"/>
          </a:p>
          <a:p>
            <a:pPr lvl="1" marL="254000" indent="-127000">
              <a:spcAft>
                <a:spcPts val="500"/>
              </a:spcAft>
              <a:buSzPct val="100000"/>
              <a:buChar char="–"/>
            </a:pPr>
            <a:r>
              <a:rPr lang="en-US" sz="1050" dirty="0">
                <a:solidFill>
                  <a:srgbClr val="7F7F7F"/>
                </a:solidFill>
                <a:latin typeface="Arial" pitchFamily="34" charset="0"/>
                <a:ea typeface="Arial" pitchFamily="34" charset="-122"/>
                <a:cs typeface="Arial" pitchFamily="34" charset="-120"/>
              </a:rPr>
              <a:t>SDCP Phase-B v2 protocol (ISMEAR 0 · dipole corr. · LASPH · 3 magnetic seeds) — outsourced package ready</a:t>
            </a:r>
            <a:endParaRPr lang="en-US" sz="1050" dirty="0"/>
          </a:p>
          <a:p>
            <a:pPr lvl="1" marL="254000" indent="-127000">
              <a:spcAft>
                <a:spcPts val="500"/>
              </a:spcAft>
              <a:buSzPct val="100000"/>
              <a:buChar char="–"/>
            </a:pPr>
            <a:r>
              <a:rPr lang="en-US" sz="1050" dirty="0">
                <a:solidFill>
                  <a:srgbClr val="7F7F7F"/>
                </a:solidFill>
                <a:latin typeface="Arial" pitchFamily="34" charset="0"/>
                <a:ea typeface="Arial" pitchFamily="34" charset="-122"/>
                <a:cs typeface="Arial" pitchFamily="34" charset="-120"/>
              </a:rPr>
              <a:t>MLIP committee: UMA + MACE + SevenNet cross-check</a:t>
            </a:r>
            <a:endParaRPr lang="en-US" sz="1050" dirty="0"/>
          </a:p>
        </p:txBody>
      </p:sp>
      <p:sp>
        <p:nvSpPr>
          <p:cNvPr id="8" name="Text 5"/>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9" name="Text 6"/>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Closing</a:t>
            </a:r>
            <a:endParaRPr lang="en-US" sz="1100" dirty="0"/>
          </a:p>
        </p:txBody>
      </p:sp>
      <p:sp>
        <p:nvSpPr>
          <p:cNvPr id="3" name="Text 1"/>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One ladder, our two rungs, and the loop</a:t>
            </a:r>
            <a:endParaRPr lang="en-US" sz="2000" dirty="0"/>
          </a:p>
        </p:txBody>
      </p:sp>
      <p:sp>
        <p:nvSpPr>
          <p:cNvPr id="4" name="Shape 2"/>
          <p:cNvSpPr/>
          <p:nvPr/>
        </p:nvSpPr>
        <p:spPr>
          <a:xfrm>
            <a:off x="457200" y="1115568"/>
            <a:ext cx="8229600" cy="0"/>
          </a:xfrm>
          <a:prstGeom prst="line">
            <a:avLst/>
          </a:prstGeom>
          <a:noFill/>
          <a:ln w="12700">
            <a:solidFill>
              <a:srgbClr val="D9D9D9"/>
            </a:solidFill>
            <a:prstDash val="solid"/>
          </a:ln>
        </p:spPr>
      </p:sp>
      <p:sp>
        <p:nvSpPr>
          <p:cNvPr id="5" name="Shape 3"/>
          <p:cNvSpPr/>
          <p:nvPr/>
        </p:nvSpPr>
        <p:spPr>
          <a:xfrm>
            <a:off x="640080" y="1554480"/>
            <a:ext cx="2468880" cy="1051560"/>
          </a:xfrm>
          <a:prstGeom prst="roundRect">
            <a:avLst>
              <a:gd name="adj" fmla="val 6957"/>
            </a:avLst>
          </a:prstGeom>
          <a:solidFill>
            <a:srgbClr val="1F4E79"/>
          </a:solidFill>
          <a:ln w="15875">
            <a:solidFill>
              <a:srgbClr val="1F4E79"/>
            </a:solidFill>
            <a:prstDash val="solid"/>
          </a:ln>
        </p:spPr>
      </p:sp>
      <p:sp>
        <p:nvSpPr>
          <p:cNvPr id="6" name="Text 4"/>
          <p:cNvSpPr/>
          <p:nvPr/>
        </p:nvSpPr>
        <p:spPr>
          <a:xfrm>
            <a:off x="640080" y="1554480"/>
            <a:ext cx="2468880"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Å–nm
</a:t>
            </a:r>
            <a:endParaRPr lang="en-US" sz="1300" dirty="0"/>
          </a:p>
          <a:p>
            <a:pPr algn="ctr" indent="0" marL="0">
              <a:buNone/>
            </a:pPr>
            <a:r>
              <a:rPr lang="en-US" sz="1000" dirty="0">
                <a:solidFill>
                  <a:srgbClr val="FFFFFF"/>
                </a:solidFill>
                <a:latin typeface="Arial" pitchFamily="34" charset="0"/>
                <a:ea typeface="Arial" pitchFamily="34" charset="-122"/>
                <a:cs typeface="Arial" pitchFamily="34" charset="-120"/>
              </a:rPr>
              <a:t>DFT · MLIP</a:t>
            </a:r>
            <a:endParaRPr lang="en-US" sz="1300" dirty="0"/>
          </a:p>
          <a:p>
            <a:pPr algn="ctr" indent="0" marL="0">
              <a:buNone/>
            </a:pPr>
            <a:r>
              <a:rPr lang="en-US" sz="1000" dirty="0">
                <a:solidFill>
                  <a:srgbClr val="FFFFFF"/>
                </a:solidFill>
                <a:latin typeface="Arial" pitchFamily="34" charset="0"/>
                <a:ea typeface="Arial" pitchFamily="34" charset="-122"/>
                <a:cs typeface="Arial" pitchFamily="34" charset="-120"/>
              </a:rPr>
              <a:t>(this talk)</a:t>
            </a:r>
            <a:endParaRPr lang="en-US" sz="1300" dirty="0"/>
          </a:p>
        </p:txBody>
      </p:sp>
      <p:sp>
        <p:nvSpPr>
          <p:cNvPr id="7" name="Shape 5"/>
          <p:cNvSpPr/>
          <p:nvPr/>
        </p:nvSpPr>
        <p:spPr>
          <a:xfrm>
            <a:off x="3136392" y="2075688"/>
            <a:ext cx="283464" cy="0"/>
          </a:xfrm>
          <a:prstGeom prst="line">
            <a:avLst/>
          </a:prstGeom>
          <a:noFill/>
          <a:ln w="25400">
            <a:solidFill>
              <a:srgbClr val="7F7F7F"/>
            </a:solidFill>
            <a:prstDash val="solid"/>
            <a:tailEnd type="triangle"/>
          </a:ln>
        </p:spPr>
      </p:sp>
      <p:sp>
        <p:nvSpPr>
          <p:cNvPr id="8" name="Shape 6"/>
          <p:cNvSpPr/>
          <p:nvPr/>
        </p:nvSpPr>
        <p:spPr>
          <a:xfrm>
            <a:off x="3474720" y="1554480"/>
            <a:ext cx="2468880" cy="1051560"/>
          </a:xfrm>
          <a:prstGeom prst="roundRect">
            <a:avLst>
              <a:gd name="adj" fmla="val 6957"/>
            </a:avLst>
          </a:prstGeom>
          <a:solidFill>
            <a:srgbClr val="EEF3F9"/>
          </a:solidFill>
          <a:ln w="15875">
            <a:solidFill>
              <a:srgbClr val="1F4E79"/>
            </a:solidFill>
            <a:prstDash val="solid"/>
          </a:ln>
        </p:spPr>
      </p:sp>
      <p:sp>
        <p:nvSpPr>
          <p:cNvPr id="9" name="Text 7"/>
          <p:cNvSpPr/>
          <p:nvPr/>
        </p:nvSpPr>
        <p:spPr>
          <a:xfrm>
            <a:off x="3474720" y="1554480"/>
            <a:ext cx="2468880" cy="1051560"/>
          </a:xfrm>
          <a:prstGeom prst="rect">
            <a:avLst/>
          </a:prstGeom>
          <a:noFill/>
          <a:ln/>
        </p:spPr>
        <p:txBody>
          <a:bodyPr wrap="square" lIns="0" tIns="0" rIns="0" bIns="0" rtlCol="0" anchor="ctr"/>
          <a:lstStyle/>
          <a:p>
            <a:pPr algn="ctr" indent="0" marL="0">
              <a:buNone/>
            </a:pPr>
            <a:r>
              <a:rPr lang="en-US" sz="1300" b="1" dirty="0">
                <a:solidFill>
                  <a:srgbClr val="1F4E79"/>
                </a:solidFill>
                <a:latin typeface="Arial" pitchFamily="34" charset="0"/>
                <a:ea typeface="Arial" pitchFamily="34" charset="-122"/>
                <a:cs typeface="Arial" pitchFamily="34" charset="-120"/>
              </a:rPr>
              <a:t>µm
</a:t>
            </a:r>
            <a:endParaRPr lang="en-US" sz="1300" dirty="0"/>
          </a:p>
          <a:p>
            <a:pPr algn="ctr" indent="0" marL="0">
              <a:buNone/>
            </a:pPr>
            <a:r>
              <a:rPr lang="en-US" sz="1000" dirty="0">
                <a:solidFill>
                  <a:srgbClr val="1F4E79"/>
                </a:solidFill>
                <a:latin typeface="Arial" pitchFamily="34" charset="0"/>
                <a:ea typeface="Arial" pitchFamily="34" charset="-122"/>
                <a:cs typeface="Arial" pitchFamily="34" charset="-120"/>
              </a:rPr>
              <a:t>DEM: contacts,</a:t>
            </a:r>
            <a:endParaRPr lang="en-US" sz="1300" dirty="0"/>
          </a:p>
          <a:p>
            <a:pPr algn="ctr" indent="0" marL="0">
              <a:buNone/>
            </a:pPr>
            <a:r>
              <a:rPr lang="en-US" sz="1000" dirty="0">
                <a:solidFill>
                  <a:srgbClr val="1F4E79"/>
                </a:solidFill>
                <a:latin typeface="Arial" pitchFamily="34" charset="0"/>
                <a:ea typeface="Arial" pitchFamily="34" charset="-122"/>
                <a:cs typeface="Arial" pitchFamily="34" charset="-120"/>
              </a:rPr>
              <a:t>tortuosity, eff. σ</a:t>
            </a:r>
            <a:endParaRPr lang="en-US" sz="1300" dirty="0"/>
          </a:p>
        </p:txBody>
      </p:sp>
      <p:sp>
        <p:nvSpPr>
          <p:cNvPr id="10" name="Shape 8"/>
          <p:cNvSpPr/>
          <p:nvPr/>
        </p:nvSpPr>
        <p:spPr>
          <a:xfrm>
            <a:off x="5971032" y="2075688"/>
            <a:ext cx="283464" cy="0"/>
          </a:xfrm>
          <a:prstGeom prst="line">
            <a:avLst/>
          </a:prstGeom>
          <a:noFill/>
          <a:ln w="25400">
            <a:solidFill>
              <a:srgbClr val="7F7F7F"/>
            </a:solidFill>
            <a:prstDash val="solid"/>
            <a:tailEnd type="triangle"/>
          </a:ln>
        </p:spPr>
      </p:sp>
      <p:sp>
        <p:nvSpPr>
          <p:cNvPr id="11" name="Shape 9"/>
          <p:cNvSpPr/>
          <p:nvPr/>
        </p:nvSpPr>
        <p:spPr>
          <a:xfrm>
            <a:off x="6309360" y="1554480"/>
            <a:ext cx="2468880" cy="1051560"/>
          </a:xfrm>
          <a:prstGeom prst="roundRect">
            <a:avLst>
              <a:gd name="adj" fmla="val 6957"/>
            </a:avLst>
          </a:prstGeom>
          <a:solidFill>
            <a:srgbClr val="F7F7F7"/>
          </a:solidFill>
          <a:ln w="15875">
            <a:solidFill>
              <a:srgbClr val="7F7F7F"/>
            </a:solidFill>
            <a:prstDash val="solid"/>
          </a:ln>
        </p:spPr>
      </p:sp>
      <p:sp>
        <p:nvSpPr>
          <p:cNvPr id="12" name="Text 10"/>
          <p:cNvSpPr/>
          <p:nvPr/>
        </p:nvSpPr>
        <p:spPr>
          <a:xfrm>
            <a:off x="6309360" y="1554480"/>
            <a:ext cx="2468880" cy="1051560"/>
          </a:xfrm>
          <a:prstGeom prst="rect">
            <a:avLst/>
          </a:prstGeom>
          <a:noFill/>
          <a:ln/>
        </p:spPr>
        <p:txBody>
          <a:bodyPr wrap="square" lIns="0" tIns="0" rIns="0" bIns="0" rtlCol="0" anchor="ctr"/>
          <a:lstStyle/>
          <a:p>
            <a:pPr algn="ctr" indent="0" marL="0">
              <a:buNone/>
            </a:pPr>
            <a:r>
              <a:rPr lang="en-US" sz="1300" b="1" dirty="0">
                <a:solidFill>
                  <a:srgbClr val="7F7F7F"/>
                </a:solidFill>
                <a:latin typeface="Arial" pitchFamily="34" charset="0"/>
                <a:ea typeface="Arial" pitchFamily="34" charset="-122"/>
                <a:cs typeface="Arial" pitchFamily="34" charset="-120"/>
              </a:rPr>
              <a:t>mm
</a:t>
            </a:r>
            <a:endParaRPr lang="en-US" sz="1300" dirty="0"/>
          </a:p>
          <a:p>
            <a:pPr algn="ctr" indent="0" marL="0">
              <a:buNone/>
            </a:pPr>
            <a:r>
              <a:rPr lang="en-US" sz="1000" dirty="0">
                <a:solidFill>
                  <a:srgbClr val="7F7F7F"/>
                </a:solidFill>
                <a:latin typeface="Arial" pitchFamily="34" charset="0"/>
                <a:ea typeface="Arial" pitchFamily="34" charset="-122"/>
                <a:cs typeface="Arial" pitchFamily="34" charset="-120"/>
              </a:rPr>
              <a:t>electrode</a:t>
            </a:r>
            <a:endParaRPr lang="en-US" sz="1300" dirty="0"/>
          </a:p>
          <a:p>
            <a:pPr algn="ctr" indent="0" marL="0">
              <a:buNone/>
            </a:pPr>
            <a:r>
              <a:rPr lang="en-US" sz="1000" dirty="0">
                <a:solidFill>
                  <a:srgbClr val="7F7F7F"/>
                </a:solidFill>
                <a:latin typeface="Arial" pitchFamily="34" charset="0"/>
                <a:ea typeface="Arial" pitchFamily="34" charset="-122"/>
                <a:cs typeface="Arial" pitchFamily="34" charset="-120"/>
              </a:rPr>
              <a:t>(continuum)</a:t>
            </a:r>
            <a:endParaRPr lang="en-US" sz="1300" dirty="0"/>
          </a:p>
        </p:txBody>
      </p:sp>
      <p:sp>
        <p:nvSpPr>
          <p:cNvPr id="13" name="Text 11"/>
          <p:cNvSpPr/>
          <p:nvPr/>
        </p:nvSpPr>
        <p:spPr>
          <a:xfrm>
            <a:off x="640080" y="2743200"/>
            <a:ext cx="7863840" cy="274320"/>
          </a:xfrm>
          <a:prstGeom prst="rect">
            <a:avLst/>
          </a:prstGeom>
          <a:noFill/>
          <a:ln/>
        </p:spPr>
        <p:txBody>
          <a:bodyPr wrap="square" lIns="0" tIns="0" rIns="0" bIns="0" rtlCol="0" anchor="ctr"/>
          <a:lstStyle/>
          <a:p>
            <a:pPr algn="ctr" indent="0" marL="0">
              <a:buNone/>
            </a:pPr>
            <a:r>
              <a:rPr lang="en-US" sz="1050" i="1" dirty="0">
                <a:solidFill>
                  <a:srgbClr val="7F7F7F"/>
                </a:solidFill>
                <a:latin typeface="Arial" pitchFamily="34" charset="0"/>
                <a:ea typeface="Arial" pitchFamily="34" charset="-122"/>
                <a:cs typeface="Arial" pitchFamily="34" charset="-120"/>
              </a:rPr>
              <a:t>we hand over E · G · γ · ΔV — DEM takes it from there (a different talk)</a:t>
            </a:r>
            <a:endParaRPr lang="en-US" sz="1050" dirty="0"/>
          </a:p>
        </p:txBody>
      </p:sp>
      <p:sp>
        <p:nvSpPr>
          <p:cNvPr id="14" name="Shape 12"/>
          <p:cNvSpPr/>
          <p:nvPr/>
        </p:nvSpPr>
        <p:spPr>
          <a:xfrm>
            <a:off x="502920" y="3977640"/>
            <a:ext cx="1188720" cy="786384"/>
          </a:xfrm>
          <a:prstGeom prst="roundRect">
            <a:avLst>
              <a:gd name="adj" fmla="val 6977"/>
            </a:avLst>
          </a:prstGeom>
          <a:solidFill>
            <a:srgbClr val="FFFFFF"/>
          </a:solidFill>
          <a:ln w="15875">
            <a:solidFill>
              <a:srgbClr val="1F4E79"/>
            </a:solidFill>
            <a:prstDash val="solid"/>
          </a:ln>
        </p:spPr>
      </p:sp>
      <p:sp>
        <p:nvSpPr>
          <p:cNvPr id="15" name="Text 13"/>
          <p:cNvSpPr/>
          <p:nvPr/>
        </p:nvSpPr>
        <p:spPr>
          <a:xfrm>
            <a:off x="502920" y="3977640"/>
            <a:ext cx="1188720" cy="786384"/>
          </a:xfrm>
          <a:prstGeom prst="rect">
            <a:avLst/>
          </a:prstGeom>
          <a:noFill/>
          <a:ln/>
        </p:spPr>
        <p:txBody>
          <a:bodyPr wrap="square" lIns="0" tIns="0" rIns="0" bIns="0" rtlCol="0" anchor="ctr"/>
          <a:lstStyle/>
          <a:p>
            <a:pPr algn="ctr" indent="0" marL="0">
              <a:buNone/>
            </a:pPr>
            <a:r>
              <a:rPr lang="en-US" sz="1000" b="1" dirty="0">
                <a:solidFill>
                  <a:srgbClr val="1F4E79"/>
                </a:solidFill>
                <a:latin typeface="Arial" pitchFamily="34" charset="0"/>
                <a:ea typeface="Arial" pitchFamily="34" charset="-122"/>
                <a:cs typeface="Arial" pitchFamily="34" charset="-120"/>
              </a:rPr>
              <a:t>(1) ASK
</a:t>
            </a:r>
            <a:endParaRPr lang="en-US" sz="1000" dirty="0"/>
          </a:p>
          <a:p>
            <a:pPr algn="ctr" indent="0" marL="0">
              <a:buNone/>
            </a:pPr>
            <a:r>
              <a:rPr lang="en-US" sz="800" dirty="0">
                <a:solidFill>
                  <a:srgbClr val="1F4E79"/>
                </a:solidFill>
                <a:latin typeface="Arial" pitchFamily="34" charset="0"/>
                <a:ea typeface="Arial" pitchFamily="34" charset="-122"/>
                <a:cs typeface="Arial" pitchFamily="34" charset="-120"/>
              </a:rPr>
              <a:t>too many candidates</a:t>
            </a:r>
            <a:endParaRPr lang="en-US" sz="1000" dirty="0"/>
          </a:p>
        </p:txBody>
      </p:sp>
      <p:sp>
        <p:nvSpPr>
          <p:cNvPr id="16" name="Text 14"/>
          <p:cNvSpPr/>
          <p:nvPr/>
        </p:nvSpPr>
        <p:spPr>
          <a:xfrm>
            <a:off x="502920" y="4809744"/>
            <a:ext cx="1188720" cy="201168"/>
          </a:xfrm>
          <a:prstGeom prst="rect">
            <a:avLst/>
          </a:prstGeom>
          <a:noFill/>
          <a:ln/>
        </p:spPr>
        <p:txBody>
          <a:bodyPr wrap="square" lIns="0" tIns="0" rIns="0" bIns="0" rtlCol="0" anchor="ctr"/>
          <a:lstStyle/>
          <a:p>
            <a:pPr algn="ctr" indent="0" marL="0">
              <a:buNone/>
            </a:pPr>
            <a:r>
              <a:rPr lang="en-US" sz="850" i="1" dirty="0">
                <a:solidFill>
                  <a:srgbClr val="7F7F7F"/>
                </a:solidFill>
                <a:latin typeface="Arial" pitchFamily="34" charset="0"/>
                <a:ea typeface="Arial" pitchFamily="34" charset="-122"/>
                <a:cs typeface="Arial" pitchFamily="34" charset="-120"/>
              </a:rPr>
              <a:t>ask</a:t>
            </a:r>
            <a:endParaRPr lang="en-US" sz="850" dirty="0"/>
          </a:p>
        </p:txBody>
      </p:sp>
      <p:sp>
        <p:nvSpPr>
          <p:cNvPr id="17" name="Shape 15"/>
          <p:cNvSpPr/>
          <p:nvPr/>
        </p:nvSpPr>
        <p:spPr>
          <a:xfrm>
            <a:off x="1705356" y="4370832"/>
            <a:ext cx="173736" cy="0"/>
          </a:xfrm>
          <a:prstGeom prst="line">
            <a:avLst/>
          </a:prstGeom>
          <a:noFill/>
          <a:ln w="22225">
            <a:solidFill>
              <a:srgbClr val="7F7F7F"/>
            </a:solidFill>
            <a:prstDash val="solid"/>
            <a:tailEnd type="triangle"/>
          </a:ln>
        </p:spPr>
      </p:sp>
      <p:sp>
        <p:nvSpPr>
          <p:cNvPr id="18" name="Shape 16"/>
          <p:cNvSpPr/>
          <p:nvPr/>
        </p:nvSpPr>
        <p:spPr>
          <a:xfrm>
            <a:off x="1892808" y="3977640"/>
            <a:ext cx="1188720" cy="786384"/>
          </a:xfrm>
          <a:prstGeom prst="roundRect">
            <a:avLst>
              <a:gd name="adj" fmla="val 6977"/>
            </a:avLst>
          </a:prstGeom>
          <a:solidFill>
            <a:srgbClr val="FFFFFF"/>
          </a:solidFill>
          <a:ln w="15875">
            <a:solidFill>
              <a:srgbClr val="1F4E79"/>
            </a:solidFill>
            <a:prstDash val="solid"/>
          </a:ln>
        </p:spPr>
      </p:sp>
      <p:sp>
        <p:nvSpPr>
          <p:cNvPr id="19" name="Text 17"/>
          <p:cNvSpPr/>
          <p:nvPr/>
        </p:nvSpPr>
        <p:spPr>
          <a:xfrm>
            <a:off x="1892808" y="3977640"/>
            <a:ext cx="1188720" cy="786384"/>
          </a:xfrm>
          <a:prstGeom prst="rect">
            <a:avLst/>
          </a:prstGeom>
          <a:noFill/>
          <a:ln/>
        </p:spPr>
        <p:txBody>
          <a:bodyPr wrap="square" lIns="0" tIns="0" rIns="0" bIns="0" rtlCol="0" anchor="ctr"/>
          <a:lstStyle/>
          <a:p>
            <a:pPr algn="ctr" indent="0" marL="0">
              <a:buNone/>
            </a:pPr>
            <a:r>
              <a:rPr lang="en-US" sz="1000" b="1" dirty="0">
                <a:solidFill>
                  <a:srgbClr val="1F4E79"/>
                </a:solidFill>
                <a:latin typeface="Arial" pitchFamily="34" charset="0"/>
                <a:ea typeface="Arial" pitchFamily="34" charset="-122"/>
                <a:cs typeface="Arial" pitchFamily="34" charset="-120"/>
              </a:rPr>
              <a:t>(2) TOOLS
</a:t>
            </a:r>
            <a:endParaRPr lang="en-US" sz="1000" dirty="0"/>
          </a:p>
          <a:p>
            <a:pPr algn="ctr" indent="0" marL="0">
              <a:buNone/>
            </a:pPr>
            <a:r>
              <a:rPr lang="en-US" sz="800" dirty="0">
                <a:solidFill>
                  <a:srgbClr val="1F4E79"/>
                </a:solidFill>
                <a:latin typeface="Arial" pitchFamily="34" charset="0"/>
                <a:ea typeface="Arial" pitchFamily="34" charset="-122"/>
                <a:cs typeface="Arial" pitchFamily="34" charset="-120"/>
              </a:rPr>
              <a:t>DFT + MLIP limits</a:t>
            </a:r>
            <a:endParaRPr lang="en-US" sz="1000" dirty="0"/>
          </a:p>
        </p:txBody>
      </p:sp>
      <p:sp>
        <p:nvSpPr>
          <p:cNvPr id="20" name="Text 18"/>
          <p:cNvSpPr/>
          <p:nvPr/>
        </p:nvSpPr>
        <p:spPr>
          <a:xfrm>
            <a:off x="1892808" y="4809744"/>
            <a:ext cx="1188720" cy="201168"/>
          </a:xfrm>
          <a:prstGeom prst="rect">
            <a:avLst/>
          </a:prstGeom>
          <a:noFill/>
          <a:ln/>
        </p:spPr>
        <p:txBody>
          <a:bodyPr wrap="square" lIns="0" tIns="0" rIns="0" bIns="0" rtlCol="0" anchor="ctr"/>
          <a:lstStyle/>
          <a:p>
            <a:pPr algn="ctr" indent="0" marL="0">
              <a:buNone/>
            </a:pPr>
            <a:r>
              <a:rPr lang="en-US" sz="850" i="1" dirty="0">
                <a:solidFill>
                  <a:srgbClr val="7F7F7F"/>
                </a:solidFill>
                <a:latin typeface="Arial" pitchFamily="34" charset="0"/>
                <a:ea typeface="Arial" pitchFamily="34" charset="-122"/>
                <a:cs typeface="Arial" pitchFamily="34" charset="-120"/>
              </a:rPr>
              <a:t>measure</a:t>
            </a:r>
            <a:endParaRPr lang="en-US" sz="850" dirty="0"/>
          </a:p>
        </p:txBody>
      </p:sp>
      <p:sp>
        <p:nvSpPr>
          <p:cNvPr id="21" name="Shape 19"/>
          <p:cNvSpPr/>
          <p:nvPr/>
        </p:nvSpPr>
        <p:spPr>
          <a:xfrm>
            <a:off x="3095244" y="4370832"/>
            <a:ext cx="173736" cy="0"/>
          </a:xfrm>
          <a:prstGeom prst="line">
            <a:avLst/>
          </a:prstGeom>
          <a:noFill/>
          <a:ln w="22225">
            <a:solidFill>
              <a:srgbClr val="7F7F7F"/>
            </a:solidFill>
            <a:prstDash val="solid"/>
            <a:tailEnd type="triangle"/>
          </a:ln>
        </p:spPr>
      </p:sp>
      <p:sp>
        <p:nvSpPr>
          <p:cNvPr id="22" name="Shape 20"/>
          <p:cNvSpPr/>
          <p:nvPr/>
        </p:nvSpPr>
        <p:spPr>
          <a:xfrm>
            <a:off x="3282696" y="3977640"/>
            <a:ext cx="1188720" cy="786384"/>
          </a:xfrm>
          <a:prstGeom prst="roundRect">
            <a:avLst>
              <a:gd name="adj" fmla="val 6977"/>
            </a:avLst>
          </a:prstGeom>
          <a:solidFill>
            <a:srgbClr val="FFFFFF"/>
          </a:solidFill>
          <a:ln w="15875">
            <a:solidFill>
              <a:srgbClr val="1F4E79"/>
            </a:solidFill>
            <a:prstDash val="solid"/>
          </a:ln>
        </p:spPr>
      </p:sp>
      <p:sp>
        <p:nvSpPr>
          <p:cNvPr id="23" name="Text 21"/>
          <p:cNvSpPr/>
          <p:nvPr/>
        </p:nvSpPr>
        <p:spPr>
          <a:xfrm>
            <a:off x="3282696" y="3977640"/>
            <a:ext cx="1188720" cy="786384"/>
          </a:xfrm>
          <a:prstGeom prst="rect">
            <a:avLst/>
          </a:prstGeom>
          <a:noFill/>
          <a:ln/>
        </p:spPr>
        <p:txBody>
          <a:bodyPr wrap="square" lIns="0" tIns="0" rIns="0" bIns="0" rtlCol="0" anchor="ctr"/>
          <a:lstStyle/>
          <a:p>
            <a:pPr algn="ctr" indent="0" marL="0">
              <a:buNone/>
            </a:pPr>
            <a:r>
              <a:rPr lang="en-US" sz="1000" b="1" dirty="0">
                <a:solidFill>
                  <a:srgbClr val="1F4E79"/>
                </a:solidFill>
                <a:latin typeface="Arial" pitchFamily="34" charset="0"/>
                <a:ea typeface="Arial" pitchFamily="34" charset="-122"/>
                <a:cs typeface="Arial" pitchFamily="34" charset="-120"/>
              </a:rPr>
              <a:t>(3) ORIGIN
</a:t>
            </a:r>
            <a:endParaRPr lang="en-US" sz="1000" dirty="0"/>
          </a:p>
          <a:p>
            <a:pPr algn="ctr" indent="0" marL="0">
              <a:buNone/>
            </a:pPr>
            <a:r>
              <a:rPr lang="en-US" sz="800" dirty="0">
                <a:solidFill>
                  <a:srgbClr val="1F4E79"/>
                </a:solidFill>
                <a:latin typeface="Arial" pitchFamily="34" charset="0"/>
                <a:ea typeface="Arial" pitchFamily="34" charset="-122"/>
                <a:cs typeface="Arial" pitchFamily="34" charset="-120"/>
              </a:rPr>
              <a:t>LPSCl: disorder</a:t>
            </a:r>
            <a:endParaRPr lang="en-US" sz="1000" dirty="0"/>
          </a:p>
        </p:txBody>
      </p:sp>
      <p:sp>
        <p:nvSpPr>
          <p:cNvPr id="24" name="Text 22"/>
          <p:cNvSpPr/>
          <p:nvPr/>
        </p:nvSpPr>
        <p:spPr>
          <a:xfrm>
            <a:off x="3282696" y="4809744"/>
            <a:ext cx="1188720" cy="201168"/>
          </a:xfrm>
          <a:prstGeom prst="rect">
            <a:avLst/>
          </a:prstGeom>
          <a:noFill/>
          <a:ln/>
        </p:spPr>
        <p:txBody>
          <a:bodyPr wrap="square" lIns="0" tIns="0" rIns="0" bIns="0" rtlCol="0" anchor="ctr"/>
          <a:lstStyle/>
          <a:p>
            <a:pPr algn="ctr" indent="0" marL="0">
              <a:buNone/>
            </a:pPr>
            <a:r>
              <a:rPr lang="en-US" sz="850" i="1" dirty="0">
                <a:solidFill>
                  <a:srgbClr val="7F7F7F"/>
                </a:solidFill>
                <a:latin typeface="Arial" pitchFamily="34" charset="0"/>
                <a:ea typeface="Arial" pitchFamily="34" charset="-122"/>
                <a:cs typeface="Arial" pitchFamily="34" charset="-120"/>
              </a:rPr>
              <a:t>learn</a:t>
            </a:r>
            <a:endParaRPr lang="en-US" sz="850" dirty="0"/>
          </a:p>
        </p:txBody>
      </p:sp>
      <p:sp>
        <p:nvSpPr>
          <p:cNvPr id="25" name="Shape 23"/>
          <p:cNvSpPr/>
          <p:nvPr/>
        </p:nvSpPr>
        <p:spPr>
          <a:xfrm>
            <a:off x="4485132" y="4370832"/>
            <a:ext cx="173736" cy="0"/>
          </a:xfrm>
          <a:prstGeom prst="line">
            <a:avLst/>
          </a:prstGeom>
          <a:noFill/>
          <a:ln w="22225">
            <a:solidFill>
              <a:srgbClr val="7F7F7F"/>
            </a:solidFill>
            <a:prstDash val="solid"/>
            <a:tailEnd type="triangle"/>
          </a:ln>
        </p:spPr>
      </p:sp>
      <p:sp>
        <p:nvSpPr>
          <p:cNvPr id="26" name="Shape 24"/>
          <p:cNvSpPr/>
          <p:nvPr/>
        </p:nvSpPr>
        <p:spPr>
          <a:xfrm>
            <a:off x="4672584" y="3977640"/>
            <a:ext cx="1188720" cy="786384"/>
          </a:xfrm>
          <a:prstGeom prst="roundRect">
            <a:avLst>
              <a:gd name="adj" fmla="val 6977"/>
            </a:avLst>
          </a:prstGeom>
          <a:solidFill>
            <a:srgbClr val="FFFFFF"/>
          </a:solidFill>
          <a:ln w="15875">
            <a:solidFill>
              <a:srgbClr val="1F4E79"/>
            </a:solidFill>
            <a:prstDash val="solid"/>
          </a:ln>
        </p:spPr>
      </p:sp>
      <p:sp>
        <p:nvSpPr>
          <p:cNvPr id="27" name="Text 25"/>
          <p:cNvSpPr/>
          <p:nvPr/>
        </p:nvSpPr>
        <p:spPr>
          <a:xfrm>
            <a:off x="4672584" y="3977640"/>
            <a:ext cx="1188720" cy="786384"/>
          </a:xfrm>
          <a:prstGeom prst="rect">
            <a:avLst/>
          </a:prstGeom>
          <a:noFill/>
          <a:ln/>
        </p:spPr>
        <p:txBody>
          <a:bodyPr wrap="square" lIns="0" tIns="0" rIns="0" bIns="0" rtlCol="0" anchor="ctr"/>
          <a:lstStyle/>
          <a:p>
            <a:pPr algn="ctr" indent="0" marL="0">
              <a:buNone/>
            </a:pPr>
            <a:r>
              <a:rPr lang="en-US" sz="1000" b="1" dirty="0">
                <a:solidFill>
                  <a:srgbClr val="1F4E79"/>
                </a:solidFill>
                <a:latin typeface="Arial" pitchFamily="34" charset="0"/>
                <a:ea typeface="Arial" pitchFamily="34" charset="-122"/>
                <a:cs typeface="Arial" pitchFamily="34" charset="-120"/>
              </a:rPr>
              <a:t>(4) SCREEN
</a:t>
            </a:r>
            <a:endParaRPr lang="en-US" sz="1000" dirty="0"/>
          </a:p>
          <a:p>
            <a:pPr algn="ctr" indent="0" marL="0">
              <a:buNone/>
            </a:pPr>
            <a:r>
              <a:rPr lang="en-US" sz="800" dirty="0">
                <a:solidFill>
                  <a:srgbClr val="1F4E79"/>
                </a:solidFill>
                <a:latin typeface="Arial" pitchFamily="34" charset="0"/>
                <a:ea typeface="Arial" pitchFamily="34" charset="-122"/>
                <a:cs typeface="Arial" pitchFamily="34" charset="-120"/>
              </a:rPr>
              <a:t>273 calcs, 5 gates</a:t>
            </a:r>
            <a:endParaRPr lang="en-US" sz="1000" dirty="0"/>
          </a:p>
        </p:txBody>
      </p:sp>
      <p:sp>
        <p:nvSpPr>
          <p:cNvPr id="28" name="Text 26"/>
          <p:cNvSpPr/>
          <p:nvPr/>
        </p:nvSpPr>
        <p:spPr>
          <a:xfrm>
            <a:off x="4672584" y="4809744"/>
            <a:ext cx="1188720" cy="201168"/>
          </a:xfrm>
          <a:prstGeom prst="rect">
            <a:avLst/>
          </a:prstGeom>
          <a:noFill/>
          <a:ln/>
        </p:spPr>
        <p:txBody>
          <a:bodyPr wrap="square" lIns="0" tIns="0" rIns="0" bIns="0" rtlCol="0" anchor="ctr"/>
          <a:lstStyle/>
          <a:p>
            <a:pPr algn="ctr" indent="0" marL="0">
              <a:buNone/>
            </a:pPr>
            <a:r>
              <a:rPr lang="en-US" sz="850" i="1" dirty="0">
                <a:solidFill>
                  <a:srgbClr val="7F7F7F"/>
                </a:solidFill>
                <a:latin typeface="Arial" pitchFamily="34" charset="0"/>
                <a:ea typeface="Arial" pitchFamily="34" charset="-122"/>
                <a:cs typeface="Arial" pitchFamily="34" charset="-120"/>
              </a:rPr>
              <a:t>gate</a:t>
            </a:r>
            <a:endParaRPr lang="en-US" sz="850" dirty="0"/>
          </a:p>
        </p:txBody>
      </p:sp>
      <p:sp>
        <p:nvSpPr>
          <p:cNvPr id="29" name="Shape 27"/>
          <p:cNvSpPr/>
          <p:nvPr/>
        </p:nvSpPr>
        <p:spPr>
          <a:xfrm>
            <a:off x="5875020" y="4370832"/>
            <a:ext cx="173736" cy="0"/>
          </a:xfrm>
          <a:prstGeom prst="line">
            <a:avLst/>
          </a:prstGeom>
          <a:noFill/>
          <a:ln w="22225">
            <a:solidFill>
              <a:srgbClr val="7F7F7F"/>
            </a:solidFill>
            <a:prstDash val="solid"/>
            <a:tailEnd type="triangle"/>
          </a:ln>
        </p:spPr>
      </p:sp>
      <p:sp>
        <p:nvSpPr>
          <p:cNvPr id="30" name="Shape 28"/>
          <p:cNvSpPr/>
          <p:nvPr/>
        </p:nvSpPr>
        <p:spPr>
          <a:xfrm>
            <a:off x="6062472" y="3977640"/>
            <a:ext cx="1188720" cy="786384"/>
          </a:xfrm>
          <a:prstGeom prst="roundRect">
            <a:avLst>
              <a:gd name="adj" fmla="val 6977"/>
            </a:avLst>
          </a:prstGeom>
          <a:solidFill>
            <a:srgbClr val="FFFFFF"/>
          </a:solidFill>
          <a:ln w="15875">
            <a:solidFill>
              <a:srgbClr val="1F4E79"/>
            </a:solidFill>
            <a:prstDash val="solid"/>
          </a:ln>
        </p:spPr>
      </p:sp>
      <p:sp>
        <p:nvSpPr>
          <p:cNvPr id="31" name="Text 29"/>
          <p:cNvSpPr/>
          <p:nvPr/>
        </p:nvSpPr>
        <p:spPr>
          <a:xfrm>
            <a:off x="6062472" y="3977640"/>
            <a:ext cx="1188720" cy="786384"/>
          </a:xfrm>
          <a:prstGeom prst="rect">
            <a:avLst/>
          </a:prstGeom>
          <a:noFill/>
          <a:ln/>
        </p:spPr>
        <p:txBody>
          <a:bodyPr wrap="square" lIns="0" tIns="0" rIns="0" bIns="0" rtlCol="0" anchor="ctr"/>
          <a:lstStyle/>
          <a:p>
            <a:pPr algn="ctr" indent="0" marL="0">
              <a:buNone/>
            </a:pPr>
            <a:r>
              <a:rPr lang="en-US" sz="1000" b="1" dirty="0">
                <a:solidFill>
                  <a:srgbClr val="1F4E79"/>
                </a:solidFill>
                <a:latin typeface="Arial" pitchFamily="34" charset="0"/>
                <a:ea typeface="Arial" pitchFamily="34" charset="-122"/>
                <a:cs typeface="Arial" pitchFamily="34" charset="-120"/>
              </a:rPr>
              <a:t>(5) COMBINE
</a:t>
            </a:r>
            <a:endParaRPr lang="en-US" sz="1000" dirty="0"/>
          </a:p>
          <a:p>
            <a:pPr algn="ctr" indent="0" marL="0">
              <a:buNone/>
            </a:pPr>
            <a:r>
              <a:rPr lang="en-US" sz="800" dirty="0">
                <a:solidFill>
                  <a:srgbClr val="1F4E79"/>
                </a:solidFill>
                <a:latin typeface="Arial" pitchFamily="34" charset="0"/>
                <a:ea typeface="Arial" pitchFamily="34" charset="-122"/>
                <a:cs typeface="Arial" pitchFamily="34" charset="-120"/>
              </a:rPr>
              <a:t>co-doping ML</a:t>
            </a:r>
            <a:endParaRPr lang="en-US" sz="1000" dirty="0"/>
          </a:p>
        </p:txBody>
      </p:sp>
      <p:sp>
        <p:nvSpPr>
          <p:cNvPr id="32" name="Text 30"/>
          <p:cNvSpPr/>
          <p:nvPr/>
        </p:nvSpPr>
        <p:spPr>
          <a:xfrm>
            <a:off x="6062472" y="4809744"/>
            <a:ext cx="1188720" cy="201168"/>
          </a:xfrm>
          <a:prstGeom prst="rect">
            <a:avLst/>
          </a:prstGeom>
          <a:noFill/>
          <a:ln/>
        </p:spPr>
        <p:txBody>
          <a:bodyPr wrap="square" lIns="0" tIns="0" rIns="0" bIns="0" rtlCol="0" anchor="ctr"/>
          <a:lstStyle/>
          <a:p>
            <a:pPr algn="ctr" indent="0" marL="0">
              <a:buNone/>
            </a:pPr>
            <a:r>
              <a:rPr lang="en-US" sz="850" i="1" dirty="0">
                <a:solidFill>
                  <a:srgbClr val="7F7F7F"/>
                </a:solidFill>
                <a:latin typeface="Arial" pitchFamily="34" charset="0"/>
                <a:ea typeface="Arial" pitchFamily="34" charset="-122"/>
                <a:cs typeface="Arial" pitchFamily="34" charset="-120"/>
              </a:rPr>
              <a:t>combine</a:t>
            </a:r>
            <a:endParaRPr lang="en-US" sz="850" dirty="0"/>
          </a:p>
        </p:txBody>
      </p:sp>
      <p:sp>
        <p:nvSpPr>
          <p:cNvPr id="33" name="Shape 31"/>
          <p:cNvSpPr/>
          <p:nvPr/>
        </p:nvSpPr>
        <p:spPr>
          <a:xfrm>
            <a:off x="7264908" y="4370832"/>
            <a:ext cx="173736" cy="0"/>
          </a:xfrm>
          <a:prstGeom prst="line">
            <a:avLst/>
          </a:prstGeom>
          <a:noFill/>
          <a:ln w="22225">
            <a:solidFill>
              <a:srgbClr val="7F7F7F"/>
            </a:solidFill>
            <a:prstDash val="solid"/>
            <a:tailEnd type="triangle"/>
          </a:ln>
        </p:spPr>
      </p:sp>
      <p:sp>
        <p:nvSpPr>
          <p:cNvPr id="34" name="Shape 32"/>
          <p:cNvSpPr/>
          <p:nvPr/>
        </p:nvSpPr>
        <p:spPr>
          <a:xfrm>
            <a:off x="7452360" y="3977640"/>
            <a:ext cx="1188720" cy="786384"/>
          </a:xfrm>
          <a:prstGeom prst="roundRect">
            <a:avLst>
              <a:gd name="adj" fmla="val 6977"/>
            </a:avLst>
          </a:prstGeom>
          <a:solidFill>
            <a:srgbClr val="9E2A2B"/>
          </a:solidFill>
          <a:ln w="25400">
            <a:solidFill>
              <a:srgbClr val="9E2A2B"/>
            </a:solidFill>
            <a:prstDash val="solid"/>
          </a:ln>
        </p:spPr>
      </p:sp>
      <p:sp>
        <p:nvSpPr>
          <p:cNvPr id="35" name="Text 33"/>
          <p:cNvSpPr/>
          <p:nvPr/>
        </p:nvSpPr>
        <p:spPr>
          <a:xfrm>
            <a:off x="7452360" y="3977640"/>
            <a:ext cx="1188720" cy="78638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 VERIFY
</a:t>
            </a:r>
            <a:endParaRPr lang="en-US" sz="1000" dirty="0"/>
          </a:p>
          <a:p>
            <a:pPr algn="ctr" indent="0" marL="0">
              <a:buNone/>
            </a:pPr>
            <a:r>
              <a:rPr lang="en-US" sz="800" dirty="0">
                <a:solidFill>
                  <a:srgbClr val="FFFFFF"/>
                </a:solidFill>
                <a:latin typeface="Arial" pitchFamily="34" charset="0"/>
                <a:ea typeface="Arial" pitchFamily="34" charset="-122"/>
                <a:cs typeface="Arial" pitchFamily="34" charset="-120"/>
              </a:rPr>
              <a:t>11 audited verdicts</a:t>
            </a:r>
            <a:endParaRPr lang="en-US" sz="1000" dirty="0"/>
          </a:p>
        </p:txBody>
      </p:sp>
      <p:sp>
        <p:nvSpPr>
          <p:cNvPr id="36" name="Text 34"/>
          <p:cNvSpPr/>
          <p:nvPr/>
        </p:nvSpPr>
        <p:spPr>
          <a:xfrm>
            <a:off x="7452360" y="4809744"/>
            <a:ext cx="1188720" cy="201168"/>
          </a:xfrm>
          <a:prstGeom prst="rect">
            <a:avLst/>
          </a:prstGeom>
          <a:noFill/>
          <a:ln/>
        </p:spPr>
        <p:txBody>
          <a:bodyPr wrap="square" lIns="0" tIns="0" rIns="0" bIns="0" rtlCol="0" anchor="ctr"/>
          <a:lstStyle/>
          <a:p>
            <a:pPr algn="ctr" indent="0" marL="0">
              <a:buNone/>
            </a:pPr>
            <a:r>
              <a:rPr lang="en-US" sz="850" b="1" i="1" dirty="0">
                <a:solidFill>
                  <a:srgbClr val="9E2A2B"/>
                </a:solidFill>
                <a:latin typeface="Arial" pitchFamily="34" charset="0"/>
                <a:ea typeface="Arial" pitchFamily="34" charset="-122"/>
                <a:cs typeface="Arial" pitchFamily="34" charset="-120"/>
              </a:rPr>
              <a:t>doubt</a:t>
            </a:r>
            <a:endParaRPr lang="en-US" sz="850" dirty="0"/>
          </a:p>
        </p:txBody>
      </p:sp>
      <p:sp>
        <p:nvSpPr>
          <p:cNvPr id="37" name="Shape 35"/>
          <p:cNvSpPr/>
          <p:nvPr/>
        </p:nvSpPr>
        <p:spPr>
          <a:xfrm>
            <a:off x="5266944" y="5074920"/>
            <a:ext cx="2779776" cy="0"/>
          </a:xfrm>
          <a:prstGeom prst="line">
            <a:avLst/>
          </a:prstGeom>
          <a:noFill/>
          <a:ln w="19050">
            <a:solidFill>
              <a:srgbClr val="1F4E79"/>
            </a:solidFill>
            <a:prstDash val="solid"/>
            <a:headEnd type="triangle"/>
          </a:ln>
        </p:spPr>
      </p:sp>
      <p:sp>
        <p:nvSpPr>
          <p:cNvPr id="38" name="Shape 36"/>
          <p:cNvSpPr/>
          <p:nvPr/>
        </p:nvSpPr>
        <p:spPr>
          <a:xfrm>
            <a:off x="8046720" y="4764024"/>
            <a:ext cx="0" cy="310896"/>
          </a:xfrm>
          <a:prstGeom prst="line">
            <a:avLst/>
          </a:prstGeom>
          <a:noFill/>
          <a:ln w="19050">
            <a:solidFill>
              <a:srgbClr val="1F4E79"/>
            </a:solidFill>
            <a:prstDash val="solid"/>
          </a:ln>
        </p:spPr>
      </p:sp>
      <p:sp>
        <p:nvSpPr>
          <p:cNvPr id="39" name="Shape 37"/>
          <p:cNvSpPr/>
          <p:nvPr/>
        </p:nvSpPr>
        <p:spPr>
          <a:xfrm>
            <a:off x="5266944" y="4764024"/>
            <a:ext cx="0" cy="310896"/>
          </a:xfrm>
          <a:prstGeom prst="line">
            <a:avLst/>
          </a:prstGeom>
          <a:noFill/>
          <a:ln w="19050">
            <a:solidFill>
              <a:srgbClr val="1F4E79"/>
            </a:solidFill>
            <a:prstDash val="solid"/>
          </a:ln>
        </p:spPr>
      </p:sp>
      <p:sp>
        <p:nvSpPr>
          <p:cNvPr id="40" name="Text 38"/>
          <p:cNvSpPr/>
          <p:nvPr/>
        </p:nvSpPr>
        <p:spPr>
          <a:xfrm>
            <a:off x="5650992" y="5084064"/>
            <a:ext cx="2011680" cy="201168"/>
          </a:xfrm>
          <a:prstGeom prst="rect">
            <a:avLst/>
          </a:prstGeom>
          <a:noFill/>
          <a:ln/>
        </p:spPr>
        <p:txBody>
          <a:bodyPr wrap="square" lIns="0" tIns="0" rIns="0" bIns="0" rtlCol="0" anchor="ctr"/>
          <a:lstStyle/>
          <a:p>
            <a:pPr algn="ctr" indent="0" marL="0">
              <a:buNone/>
            </a:pPr>
            <a:r>
              <a:rPr lang="en-US" sz="800" i="1" dirty="0">
                <a:solidFill>
                  <a:srgbClr val="1F4E79"/>
                </a:solidFill>
                <a:latin typeface="Arial" pitchFamily="34" charset="0"/>
                <a:ea typeface="Arial" pitchFamily="34" charset="-122"/>
                <a:cs typeface="Arial" pitchFamily="34" charset="-120"/>
              </a:rPr>
              <a:t>new labels, new sims</a:t>
            </a:r>
            <a:endParaRPr lang="en-US" sz="800" dirty="0"/>
          </a:p>
        </p:txBody>
      </p:sp>
      <p:sp>
        <p:nvSpPr>
          <p:cNvPr id="41" name="Shape 39"/>
          <p:cNvSpPr/>
          <p:nvPr/>
        </p:nvSpPr>
        <p:spPr>
          <a:xfrm>
            <a:off x="2487168" y="3703320"/>
            <a:ext cx="5559552" cy="0"/>
          </a:xfrm>
          <a:prstGeom prst="line">
            <a:avLst/>
          </a:prstGeom>
          <a:noFill/>
          <a:ln w="15875">
            <a:solidFill>
              <a:srgbClr val="7F7F7F"/>
            </a:solidFill>
            <a:prstDash val="dash"/>
            <a:headEnd type="triangle"/>
          </a:ln>
        </p:spPr>
      </p:sp>
      <p:sp>
        <p:nvSpPr>
          <p:cNvPr id="42" name="Shape 40"/>
          <p:cNvSpPr/>
          <p:nvPr/>
        </p:nvSpPr>
        <p:spPr>
          <a:xfrm>
            <a:off x="8046720" y="3703320"/>
            <a:ext cx="0" cy="274320"/>
          </a:xfrm>
          <a:prstGeom prst="line">
            <a:avLst/>
          </a:prstGeom>
          <a:noFill/>
          <a:ln w="15875">
            <a:solidFill>
              <a:srgbClr val="7F7F7F"/>
            </a:solidFill>
            <a:prstDash val="dash"/>
          </a:ln>
        </p:spPr>
      </p:sp>
      <p:sp>
        <p:nvSpPr>
          <p:cNvPr id="43" name="Shape 41"/>
          <p:cNvSpPr/>
          <p:nvPr/>
        </p:nvSpPr>
        <p:spPr>
          <a:xfrm>
            <a:off x="2487168" y="3703320"/>
            <a:ext cx="0" cy="274320"/>
          </a:xfrm>
          <a:prstGeom prst="line">
            <a:avLst/>
          </a:prstGeom>
          <a:noFill/>
          <a:ln w="15875">
            <a:solidFill>
              <a:srgbClr val="7F7F7F"/>
            </a:solidFill>
            <a:prstDash val="dash"/>
          </a:ln>
        </p:spPr>
      </p:sp>
      <p:sp>
        <p:nvSpPr>
          <p:cNvPr id="44" name="Text 42"/>
          <p:cNvSpPr/>
          <p:nvPr/>
        </p:nvSpPr>
        <p:spPr>
          <a:xfrm>
            <a:off x="4352544" y="3502152"/>
            <a:ext cx="1828800" cy="182880"/>
          </a:xfrm>
          <a:prstGeom prst="rect">
            <a:avLst/>
          </a:prstGeom>
          <a:noFill/>
          <a:ln/>
        </p:spPr>
        <p:txBody>
          <a:bodyPr wrap="square" lIns="0" tIns="0" rIns="0" bIns="0" rtlCol="0" anchor="ctr"/>
          <a:lstStyle/>
          <a:p>
            <a:pPr algn="ctr" indent="0" marL="0">
              <a:buNone/>
            </a:pPr>
            <a:r>
              <a:rPr lang="en-US" sz="800" i="1" dirty="0">
                <a:solidFill>
                  <a:srgbClr val="7F7F7F"/>
                </a:solidFill>
                <a:latin typeface="Arial" pitchFamily="34" charset="0"/>
                <a:ea typeface="Arial" pitchFamily="34" charset="-122"/>
                <a:cs typeface="Arial" pitchFamily="34" charset="-120"/>
              </a:rPr>
              <a:t>tool limits exposed</a:t>
            </a:r>
            <a:endParaRPr lang="en-US" sz="800" dirty="0"/>
          </a:p>
        </p:txBody>
      </p:sp>
      <p:sp>
        <p:nvSpPr>
          <p:cNvPr id="45" name="Text 43"/>
          <p:cNvSpPr/>
          <p:nvPr/>
        </p:nvSpPr>
        <p:spPr>
          <a:xfrm>
            <a:off x="502920" y="5806440"/>
            <a:ext cx="8138160" cy="365760"/>
          </a:xfrm>
          <a:prstGeom prst="rect">
            <a:avLst/>
          </a:prstGeom>
          <a:noFill/>
          <a:ln/>
        </p:spPr>
        <p:txBody>
          <a:bodyPr wrap="square" lIns="0" tIns="0" rIns="0" bIns="0" rtlCol="0" anchor="ctr"/>
          <a:lstStyle/>
          <a:p>
            <a:pPr algn="ctr" indent="0" marL="0">
              <a:buNone/>
            </a:pPr>
            <a:r>
              <a:rPr lang="en-US" sz="1400" b="1" dirty="0">
                <a:solidFill>
                  <a:srgbClr val="1F4E79"/>
                </a:solidFill>
                <a:latin typeface="Arial" pitchFamily="34" charset="0"/>
                <a:ea typeface="Arial" pitchFamily="34" charset="-122"/>
                <a:cs typeface="Arial" pitchFamily="34" charset="-120"/>
              </a:rPr>
              <a:t>Today was one lap of this loop.  Thank you.</a:t>
            </a:r>
            <a:endParaRPr lang="en-US" sz="1400" dirty="0"/>
          </a:p>
        </p:txBody>
      </p:sp>
      <p:sp>
        <p:nvSpPr>
          <p:cNvPr id="47" name="Text 44"/>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48" name="Text 45"/>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Appendix A1</a:t>
            </a:r>
            <a:endParaRPr lang="en-US" sz="1100" dirty="0"/>
          </a:p>
        </p:txBody>
      </p:sp>
      <p:sp>
        <p:nvSpPr>
          <p:cNvPr id="3" name="Text 1"/>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DFT terms</a:t>
            </a:r>
            <a:endParaRPr lang="en-US" sz="2000" dirty="0"/>
          </a:p>
        </p:txBody>
      </p:sp>
      <p:sp>
        <p:nvSpPr>
          <p:cNvPr id="4" name="Shape 2"/>
          <p:cNvSpPr/>
          <p:nvPr/>
        </p:nvSpPr>
        <p:spPr>
          <a:xfrm>
            <a:off x="457200" y="1115568"/>
            <a:ext cx="8229600" cy="0"/>
          </a:xfrm>
          <a:prstGeom prst="line">
            <a:avLst/>
          </a:prstGeom>
          <a:noFill/>
          <a:ln w="12700">
            <a:solidFill>
              <a:srgbClr val="D9D9D9"/>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8138160" cy="914400"/>
        </p:xfrm>
        <a:graphic>
          <a:graphicData uri="http://schemas.openxmlformats.org/drawingml/2006/table">
            <a:tbl>
              <a:tblPr/>
              <a:tblGrid>
                <a:gridCol w="2103120"/>
                <a:gridCol w="6035040"/>
              </a:tblGrid>
              <a:tr h="384048">
                <a:tc>
                  <a:txBody>
                    <a:bodyPr/>
                    <a:lstStyle/>
                    <a:p>
                      <a:pPr indent="0" marL="0">
                        <a:buNone/>
                      </a:pPr>
                      <a:r>
                        <a:rPr lang="en-US" sz="1000" b="1" dirty="0">
                          <a:solidFill>
                            <a:srgbClr val="FFFFFF"/>
                          </a:solidFill>
                          <a:latin typeface="Arial" pitchFamily="34" charset="0"/>
                          <a:ea typeface="Arial" pitchFamily="34" charset="-122"/>
                          <a:cs typeface="Arial" pitchFamily="34" charset="-120"/>
                        </a:rPr>
                        <a:t>Term</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One-line definition (and our setting)</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r>
              <a:tr h="384048">
                <a:tc>
                  <a:txBody>
                    <a:bodyPr/>
                    <a:lstStyle/>
                    <a:p>
                      <a:pPr indent="0" marL="0">
                        <a:buNone/>
                      </a:pPr>
                      <a:r>
                        <a:rPr lang="en-US" sz="1000" b="1" dirty="0">
                          <a:solidFill>
                            <a:srgbClr val="262626"/>
                          </a:solidFill>
                          <a:latin typeface="Arial" pitchFamily="34" charset="0"/>
                          <a:ea typeface="Arial" pitchFamily="34" charset="-122"/>
                          <a:cs typeface="Arial" pitchFamily="34" charset="-120"/>
                        </a:rPr>
                        <a:t>SCF</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62626"/>
                          </a:solidFill>
                          <a:latin typeface="Arial" pitchFamily="34" charset="0"/>
                          <a:ea typeface="Arial" pitchFamily="34" charset="-122"/>
                          <a:cs typeface="Arial" pitchFamily="34" charset="-120"/>
                        </a:rPr>
                        <a:t>self-consistent field — iterate density↔potential to a fixed point</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000" b="1" dirty="0">
                          <a:solidFill>
                            <a:srgbClr val="262626"/>
                          </a:solidFill>
                          <a:latin typeface="Arial" pitchFamily="34" charset="0"/>
                          <a:ea typeface="Arial" pitchFamily="34" charset="-122"/>
                          <a:cs typeface="Arial" pitchFamily="34" charset="-120"/>
                        </a:rPr>
                        <a:t>pseudopotential</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62626"/>
                          </a:solidFill>
                          <a:latin typeface="Arial" pitchFamily="34" charset="0"/>
                          <a:ea typeface="Arial" pitchFamily="34" charset="-122"/>
                          <a:cs typeface="Arial" pitchFamily="34" charset="-120"/>
                        </a:rPr>
                        <a:t>replace core electrons by an effective potential; valence-only problem</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000" b="1" dirty="0">
                          <a:solidFill>
                            <a:srgbClr val="262626"/>
                          </a:solidFill>
                          <a:latin typeface="Arial" pitchFamily="34" charset="0"/>
                          <a:ea typeface="Arial" pitchFamily="34" charset="-122"/>
                          <a:cs typeface="Arial" pitchFamily="34" charset="-120"/>
                        </a:rPr>
                        <a:t>k-mesh</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62626"/>
                          </a:solidFill>
                          <a:latin typeface="Arial" pitchFamily="34" charset="0"/>
                          <a:ea typeface="Arial" pitchFamily="34" charset="-122"/>
                          <a:cs typeface="Arial" pitchFamily="34" charset="-120"/>
                        </a:rPr>
                        <a:t>Brillouin-zone sampling grid; denser = more accurate band integrals</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000" b="1" dirty="0">
                          <a:solidFill>
                            <a:srgbClr val="262626"/>
                          </a:solidFill>
                          <a:latin typeface="Arial" pitchFamily="34" charset="0"/>
                          <a:ea typeface="Arial" pitchFamily="34" charset="-122"/>
                          <a:cs typeface="Arial" pitchFamily="34" charset="-120"/>
                        </a:rPr>
                        <a:t>XC functional</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62626"/>
                          </a:solidFill>
                          <a:latin typeface="Arial" pitchFamily="34" charset="0"/>
                          <a:ea typeface="Arial" pitchFamily="34" charset="-122"/>
                          <a:cs typeface="Arial" pitchFamily="34" charset="-120"/>
                        </a:rPr>
                        <a:t>the one approximated term E_xc[n]; ours: PBE (GGA)</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000" b="1" dirty="0">
                          <a:solidFill>
                            <a:srgbClr val="262626"/>
                          </a:solidFill>
                          <a:latin typeface="Arial" pitchFamily="34" charset="0"/>
                          <a:ea typeface="Arial" pitchFamily="34" charset="-122"/>
                          <a:cs typeface="Arial" pitchFamily="34" charset="-120"/>
                        </a:rPr>
                        <a:t>Hubbard U</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62626"/>
                          </a:solidFill>
                          <a:latin typeface="Arial" pitchFamily="34" charset="0"/>
                          <a:ea typeface="Arial" pitchFamily="34" charset="-122"/>
                          <a:cs typeface="Arial" pitchFamily="34" charset="-120"/>
                        </a:rPr>
                        <a:t>on-site repulsion for localized d/f; ours: Ni 3d, U = 6.2 eV (empirical)</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000" b="1" dirty="0">
                          <a:solidFill>
                            <a:srgbClr val="262626"/>
                          </a:solidFill>
                          <a:latin typeface="Arial" pitchFamily="34" charset="0"/>
                          <a:ea typeface="Arial" pitchFamily="34" charset="-122"/>
                          <a:cs typeface="Arial" pitchFamily="34" charset="-120"/>
                        </a:rPr>
                        <a:t>smearing</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62626"/>
                          </a:solidFill>
                          <a:latin typeface="Arial" pitchFamily="34" charset="0"/>
                          <a:ea typeface="Arial" pitchFamily="34" charset="-122"/>
                          <a:cs typeface="Arial" pitchFamily="34" charset="-120"/>
                        </a:rPr>
                        <a:t>fractional occupations to stabilize metallic SCF; NEVER for our gap readings (fixed-occ rule)</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7" name="Text 3"/>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8" name="Text 4"/>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Appendix A2</a:t>
            </a:r>
            <a:endParaRPr lang="en-US" sz="1100" dirty="0"/>
          </a:p>
        </p:txBody>
      </p:sp>
      <p:sp>
        <p:nvSpPr>
          <p:cNvPr id="3" name="Text 1"/>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Property terms</a:t>
            </a:r>
            <a:endParaRPr lang="en-US" sz="2000" dirty="0"/>
          </a:p>
        </p:txBody>
      </p:sp>
      <p:sp>
        <p:nvSpPr>
          <p:cNvPr id="4" name="Shape 2"/>
          <p:cNvSpPr/>
          <p:nvPr/>
        </p:nvSpPr>
        <p:spPr>
          <a:xfrm>
            <a:off x="457200" y="1115568"/>
            <a:ext cx="8229600" cy="0"/>
          </a:xfrm>
          <a:prstGeom prst="line">
            <a:avLst/>
          </a:prstGeom>
          <a:noFill/>
          <a:ln w="12700">
            <a:solidFill>
              <a:srgbClr val="D9D9D9"/>
            </a:solidFill>
            <a:prstDash val="solid"/>
          </a:ln>
        </p:spPr>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8138160" cy="914400"/>
        </p:xfrm>
        <a:graphic>
          <a:graphicData uri="http://schemas.openxmlformats.org/drawingml/2006/table">
            <a:tbl>
              <a:tblPr/>
              <a:tblGrid>
                <a:gridCol w="2103120"/>
                <a:gridCol w="6035040"/>
              </a:tblGrid>
              <a:tr h="384048">
                <a:tc>
                  <a:txBody>
                    <a:bodyPr/>
                    <a:lstStyle/>
                    <a:p>
                      <a:pPr indent="0" marL="0">
                        <a:buNone/>
                      </a:pPr>
                      <a:r>
                        <a:rPr lang="en-US" sz="1000" b="1" dirty="0">
                          <a:solidFill>
                            <a:srgbClr val="FFFFFF"/>
                          </a:solidFill>
                          <a:latin typeface="Arial" pitchFamily="34" charset="0"/>
                          <a:ea typeface="Arial" pitchFamily="34" charset="-122"/>
                          <a:cs typeface="Arial" pitchFamily="34" charset="-120"/>
                        </a:rPr>
                        <a:t>Term</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One-line definition (and our setting)</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r>
              <a:tr h="384048">
                <a:tc>
                  <a:txBody>
                    <a:bodyPr/>
                    <a:lstStyle/>
                    <a:p>
                      <a:pPr indent="0" marL="0">
                        <a:buNone/>
                      </a:pPr>
                      <a:r>
                        <a:rPr lang="en-US" sz="1000" b="1" dirty="0">
                          <a:solidFill>
                            <a:srgbClr val="262626"/>
                          </a:solidFill>
                          <a:latin typeface="Arial" pitchFamily="34" charset="0"/>
                          <a:ea typeface="Arial" pitchFamily="34" charset="-122"/>
                          <a:cs typeface="Arial" pitchFamily="34" charset="-120"/>
                        </a:rPr>
                        <a:t>BM3 EOS</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62626"/>
                          </a:solidFill>
                          <a:latin typeface="Arial" pitchFamily="34" charset="0"/>
                          <a:ea typeface="Arial" pitchFamily="34" charset="-122"/>
                          <a:cs typeface="Arial" pitchFamily="34" charset="-120"/>
                        </a:rPr>
                        <a:t>3rd-order Birch–Murnaghan fit of E(V) → B₀</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000" b="1" dirty="0">
                          <a:solidFill>
                            <a:srgbClr val="262626"/>
                          </a:solidFill>
                          <a:latin typeface="Arial" pitchFamily="34" charset="0"/>
                          <a:ea typeface="Arial" pitchFamily="34" charset="-122"/>
                          <a:cs typeface="Arial" pitchFamily="34" charset="-120"/>
                        </a:rPr>
                        <a:t>C_ij / VRH</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62626"/>
                          </a:solidFill>
                          <a:latin typeface="Arial" pitchFamily="34" charset="0"/>
                          <a:ea typeface="Arial" pitchFamily="34" charset="-122"/>
                          <a:cs typeface="Arial" pitchFamily="34" charset="-120"/>
                        </a:rPr>
                        <a:t>elastic tensor / Voigt–Reuss–Hill average → E, G</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000" b="1" dirty="0">
                          <a:solidFill>
                            <a:srgbClr val="262626"/>
                          </a:solidFill>
                          <a:latin typeface="Arial" pitchFamily="34" charset="0"/>
                          <a:ea typeface="Arial" pitchFamily="34" charset="-122"/>
                          <a:cs typeface="Arial" pitchFamily="34" charset="-120"/>
                        </a:rPr>
                        <a:t>ICOHP</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62626"/>
                          </a:solidFill>
                          <a:latin typeface="Arial" pitchFamily="34" charset="0"/>
                          <a:ea typeface="Arial" pitchFamily="34" charset="-122"/>
                          <a:cs typeface="Arial" pitchFamily="34" charset="-120"/>
                        </a:rPr>
                        <a:t>bond-resolved band-energy integral; SIGN: negative = bonding</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000" b="1" dirty="0">
                          <a:solidFill>
                            <a:srgbClr val="262626"/>
                          </a:solidFill>
                          <a:latin typeface="Arial" pitchFamily="34" charset="0"/>
                          <a:ea typeface="Arial" pitchFamily="34" charset="-122"/>
                          <a:cs typeface="Arial" pitchFamily="34" charset="-120"/>
                        </a:rPr>
                        <a:t>ELF</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62626"/>
                          </a:solidFill>
                          <a:latin typeface="Arial" pitchFamily="34" charset="0"/>
                          <a:ea typeface="Arial" pitchFamily="34" charset="-122"/>
                          <a:cs typeface="Arial" pitchFamily="34" charset="-120"/>
                        </a:rPr>
                        <a:t>electron localization function, 0–1</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000" b="1" dirty="0">
                          <a:solidFill>
                            <a:srgbClr val="262626"/>
                          </a:solidFill>
                          <a:latin typeface="Arial" pitchFamily="34" charset="0"/>
                          <a:ea typeface="Arial" pitchFamily="34" charset="-122"/>
                          <a:cs typeface="Arial" pitchFamily="34" charset="-120"/>
                        </a:rPr>
                        <a:t>Bader charge</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62626"/>
                          </a:solidFill>
                          <a:latin typeface="Arial" pitchFamily="34" charset="0"/>
                          <a:ea typeface="Arial" pitchFamily="34" charset="-122"/>
                          <a:cs typeface="Arial" pitchFamily="34" charset="-120"/>
                        </a:rPr>
                        <a:t>charge partitioned by zero-flux surfaces of n(r)</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000" b="1" dirty="0">
                          <a:solidFill>
                            <a:srgbClr val="262626"/>
                          </a:solidFill>
                          <a:latin typeface="Arial" pitchFamily="34" charset="0"/>
                          <a:ea typeface="Arial" pitchFamily="34" charset="-122"/>
                          <a:cs typeface="Arial" pitchFamily="34" charset="-120"/>
                        </a:rPr>
                        <a:t>ESW</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62626"/>
                          </a:solidFill>
                          <a:latin typeface="Arial" pitchFamily="34" charset="0"/>
                          <a:ea typeface="Arial" pitchFamily="34" charset="-122"/>
                          <a:cs typeface="Arial" pitchFamily="34" charset="-120"/>
                        </a:rPr>
                        <a:t>electrochemical stability window from grand-potential hull</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000" b="1" dirty="0">
                          <a:solidFill>
                            <a:srgbClr val="262626"/>
                          </a:solidFill>
                          <a:latin typeface="Arial" pitchFamily="34" charset="0"/>
                          <a:ea typeface="Arial" pitchFamily="34" charset="-122"/>
                          <a:cs typeface="Arial" pitchFamily="34" charset="-120"/>
                        </a:rPr>
                        <a:t>E_hull</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62626"/>
                          </a:solidFill>
                          <a:latin typeface="Arial" pitchFamily="34" charset="0"/>
                          <a:ea typeface="Arial" pitchFamily="34" charset="-122"/>
                          <a:cs typeface="Arial" pitchFamily="34" charset="-120"/>
                        </a:rPr>
                        <a:t>height above convex hull = decomposition driving force</a:t>
                      </a:r>
                      <a:endParaRPr lang="en-US" sz="10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7" name="Text 3"/>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8" name="Text 4"/>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Appendix A3</a:t>
            </a:r>
            <a:endParaRPr lang="en-US" sz="1100" dirty="0"/>
          </a:p>
        </p:txBody>
      </p:sp>
      <p:sp>
        <p:nvSpPr>
          <p:cNvPr id="3" name="Text 1"/>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Protocol matrix: the method tag sets the strongest allowed claim</a:t>
            </a:r>
            <a:endParaRPr lang="en-US" sz="2000" dirty="0"/>
          </a:p>
        </p:txBody>
      </p:sp>
      <p:sp>
        <p:nvSpPr>
          <p:cNvPr id="4" name="Shape 2"/>
          <p:cNvSpPr/>
          <p:nvPr/>
        </p:nvSpPr>
        <p:spPr>
          <a:xfrm>
            <a:off x="457200" y="1115568"/>
            <a:ext cx="8229600" cy="0"/>
          </a:xfrm>
          <a:prstGeom prst="line">
            <a:avLst/>
          </a:prstGeom>
          <a:noFill/>
          <a:ln w="12700">
            <a:solidFill>
              <a:srgbClr val="D9D9D9"/>
            </a:solidFill>
            <a:prstDash val="solid"/>
          </a:ln>
        </p:spPr>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8138160" cy="914400"/>
        </p:xfrm>
        <a:graphic>
          <a:graphicData uri="http://schemas.openxmlformats.org/drawingml/2006/table">
            <a:tbl>
              <a:tblPr/>
              <a:tblGrid>
                <a:gridCol w="1554480"/>
                <a:gridCol w="2194560"/>
                <a:gridCol w="2468880"/>
                <a:gridCol w="1920240"/>
              </a:tblGrid>
              <a:tr h="457200">
                <a:tc>
                  <a:txBody>
                    <a:bodyPr/>
                    <a:lstStyle/>
                    <a:p>
                      <a:pPr indent="0" marL="0">
                        <a:buNone/>
                      </a:pPr>
                      <a:r>
                        <a:rPr lang="en-US" sz="950" b="1" dirty="0">
                          <a:solidFill>
                            <a:srgbClr val="FFFFFF"/>
                          </a:solidFill>
                          <a:latin typeface="Arial" pitchFamily="34" charset="0"/>
                          <a:ea typeface="Arial" pitchFamily="34" charset="-122"/>
                          <a:cs typeface="Arial" pitchFamily="34" charset="-120"/>
                        </a:rPr>
                        <a:t>Tier / method</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Primary output</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Allowed claim</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Do not claim</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r>
              <a:tr h="457200">
                <a:tc>
                  <a:txBody>
                    <a:bodyPr/>
                    <a:lstStyle/>
                    <a:p>
                      <a:pPr indent="0" marL="0">
                        <a:buNone/>
                      </a:pPr>
                      <a:r>
                        <a:rPr lang="en-US" sz="950" dirty="0">
                          <a:solidFill>
                            <a:srgbClr val="262626"/>
                          </a:solidFill>
                          <a:latin typeface="Arial" pitchFamily="34" charset="0"/>
                          <a:ea typeface="Arial" pitchFamily="34" charset="-122"/>
                          <a:cs typeface="Arial" pitchFamily="34" charset="-120"/>
                        </a:rPr>
                        <a:t>UMA MLIP</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relative E, forces, relaxation</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same-protocol candidate ordering</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absolute thermodynamics</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950" dirty="0">
                          <a:solidFill>
                            <a:srgbClr val="262626"/>
                          </a:solidFill>
                          <a:latin typeface="Arial" pitchFamily="34" charset="0"/>
                          <a:ea typeface="Arial" pitchFamily="34" charset="-122"/>
                          <a:cs typeface="Arial" pitchFamily="34" charset="-120"/>
                        </a:rPr>
                        <a:t>BVSE</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static pathway geometry</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pathway-retention risk</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D or conductivity</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950" dirty="0">
                          <a:solidFill>
                            <a:srgbClr val="262626"/>
                          </a:solidFill>
                          <a:latin typeface="Arial" pitchFamily="34" charset="0"/>
                          <a:ea typeface="Arial" pitchFamily="34" charset="-122"/>
                          <a:cs typeface="Arial" pitchFamily="34" charset="-120"/>
                        </a:rPr>
                        <a:t>MLIP-MD</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MSD, D(T), Ea</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multi-seed verdict at 600/800/1000 K (β-gated)</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single-seed ratios</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950" dirty="0">
                          <a:solidFill>
                            <a:srgbClr val="262626"/>
                          </a:solidFill>
                          <a:latin typeface="Arial" pitchFamily="34" charset="0"/>
                          <a:ea typeface="Arial" pitchFamily="34" charset="-122"/>
                          <a:cs typeface="Arial" pitchFamily="34" charset="-120"/>
                        </a:rPr>
                        <a:t>DFT (+U)</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matched energies, electronic response</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selected-candidate validation</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47/47 DFT coverage</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950" dirty="0">
                          <a:solidFill>
                            <a:srgbClr val="262626"/>
                          </a:solidFill>
                          <a:latin typeface="Arial" pitchFamily="34" charset="0"/>
                          <a:ea typeface="Arial" pitchFamily="34" charset="-122"/>
                          <a:cs typeface="Arial" pitchFamily="34" charset="-120"/>
                        </a:rPr>
                        <a:t>Literature / experiment</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external values</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directional cross-check</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mixing with internal absolutes</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6" name="Text 3"/>
          <p:cNvSpPr/>
          <p:nvPr/>
        </p:nvSpPr>
        <p:spPr>
          <a:xfrm>
            <a:off x="502920" y="4389120"/>
            <a:ext cx="8138160" cy="274320"/>
          </a:xfrm>
          <a:prstGeom prst="rect">
            <a:avLst/>
          </a:prstGeom>
          <a:noFill/>
          <a:ln/>
        </p:spPr>
        <p:txBody>
          <a:bodyPr wrap="square" lIns="0" tIns="0" rIns="0" bIns="0" rtlCol="0" anchor="ctr"/>
          <a:lstStyle/>
          <a:p>
            <a:pPr indent="0" marL="0">
              <a:buNone/>
            </a:pPr>
            <a:r>
              <a:rPr lang="en-US" sz="1050" i="1" dirty="0">
                <a:solidFill>
                  <a:srgbClr val="1F4E79"/>
                </a:solidFill>
                <a:latin typeface="Arial" pitchFamily="34" charset="0"/>
                <a:ea typeface="Arial" pitchFamily="34" charset="-122"/>
                <a:cs typeface="Arial" pitchFamily="34" charset="-120"/>
              </a:rPr>
              <a:t>One symbol = one method-qualified quantity. Never reuse a label across protocol lineages.</a:t>
            </a:r>
            <a:endParaRPr lang="en-US" sz="1050" dirty="0"/>
          </a:p>
        </p:txBody>
      </p:sp>
      <p:sp>
        <p:nvSpPr>
          <p:cNvPr id="8" name="Text 4"/>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9" name="Text 5"/>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Appendix A4</a:t>
            </a:r>
            <a:endParaRPr lang="en-US" sz="1100" dirty="0"/>
          </a:p>
        </p:txBody>
      </p:sp>
      <p:sp>
        <p:nvSpPr>
          <p:cNvPr id="3" name="Text 1"/>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Transport terms, and the β-gate</a:t>
            </a:r>
            <a:endParaRPr lang="en-US" sz="2000" dirty="0"/>
          </a:p>
        </p:txBody>
      </p:sp>
      <p:sp>
        <p:nvSpPr>
          <p:cNvPr id="4" name="Shape 2"/>
          <p:cNvSpPr/>
          <p:nvPr/>
        </p:nvSpPr>
        <p:spPr>
          <a:xfrm>
            <a:off x="457200" y="1115568"/>
            <a:ext cx="8229600" cy="0"/>
          </a:xfrm>
          <a:prstGeom prst="line">
            <a:avLst/>
          </a:prstGeom>
          <a:noFill/>
          <a:ln w="12700">
            <a:solidFill>
              <a:srgbClr val="D9D9D9"/>
            </a:solidFill>
            <a:prstDash val="solid"/>
          </a:ln>
        </p:spPr>
      </p:sp>
      <p:sp>
        <p:nvSpPr>
          <p:cNvPr id="5" name="Text 3"/>
          <p:cNvSpPr/>
          <p:nvPr/>
        </p:nvSpPr>
        <p:spPr>
          <a:xfrm>
            <a:off x="502920" y="1371600"/>
            <a:ext cx="4023360" cy="3291840"/>
          </a:xfrm>
          <a:prstGeom prst="rect">
            <a:avLst/>
          </a:prstGeom>
          <a:noFill/>
          <a:ln/>
        </p:spPr>
        <p:txBody>
          <a:bodyPr wrap="square" lIns="0" tIns="0" rIns="0" bIns="0" rtlCol="0" anchor="t"/>
          <a:lstStyle/>
          <a:p>
            <a:pPr marL="127000" indent="-127000">
              <a:spcAft>
                <a:spcPts val="500"/>
              </a:spcAft>
              <a:buSzPct val="100000"/>
              <a:buChar char="·"/>
            </a:pPr>
            <a:r>
              <a:rPr lang="en-US" sz="1050" b="1" dirty="0">
                <a:solidFill>
                  <a:srgbClr val="262626"/>
                </a:solidFill>
                <a:latin typeface="Arial" pitchFamily="34" charset="0"/>
                <a:ea typeface="Arial" pitchFamily="34" charset="-122"/>
                <a:cs typeface="Arial" pitchFamily="34" charset="-120"/>
              </a:rPr>
              <a:t>MSD: ⟨r²(t)⟩; diffusive regime ⇔ slope 1 on log–log</a:t>
            </a:r>
            <a:endParaRPr lang="en-US" sz="1050" dirty="0"/>
          </a:p>
          <a:p>
            <a:pPr marL="127000" indent="-127000">
              <a:spcAft>
                <a:spcPts val="500"/>
              </a:spcAft>
              <a:buSzPct val="100000"/>
              <a:buChar char="·"/>
            </a:pPr>
            <a:r>
              <a:rPr lang="en-US" sz="1050" b="1" dirty="0">
                <a:solidFill>
                  <a:srgbClr val="9E2A2B"/>
                </a:solidFill>
                <a:latin typeface="Arial" pitchFamily="34" charset="0"/>
                <a:ea typeface="Arial" pitchFamily="34" charset="-122"/>
                <a:cs typeface="Arial" pitchFamily="34" charset="-120"/>
              </a:rPr>
              <a:t>β-gate: β = dlog⟨r²⟩/dlogt ∈ [0.8, 1.2] on the ensemble-averaged MSD — else the “D” is cage rattling</a:t>
            </a:r>
            <a:endParaRPr lang="en-US" sz="1050" dirty="0"/>
          </a:p>
          <a:p>
            <a:pPr marL="127000" indent="-127000">
              <a:spcAft>
                <a:spcPts val="500"/>
              </a:spcAft>
              <a:buSzPct val="100000"/>
              <a:buChar char="·"/>
            </a:pPr>
            <a:r>
              <a:rPr lang="en-US" sz="1050" b="1" dirty="0">
                <a:solidFill>
                  <a:srgbClr val="262626"/>
                </a:solidFill>
                <a:latin typeface="Arial" pitchFamily="34" charset="0"/>
                <a:ea typeface="Arial" pitchFamily="34" charset="-122"/>
                <a:cs typeface="Arial" pitchFamily="34" charset="-120"/>
              </a:rPr>
              <a:t>Arrhenius: ln D vs 1/T, 600/800/1000 K (3-point rule)</a:t>
            </a:r>
            <a:endParaRPr lang="en-US" sz="1050" dirty="0"/>
          </a:p>
          <a:p>
            <a:pPr marL="127000" indent="-127000">
              <a:spcAft>
                <a:spcPts val="500"/>
              </a:spcAft>
              <a:buSzPct val="100000"/>
              <a:buChar char="·"/>
            </a:pPr>
            <a:r>
              <a:rPr lang="en-US" sz="1050" b="1" dirty="0">
                <a:solidFill>
                  <a:srgbClr val="262626"/>
                </a:solidFill>
                <a:latin typeface="Arial" pitchFamily="34" charset="0"/>
                <a:ea typeface="Arial" pitchFamily="34" charset="-122"/>
                <a:cs typeface="Arial" pitchFamily="34" charset="-120"/>
              </a:rPr>
              <a:t>Nernst–Einstein (Haven = 1): σ from D — ratios only, never absolutes</a:t>
            </a:r>
            <a:endParaRPr lang="en-US" sz="1050" dirty="0"/>
          </a:p>
          <a:p>
            <a:pPr lvl="1" marL="254000" indent="-127000">
              <a:spcAft>
                <a:spcPts val="500"/>
              </a:spcAft>
              <a:buSzPct val="100000"/>
              <a:buChar char="–"/>
            </a:pPr>
            <a:r>
              <a:rPr lang="en-US" sz="1050" dirty="0">
                <a:solidFill>
                  <a:srgbClr val="7F7F7F"/>
                </a:solidFill>
                <a:latin typeface="Arial" pitchFamily="34" charset="0"/>
                <a:ea typeface="Arial" pitchFamily="34" charset="-122"/>
                <a:cs typeface="Arial" pitchFamily="34" charset="-120"/>
              </a:rPr>
              <a:t>Canonical MSD fit window: 2–50 ps (fixed)</a:t>
            </a:r>
            <a:endParaRPr lang="en-US" sz="1050" dirty="0"/>
          </a:p>
        </p:txBody>
      </p:sp>
      <p:pic>
        <p:nvPicPr>
          <p:cNvPr id="6" name="Image 0" descr="/tmp/claude-0/-home-user-Yonghoon-DEM-DFT/82ea256b-12bc-5a75-994e-7718d79c71ba/scratchpad/beta_schematic.png">    </p:cNvPr>
          <p:cNvPicPr>
            <a:picLocks noChangeAspect="1"/>
          </p:cNvPicPr>
          <p:nvPr/>
        </p:nvPicPr>
        <p:blipFill>
          <a:blip r:embed="rId1"/>
          <a:srcRect l="0" r="0" t="0" b="0"/>
          <a:stretch/>
        </p:blipFill>
        <p:spPr>
          <a:xfrm>
            <a:off x="4709160" y="1463040"/>
            <a:ext cx="3931920" cy="2834640"/>
          </a:xfrm>
          <a:prstGeom prst="rect">
            <a:avLst/>
          </a:prstGeom>
        </p:spPr>
      </p:pic>
      <p:sp>
        <p:nvSpPr>
          <p:cNvPr id="7" name="Text 4"/>
          <p:cNvSpPr/>
          <p:nvPr/>
        </p:nvSpPr>
        <p:spPr>
          <a:xfrm>
            <a:off x="4709160" y="4315968"/>
            <a:ext cx="3931920" cy="274320"/>
          </a:xfrm>
          <a:prstGeom prst="rect">
            <a:avLst/>
          </a:prstGeom>
          <a:noFill/>
          <a:ln/>
        </p:spPr>
        <p:txBody>
          <a:bodyPr wrap="square" lIns="0" tIns="0" rIns="0" bIns="0" rtlCol="0" anchor="ctr"/>
          <a:lstStyle/>
          <a:p>
            <a:pPr algn="ctr" indent="0" marL="0">
              <a:buNone/>
            </a:pPr>
            <a:r>
              <a:rPr lang="en-US" sz="850" i="1" dirty="0">
                <a:solidFill>
                  <a:srgbClr val="7F7F7F"/>
                </a:solidFill>
                <a:latin typeface="Arial" pitchFamily="34" charset="0"/>
                <a:ea typeface="Arial" pitchFamily="34" charset="-122"/>
                <a:cs typeface="Arial" pitchFamily="34" charset="-120"/>
              </a:rPr>
              <a:t>Schematic only — no measured data. The gate separates rattling from transport</a:t>
            </a:r>
            <a:endParaRPr lang="en-US" sz="850" dirty="0"/>
          </a:p>
        </p:txBody>
      </p:sp>
      <p:sp>
        <p:nvSpPr>
          <p:cNvPr id="9" name="Text 5"/>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10" name="Text 6"/>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Appendix A5</a:t>
            </a:r>
            <a:endParaRPr lang="en-US" sz="1100" dirty="0"/>
          </a:p>
        </p:txBody>
      </p:sp>
      <p:sp>
        <p:nvSpPr>
          <p:cNvPr id="3" name="Text 1"/>
          <p:cNvSpPr/>
          <p:nvPr/>
        </p:nvSpPr>
        <p:spPr>
          <a:xfrm>
            <a:off x="3840480" y="219456"/>
            <a:ext cx="4846320" cy="292608"/>
          </a:xfrm>
          <a:prstGeom prst="rect">
            <a:avLst/>
          </a:prstGeom>
          <a:noFill/>
          <a:ln/>
        </p:spPr>
        <p:txBody>
          <a:bodyPr wrap="square" lIns="0" tIns="0" rIns="0" bIns="0" rtlCol="0" anchor="ctr"/>
          <a:lstStyle/>
          <a:p>
            <a:pPr algn="r" indent="0" marL="0">
              <a:buNone/>
            </a:pPr>
            <a:r>
              <a:rPr lang="en-US" sz="850" i="1" dirty="0">
                <a:solidFill>
                  <a:srgbClr val="7F7F7F"/>
                </a:solidFill>
                <a:latin typeface="Arial" pitchFamily="34" charset="0"/>
                <a:ea typeface="Arial" pitchFamily="34" charset="-122"/>
                <a:cs typeface="Arial" pitchFamily="34" charset="-120"/>
              </a:rPr>
              <a:t>source: cascade_seminar_scorecard_47.csv</a:t>
            </a:r>
            <a:endParaRPr lang="en-US" sz="850" dirty="0"/>
          </a:p>
        </p:txBody>
      </p:sp>
      <p:sp>
        <p:nvSpPr>
          <p:cNvPr id="4" name="Text 2"/>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Ranking without a funnel: strengths trade across axes</a:t>
            </a:r>
            <a:endParaRPr lang="en-US" sz="2000" dirty="0"/>
          </a:p>
        </p:txBody>
      </p:sp>
      <p:sp>
        <p:nvSpPr>
          <p:cNvPr id="5" name="Shape 3"/>
          <p:cNvSpPr/>
          <p:nvPr/>
        </p:nvSpPr>
        <p:spPr>
          <a:xfrm>
            <a:off x="457200" y="1115568"/>
            <a:ext cx="8229600" cy="0"/>
          </a:xfrm>
          <a:prstGeom prst="line">
            <a:avLst/>
          </a:prstGeom>
          <a:noFill/>
          <a:ln w="12700">
            <a:solidFill>
              <a:srgbClr val="D9D9D9"/>
            </a:solidFill>
            <a:prstDash val="solid"/>
          </a:ln>
        </p:spPr>
      </p:sp>
      <p:pic>
        <p:nvPicPr>
          <p:cNvPr id="6" name="Image 0" descr="/home/user/Yonghoon-DEM-DFT/docs/figures/cascade/cascade_seminar_scorecard_47.png">    </p:cNvPr>
          <p:cNvPicPr>
            <a:picLocks noChangeAspect="1"/>
          </p:cNvPicPr>
          <p:nvPr/>
        </p:nvPicPr>
        <p:blipFill>
          <a:blip r:embed="rId1"/>
          <a:srcRect l="0" r="0" t="0" b="0"/>
          <a:stretch/>
        </p:blipFill>
        <p:spPr>
          <a:xfrm>
            <a:off x="502920" y="1325880"/>
            <a:ext cx="8138160" cy="3063240"/>
          </a:xfrm>
          <a:prstGeom prst="rect">
            <a:avLst/>
          </a:prstGeom>
        </p:spPr>
      </p:pic>
      <p:sp>
        <p:nvSpPr>
          <p:cNvPr id="7" name="Text 4"/>
          <p:cNvSpPr/>
          <p:nvPr/>
        </p:nvSpPr>
        <p:spPr>
          <a:xfrm>
            <a:off x="502920" y="4407408"/>
            <a:ext cx="8138160" cy="274320"/>
          </a:xfrm>
          <a:prstGeom prst="rect">
            <a:avLst/>
          </a:prstGeom>
          <a:noFill/>
          <a:ln/>
        </p:spPr>
        <p:txBody>
          <a:bodyPr wrap="square" lIns="0" tIns="0" rIns="0" bIns="0" rtlCol="0" anchor="ctr"/>
          <a:lstStyle/>
          <a:p>
            <a:pPr algn="ctr" indent="0" marL="0">
              <a:buNone/>
            </a:pPr>
            <a:r>
              <a:rPr lang="en-US" sz="850" i="1" dirty="0">
                <a:solidFill>
                  <a:srgbClr val="7F7F7F"/>
                </a:solidFill>
                <a:latin typeface="Arial" pitchFamily="34" charset="0"/>
                <a:ea typeface="Arial" pitchFamily="34" charset="-122"/>
                <a:cs typeface="Arial" pitchFamily="34" charset="-120"/>
              </a:rPr>
              <a:t>Per-axis percentiles + first-stop gate — no composite score, no winner (live 14-theme view: web app /cascade)</a:t>
            </a:r>
            <a:endParaRPr lang="en-US" sz="850" dirty="0"/>
          </a:p>
        </p:txBody>
      </p:sp>
      <p:sp>
        <p:nvSpPr>
          <p:cNvPr id="8" name="Text 5"/>
          <p:cNvSpPr/>
          <p:nvPr/>
        </p:nvSpPr>
        <p:spPr>
          <a:xfrm>
            <a:off x="502920" y="4892040"/>
            <a:ext cx="8138160" cy="1005840"/>
          </a:xfrm>
          <a:prstGeom prst="rect">
            <a:avLst/>
          </a:prstGeom>
          <a:noFill/>
          <a:ln/>
        </p:spPr>
        <p:txBody>
          <a:bodyPr wrap="square" lIns="0" tIns="0" rIns="0" bIns="0" rtlCol="0" anchor="t"/>
          <a:lstStyle/>
          <a:p>
            <a:pPr lvl="1" marL="254000" indent="-127000">
              <a:spcAft>
                <a:spcPts val="500"/>
              </a:spcAft>
              <a:buSzPct val="100000"/>
              <a:buChar char="–"/>
            </a:pPr>
            <a:r>
              <a:rPr lang="en-US" sz="1050" dirty="0">
                <a:solidFill>
                  <a:srgbClr val="7F7F7F"/>
                </a:solidFill>
                <a:latin typeface="Arial" pitchFamily="34" charset="0"/>
                <a:ea typeface="Arial" pitchFamily="34" charset="-122"/>
                <a:cs typeface="Arial" pitchFamily="34" charset="-120"/>
              </a:rPr>
              <a:t>14 themes: oxidative · reduction · e⁻-insulation · transport · disorder · dose-robustness · lightweight · low-cost · soft · ductile · air ×2 · structural · balanced</a:t>
            </a:r>
            <a:endParaRPr lang="en-US" sz="1050" dirty="0"/>
          </a:p>
          <a:p>
            <a:pPr marL="127000" indent="-127000">
              <a:spcAft>
                <a:spcPts val="500"/>
              </a:spcAft>
              <a:buSzPct val="100000"/>
              <a:buChar char="·"/>
            </a:pPr>
            <a:r>
              <a:rPr lang="en-US" sz="1050" b="1" dirty="0">
                <a:solidFill>
                  <a:srgbClr val="1F4E79"/>
                </a:solidFill>
                <a:latin typeface="Arial" pitchFamily="34" charset="0"/>
                <a:ea typeface="Arial" pitchFamily="34" charset="-122"/>
                <a:cs typeface="Arial" pitchFamily="34" charset="-120"/>
              </a:rPr>
              <a:t>Geometric mean = AND-like: one zero floors the composite  ·  Missing ≠ bad — excluded &amp; flagged, never zero-filled</a:t>
            </a:r>
            <a:endParaRPr lang="en-US" sz="1050" dirty="0"/>
          </a:p>
        </p:txBody>
      </p:sp>
      <p:sp>
        <p:nvSpPr>
          <p:cNvPr id="10" name="Text 6"/>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11" name="Text 7"/>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Appendix A6</a:t>
            </a:r>
            <a:endParaRPr lang="en-US" sz="1100" dirty="0"/>
          </a:p>
        </p:txBody>
      </p:sp>
      <p:sp>
        <p:nvSpPr>
          <p:cNvPr id="3" name="Text 1"/>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The 12 questions: first sentences to memorize</a:t>
            </a:r>
            <a:endParaRPr lang="en-US" sz="2000" dirty="0"/>
          </a:p>
        </p:txBody>
      </p:sp>
      <p:sp>
        <p:nvSpPr>
          <p:cNvPr id="4" name="Shape 2"/>
          <p:cNvSpPr/>
          <p:nvPr/>
        </p:nvSpPr>
        <p:spPr>
          <a:xfrm>
            <a:off x="457200" y="1115568"/>
            <a:ext cx="8229600" cy="0"/>
          </a:xfrm>
          <a:prstGeom prst="line">
            <a:avLst/>
          </a:prstGeom>
          <a:noFill/>
          <a:ln w="12700">
            <a:solidFill>
              <a:srgbClr val="D9D9D9"/>
            </a:solidFill>
            <a:prstDash val="solid"/>
          </a:ln>
        </p:spPr>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8138160" cy="914400"/>
        </p:xfrm>
        <a:graphic>
          <a:graphicData uri="http://schemas.openxmlformats.org/drawingml/2006/table">
            <a:tbl>
              <a:tblPr/>
              <a:tblGrid>
                <a:gridCol w="2651760"/>
                <a:gridCol w="5486400"/>
              </a:tblGrid>
              <a:tr h="329184">
                <a:tc>
                  <a:txBody>
                    <a:bodyPr/>
                    <a:lstStyle/>
                    <a:p>
                      <a:pPr indent="0" marL="0">
                        <a:buNone/>
                      </a:pPr>
                      <a:r>
                        <a:rPr lang="en-US" sz="880" b="1" dirty="0">
                          <a:solidFill>
                            <a:srgbClr val="FFFFFF"/>
                          </a:solidFill>
                          <a:latin typeface="Arial" pitchFamily="34" charset="0"/>
                          <a:ea typeface="Arial" pitchFamily="34" charset="-122"/>
                          <a:cs typeface="Arial" pitchFamily="34" charset="-120"/>
                        </a:rPr>
                        <a:t>Q</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First sentence of the answer</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r>
              <a:tr h="329184">
                <a:tc>
                  <a:txBody>
                    <a:bodyPr/>
                    <a:lstStyle/>
                    <a:p>
                      <a:pPr indent="0" marL="0">
                        <a:buNone/>
                      </a:pPr>
                      <a:r>
                        <a:rPr lang="en-US" sz="880" dirty="0">
                          <a:solidFill>
                            <a:srgbClr val="262626"/>
                          </a:solidFill>
                          <a:latin typeface="Arial" pitchFamily="34" charset="0"/>
                          <a:ea typeface="Arial" pitchFamily="34" charset="-122"/>
                          <a:cs typeface="Arial" pitchFamily="34" charset="-120"/>
                        </a:rPr>
                        <a:t>Do you trust a PBE gap?</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Not the absolute value — only same-method differences.</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880" dirty="0">
                          <a:solidFill>
                            <a:srgbClr val="262626"/>
                          </a:solidFill>
                          <a:latin typeface="Arial" pitchFamily="34" charset="0"/>
                          <a:ea typeface="Arial" pitchFamily="34" charset="-122"/>
                          <a:cs typeface="Arial" pitchFamily="34" charset="-120"/>
                        </a:rPr>
                        <a:t>Why no absolute σ? ★</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Cross-group reproducibility spans an order of magnitude; we retracted our own single-seed 1.33×.</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880" dirty="0">
                          <a:solidFill>
                            <a:srgbClr val="262626"/>
                          </a:solidFill>
                          <a:latin typeface="Arial" pitchFamily="34" charset="0"/>
                          <a:ea typeface="Arial" pitchFamily="34" charset="-122"/>
                          <a:cs typeface="Arial" pitchFamily="34" charset="-120"/>
                        </a:rPr>
                        <a:t>Does MLIP replace DFT?</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No — screening surrogate; champions return to DFT. Charge states failed us, measurably.</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880" dirty="0">
                          <a:solidFill>
                            <a:srgbClr val="262626"/>
                          </a:solidFill>
                          <a:latin typeface="Arial" pitchFamily="34" charset="0"/>
                          <a:ea typeface="Arial" pitchFamily="34" charset="-122"/>
                          <a:cs typeface="Arial" pitchFamily="34" charset="-120"/>
                        </a:rPr>
                        <a:t>Experimentally validated?</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Not yet — DFT re-checks on two systems; hence ranks and hypotheses, no absolute tables.</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880" dirty="0">
                          <a:solidFill>
                            <a:srgbClr val="262626"/>
                          </a:solidFill>
                          <a:latin typeface="Arial" pitchFamily="34" charset="0"/>
                          <a:ea typeface="Arial" pitchFamily="34" charset="-122"/>
                          <a:cs typeface="Arial" pitchFamily="34" charset="-120"/>
                        </a:rPr>
                        <a:t>Is WO₃ the answer?</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It is the G5 top rank inside an 11-member heuristic shortlist — not a discovered winner.</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880" dirty="0">
                          <a:solidFill>
                            <a:srgbClr val="262626"/>
                          </a:solidFill>
                          <a:latin typeface="Arial" pitchFamily="34" charset="0"/>
                          <a:ea typeface="Arial" pitchFamily="34" charset="-122"/>
                          <a:cs typeface="Arial" pitchFamily="34" charset="-120"/>
                        </a:rPr>
                        <a:t>Why U = 6.2?</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Established lineage value, empirical; we fix it and quote same-U differences.</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880" dirty="0">
                          <a:solidFill>
                            <a:srgbClr val="262626"/>
                          </a:solidFill>
                          <a:latin typeface="Arial" pitchFamily="34" charset="0"/>
                          <a:ea typeface="Arial" pitchFamily="34" charset="-122"/>
                          <a:cs typeface="Arial" pitchFamily="34" charset="-120"/>
                        </a:rPr>
                        <a:t>R² = 0.089 — useless?</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As a predictor yes: pair-LOOCV 0.089, dopant-level CV negative — hypothesis generator only, labels queued.</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880" dirty="0">
                          <a:solidFill>
                            <a:srgbClr val="262626"/>
                          </a:solidFill>
                          <a:latin typeface="Arial" pitchFamily="34" charset="0"/>
                          <a:ea typeface="Arial" pitchFamily="34" charset="-122"/>
                          <a:cs typeface="Arial" pitchFamily="34" charset="-120"/>
                        </a:rPr>
                        <a:t>11 retractions — can we trust you? ★</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Gate density, not carelessness — and the follow-up: rules born from errors now run as code (see #7, pre-registered).</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880" dirty="0">
                          <a:solidFill>
                            <a:srgbClr val="262626"/>
                          </a:solidFill>
                          <a:latin typeface="Arial" pitchFamily="34" charset="0"/>
                          <a:ea typeface="Arial" pitchFamily="34" charset="-122"/>
                          <a:cs typeface="Arial" pitchFamily="34" charset="-120"/>
                        </a:rPr>
                        <a:t>Canonical values without run files?</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Values pass live drift checks; the missing-provenance flag ships WITH them.</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880" dirty="0">
                          <a:solidFill>
                            <a:srgbClr val="262626"/>
                          </a:solidFill>
                          <a:latin typeface="Arial" pitchFamily="34" charset="0"/>
                          <a:ea typeface="Arial" pitchFamily="34" charset="-122"/>
                          <a:cs typeface="Arial" pitchFamily="34" charset="-120"/>
                        </a:rPr>
                        <a:t>Why show the funnel at all?</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Drawing it the field's way is what reveals where we diverge.</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880" dirty="0">
                          <a:solidFill>
                            <a:srgbClr val="262626"/>
                          </a:solidFill>
                          <a:latin typeface="Arial" pitchFamily="34" charset="0"/>
                          <a:ea typeface="Arial" pitchFamily="34" charset="-122"/>
                          <a:cs typeface="Arial" pitchFamily="34" charset="-120"/>
                        </a:rPr>
                        <a:t>Is co-doping even makeable?</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Not yet — explicit pair structures must resolve site, stoichiometry, charge closure, formation energy; the InF₃→GaF₃ lineage helps but does not decide.</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880" dirty="0">
                          <a:solidFill>
                            <a:srgbClr val="262626"/>
                          </a:solidFill>
                          <a:latin typeface="Arial" pitchFamily="34" charset="0"/>
                          <a:ea typeface="Arial" pitchFamily="34" charset="-122"/>
                          <a:cs typeface="Arial" pitchFamily="34" charset="-120"/>
                        </a:rPr>
                        <a:t>Can you predict the ratio?</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880" dirty="0">
                          <a:solidFill>
                            <a:srgbClr val="262626"/>
                          </a:solidFill>
                          <a:latin typeface="Arial" pitchFamily="34" charset="0"/>
                          <a:ea typeface="Arial" pitchFamily="34" charset="-122"/>
                          <a:cs typeface="Arial" pitchFamily="34" charset="-120"/>
                        </a:rPr>
                        <a:t>Not yet — x002/x005/x010 are nominal labels; the ratio axis needs structure-defined prospective labels.</a:t>
                      </a:r>
                      <a:endParaRPr lang="en-US" sz="880" dirty="0">
                        <a:latin typeface="Arial" charset="0"/>
                        <a:ea typeface="Arial" charset="0"/>
                        <a:cs typeface="Arial"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7" name="Text 3"/>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8" name="Text 4"/>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Appendix A7</a:t>
            </a:r>
            <a:endParaRPr lang="en-US" sz="1100" dirty="0"/>
          </a:p>
        </p:txBody>
      </p:sp>
      <p:sp>
        <p:nvSpPr>
          <p:cNvPr id="3" name="Text 1"/>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Five harder questions from our own review</a:t>
            </a:r>
            <a:endParaRPr lang="en-US" sz="2000" dirty="0"/>
          </a:p>
        </p:txBody>
      </p:sp>
      <p:sp>
        <p:nvSpPr>
          <p:cNvPr id="4" name="Shape 2"/>
          <p:cNvSpPr/>
          <p:nvPr/>
        </p:nvSpPr>
        <p:spPr>
          <a:xfrm>
            <a:off x="457200" y="1115568"/>
            <a:ext cx="8229600" cy="0"/>
          </a:xfrm>
          <a:prstGeom prst="line">
            <a:avLst/>
          </a:prstGeom>
          <a:noFill/>
          <a:ln w="12700">
            <a:solidFill>
              <a:srgbClr val="D9D9D9"/>
            </a:solidFill>
            <a:prstDash val="solid"/>
          </a:ln>
        </p:spPr>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8138160" cy="914400"/>
        </p:xfrm>
        <a:graphic>
          <a:graphicData uri="http://schemas.openxmlformats.org/drawingml/2006/table">
            <a:tbl>
              <a:tblPr/>
              <a:tblGrid>
                <a:gridCol w="3291840"/>
                <a:gridCol w="4846320"/>
              </a:tblGrid>
              <a:tr h="566928">
                <a:tc>
                  <a:txBody>
                    <a:bodyPr/>
                    <a:lstStyle/>
                    <a:p>
                      <a:pPr indent="0" marL="0">
                        <a:buNone/>
                      </a:pPr>
                      <a:r>
                        <a:rPr lang="en-US" sz="900" b="1" dirty="0">
                          <a:solidFill>
                            <a:srgbClr val="FFFFFF"/>
                          </a:solidFill>
                          <a:latin typeface="Arial" pitchFamily="34" charset="0"/>
                          <a:ea typeface="Arial" pitchFamily="34" charset="-122"/>
                          <a:cs typeface="Arial" pitchFamily="34" charset="-120"/>
                        </a:rPr>
                        <a:t>Q (who asks)</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First sentence of the answer</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r>
              <a:tr h="566928">
                <a:tc>
                  <a:txBody>
                    <a:bodyPr/>
                    <a:lstStyle/>
                    <a:p>
                      <a:pPr indent="0" marL="0">
                        <a:buNone/>
                      </a:pPr>
                      <a:r>
                        <a:rPr lang="en-US" sz="900" dirty="0">
                          <a:solidFill>
                            <a:srgbClr val="262626"/>
                          </a:solidFill>
                          <a:latin typeface="Arial" pitchFamily="34" charset="0"/>
                          <a:ea typeface="Arial" pitchFamily="34" charset="-122"/>
                          <a:cs typeface="Arial" pitchFamily="34" charset="-120"/>
                        </a:rPr>
                        <a:t>Why must an electrolyte be an electronic insulator? (basics, on purpose)</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If electrons leak, Li⁺ keeps reducing inside/at interfaces — SEI never self-limits and dendrite paths grow; ion-only transport is the defining condition.</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indent="0" marL="0">
                        <a:buNone/>
                      </a:pPr>
                      <a:r>
                        <a:rPr lang="en-US" sz="900" dirty="0">
                          <a:solidFill>
                            <a:srgbClr val="262626"/>
                          </a:solidFill>
                          <a:latin typeface="Arial" pitchFamily="34" charset="0"/>
                          <a:ea typeface="Arial" pitchFamily="34" charset="-122"/>
                          <a:cs typeface="Arial" pitchFamily="34" charset="-120"/>
                        </a:rPr>
                        <a:t>What IS Ea physically — where is the hill in the structure? (basics)</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Operationally, Ea is the ln D vs 1/T slope after the β-gate confirms diffusion; β validates the regime — it does not locate a specific saddle.</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indent="0" marL="0">
                        <a:buNone/>
                      </a:pPr>
                      <a:r>
                        <a:rPr lang="en-US" sz="900" dirty="0">
                          <a:solidFill>
                            <a:srgbClr val="262626"/>
                          </a:solidFill>
                          <a:latin typeface="Arial" pitchFamily="34" charset="0"/>
                          <a:ea typeface="Arial" pitchFamily="34" charset="-122"/>
                          <a:cs typeface="Arial" pitchFamily="34" charset="-120"/>
                        </a:rPr>
                        <a:t>“UMA is a validated standard” — validated on what, by how much?</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Validated for relative ranking and structure reproduction on the LPSCl family (records in repo); absolutes are never quoted — that IS the acknowledged limit.</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indent="0" marL="0">
                        <a:buNone/>
                      </a:pPr>
                      <a:r>
                        <a:rPr lang="en-US" sz="900" dirty="0">
                          <a:solidFill>
                            <a:srgbClr val="262626"/>
                          </a:solidFill>
                          <a:latin typeface="Arial" pitchFamily="34" charset="0"/>
                          <a:ea typeface="Arial" pitchFamily="34" charset="-122"/>
                          <a:cs typeface="Arial" pitchFamily="34" charset="-120"/>
                        </a:rPr>
                        <a:t>Will HfO₂ really enter the lattice in a 550 °C H₂S synthesis? Cost of Hf?</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We don't know — that is why formation-energy and phase-separation checks are in the label plan, and synthesis/cost is the experimental team's call. Today it is a hypothesis.</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indent="0" marL="0">
                        <a:buNone/>
                      </a:pPr>
                      <a:r>
                        <a:rPr lang="en-US" sz="900" dirty="0">
                          <a:solidFill>
                            <a:srgbClr val="262626"/>
                          </a:solidFill>
                          <a:latin typeface="Arial" pitchFamily="34" charset="0"/>
                          <a:ea typeface="Arial" pitchFamily="34" charset="-122"/>
                          <a:cs typeface="Arial" pitchFamily="34" charset="-120"/>
                        </a:rPr>
                        <a:t>Why are 44 roster species absent from the canonical table?</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The 47 is a versioned O/F snapshot; the missing 44 lack a per-species manifest, so bias propagation is unquantified — which blocks any discovery-rate claim from the 273-slot campaign.</a:t>
                      </a:r>
                      <a:endParaRPr lang="en-US" sz="90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6" name="Text 3"/>
          <p:cNvSpPr/>
          <p:nvPr/>
        </p:nvSpPr>
        <p:spPr>
          <a:xfrm>
            <a:off x="502920" y="5120640"/>
            <a:ext cx="8138160" cy="274320"/>
          </a:xfrm>
          <a:prstGeom prst="rect">
            <a:avLst/>
          </a:prstGeom>
          <a:noFill/>
          <a:ln/>
        </p:spPr>
        <p:txBody>
          <a:bodyPr wrap="square" lIns="0" tIns="0" rIns="0" bIns="0" rtlCol="0" anchor="ctr"/>
          <a:lstStyle/>
          <a:p>
            <a:pPr indent="0" marL="0">
              <a:buNone/>
            </a:pPr>
            <a:r>
              <a:rPr lang="en-US" sz="950" i="1" dirty="0">
                <a:solidFill>
                  <a:srgbClr val="9E2A2B"/>
                </a:solidFill>
                <a:latin typeface="Arial" pitchFamily="34" charset="0"/>
                <a:ea typeface="Arial" pitchFamily="34" charset="-122"/>
                <a:cs typeface="Arial" pitchFamily="34" charset="-120"/>
              </a:rPr>
              <a:t>Note to self: the 44-absent answer must stay a provenance answer — never call them failures.</a:t>
            </a:r>
            <a:endParaRPr lang="en-US" sz="950" dirty="0"/>
          </a:p>
        </p:txBody>
      </p:sp>
      <p:sp>
        <p:nvSpPr>
          <p:cNvPr id="8" name="Text 4"/>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9" name="Text 5"/>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Appendix A8</a:t>
            </a:r>
            <a:endParaRPr lang="en-US" sz="1100" dirty="0"/>
          </a:p>
        </p:txBody>
      </p:sp>
      <p:sp>
        <p:nvSpPr>
          <p:cNvPr id="3" name="Text 1"/>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ML backup: the numbers behind Part 5</a:t>
            </a:r>
            <a:endParaRPr lang="en-US" sz="2000" dirty="0"/>
          </a:p>
        </p:txBody>
      </p:sp>
      <p:sp>
        <p:nvSpPr>
          <p:cNvPr id="4" name="Shape 2"/>
          <p:cNvSpPr/>
          <p:nvPr/>
        </p:nvSpPr>
        <p:spPr>
          <a:xfrm>
            <a:off x="457200" y="1115568"/>
            <a:ext cx="8229600" cy="0"/>
          </a:xfrm>
          <a:prstGeom prst="line">
            <a:avLst/>
          </a:prstGeom>
          <a:noFill/>
          <a:ln w="12700">
            <a:solidFill>
              <a:srgbClr val="D9D9D9"/>
            </a:solidFill>
            <a:prstDash val="solid"/>
          </a:ln>
        </p:spPr>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8138160" cy="914400"/>
        </p:xfrm>
        <a:graphic>
          <a:graphicData uri="http://schemas.openxmlformats.org/drawingml/2006/table">
            <a:tbl>
              <a:tblPr/>
              <a:tblGrid>
                <a:gridCol w="2377440"/>
                <a:gridCol w="2377440"/>
                <a:gridCol w="3383280"/>
              </a:tblGrid>
              <a:tr h="384048">
                <a:tc>
                  <a:txBody>
                    <a:bodyPr/>
                    <a:lstStyle/>
                    <a:p>
                      <a:pPr indent="0" marL="0">
                        <a:buNone/>
                      </a:pPr>
                      <a:r>
                        <a:rPr lang="en-US" sz="950" b="1" dirty="0">
                          <a:solidFill>
                            <a:srgbClr val="FFFFFF"/>
                          </a:solidFill>
                          <a:latin typeface="Arial" pitchFamily="34" charset="0"/>
                          <a:ea typeface="Arial" pitchFamily="34" charset="-122"/>
                          <a:cs typeface="Arial" pitchFamily="34" charset="-120"/>
                        </a:rPr>
                        <a:t>Item</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Value</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Note</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r>
              <a:tr h="384048">
                <a:tc>
                  <a:txBody>
                    <a:bodyPr/>
                    <a:lstStyle/>
                    <a:p>
                      <a:pPr indent="0" marL="0">
                        <a:buNone/>
                      </a:pPr>
                      <a:r>
                        <a:rPr lang="en-US" sz="950" dirty="0">
                          <a:solidFill>
                            <a:srgbClr val="262626"/>
                          </a:solidFill>
                          <a:latin typeface="Arial" pitchFamily="34" charset="0"/>
                          <a:ea typeface="Arial" pitchFamily="34" charset="-122"/>
                          <a:cs typeface="Arial" pitchFamily="34" charset="-120"/>
                        </a:rPr>
                        <a:t>stage-1 λ (1-SE)</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0.0794</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LOOCV residual σ = 0.0018 score units</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950" dirty="0">
                          <a:solidFill>
                            <a:srgbClr val="262626"/>
                          </a:solidFill>
                          <a:latin typeface="Arial" pitchFamily="34" charset="0"/>
                          <a:ea typeface="Arial" pitchFamily="34" charset="-122"/>
                          <a:cs typeface="Arial" pitchFamily="34" charset="-120"/>
                        </a:rPr>
                        <a:t>stage-1 leakage audit</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+3.4% σ_loo</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fold-wise re-standardization only; not a pair-chemistry audit</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950" dirty="0">
                          <a:solidFill>
                            <a:srgbClr val="262626"/>
                          </a:solidFill>
                          <a:latin typeface="Arial" pitchFamily="34" charset="0"/>
                          <a:ea typeface="Arial" pitchFamily="34" charset="-122"/>
                          <a:cs typeface="Arial" pitchFamily="34" charset="-120"/>
                        </a:rPr>
                        <a:t>stage-3 λ</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39.8</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weighted LOOCV R² = 0.089</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950" dirty="0">
                          <a:solidFill>
                            <a:srgbClr val="262626"/>
                          </a:solidFill>
                          <a:latin typeface="Arial" pitchFamily="34" charset="0"/>
                          <a:ea typeface="Arial" pitchFamily="34" charset="-122"/>
                          <a:cs typeface="Arial" pitchFamily="34" charset="-120"/>
                        </a:rPr>
                        <a:t>stage-3 dopant-level CV</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LODO −0.18 · L2DO −0.25</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independent folds: R² &lt; 0 (bias +0.34)</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950" dirty="0">
                          <a:solidFill>
                            <a:srgbClr val="262626"/>
                          </a:solidFill>
                          <a:latin typeface="Arial" pitchFamily="34" charset="0"/>
                          <a:ea typeface="Arial" pitchFamily="34" charset="-122"/>
                          <a:cs typeface="Arial" pitchFamily="34" charset="-120"/>
                        </a:rPr>
                        <a:t>stage-3 residual</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2.33 z-units</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interactions unlearned</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950" dirty="0">
                          <a:solidFill>
                            <a:srgbClr val="262626"/>
                          </a:solidFill>
                          <a:latin typeface="Arial" pitchFamily="34" charset="0"/>
                          <a:ea typeface="Arial" pitchFamily="34" charset="-122"/>
                          <a:cs typeface="Arial" pitchFamily="34" charset="-120"/>
                        </a:rPr>
                        <a:t>v1 top-40 Spearman</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0.672</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top-10 overlap 2/10</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950" dirty="0">
                          <a:solidFill>
                            <a:srgbClr val="262626"/>
                          </a:solidFill>
                          <a:latin typeface="Arial" pitchFamily="34" charset="0"/>
                          <a:ea typeface="Arial" pitchFamily="34" charset="-122"/>
                          <a:cs typeface="Arial" pitchFamily="34" charset="-120"/>
                        </a:rPr>
                        <a:t>v1-unlisted pairs</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synergy ≈ 0 (weight 0.1)</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1,041 of 1,081 — weak approximation</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950" dirty="0">
                          <a:solidFill>
                            <a:srgbClr val="262626"/>
                          </a:solidFill>
                          <a:latin typeface="Arial" pitchFamily="34" charset="0"/>
                          <a:ea typeface="Arial" pitchFamily="34" charset="-122"/>
                          <a:cs typeface="Arial" pitchFamily="34" charset="-120"/>
                        </a:rPr>
                        <a:t>assumptions</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aggregate single-dopant features + quadratic terms</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no dopant–dopant chemistry</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950" dirty="0">
                          <a:solidFill>
                            <a:srgbClr val="262626"/>
                          </a:solidFill>
                          <a:latin typeface="Arial" pitchFamily="34" charset="0"/>
                          <a:ea typeface="Arial" pitchFamily="34" charset="-122"/>
                          <a:cs typeface="Arial" pitchFamily="34" charset="-120"/>
                        </a:rPr>
                        <a:t>verdict</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hypothesis generator — NOT a property predictor</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Arial" pitchFamily="34" charset="0"/>
                          <a:ea typeface="Arial" pitchFamily="34" charset="-122"/>
                          <a:cs typeface="Arial" pitchFamily="34" charset="-120"/>
                        </a:rPr>
                        <a:t>labels queued (dose grid)</a:t>
                      </a:r>
                      <a:endParaRPr lang="en-US" sz="950" dirty="0">
                        <a:latin typeface="Arial" charset="0"/>
                        <a:ea typeface="Arial" charset="0"/>
                        <a:cs typeface="Arial"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7" name="Text 3"/>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8" name="Text 4"/>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237744"/>
            <a:ext cx="3200400" cy="256032"/>
          </a:xfrm>
          <a:prstGeom prst="rect">
            <a:avLst/>
          </a:prstGeom>
          <a:noFill/>
          <a:ln/>
        </p:spPr>
        <p:txBody>
          <a:bodyPr wrap="square" lIns="0" tIns="0" rIns="0" bIns="0" rtlCol="0" anchor="ctr"/>
          <a:lstStyle/>
          <a:p>
            <a:pPr indent="0" marL="0">
              <a:buNone/>
            </a:pPr>
            <a:r>
              <a:rPr lang="en-US" sz="1100" b="1" dirty="0">
                <a:solidFill>
                  <a:srgbClr val="1F4E79"/>
                </a:solidFill>
                <a:latin typeface="Arial" pitchFamily="34" charset="0"/>
                <a:ea typeface="Arial" pitchFamily="34" charset="-122"/>
                <a:cs typeface="Arial" pitchFamily="34" charset="-120"/>
              </a:rPr>
              <a:t>Appendix A9</a:t>
            </a:r>
            <a:endParaRPr lang="en-US" sz="1100" dirty="0"/>
          </a:p>
        </p:txBody>
      </p:sp>
      <p:sp>
        <p:nvSpPr>
          <p:cNvPr id="3" name="Text 1"/>
          <p:cNvSpPr/>
          <p:nvPr/>
        </p:nvSpPr>
        <p:spPr>
          <a:xfrm>
            <a:off x="457200" y="512064"/>
            <a:ext cx="8229600" cy="566928"/>
          </a:xfrm>
          <a:prstGeom prst="rect">
            <a:avLst/>
          </a:prstGeom>
          <a:noFill/>
          <a:ln/>
        </p:spPr>
        <p:txBody>
          <a:bodyPr wrap="square" lIns="0" tIns="0" rIns="0" bIns="0" rtlCol="0" anchor="ctr"/>
          <a:lstStyle/>
          <a:p>
            <a:pPr indent="0" marL="0">
              <a:buNone/>
            </a:pPr>
            <a:r>
              <a:rPr lang="en-US" sz="2000" b="1" dirty="0">
                <a:solidFill>
                  <a:srgbClr val="262626"/>
                </a:solidFill>
                <a:latin typeface="Arial" pitchFamily="34" charset="0"/>
                <a:ea typeface="Arial" pitchFamily="34" charset="-122"/>
                <a:cs typeface="Arial" pitchFamily="34" charset="-120"/>
              </a:rPr>
              <a:t>References: only what we physically hold (litdb)</a:t>
            </a:r>
            <a:endParaRPr lang="en-US" sz="2000" dirty="0"/>
          </a:p>
        </p:txBody>
      </p:sp>
      <p:sp>
        <p:nvSpPr>
          <p:cNvPr id="4" name="Shape 2"/>
          <p:cNvSpPr/>
          <p:nvPr/>
        </p:nvSpPr>
        <p:spPr>
          <a:xfrm>
            <a:off x="457200" y="1115568"/>
            <a:ext cx="8229600" cy="0"/>
          </a:xfrm>
          <a:prstGeom prst="line">
            <a:avLst/>
          </a:prstGeom>
          <a:noFill/>
          <a:ln w="12700">
            <a:solidFill>
              <a:srgbClr val="D9D9D9"/>
            </a:solidFill>
            <a:prstDash val="solid"/>
          </a:ln>
        </p:spPr>
      </p:sp>
      <p:sp>
        <p:nvSpPr>
          <p:cNvPr id="5" name="Text 3"/>
          <p:cNvSpPr/>
          <p:nvPr/>
        </p:nvSpPr>
        <p:spPr>
          <a:xfrm>
            <a:off x="502920" y="1463040"/>
            <a:ext cx="8138160" cy="4389120"/>
          </a:xfrm>
          <a:prstGeom prst="rect">
            <a:avLst/>
          </a:prstGeom>
          <a:noFill/>
          <a:ln/>
        </p:spPr>
        <p:txBody>
          <a:bodyPr wrap="square" lIns="0" tIns="0" rIns="0" bIns="0" rtlCol="0" anchor="t"/>
          <a:lstStyle/>
          <a:p>
            <a:pPr lvl="1" marL="254000" indent="-127000">
              <a:spcAft>
                <a:spcPts val="500"/>
              </a:spcAft>
              <a:buSzPct val="100000"/>
              <a:buChar char="–"/>
            </a:pPr>
            <a:r>
              <a:rPr lang="en-US" sz="1100" dirty="0">
                <a:solidFill>
                  <a:srgbClr val="7F7F7F"/>
                </a:solidFill>
                <a:latin typeface="Arial" pitchFamily="34" charset="0"/>
                <a:ea typeface="Arial" pitchFamily="34" charset="-122"/>
                <a:cs typeface="Arial" pitchFamily="34" charset="-120"/>
              </a:rPr>
              <a:t>Sendek et al., Energy Environ. Sci. 2017, 10, 306 — 12,831-candidate ML screening</a:t>
            </a:r>
            <a:endParaRPr lang="en-US" sz="1100" dirty="0"/>
          </a:p>
          <a:p>
            <a:pPr lvl="1" marL="254000" indent="-127000">
              <a:spcAft>
                <a:spcPts val="500"/>
              </a:spcAft>
              <a:buSzPct val="100000"/>
              <a:buChar char="–"/>
            </a:pPr>
            <a:r>
              <a:rPr lang="en-US" sz="1100" dirty="0">
                <a:solidFill>
                  <a:srgbClr val="7F7F7F"/>
                </a:solidFill>
                <a:latin typeface="Arial" pitchFamily="34" charset="0"/>
                <a:ea typeface="Arial" pitchFamily="34" charset="-122"/>
                <a:cs typeface="Arial" pitchFamily="34" charset="-120"/>
              </a:rPr>
              <a:t>Xiao et al., Joule 2019 — cathode-coating funnel (104,082 → 184)</a:t>
            </a:r>
            <a:endParaRPr lang="en-US" sz="1100" dirty="0"/>
          </a:p>
          <a:p>
            <a:pPr lvl="1" marL="254000" indent="-127000">
              <a:spcAft>
                <a:spcPts val="500"/>
              </a:spcAft>
              <a:buSzPct val="100000"/>
              <a:buChar char="–"/>
            </a:pPr>
            <a:r>
              <a:rPr lang="en-US" sz="1100" dirty="0">
                <a:solidFill>
                  <a:srgbClr val="7F7F7F"/>
                </a:solidFill>
                <a:latin typeface="Arial" pitchFamily="34" charset="0"/>
                <a:ea typeface="Arial" pitchFamily="34" charset="-122"/>
                <a:cs typeface="Arial" pitchFamily="34" charset="-120"/>
              </a:rPr>
              <a:t>Richards et al., Chem. Mater. 2016 — pseudo-binary interface stability</a:t>
            </a:r>
            <a:endParaRPr lang="en-US" sz="1100" dirty="0"/>
          </a:p>
          <a:p>
            <a:pPr lvl="1" marL="254000" indent="-127000">
              <a:spcAft>
                <a:spcPts val="500"/>
              </a:spcAft>
              <a:buSzPct val="100000"/>
              <a:buChar char="–"/>
            </a:pPr>
            <a:r>
              <a:rPr lang="en-US" sz="1100" dirty="0">
                <a:solidFill>
                  <a:srgbClr val="7F7F7F"/>
                </a:solidFill>
                <a:latin typeface="Arial" pitchFamily="34" charset="0"/>
                <a:ea typeface="Arial" pitchFamily="34" charset="-122"/>
                <a:cs typeface="Arial" pitchFamily="34" charset="-120"/>
              </a:rPr>
              <a:t>Zhu et al., Angew. Chem. 2020 — air-stability design principles (ΔG_hyd)</a:t>
            </a:r>
            <a:endParaRPr lang="en-US" sz="1100" dirty="0"/>
          </a:p>
          <a:p>
            <a:pPr lvl="1" marL="254000" indent="-127000">
              <a:spcAft>
                <a:spcPts val="500"/>
              </a:spcAft>
              <a:buSzPct val="100000"/>
              <a:buChar char="–"/>
            </a:pPr>
            <a:r>
              <a:rPr lang="en-US" sz="1100" dirty="0">
                <a:solidFill>
                  <a:srgbClr val="7F7F7F"/>
                </a:solidFill>
                <a:latin typeface="Arial" pitchFamily="34" charset="0"/>
                <a:ea typeface="Arial" pitchFamily="34" charset="-122"/>
                <a:cs typeface="Arial" pitchFamily="34" charset="-120"/>
              </a:rPr>
              <a:t>Kahle et al. 2020 — high-throughput AIMD screening</a:t>
            </a:r>
            <a:endParaRPr lang="en-US" sz="1100" dirty="0"/>
          </a:p>
          <a:p>
            <a:pPr lvl="1" marL="254000" indent="-127000">
              <a:spcAft>
                <a:spcPts val="500"/>
              </a:spcAft>
              <a:buSzPct val="100000"/>
              <a:buChar char="–"/>
            </a:pPr>
            <a:r>
              <a:rPr lang="en-US" sz="1100" dirty="0">
                <a:solidFill>
                  <a:srgbClr val="7F7F7F"/>
                </a:solidFill>
                <a:latin typeface="Arial" pitchFamily="34" charset="0"/>
                <a:ea typeface="Arial" pitchFamily="34" charset="-122"/>
                <a:cs typeface="Arial" pitchFamily="34" charset="-120"/>
              </a:rPr>
              <a:t>He et al., Energy Environ. Mater. 2019 — DFT for battery materials (review)</a:t>
            </a:r>
            <a:endParaRPr lang="en-US" sz="1100" dirty="0"/>
          </a:p>
          <a:p>
            <a:pPr lvl="1" marL="254000" indent="-127000">
              <a:spcAft>
                <a:spcPts val="500"/>
              </a:spcAft>
              <a:buSzPct val="100000"/>
              <a:buChar char="–"/>
            </a:pPr>
            <a:r>
              <a:rPr lang="en-US" sz="1100" dirty="0">
                <a:solidFill>
                  <a:srgbClr val="7F7F7F"/>
                </a:solidFill>
                <a:latin typeface="Arial" pitchFamily="34" charset="0"/>
                <a:ea typeface="Arial" pitchFamily="34" charset="-122"/>
                <a:cs typeface="Arial" pitchFamily="34" charset="-120"/>
              </a:rPr>
              <a:t>Famprikis et al., Nat. Mater. 2019 — fundamentals of inorganic SSEs</a:t>
            </a:r>
            <a:endParaRPr lang="en-US" sz="1100" dirty="0"/>
          </a:p>
          <a:p>
            <a:pPr lvl="1" marL="254000" indent="-127000">
              <a:spcAft>
                <a:spcPts val="500"/>
              </a:spcAft>
              <a:buSzPct val="100000"/>
              <a:buChar char="–"/>
            </a:pPr>
            <a:r>
              <a:rPr lang="en-US" sz="1100" dirty="0">
                <a:solidFill>
                  <a:srgbClr val="7F7F7F"/>
                </a:solidFill>
                <a:latin typeface="Arial" pitchFamily="34" charset="0"/>
                <a:ea typeface="Arial" pitchFamily="34" charset="-122"/>
                <a:cs typeface="Arial" pitchFamily="34" charset="-120"/>
              </a:rPr>
              <a:t>InF₃/GaF₃ co-substitution lineage (AEM 2024 / EMA 2026) — argyrodite two-dopant precedent</a:t>
            </a:r>
            <a:endParaRPr lang="en-US" sz="1100" dirty="0"/>
          </a:p>
          <a:p>
            <a:pPr marL="127000" indent="-127000">
              <a:spcAft>
                <a:spcPts val="800"/>
              </a:spcAft>
              <a:buSzPct val="100000"/>
              <a:buChar char="·"/>
            </a:pPr>
            <a:r>
              <a:rPr lang="en-US" sz="1100" b="1" dirty="0">
                <a:solidFill>
                  <a:srgbClr val="9E2A2B"/>
                </a:solidFill>
                <a:latin typeface="Arial" pitchFamily="34" charset="0"/>
                <a:ea typeface="Arial" pitchFamily="34" charset="-122"/>
                <a:cs typeface="Arial" pitchFamily="34" charset="-120"/>
              </a:rPr>
              <a:t>NOT held (do not cite until PDFs secured): Hohenberg–Kohn 1964 · Kohn–Sham 1965 · Pugh · Dronskowski · Dudarev</a:t>
            </a:r>
            <a:endParaRPr lang="en-US" sz="1100" dirty="0"/>
          </a:p>
        </p:txBody>
      </p:sp>
      <p:sp>
        <p:nvSpPr>
          <p:cNvPr id="7" name="Text 4"/>
          <p:cNvSpPr/>
          <p:nvPr/>
        </p:nvSpPr>
        <p:spPr>
          <a:xfrm>
            <a:off x="457200" y="6473952"/>
            <a:ext cx="5029200" cy="274320"/>
          </a:xfrm>
          <a:prstGeom prst="rect">
            <a:avLst/>
          </a:prstGeom>
          <a:noFill/>
          <a:ln/>
        </p:spPr>
        <p:txBody>
          <a:bodyPr wrap="square" lIns="0" tIns="0" rIns="0" bIns="0" rtlCol="0" anchor="ctr"/>
          <a:lstStyle/>
          <a:p>
            <a:pPr indent="0" marL="0">
              <a:buNone/>
            </a:pPr>
            <a:r>
              <a:rPr lang="en-US" sz="800" b="1" dirty="0">
                <a:solidFill>
                  <a:srgbClr val="1F4E79"/>
                </a:solidFill>
                <a:latin typeface="Arial" pitchFamily="34" charset="0"/>
                <a:ea typeface="Arial" pitchFamily="34" charset="-122"/>
                <a:cs typeface="Arial" pitchFamily="34" charset="-120"/>
              </a:rPr>
              <a:t>HANYANG UNIVERSITY</a:t>
            </a:r>
            <a:pPr indent="0" marL="0">
              <a:buNone/>
            </a:pPr>
            <a:r>
              <a:rPr lang="en-US" sz="800" dirty="0">
                <a:solidFill>
                  <a:srgbClr val="7F7F7F"/>
                </a:solidFill>
                <a:latin typeface="Arial" pitchFamily="34" charset="0"/>
                <a:ea typeface="Arial" pitchFamily="34" charset="-122"/>
                <a:cs typeface="Arial" pitchFamily="34" charset="-120"/>
              </a:rPr>
              <a:t>   Battery Materials Lab.</a:t>
            </a:r>
            <a:endParaRPr lang="en-US" sz="800" dirty="0"/>
          </a:p>
        </p:txBody>
      </p:sp>
      <p:sp>
        <p:nvSpPr>
          <p:cNvPr id="8" name="Text 5"/>
          <p:cNvSpPr/>
          <p:nvPr/>
        </p:nvSpPr>
        <p:spPr>
          <a:xfrm>
            <a:off x="8503920" y="6473952"/>
            <a:ext cx="320040" cy="274320"/>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36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2026-08-10T20:36:09Z</dcterms:created>
  <dcterms:modified xsi:type="dcterms:W3CDTF">2026-08-10T20:36:09Z</dcterms:modified>
</cp:coreProperties>
</file>