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0b61f05e137348dc"/>
    <p:sldId xmlns:r="http://schemas.openxmlformats.org/officeDocument/2006/relationships" id="259" r:id="Rbfba0b31b08944a9"/>
    <p:sldId xmlns:r="http://schemas.openxmlformats.org/officeDocument/2006/relationships" id="260" r:id="R8e9499b237dd44db"/>
    <p:sldId xmlns:r="http://schemas.openxmlformats.org/officeDocument/2006/relationships" id="261" r:id="R4ba3f48111084143"/>
    <p:sldId xmlns:r="http://schemas.openxmlformats.org/officeDocument/2006/relationships" id="262" r:id="Rb665c5fe9e3347e9"/>
    <p:sldId xmlns:r="http://schemas.openxmlformats.org/officeDocument/2006/relationships" id="263" r:id="Rcd9b255cb4c54f2e"/>
    <p:sldId xmlns:r="http://schemas.openxmlformats.org/officeDocument/2006/relationships" id="264" r:id="Rdc2e3032cd0b46c4"/>
    <p:sldId xmlns:r="http://schemas.openxmlformats.org/officeDocument/2006/relationships" id="265" r:id="R21c89c806d8844aa"/>
    <p:sldId xmlns:r="http://schemas.openxmlformats.org/officeDocument/2006/relationships" id="266" r:id="R4644b85309e14395"/>
    <p:sldId xmlns:r="http://schemas.openxmlformats.org/officeDocument/2006/relationships" id="267" r:id="R59bb6e4a8ecc4c71"/>
    <p:sldId xmlns:r="http://schemas.openxmlformats.org/officeDocument/2006/relationships" id="268" r:id="Rf5fc8157681b488f"/>
    <p:sldId xmlns:r="http://schemas.openxmlformats.org/officeDocument/2006/relationships" id="269" r:id="R585d8b53172a4fb4"/>
    <p:sldId xmlns:r="http://schemas.openxmlformats.org/officeDocument/2006/relationships" id="270" r:id="R582cf44da6534111"/>
    <p:sldId xmlns:r="http://schemas.openxmlformats.org/officeDocument/2006/relationships" id="271" r:id="Ree46da3645da4342"/>
    <p:sldId xmlns:r="http://schemas.openxmlformats.org/officeDocument/2006/relationships" id="272" r:id="Rcb18a1d8bd1d40bb"/>
    <p:sldId xmlns:r="http://schemas.openxmlformats.org/officeDocument/2006/relationships" id="273" r:id="R52754f0ac4c84cf8"/>
    <p:sldId xmlns:r="http://schemas.openxmlformats.org/officeDocument/2006/relationships" id="274" r:id="Rf852efb193f945ab"/>
    <p:sldId xmlns:r="http://schemas.openxmlformats.org/officeDocument/2006/relationships" id="275" r:id="Reb1f0020af2b4833"/>
    <p:sldId xmlns:r="http://schemas.openxmlformats.org/officeDocument/2006/relationships" id="276" r:id="R8409038232d64c49"/>
    <p:sldId xmlns:r="http://schemas.openxmlformats.org/officeDocument/2006/relationships" id="277" r:id="Rcb663844fffc477a"/>
    <p:sldId xmlns:r="http://schemas.openxmlformats.org/officeDocument/2006/relationships" id="278" r:id="R75f40cb2bb314b1c"/>
    <p:sldId xmlns:r="http://schemas.openxmlformats.org/officeDocument/2006/relationships" id="279" r:id="R8e5693ac9e014a39"/>
    <p:sldId xmlns:r="http://schemas.openxmlformats.org/officeDocument/2006/relationships" id="280" r:id="R2763d70795d6457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61f05e137348dc" Type="http://schemas.openxmlformats.org/officeDocument/2006/relationships/slide" Target="slides/slide3.xml"/><Relationship Id="R0bedd3fc95014fed" Type="http://schemas.openxmlformats.org/officeDocument/2006/relationships/presProps" Target="presProps.xml"/><Relationship Id="R21c89c806d8844aa" Type="http://schemas.openxmlformats.org/officeDocument/2006/relationships/slide" Target="slides/slide10.xml"/><Relationship Id="R245a50a1643649ab" Type="http://schemas.openxmlformats.org/officeDocument/2006/relationships/tableStyles" Target="tableStyles.xml"/><Relationship Id="R2763d70795d64571" Type="http://schemas.openxmlformats.org/officeDocument/2006/relationships/slide" Target="slides/slide25.xml"/><Relationship Id="R3ccdefa3e23f4a3b" Type="http://schemas.openxmlformats.org/officeDocument/2006/relationships/slide" Target="slides/slide2.xml"/><Relationship Id="R3eabe3a8ecf741a2" Type="http://schemas.openxmlformats.org/officeDocument/2006/relationships/viewProps" Target="viewProps.xml"/><Relationship Id="R4644b85309e14395" Type="http://schemas.openxmlformats.org/officeDocument/2006/relationships/slide" Target="slides/slide11.xml"/><Relationship Id="R4ba3f48111084143" Type="http://schemas.openxmlformats.org/officeDocument/2006/relationships/slide" Target="slides/slide6.xml"/><Relationship Id="R52754f0ac4c84cf8" Type="http://schemas.openxmlformats.org/officeDocument/2006/relationships/slide" Target="slides/slide18.xml"/><Relationship Id="R582cf44da6534111" Type="http://schemas.openxmlformats.org/officeDocument/2006/relationships/slide" Target="slides/slide15.xml"/><Relationship Id="R585d8b53172a4fb4" Type="http://schemas.openxmlformats.org/officeDocument/2006/relationships/slide" Target="slides/slide14.xml"/><Relationship Id="R59bb6e4a8ecc4c71" Type="http://schemas.openxmlformats.org/officeDocument/2006/relationships/slide" Target="slides/slide12.xml"/><Relationship Id="R636b2433d8094769" Type="http://schemas.openxmlformats.org/officeDocument/2006/relationships/notesMaster" Target="notesMasters/notesMaster1.xml"/><Relationship Id="R75f40cb2bb314b1c" Type="http://schemas.openxmlformats.org/officeDocument/2006/relationships/slide" Target="slides/slide23.xml"/><Relationship Id="R7a9f4c5f7750487f" Type="http://schemas.openxmlformats.org/officeDocument/2006/relationships/slideMaster" Target="slideMasters/slideMaster1.xml"/><Relationship Id="R8409038232d64c49" Type="http://schemas.openxmlformats.org/officeDocument/2006/relationships/slide" Target="slides/slide21.xml"/><Relationship Id="R8e5693ac9e014a39" Type="http://schemas.openxmlformats.org/officeDocument/2006/relationships/slide" Target="slides/slide24.xml"/><Relationship Id="R8e9499b237dd44db" Type="http://schemas.openxmlformats.org/officeDocument/2006/relationships/slide" Target="slides/slide5.xml"/><Relationship Id="Ra0f5ac940dfa4f56" Type="http://schemas.openxmlformats.org/officeDocument/2006/relationships/slide" Target="slides/slide1.xml"/><Relationship Id="Rb665c5fe9e3347e9" Type="http://schemas.openxmlformats.org/officeDocument/2006/relationships/slide" Target="slides/slide7.xml"/><Relationship Id="Rbfba0b31b08944a9" Type="http://schemas.openxmlformats.org/officeDocument/2006/relationships/slide" Target="slides/slide4.xml"/><Relationship Id="Rcb18a1d8bd1d40bb" Type="http://schemas.openxmlformats.org/officeDocument/2006/relationships/slide" Target="slides/slide17.xml"/><Relationship Id="Rcb663844fffc477a" Type="http://schemas.openxmlformats.org/officeDocument/2006/relationships/slide" Target="slides/slide22.xml"/><Relationship Id="Rcd9b255cb4c54f2e" Type="http://schemas.openxmlformats.org/officeDocument/2006/relationships/slide" Target="slides/slide8.xml"/><Relationship Id="Rd15051cc896443fc" Type="http://schemas.openxmlformats.org/officeDocument/2006/relationships/theme" Target="theme/theme1.xml"/><Relationship Id="Rdc2e3032cd0b46c4" Type="http://schemas.openxmlformats.org/officeDocument/2006/relationships/slide" Target="slides/slide9.xml"/><Relationship Id="Reb1f0020af2b4833" Type="http://schemas.openxmlformats.org/officeDocument/2006/relationships/slide" Target="slides/slide20.xml"/><Relationship Id="Ree46da3645da4342" Type="http://schemas.openxmlformats.org/officeDocument/2006/relationships/slide" Target="slides/slide16.xml"/><Relationship Id="Rf5fc8157681b488f" Type="http://schemas.openxmlformats.org/officeDocument/2006/relationships/slide" Target="slides/slide13.xml"/><Relationship Id="Rf852efb193f945ab"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6a1b76dbeb4387" Type="http://schemas.openxmlformats.org/officeDocument/2006/relationships/slide" Target="../slides/slide1.xml"/><Relationship Id="R4ada200f62cf43b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ededadd90e1c4a6f" Type="http://schemas.openxmlformats.org/officeDocument/2006/relationships/slide" Target="../slides/slide2.xml"/><Relationship Id="Rf541ceadc01a486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81f5c9eab145fd" Type="http://schemas.openxmlformats.org/officeDocument/2006/relationships/slide" Target="../slides/slide3.xml"/><Relationship Id="Re2e1404a383044a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14c9682839643be" Type="http://schemas.openxmlformats.org/officeDocument/2006/relationships/notesMaster" Target="../notesMasters/notesMaster1.xml"/><Relationship Id="R6217f86a64e7454f"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0fc23a6c03d4d8a" Type="http://schemas.openxmlformats.org/officeDocument/2006/relationships/notesMaster" Target="../notesMasters/notesMaster1.xml"/><Relationship Id="Ref734c0e971641e3"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c922b19d1a54e9e" Type="http://schemas.openxmlformats.org/officeDocument/2006/relationships/notesMaster" Target="../notesMasters/notesMaster1.xml"/><Relationship Id="Rbc4a71bc818b445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f84311f06ec4b6f" Type="http://schemas.openxmlformats.org/officeDocument/2006/relationships/slide" Target="../slides/slide8.xml"/><Relationship Id="R5abb24fafe4d456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e05c8903c7144c0" Type="http://schemas.openxmlformats.org/officeDocument/2006/relationships/notesMaster" Target="../notesMasters/notesMaster1.xml"/><Relationship Id="Rec9e49a4df5a431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db5e373131034f68" Type="http://schemas.openxmlformats.org/officeDocument/2006/relationships/notesMaster" Target="../notesMasters/notesMaster1.xml"/><Relationship Id="Rf772b5bb7b5044ba"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30f75de92b04141" Type="http://schemas.openxmlformats.org/officeDocument/2006/relationships/notesMaster" Target="../notesMasters/notesMaster1.xml"/><Relationship Id="Re4e57e40824f4eac"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8f8f45b69a11478c" Type="http://schemas.openxmlformats.org/officeDocument/2006/relationships/slide" Target="../slides/slide13.xml"/><Relationship Id="Rb0a6596f291347d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4.xml"/><Relationship Id="R386f305cb90641d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f76fb8cb7d34880" Type="http://schemas.openxmlformats.org/officeDocument/2006/relationships/notesMaster" Target="../notesMasters/notesMaster1.xml"/><Relationship Id="Rcc9b7279b5314fb8"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075c135c27f44d24" Type="http://schemas.openxmlformats.org/officeDocument/2006/relationships/notesMaster" Target="../notesMasters/notesMaster1.xml"/><Relationship Id="R6e3f03dc79364cc9"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59faecdc68f243fe" Type="http://schemas.openxmlformats.org/officeDocument/2006/relationships/notesMaster" Target="../notesMasters/notesMaster1.xml"/><Relationship Id="Ra6aaf8df4086463f"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91902cb8513f4efa" Type="http://schemas.openxmlformats.org/officeDocument/2006/relationships/slide" Target="../slides/slide18.xml"/><Relationship Id="Rdbe3942926fe4a8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dbee6464ad146fe" Type="http://schemas.openxmlformats.org/officeDocument/2006/relationships/slide" Target="../slides/slide19.xml"/><Relationship Id="Rd341e6c91ba24d6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5f08109be84699" Type="http://schemas.openxmlformats.org/officeDocument/2006/relationships/notesMaster" Target="../notesMasters/notesMaster1.xml"/><Relationship Id="Rd9a2edc4b0f8416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78502d857144efd" Type="http://schemas.openxmlformats.org/officeDocument/2006/relationships/notesMaster" Target="../notesMasters/notesMaster1.xml"/><Relationship Id="R6450e6213ecc4cb6"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68359804a54e4372" Type="http://schemas.openxmlformats.org/officeDocument/2006/relationships/notesMaster" Target="../notesMasters/notesMaster1.xml"/><Relationship Id="R979231a02a2d401b"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0ca586f2119442c" Type="http://schemas.openxmlformats.org/officeDocument/2006/relationships/slide" Target="../slides/slide23.xml"/><Relationship Id="Rb8ac22d8eb5f487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cf6e917756124564" Type="http://schemas.openxmlformats.org/officeDocument/2006/relationships/notesMaster" Target="../notesMasters/notesMaster1.xml"/><Relationship Id="Rd782b404347747ba"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59c48bcac44ab6" Type="http://schemas.openxmlformats.org/officeDocument/2006/relationships/notesMaster" Target="../notesMasters/notesMaster1.xml"/><Relationship Id="Rc15bdcf425ae4aca" Type="http://schemas.openxmlformats.org/officeDocument/2006/relationships/slide" Target="../slides/slide2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a586bc1e3a8c4e1e" Type="http://schemas.openxmlformats.org/officeDocument/2006/relationships/notesSlide" Target="../notesSlides/notesSlide1.xml"/><Relationship Id="Reb8cbb49eadf4f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6cc3b2b82a64024" Type="http://schemas.openxmlformats.org/officeDocument/2006/relationships/notesSlide" Target="../notesSlides/notesSlide2.xml"/><Relationship Id="Rf6c3590f50c04caa" Type="http://schemas.openxmlformats.org/officeDocument/2006/relationships/slideLayout" Target="../slideLayouts/slideLayou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0486b66683e74bee" Type="http://schemas.openxmlformats.org/officeDocument/2006/relationships/slideLayout" Target="../slideLayouts/slideLayout1.xml"/><Relationship Id="R6deca4d840cc4253" Type="http://schemas.openxmlformats.org/officeDocument/2006/relationships/image" Target="../media/image.png"/><Relationship Id="R79dedd7a1a8147ea" Type="http://schemas.openxmlformats.org/officeDocument/2006/relationships/notesSlide" Target="../notesSlides/notesSlide3.xml"/><Relationship Id="R9fca5c5484f246df" Type="http://schemas.openxmlformats.org/officeDocument/2006/relationships/image" Target="../media/image2.png"/></Relationships>
</file>

<file path=ppt/slides/_rels/slide4.xml.rels><?xml version='1.0' encoding='UTF-8' standalone='yes'?>
<Relationships xmlns="http://schemas.openxmlformats.org/package/2006/relationships"><Relationship Id="R07fe1e7f0afa4efe" Type="http://schemas.openxmlformats.org/officeDocument/2006/relationships/notesSlide" Target="../notesSlides/notesSlide4.xml"/><Relationship Id="Ra6a2ed24502f45cf" Type="http://schemas.openxmlformats.org/officeDocument/2006/relationships/slideLayout" Target="../slideLayouts/slideLayout1.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0b22e29227af4dfd" Type="http://schemas.openxmlformats.org/officeDocument/2006/relationships/notesSlide" Target="../notesSlides/notesSlide5.xml"/><Relationship Id="R978acf923ad445bc" Type="http://schemas.openxmlformats.org/officeDocument/2006/relationships/slideLayout" Target="../slideLayouts/slideLayout1.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51b24b0c6a0f41f6" Type="http://schemas.openxmlformats.org/officeDocument/2006/relationships/slideLayout" Target="../slideLayouts/slideLayout1.xml"/><Relationship Id="Re63c6527db6947e5"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9e0230364baa4842" Type="http://schemas.openxmlformats.org/officeDocument/2006/relationships/slideLayout" Target="../slideLayouts/slideLayout1.xml"/><Relationship Id="Rd63d5a2cf0ef48ff"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02df4fce4b614a80" Type="http://schemas.openxmlformats.org/officeDocument/2006/relationships/notesSlide" Target="../notesSlides/notesSlide9.xml"/><Relationship Id="R4a31a6a4449642b1" Type="http://schemas.openxmlformats.org/officeDocument/2006/relationships/slideLayout" Target="../slideLayouts/slideLayout1.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6b3f270135454dce" Type="http://schemas.openxmlformats.org/officeDocument/2006/relationships/notesSlide" Target="../notesSlides/notesSlide11.xml"/><Relationship Id="Re915225b4e2744da" Type="http://schemas.openxmlformats.org/officeDocument/2006/relationships/image" Target="../media/image3.png"/><Relationship Id="Rf455cd2d2108455e"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1021685119a248bf" Type="http://schemas.openxmlformats.org/officeDocument/2006/relationships/notesSlide" Target="../notesSlides/notesSlide12.xml"/><Relationship Id="R546c4c07047d4a55" Type="http://schemas.openxmlformats.org/officeDocument/2006/relationships/slideLayout" Target="../slideLayouts/slideLayout1.xml"/><Relationship Id="R65d023672e8d410a" Type="http://schemas.openxmlformats.org/officeDocument/2006/relationships/image" Target="../media/image4.png"/></Relationships>
</file>

<file path=ppt/slides/_rels/slide13.xml.rels><?xml version='1.0' encoding='UTF-8' standalone='yes'?>
<Relationships xmlns="http://schemas.openxmlformats.org/package/2006/relationships"><Relationship Id="R2590317027994963" Type="http://schemas.openxmlformats.org/officeDocument/2006/relationships/notesSlide" Target="../notesSlides/notesSlide13.xml"/><Relationship Id="R7de8b2dcde8b4299" Type="http://schemas.openxmlformats.org/officeDocument/2006/relationships/slideLayout" Target="../slideLayouts/slideLayout1.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8dbd413e7a124206" Type="http://schemas.openxmlformats.org/officeDocument/2006/relationships/slideLayout" Target="../slideLayouts/slideLayout1.xml"/><Relationship Id="Rb665912394854af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cfcb68ced4b419c" Type="http://schemas.openxmlformats.org/officeDocument/2006/relationships/notesSlide" Target="../notesSlides/notesSlide16.xml"/><Relationship Id="Rb65a02830b1a434c" Type="http://schemas.openxmlformats.org/officeDocument/2006/relationships/slideLayout" Target="../slideLayouts/slideLayout1.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17e897009f404d13" Type="http://schemas.openxmlformats.org/officeDocument/2006/relationships/image" Target="../media/image5.png"/><Relationship Id="R85b1ab9abc184e26" Type="http://schemas.openxmlformats.org/officeDocument/2006/relationships/notesSlide" Target="../notesSlides/notesSlide17.xml"/><Relationship Id="Rb3a9725744bc4a13" Type="http://schemas.openxmlformats.org/officeDocument/2006/relationships/image" Target="../media/image6.png"/><Relationship Id="Re4118e6e80224e5a" Type="http://schemas.openxmlformats.org/officeDocument/2006/relationships/slideLayout" Target="../slideLayouts/slideLayout1.xml"/><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0f59e6dfc01c49f1" Type="http://schemas.openxmlformats.org/officeDocument/2006/relationships/slideLayout" Target="../slideLayouts/slideLayout1.xml"/><Relationship Id="R91db3424564c4196"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37aeb1508b324da7" Type="http://schemas.openxmlformats.org/officeDocument/2006/relationships/slideLayout" Target="../slideLayouts/slideLayout1.xml"/><Relationship Id="R921af0ec6a3c4aec" Type="http://schemas.openxmlformats.org/officeDocument/2006/relationships/image" Target="../media/image7.png"/><Relationship Id="Rfa26b8530dc54f17" Type="http://schemas.openxmlformats.org/officeDocument/2006/relationships/notesSlide" Target="../notesSlides/notesSlide1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33beb340747244ac" Type="http://schemas.openxmlformats.org/officeDocument/2006/relationships/notesSlide" Target="../notesSlides/notesSlide20.xml"/><Relationship Id="Rb6d2b06b66264f18"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c779884c4004931" Type="http://schemas.openxmlformats.org/officeDocument/2006/relationships/image" Target="../media/image8.png"/><Relationship Id="R685e833d95464a54" Type="http://schemas.openxmlformats.org/officeDocument/2006/relationships/notesSlide" Target="../notesSlides/notesSlide21.xml"/><Relationship Id="Rf61fb32876c4485c"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5e175781f8174f78" Type="http://schemas.openxmlformats.org/officeDocument/2006/relationships/slideLayout" Target="../slideLayouts/slideLayout1.xml"/><Relationship Id="Re4d46d810f53416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e1528b53c9e4eef" Type="http://schemas.openxmlformats.org/officeDocument/2006/relationships/slideLayout" Target="../slideLayouts/slideLayout1.xml"/><Relationship Id="R95658c919bdf4d6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a43d242820da4a2e" Type="http://schemas.openxmlformats.org/officeDocument/2006/relationships/notesSlide" Target="../notesSlides/notesSlide24.xml"/><Relationship Id="Rf25573a49a73402f"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668d903d47d94387" Type="http://schemas.openxmlformats.org/officeDocument/2006/relationships/slideLayout" Target="../slideLayouts/slideLayout1.xml"/><Relationship Id="Rc3edc59d963840f4" Type="http://schemas.openxmlformats.org/officeDocument/2006/relationships/notesSlide" Target="../notesSlides/notesSlide25.xml"/><Relationship Id="rId3" Type="http://schemas.openxmlformats.org/officeDocument/2006/relationships/image" Target="../media/image6.png"/></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Motivation</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LPSCl: lithium argyrodite solid electrolyte  ·  Bulk: interior crystal response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Interface: reaction zone between electrolyte and electrode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One modification can move several failure modes at once</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Oxidation, Li motion, mechanics, and interface reactions answer different questions.</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single score can hide a gain on one axis and a loss—or missing evidence—on another.</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et al. · Sundar et al.</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pic xmlns:a="http://schemas.openxmlformats.org/drawingml/2006/main" xmlns:r="http://schemas.openxmlformats.org/officeDocument/2006/relationships">
        <p:nvPicPr>
          <p:cNvPr id="35" name="Picture 34" descr="fig_16.png"/>
          <p:cNvPicPr>
            <a:picLocks noChangeAspect="1"/>
          </p:cNvPicPr>
          <p:nvPr/>
        </p:nvPicPr>
        <p:blipFill>
          <a:blip r:embed="rId3"/>
          <a:stretch>
            <a:fillRect/>
          </a:stretch>
        </p:blipFill>
        <p:spPr>
          <a:xfrm>
            <a:off x="502920" y="2616104"/>
            <a:ext cx="8138160" cy="2905951"/>
          </a:xfrm>
          <a:prstGeom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Kang et al., Chem. Commun. (2026), Fig. 16 — literature map of coupled failure modes. Green boxes are the three mitigation levers; this work takes the middle one (SE doping). Not our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Literature</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Sequential screening: cheap filters first  ·  Fidelity ladder: static model → dynamics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Transferable lesson: workflow architecture, not numerical cutoffs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Previous studies separate broad screening from expensive validation</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narrows a large coating space with sequential physical filters.</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raises fidelity from structural descriptors to pinball and first-principles MD.</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et al., Joule 2019 · Kahle et al., PR Materials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4747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474720"/>
          </a:xfrm>
          <a:prstGeom xmlns:a="http://schemas.openxmlformats.org/drawingml/2006/main" prst="rect">
            <a:avLst/>
          </a:prstGeom>
        </p:spPr>
      </p:pic>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Xiao et al., Joule 3 (2019) 1252, Fig. 1.   Right: Kahle, Marcolongo &amp; Marzari, Energy Environ. Sci. 13 (2020) 928, Fig. 1.   Both reduce a broad space before spending on accurate methods.</a:t>
            </a:r>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Design principle</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Screen: reduce a broad search space  ·  Validate: change the method and evidence level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choose the next calculation using uncertainty and diversity</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We borrowed a cost-allocation rule—not a universal scoring rule</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Chemistry, structure, transport, thermodynamics, and interfaces stay as separate evidence streams.</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cheap result may prioritize the queue; it does not certify the final materials claim.</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 Kahle · Sundar · Sendek</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pic xmlns:a="http://schemas.openxmlformats.org/drawingml/2006/main" xmlns:r="http://schemas.openxmlformats.org/officeDocument/2006/relationships">
        <p:nvPicPr>
          <p:cNvPr id="38" name="Picture 37" descr="fig_1.png"/>
          <p:cNvPicPr>
            <a:picLocks noChangeAspect="1"/>
          </p:cNvPicPr>
          <p:nvPr/>
        </p:nvPicPr>
        <p:blipFill>
          <a:blip r:embed="rId3"/>
          <a:stretch>
            <a:fillRect/>
          </a:stretch>
        </p:blipFill>
        <p:spPr>
          <a:xfrm>
            <a:off x="1044036" y="2304288"/>
            <a:ext cx="7055926" cy="3529584"/>
          </a:xfrm>
          <a:prstGeom prst="rect">
            <a:avLst/>
          </a:prstGeom>
        </p:spPr>
      </p:pic>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et al., Energy Environ. Sci. 10 (2017) 306, Fig. 1 — physical gates first, then a data model trained on 40 measured conductors. We borrow the cost-allocation order, not the thresholds.</a:t>
            </a:r>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 candidate space</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slot: one planned workflow execution  ·  Chemistry: one compound label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Campaign label: x002 / x005 / x010 directory name; not a verified concentration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91 chemistries across seven compound families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Oxides 37 · chlorides 19 · sulfides 10 · fluorides 10 · bromides 5 · nitrides 5 · iodides 4.</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36 cation elements — 32 also appear in the LLZO experimental dopant survey.</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master_batch_273.sh · cascade_label_scatter_audit.json</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pic xmlns:a="http://schemas.openxmlformats.org/drawingml/2006/main" xmlns:r="http://schemas.openxmlformats.org/officeDocument/2006/relationships">
        <p:nvPicPr>
          <p:cNvPr id="24" name="Picture 23" descr="cascade_v23_ptable.png"/>
          <p:cNvPicPr>
            <a:picLocks noChangeAspect="1"/>
          </p:cNvPicPr>
          <p:nvPr/>
        </p:nvPicPr>
        <p:blipFill>
          <a:blip r:embed="rId3"/>
          <a:stretch>
            <a:fillRect/>
          </a:stretch>
        </p:blipFill>
        <p:spPr>
          <a:xfrm>
            <a:off x="1020137" y="2304288"/>
            <a:ext cx="7103725" cy="3529584"/>
          </a:xfrm>
          <a:prstGeom prst="rect">
            <a:avLst/>
          </a:prstGeom>
        </p:spPr>
      </p:pic>
      <p:sp xmlns:a="http://schemas.openxmlformats.org/drawingml/2006/main">
        <p:nvSpPr>
          <p:cNvPr id="25" name="TextBox 2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roster on the periodic table. ⚠ Colour is the 2026-06-29 composite snapshot, NOT an approved ranking — read the block structure (late transition metals sit together), not the order.</a:t>
            </a:r>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1 — Dopant sites</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Preflight: check environment before production  ·  Provenance: record how a run was made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identity: host + roster + model + output path + version</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Where can the dopant sit, and what pays for the charge?</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Li, P, S and Cl sublattices are distinct — an oxide needs a cation site and an anion site.</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Aliovalent substitution adds or removes Li, and more than one recipe balances the charge.</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00 · execution lineage reconstructed from archived code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pic xmlns:a="http://schemas.openxmlformats.org/drawingml/2006/main" xmlns:r="http://schemas.openxmlformats.org/officeDocument/2006/relationships">
        <p:nvPicPr>
          <p:cNvPr id="33" name="Picture 32" descr="site_pref_vs_radius.png"/>
          <p:cNvPicPr>
            <a:picLocks noChangeAspect="1"/>
          </p:cNvPicPr>
          <p:nvPr/>
        </p:nvPicPr>
        <p:blipFill>
          <a:blip r:embed="rId3"/>
          <a:stretch>
            <a:fillRect/>
          </a:stretch>
        </p:blipFill>
        <p:spPr>
          <a:xfrm>
            <a:off x="1924812" y="2304288"/>
            <a:ext cx="5294376" cy="3529584"/>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which sublattice a dopant prefers, against its ionic radius (UMA antisite swap). Large cations go to Li sites; group-14 M⁴⁺ substitute P. Bars are the min–max over the three run labels.</a:t>
            </a:r>
          </a:p>
        </p:txBody>
      </p:sp>
    </p:spTree>
    <p:extLst>
      <p:ext uri="{BB962C8B-B14F-4D97-AF65-F5344CB8AC3E}">
        <p14:creationId xmlns:p14="http://schemas.microsoft.com/office/powerpoint/2010/main" val="8475215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1950" b="1">
                <a:solidFill>
                  <a:srgbClr val="1F4E79"/>
                </a:solidFill>
                <a:latin typeface="Arial"/>
                <a:ea typeface="Arial"/>
                <a:cs typeface="Arial"/>
              </a:rPr>
              <a:t>STEP 2 — Configurations</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atom counts in the simulated cell  ·  Site: substituted sublattice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Charge compensation: Li vacancy/interstitial or anion change used to balance the recipe</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500">
                <a:solidFill>
                  <a:srgbClr val="1F2937"/>
                </a:solidFill>
                <a:latin typeface="Arial"/>
                <a:ea typeface="Arial"/>
                <a:cs typeface="Arial"/>
              </a:rPr>
              <a:t>A dopant name becomes meaningful only after formula, site, and configuration are fixed</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Candidate structures are generated across allowed Li/P and S/Cl sublattices with charge compensation.</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dopant label can represent a different exact material when the selected site changes.</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01 · substitute_compound.py lineage</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pic xmlns:a="http://schemas.openxmlformats.org/drawingml/2006/main" xmlns:r="http://schemas.openxmlformats.org/officeDocument/2006/relationships">
        <p:nvPicPr>
          <p:cNvPr id="31" name="Picture 30" descr="cascade_v23_anionsite.png"/>
          <p:cNvPicPr>
            <a:picLocks noChangeAspect="1"/>
          </p:cNvPicPr>
          <p:nvPr/>
        </p:nvPicPr>
        <p:blipFill>
          <a:blip r:embed="rId3"/>
          <a:stretch>
            <a:fillRect/>
          </a:stretch>
        </p:blipFill>
        <p:spPr>
          <a:xfrm>
            <a:off x="502920" y="2455699"/>
            <a:ext cx="8138160" cy="3226760"/>
          </a:xfrm>
          <a:prstGeom prst="rect">
            <a:avLst/>
          </a:prstGeom>
        </p:spPr>
      </p:pic>
      <p:sp xmlns:a="http://schemas.openxmlformats.org/drawingml/2006/main">
        <p:nvSpPr>
          <p:cNvPr id="32" name="TextBox 3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where the dopant anion ends up across the campaign (left), and whether O prefers the PS₄ corner (right). The site is an outcome of the generator, not an input we controlled.</a:t>
            </a:r>
          </a:p>
        </p:txBody>
      </p:sp>
    </p:spTree>
    <p:extLst>
      <p:ext uri="{BB962C8B-B14F-4D97-AF65-F5344CB8AC3E}">
        <p14:creationId xmlns:p14="http://schemas.microsoft.com/office/powerpoint/2010/main" val="1291255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1950" b="1">
                <a:solidFill>
                  <a:srgbClr val="1F4E79"/>
                </a:solidFill>
                <a:latin typeface="Arial"/>
                <a:ea typeface="Arial"/>
                <a:cs typeface="Arial"/>
              </a:rPr>
              <a:t>STEP 3 — Fast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MLIP: machine-learned interatomic potential  ·  Relaxation: reduce forces and stress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Relative screen energy: comparable only inside the same UMA protocol</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UMA to remove obviously poor structures before expensive calculations</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generated structure is relaxed and checked for convergence, distortion, and relative energy.</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output is a screening result—not DFT formation energy or convex-hull stability.</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02 · UMA-s-1p1 / omat</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pic xmlns:a="http://schemas.openxmlformats.org/drawingml/2006/main" xmlns:r="http://schemas.openxmlformats.org/officeDocument/2006/relationships">
        <p:nvPicPr>
          <p:cNvPr id="39" name="Picture 38" descr="cascade_v23_overview.png"/>
          <p:cNvPicPr>
            <a:picLocks noChangeAspect="1"/>
          </p:cNvPicPr>
          <p:nvPr/>
        </p:nvPicPr>
        <p:blipFill>
          <a:blip r:embed="rId3"/>
          <a:stretch>
            <a:fillRect/>
          </a:stretch>
        </p:blipFill>
        <p:spPr>
          <a:xfrm>
            <a:off x="1874222" y="2304288"/>
            <a:ext cx="5395555" cy="3529584"/>
          </a:xfrm>
          <a:prstGeom prst="rect">
            <a:avLst/>
          </a:prstGeom>
        </p:spPr>
      </p:pic>
      <p:sp xmlns:a="http://schemas.openxmlformats.org/drawingml/2006/main">
        <p:nvSpPr>
          <p:cNvPr id="40" name="TextBox 3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stiffness and equation-of-state fit quality across the campaign. ⚠ Energies are MLIP-relative within one convention — not formation energies, not hull distances.</a:t>
            </a:r>
          </a:p>
        </p:txBody>
      </p:sp>
    </p:spTree>
    <p:extLst>
      <p:ext uri="{BB962C8B-B14F-4D97-AF65-F5344CB8AC3E}">
        <p14:creationId xmlns:p14="http://schemas.microsoft.com/office/powerpoint/2010/main" val="6330229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1950" b="1">
                <a:solidFill>
                  <a:srgbClr val="1F4E79"/>
                </a:solidFill>
                <a:latin typeface="Arial"/>
                <a:ea typeface="Arial"/>
                <a:cs typeface="Arial"/>
              </a:rPr>
              <a:t>STEP 4 — Representative</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one structure carried to the next stage  ·  Group: same recipe/site class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Selection pressure: advantage caused by having more generated candidates</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Select a representative configuration—not the best dopant</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Converged structures are grouped by recipe and site before a low-energy representative is chosen.</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Different candidate counts and seeds mean this selection is not a chemistry-wide ranking.</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03 · select_winners.py lineage</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pic xmlns:a="http://schemas.openxmlformats.org/drawingml/2006/main" xmlns:r="http://schemas.openxmlformats.org/officeDocument/2006/relationships">
        <p:nvPicPr>
          <p:cNvPr id="30" name="Picture 29" descr="cascade_v23_errorbars_panelA.png"/>
          <p:cNvPicPr>
            <a:picLocks noChangeAspect="1"/>
          </p:cNvPicPr>
          <p:nvPr/>
        </p:nvPicPr>
        <p:blipFill>
          <a:blip r:embed="rId3"/>
          <a:stretch>
            <a:fillRect/>
          </a:stretch>
        </p:blipFill>
        <p:spPr>
          <a:xfrm>
            <a:off x="2428799" y="2304288"/>
            <a:ext cx="4286401" cy="3529584"/>
          </a:xfrm>
          <a:prstGeom prst="rect">
            <a:avLst/>
          </a:prstGeom>
        </p:spPr>
      </p:pic>
      <p:sp xmlns:a="http://schemas.openxmlformats.org/drawingml/2006/main">
        <p:nvSpPr>
          <p:cNvPr id="31" name="TextBox 30"/>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with its run-to-run band. Where the band is wide, the number from any single configuration is not the species value — so picking a representative is a choice, not a result.</a:t>
            </a:r>
          </a:p>
        </p:txBody>
      </p:sp>
    </p:spTree>
    <p:extLst>
      <p:ext uri="{BB962C8B-B14F-4D97-AF65-F5344CB8AC3E}">
        <p14:creationId xmlns:p14="http://schemas.microsoft.com/office/powerpoint/2010/main" val="633022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025" b="1">
                <a:solidFill>
                  <a:srgbClr val="1F4E79"/>
                </a:solidFill>
                <a:latin typeface="Arial"/>
                <a:ea typeface="Arial"/>
                <a:cs typeface="Arial"/>
              </a:rPr>
              <a:t>STEP 5 — Thermal basin</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short finite-temperature perturbation  ·  Local basin: nearby energy minimum</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Post-relax: relax again after the thermal trajectory</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Check whether a selected structure survives a short thermal perturbation</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representative structure is briefly heated and then relaxed again.</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This tests local structural robustness; it is not a conductivity calculation.</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04 · short UMA-Langevin anneal</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sp xmlns:a="http://schemas.openxmlformats.org/drawingml/2006/main">
        <p:nvSpPr>
          <p:cNvPr id="39" name="TextBox 38"/>
          <p:cNvSpPr txBox="1"/>
          <p:nvPr/>
        </p:nvSpPr>
        <p:spPr>
          <a:xfrm>
            <a:off x="960120" y="4434840"/>
            <a:ext cx="7223760" cy="420624"/>
          </a:xfrm>
          <a:prstGeom prst="rect">
            <a:avLst/>
          </a:prstGeom>
          <a:noFill/>
        </p:spPr>
        <p:txBody>
          <a:bodyPr wrap="square">
            <a:spAutoFit/>
          </a:bodyPr>
          <a:lstStyle/>
          <a:p>
            <a:r>
              <a:rPr sz="1350" b="1">
                <a:solidFill>
                  <a:srgbClr val="1F2937"/>
                </a:solidFill>
                <a:latin typeface="Arial"/>
              </a:rPr>
              <a:t>Why it matters  </a:t>
            </a:r>
            <a:r>
              <a:rPr sz="1350">
                <a:solidFill>
                  <a:srgbClr val="374151"/>
                </a:solidFill>
                <a:latin typeface="Arial"/>
              </a:rPr>
              <a:t>bond lengths set everything measured next — Li pathways, stiffness.</a:t>
            </a:r>
          </a:p>
        </p:txBody>
      </p:sp>
      <p:sp xmlns:a="http://schemas.openxmlformats.org/drawingml/2006/main">
        <p:nvSpPr>
          <p:cNvPr id="40" name="TextBox 39"/>
          <p:cNvSpPr txBox="1"/>
          <p:nvPr/>
        </p:nvSpPr>
        <p:spPr>
          <a:xfrm>
            <a:off x="960120" y="4855464"/>
            <a:ext cx="7223760" cy="420624"/>
          </a:xfrm>
          <a:prstGeom prst="rect">
            <a:avLst/>
          </a:prstGeom>
          <a:noFill/>
        </p:spPr>
        <p:txBody>
          <a:bodyPr wrap="square">
            <a:spAutoFit/>
          </a:bodyPr>
          <a:lstStyle/>
          <a:p>
            <a:r>
              <a:rPr sz="1350" b="1">
                <a:solidFill>
                  <a:srgbClr val="1F2937"/>
                </a:solidFill>
                <a:latin typeface="Arial"/>
              </a:rPr>
              <a:t>What we ran  </a:t>
            </a:r>
            <a:r>
              <a:rPr sz="1350">
                <a:solidFill>
                  <a:srgbClr val="374151"/>
                </a:solidFill>
                <a:latin typeface="Arial"/>
              </a:rPr>
              <a:t>500 K for 50 ps, then relax again — affordable for the whole campaign.</a:t>
            </a:r>
          </a:p>
        </p:txBody>
      </p:sp>
      <p:sp xmlns:a="http://schemas.openxmlformats.org/drawingml/2006/main">
        <p:nvSpPr>
          <p:cNvPr id="41" name="TextBox 40"/>
          <p:cNvSpPr txBox="1"/>
          <p:nvPr/>
        </p:nvSpPr>
        <p:spPr>
          <a:xfrm>
            <a:off x="960120" y="5276088"/>
            <a:ext cx="7223760" cy="420624"/>
          </a:xfrm>
          <a:prstGeom prst="rect">
            <a:avLst/>
          </a:prstGeom>
          <a:noFill/>
        </p:spPr>
        <p:txBody>
          <a:bodyPr wrap="square">
            <a:spAutoFit/>
          </a:bodyPr>
          <a:lstStyle/>
          <a:p>
            <a:r>
              <a:rPr sz="1350" b="1">
                <a:solidFill>
                  <a:srgbClr val="1F2937"/>
                </a:solidFill>
                <a:latin typeface="Arial"/>
              </a:rPr>
              <a:t>What it is not  </a:t>
            </a:r>
            <a:r>
              <a:rPr sz="1350">
                <a:solidFill>
                  <a:srgbClr val="374151"/>
                </a:solidFill>
                <a:latin typeface="Arial"/>
              </a:rPr>
              <a:t>an equilibrium structure, and not a synthesis history.</a:t>
            </a:r>
          </a:p>
        </p:txBody>
      </p:sp>
      <p:sp xmlns:a="http://schemas.openxmlformats.org/drawingml/2006/main">
        <p:nvSpPr>
          <p:cNvPr id="42" name="TextBox 41"/>
          <p:cNvSpPr txBox="1"/>
          <p:nvPr/>
        </p:nvSpPr>
        <p:spPr>
          <a:xfrm>
            <a:off x="960120" y="2834640"/>
            <a:ext cx="7223760" cy="1371600"/>
          </a:xfrm>
          <a:prstGeom prst="rect">
            <a:avLst/>
          </a:prstGeom>
          <a:noFill/>
        </p:spPr>
        <p:txBody>
          <a:bodyPr wrap="square">
            <a:spAutoFit/>
          </a:bodyPr>
          <a:lstStyle/>
          <a:p>
            <a:pPr>
              <a:spcAft>
                <a:spcPts val="600"/>
              </a:spcAft>
            </a:pPr>
            <a:r>
              <a:rPr sz="1700">
                <a:solidFill>
                  <a:srgbClr val="1F2937"/>
                </a:solidFill>
                <a:latin typeface="Arial"/>
              </a:rPr>
              <a:t>A short anneal asks whether the chosen configuration survives being shaken.</a:t>
            </a:r>
          </a:p>
          <a:p>
            <a:pPr>
              <a:spcAft>
                <a:spcPts val="600"/>
              </a:spcAft>
            </a:pPr>
            <a:r>
              <a:rPr sz="1700">
                <a:solidFill>
                  <a:srgbClr val="1F2937"/>
                </a:solidFill>
                <a:latin typeface="Arial"/>
              </a:rPr>
              <a:t>It does not produce a diffusion coefficient or a room-temperature conductivity.</a:t>
            </a:r>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6 — Li pathways</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proxy: static coordination-based landscape  ·  4 Å fraction: nearby-Li geometry count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Static proxy ≠ diffusion coefficient, conductivity, or migration barrier</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static geometry to flag obvious pathway risks before MD</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annealed geometry is mapped onto a bond-valence landscape and a local 4 Å proximity metric.</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Both are inexpensive risk indicators; neither is a transport measurement.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05–06 · legacy BVS implementation</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xmlns:a="http://schemas.openxmlformats.org/drawingml/2006/main" xmlns:r="http://schemas.openxmlformats.org/officeDocument/2006/relationships">
        <p:nvPicPr>
          <p:cNvPr id="19" name="Picture 18" descr="bvse_channel_2p5d.png"/>
          <p:cNvPicPr>
            <a:picLocks noChangeAspect="1"/>
          </p:cNvPicPr>
          <p:nvPr/>
        </p:nvPicPr>
        <p:blipFill>
          <a:blip r:embed="rId4"/>
          <a:stretch>
            <a:fillRect/>
          </a:stretch>
        </p:blipFill>
        <p:spPr>
          <a:xfrm>
            <a:off x="1052166" y="2304288"/>
            <a:ext cx="7039667" cy="3529584"/>
          </a:xfrm>
          <a:prstGeom prst="rect">
            <a:avLst/>
          </a:prstGeom>
        </p:spPr>
      </p:pic>
      <p:sp xmlns:a="http://schemas.openxmlformats.org/drawingml/2006/main">
        <p:nvSpPr>
          <p:cNvPr id="20" name="TextBox 1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static bond-valence landscape a Li ion sees, undoped vs B₂O₃-doped. Valleys are low-energy regions, not verified channels — this is a risk indicator, not a conductivity.</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7 — Mechanics</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EOS: energy as cell volume changes  ·  Finite strain: stress response to small deformation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VRH: polycrystalline average of elastic moduli</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Estimate whether a relaxed structure has a plausible mechanical response</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Volume scans provide an EOS; small relaxed-ion strains provide elastic moduli.</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These MLIP values guide validation and should not be treated as final DFT measurements.</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07–08 · relaxed-ion finite strain</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5d023672e8d410a"/>
          <a:stretch xmlns:a="http://schemas.openxmlformats.org/drawingml/2006/main"/>
        </p:blipFill>
        <p:spPr>
          <a:xfrm xmlns:a="http://schemas.openxmlformats.org/drawingml/2006/main">
            <a:off x="857250" y="2327359"/>
            <a:ext cx="4953000" cy="3433361"/>
          </a:xfrm>
          <a:prstGeom xmlns:a="http://schemas.openxmlformats.org/drawingml/2006/main" prst="rect">
            <a:avLst/>
          </a:prstGeom>
        </p:spPr>
      </p:pic>
      <p:sp xmlns:a="http://schemas.openxmlformats.org/drawingml/2006/main">
        <p:nvSpPr>
          <p:cNvPr id="40" name="TextBox 3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one equation-of-state case checked against DFT. ⚠ This is a single-case check — the campaign-wide elastic numbers are MLIP values compared within one convention, not DFT-verified.</a:t>
            </a:r>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1725" b="1">
                <a:solidFill>
                  <a:srgbClr val="1F4E79"/>
                </a:solidFill>
                <a:latin typeface="Arial"/>
                <a:ea typeface="Arial"/>
                <a:cs typeface="Arial"/>
              </a:rPr>
              <a:t>STEP 8 — Oxidation window</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Convex hull: equilibrium reference at fixed composition  ·  Grand potential: stability under Li chemical potential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Phase roster: allowed competing phases used in the comparison</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Separate bulk decomposition questions from interface and kinetic questions</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Grand-potential calculations estimate oxidation onset and likely decomposition products.</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same-roster bulk comparison still does not predict passivation, adhesion, or reaction kinetics.</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09a–09f + external grand-potential batch</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32" name="Picture 31" descr="b2o3_esw_staircase.png"/>
          <p:cNvPicPr>
            <a:picLocks noChangeAspect="1"/>
          </p:cNvPicPr>
          <p:nvPr/>
        </p:nvPicPr>
        <p:blipFill>
          <a:blip r:embed="rId3"/>
          <a:stretch>
            <a:fillRect/>
          </a:stretch>
        </p:blipFill>
        <p:spPr>
          <a:xfrm>
            <a:off x="502920" y="2416300"/>
            <a:ext cx="8138160" cy="3305558"/>
          </a:xfrm>
          <a:prstGeom prst="rect">
            <a:avLst/>
          </a:prstGeom>
        </p:spPr>
      </p:pic>
      <p:sp xmlns:a="http://schemas.openxmlformats.org/drawingml/2006/main">
        <p:nvSpPr>
          <p:cNvPr id="33" name="TextBox 3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grand-potential stability window and the reaction at each step. 0 K bulk thermodynamics — it says decomposition is allowed, not how fast it happens or whether it passivates.</a:t>
            </a:r>
          </a:p>
        </p:txBody>
      </p:sp>
    </p:spTree>
    <p:extLst>
      <p:ext uri="{BB962C8B-B14F-4D97-AF65-F5344CB8AC3E}">
        <p14:creationId xmlns:p14="http://schemas.microsoft.com/office/powerpoint/2010/main" val="5822065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1800" b="1">
                <a:solidFill>
                  <a:srgbClr val="1F4E79"/>
                </a:solidFill>
                <a:latin typeface="Arial"/>
                <a:ea typeface="Arial"/>
                <a:cs typeface="Arial"/>
              </a:rPr>
              <a:t>STEP 9 — Validation queue</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Validation queue: ordered list of the next expensive checks  ·  Acquisition: choose the next label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Promotion: move a question to a higher-fidelity method</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final product of screening is a validation queue—not an automatic winner</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Exact formula, site, method, and uncertainty travel with every promoted structure.</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Matched DFT, multiseed MD, interface calculations, and experiments decide the claim.</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10–12b + planned high-fidelity loop</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pic xmlns:a="http://schemas.openxmlformats.org/drawingml/2006/main" xmlns:r="http://schemas.openxmlformats.org/officeDocument/2006/relationships">
        <p:nvPicPr>
          <p:cNvPr id="33" name="Picture 32" descr="cascade_v23_esw.png"/>
          <p:cNvPicPr>
            <a:picLocks noChangeAspect="1"/>
          </p:cNvPicPr>
          <p:nvPr/>
        </p:nvPicPr>
        <p:blipFill>
          <a:blip r:embed="rId3"/>
          <a:stretch>
            <a:fillRect/>
          </a:stretch>
        </p:blipFill>
        <p:spPr>
          <a:xfrm>
            <a:off x="2032317" y="2304287"/>
            <a:ext cx="5079365" cy="3529584"/>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oxidation window per dopant (left) and onset grouped by cation chemistry (right). Red × marks a collapsed window — the late transition metals fail together, which is a chemical pattern, not a ranking.</a:t>
            </a:r>
          </a:p>
        </p:txBody>
      </p:sp>
    </p:spTree>
    <p:extLst>
      <p:ext uri="{BB962C8B-B14F-4D97-AF65-F5344CB8AC3E}">
        <p14:creationId xmlns:p14="http://schemas.microsoft.com/office/powerpoint/2010/main" val="6330229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Evidence map</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file-backed output exists  ·  Not computed: no enabled production result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Prepared input ≠ completed calculation</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425">
                <a:solidFill>
                  <a:srgbClr val="1F2937"/>
                </a:solidFill>
                <a:latin typeface="Arial"/>
                <a:ea typeface="Arial"/>
                <a:cs typeface="Arial"/>
              </a:rPr>
              <a:t>The screen is broad in structures—but narrow in high-fidelity transport and interface evidence</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 relaxation, short anneal, static proxies, mechanics, and bulk oxidation records exist.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Long multiseed conductivity MD, explicit W_ad, and matched full-pool DFT were not completed in v23.</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 pipeline anatomy · recovered run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sp xmlns:a="http://schemas.openxmlformats.org/drawingml/2006/main">
        <p:nvSpPr>
          <p:cNvPr id="25" name="TextBox 24"/>
          <p:cNvSpPr txBox="1"/>
          <p:nvPr/>
        </p:nvSpPr>
        <p:spPr>
          <a:xfrm>
            <a:off x="960120" y="2697480"/>
            <a:ext cx="7223760" cy="1051560"/>
          </a:xfrm>
          <a:prstGeom prst="rect">
            <a:avLst/>
          </a:prstGeom>
          <a:noFill/>
        </p:spPr>
        <p:txBody>
          <a:bodyPr wrap="square">
            <a:spAutoFit/>
          </a:bodyPr>
          <a:lstStyle/>
          <a:p>
            <a:r>
              <a:rPr sz="1350" b="1">
                <a:solidFill>
                  <a:srgbClr val="1F2937"/>
                </a:solidFill>
                <a:latin typeface="Arial"/>
              </a:rPr>
              <a:t>COMPUTED  </a:t>
            </a:r>
            <a:r>
              <a:rPr sz="1350">
                <a:solidFill>
                  <a:srgbClr val="374151"/>
                </a:solidFill>
                <a:latin typeface="Arial"/>
              </a:rPr>
              <a:t>generated structures · UMA relaxation · representative configurations · short anneal · static Li-path proxies · MLIP equation of state and elastic tensor · bulk grand-potential oxidation</a:t>
            </a:r>
          </a:p>
        </p:txBody>
      </p:sp>
      <p:sp xmlns:a="http://schemas.openxmlformats.org/drawingml/2006/main">
        <p:nvSpPr>
          <p:cNvPr id="26" name="TextBox 25"/>
          <p:cNvSpPr txBox="1"/>
          <p:nvPr/>
        </p:nvSpPr>
        <p:spPr>
          <a:xfrm>
            <a:off x="960120" y="3749039"/>
            <a:ext cx="7223760" cy="1051560"/>
          </a:xfrm>
          <a:prstGeom prst="rect">
            <a:avLst/>
          </a:prstGeom>
          <a:noFill/>
        </p:spPr>
        <p:txBody>
          <a:bodyPr wrap="square">
            <a:spAutoFit/>
          </a:bodyPr>
          <a:lstStyle/>
          <a:p>
            <a:r>
              <a:rPr sz="1350" b="1">
                <a:solidFill>
                  <a:srgbClr val="1F2937"/>
                </a:solidFill>
                <a:latin typeface="Arial"/>
              </a:rPr>
              <a:t>NOT COMPLETED  </a:t>
            </a:r>
            <a:r>
              <a:rPr sz="1350">
                <a:solidFill>
                  <a:srgbClr val="374151"/>
                </a:solidFill>
                <a:latin typeface="Arial"/>
              </a:rPr>
              <a:t>real concentration series · same-site multiseed ensembles · canonical softBV for all · long multiseed conductivity MD · explicit relaxed interfaces and adhesion · DFT-matched validation</a:t>
            </a:r>
          </a:p>
        </p:txBody>
      </p:sp>
      <p:sp xmlns:a="http://schemas.openxmlformats.org/drawingml/2006/main">
        <p:nvSpPr>
          <p:cNvPr id="27" name="TextBox 26"/>
          <p:cNvSpPr txBox="1"/>
          <p:nvPr/>
        </p:nvSpPr>
        <p:spPr>
          <a:xfrm>
            <a:off x="960120" y="4892040"/>
            <a:ext cx="7223760" cy="1371600"/>
          </a:xfrm>
          <a:prstGeom prst="rect">
            <a:avLst/>
          </a:prstGeom>
          <a:noFill/>
        </p:spPr>
        <p:txBody>
          <a:bodyPr wrap="square">
            <a:spAutoFit/>
          </a:bodyPr>
          <a:lstStyle/>
          <a:p>
            <a:pPr>
              <a:spcAft>
                <a:spcPts val="600"/>
              </a:spcAft>
            </a:pPr>
            <a:r>
              <a:rPr sz="1800">
                <a:solidFill>
                  <a:srgbClr val="1F2937"/>
                </a:solidFill>
                <a:latin typeface="Arial"/>
              </a:rPr>
              <a:t>A missing calculation stays missing.</a:t>
            </a:r>
          </a:p>
          <a:p>
            <a:pPr>
              <a:spcAft>
                <a:spcPts val="600"/>
              </a:spcAft>
            </a:pPr>
            <a:r>
              <a:rPr sz="1800">
                <a:solidFill>
                  <a:srgbClr val="1F2937"/>
                </a:solidFill>
                <a:latin typeface="Arial"/>
              </a:rPr>
              <a:t>A proxy does not fill its place.</a:t>
            </a:r>
          </a:p>
        </p:txBody>
      </p:sp>
    </p:spTree>
    <p:extLst>
      <p:ext uri="{BB962C8B-B14F-4D97-AF65-F5344CB8AC3E}">
        <p14:creationId xmlns:p14="http://schemas.microsoft.com/office/powerpoint/2010/main" val="596656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1 — Identity</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composition: atom counts in one simulated cell  ·  Configuration: site + arrangement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same estimand repeated under controlled conditions</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dopant name alone did not define a controlled comparison</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59 / 90 species kept the same exact formula across the three labels; 31 / 90 did not.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So the label-to-label spread mixes site physics, different formulas and local minima.</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cascade_label_scatter_audit.json · audit_label_scatter.py</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pic xmlns:a="http://schemas.openxmlformats.org/drawingml/2006/main" xmlns:r="http://schemas.openxmlformats.org/officeDocument/2006/relationships">
        <p:nvPicPr>
          <p:cNvPr id="26" name="Picture 25" descr="label_spread_E_young.png"/>
          <p:cNvPicPr>
            <a:picLocks noChangeAspect="1"/>
          </p:cNvPicPr>
          <p:nvPr/>
        </p:nvPicPr>
        <p:blipFill>
          <a:blip r:embed="rId3"/>
          <a:stretch>
            <a:fillRect/>
          </a:stretch>
        </p:blipFill>
        <p:spPr>
          <a:xfrm>
            <a:off x="502920" y="2367464"/>
            <a:ext cx="8138160" cy="3403230"/>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three run labels of a single species (grey bar) scatter as widely as different species do. 59 of 90 species kept the same exact formula across labels; 31 did not. Same name ≠ same material.</a:t>
            </a:r>
          </a:p>
        </p:txBody>
      </p:sp>
    </p:spTree>
    <p:extLst>
      <p:ext uri="{BB962C8B-B14F-4D97-AF65-F5344CB8AC3E}">
        <p14:creationId xmlns:p14="http://schemas.microsoft.com/office/powerpoint/2010/main" val="19244058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2 — Oxidation</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S-pinned oxidation: valence-edge / reaction branch dominated by sulfur chemistry</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Interface-specific: the same modifier can react differently at different contacts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Oxidation shifts are conditional, not a property of the element</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Cl alone does not move the onset; with a dopant already present it moves by up to +0.28 V.</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dopant on the same site shifts up or down depending on the charge recipe.</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et al., Fig. 4 · Sundar et al., Fig. 2</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pic xmlns:a="http://schemas.openxmlformats.org/drawingml/2006/main" xmlns:r="http://schemas.openxmlformats.org/officeDocument/2006/relationships">
        <p:nvPicPr>
          <p:cNvPr id="21" name="Picture 20" descr="image.png"/>
          <p:cNvPicPr>
            <a:picLocks noChangeAspect="1"/>
          </p:cNvPicPr>
          <p:nvPr/>
        </p:nvPicPr>
        <p:blipFill>
          <a:blip r:embed="R17e897009f404d13"/>
          <a:stretch>
            <a:fillRect/>
          </a:stretch>
        </p:blipFill>
        <p:spPr>
          <a:xfrm>
            <a:off x="502920" y="2667054"/>
            <a:ext cx="3968496" cy="2804050"/>
          </a:xfrm>
          <a:prstGeom prst="rect">
            <a:avLst/>
          </a:prstGeom>
        </p:spPr>
      </p:pic>
      <p:pic xmlns:a="http://schemas.openxmlformats.org/drawingml/2006/main" xmlns:r="http://schemas.openxmlformats.org/officeDocument/2006/relationships">
        <p:nvPicPr>
          <p:cNvPr id="22" name="Picture 21" descr="cascade_oxidation_vs_banik.png"/>
          <p:cNvPicPr>
            <a:picLocks noChangeAspect="1"/>
          </p:cNvPicPr>
          <p:nvPr/>
        </p:nvPicPr>
        <p:blipFill>
          <a:blip r:embed="rId5"/>
          <a:stretch>
            <a:fillRect/>
          </a:stretch>
        </p:blipFill>
        <p:spPr>
          <a:xfrm>
            <a:off x="5301756" y="2304287"/>
            <a:ext cx="2710151" cy="3529584"/>
          </a:xfrm>
          <a:prstGeom prst="rect">
            <a:avLst/>
          </a:prstGeom>
        </p:spPr>
      </p:pic>
      <p:sp xmlns:a="http://schemas.openxmlformats.org/drawingml/2006/main">
        <p:nvSpPr>
          <p:cNvPr id="23" name="TextBox 2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Banik et al. (2022), Fig. 4 — the valence-band edge of Li₆PS₅Cl is sulfur, so sulfur is oxidised first. Right: our onsets against that thesis. Most sit pinned at the host value; the exceptions are not yet attributable to an element.</a:t>
            </a:r>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Next model</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Nested design: formula → site → seed  ·  Boundary case: near a decision threshold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High fidelity: matched DFT / multiseed MD / explicit interface</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next campaign should improve control before it increases scale</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Build realistic low-loading structures in larger cells, with exact formula and site identity frozen.</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Keep physical axes separate; send only uncertain or boundary cases to expensive validation.</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Design-audit recommendations · project canonical protocols</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pic xmlns:a="http://schemas.openxmlformats.org/drawingml/2006/main" xmlns:r="http://schemas.openxmlformats.org/officeDocument/2006/relationships">
        <p:nvPicPr>
          <p:cNvPr id="43" name="Picture 42" descr="image.png"/>
          <p:cNvPicPr>
            <a:picLocks noChangeAspect="1"/>
          </p:cNvPicPr>
          <p:nvPr/>
        </p:nvPicPr>
        <p:blipFill>
          <a:blip r:embed="rId3"/>
          <a:stretch>
            <a:fillRect/>
          </a:stretch>
        </p:blipFill>
        <p:spPr>
          <a:xfrm>
            <a:off x="502920" y="2608384"/>
            <a:ext cx="8138160" cy="2921390"/>
          </a:xfrm>
          <a:prstGeom prst="rect">
            <a:avLst/>
          </a:prstGeom>
        </p:spPr>
      </p:pic>
      <p:sp xmlns:a="http://schemas.openxmlformats.org/drawingml/2006/main">
        <p:nvSpPr>
          <p:cNvPr id="44" name="TextBox 4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framework, Li percolation path and bond-valence channel in the undoped host. The next campaign fixes formula and site on this footing, then repeats seeds inside that fixed design.</a:t>
            </a:r>
          </a:p>
        </p:txBody>
      </p:sp>
    </p:spTree>
    <p:extLst>
      <p:ext uri="{BB962C8B-B14F-4D97-AF65-F5344CB8AC3E}">
        <p14:creationId xmlns:p14="http://schemas.microsoft.com/office/powerpoint/2010/main" val="176524132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ML &amp; co-doping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region supported by training data  ·  Acquisition: select the next calculation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Explicit pair label: property computed for an actual co-modified structure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ML to schedule evidence—not to manufacture a winner</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Current data can rank questions inside a predefined list, but it does not validate new-chemistry property prediction.</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first co-modified labels must use matched single-modifier controls in the same cell, site, and seed design.</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et al., Fig. 4 · current pair-label inventory</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502920" y="2752922"/>
            <a:ext cx="3968496" cy="2632314"/>
          </a:xfrm>
          <a:prstGeom xmlns:a="http://schemas.openxmlformats.org/drawingml/2006/main" prst="rect">
            <a:avLst/>
          </a:prstGeom>
        </p:spPr>
      </p:pic>
      <p:pic xmlns:a="http://schemas.openxmlformats.org/drawingml/2006/main" xmlns:r="http://schemas.openxmlformats.org/officeDocument/2006/relationships">
        <p:nvPicPr>
          <p:cNvPr id="37" name="Picture 36" descr="fig_7.png"/>
          <p:cNvPicPr>
            <a:picLocks noChangeAspect="1"/>
          </p:cNvPicPr>
          <p:nvPr/>
        </p:nvPicPr>
        <p:blipFill>
          <a:blip r:embed="rId4"/>
          <a:stretch>
            <a:fillRect/>
          </a:stretch>
        </p:blipFill>
        <p:spPr>
          <a:xfrm>
            <a:off x="4672583" y="2710755"/>
            <a:ext cx="3968496" cy="2716649"/>
          </a:xfrm>
          <a:prstGeom prst="rect">
            <a:avLst/>
          </a:prstGeom>
        </p:spPr>
      </p:pic>
      <p:sp xmlns:a="http://schemas.openxmlformats.org/drawingml/2006/main">
        <p:nvSpPr>
          <p:cNvPr id="38" name="TextBox 37"/>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Sendek et al. (2017), Fig. 4 — read the training-domain distance on the x-axis, not only the probability. Right: Xiao et al. (2019), Fig. 7 — more Li lowers the oxidation limit; stability and transport pull against each other.</a:t>
            </a:r>
          </a:p>
        </p:txBody>
      </p:sp>
    </p:spTree>
    <p:extLst>
      <p:ext uri="{BB962C8B-B14F-4D97-AF65-F5344CB8AC3E}">
        <p14:creationId xmlns:p14="http://schemas.microsoft.com/office/powerpoint/2010/main" val="19244058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candidate: performance survives configuration uncertainty  ·  Validation budget: limited expensive calculations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Screening success: the next experiment becomes clearer</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350">
                <a:solidFill>
                  <a:srgbClr val="1F2937"/>
                </a:solidFill>
                <a:latin typeface="Arial"/>
                <a:ea typeface="Arial"/>
                <a:cs typeface="Arial"/>
              </a:rPr>
              <a:t>A good screen does not merely remove candidates—it makes the next validation decision explicit</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campaign recovered broad chemical and structural information, but configuration control remains the main limitation.</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next decision is which matched, expensive calculation will reduce uncertainty the most.</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Take-home discussion</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sp xmlns:a="http://schemas.openxmlformats.org/drawingml/2006/main">
        <p:nvSpPr>
          <p:cNvPr id="29" name="TextBox 28"/>
          <p:cNvSpPr txBox="1"/>
          <p:nvPr/>
        </p:nvSpPr>
        <p:spPr>
          <a:xfrm>
            <a:off x="960120" y="2697480"/>
            <a:ext cx="7223760" cy="713232"/>
          </a:xfrm>
          <a:prstGeom prst="rect">
            <a:avLst/>
          </a:prstGeom>
          <a:noFill/>
        </p:spPr>
        <p:txBody>
          <a:bodyPr wrap="square">
            <a:spAutoFit/>
          </a:bodyPr>
          <a:lstStyle/>
          <a:p>
            <a:r>
              <a:rPr sz="1400" b="1">
                <a:solidFill>
                  <a:srgbClr val="1F2937"/>
                </a:solidFill>
                <a:latin typeface="Arial"/>
              </a:rPr>
              <a:t>1. What should be calculated first?  </a:t>
            </a:r>
            <a:r>
              <a:rPr sz="1400">
                <a:solidFill>
                  <a:srgbClr val="374151"/>
                </a:solidFill>
                <a:latin typeface="Arial"/>
              </a:rPr>
              <a:t>Realistic low-loading multiseed MD, or an explicit cathode / electrolyte interface?</a:t>
            </a:r>
          </a:p>
        </p:txBody>
      </p:sp>
      <p:sp xmlns:a="http://schemas.openxmlformats.org/drawingml/2006/main">
        <p:nvSpPr>
          <p:cNvPr id="30" name="TextBox 29"/>
          <p:cNvSpPr txBox="1"/>
          <p:nvPr/>
        </p:nvSpPr>
        <p:spPr>
          <a:xfrm>
            <a:off x="960120" y="3410712"/>
            <a:ext cx="7223760" cy="713232"/>
          </a:xfrm>
          <a:prstGeom prst="rect">
            <a:avLst/>
          </a:prstGeom>
          <a:noFill/>
        </p:spPr>
        <p:txBody>
          <a:bodyPr wrap="square">
            <a:spAutoFit/>
          </a:bodyPr>
          <a:lstStyle/>
          <a:p>
            <a:r>
              <a:rPr sz="1400" b="1">
                <a:solidFill>
                  <a:srgbClr val="1F2937"/>
                </a:solidFill>
                <a:latin typeface="Arial"/>
              </a:rPr>
              <a:t>2. What does “best” mean?  </a:t>
            </a:r>
            <a:r>
              <a:rPr sz="1400">
                <a:solidFill>
                  <a:srgbClr val="374151"/>
                </a:solidFill>
                <a:latin typeface="Arial"/>
              </a:rPr>
              <a:t>Best-case configuration, or robust performance across site and seed ensembles?</a:t>
            </a:r>
          </a:p>
        </p:txBody>
      </p:sp>
      <p:sp xmlns:a="http://schemas.openxmlformats.org/drawingml/2006/main">
        <p:nvSpPr>
          <p:cNvPr id="31" name="TextBox 30"/>
          <p:cNvSpPr txBox="1"/>
          <p:nvPr/>
        </p:nvSpPr>
        <p:spPr>
          <a:xfrm>
            <a:off x="960120" y="4123944"/>
            <a:ext cx="7223760" cy="713232"/>
          </a:xfrm>
          <a:prstGeom prst="rect">
            <a:avLst/>
          </a:prstGeom>
          <a:noFill/>
        </p:spPr>
        <p:txBody>
          <a:bodyPr wrap="square">
            <a:spAutoFit/>
          </a:bodyPr>
          <a:lstStyle/>
          <a:p>
            <a:r>
              <a:rPr sz="1400" b="1">
                <a:solidFill>
                  <a:srgbClr val="1F2937"/>
                </a:solidFill>
                <a:latin typeface="Arial"/>
              </a:rPr>
              <a:t>3. How much repetition is enough?  </a:t>
            </a:r>
            <a:r>
              <a:rPr sz="1400">
                <a:solidFill>
                  <a:srgbClr val="374151"/>
                </a:solidFill>
                <a:latin typeface="Arial"/>
              </a:rPr>
              <a:t>How many seeds and sites before a chemistry is promoted?</a:t>
            </a:r>
          </a:p>
        </p:txBody>
      </p:sp>
      <p:sp xmlns:a="http://schemas.openxmlformats.org/drawingml/2006/main">
        <p:nvSpPr>
          <p:cNvPr id="32" name="TextBox 31"/>
          <p:cNvSpPr txBox="1"/>
          <p:nvPr/>
        </p:nvSpPr>
        <p:spPr>
          <a:xfrm>
            <a:off x="960120" y="4837176"/>
            <a:ext cx="7223760" cy="713232"/>
          </a:xfrm>
          <a:prstGeom prst="rect">
            <a:avLst/>
          </a:prstGeom>
          <a:noFill/>
        </p:spPr>
        <p:txBody>
          <a:bodyPr wrap="square">
            <a:spAutoFit/>
          </a:bodyPr>
          <a:lstStyle/>
          <a:p>
            <a:r>
              <a:rPr sz="1400" b="1">
                <a:solidFill>
                  <a:srgbClr val="1F2937"/>
                </a:solidFill>
                <a:latin typeface="Arial"/>
              </a:rPr>
              <a:t>4. Is a bulk-only screen worth handing to experiment?  </a:t>
            </a:r>
            <a:r>
              <a:rPr sz="1400">
                <a:solidFill>
                  <a:srgbClr val="374151"/>
                </a:solidFill>
                <a:latin typeface="Arial"/>
              </a:rPr>
              <a:t>Or must the interface be computed before anything is promoted?</a:t>
            </a:r>
          </a:p>
        </p:txBody>
      </p:sp>
      <p:sp xmlns:a="http://schemas.openxmlformats.org/drawingml/2006/main">
        <p:nvSpPr>
          <p:cNvPr id="33" name="TextBox 32"/>
          <p:cNvSpPr txBox="1"/>
          <p:nvPr/>
        </p:nvSpPr>
        <p:spPr>
          <a:xfrm>
            <a:off x="960120" y="5532120"/>
            <a:ext cx="7223760" cy="1371600"/>
          </a:xfrm>
          <a:prstGeom prst="rect">
            <a:avLst/>
          </a:prstGeom>
          <a:noFill/>
        </p:spPr>
        <p:txBody>
          <a:bodyPr wrap="square">
            <a:spAutoFit/>
          </a:bodyPr>
          <a:lstStyle/>
          <a:p>
            <a:pPr>
              <a:spcAft>
                <a:spcPts val="600"/>
              </a:spcAft>
            </a:pPr>
            <a:r>
              <a:rPr sz="1700">
                <a:solidFill>
                  <a:srgbClr val="1F2937"/>
                </a:solidFill>
                <a:latin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A1</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planned input denominator  ·  Family: compound class by dominant anion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The roster is not a shortlist or ranking</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planned chemistry space spans seven compound families</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91 planned chemistries: oxides, fluorides, chlorides, bromides, iodides, nitrides, and sulfides.</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periodic-table image is a literature layout precedent; it does not encode our LPSCl results.</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 Fig. 1 · project master roster</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Anderson et al., Adv. Energy Mater. 14 (2024) 2304025, Fig. 1 — the experimental counterpart in LLZO: 59 dopants actually synthesised and measured. Layout reference for our own periodic-table figure.</a:t>
            </a:r>
          </a:p>
        </p:txBody>
      </p:sp>
    </p:spTree>
    <p:extLst>
      <p:ext uri="{BB962C8B-B14F-4D97-AF65-F5344CB8AC3E}">
        <p14:creationId xmlns:p14="http://schemas.microsoft.com/office/powerpoint/2010/main" val="19244058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Planned input roster — not a shortlist  ·  Names are chemistry labels, not approved candidates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As₂S₃ was planned but its three run slots did not reach the active workflow endpoint</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Full 91-chemistry roster</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Compound names are grouped by family for denominator transparency.</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No order within a family represents performance.</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master_batch_273.sh roster</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sp>
        <p:nvSpPr>
          <p:cNvPr id="15" name="a2-title-cover">
            <a:extLst xmlns:a="http://schemas.openxmlformats.org/drawingml/2006/main">
              <a:ext uri="{FF2B5EF4-FFF2-40B4-BE49-F238E27FC236}">
                <a16:creationId xmlns:a16="http://schemas.microsoft.com/office/drawing/2014/main" id="{4255A7B0-E464-47E8-B81C-30838D48B413}"/>
              </a:ext>
            </a:extLst>
          </p:cNvPr>
          <p:cNvSpPr>
            <a:spLocks xmlns:a="http://schemas.openxmlformats.org/drawingml/2006/main" noGrp="1"/>
          </p:cNvSpPr>
          <p:nvPr/>
        </p:nvSpPr>
        <p:spPr>
          <a:xfrm xmlns:a="http://schemas.openxmlformats.org/drawingml/2006/main">
            <a:off x="457200" y="152400"/>
            <a:ext cx="314325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a2-title-repair">
            <a:extLst xmlns:a="http://schemas.openxmlformats.org/drawingml/2006/main">
              <a:ext uri="{FF2B5EF4-FFF2-40B4-BE49-F238E27FC236}">
                <a16:creationId xmlns:a16="http://schemas.microsoft.com/office/drawing/2014/main" id="{252C0E6E-C801-4ED2-A162-D6CBFFEEC64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17" name="a2-OXIDES · 37-h">
            <a:extLst xmlns:a="http://schemas.openxmlformats.org/drawingml/2006/main">
              <a:ext uri="{FF2B5EF4-FFF2-40B4-BE49-F238E27FC236}">
                <a16:creationId xmlns:a16="http://schemas.microsoft.com/office/drawing/2014/main" id="{4416274F-E41E-45F4-9224-E0512F2C075D}"/>
              </a:ext>
            </a:extLst>
          </p:cNvPr>
          <p:cNvSpPr>
            <a:spLocks xmlns:a="http://schemas.openxmlformats.org/drawingml/2006/main" noGrp="1"/>
          </p:cNvSpPr>
          <p:nvPr/>
        </p:nvSpPr>
        <p:spPr>
          <a:xfrm xmlns:a="http://schemas.openxmlformats.org/drawingml/2006/main">
            <a:off x="742950" y="238125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A61B2B"/>
                </a:solidFill>
                <a:latin typeface="Arial"/>
                <a:ea typeface="Arial"/>
                <a:cs typeface="Arial"/>
              </a:defRPr>
            </a:pPr>
            <a:r>
              <a:rPr sz="1050" b="1">
                <a:solidFill>
                  <a:srgbClr val="A61B2B"/>
                </a:solidFill>
                <a:latin typeface="Arial"/>
                <a:ea typeface="Arial"/>
                <a:cs typeface="Arial"/>
              </a:rPr>
              <a:t>OXIDES · 37</a:t>
            </a:r>
          </a:p>
        </p:txBody>
      </p:sp>
      <p:sp>
        <p:nvSpPr>
          <p:cNvPr id="18" name="a2-OXIDES · 37-b">
            <a:extLst xmlns:a="http://schemas.openxmlformats.org/drawingml/2006/main">
              <a:ext uri="{FF2B5EF4-FFF2-40B4-BE49-F238E27FC236}">
                <a16:creationId xmlns:a16="http://schemas.microsoft.com/office/drawing/2014/main" id="{170554D1-DE6E-4911-A84B-D87ABE8CD568}"/>
              </a:ext>
            </a:extLst>
          </p:cNvPr>
          <p:cNvSpPr>
            <a:spLocks xmlns:a="http://schemas.openxmlformats.org/drawingml/2006/main" noGrp="1"/>
          </p:cNvSpPr>
          <p:nvPr/>
        </p:nvSpPr>
        <p:spPr>
          <a:xfrm xmlns:a="http://schemas.openxmlformats.org/drawingml/2006/main">
            <a:off x="742950" y="2647950"/>
            <a:ext cx="3905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Ag₂O  Al₂O₃  B₂O₃  BaO  CaO  CoO  Cr₂O₃  CrO₃  Cu₂O  Fe₂O₃</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Ga₂O₃  Gd₂O₃  GeO₂  HfO₂  In₂O₃  La₂O₃  Li₂O  MgO  MnO  MoO₃</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Na₂O  Nb₂O₅  Nd₂O₃  NiO  Sb₂O₅  Sc₂O₃  SiO₂  Sm₂O₃  SnO₂  SrO</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Ta₂O₅  TiO₂  V₂O₅  WO₃  Y₂O₃  ZnO  ZrO₂</a:t>
            </a:r>
          </a:p>
        </p:txBody>
      </p:sp>
      <p:sp>
        <p:nvSpPr>
          <p:cNvPr id="19" name="a2-FLUORIDES · 10-h">
            <a:extLst xmlns:a="http://schemas.openxmlformats.org/drawingml/2006/main">
              <a:ext uri="{FF2B5EF4-FFF2-40B4-BE49-F238E27FC236}">
                <a16:creationId xmlns:a16="http://schemas.microsoft.com/office/drawing/2014/main" id="{2E3BBEAC-A1EC-44B7-A32B-15A75CE84180}"/>
              </a:ext>
            </a:extLst>
          </p:cNvPr>
          <p:cNvSpPr>
            <a:spLocks xmlns:a="http://schemas.openxmlformats.org/drawingml/2006/main" noGrp="1"/>
          </p:cNvSpPr>
          <p:nvPr/>
        </p:nvSpPr>
        <p:spPr>
          <a:xfrm xmlns:a="http://schemas.openxmlformats.org/drawingml/2006/main">
            <a:off x="742950" y="42386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2563EB"/>
                </a:solidFill>
                <a:latin typeface="Arial"/>
                <a:ea typeface="Arial"/>
                <a:cs typeface="Arial"/>
              </a:defRPr>
            </a:pPr>
            <a:r>
              <a:rPr sz="1050" b="1">
                <a:solidFill>
                  <a:srgbClr val="2563EB"/>
                </a:solidFill>
                <a:latin typeface="Arial"/>
                <a:ea typeface="Arial"/>
                <a:cs typeface="Arial"/>
              </a:rPr>
              <a:t>FLUORIDES · 10</a:t>
            </a:r>
          </a:p>
        </p:txBody>
      </p:sp>
      <p:sp>
        <p:nvSpPr>
          <p:cNvPr id="20" name="a2-FLUORIDES · 10-b">
            <a:extLst xmlns:a="http://schemas.openxmlformats.org/drawingml/2006/main">
              <a:ext uri="{FF2B5EF4-FFF2-40B4-BE49-F238E27FC236}">
                <a16:creationId xmlns:a16="http://schemas.microsoft.com/office/drawing/2014/main" id="{1507ADD8-4091-4397-A102-5B6F36F83B46}"/>
              </a:ext>
            </a:extLst>
          </p:cNvPr>
          <p:cNvSpPr>
            <a:spLocks xmlns:a="http://schemas.openxmlformats.org/drawingml/2006/main" noGrp="1"/>
          </p:cNvSpPr>
          <p:nvPr/>
        </p:nvSpPr>
        <p:spPr>
          <a:xfrm xmlns:a="http://schemas.openxmlformats.org/drawingml/2006/main">
            <a:off x="742950" y="4505325"/>
            <a:ext cx="3905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AlF₃  CaF₂  LaF₃  LiF  MgF₂  NdF₃  ScF₃  TiF₄  YF₃  ZrF₄</a:t>
            </a:r>
          </a:p>
        </p:txBody>
      </p:sp>
      <p:sp>
        <p:nvSpPr>
          <p:cNvPr id="21" name="a2-CHLORIDES · 19-h">
            <a:extLst xmlns:a="http://schemas.openxmlformats.org/drawingml/2006/main">
              <a:ext uri="{FF2B5EF4-FFF2-40B4-BE49-F238E27FC236}">
                <a16:creationId xmlns:a16="http://schemas.microsoft.com/office/drawing/2014/main" id="{54E9F026-D14F-44CF-8761-C0735A312F73}"/>
              </a:ext>
            </a:extLst>
          </p:cNvPr>
          <p:cNvSpPr>
            <a:spLocks xmlns:a="http://schemas.openxmlformats.org/drawingml/2006/main" noGrp="1"/>
          </p:cNvSpPr>
          <p:nvPr/>
        </p:nvSpPr>
        <p:spPr>
          <a:xfrm xmlns:a="http://schemas.openxmlformats.org/drawingml/2006/main">
            <a:off x="742950" y="51911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5803D"/>
                </a:solidFill>
                <a:latin typeface="Arial"/>
                <a:ea typeface="Arial"/>
                <a:cs typeface="Arial"/>
              </a:defRPr>
            </a:pPr>
            <a:r>
              <a:rPr sz="1050" b="1">
                <a:solidFill>
                  <a:srgbClr val="15803D"/>
                </a:solidFill>
                <a:latin typeface="Arial"/>
                <a:ea typeface="Arial"/>
                <a:cs typeface="Arial"/>
              </a:rPr>
              <a:t>CHLORIDES · 19</a:t>
            </a:r>
          </a:p>
        </p:txBody>
      </p:sp>
      <p:sp>
        <p:nvSpPr>
          <p:cNvPr id="22" name="a2-CHLORIDES · 19-b">
            <a:extLst xmlns:a="http://schemas.openxmlformats.org/drawingml/2006/main">
              <a:ext uri="{FF2B5EF4-FFF2-40B4-BE49-F238E27FC236}">
                <a16:creationId xmlns:a16="http://schemas.microsoft.com/office/drawing/2014/main" id="{0553AE67-3A8D-46E1-AE7B-875097EE1ACE}"/>
              </a:ext>
            </a:extLst>
          </p:cNvPr>
          <p:cNvSpPr>
            <a:spLocks xmlns:a="http://schemas.openxmlformats.org/drawingml/2006/main" noGrp="1"/>
          </p:cNvSpPr>
          <p:nvPr/>
        </p:nvSpPr>
        <p:spPr>
          <a:xfrm xmlns:a="http://schemas.openxmlformats.org/drawingml/2006/main">
            <a:off x="742950" y="5457825"/>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AlCl₃  BaCl₂  CaCl₂  CrCl₃  FeCl₃  GaCl₃  HfCl₄  LaCl₃  LiCl  MgCl₂</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NbCl₅  NdCl₃  ScCl₃  SmCl₃  SrCl₂  TaCl₅  TiCl₄  YCl₃  ZrCl₄</a:t>
            </a:r>
          </a:p>
        </p:txBody>
      </p:sp>
      <p:sp>
        <p:nvSpPr>
          <p:cNvPr id="23" name="a2-BROMIDES · 5-h">
            <a:extLst xmlns:a="http://schemas.openxmlformats.org/drawingml/2006/main">
              <a:ext uri="{FF2B5EF4-FFF2-40B4-BE49-F238E27FC236}">
                <a16:creationId xmlns:a16="http://schemas.microsoft.com/office/drawing/2014/main" id="{F2EF9677-099F-44BB-A289-BF3A9DAC9784}"/>
              </a:ext>
            </a:extLst>
          </p:cNvPr>
          <p:cNvSpPr>
            <a:spLocks xmlns:a="http://schemas.openxmlformats.org/drawingml/2006/main" noGrp="1"/>
          </p:cNvSpPr>
          <p:nvPr/>
        </p:nvSpPr>
        <p:spPr>
          <a:xfrm xmlns:a="http://schemas.openxmlformats.org/drawingml/2006/main">
            <a:off x="5000625" y="23812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C45A14"/>
                </a:solidFill>
                <a:latin typeface="Arial"/>
                <a:ea typeface="Arial"/>
                <a:cs typeface="Arial"/>
              </a:defRPr>
            </a:pPr>
            <a:r>
              <a:rPr sz="1050" b="1">
                <a:solidFill>
                  <a:srgbClr val="C45A14"/>
                </a:solidFill>
                <a:latin typeface="Arial"/>
                <a:ea typeface="Arial"/>
                <a:cs typeface="Arial"/>
              </a:rPr>
              <a:t>BROMIDES · 5</a:t>
            </a:r>
          </a:p>
        </p:txBody>
      </p:sp>
      <p:sp>
        <p:nvSpPr>
          <p:cNvPr id="24" name="a2-BROMIDES · 5-b">
            <a:extLst xmlns:a="http://schemas.openxmlformats.org/drawingml/2006/main">
              <a:ext uri="{FF2B5EF4-FFF2-40B4-BE49-F238E27FC236}">
                <a16:creationId xmlns:a16="http://schemas.microsoft.com/office/drawing/2014/main" id="{BE2E2EC8-39A5-4739-9388-391808DF15E3}"/>
              </a:ext>
            </a:extLst>
          </p:cNvPr>
          <p:cNvSpPr>
            <a:spLocks xmlns:a="http://schemas.openxmlformats.org/drawingml/2006/main" noGrp="1"/>
          </p:cNvSpPr>
          <p:nvPr/>
        </p:nvSpPr>
        <p:spPr>
          <a:xfrm xmlns:a="http://schemas.openxmlformats.org/drawingml/2006/main">
            <a:off x="5000625" y="26479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AlBr₃  CaBr₂  LiBr  MgBr₂  ZrBr₄</a:t>
            </a:r>
          </a:p>
        </p:txBody>
      </p:sp>
      <p:sp>
        <p:nvSpPr>
          <p:cNvPr id="25" name="a2-IODIDES · 4-h">
            <a:extLst xmlns:a="http://schemas.openxmlformats.org/drawingml/2006/main">
              <a:ext uri="{FF2B5EF4-FFF2-40B4-BE49-F238E27FC236}">
                <a16:creationId xmlns:a16="http://schemas.microsoft.com/office/drawing/2014/main" id="{F04A058B-B6F7-4C40-903D-D5EC3C823F98}"/>
              </a:ext>
            </a:extLst>
          </p:cNvPr>
          <p:cNvSpPr>
            <a:spLocks xmlns:a="http://schemas.openxmlformats.org/drawingml/2006/main" noGrp="1"/>
          </p:cNvSpPr>
          <p:nvPr/>
        </p:nvSpPr>
        <p:spPr>
          <a:xfrm xmlns:a="http://schemas.openxmlformats.org/drawingml/2006/main">
            <a:off x="5000625" y="328612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D97706"/>
                </a:solidFill>
                <a:latin typeface="Arial"/>
                <a:ea typeface="Arial"/>
                <a:cs typeface="Arial"/>
              </a:defRPr>
            </a:pPr>
            <a:r>
              <a:rPr sz="1050" b="1">
                <a:solidFill>
                  <a:srgbClr val="D97706"/>
                </a:solidFill>
                <a:latin typeface="Arial"/>
                <a:ea typeface="Arial"/>
                <a:cs typeface="Arial"/>
              </a:rPr>
              <a:t>IODIDES · 4</a:t>
            </a:r>
          </a:p>
        </p:txBody>
      </p:sp>
      <p:sp>
        <p:nvSpPr>
          <p:cNvPr id="26" name="a2-IODIDES · 4-b">
            <a:extLst xmlns:a="http://schemas.openxmlformats.org/drawingml/2006/main">
              <a:ext uri="{FF2B5EF4-FFF2-40B4-BE49-F238E27FC236}">
                <a16:creationId xmlns:a16="http://schemas.microsoft.com/office/drawing/2014/main" id="{CE6968EA-1A4C-4E59-B50F-4971C15DB471}"/>
              </a:ext>
            </a:extLst>
          </p:cNvPr>
          <p:cNvSpPr>
            <a:spLocks xmlns:a="http://schemas.openxmlformats.org/drawingml/2006/main" noGrp="1"/>
          </p:cNvSpPr>
          <p:nvPr/>
        </p:nvSpPr>
        <p:spPr>
          <a:xfrm xmlns:a="http://schemas.openxmlformats.org/drawingml/2006/main">
            <a:off x="5000625" y="35528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AlI₃  LiI  MgI₂  NaI</a:t>
            </a:r>
          </a:p>
        </p:txBody>
      </p:sp>
      <p:sp>
        <p:nvSpPr>
          <p:cNvPr id="27" name="a2-NITRIDES · 5-h">
            <a:extLst xmlns:a="http://schemas.openxmlformats.org/drawingml/2006/main">
              <a:ext uri="{FF2B5EF4-FFF2-40B4-BE49-F238E27FC236}">
                <a16:creationId xmlns:a16="http://schemas.microsoft.com/office/drawing/2014/main" id="{EDE3B70E-B320-44C1-8406-A4BCBA2942A4}"/>
              </a:ext>
            </a:extLst>
          </p:cNvPr>
          <p:cNvSpPr>
            <a:spLocks xmlns:a="http://schemas.openxmlformats.org/drawingml/2006/main" noGrp="1"/>
          </p:cNvSpPr>
          <p:nvPr/>
        </p:nvSpPr>
        <p:spPr>
          <a:xfrm xmlns:a="http://schemas.openxmlformats.org/drawingml/2006/main">
            <a:off x="5000625" y="419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F4E79"/>
                </a:solidFill>
                <a:latin typeface="Arial"/>
                <a:ea typeface="Arial"/>
                <a:cs typeface="Arial"/>
              </a:defRPr>
            </a:pPr>
            <a:r>
              <a:rPr sz="1050" b="1">
                <a:solidFill>
                  <a:srgbClr val="1F4E79"/>
                </a:solidFill>
                <a:latin typeface="Arial"/>
                <a:ea typeface="Arial"/>
                <a:cs typeface="Arial"/>
              </a:rPr>
              <a:t>NITRIDES · 5</a:t>
            </a:r>
          </a:p>
        </p:txBody>
      </p:sp>
      <p:sp>
        <p:nvSpPr>
          <p:cNvPr id="28" name="a2-NITRIDES · 5-b">
            <a:extLst xmlns:a="http://schemas.openxmlformats.org/drawingml/2006/main">
              <a:ext uri="{FF2B5EF4-FFF2-40B4-BE49-F238E27FC236}">
                <a16:creationId xmlns:a16="http://schemas.microsoft.com/office/drawing/2014/main" id="{6AE554FC-2895-458E-8E59-BCAEDC6C7DD5}"/>
              </a:ext>
            </a:extLst>
          </p:cNvPr>
          <p:cNvSpPr>
            <a:spLocks xmlns:a="http://schemas.openxmlformats.org/drawingml/2006/main" noGrp="1"/>
          </p:cNvSpPr>
          <p:nvPr/>
        </p:nvSpPr>
        <p:spPr>
          <a:xfrm xmlns:a="http://schemas.openxmlformats.org/drawingml/2006/main">
            <a:off x="5000625" y="44577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AlN  Ca₃N₂  GaN  Li₃N  Mg₃N₂</a:t>
            </a:r>
          </a:p>
        </p:txBody>
      </p:sp>
      <p:sp>
        <p:nvSpPr>
          <p:cNvPr id="29" name="a2-SULFIDES · 11-h">
            <a:extLst xmlns:a="http://schemas.openxmlformats.org/drawingml/2006/main">
              <a:ext uri="{FF2B5EF4-FFF2-40B4-BE49-F238E27FC236}">
                <a16:creationId xmlns:a16="http://schemas.microsoft.com/office/drawing/2014/main" id="{CE2807FD-BF72-4BB6-A0FD-C77948F9FA63}"/>
              </a:ext>
            </a:extLst>
          </p:cNvPr>
          <p:cNvSpPr>
            <a:spLocks xmlns:a="http://schemas.openxmlformats.org/drawingml/2006/main" noGrp="1"/>
          </p:cNvSpPr>
          <p:nvPr/>
        </p:nvSpPr>
        <p:spPr>
          <a:xfrm xmlns:a="http://schemas.openxmlformats.org/drawingml/2006/main">
            <a:off x="5000625" y="509587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0D9488"/>
                </a:solidFill>
                <a:latin typeface="Arial"/>
                <a:ea typeface="Arial"/>
                <a:cs typeface="Arial"/>
              </a:defRPr>
            </a:pPr>
            <a:r>
              <a:rPr sz="1050" b="1">
                <a:solidFill>
                  <a:srgbClr val="0D9488"/>
                </a:solidFill>
                <a:latin typeface="Arial"/>
                <a:ea typeface="Arial"/>
                <a:cs typeface="Arial"/>
              </a:rPr>
              <a:t>SULFIDES · 11</a:t>
            </a:r>
          </a:p>
        </p:txBody>
      </p:sp>
      <p:sp>
        <p:nvSpPr>
          <p:cNvPr id="30" name="a2-SULFIDES · 11-b">
            <a:extLst xmlns:a="http://schemas.openxmlformats.org/drawingml/2006/main">
              <a:ext uri="{FF2B5EF4-FFF2-40B4-BE49-F238E27FC236}">
                <a16:creationId xmlns:a16="http://schemas.microsoft.com/office/drawing/2014/main" id="{F740BBA7-FD74-47E4-9C78-D97F1B22164A}"/>
              </a:ext>
            </a:extLst>
          </p:cNvPr>
          <p:cNvSpPr>
            <a:spLocks xmlns:a="http://schemas.openxmlformats.org/drawingml/2006/main" noGrp="1"/>
          </p:cNvSpPr>
          <p:nvPr/>
        </p:nvSpPr>
        <p:spPr>
          <a:xfrm xmlns:a="http://schemas.openxmlformats.org/drawingml/2006/main">
            <a:off x="5000625" y="5362575"/>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Al₂S₃  As₂S₃  CaS  Ga₂S₃  GeS₂  Li₂S</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MgS  Na₂S  Sb₂S₃  SiS₂  SnS₂</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A3</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Seminar step: beginner-facing scientific question  ·  Folder stage: actual workflow implementation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Several folder stages are grouped into one conceptual step</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Nine seminar steps map onto the full executed workflow</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mapping keeps the physical question visible while preserving implementation lineage.</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Optional MD and interface folders existed in the design but were not active production evidence in v23.</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archived tier_cascade.sh · cascade pipeline anatomy</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p:nvSpPr>
          <p:cNvPr id="15" name="a3-num-0">
            <a:extLst xmlns:a="http://schemas.openxmlformats.org/drawingml/2006/main">
              <a:ext uri="{FF2B5EF4-FFF2-40B4-BE49-F238E27FC236}">
                <a16:creationId xmlns:a16="http://schemas.microsoft.com/office/drawing/2014/main" id="{77A582AD-642D-4125-BE1B-D00C0B339C5C}"/>
              </a:ext>
            </a:extLst>
          </p:cNvPr>
          <p:cNvSpPr>
            <a:spLocks xmlns:a="http://schemas.openxmlformats.org/drawingml/2006/main" noGrp="1"/>
          </p:cNvSpPr>
          <p:nvPr/>
        </p:nvSpPr>
        <p:spPr>
          <a:xfrm xmlns:a="http://schemas.openxmlformats.org/drawingml/2006/main">
            <a:off x="762000" y="238125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16" name="a3-name-0">
            <a:extLst xmlns:a="http://schemas.openxmlformats.org/drawingml/2006/main">
              <a:ext uri="{FF2B5EF4-FFF2-40B4-BE49-F238E27FC236}">
                <a16:creationId xmlns:a16="http://schemas.microsoft.com/office/drawing/2014/main" id="{216267A0-D713-4A1E-8F8E-3C578655CD10}"/>
              </a:ext>
            </a:extLst>
          </p:cNvPr>
          <p:cNvSpPr>
            <a:spLocks xmlns:a="http://schemas.openxmlformats.org/drawingml/2006/main" noGrp="1"/>
          </p:cNvSpPr>
          <p:nvPr/>
        </p:nvSpPr>
        <p:spPr>
          <a:xfrm xmlns:a="http://schemas.openxmlformats.org/drawingml/2006/main">
            <a:off x="1333500" y="2381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Run contract</a:t>
            </a:r>
          </a:p>
        </p:txBody>
      </p:sp>
      <p:sp>
        <p:nvSpPr>
          <p:cNvPr id="17" name="a3-stage-0">
            <a:extLst xmlns:a="http://schemas.openxmlformats.org/drawingml/2006/main">
              <a:ext uri="{FF2B5EF4-FFF2-40B4-BE49-F238E27FC236}">
                <a16:creationId xmlns:a16="http://schemas.microsoft.com/office/drawing/2014/main" id="{FBF64DA6-8D51-4E23-B48A-9950FF4527C5}"/>
              </a:ext>
            </a:extLst>
          </p:cNvPr>
          <p:cNvSpPr>
            <a:spLocks xmlns:a="http://schemas.openxmlformats.org/drawingml/2006/main" noGrp="1"/>
          </p:cNvSpPr>
          <p:nvPr/>
        </p:nvSpPr>
        <p:spPr>
          <a:xfrm xmlns:a="http://schemas.openxmlformats.org/drawingml/2006/main">
            <a:off x="1333500" y="26384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00</a:t>
            </a:r>
          </a:p>
        </p:txBody>
      </p:sp>
      <p:sp>
        <p:nvSpPr>
          <p:cNvPr id="18" name="a3-num-1">
            <a:extLst xmlns:a="http://schemas.openxmlformats.org/drawingml/2006/main">
              <a:ext uri="{FF2B5EF4-FFF2-40B4-BE49-F238E27FC236}">
                <a16:creationId xmlns:a16="http://schemas.microsoft.com/office/drawing/2014/main" id="{902B58D4-EB96-4D65-B4B9-83E588732992}"/>
              </a:ext>
            </a:extLst>
          </p:cNvPr>
          <p:cNvSpPr>
            <a:spLocks xmlns:a="http://schemas.openxmlformats.org/drawingml/2006/main" noGrp="1"/>
          </p:cNvSpPr>
          <p:nvPr/>
        </p:nvSpPr>
        <p:spPr>
          <a:xfrm xmlns:a="http://schemas.openxmlformats.org/drawingml/2006/main">
            <a:off x="762000" y="3076575"/>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9" name="a3-name-1">
            <a:extLst xmlns:a="http://schemas.openxmlformats.org/drawingml/2006/main">
              <a:ext uri="{FF2B5EF4-FFF2-40B4-BE49-F238E27FC236}">
                <a16:creationId xmlns:a16="http://schemas.microsoft.com/office/drawing/2014/main" id="{318796AB-4C94-40EF-AFFF-DFD0D3CDB343}"/>
              </a:ext>
            </a:extLst>
          </p:cNvPr>
          <p:cNvSpPr>
            <a:spLocks xmlns:a="http://schemas.openxmlformats.org/drawingml/2006/main" noGrp="1"/>
          </p:cNvSpPr>
          <p:nvPr/>
        </p:nvSpPr>
        <p:spPr>
          <a:xfrm xmlns:a="http://schemas.openxmlformats.org/drawingml/2006/main">
            <a:off x="1333500" y="3076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Site &amp; configuration</a:t>
            </a:r>
          </a:p>
        </p:txBody>
      </p:sp>
      <p:sp>
        <p:nvSpPr>
          <p:cNvPr id="20" name="a3-stage-1">
            <a:extLst xmlns:a="http://schemas.openxmlformats.org/drawingml/2006/main">
              <a:ext uri="{FF2B5EF4-FFF2-40B4-BE49-F238E27FC236}">
                <a16:creationId xmlns:a16="http://schemas.microsoft.com/office/drawing/2014/main" id="{65A86F92-9757-4A62-9F51-00293E30A3F7}"/>
              </a:ext>
            </a:extLst>
          </p:cNvPr>
          <p:cNvSpPr>
            <a:spLocks xmlns:a="http://schemas.openxmlformats.org/drawingml/2006/main" noGrp="1"/>
          </p:cNvSpPr>
          <p:nvPr/>
        </p:nvSpPr>
        <p:spPr>
          <a:xfrm xmlns:a="http://schemas.openxmlformats.org/drawingml/2006/main">
            <a:off x="1333500" y="3333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01</a:t>
            </a:r>
          </a:p>
        </p:txBody>
      </p:sp>
      <p:sp>
        <p:nvSpPr>
          <p:cNvPr id="21" name="a3-num-2">
            <a:extLst xmlns:a="http://schemas.openxmlformats.org/drawingml/2006/main">
              <a:ext uri="{FF2B5EF4-FFF2-40B4-BE49-F238E27FC236}">
                <a16:creationId xmlns:a16="http://schemas.microsoft.com/office/drawing/2014/main" id="{61B521E6-CF0B-4EC4-8219-4758AF71F941}"/>
              </a:ext>
            </a:extLst>
          </p:cNvPr>
          <p:cNvSpPr>
            <a:spLocks xmlns:a="http://schemas.openxmlformats.org/drawingml/2006/main" noGrp="1"/>
          </p:cNvSpPr>
          <p:nvPr/>
        </p:nvSpPr>
        <p:spPr>
          <a:xfrm xmlns:a="http://schemas.openxmlformats.org/drawingml/2006/main">
            <a:off x="762000" y="377190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2" name="a3-name-2">
            <a:extLst xmlns:a="http://schemas.openxmlformats.org/drawingml/2006/main">
              <a:ext uri="{FF2B5EF4-FFF2-40B4-BE49-F238E27FC236}">
                <a16:creationId xmlns:a16="http://schemas.microsoft.com/office/drawing/2014/main" id="{2A959DF7-A1FA-4788-A4A1-C1F21B07E073}"/>
              </a:ext>
            </a:extLst>
          </p:cNvPr>
          <p:cNvSpPr>
            <a:spLocks xmlns:a="http://schemas.openxmlformats.org/drawingml/2006/main" noGrp="1"/>
          </p:cNvSpPr>
          <p:nvPr/>
        </p:nvSpPr>
        <p:spPr>
          <a:xfrm xmlns:a="http://schemas.openxmlformats.org/drawingml/2006/main">
            <a:off x="1333500" y="3771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Fast relaxation</a:t>
            </a:r>
          </a:p>
        </p:txBody>
      </p:sp>
      <p:sp>
        <p:nvSpPr>
          <p:cNvPr id="23" name="a3-stage-2">
            <a:extLst xmlns:a="http://schemas.openxmlformats.org/drawingml/2006/main">
              <a:ext uri="{FF2B5EF4-FFF2-40B4-BE49-F238E27FC236}">
                <a16:creationId xmlns:a16="http://schemas.microsoft.com/office/drawing/2014/main" id="{7C031F12-A086-48E8-99C1-A36F4A2662DA}"/>
              </a:ext>
            </a:extLst>
          </p:cNvPr>
          <p:cNvSpPr>
            <a:spLocks xmlns:a="http://schemas.openxmlformats.org/drawingml/2006/main" noGrp="1"/>
          </p:cNvSpPr>
          <p:nvPr/>
        </p:nvSpPr>
        <p:spPr>
          <a:xfrm xmlns:a="http://schemas.openxmlformats.org/drawingml/2006/main">
            <a:off x="1333500" y="40290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02</a:t>
            </a:r>
          </a:p>
        </p:txBody>
      </p:sp>
      <p:sp>
        <p:nvSpPr>
          <p:cNvPr id="24" name="a3-num-3">
            <a:extLst xmlns:a="http://schemas.openxmlformats.org/drawingml/2006/main">
              <a:ext uri="{FF2B5EF4-FFF2-40B4-BE49-F238E27FC236}">
                <a16:creationId xmlns:a16="http://schemas.microsoft.com/office/drawing/2014/main" id="{A497694E-95FD-4FCB-ABE0-6E78F1472418}"/>
              </a:ext>
            </a:extLst>
          </p:cNvPr>
          <p:cNvSpPr>
            <a:spLocks xmlns:a="http://schemas.openxmlformats.org/drawingml/2006/main" noGrp="1"/>
          </p:cNvSpPr>
          <p:nvPr/>
        </p:nvSpPr>
        <p:spPr>
          <a:xfrm xmlns:a="http://schemas.openxmlformats.org/drawingml/2006/main">
            <a:off x="762000" y="4467225"/>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5" name="a3-name-3">
            <a:extLst xmlns:a="http://schemas.openxmlformats.org/drawingml/2006/main">
              <a:ext uri="{FF2B5EF4-FFF2-40B4-BE49-F238E27FC236}">
                <a16:creationId xmlns:a16="http://schemas.microsoft.com/office/drawing/2014/main" id="{3219B70B-03A7-49DB-9D99-75D8D5D7C742}"/>
              </a:ext>
            </a:extLst>
          </p:cNvPr>
          <p:cNvSpPr>
            <a:spLocks xmlns:a="http://schemas.openxmlformats.org/drawingml/2006/main" noGrp="1"/>
          </p:cNvSpPr>
          <p:nvPr/>
        </p:nvSpPr>
        <p:spPr>
          <a:xfrm xmlns:a="http://schemas.openxmlformats.org/drawingml/2006/main">
            <a:off x="1333500" y="4467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Representative structure</a:t>
            </a:r>
          </a:p>
        </p:txBody>
      </p:sp>
      <p:sp>
        <p:nvSpPr>
          <p:cNvPr id="26" name="a3-stage-3">
            <a:extLst xmlns:a="http://schemas.openxmlformats.org/drawingml/2006/main">
              <a:ext uri="{FF2B5EF4-FFF2-40B4-BE49-F238E27FC236}">
                <a16:creationId xmlns:a16="http://schemas.microsoft.com/office/drawing/2014/main" id="{B9593B05-6DC6-4FEA-B7B2-DF5DBC9D5BB3}"/>
              </a:ext>
            </a:extLst>
          </p:cNvPr>
          <p:cNvSpPr>
            <a:spLocks xmlns:a="http://schemas.openxmlformats.org/drawingml/2006/main" noGrp="1"/>
          </p:cNvSpPr>
          <p:nvPr/>
        </p:nvSpPr>
        <p:spPr>
          <a:xfrm xmlns:a="http://schemas.openxmlformats.org/drawingml/2006/main">
            <a:off x="1333500" y="47244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03</a:t>
            </a:r>
          </a:p>
        </p:txBody>
      </p:sp>
      <p:sp>
        <p:nvSpPr>
          <p:cNvPr id="27" name="a3-num-4">
            <a:extLst xmlns:a="http://schemas.openxmlformats.org/drawingml/2006/main">
              <a:ext uri="{FF2B5EF4-FFF2-40B4-BE49-F238E27FC236}">
                <a16:creationId xmlns:a16="http://schemas.microsoft.com/office/drawing/2014/main" id="{CCB1BACC-0F97-42EA-AC89-80C8C3BE01A6}"/>
              </a:ext>
            </a:extLst>
          </p:cNvPr>
          <p:cNvSpPr>
            <a:spLocks xmlns:a="http://schemas.openxmlformats.org/drawingml/2006/main" noGrp="1"/>
          </p:cNvSpPr>
          <p:nvPr/>
        </p:nvSpPr>
        <p:spPr>
          <a:xfrm xmlns:a="http://schemas.openxmlformats.org/drawingml/2006/main">
            <a:off x="762000" y="516255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28" name="a3-name-4">
            <a:extLst xmlns:a="http://schemas.openxmlformats.org/drawingml/2006/main">
              <a:ext uri="{FF2B5EF4-FFF2-40B4-BE49-F238E27FC236}">
                <a16:creationId xmlns:a16="http://schemas.microsoft.com/office/drawing/2014/main" id="{26F99291-3390-4FA0-B8EC-02AD6F761592}"/>
              </a:ext>
            </a:extLst>
          </p:cNvPr>
          <p:cNvSpPr>
            <a:spLocks xmlns:a="http://schemas.openxmlformats.org/drawingml/2006/main" noGrp="1"/>
          </p:cNvSpPr>
          <p:nvPr/>
        </p:nvSpPr>
        <p:spPr>
          <a:xfrm xmlns:a="http://schemas.openxmlformats.org/drawingml/2006/main">
            <a:off x="1333500" y="5162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Thermal basin</a:t>
            </a:r>
          </a:p>
        </p:txBody>
      </p:sp>
      <p:sp>
        <p:nvSpPr>
          <p:cNvPr id="29" name="a3-stage-4">
            <a:extLst xmlns:a="http://schemas.openxmlformats.org/drawingml/2006/main">
              <a:ext uri="{FF2B5EF4-FFF2-40B4-BE49-F238E27FC236}">
                <a16:creationId xmlns:a16="http://schemas.microsoft.com/office/drawing/2014/main" id="{1805CCF7-3187-4816-829B-CD701138512A}"/>
              </a:ext>
            </a:extLst>
          </p:cNvPr>
          <p:cNvSpPr>
            <a:spLocks xmlns:a="http://schemas.openxmlformats.org/drawingml/2006/main" noGrp="1"/>
          </p:cNvSpPr>
          <p:nvPr/>
        </p:nvSpPr>
        <p:spPr>
          <a:xfrm xmlns:a="http://schemas.openxmlformats.org/drawingml/2006/main">
            <a:off x="1333500" y="54197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04</a:t>
            </a:r>
          </a:p>
        </p:txBody>
      </p:sp>
      <p:sp>
        <p:nvSpPr>
          <p:cNvPr id="30" name="a3-num-5">
            <a:extLst xmlns:a="http://schemas.openxmlformats.org/drawingml/2006/main">
              <a:ext uri="{FF2B5EF4-FFF2-40B4-BE49-F238E27FC236}">
                <a16:creationId xmlns:a16="http://schemas.microsoft.com/office/drawing/2014/main" id="{51C2E4F5-1823-4E42-A962-3E474E3A239D}"/>
              </a:ext>
            </a:extLst>
          </p:cNvPr>
          <p:cNvSpPr>
            <a:spLocks xmlns:a="http://schemas.openxmlformats.org/drawingml/2006/main" noGrp="1"/>
          </p:cNvSpPr>
          <p:nvPr/>
        </p:nvSpPr>
        <p:spPr>
          <a:xfrm xmlns:a="http://schemas.openxmlformats.org/drawingml/2006/main">
            <a:off x="4762500" y="2381250"/>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6</a:t>
            </a:r>
          </a:p>
        </p:txBody>
      </p:sp>
      <p:sp>
        <p:nvSpPr>
          <p:cNvPr id="31" name="a3-name-5">
            <a:extLst xmlns:a="http://schemas.openxmlformats.org/drawingml/2006/main">
              <a:ext uri="{FF2B5EF4-FFF2-40B4-BE49-F238E27FC236}">
                <a16:creationId xmlns:a16="http://schemas.microsoft.com/office/drawing/2014/main" id="{F408AC26-B6C7-4BFF-964B-D7EF9E751CF2}"/>
              </a:ext>
            </a:extLst>
          </p:cNvPr>
          <p:cNvSpPr>
            <a:spLocks xmlns:a="http://schemas.openxmlformats.org/drawingml/2006/main" noGrp="1"/>
          </p:cNvSpPr>
          <p:nvPr/>
        </p:nvSpPr>
        <p:spPr>
          <a:xfrm xmlns:a="http://schemas.openxmlformats.org/drawingml/2006/main">
            <a:off x="5334000" y="2381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Static Li-path risk</a:t>
            </a:r>
          </a:p>
        </p:txBody>
      </p:sp>
      <p:sp>
        <p:nvSpPr>
          <p:cNvPr id="32" name="a3-stage-5">
            <a:extLst xmlns:a="http://schemas.openxmlformats.org/drawingml/2006/main">
              <a:ext uri="{FF2B5EF4-FFF2-40B4-BE49-F238E27FC236}">
                <a16:creationId xmlns:a16="http://schemas.microsoft.com/office/drawing/2014/main" id="{B2B87AD4-7781-4347-B779-E39E42CF2AED}"/>
              </a:ext>
            </a:extLst>
          </p:cNvPr>
          <p:cNvSpPr>
            <a:spLocks xmlns:a="http://schemas.openxmlformats.org/drawingml/2006/main" noGrp="1"/>
          </p:cNvSpPr>
          <p:nvPr/>
        </p:nvSpPr>
        <p:spPr>
          <a:xfrm xmlns:a="http://schemas.openxmlformats.org/drawingml/2006/main">
            <a:off x="5334000" y="26384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05–06</a:t>
            </a:r>
          </a:p>
        </p:txBody>
      </p:sp>
      <p:sp>
        <p:nvSpPr>
          <p:cNvPr id="33" name="a3-num-6">
            <a:extLst xmlns:a="http://schemas.openxmlformats.org/drawingml/2006/main">
              <a:ext uri="{FF2B5EF4-FFF2-40B4-BE49-F238E27FC236}">
                <a16:creationId xmlns:a16="http://schemas.microsoft.com/office/drawing/2014/main" id="{78A53F75-16F3-458C-A4D3-2211C5953B35}"/>
              </a:ext>
            </a:extLst>
          </p:cNvPr>
          <p:cNvSpPr>
            <a:spLocks xmlns:a="http://schemas.openxmlformats.org/drawingml/2006/main" noGrp="1"/>
          </p:cNvSpPr>
          <p:nvPr/>
        </p:nvSpPr>
        <p:spPr>
          <a:xfrm xmlns:a="http://schemas.openxmlformats.org/drawingml/2006/main">
            <a:off x="4762500" y="3076575"/>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7</a:t>
            </a:r>
          </a:p>
        </p:txBody>
      </p:sp>
      <p:sp>
        <p:nvSpPr>
          <p:cNvPr id="34" name="a3-name-6">
            <a:extLst xmlns:a="http://schemas.openxmlformats.org/drawingml/2006/main">
              <a:ext uri="{FF2B5EF4-FFF2-40B4-BE49-F238E27FC236}">
                <a16:creationId xmlns:a16="http://schemas.microsoft.com/office/drawing/2014/main" id="{E5AD4896-BC7E-4006-8B19-B09437A8E944}"/>
              </a:ext>
            </a:extLst>
          </p:cNvPr>
          <p:cNvSpPr>
            <a:spLocks xmlns:a="http://schemas.openxmlformats.org/drawingml/2006/main" noGrp="1"/>
          </p:cNvSpPr>
          <p:nvPr/>
        </p:nvSpPr>
        <p:spPr>
          <a:xfrm xmlns:a="http://schemas.openxmlformats.org/drawingml/2006/main">
            <a:off x="5334000" y="3076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Mechanical response</a:t>
            </a:r>
          </a:p>
        </p:txBody>
      </p:sp>
      <p:sp>
        <p:nvSpPr>
          <p:cNvPr id="35" name="a3-stage-6">
            <a:extLst xmlns:a="http://schemas.openxmlformats.org/drawingml/2006/main">
              <a:ext uri="{FF2B5EF4-FFF2-40B4-BE49-F238E27FC236}">
                <a16:creationId xmlns:a16="http://schemas.microsoft.com/office/drawing/2014/main" id="{C21729A5-4F77-4B51-931D-07C350F5DBB9}"/>
              </a:ext>
            </a:extLst>
          </p:cNvPr>
          <p:cNvSpPr>
            <a:spLocks xmlns:a="http://schemas.openxmlformats.org/drawingml/2006/main" noGrp="1"/>
          </p:cNvSpPr>
          <p:nvPr/>
        </p:nvSpPr>
        <p:spPr>
          <a:xfrm xmlns:a="http://schemas.openxmlformats.org/drawingml/2006/main">
            <a:off x="5334000" y="3333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07–08</a:t>
            </a:r>
          </a:p>
        </p:txBody>
      </p:sp>
      <p:sp>
        <p:nvSpPr>
          <p:cNvPr id="36" name="a3-num-7">
            <a:extLst xmlns:a="http://schemas.openxmlformats.org/drawingml/2006/main">
              <a:ext uri="{FF2B5EF4-FFF2-40B4-BE49-F238E27FC236}">
                <a16:creationId xmlns:a16="http://schemas.microsoft.com/office/drawing/2014/main" id="{2B04BA17-644B-46AF-99FE-2823FF41ADAF}"/>
              </a:ext>
            </a:extLst>
          </p:cNvPr>
          <p:cNvSpPr>
            <a:spLocks xmlns:a="http://schemas.openxmlformats.org/drawingml/2006/main" noGrp="1"/>
          </p:cNvSpPr>
          <p:nvPr/>
        </p:nvSpPr>
        <p:spPr>
          <a:xfrm xmlns:a="http://schemas.openxmlformats.org/drawingml/2006/main">
            <a:off x="4762500" y="3771900"/>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8</a:t>
            </a:r>
          </a:p>
        </p:txBody>
      </p:sp>
      <p:sp>
        <p:nvSpPr>
          <p:cNvPr id="37" name="a3-name-7">
            <a:extLst xmlns:a="http://schemas.openxmlformats.org/drawingml/2006/main">
              <a:ext uri="{FF2B5EF4-FFF2-40B4-BE49-F238E27FC236}">
                <a16:creationId xmlns:a16="http://schemas.microsoft.com/office/drawing/2014/main" id="{1AC3C13E-1A8E-4CF6-8061-472166CB943B}"/>
              </a:ext>
            </a:extLst>
          </p:cNvPr>
          <p:cNvSpPr>
            <a:spLocks xmlns:a="http://schemas.openxmlformats.org/drawingml/2006/main" noGrp="1"/>
          </p:cNvSpPr>
          <p:nvPr/>
        </p:nvSpPr>
        <p:spPr>
          <a:xfrm xmlns:a="http://schemas.openxmlformats.org/drawingml/2006/main">
            <a:off x="5334000" y="3771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Thermodynamic context</a:t>
            </a:r>
          </a:p>
        </p:txBody>
      </p:sp>
      <p:sp>
        <p:nvSpPr>
          <p:cNvPr id="38" name="a3-stage-7">
            <a:extLst xmlns:a="http://schemas.openxmlformats.org/drawingml/2006/main">
              <a:ext uri="{FF2B5EF4-FFF2-40B4-BE49-F238E27FC236}">
                <a16:creationId xmlns:a16="http://schemas.microsoft.com/office/drawing/2014/main" id="{B36FC637-4B5F-4CA7-85D4-EBEFE8B4A023}"/>
              </a:ext>
            </a:extLst>
          </p:cNvPr>
          <p:cNvSpPr>
            <a:spLocks xmlns:a="http://schemas.openxmlformats.org/drawingml/2006/main" noGrp="1"/>
          </p:cNvSpPr>
          <p:nvPr/>
        </p:nvSpPr>
        <p:spPr>
          <a:xfrm xmlns:a="http://schemas.openxmlformats.org/drawingml/2006/main">
            <a:off x="5334000" y="40290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09a–09f + external GP</a:t>
            </a:r>
          </a:p>
        </p:txBody>
      </p:sp>
      <p:sp>
        <p:nvSpPr>
          <p:cNvPr id="39" name="a3-num-8">
            <a:extLst xmlns:a="http://schemas.openxmlformats.org/drawingml/2006/main">
              <a:ext uri="{FF2B5EF4-FFF2-40B4-BE49-F238E27FC236}">
                <a16:creationId xmlns:a16="http://schemas.microsoft.com/office/drawing/2014/main" id="{A23E97B6-1307-43D4-8A80-70BD3F362A3E}"/>
              </a:ext>
            </a:extLst>
          </p:cNvPr>
          <p:cNvSpPr>
            <a:spLocks xmlns:a="http://schemas.openxmlformats.org/drawingml/2006/main" noGrp="1"/>
          </p:cNvSpPr>
          <p:nvPr/>
        </p:nvSpPr>
        <p:spPr>
          <a:xfrm xmlns:a="http://schemas.openxmlformats.org/drawingml/2006/main">
            <a:off x="4762500" y="4467225"/>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9</a:t>
            </a:r>
          </a:p>
        </p:txBody>
      </p:sp>
      <p:sp>
        <p:nvSpPr>
          <p:cNvPr id="40" name="a3-name-8">
            <a:extLst xmlns:a="http://schemas.openxmlformats.org/drawingml/2006/main">
              <a:ext uri="{FF2B5EF4-FFF2-40B4-BE49-F238E27FC236}">
                <a16:creationId xmlns:a16="http://schemas.microsoft.com/office/drawing/2014/main" id="{9C1F67FB-FF99-4185-95BB-E2AE2AEC60FC}"/>
              </a:ext>
            </a:extLst>
          </p:cNvPr>
          <p:cNvSpPr>
            <a:spLocks xmlns:a="http://schemas.openxmlformats.org/drawingml/2006/main" noGrp="1"/>
          </p:cNvSpPr>
          <p:nvPr/>
        </p:nvSpPr>
        <p:spPr>
          <a:xfrm xmlns:a="http://schemas.openxmlformats.org/drawingml/2006/main">
            <a:off x="5334000" y="4467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Validation queue</a:t>
            </a:r>
          </a:p>
        </p:txBody>
      </p:sp>
      <p:sp>
        <p:nvSpPr>
          <p:cNvPr id="41" name="a3-stage-8">
            <a:extLst xmlns:a="http://schemas.openxmlformats.org/drawingml/2006/main">
              <a:ext uri="{FF2B5EF4-FFF2-40B4-BE49-F238E27FC236}">
                <a16:creationId xmlns:a16="http://schemas.microsoft.com/office/drawing/2014/main" id="{E5C049D5-65C9-4122-BD24-FC3951475852}"/>
              </a:ext>
            </a:extLst>
          </p:cNvPr>
          <p:cNvSpPr>
            <a:spLocks xmlns:a="http://schemas.openxmlformats.org/drawingml/2006/main" noGrp="1"/>
          </p:cNvSpPr>
          <p:nvPr/>
        </p:nvSpPr>
        <p:spPr>
          <a:xfrm xmlns:a="http://schemas.openxmlformats.org/drawingml/2006/main">
            <a:off x="5334000" y="47244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10–12b + planned loop</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Campaign label: directory name  ·  Realized loading: integer substitution in the generated cell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Controlled replicate: same formula, site, protocol, and estimand repeated independently</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Why the three labels are neither a concentration series nor clean replicates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labels were quantized to the same generator loading in the small cell.</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Exact-formula regrouping found 59 same-formula and 31 changed-formula chemistries.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cascade_label_scatter_audit.json · audit_label_scatter.py</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sp xmlns:a="http://schemas.openxmlformats.org/drawingml/2006/main">
        <p:nvSpPr>
          <p:cNvPr id="39" name="TextBox 38"/>
          <p:cNvSpPr txBox="1"/>
          <p:nvPr/>
        </p:nvSpPr>
        <p:spPr>
          <a:xfrm>
            <a:off x="960120" y="2697480"/>
            <a:ext cx="7223760" cy="566928"/>
          </a:xfrm>
          <a:prstGeom prst="rect">
            <a:avLst/>
          </a:prstGeom>
          <a:noFill/>
        </p:spPr>
        <p:txBody>
          <a:bodyPr wrap="square">
            <a:spAutoFit/>
          </a:bodyPr>
          <a:lstStyle/>
          <a:p>
            <a:r>
              <a:rPr sz="1350" b="1">
                <a:solidFill>
                  <a:srgbClr val="1F2937"/>
                </a:solidFill>
                <a:latin typeface="Arial"/>
              </a:rPr>
              <a:t>What the three labels are  </a:t>
            </a:r>
            <a:r>
              <a:rPr sz="1350">
                <a:solidFill>
                  <a:srgbClr val="374151"/>
                </a:solidFill>
                <a:latin typeface="Arial"/>
              </a:rPr>
              <a:t>three directory names — x002, x005, x010.</a:t>
            </a:r>
          </a:p>
        </p:txBody>
      </p:sp>
      <p:sp xmlns:a="http://schemas.openxmlformats.org/drawingml/2006/main">
        <p:nvSpPr>
          <p:cNvPr id="40" name="TextBox 39"/>
          <p:cNvSpPr txBox="1"/>
          <p:nvPr/>
        </p:nvSpPr>
        <p:spPr>
          <a:xfrm>
            <a:off x="960120" y="3264408"/>
            <a:ext cx="7223760" cy="566928"/>
          </a:xfrm>
          <a:prstGeom prst="rect">
            <a:avLst/>
          </a:prstGeom>
          <a:noFill/>
        </p:spPr>
        <p:txBody>
          <a:bodyPr wrap="square">
            <a:spAutoFit/>
          </a:bodyPr>
          <a:lstStyle/>
          <a:p>
            <a:r>
              <a:rPr sz="1350" b="1">
                <a:solidFill>
                  <a:srgbClr val="1F2937"/>
                </a:solidFill>
                <a:latin typeface="Arial"/>
              </a:rPr>
              <a:t>What they actually were  </a:t>
            </a:r>
            <a:r>
              <a:rPr sz="1350">
                <a:solidFill>
                  <a:srgbClr val="374151"/>
                </a:solidFill>
                <a:latin typeface="Arial"/>
              </a:rPr>
              <a:t>the same integer substitution in the small cell — x = 0.25 for all three.</a:t>
            </a:r>
          </a:p>
        </p:txBody>
      </p:sp>
      <p:sp xmlns:a="http://schemas.openxmlformats.org/drawingml/2006/main">
        <p:nvSpPr>
          <p:cNvPr id="41" name="TextBox 40"/>
          <p:cNvSpPr txBox="1"/>
          <p:nvPr/>
        </p:nvSpPr>
        <p:spPr>
          <a:xfrm>
            <a:off x="960120" y="3831336"/>
            <a:ext cx="7223760" cy="566928"/>
          </a:xfrm>
          <a:prstGeom prst="rect">
            <a:avLst/>
          </a:prstGeom>
          <a:noFill/>
        </p:spPr>
        <p:txBody>
          <a:bodyPr wrap="square">
            <a:spAutoFit/>
          </a:bodyPr>
          <a:lstStyle/>
          <a:p>
            <a:r>
              <a:rPr sz="1350" b="1">
                <a:solidFill>
                  <a:srgbClr val="1F2937"/>
                </a:solidFill>
                <a:latin typeface="Arial"/>
              </a:rPr>
              <a:t>59 / 90 species  </a:t>
            </a:r>
            <a:r>
              <a:rPr sz="1350">
                <a:solidFill>
                  <a:srgbClr val="374151"/>
                </a:solidFill>
                <a:latin typeface="Arial"/>
              </a:rPr>
              <a:t>same exact formula across the three labels.</a:t>
            </a:r>
          </a:p>
        </p:txBody>
      </p:sp>
      <p:sp xmlns:a="http://schemas.openxmlformats.org/drawingml/2006/main">
        <p:nvSpPr>
          <p:cNvPr id="42" name="TextBox 41"/>
          <p:cNvSpPr txBox="1"/>
          <p:nvPr/>
        </p:nvSpPr>
        <p:spPr>
          <a:xfrm>
            <a:off x="960120" y="4398264"/>
            <a:ext cx="7223760" cy="566928"/>
          </a:xfrm>
          <a:prstGeom prst="rect">
            <a:avLst/>
          </a:prstGeom>
          <a:noFill/>
        </p:spPr>
        <p:txBody>
          <a:bodyPr wrap="square">
            <a:spAutoFit/>
          </a:bodyPr>
          <a:lstStyle/>
          <a:p>
            <a:r>
              <a:rPr sz="1350" b="1">
                <a:solidFill>
                  <a:srgbClr val="1F2937"/>
                </a:solidFill>
                <a:latin typeface="Arial"/>
              </a:rPr>
              <a:t>31 / 90 species  </a:t>
            </a:r>
            <a:r>
              <a:rPr sz="1350">
                <a:solidFill>
                  <a:srgbClr val="374151"/>
                </a:solidFill>
                <a:latin typeface="Arial"/>
              </a:rPr>
              <a:t>different exact formulas — different simulated materials under one name.</a:t>
            </a:r>
          </a:p>
        </p:txBody>
      </p:sp>
      <p:sp xmlns:a="http://schemas.openxmlformats.org/drawingml/2006/main">
        <p:nvSpPr>
          <p:cNvPr id="43" name="TextBox 42"/>
          <p:cNvSpPr txBox="1"/>
          <p:nvPr/>
        </p:nvSpPr>
        <p:spPr>
          <a:xfrm>
            <a:off x="960120" y="5120640"/>
            <a:ext cx="7223760" cy="1371600"/>
          </a:xfrm>
          <a:prstGeom prst="rect">
            <a:avLst/>
          </a:prstGeom>
          <a:noFill/>
        </p:spPr>
        <p:txBody>
          <a:bodyPr wrap="square">
            <a:spAutoFit/>
          </a:bodyPr>
          <a:lstStyle/>
          <a:p>
            <a:pPr>
              <a:spcAft>
                <a:spcPts val="600"/>
              </a:spcAft>
            </a:pPr>
            <a:r>
              <a:rPr sz="1700">
                <a:solidFill>
                  <a:srgbClr val="1F2937"/>
                </a:solidFill>
                <a:latin typeface="Arial"/>
              </a:rPr>
              <a:t>A directory name is not a concentration,</a:t>
            </a:r>
          </a:p>
          <a:p>
            <a:pPr>
              <a:spcAft>
                <a:spcPts val="600"/>
              </a:spcAft>
            </a:pPr>
            <a:r>
              <a:rPr sz="1700">
                <a:solidFill>
                  <a:srgbClr val="1F2937"/>
                </a:solidFill>
                <a:latin typeface="Arial"/>
              </a:rPr>
              <a:t>and three of them are not three replicates.</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A5</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inexpensive observable correlated with a target  ·  Validation: higher-fidelity matched evidence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Missing: no usable result exists; it must not be imputed by another method</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Method boundaries used in this seminar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method is named by the question it actually answers.</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right-hand column lists the evidence still needed before a materials recommendation.</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Project method conventions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pic xmlns:a="http://schemas.openxmlformats.org/drawingml/2006/main" xmlns:r="http://schemas.openxmlformats.org/officeDocument/2006/relationships">
        <p:nvPicPr>
          <p:cNvPr id="25" name="Picture 24" descr="image.png"/>
          <p:cNvPicPr>
            <a:picLocks noChangeAspect="1"/>
          </p:cNvPicPr>
          <p:nvPr/>
        </p:nvPicPr>
        <p:blipFill>
          <a:blip r:embed="rId3"/>
          <a:stretch>
            <a:fillRect/>
          </a:stretch>
        </p:blipFill>
        <p:spPr>
          <a:xfrm>
            <a:off x="502920" y="2522522"/>
            <a:ext cx="8138160" cy="3093115"/>
          </a:xfrm>
          <a:prstGeom prst="rect">
            <a:avLst/>
          </a:prstGeom>
        </p:spPr>
      </p:pic>
      <p:sp xmlns:a="http://schemas.openxmlformats.org/drawingml/2006/main">
        <p:nvSpPr>
          <p:cNvPr id="26" name="TextBox 2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Sundar et al., Adv. Sci. (2025), Fig. 2 — the same coating element scored at four different interfaces. An element that looks good against the electrolyte can look bad against the anode. We computed none of these four.</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