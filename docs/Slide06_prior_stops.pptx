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1" r:id="rId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Relationship Id="rId4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f6c3590f50c04caa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bg-2">
            <a:extLst xmlns:a="http://schemas.openxmlformats.org/drawingml/2006/main">
              <a:ext uri="{FF2B5EF4-FFF2-40B4-BE49-F238E27FC236}">
                <a16:creationId xmlns:a16="http://schemas.microsoft.com/office/drawing/2014/main" id="{42EC1371-5B0D-41B2-BF80-F758CD9B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2">
            <a:extLst xmlns:a="http://schemas.openxmlformats.org/drawingml/2006/main">
              <a:ext uri="{FF2B5EF4-FFF2-40B4-BE49-F238E27FC236}">
                <a16:creationId xmlns:a16="http://schemas.microsoft.com/office/drawing/2014/main" id="{D623EED9-29A0-45DF-8EE5-6F77B925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4937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Where prior screening stops</a:t>
            </a:r>
          </a:p>
        </p:txBody>
      </p:sp>
      <p:sp>
        <p:nvSpPr>
          <p:cNvPr id="3" name="terms-2">
            <a:extLst xmlns:a="http://schemas.openxmlformats.org/drawingml/2006/main">
              <a:ext uri="{FF2B5EF4-FFF2-40B4-BE49-F238E27FC236}">
                <a16:creationId xmlns:a16="http://schemas.microsoft.com/office/drawing/2014/main" id="{F792F0E3-CE53-49E0-BCCF-F37A8450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19456"/>
            <a:ext cx="3136392" cy="237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Adv. Energy Mater., 14, 2304025 (2024).</a:t>
            </a:r>
          </a:p>
        </p:txBody>
      </p:sp>
      <p:sp>
        <p:nvSpPr>
          <p:cNvPr id="4" name="divider-2">
            <a:extLst xmlns:a="http://schemas.openxmlformats.org/drawingml/2006/main">
              <a:ext uri="{FF2B5EF4-FFF2-40B4-BE49-F238E27FC236}">
                <a16:creationId xmlns:a16="http://schemas.microsoft.com/office/drawing/2014/main" id="{DA99A446-E4AC-418D-9803-BFCBDD3D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2">
            <a:extLst xmlns:a="http://schemas.openxmlformats.org/drawingml/2006/main">
              <a:ext uri="{FF2B5EF4-FFF2-40B4-BE49-F238E27FC236}">
                <a16:creationId xmlns:a16="http://schemas.microsoft.com/office/drawing/2014/main" id="{2F72EA30-3994-437F-B0DA-EDD82E38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2">
            <a:extLst xmlns:a="http://schemas.openxmlformats.org/drawingml/2006/main">
              <a:ext uri="{FF2B5EF4-FFF2-40B4-BE49-F238E27FC236}">
                <a16:creationId xmlns:a16="http://schemas.microsoft.com/office/drawing/2014/main" id="{7738225A-C6C1-4C88-AD90-F4446A1E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Prior work (3): Site-resolved screening already exists</a:t>
            </a:r>
          </a:p>
        </p:txBody>
      </p:sp>
      <p:sp>
        <p:nvSpPr>
          <p:cNvPr id="7" name="bullet-dot-2-0">
            <a:extLst xmlns:a="http://schemas.openxmlformats.org/drawingml/2006/main">
              <a:ext uri="{FF2B5EF4-FFF2-40B4-BE49-F238E27FC236}">
                <a16:creationId xmlns:a16="http://schemas.microsoft.com/office/drawing/2014/main" id="{BCADEBCB-FECB-4E8F-BB40-9992E238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2-0">
            <a:extLst xmlns:a="http://schemas.openxmlformats.org/drawingml/2006/main">
              <a:ext uri="{FF2B5EF4-FFF2-40B4-BE49-F238E27FC236}">
                <a16:creationId xmlns:a16="http://schemas.microsoft.com/office/drawing/2014/main" id="{97F073C5-D98B-4A92-ADF3-6B1977D3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One cation is placed on three candidate sites, and the site is chosen by energy.</a:t>
            </a:r>
          </a:p>
        </p:txBody>
      </p:sp>
      <p:sp>
        <p:nvSpPr>
          <p:cNvPr id="9" name="bullet-dot-2-1">
            <a:extLst xmlns:a="http://schemas.openxmlformats.org/drawingml/2006/main">
              <a:ext uri="{FF2B5EF4-FFF2-40B4-BE49-F238E27FC236}">
                <a16:creationId xmlns:a16="http://schemas.microsoft.com/office/drawing/2014/main" id="{DAB856AC-5722-4BA6-837F-607BFDFA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883664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2-1">
            <a:extLst xmlns:a="http://schemas.openxmlformats.org/drawingml/2006/main">
              <a:ext uri="{FF2B5EF4-FFF2-40B4-BE49-F238E27FC236}">
                <a16:creationId xmlns:a16="http://schemas.microsoft.com/office/drawing/2014/main" id="{B8F35558-8FB5-4548-A491-8A0189E2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83664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Here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 whole compound enters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, so a cation site and an anion site are chosen together.</a:t>
            </a:r>
          </a:p>
        </p:txBody>
      </p:sp>
      <p:sp>
        <p:nvSpPr>
          <p:cNvPr id="11" name="citation-2">
            <a:extLst xmlns:a="http://schemas.openxmlformats.org/drawingml/2006/main">
              <a:ext uri="{FF2B5EF4-FFF2-40B4-BE49-F238E27FC236}">
                <a16:creationId xmlns:a16="http://schemas.microsoft.com/office/drawing/2014/main" id="{15A87E25-6307-4635-B824-9EE41267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925312"/>
            <a:ext cx="8101583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638" i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638" i="1">
                <a:solidFill>
                  <a:srgbClr val="6B7280"/>
                </a:solidFill>
                <a:latin typeface="Arial"/>
                <a:ea typeface="Arial"/>
                <a:cs typeface="Arial"/>
              </a:rPr>
              <a:t>Lee 2024: J. Mater. Chem. A, 12, 7272.   Xiao 2019: Joule, 3, 1252.   Left figure: Anderson et al. (2024) Fig. 3d, plotting defect energies from Miara et al. (2015).</a:t>
            </a:r>
          </a:p>
        </p:txBody>
      </p:sp>
      <p:sp>
        <p:nvSpPr>
          <p:cNvPr id="12" name="footer-brand-2">
            <a:extLst xmlns:a="http://schemas.openxmlformats.org/drawingml/2006/main">
              <a:ext uri="{FF2B5EF4-FFF2-40B4-BE49-F238E27FC236}">
                <a16:creationId xmlns:a16="http://schemas.microsoft.com/office/drawing/2014/main" id="{1C741C2F-D017-43D0-885B-99CBDF56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2">
            <a:extLst xmlns:a="http://schemas.openxmlformats.org/drawingml/2006/main">
              <a:ext uri="{FF2B5EF4-FFF2-40B4-BE49-F238E27FC236}">
                <a16:creationId xmlns:a16="http://schemas.microsoft.com/office/drawing/2014/main" id="{B91944C3-DB4A-4076-AF1D-47C0F8DA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C0E3793D-7774-496D-9AB3-19C8C670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5532120" y="448056"/>
            <a:ext cx="313639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 i="1">
                <a:solidFill>
                  <a:srgbClr val="1F2937"/>
                </a:solidFill>
                <a:latin typeface="Arial"/>
              </a:rPr>
              <a:t>Chem. Mater., 27, 4040 (2015).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1481328" y="1664208"/>
            <a:ext cx="70408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Arial"/>
              </a:rPr>
              <a:t>(Li site · La site · Zr site → the lowest defect energy wins)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1481328" y="2103120"/>
            <a:ext cx="704088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Arial"/>
              </a:rPr>
              <a:t>(site × charge recipe → several structures per compound)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27857"/>
            <a:ext cx="3913632" cy="886942"/>
          </a:xfrm>
          <a:prstGeom prst="rect">
            <a:avLst/>
          </a:prstGeom>
        </p:spPr>
      </p:pic>
      <p:sp xmlns:a="http://schemas.openxmlformats.org/drawingml/2006/main">
        <p:nvSpPr>
          <p:cNvPr id="39" name="TextBox 38"/>
          <p:cNvSpPr txBox="1"/>
          <p:nvPr/>
        </p:nvSpPr>
        <p:spPr>
          <a:xfrm>
            <a:off x="566928" y="4151376"/>
            <a:ext cx="39136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45 dopants × 3 sites in a garnet &gt;</a:t>
            </a:r>
          </a:p>
        </p:txBody>
      </p:sp>
      <p:sp xmlns:a="http://schemas.openxmlformats.org/drawingml/2006/main">
        <p:nvSpPr>
          <p:cNvPr id="40" name="TextBox 39"/>
          <p:cNvSpPr txBox="1"/>
          <p:nvPr/>
        </p:nvSpPr>
        <p:spPr>
          <a:xfrm>
            <a:off x="566928" y="4389120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one cation at a time</a:t>
            </a:r>
          </a:p>
        </p:txBody>
      </p:sp>
      <p:pic xmlns:a="http://schemas.openxmlformats.org/drawingml/2006/main" xmlns:r="http://schemas.openxmlformats.org/officeDocument/2006/relationships"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4168" y="2432304"/>
            <a:ext cx="2972175" cy="1682495"/>
          </a:xfrm>
          <a:prstGeom prst="rect">
            <a:avLst/>
          </a:prstGeom>
        </p:spPr>
      </p:pic>
      <p:sp xmlns:a="http://schemas.openxmlformats.org/drawingml/2006/main">
        <p:nvSpPr>
          <p:cNvPr id="42" name="TextBox 41"/>
          <p:cNvSpPr txBox="1"/>
          <p:nvPr/>
        </p:nvSpPr>
        <p:spPr>
          <a:xfrm>
            <a:off x="4663440" y="4151376"/>
            <a:ext cx="391363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91 compounds in our sulfide host &gt;</a:t>
            </a:r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4663440" y="4389120"/>
            <a:ext cx="39136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>
                <a:solidFill>
                  <a:srgbClr val="4B5563"/>
                </a:solidFill>
                <a:latin typeface="Arial"/>
              </a:rPr>
              <a:t>a whole compound at a time</a:t>
            </a:r>
          </a:p>
        </p:txBody>
      </p:sp>
      <p:graphicFrame xmlns:a="http://schemas.openxmlformats.org/drawingml/2006/main">
        <p:nvGraphicFramePr>
          <p:cNvPr id="44" name="Table 43"/>
          <p:cNvGraphicFramePr>
            <a:graphicFrameLocks noGrp="1"/>
          </p:cNvGraphicFramePr>
          <p:nvPr/>
        </p:nvGraphicFramePr>
        <p:xfrm>
          <a:off x="566928" y="4626864"/>
          <a:ext cx="8010144" cy="10744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76756"/>
                <a:gridCol w="1476756"/>
                <a:gridCol w="1476756"/>
                <a:gridCol w="1476756"/>
              </a:tblGrid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host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what is varied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  <a:latin typeface="Arial"/>
                        </a:rPr>
                        <a:t>mechanical axis</a:t>
                      </a:r>
                    </a:p>
                  </a:txBody>
                  <a:tcPr marL="64008" marR="64008" marT="18288" marB="18288">
                    <a:solidFill>
                      <a:srgbClr val="EEF2F7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Miara 2015 (via Anderson)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garnet oxide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one cation, 3 sites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Lee 2024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argyrodite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elements already in the formula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Xiao 2019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 host</a:t>
                      </a:r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 — free coating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the compound itself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104,082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BE123C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this work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argyrodite sulfide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563EB"/>
                          </a:solidFill>
                          <a:latin typeface="Arial"/>
                        </a:rPr>
                        <a:t>a foreign binary compound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74151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563EB"/>
                          </a:solidFill>
                          <a:latin typeface="Arial"/>
                        </a:rPr>
                        <a:t>included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0676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