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269442fd8ce4b81" Type="http://schemas.openxmlformats.org/officeDocument/2006/relationships/officeDocument" Target="ppt/presentation.xml"/><Relationship Id="R69334117c5514b65" Type="http://schemas.openxmlformats.org/package/2006/relationships/metadata/core-properties" Target="docProps/core.xml"/><Relationship Id="Rcd7563b061c1420c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9f4c5f7750487f"/>
  </p:sldMasterIdLst>
  <p:notesMasterIdLst>
    <p:notesMasterId xmlns:r="http://schemas.openxmlformats.org/officeDocument/2006/relationships" r:id="R636b2433d8094769"/>
  </p:notesMasterIdLst>
  <p:sldIdLst>
    <p:sldId xmlns:r="http://schemas.openxmlformats.org/officeDocument/2006/relationships" id="261" r:id="rId4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bedd3fc95014fed" Type="http://schemas.openxmlformats.org/officeDocument/2006/relationships/presProps" Target="presProps.xml"/><Relationship Id="R245a50a1643649ab" Type="http://schemas.openxmlformats.org/officeDocument/2006/relationships/tableStyles" Target="tableStyles.xml"/><Relationship Id="R3eabe3a8ecf741a2" Type="http://schemas.openxmlformats.org/officeDocument/2006/relationships/viewProps" Target="viewProps.xml"/><Relationship Id="R636b2433d8094769" Type="http://schemas.openxmlformats.org/officeDocument/2006/relationships/notesMaster" Target="notesMasters/notesMaster1.xml"/><Relationship Id="R7a9f4c5f7750487f" Type="http://schemas.openxmlformats.org/officeDocument/2006/relationships/slideMaster" Target="slideMasters/slideMaster1.xml"/><Relationship Id="Rd15051cc896443fc" Type="http://schemas.openxmlformats.org/officeDocument/2006/relationships/theme" Target="theme/theme1.xml"/><Relationship Id="rId4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32b1c3d1c614449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 standalone='yes'?>
<Relationships xmlns="http://schemas.openxmlformats.org/package/2006/relationships"><Relationship Id="R2567e83c79114d4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3280d18f2f3450f" Type="http://schemas.openxmlformats.org/officeDocument/2006/relationships/theme" Target="theme/theme2.xml"/><Relationship Id="Ra667905730bd4f44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67905730bd4f4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f6c3590f50c04caa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bg-2">
            <a:extLst xmlns:a="http://schemas.openxmlformats.org/drawingml/2006/main">
              <a:ext uri="{FF2B5EF4-FFF2-40B4-BE49-F238E27FC236}">
                <a16:creationId xmlns:a16="http://schemas.microsoft.com/office/drawing/2014/main" id="{42EC1371-5B0D-41B2-BF80-F758CD9B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D623EED9-29A0-45DF-8EE5-6F77B925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237744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Where prior screening stops</a:t>
            </a:r>
          </a:p>
        </p:txBody>
      </p:sp>
      <p:sp>
        <p:nvSpPr>
          <p:cNvPr id="3" name="terms-2">
            <a:extLst xmlns:a="http://schemas.openxmlformats.org/drawingml/2006/main">
              <a:ext uri="{FF2B5EF4-FFF2-40B4-BE49-F238E27FC236}">
                <a16:creationId xmlns:a16="http://schemas.microsoft.com/office/drawing/2014/main" id="{F792F0E3-CE53-49E0-BCCF-F37A8450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19456"/>
            <a:ext cx="3136392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63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F2937"/>
                </a:solidFill>
                <a:latin typeface="Arial"/>
                <a:ea typeface="Arial"/>
                <a:cs typeface="Arial"/>
              </a:rPr>
              <a:t>Adv. Energy Mater., 14, 2304025 (2024).</a:t>
            </a:r>
          </a:p>
        </p:txBody>
      </p:sp>
      <p:sp>
        <p:nvSpPr>
          <p:cNvPr id="4" name="divider-2">
            <a:extLst xmlns:a="http://schemas.openxmlformats.org/drawingml/2006/main">
              <a:ext uri="{FF2B5EF4-FFF2-40B4-BE49-F238E27FC236}">
                <a16:creationId xmlns:a16="http://schemas.microsoft.com/office/drawing/2014/main" id="{DA99A446-E4AC-418D-9803-BFCBDD3D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83343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claim-square-2">
            <a:extLst xmlns:a="http://schemas.openxmlformats.org/drawingml/2006/main">
              <a:ext uri="{FF2B5EF4-FFF2-40B4-BE49-F238E27FC236}">
                <a16:creationId xmlns:a16="http://schemas.microsoft.com/office/drawing/2014/main" id="{2F72EA30-3994-437F-B0DA-EDD82E38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028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1B2B"/>
          </a:solidFill>
          <a:ln xmlns:a="http://schemas.openxmlformats.org/drawingml/2006/main" w="0">
            <a:solidFill>
              <a:srgbClr val="A61B2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claim-2">
            <a:extLst xmlns:a="http://schemas.openxmlformats.org/drawingml/2006/main">
              <a:ext uri="{FF2B5EF4-FFF2-40B4-BE49-F238E27FC236}">
                <a16:creationId xmlns:a16="http://schemas.microsoft.com/office/drawing/2014/main" id="{7738225A-C6C1-4C88-AD90-F4446A1E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3925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7"/>
                </a:solidFill>
                <a:latin typeface="Arial"/>
                <a:ea typeface="Arial"/>
                <a:cs typeface="Arial"/>
              </a:rPr>
              <a:t>Prior work (3): Site-resolved screening already exists</a:t>
            </a:r>
          </a:p>
        </p:txBody>
      </p:sp>
      <p:sp>
        <p:nvSpPr>
          <p:cNvPr id="7" name="bullet-dot-2-0">
            <a:extLst xmlns:a="http://schemas.openxmlformats.org/drawingml/2006/main">
              <a:ext uri="{FF2B5EF4-FFF2-40B4-BE49-F238E27FC236}">
                <a16:creationId xmlns:a16="http://schemas.microsoft.com/office/drawing/2014/main" id="{BCADEBCB-FECB-4E8F-BB40-9992E238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37160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F4E7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bullet-2-0">
            <a:extLst xmlns:a="http://schemas.openxmlformats.org/drawingml/2006/main">
              <a:ext uri="{FF2B5EF4-FFF2-40B4-BE49-F238E27FC236}">
                <a16:creationId xmlns:a16="http://schemas.microsoft.com/office/drawing/2014/main" id="{97F073C5-D98B-4A92-ADF3-6B1977D3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811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2937"/>
                </a:solidFill>
                <a:latin typeface="Arial"/>
                <a:ea typeface="Arial"/>
                <a:cs typeface="Arial"/>
              </a:rPr>
              <a:t>One cation is placed on three candidate sites, and the site is chosen by energy.</a:t>
            </a:r>
          </a:p>
        </p:txBody>
      </p:sp>
      <p:sp>
        <p:nvSpPr>
          <p:cNvPr id="9" name="bullet-dot-2-1">
            <a:extLst xmlns:a="http://schemas.openxmlformats.org/drawingml/2006/main">
              <a:ext uri="{FF2B5EF4-FFF2-40B4-BE49-F238E27FC236}">
                <a16:creationId xmlns:a16="http://schemas.microsoft.com/office/drawing/2014/main" id="{DAB856AC-5722-4BA6-837F-607BFDFA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10512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bullet-2-1">
            <a:extLst xmlns:a="http://schemas.openxmlformats.org/drawingml/2006/main">
              <a:ext uri="{FF2B5EF4-FFF2-40B4-BE49-F238E27FC236}">
                <a16:creationId xmlns:a16="http://schemas.microsoft.com/office/drawing/2014/main" id="{B8F35558-8FB5-4548-A491-8A0189E2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10512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2937"/>
                </a:solidFill>
                <a:latin typeface="Arial"/>
                <a:ea typeface="Arial"/>
                <a:cs typeface="Arial"/>
              </a:rPr>
              <a:t>A dopant enters as </a:t>
            </a: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 precursor, not an element</a:t>
            </a:r>
            <a:r>
              <a:rPr sz="127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, so a cation and an anion are placed at once.</a:t>
            </a:r>
          </a:p>
        </p:txBody>
      </p:sp>
      <p:sp>
        <p:nvSpPr>
          <p:cNvPr id="11" name="citation-2">
            <a:extLst xmlns:a="http://schemas.openxmlformats.org/drawingml/2006/main">
              <a:ext uri="{FF2B5EF4-FFF2-40B4-BE49-F238E27FC236}">
                <a16:creationId xmlns:a16="http://schemas.microsoft.com/office/drawing/2014/main" id="{15A87E25-6307-4635-B824-9EE41267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61888"/>
            <a:ext cx="8101583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8" i="1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638" i="1">
                <a:solidFill>
                  <a:srgbClr val="6B7280"/>
                </a:solidFill>
                <a:latin typeface="Arial"/>
                <a:ea typeface="Arial"/>
                <a:cs typeface="Arial"/>
              </a:rPr>
              <a:t>Lee 2024: J. Mater. Chem. A, 12, 7272.   Xiao 2019: Joule, 3, 1252.   Left: Anderson et al. (2024) Fig. 3d — defect energies taken from Miara et al. (2015), as stated in that caption.</a:t>
            </a:r>
          </a:p>
        </p:txBody>
      </p:sp>
      <p:sp>
        <p:nvSpPr>
          <p:cNvPr id="12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1C741C2F-D017-43D0-885B-99CBDF56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05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HANYANG UNIVERSITY</a:t>
            </a:r>
          </a:p>
        </p:txBody>
      </p:sp>
      <p:sp>
        <p:nvSpPr>
          <p:cNvPr id="13" name="footer-lab-2">
            <a:extLst xmlns:a="http://schemas.openxmlformats.org/drawingml/2006/main">
              <a:ext uri="{FF2B5EF4-FFF2-40B4-BE49-F238E27FC236}">
                <a16:creationId xmlns:a16="http://schemas.microsoft.com/office/drawing/2014/main" id="{B91944C3-DB4A-4076-AF1D-47C0F8DA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5055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280"/>
                </a:solidFill>
                <a:latin typeface="Arial"/>
                <a:ea typeface="Arial"/>
                <a:cs typeface="Arial"/>
              </a:rPr>
              <a:t>Battery Materials Lab.</a:t>
            </a:r>
          </a:p>
        </p:txBody>
      </p:sp>
      <p:sp>
        <p:nvSpPr>
          <p:cNvPr id="14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C0E3793D-7774-496D-9AB3-19C8C670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B728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 xmlns:a="http://schemas.openxmlformats.org/drawingml/2006/main">
        <p:nvSpPr>
          <p:cNvPr id="35" name="TextBox 34"/>
          <p:cNvSpPr txBox="1"/>
          <p:nvPr/>
        </p:nvSpPr>
        <p:spPr>
          <a:xfrm>
            <a:off x="5532120" y="448056"/>
            <a:ext cx="3136392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i="1">
                <a:solidFill>
                  <a:srgbClr val="1F2937"/>
                </a:solidFill>
                <a:latin typeface="Arial"/>
              </a:rPr>
              <a:t>Chem. Mater., 27, 4040 (2015).</a:t>
            </a:r>
          </a:p>
        </p:txBody>
      </p:sp>
      <p:pic xmlns:a="http://schemas.openxmlformats.org/drawingml/2006/main" xmlns:r="http://schemas.openxmlformats.org/officeDocument/2006/relationships">
        <p:nvPicPr>
          <p:cNvPr id="36" name="Picture 35" descr="prior_site_defect_ener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385300"/>
            <a:ext cx="3913632" cy="692923"/>
          </a:xfrm>
          <a:prstGeom prst="rect">
            <a:avLst/>
          </a:prstGeom>
        </p:spPr>
      </p:pic>
      <p:sp xmlns:a="http://schemas.openxmlformats.org/drawingml/2006/main">
        <p:nvSpPr>
          <p:cNvPr id="37" name="TextBox 36"/>
          <p:cNvSpPr txBox="1"/>
          <p:nvPr/>
        </p:nvSpPr>
        <p:spPr>
          <a:xfrm>
            <a:off x="566928" y="4114800"/>
            <a:ext cx="39136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rial"/>
              </a:rPr>
              <a:t>&lt; 45 dopants × 3 sites in a garnet &gt;</a:t>
            </a:r>
          </a:p>
        </p:txBody>
      </p:sp>
      <p:sp xmlns:a="http://schemas.openxmlformats.org/drawingml/2006/main">
        <p:nvSpPr>
          <p:cNvPr id="38" name="TextBox 37"/>
          <p:cNvSpPr txBox="1"/>
          <p:nvPr/>
        </p:nvSpPr>
        <p:spPr>
          <a:xfrm>
            <a:off x="566928" y="4352544"/>
            <a:ext cx="3913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4B5563"/>
                </a:solidFill>
                <a:latin typeface="Arial"/>
              </a:rPr>
              <a:t>one cation at a time</a:t>
            </a:r>
          </a:p>
        </p:txBody>
      </p:sp>
      <p:pic xmlns:a="http://schemas.openxmlformats.org/drawingml/2006/main" xmlns:r="http://schemas.openxmlformats.org/officeDocument/2006/relationships"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014" y="2377439"/>
            <a:ext cx="3004482" cy="1700784"/>
          </a:xfrm>
          <a:prstGeom prst="rect">
            <a:avLst/>
          </a:prstGeom>
        </p:spPr>
      </p:pic>
      <p:sp xmlns:a="http://schemas.openxmlformats.org/drawingml/2006/main">
        <p:nvSpPr>
          <p:cNvPr id="40" name="TextBox 39"/>
          <p:cNvSpPr txBox="1"/>
          <p:nvPr/>
        </p:nvSpPr>
        <p:spPr>
          <a:xfrm>
            <a:off x="4663440" y="4114800"/>
            <a:ext cx="39136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rial"/>
              </a:rPr>
              <a:t>&lt; 91 compounds in our sulfide host &gt;</a:t>
            </a:r>
          </a:p>
        </p:txBody>
      </p:sp>
      <p:sp xmlns:a="http://schemas.openxmlformats.org/drawingml/2006/main">
        <p:nvSpPr>
          <p:cNvPr id="41" name="TextBox 40"/>
          <p:cNvSpPr txBox="1"/>
          <p:nvPr/>
        </p:nvSpPr>
        <p:spPr>
          <a:xfrm>
            <a:off x="4663440" y="4352544"/>
            <a:ext cx="3913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4B5563"/>
                </a:solidFill>
                <a:latin typeface="Arial"/>
              </a:rPr>
              <a:t>one precursor at a time</a:t>
            </a:r>
          </a:p>
        </p:txBody>
      </p:sp>
      <p:graphicFrame xmlns:a="http://schemas.openxmlformats.org/drawingml/2006/main">
        <p:nvGraphicFramePr>
          <p:cNvPr id="42" name="Table 41"/>
          <p:cNvGraphicFramePr>
            <a:graphicFrameLocks noGrp="1"/>
          </p:cNvGraphicFramePr>
          <p:nvPr/>
        </p:nvGraphicFramePr>
        <p:xfrm>
          <a:off x="566928" y="4718304"/>
          <a:ext cx="8010144" cy="10744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1476756"/>
                <a:gridCol w="1476756"/>
                <a:gridCol w="1476756"/>
                <a:gridCol w="1476756"/>
              </a:tblGrid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937"/>
                          </a:solidFill>
                          <a:latin typeface="Arial"/>
                        </a:rPr>
                        <a:t>study</a:t>
                      </a:r>
                    </a:p>
                  </a:txBody>
                  <a:tcPr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37"/>
                          </a:solidFill>
                          <a:latin typeface="Arial"/>
                        </a:rPr>
                        <a:t>host</a:t>
                      </a:r>
                    </a:p>
                  </a:txBody>
                  <a:tcPr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37"/>
                          </a:solidFill>
                          <a:latin typeface="Arial"/>
                        </a:rPr>
                        <a:t>what is varied</a:t>
                      </a:r>
                    </a:p>
                  </a:txBody>
                  <a:tcPr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37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marL="64008" marR="64008" marT="18288" marB="18288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1F2937"/>
                          </a:solidFill>
                          <a:latin typeface="Arial"/>
                        </a:rPr>
                        <a:t>mechanical axis</a:t>
                      </a:r>
                    </a:p>
                  </a:txBody>
                  <a:tcPr marL="64008" marR="64008" marT="18288" marB="18288">
                    <a:solidFill>
                      <a:srgbClr val="EEF2F7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rial"/>
                        </a:rPr>
                        <a:t>Miara 2015 (via Anderson)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rial"/>
                        </a:rPr>
                        <a:t>garnet oxide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rial"/>
                        </a:rPr>
                        <a:t>one cation, 3 sites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E123C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rial"/>
                        </a:rPr>
                        <a:t>Lee 2024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rial"/>
                        </a:rPr>
                        <a:t>argyrodite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rial"/>
                        </a:rPr>
                        <a:t>elements already in the formula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E123C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rial"/>
                        </a:rPr>
                        <a:t>Xiao 2019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E123C"/>
                          </a:solidFill>
                          <a:latin typeface="Arial"/>
                        </a:rPr>
                        <a:t>no host</a:t>
                      </a:r>
                      <a:r>
                        <a:rPr sz="1000" b="0">
                          <a:solidFill>
                            <a:srgbClr val="374151"/>
                          </a:solidFill>
                          <a:latin typeface="Arial"/>
                        </a:rPr>
                        <a:t> — free coating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rial"/>
                        </a:rPr>
                        <a:t>the compound itself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rial"/>
                        </a:rPr>
                        <a:t>104,082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BE123C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74151"/>
                          </a:solidFill>
                          <a:latin typeface="Arial"/>
                        </a:rPr>
                        <a:t>this work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rial"/>
                        </a:rPr>
                        <a:t>argyrodite sulfide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563EB"/>
                          </a:solidFill>
                          <a:latin typeface="Arial"/>
                        </a:rPr>
                        <a:t>an added precursor compound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74151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563EB"/>
                          </a:solidFill>
                          <a:latin typeface="Arial"/>
                        </a:rPr>
                        <a:t>included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106766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2026-08-16T17:36:15.2940000Z</dcterms:created>
  <dcterms:modified xsi:type="dcterms:W3CDTF">2026-08-16T17:36:15.2940000Z</dcterms:modified>
</coreProperties>
</file>