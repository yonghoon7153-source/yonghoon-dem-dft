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60" r:id="Rbfba0b31b08944a9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bfba0b31b08944a9" Type="http://schemas.openxmlformats.org/officeDocument/2006/relationships/slide" Target="slides/slide1.xml"/><Relationship Id="Rd15051cc896443f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4.xml.rels><?xml version='1.0' encoding='UTF-8' standalone='yes'?>
<Relationships xmlns="http://schemas.openxmlformats.org/package/2006/relationships"><Relationship Id="R414c9682839643be" Type="http://schemas.openxmlformats.org/officeDocument/2006/relationships/notesMaster" Target="../notesMasters/notesMaster1.xml"/><Relationship Id="R6217f86a64e7454f" Type="http://schemas.openxmlformats.org/officeDocument/2006/relationships/slide" Target="../slides/slide1.xml"/></Relationship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workflow는 문헌의 결과 숫자를 복사한 것이 아닙니다. 넓은 화학 공간은 빠르게 훑고, 서로 다른 물리 질문은 따로 계산하고, 마지막 판단은 같은 조건의 DFT·MD·실험으로 넘긴다는 원칙을 가져왔습니다. 그래서 싼 모델은 후보를 확정하는 판정기가 아니라, 다음 계산 순서를 바꾸는 도구로 쓰는 게 맞습니다.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[발표자 메모]</a:t>
            </a:r>
            <a:endParaRPr/>
          </a:p>
          <a:p xmlns:a="http://schemas.openxmlformats.org/drawingml/2006/main">
            <a:r>
              <a:t>네 단계 중 ‘physics-specific checks’와 ‘expensive validation’ 사이를 특히 강조한다.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Xiao 2019; Kahle 2020; Sundar 2025; Sendek 2017.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7fe1e7f0afa4efe" Type="http://schemas.openxmlformats.org/officeDocument/2006/relationships/notesSlide" Target="../notesSlides/notesSlide4.xml"/><Relationship Id="Ra6a2ed24502f45cf" Type="http://schemas.openxmlformats.org/officeDocument/2006/relationships/slideLayout" Target="../slideLayouts/slideLayout1.xml"/><Relationship Id="rId3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bg-4">
            <a:extLst xmlns:a="http://schemas.openxmlformats.org/drawingml/2006/main">
              <a:ext uri="{FF2B5EF4-FFF2-40B4-BE49-F238E27FC236}">
                <a16:creationId xmlns:a16="http://schemas.microsoft.com/office/drawing/2014/main" id="{4BDB3DB1-F0D2-47F1-9A10-7D81868B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49262A36-F761-495D-BC8E-C21FEB43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Screening with a trained model</a:t>
            </a:r>
          </a:p>
        </p:txBody>
      </p:sp>
      <p:sp>
        <p:nvSpPr>
          <p:cNvPr id="3" name="terms-4">
            <a:extLst xmlns:a="http://schemas.openxmlformats.org/drawingml/2006/main">
              <a:ext uri="{FF2B5EF4-FFF2-40B4-BE49-F238E27FC236}">
                <a16:creationId xmlns:a16="http://schemas.microsoft.com/office/drawing/2014/main" id="{B3063AEA-D37F-4F88-A11D-D7A58D1A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7432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Energy Environ. Sci., 10, 306 (2017).</a:t>
            </a:r>
          </a:p>
        </p:txBody>
      </p:sp>
      <p:sp>
        <p:nvSpPr>
          <p:cNvPr id="4" name="divider-4">
            <a:extLst xmlns:a="http://schemas.openxmlformats.org/drawingml/2006/main">
              <a:ext uri="{FF2B5EF4-FFF2-40B4-BE49-F238E27FC236}">
                <a16:creationId xmlns:a16="http://schemas.microsoft.com/office/drawing/2014/main" id="{370504A0-7C97-4C9D-9747-EC6C551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4">
            <a:extLst xmlns:a="http://schemas.openxmlformats.org/drawingml/2006/main">
              <a:ext uri="{FF2B5EF4-FFF2-40B4-BE49-F238E27FC236}">
                <a16:creationId xmlns:a16="http://schemas.microsoft.com/office/drawing/2014/main" id="{5BFFE75D-89A1-4129-ADCD-529BE0C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4">
            <a:extLst xmlns:a="http://schemas.openxmlformats.org/drawingml/2006/main">
              <a:ext uri="{FF2B5EF4-FFF2-40B4-BE49-F238E27FC236}">
                <a16:creationId xmlns:a16="http://schemas.microsoft.com/office/drawing/2014/main" id="{EC7A92B1-D6EB-435E-931B-409A96AB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Prior work (2): A trained model can replace the slowest gate</a:t>
            </a:r>
          </a:p>
        </p:txBody>
      </p:sp>
      <p:sp>
        <p:nvSpPr>
          <p:cNvPr id="7" name="bullet-dot-4-0">
            <a:extLst xmlns:a="http://schemas.openxmlformats.org/drawingml/2006/main">
              <a:ext uri="{FF2B5EF4-FFF2-40B4-BE49-F238E27FC236}">
                <a16:creationId xmlns:a16="http://schemas.microsoft.com/office/drawing/2014/main" id="{EE64737B-452A-4734-B65A-ECDC511A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4-0">
            <a:extLst xmlns:a="http://schemas.openxmlformats.org/drawingml/2006/main">
              <a:ext uri="{FF2B5EF4-FFF2-40B4-BE49-F238E27FC236}">
                <a16:creationId xmlns:a16="http://schemas.microsoft.com/office/drawing/2014/main" id="{35CA1936-1001-48FD-9EC0-D73181F3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One track runs three physical branches and merges them into a candidate list.</a:t>
            </a:r>
          </a:p>
        </p:txBody>
      </p:sp>
      <p:sp>
        <p:nvSpPr>
          <p:cNvPr id="9" name="bullet-dot-4-1">
            <a:extLst xmlns:a="http://schemas.openxmlformats.org/drawingml/2006/main">
              <a:ext uri="{FF2B5EF4-FFF2-40B4-BE49-F238E27FC236}">
                <a16:creationId xmlns:a16="http://schemas.microsoft.com/office/drawing/2014/main" id="{00E4E1D3-3E6B-429D-A82A-B692228A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83664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4-1">
            <a:extLst xmlns:a="http://schemas.openxmlformats.org/drawingml/2006/main">
              <a:ext uri="{FF2B5EF4-FFF2-40B4-BE49-F238E27FC236}">
                <a16:creationId xmlns:a16="http://schemas.microsoft.com/office/drawing/2014/main" id="{F5A27B81-C7CD-428D-AB85-F87C7131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83664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other trains a classifier on measured conductivity and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feeds it back into the screen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citation-4">
            <a:extLst xmlns:a="http://schemas.openxmlformats.org/drawingml/2006/main">
              <a:ext uri="{FF2B5EF4-FFF2-40B4-BE49-F238E27FC236}">
                <a16:creationId xmlns:a16="http://schemas.microsoft.com/office/drawing/2014/main" id="{BC16564A-0A65-4FEC-9F7C-408C940E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6089904"/>
            <a:ext cx="3364992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8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Sendek et al., Fig. 1</a:t>
            </a:r>
          </a:p>
        </p:txBody>
      </p:sp>
      <p:sp>
        <p:nvSpPr>
          <p:cNvPr id="12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8E8C852F-E377-450C-9EDD-85A21E6A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4">
            <a:extLst xmlns:a="http://schemas.openxmlformats.org/drawingml/2006/main">
              <a:ext uri="{FF2B5EF4-FFF2-40B4-BE49-F238E27FC236}">
                <a16:creationId xmlns:a16="http://schemas.microsoft.com/office/drawing/2014/main" id="{DAACC2F2-22A6-43E5-A4AE-8F2EA8E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04BC6B6-EC47-4E39-A5AB-77E0746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1481328" y="1664208"/>
            <a:ext cx="7040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rial"/>
              </a:rPr>
              <a:t>(stoichiometry · electronic structure · atomistic structure → most promising candidates)</a:t>
            </a:r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1481328" y="2103120"/>
            <a:ext cx="7040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rial"/>
              </a:rPr>
              <a:t>(measured pairs → feature extraction → superionic classifier)</a:t>
            </a:r>
          </a:p>
        </p:txBody>
      </p:sp>
      <p:pic xmlns:a="http://schemas.openxmlformats.org/drawingml/2006/main" xmlns:r="http://schemas.openxmlformats.org/officeDocument/2006/relationships"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26" y="2487168"/>
            <a:ext cx="6141946" cy="3072384"/>
          </a:xfrm>
          <a:prstGeom prst="rect">
            <a:avLst/>
          </a:prstGeom>
        </p:spPr>
      </p:pic>
      <p:sp xmlns:a="http://schemas.openxmlformats.org/drawingml/2006/main">
        <p:nvSpPr>
          <p:cNvPr id="41" name="TextBox 40"/>
          <p:cNvSpPr txBox="1"/>
          <p:nvPr/>
        </p:nvSpPr>
        <p:spPr>
          <a:xfrm>
            <a:off x="1501026" y="5605272"/>
            <a:ext cx="614194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a trained model feeds back into the screen &gt;</a:t>
            </a:r>
          </a:p>
        </p:txBody>
      </p:sp>
    </p:spTree>
    <p:extLst>
      <p:ext uri="{BB962C8B-B14F-4D97-AF65-F5344CB8AC3E}">
        <p14:creationId xmlns:p14="http://schemas.microsoft.com/office/powerpoint/2010/main" val="14125183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