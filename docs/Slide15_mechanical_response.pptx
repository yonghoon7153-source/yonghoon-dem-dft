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70" r:id="R59bb6e4a8ecc4c7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59bb6e4a8ecc4c71" Type="http://schemas.openxmlformats.org/officeDocument/2006/relationships/slide" Target="slides/slide15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2.xml.rels><?xml version='1.0' encoding='UTF-8' standalone='yes'?>
<Relationships xmlns="http://schemas.openxmlformats.org/package/2006/relationships"><Relationship Id="R830f75de92b04141" Type="http://schemas.openxmlformats.org/officeDocument/2006/relationships/notesMaster" Target="../notesMasters/notesMaster1.xml"/><Relationship Id="Re4e57e40824f4eac" Type="http://schemas.openxmlformats.org/officeDocument/2006/relationships/slide" Target="../slides/slide15.xml"/></Relationship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일곱 번째 단계에서는 부피를 조금씩 바꿔 EOS를 맞추고, 작은 변형을 가해 탄성 응답을 계산합니다. 이렇게 하면 지나치게 연하거나 비물리적인 구조를 찾고, 어떤 후보가 DFT 확인이 필요한지 정할 수 있습니다. 다만 화면의 DFT EOS는 한 사례의 검증 예시이고, 90종 전체가 DFT로 검증됐다는 뜻은 아닙니다. screen-wide 탄성값은 같은 MLIP 규약 안의 방향 비교로 보는 게 안전합니다.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[발표자 메모]</a:t>
            </a:r>
          </a:p>
          <a:p xmlns:a="http://schemas.openxmlformats.org/drawingml/2006/main">
            <a:r>
              <a:t>오른쪽은 두 계산이 답하는 질문을 나눈다. B0와 VRH B를 같은 값처럼 섞지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docs/figures/cascade/b2o3_eos_dft_vs_modelc.png; run_mlip_postproc.py lineage.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5.xml.rels><?xml version='1.0' encoding='UTF-8' standalone='yes'?>
<Relationships xmlns="http://schemas.openxmlformats.org/package/2006/relationships"><Relationship Id="R1021685119a248bf" Type="http://schemas.openxmlformats.org/officeDocument/2006/relationships/notesSlide" Target="../notesSlides/notesSlide12.xml"/><Relationship Id="R546c4c07047d4a55" Type="http://schemas.openxmlformats.org/officeDocument/2006/relationships/slideLayout" Target="../slideLayouts/slideLayout1.xml"/><Relationship Id="R65d023672e8d410a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g-12">
            <a:extLst xmlns:a="http://schemas.openxmlformats.org/drawingml/2006/main">
              <a:ext uri="{FF2B5EF4-FFF2-40B4-BE49-F238E27FC236}">
                <a16:creationId xmlns:a16="http://schemas.microsoft.com/office/drawing/2014/main" id="{0DDCCF3C-C54E-4F96-A357-F033D01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5EB8DF65-AF0A-4A39-982E-F6A43166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21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Mechanical response of the doped lattice</a:t>
            </a:r>
          </a:p>
        </p:txBody>
      </p:sp>
      <p:sp>
        <p:nvSpPr>
          <p:cNvPr id="3" name="terms-12">
            <a:extLst xmlns:a="http://schemas.openxmlformats.org/drawingml/2006/main">
              <a:ext uri="{FF2B5EF4-FFF2-40B4-BE49-F238E27FC236}">
                <a16:creationId xmlns:a16="http://schemas.microsoft.com/office/drawing/2014/main" id="{AEFA0D98-A834-4992-937F-DC9C8D6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Equation of state: energy as the cell volume changes  ·  Stack pressure: the force holding the cell together</a:t>
            </a:r>
          </a:p>
        </p:txBody>
      </p:sp>
      <p:sp>
        <p:nvSpPr>
          <p:cNvPr id="4" name="divider-12">
            <a:extLst xmlns:a="http://schemas.openxmlformats.org/drawingml/2006/main">
              <a:ext uri="{FF2B5EF4-FFF2-40B4-BE49-F238E27FC236}">
                <a16:creationId xmlns:a16="http://schemas.microsoft.com/office/drawing/2014/main" id="{E7AF1E31-4644-4D10-A129-B0CBA47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12">
            <a:extLst xmlns:a="http://schemas.openxmlformats.org/drawingml/2006/main">
              <a:ext uri="{FF2B5EF4-FFF2-40B4-BE49-F238E27FC236}">
                <a16:creationId xmlns:a16="http://schemas.microsoft.com/office/drawing/2014/main" id="{FA489BE3-9B9A-4D45-90B0-2BF1632C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12">
            <a:extLst xmlns:a="http://schemas.openxmlformats.org/drawingml/2006/main">
              <a:ext uri="{FF2B5EF4-FFF2-40B4-BE49-F238E27FC236}">
                <a16:creationId xmlns:a16="http://schemas.microsoft.com/office/drawing/2014/main" id="{498261F2-FC40-45CF-B75F-DA344BCC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7: Stiffness and compressibility are obtained from finite strains</a:t>
            </a:r>
          </a:p>
        </p:txBody>
      </p:sp>
      <p:sp>
        <p:nvSpPr>
          <p:cNvPr id="7" name="bullet-dot-12-0">
            <a:extLst xmlns:a="http://schemas.openxmlformats.org/drawingml/2006/main">
              <a:ext uri="{FF2B5EF4-FFF2-40B4-BE49-F238E27FC236}">
                <a16:creationId xmlns:a16="http://schemas.microsoft.com/office/drawing/2014/main" id="{6F5090DF-65A6-4C95-84D1-E859AC2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12-0">
            <a:extLst xmlns:a="http://schemas.openxmlformats.org/drawingml/2006/main">
              <a:ext uri="{FF2B5EF4-FFF2-40B4-BE49-F238E27FC236}">
                <a16:creationId xmlns:a16="http://schemas.microsoft.com/office/drawing/2014/main" id="{04F63963-5C87-4ADF-A30B-A5D87369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Across the pool,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the same machine-learned potential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supplied every elastic modulus.</a:t>
            </a:r>
          </a:p>
        </p:txBody>
      </p:sp>
      <p:sp>
        <p:nvSpPr>
          <p:cNvPr id="9" name="bullet-dot-12-1">
            <a:extLst xmlns:a="http://schemas.openxmlformats.org/drawingml/2006/main">
              <a:ext uri="{FF2B5EF4-FFF2-40B4-BE49-F238E27FC236}">
                <a16:creationId xmlns:a16="http://schemas.microsoft.com/office/drawing/2014/main" id="{24482457-D12D-4DAD-A142-8484D498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12-1">
            <a:extLst xmlns:a="http://schemas.openxmlformats.org/drawingml/2006/main">
              <a:ext uri="{FF2B5EF4-FFF2-40B4-BE49-F238E27FC236}">
                <a16:creationId xmlns:a16="http://schemas.microsoft.com/office/drawing/2014/main" id="{8C2F66E6-F1E8-4CBA-A7A2-31D4F4A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curves below are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DFT on two compositions, not a check of the whole pool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729EBB29-B7C6-40D1-8797-EEF3DDF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12">
            <a:extLst xmlns:a="http://schemas.openxmlformats.org/drawingml/2006/main">
              <a:ext uri="{FF2B5EF4-FFF2-40B4-BE49-F238E27FC236}">
                <a16:creationId xmlns:a16="http://schemas.microsoft.com/office/drawing/2014/main" id="{61955381-FBB0-4423-B157-5C11BFBF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F925C58A-4236-459E-A796-A94F4CF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equation of state by DFT, undoped Li₆PS₅Cl versus Cl-rich LPSCl1.6 &gt;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adding Cl softens the lattice, </a:t>
            </a:r>
            <a:r>
              <a:rPr sz="1150" b="1">
                <a:solidFill>
                  <a:srgbClr val="2563EB"/>
                </a:solidFill>
                <a:latin typeface="Arial"/>
              </a:rPr>
              <a:t>26.2 to 21.7 GPa</a:t>
            </a:r>
            <a:r>
              <a:rPr sz="1150" b="0">
                <a:solidFill>
                  <a:srgbClr val="4B5563"/>
                </a:solidFill>
                <a:latin typeface="Arial"/>
              </a:rPr>
              <a:t>; </a:t>
            </a:r>
            <a:r>
              <a:rPr sz="1150" b="1">
                <a:solidFill>
                  <a:srgbClr val="BE123C"/>
                </a:solidFill>
                <a:latin typeface="Arial"/>
              </a:rPr>
              <a:t>the pool-wide moduli are potential values, not DFT</a:t>
            </a:r>
          </a:p>
        </p:txBody>
      </p:sp>
    </p:spTree>
    <p:extLst>
      <p:ext uri="{BB962C8B-B14F-4D97-AF65-F5344CB8AC3E}">
        <p14:creationId xmlns:p14="http://schemas.microsoft.com/office/powerpoint/2010/main" val="18183679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