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56" r:id="rId12"/>
  </p:sldIdLst>
  <p:sldSz cx="9144000" cy="6858000" type="screen4x3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9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1AFF1A"/>
    <a:srgbClr val="8080FF"/>
    <a:srgbClr val="FF8080"/>
    <a:srgbClr val="64C5FF"/>
    <a:srgbClr val="FDAAAA"/>
    <a:srgbClr val="0000FF"/>
    <a:srgbClr val="41B541"/>
    <a:srgbClr val="6AE76A"/>
    <a:srgbClr val="FBE4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419F00-B1F4-48DC-B11E-F9F0ACB154A1}" v="110" dt="2026-03-03T06:11:15.6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39" autoAdjust="0"/>
    <p:restoredTop sz="95260" autoAdjust="0"/>
  </p:normalViewPr>
  <p:slideViewPr>
    <p:cSldViewPr showGuides="1">
      <p:cViewPr varScale="1">
        <p:scale>
          <a:sx n="80" d="100"/>
          <a:sy n="80" d="100"/>
        </p:scale>
        <p:origin x="1068" y="78"/>
      </p:cViewPr>
      <p:guideLst>
        <p:guide orient="horz" pos="890"/>
        <p:guide pos="2880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2" Type="http://schemas.openxmlformats.org/officeDocument/2006/relationships/slide" Target="slides/slide1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4" y="3"/>
            <a:ext cx="2945862" cy="497334"/>
          </a:xfrm>
          <a:prstGeom prst="rect">
            <a:avLst/>
          </a:prstGeom>
        </p:spPr>
        <p:txBody>
          <a:bodyPr vert="horz" lIns="88221" tIns="44110" rIns="88221" bIns="44110" rtlCol="0"/>
          <a:lstStyle>
            <a:lvl1pPr algn="l">
              <a:defRPr sz="11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298" y="3"/>
            <a:ext cx="2945862" cy="497334"/>
          </a:xfrm>
          <a:prstGeom prst="rect">
            <a:avLst/>
          </a:prstGeom>
        </p:spPr>
        <p:txBody>
          <a:bodyPr vert="horz" lIns="88221" tIns="44110" rIns="88221" bIns="44110" rtlCol="0"/>
          <a:lstStyle>
            <a:lvl1pPr algn="r">
              <a:defRPr sz="1100"/>
            </a:lvl1pPr>
          </a:lstStyle>
          <a:p>
            <a:fld id="{785B0769-355D-4F7A-9BBB-FB4B4242278C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4" y="9429308"/>
            <a:ext cx="2945862" cy="497334"/>
          </a:xfrm>
          <a:prstGeom prst="rect">
            <a:avLst/>
          </a:prstGeom>
        </p:spPr>
        <p:txBody>
          <a:bodyPr vert="horz" lIns="88221" tIns="44110" rIns="88221" bIns="44110" rtlCol="0" anchor="b"/>
          <a:lstStyle>
            <a:lvl1pPr algn="l">
              <a:defRPr sz="11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298" y="9429308"/>
            <a:ext cx="2945862" cy="497334"/>
          </a:xfrm>
          <a:prstGeom prst="rect">
            <a:avLst/>
          </a:prstGeom>
        </p:spPr>
        <p:txBody>
          <a:bodyPr vert="horz" lIns="88221" tIns="44110" rIns="88221" bIns="44110" rtlCol="0" anchor="b"/>
          <a:lstStyle>
            <a:lvl1pPr algn="r">
              <a:defRPr sz="1100"/>
            </a:lvl1pPr>
          </a:lstStyle>
          <a:p>
            <a:fld id="{6F53F785-4121-48C3-9976-6CF0E47858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47542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4"/>
            <a:ext cx="2945659" cy="497521"/>
          </a:xfrm>
          <a:prstGeom prst="rect">
            <a:avLst/>
          </a:prstGeom>
        </p:spPr>
        <p:txBody>
          <a:bodyPr vert="horz" lIns="90998" tIns="45501" rIns="90998" bIns="45501" rtlCol="0"/>
          <a:lstStyle>
            <a:lvl1pPr algn="l">
              <a:defRPr sz="11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5" y="4"/>
            <a:ext cx="2945659" cy="497521"/>
          </a:xfrm>
          <a:prstGeom prst="rect">
            <a:avLst/>
          </a:prstGeom>
        </p:spPr>
        <p:txBody>
          <a:bodyPr vert="horz" lIns="90998" tIns="45501" rIns="90998" bIns="45501" rtlCol="0"/>
          <a:lstStyle>
            <a:lvl1pPr algn="r">
              <a:defRPr sz="1100"/>
            </a:lvl1pPr>
          </a:lstStyle>
          <a:p>
            <a:fld id="{3C888668-3DAB-4CC6-8B29-40D6FCB1E1B6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998" tIns="45501" rIns="90998" bIns="45501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52"/>
            <a:ext cx="5438140" cy="3908860"/>
          </a:xfrm>
          <a:prstGeom prst="rect">
            <a:avLst/>
          </a:prstGeom>
        </p:spPr>
        <p:txBody>
          <a:bodyPr vert="horz" lIns="90998" tIns="45501" rIns="90998" bIns="45501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3" y="9429125"/>
            <a:ext cx="2945659" cy="497521"/>
          </a:xfrm>
          <a:prstGeom prst="rect">
            <a:avLst/>
          </a:prstGeom>
        </p:spPr>
        <p:txBody>
          <a:bodyPr vert="horz" lIns="90998" tIns="45501" rIns="90998" bIns="45501" rtlCol="0" anchor="b"/>
          <a:lstStyle>
            <a:lvl1pPr algn="l">
              <a:defRPr sz="11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5" y="9429125"/>
            <a:ext cx="2945659" cy="497521"/>
          </a:xfrm>
          <a:prstGeom prst="rect">
            <a:avLst/>
          </a:prstGeom>
        </p:spPr>
        <p:txBody>
          <a:bodyPr vert="horz" lIns="90998" tIns="45501" rIns="90998" bIns="45501" rtlCol="0" anchor="b"/>
          <a:lstStyle>
            <a:lvl1pPr algn="r">
              <a:defRPr sz="1100"/>
            </a:lvl1pPr>
          </a:lstStyle>
          <a:p>
            <a:fld id="{C0D08264-4636-41C1-92C7-DB593C8879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0881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[세부 — 슬라이드 미표기, 질문 대비]</a:t>
            </a:r>
          </a:p>
          <a:p>
            <a:r>
              <a:t>• convex hull=화학공간 최안정 상 조합(하한). MP GGA/GGA+U 보정에너지.</a:t>
            </a:r>
          </a:p>
          <a:p>
            <a:r>
              <a:t>• grand-canonical: Li 개방, V=μ_Li(metal)−μ_Li.</a:t>
            </a:r>
          </a:p>
          <a:p>
            <a:r>
              <a:t>• get_element_profile(Li,comp): 전압↑(μ_Li↓) 평형 분해반응 시퀀스. 조성만 필요→비화학량론 동일기준.</a:t>
            </a:r>
          </a:p>
          <a:p>
            <a:r>
              <a:t>• argyrodite hull 위 ~수십 meV/atom 준안정 → OCV 1.72 V 자가분해.</a:t>
            </a:r>
          </a:p>
          <a:p>
            <a:r>
              <a:t>• VBM 아닌 이유: 밴드창 분해창 2–3배 과대(Schwietert 2020). 실험짝=CV/LSV.</a:t>
            </a:r>
          </a:p>
          <a:p>
            <a:r>
              <a:t>• 확장: 유한온도(phonon)·kinetics(NEB)·명시적 계면.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44E79-B82E-470C-9377-0AC7F4542FB2}" type="datetimeFigureOut">
              <a:rPr lang="ko-KR" altLang="en-US" smtClean="0"/>
              <a:pPr/>
              <a:t>2026-06-18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8800F-F144-45EF-8F69-C5766E900F6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슬라이드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1"/>
          <p:cNvSpPr txBox="1">
            <a:spLocks/>
          </p:cNvSpPr>
          <p:nvPr userDrawn="1"/>
        </p:nvSpPr>
        <p:spPr>
          <a:xfrm>
            <a:off x="8604448" y="6571815"/>
            <a:ext cx="432048" cy="19174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085439E-65BC-4904-94CE-9CE86FCE3B8A}" type="slidenum">
              <a:rPr lang="ko-KR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  <a:ea typeface="바른돋움 1" pitchFamily="18" charset="-127"/>
                <a:cs typeface="Arial" panose="020B0604020202020204" pitchFamily="34" charset="0"/>
              </a:rPr>
              <a:pPr>
                <a:defRPr/>
              </a:pPr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ea typeface="바른돋움 1" pitchFamily="18" charset="-127"/>
              <a:cs typeface="Arial" panose="020B0604020202020204" pitchFamily="34" charset="0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35FB8FCC-2F2C-42E2-A25B-47C1D550EB32}"/>
              </a:ext>
            </a:extLst>
          </p:cNvPr>
          <p:cNvCxnSpPr/>
          <p:nvPr userDrawn="1"/>
        </p:nvCxnSpPr>
        <p:spPr>
          <a:xfrm>
            <a:off x="386910" y="836712"/>
            <a:ext cx="835168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22CBE823-65F2-459A-8192-8848CACE68B6}"/>
              </a:ext>
            </a:extLst>
          </p:cNvPr>
          <p:cNvSpPr/>
          <p:nvPr userDrawn="1"/>
        </p:nvSpPr>
        <p:spPr>
          <a:xfrm>
            <a:off x="1835696" y="6465849"/>
            <a:ext cx="146899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 latinLnBrk="0"/>
            <a:r>
              <a:rPr lang="en-US" altLang="ko-KR" sz="1100" i="0" kern="0" spc="-30" dirty="0">
                <a:solidFill>
                  <a:schemeClr val="bg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Battery Materials Lab.</a:t>
            </a:r>
            <a:endParaRPr kumimoji="0" lang="ko-KR" altLang="en-US" sz="1400" i="0" u="none" strike="noStrike" kern="0" cap="none" spc="-30" normalizeH="0" baseline="0" noProof="0" dirty="0">
              <a:ln>
                <a:noFill/>
              </a:ln>
              <a:solidFill>
                <a:schemeClr val="bg1">
                  <a:lumMod val="50000"/>
                  <a:lumOff val="50000"/>
                </a:scheme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4DFA539-8737-C042-478D-D3B5D9943A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12" t="-7082" r="-1"/>
          <a:stretch/>
        </p:blipFill>
        <p:spPr>
          <a:xfrm>
            <a:off x="106678" y="6372426"/>
            <a:ext cx="1683211" cy="414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0917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244E79-B82E-470C-9377-0AC7F4542FB2}" type="datetimeFigureOut">
              <a:rPr lang="ko-KR" altLang="en-US" smtClean="0"/>
              <a:pPr/>
              <a:t>2026-06-18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88800F-F144-45EF-8F69-C5766E900F6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16" r:id="rId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54864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 i="0">
                <a:solidFill>
                  <a:srgbClr val="1F4E9C"/>
                </a:solidFill>
                <a:latin typeface="Arial"/>
                <a:ea typeface="맑은 고딕"/>
              </a:rPr>
              <a:t>DFT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457200"/>
            <a:ext cx="489204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050" b="0" i="0">
                <a:solidFill>
                  <a:srgbClr val="808080"/>
                </a:solidFill>
                <a:latin typeface="Calibri"/>
                <a:ea typeface="맑은 고딕"/>
              </a:rPr>
              <a:t>Grand-potential ESW · thermodynamic decomposition window (NOT VBM/UPS)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83210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600" b="1" i="0">
                <a:solidFill>
                  <a:srgbClr val="C00000"/>
                </a:solidFill>
                <a:latin typeface="Calibri"/>
                <a:ea typeface="맑은 고딕"/>
              </a:rPr>
              <a:t>■ </a:t>
            </a:r>
            <a:r>
              <a:rPr sz="1700" b="1" i="0">
                <a:solidFill>
                  <a:srgbClr val="202020"/>
                </a:solidFill>
                <a:latin typeface="Calibri"/>
                <a:ea typeface="맑은 고딕"/>
              </a:rPr>
              <a:t>산화안정성 계산법 — Grand-Potential ESW (Materials Project + pymatgen)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08176"/>
            <a:ext cx="822960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50" b="0" i="0">
                <a:solidFill>
                  <a:srgbClr val="202020"/>
                </a:solidFill>
                <a:latin typeface="Calibri"/>
                <a:ea typeface="맑은 고딕"/>
              </a:rPr>
              <a:t>고체 산화 = 전자 빼기가 아니라 </a:t>
            </a:r>
            <a:r>
              <a:rPr sz="1150" b="1" i="0">
                <a:solidFill>
                  <a:srgbClr val="C00000"/>
                </a:solidFill>
                <a:latin typeface="Calibri"/>
                <a:ea typeface="맑은 고딕"/>
              </a:rPr>
              <a:t>분해</a:t>
            </a:r>
            <a:r>
              <a:rPr sz="1150" b="0" i="0">
                <a:solidFill>
                  <a:srgbClr val="202020"/>
                </a:solidFill>
                <a:latin typeface="Calibri"/>
                <a:ea typeface="맑은 고딕"/>
              </a:rPr>
              <a:t>. 열린계에서 Li 저장소를 열고 μ_Li(=전압)를 스캔 → 분해 전압·반응 추적.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38528"/>
            <a:ext cx="4251960" cy="21945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250" b="1" i="0">
                <a:solidFill>
                  <a:srgbClr val="1F4E9C"/>
                </a:solidFill>
                <a:latin typeface="Calibri"/>
                <a:ea typeface="맑은 고딕"/>
              </a:rPr>
              <a:t>계산 흐름</a:t>
            </a:r>
          </a:p>
          <a:p>
            <a:r>
              <a:rPr sz="1100" b="0" i="0">
                <a:solidFill>
                  <a:srgbClr val="202020"/>
                </a:solidFill>
                <a:latin typeface="Calibri"/>
                <a:ea typeface="맑은 고딕"/>
              </a:rPr>
              <a:t>① 화학공간: Li–P–S–Cl (Br계 +Br)</a:t>
            </a:r>
          </a:p>
          <a:p>
            <a:r>
              <a:rPr sz="1100" b="0" i="0">
                <a:solidFill>
                  <a:srgbClr val="202020"/>
                </a:solidFill>
                <a:latin typeface="Calibri"/>
                <a:ea typeface="맑은 고딕"/>
              </a:rPr>
              <a:t>② MP convex hull 로드 (GGA/GGA+U, 경쟁 결정상 전부)</a:t>
            </a:r>
          </a:p>
          <a:p>
            <a:r>
              <a:rPr sz="1100" b="0" i="0">
                <a:solidFill>
                  <a:srgbClr val="202020"/>
                </a:solidFill>
                <a:latin typeface="Calibri"/>
                <a:ea typeface="맑은 고딕"/>
              </a:rPr>
              <a:t>③ PhaseDiagram → get_element_profile (Li 개방)</a:t>
            </a:r>
          </a:p>
          <a:p>
            <a:r>
              <a:rPr sz="1100" b="0" i="0">
                <a:solidFill>
                  <a:srgbClr val="202020"/>
                </a:solidFill>
                <a:latin typeface="Calibri"/>
                <a:ea typeface="맑은 고딕"/>
              </a:rPr>
              <a:t>④ μ_Li → 전압 변환 → 한계전압·분해반응</a:t>
            </a:r>
          </a:p>
          <a:p>
            <a:pPr>
              <a:spcBef>
                <a:spcPts val="700"/>
              </a:spcBef>
            </a:pPr>
            <a:r>
              <a:rPr sz="1100" b="1" i="0">
                <a:solidFill>
                  <a:srgbClr val="1A5C1A"/>
                </a:solidFill>
                <a:latin typeface="Consolas"/>
                <a:ea typeface="맑은 고딕"/>
              </a:rPr>
              <a:t>V = μ_Li(metal) − μ_Li · ESW = 산화−환원 한계</a:t>
            </a:r>
          </a:p>
          <a:p>
            <a:pPr>
              <a:spcBef>
                <a:spcPts val="600"/>
              </a:spcBef>
            </a:pPr>
            <a:r>
              <a:rPr sz="1050" b="1" i="0">
                <a:solidFill>
                  <a:srgbClr val="C00000"/>
                </a:solidFill>
                <a:latin typeface="Calibri"/>
                <a:ea typeface="맑은 고딕"/>
              </a:rPr>
              <a:t>★ </a:t>
            </a:r>
            <a:r>
              <a:rPr sz="1050" b="1" i="0">
                <a:solidFill>
                  <a:srgbClr val="202020"/>
                </a:solidFill>
                <a:latin typeface="Calibri"/>
                <a:ea typeface="맑은 고딕"/>
              </a:rPr>
              <a:t>조성 + hull만 필요</a:t>
            </a:r>
            <a:r>
              <a:rPr sz="1050" b="0" i="0">
                <a:solidFill>
                  <a:srgbClr val="202020"/>
                </a:solidFill>
                <a:latin typeface="Calibri"/>
                <a:ea typeface="맑은 고딕"/>
              </a:rPr>
              <a:t> → modelc(비화학량론·MP에 없음)도 comp1과 동일 기준.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983480" y="1938528"/>
          <a:ext cx="370332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051560"/>
                <a:gridCol w="1051560"/>
              </a:tblGrid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F4E9C"/>
                          </a:solidFill>
                          <a:latin typeface="Calibri"/>
                          <a:ea typeface="맑은 고딕"/>
                        </a:rPr>
                        <a:t/>
                      </a:r>
                    </a:p>
                  </a:txBody>
                  <a:tcPr marL="45720" marT="0" marB="0"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F4E9C"/>
                          </a:solidFill>
                          <a:latin typeface="Calibri"/>
                          <a:ea typeface="맑은 고딕"/>
                        </a:rPr>
                        <a:t>comp1</a:t>
                      </a:r>
                    </a:p>
                  </a:txBody>
                  <a:tcPr marL="45720" marT="0" marB="0"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F4E9C"/>
                          </a:solidFill>
                          <a:latin typeface="Calibri"/>
                          <a:ea typeface="맑은 고딕"/>
                        </a:rPr>
                        <a:t>modelC</a:t>
                      </a:r>
                    </a:p>
                  </a:txBody>
                  <a:tcPr marL="45720" marT="0" marB="0" anchor="ctr">
                    <a:solidFill>
                      <a:srgbClr val="D6E4F0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202020"/>
                          </a:solidFill>
                          <a:latin typeface="Calibri"/>
                          <a:ea typeface="맑은 고딕"/>
                        </a:rPr>
                        <a:t>OCV 자가분해</a:t>
                      </a:r>
                    </a:p>
                  </a:txBody>
                  <a:tcPr marL="45720" marT="0" marB="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02020"/>
                          </a:solidFill>
                          <a:latin typeface="Calibri"/>
                          <a:ea typeface="맑은 고딕"/>
                        </a:rPr>
                        <a:t>1.72 V</a:t>
                      </a:r>
                    </a:p>
                  </a:txBody>
                  <a:tcPr marL="45720" marT="0" marB="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02020"/>
                          </a:solidFill>
                          <a:latin typeface="Calibri"/>
                          <a:ea typeface="맑은 고딕"/>
                        </a:rPr>
                        <a:t>1.72 V</a:t>
                      </a:r>
                    </a:p>
                  </a:txBody>
                  <a:tcPr marL="45720" marT="0" marB="0" anchor="ctr">
                    <a:solidFill>
                      <a:srgbClr val="F2F6FB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202020"/>
                          </a:solidFill>
                          <a:latin typeface="Calibri"/>
                          <a:ea typeface="맑은 고딕"/>
                        </a:rPr>
                        <a:t>환원 한계</a:t>
                      </a:r>
                    </a:p>
                  </a:txBody>
                  <a:tcPr marL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02020"/>
                          </a:solidFill>
                          <a:latin typeface="Calibri"/>
                          <a:ea typeface="맑은 고딕"/>
                        </a:rPr>
                        <a:t>1.24 V</a:t>
                      </a:r>
                    </a:p>
                  </a:txBody>
                  <a:tcPr marL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02020"/>
                          </a:solidFill>
                          <a:latin typeface="Calibri"/>
                          <a:ea typeface="맑은 고딕"/>
                        </a:rPr>
                        <a:t>1.24 V</a:t>
                      </a:r>
                    </a:p>
                  </a:txBody>
                  <a:tcPr marL="45720" marT="0" marB="0" anchor="ctr"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202020"/>
                          </a:solidFill>
                          <a:latin typeface="Calibri"/>
                          <a:ea typeface="맑은 고딕"/>
                        </a:rPr>
                        <a:t>산화 onset</a:t>
                      </a:r>
                    </a:p>
                  </a:txBody>
                  <a:tcPr marL="45720" marT="0" marB="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02020"/>
                          </a:solidFill>
                          <a:latin typeface="Calibri"/>
                          <a:ea typeface="맑은 고딕"/>
                        </a:rPr>
                        <a:t>2.14 V</a:t>
                      </a:r>
                    </a:p>
                  </a:txBody>
                  <a:tcPr marL="45720" marT="0" marB="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02020"/>
                          </a:solidFill>
                          <a:latin typeface="Calibri"/>
                          <a:ea typeface="맑은 고딕"/>
                        </a:rPr>
                        <a:t>2.14 V</a:t>
                      </a:r>
                    </a:p>
                  </a:txBody>
                  <a:tcPr marL="45720" marT="0" marB="0" anchor="ctr"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983480" y="3246120"/>
            <a:ext cx="3749039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50" b="0" i="1">
                <a:solidFill>
                  <a:srgbClr val="808080"/>
                </a:solidFill>
                <a:latin typeface="Calibri"/>
                <a:ea typeface="맑은 고딕"/>
              </a:rPr>
              <a:t>S²⁻→폴리설파이드, Cl⁻ 불활성 → 둘 다 동일(S²⁻-limited)</a:t>
            </a:r>
          </a:p>
          <a:p>
            <a:r>
              <a:rPr sz="1000" b="1" i="0">
                <a:solidFill>
                  <a:srgbClr val="202020"/>
                </a:solidFill>
                <a:latin typeface="Calibri"/>
                <a:ea typeface="맑은 고딕"/>
              </a:rPr>
              <a:t>검증: </a:t>
            </a:r>
            <a:r>
              <a:rPr sz="1000" b="0" i="0">
                <a:solidFill>
                  <a:srgbClr val="202020"/>
                </a:solidFill>
                <a:latin typeface="Calibri"/>
                <a:ea typeface="맑은 고딕"/>
              </a:rPr>
              <a:t>Gil-González 2022(1.70–2.40 V)·Zuo 2023(CV)·실험 정합</a:t>
            </a:r>
          </a:p>
        </p:txBody>
      </p:sp>
      <p:pic>
        <p:nvPicPr>
          <p:cNvPr id="9" name="Picture 8" descr="esw_stability_window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4370832"/>
            <a:ext cx="4572000" cy="16322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016752"/>
            <a:ext cx="82296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0" i="1">
                <a:solidFill>
                  <a:srgbClr val="808080"/>
                </a:solidFill>
                <a:latin typeface="Calibri"/>
                <a:ea typeface="맑은 고딕"/>
              </a:rPr>
              <a:t>Caveat: 0 K·0 Pa·MP GGA hull → 절대 onset ±0.x V (상대·실험정합 robust)  ·  Ong 2008 · Mo–Ceder 2012 · Schwietert 2020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6AFE5361305704485C7D500A4632ABE" ma:contentTypeVersion="11" ma:contentTypeDescription="새 문서를 만듭니다." ma:contentTypeScope="" ma:versionID="ee2f9e464ea0d9b90a4fba868166d8d5">
  <xsd:schema xmlns:xsd="http://www.w3.org/2001/XMLSchema" xmlns:xs="http://www.w3.org/2001/XMLSchema" xmlns:p="http://schemas.microsoft.com/office/2006/metadata/properties" xmlns:ns3="8618cbce-88c9-49f3-9f20-59c1fddbfdd1" targetNamespace="http://schemas.microsoft.com/office/2006/metadata/properties" ma:root="true" ma:fieldsID="d2e4f78982f91351a718f3a14bdce4a6" ns3:_="">
    <xsd:import namespace="8618cbce-88c9-49f3-9f20-59c1fddbfdd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18cbce-88c9-49f3-9f20-59c1fddbfdd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12DA5A3-25CB-4F0F-8A4E-1A578D0207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618cbce-88c9-49f3-9f20-59c1fddbfdd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2A4CB31-0D99-4B37-8F6C-83B70069D72B}">
  <ds:schemaRefs>
    <ds:schemaRef ds:uri="http://purl.org/dc/dcmitype/"/>
    <ds:schemaRef ds:uri="http://schemas.openxmlformats.org/package/2006/metadata/core-properties"/>
    <ds:schemaRef ds:uri="http://www.w3.org/XML/1998/namespace"/>
    <ds:schemaRef ds:uri="http://purl.org/dc/elements/1.1/"/>
    <ds:schemaRef ds:uri="8618cbce-88c9-49f3-9f20-59c1fddbfdd1"/>
    <ds:schemaRef ds:uri="http://schemas.microsoft.com/office/infopath/2007/PartnerControls"/>
    <ds:schemaRef ds:uri="http://schemas.microsoft.com/office/2006/metadata/properties"/>
    <ds:schemaRef ds:uri="http://schemas.microsoft.com/office/2006/documentManagement/typ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6F27F94D-CF2A-433F-BFD9-BDAC2A5C0AA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46816</TotalTime>
  <Words>2822</Words>
  <Application>Microsoft Office PowerPoint</Application>
  <PresentationFormat>화면 슬라이드 쇼(4:3)</PresentationFormat>
  <Paragraphs>532</Paragraphs>
  <Slides>17</Slides>
  <Notes>16</Notes>
  <HiddenSlides>0</HiddenSlides>
  <MMClips>0</MMClips>
  <ScaleCrop>false</ScaleCrop>
  <HeadingPairs>
    <vt:vector size="8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5" baseType="lpstr">
      <vt:lpstr>callibri</vt:lpstr>
      <vt:lpstr>Arial</vt:lpstr>
      <vt:lpstr>Calibri</vt:lpstr>
      <vt:lpstr>Cambria Math</vt:lpstr>
      <vt:lpstr>Wingdings</vt:lpstr>
      <vt:lpstr>맑은 고딕</vt:lpstr>
      <vt:lpstr>Office 테마</vt:lpstr>
      <vt:lpstr>Graph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안용훈</cp:lastModifiedBy>
  <cp:revision>3191</cp:revision>
  <cp:lastPrinted>2026-06-12T05:34:39Z</cp:lastPrinted>
  <dcterms:created xsi:type="dcterms:W3CDTF">2013-09-11T08:33:43Z</dcterms:created>
  <dcterms:modified xsi:type="dcterms:W3CDTF">2026-06-18T03:14:23Z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0x010100A6AFE5361305704485C7D500A4632ABE</vt:lpwstr>
  </property>
</Properties>
</file>