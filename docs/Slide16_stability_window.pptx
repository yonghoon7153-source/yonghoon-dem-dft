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notesSlides/notesSlide1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slide1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0269442fd8ce4b81" Type="http://schemas.openxmlformats.org/officeDocument/2006/relationships/officeDocument" Target="ppt/presentation.xml"/><Relationship Id="R69334117c5514b65" Type="http://schemas.openxmlformats.org/package/2006/relationships/metadata/core-properties" Target="docProps/core.xml"/><Relationship Id="Rcd7563b061c1420c" Type="http://schemas.openxmlformats.org/officeDocument/2006/relationships/extended-properties" Target="docProps/app.xml"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7a9f4c5f7750487f"/>
  </p:sldMasterIdLst>
  <p:notesMasterIdLst>
    <p:notesMasterId xmlns:r="http://schemas.openxmlformats.org/officeDocument/2006/relationships" r:id="R636b2433d8094769"/>
  </p:notesMasterIdLst>
  <p:sldIdLst>
    <p:sldId xmlns:r="http://schemas.openxmlformats.org/officeDocument/2006/relationships" id="271" r:id="Rf5fc8157681b488f"/>
  </p:sldIdLst>
  <p:sldSz cx="9144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<?xml version='1.0' encoding='UTF-8' standalone='yes'?>
<Relationships xmlns="http://schemas.openxmlformats.org/package/2006/relationships"><Relationship Id="R0bedd3fc95014fed" Type="http://schemas.openxmlformats.org/officeDocument/2006/relationships/presProps" Target="presProps.xml"/><Relationship Id="R245a50a1643649ab" Type="http://schemas.openxmlformats.org/officeDocument/2006/relationships/tableStyles" Target="tableStyles.xml"/><Relationship Id="R3eabe3a8ecf741a2" Type="http://schemas.openxmlformats.org/officeDocument/2006/relationships/viewProps" Target="viewProps.xml"/><Relationship Id="R636b2433d8094769" Type="http://schemas.openxmlformats.org/officeDocument/2006/relationships/notesMaster" Target="notesMasters/notesMaster1.xml"/><Relationship Id="R7a9f4c5f7750487f" Type="http://schemas.openxmlformats.org/officeDocument/2006/relationships/slideMaster" Target="slideMasters/slideMaster1.xml"/><Relationship Id="Rd15051cc896443fc" Type="http://schemas.openxmlformats.org/officeDocument/2006/relationships/theme" Target="theme/theme1.xml"/><Relationship Id="Rf5fc8157681b488f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32b1c3d1c614449b" Type="http://schemas.openxmlformats.org/officeDocument/2006/relationships/theme" Target="theme/theme3.xml"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3.xml.rels><?xml version='1.0' encoding='UTF-8' standalone='yes'?>
<Relationships xmlns="http://schemas.openxmlformats.org/package/2006/relationships"><Relationship Id="R8f8f45b69a11478c" Type="http://schemas.openxmlformats.org/officeDocument/2006/relationships/slide" Target="../slides/slide16.xml"/><Relationship Id="Rb0a6596f291347d9" Type="http://schemas.openxmlformats.org/officeDocument/2006/relationships/notesMaster" Target="../notesMasters/notesMaster1.xml"/></Relationship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여덟 번째 단계에서는 Li 화학퍼텐셜을 전압축으로 바꾸고, 후보 조성이 어떤 상으로 분해될 수 있는지 봅니다. 같은 경쟁상 목록 안에서 host와 후보를 비교하면 bulk 산화 onset과 분해 산물을 얻을 수 있습니다. 하지만 이 계산은 0 K bulk 열역학입니다. 실제 계면 구조, 접착, 반응 속도와 passivation은 별도 계산과 실험이 필요합니다.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[발표자 메모]</a:t>
            </a:r>
            <a:endParaRPr/>
          </a:p>
          <a:p xmlns:a="http://schemas.openxmlformats.org/drawingml/2006/main">
            <a:r>
              <a:t>convex hull과 grand potential은 ‘분해 가능성’이지 ‘실제 수명’이 아니라고 선을 긋는다.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tools/oxidation/esw_cascade_batch.py; MP grand-potential workflow; same-phase-roster contract.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<?xml version='1.0' encoding='UTF-8' standalone='yes'?>
<Relationships xmlns="http://schemas.openxmlformats.org/package/2006/relationships"><Relationship Id="R2567e83c79114d43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preserve="1">
  <p:cSld name="DEFAULT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<?xml version='1.0' encoding='UTF-8' standalone='yes'?>
<Relationships xmlns="http://schemas.openxmlformats.org/package/2006/relationships"><Relationship Id="R43280d18f2f3450f" Type="http://schemas.openxmlformats.org/officeDocument/2006/relationships/theme" Target="theme/theme2.xml"/><Relationship Id="Ra667905730bd4f44" Type="http://schemas.openxmlformats.org/officeDocument/2006/relationships/slideLayout" Target="../slideLayouts/slideLayout1.xml"/></Relationships>
</file>

<file path=ppt/slideMasters/slideMaster1.xml><?xml version="1.0" encoding="utf-8"?>
<p:sldMaster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a667905730bd4f44"/>
  </p:sldLayoutIdLst>
  <p:hf sldNum="0" hdr="0" ftr="0" dt="0"/>
  <p:txStyles>
    <p:titleStyle>
      <a:lvl1pPr xmlns:a="http://schemas.openxmlformats.org/drawingml/2006/main"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6.xml.rels><?xml version='1.0' encoding='UTF-8' standalone='yes'?>
<Relationships xmlns="http://schemas.openxmlformats.org/package/2006/relationships"><Relationship Id="R2590317027994963" Type="http://schemas.openxmlformats.org/officeDocument/2006/relationships/notesSlide" Target="../notesSlides/notesSlide13.xml"/><Relationship Id="R7de8b2dcde8b4299" Type="http://schemas.openxmlformats.org/officeDocument/2006/relationships/slideLayout" Target="../slideLayouts/slideLayout1.xml"/><Relationship Id="rId3" Type="http://schemas.openxmlformats.org/officeDocument/2006/relationships/image" Target="../media/image19.png"/><Relationship Id="rId4" Type="http://schemas.openxmlformats.org/officeDocument/2006/relationships/image" Target="../media/image1.png"/></Relationships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bg-13">
            <a:extLst xmlns:a="http://schemas.openxmlformats.org/drawingml/2006/main">
              <a:ext uri="{FF2B5EF4-FFF2-40B4-BE49-F238E27FC236}">
                <a16:creationId xmlns:a16="http://schemas.microsoft.com/office/drawing/2014/main" id="{3D5609ED-E38A-449C-B02D-E290DCD3F0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44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" name="section-13">
            <a:extLst xmlns:a="http://schemas.openxmlformats.org/drawingml/2006/main">
              <a:ext uri="{FF2B5EF4-FFF2-40B4-BE49-F238E27FC236}">
                <a16:creationId xmlns:a16="http://schemas.microsoft.com/office/drawing/2014/main" id="{2EC70312-3194-4AFC-9A3A-FDE2660C6D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207" y="237744"/>
            <a:ext cx="813816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61366"/>
          </a:bodyPr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1F4E79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F4E79"/>
                </a:solidFill>
                <a:latin typeface="Arial"/>
                <a:ea typeface="Arial"/>
                <a:cs typeface="Arial"/>
              </a:rPr>
              <a:t>Electrochemical stability window</a:t>
            </a:r>
          </a:p>
        </p:txBody>
      </p:sp>
      <p:sp>
        <p:nvSpPr>
          <p:cNvPr id="3" name="terms-13">
            <a:extLst xmlns:a="http://schemas.openxmlformats.org/drawingml/2006/main">
              <a:ext uri="{FF2B5EF4-FFF2-40B4-BE49-F238E27FC236}">
                <a16:creationId xmlns:a16="http://schemas.microsoft.com/office/drawing/2014/main" id="{A4228897-517C-407B-BA46-F66243AE0A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207" y="6272784"/>
            <a:ext cx="8101583" cy="2194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  <a:defRPr sz="863">
                <a:solidFill>
                  <a:srgbClr val="1F2937"/>
                </a:solidFill>
                <a:latin typeface="Arial"/>
                <a:ea typeface="Arial"/>
                <a:cs typeface="Arial"/>
              </a:defRPr>
            </a:pPr>
            <a:r>
              <a:rPr sz="863">
                <a:solidFill>
                  <a:srgbClr val="1F2937"/>
                </a:solidFill>
                <a:latin typeface="Arial"/>
                <a:ea typeface="Arial"/>
                <a:cs typeface="Arial"/>
              </a:rPr>
              <a:t>Oxidation onset: the voltage at which decomposition becomes favorable  ·  Window: the voltage range where nothing decomposes</a:t>
            </a:r>
          </a:p>
        </p:txBody>
      </p:sp>
      <p:sp>
        <p:nvSpPr>
          <p:cNvPr id="4" name="divider-13">
            <a:extLst xmlns:a="http://schemas.openxmlformats.org/drawingml/2006/main">
              <a:ext uri="{FF2B5EF4-FFF2-40B4-BE49-F238E27FC236}">
                <a16:creationId xmlns:a16="http://schemas.microsoft.com/office/drawing/2014/main" id="{A716BF5D-C236-4FAB-86C8-5AC8CAA5A4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790575"/>
            <a:ext cx="8334375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B7280"/>
          </a:solidFill>
          <a:ln xmlns:a="http://schemas.openxmlformats.org/drawingml/2006/main" w="0">
            <a:solidFill>
              <a:srgbClr val="6B7280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5" name="claim-square-13">
            <a:extLst xmlns:a="http://schemas.openxmlformats.org/drawingml/2006/main">
              <a:ext uri="{FF2B5EF4-FFF2-40B4-BE49-F238E27FC236}">
                <a16:creationId xmlns:a16="http://schemas.microsoft.com/office/drawing/2014/main" id="{6E558DBF-8E89-4CF5-8086-9601E2F40C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1028700"/>
            <a:ext cx="104775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61B2B"/>
          </a:solidFill>
          <a:ln xmlns:a="http://schemas.openxmlformats.org/drawingml/2006/main" w="0">
            <a:solidFill>
              <a:srgbClr val="A61B2B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6" name="claim-13">
            <a:extLst xmlns:a="http://schemas.openxmlformats.org/drawingml/2006/main">
              <a:ext uri="{FF2B5EF4-FFF2-40B4-BE49-F238E27FC236}">
                <a16:creationId xmlns:a16="http://schemas.microsoft.com/office/drawing/2014/main" id="{3CFCD0E2-136E-4770-AC8F-862FE17576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23925"/>
            <a:ext cx="77628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1F2937"/>
                </a:solidFill>
                <a:latin typeface="Arial"/>
                <a:ea typeface="Arial"/>
                <a:cs typeface="Arial"/>
              </a:defRPr>
            </a:pPr>
            <a:r>
              <a:rPr sz="1725">
                <a:solidFill>
                  <a:srgbClr val="1F2937"/>
                </a:solidFill>
                <a:latin typeface="Arial"/>
                <a:ea typeface="Arial"/>
                <a:cs typeface="Arial"/>
              </a:rPr>
              <a:t>Step 8: The oxidation onset from a grand-potential construction</a:t>
            </a:r>
          </a:p>
        </p:txBody>
      </p:sp>
      <p:sp>
        <p:nvSpPr>
          <p:cNvPr id="7" name="bullet-dot-13-0">
            <a:extLst xmlns:a="http://schemas.openxmlformats.org/drawingml/2006/main">
              <a:ext uri="{FF2B5EF4-FFF2-40B4-BE49-F238E27FC236}">
                <a16:creationId xmlns:a16="http://schemas.microsoft.com/office/drawing/2014/main" id="{AA64C761-0CEE-4C64-B777-F0B9C1F6C3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" y="1371600"/>
            <a:ext cx="1714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1F4E79"/>
                </a:solidFill>
                <a:latin typeface="Arial"/>
                <a:ea typeface="Arial"/>
                <a:cs typeface="Arial"/>
              </a:defRPr>
            </a:pPr>
            <a:r>
              <a:rPr sz="1500">
                <a:solidFill>
                  <a:srgbClr val="1F4E79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8" name="bullet-13-0">
            <a:extLst xmlns:a="http://schemas.openxmlformats.org/drawingml/2006/main">
              <a:ext uri="{FF2B5EF4-FFF2-40B4-BE49-F238E27FC236}">
                <a16:creationId xmlns:a16="http://schemas.microsoft.com/office/drawing/2014/main" id="{9949F69E-0086-4EF5-83F0-40FC2B34FF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1381125"/>
            <a:ext cx="723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1F2937"/>
                </a:solidFill>
                <a:latin typeface="Arial"/>
                <a:ea typeface="Arial"/>
                <a:cs typeface="Arial"/>
              </a:defRPr>
            </a:pPr>
            <a:r>
              <a:rPr sz="1275">
                <a:solidFill>
                  <a:srgbClr val="1F2937"/>
                </a:solidFill>
                <a:latin typeface="Arial"/>
                <a:ea typeface="Arial"/>
                <a:cs typeface="Arial"/>
              </a:rPr>
              <a:t>To locate decomposition, </a:t>
            </a:r>
            <a:r>
              <a:rPr sz="1275" b="1">
                <a:solidFill>
                  <a:srgbClr val="2563EB"/>
                </a:solidFill>
                <a:latin typeface="Arial"/>
                <a:ea typeface="Arial"/>
                <a:cs typeface="Arial"/>
              </a:rPr>
              <a:t>the Li chemical potential was scanned as a voltage axis</a:t>
            </a:r>
            <a:r>
              <a:rPr sz="1275" b="0">
                <a:solidFill>
                  <a:srgbClr val="374151"/>
                </a:solidFill>
                <a:latin typeface="Arial"/>
                <a:ea typeface="Arial"/>
                <a:cs typeface="Arial"/>
              </a:rPr>
              <a:t>.</a:t>
            </a:r>
          </a:p>
        </p:txBody>
      </p:sp>
      <p:sp>
        <p:nvSpPr>
          <p:cNvPr id="9" name="bullet-dot-13-1">
            <a:extLst xmlns:a="http://schemas.openxmlformats.org/drawingml/2006/main">
              <a:ext uri="{FF2B5EF4-FFF2-40B4-BE49-F238E27FC236}">
                <a16:creationId xmlns:a16="http://schemas.microsoft.com/office/drawing/2014/main" id="{A4F70014-7C5E-4F50-B767-7CE3878BFA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" y="1733550"/>
            <a:ext cx="1714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1F2937"/>
                </a:solidFill>
                <a:latin typeface="Arial"/>
                <a:ea typeface="Arial"/>
                <a:cs typeface="Arial"/>
              </a:defRPr>
            </a:pPr>
            <a:r>
              <a:rPr sz="1500">
                <a:solidFill>
                  <a:srgbClr val="1F2937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10" name="bullet-13-1">
            <a:extLst xmlns:a="http://schemas.openxmlformats.org/drawingml/2006/main">
              <a:ext uri="{FF2B5EF4-FFF2-40B4-BE49-F238E27FC236}">
                <a16:creationId xmlns:a16="http://schemas.microsoft.com/office/drawing/2014/main" id="{89938A81-117B-4351-9897-A02C11D402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1743075"/>
            <a:ext cx="723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1F2937"/>
                </a:solidFill>
                <a:latin typeface="Arial"/>
                <a:ea typeface="Arial"/>
                <a:cs typeface="Arial"/>
              </a:defRPr>
            </a:pPr>
            <a:r>
              <a:rPr sz="1275">
                <a:solidFill>
                  <a:srgbClr val="1F2937"/>
                </a:solidFill>
                <a:latin typeface="Arial"/>
                <a:ea typeface="Arial"/>
                <a:cs typeface="Arial"/>
              </a:rPr>
              <a:t>The result is </a:t>
            </a:r>
            <a:r>
              <a:rPr sz="1275" b="1">
                <a:solidFill>
                  <a:srgbClr val="BE123C"/>
                </a:solidFill>
                <a:latin typeface="Arial"/>
                <a:ea typeface="Arial"/>
                <a:cs typeface="Arial"/>
              </a:rPr>
              <a:t>0 K bulk thermodynamics</a:t>
            </a:r>
            <a:r>
              <a:rPr sz="1275" b="0">
                <a:solidFill>
                  <a:srgbClr val="374151"/>
                </a:solidFill>
                <a:latin typeface="Arial"/>
                <a:ea typeface="Arial"/>
                <a:cs typeface="Arial"/>
              </a:rPr>
              <a:t>, not a rate and not a passivation prediction.</a:t>
            </a:r>
          </a:p>
        </p:txBody>
      </p:sp>
      <p:sp>
        <p:nvSpPr>
          <p:cNvPr id="12" name="footer-brand-13">
            <a:extLst xmlns:a="http://schemas.openxmlformats.org/drawingml/2006/main">
              <a:ext uri="{FF2B5EF4-FFF2-40B4-BE49-F238E27FC236}">
                <a16:creationId xmlns:a16="http://schemas.microsoft.com/office/drawing/2014/main" id="{75694E06-3312-4145-8CA4-D260F2EE8C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6505575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750" b="1">
                <a:solidFill>
                  <a:srgbClr val="1F4E79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1F4E79"/>
                </a:solidFill>
                <a:latin typeface="Arial"/>
                <a:ea typeface="Arial"/>
                <a:cs typeface="Arial"/>
              </a:rPr>
              <a:t>HANYANG UNIVERSITY</a:t>
            </a:r>
          </a:p>
        </p:txBody>
      </p:sp>
      <p:sp>
        <p:nvSpPr>
          <p:cNvPr id="13" name="footer-lab-13">
            <a:extLst xmlns:a="http://schemas.openxmlformats.org/drawingml/2006/main">
              <a:ext uri="{FF2B5EF4-FFF2-40B4-BE49-F238E27FC236}">
                <a16:creationId xmlns:a16="http://schemas.microsoft.com/office/drawing/2014/main" id="{17BD0498-EB0C-4EE4-A844-A974FB5506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6505575"/>
            <a:ext cx="1905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750">
                <a:solidFill>
                  <a:srgbClr val="6B7280"/>
                </a:solidFill>
                <a:latin typeface="Arial"/>
                <a:ea typeface="Arial"/>
                <a:cs typeface="Arial"/>
              </a:defRPr>
            </a:pPr>
            <a:r>
              <a:rPr sz="750">
                <a:solidFill>
                  <a:srgbClr val="6B7280"/>
                </a:solidFill>
                <a:latin typeface="Arial"/>
                <a:ea typeface="Arial"/>
                <a:cs typeface="Arial"/>
              </a:rPr>
              <a:t>Battery Materials Lab.</a:t>
            </a:r>
          </a:p>
        </p:txBody>
      </p:sp>
      <p:sp>
        <p:nvSpPr>
          <p:cNvPr id="14" name="footer-page-13">
            <a:extLst xmlns:a="http://schemas.openxmlformats.org/drawingml/2006/main">
              <a:ext uri="{FF2B5EF4-FFF2-40B4-BE49-F238E27FC236}">
                <a16:creationId xmlns:a16="http://schemas.microsoft.com/office/drawing/2014/main" id="{9ADCA14B-0B8F-469D-BBD5-9D665B4950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8675" y="6486525"/>
            <a:ext cx="266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825">
                <a:solidFill>
                  <a:srgbClr val="6B7280"/>
                </a:solidFill>
                <a:latin typeface="Arial"/>
                <a:ea typeface="Arial"/>
                <a:cs typeface="Arial"/>
              </a:defRPr>
            </a:pPr>
            <a:r>
              <a:rPr sz="825">
                <a:solidFill>
                  <a:srgbClr val="6B7280"/>
                </a:solidFill>
                <a:latin typeface="Arial"/>
                <a:ea typeface="Arial"/>
                <a:cs typeface="Arial"/>
              </a:rPr>
              <a:t>16</a:t>
            </a:r>
          </a:p>
        </p:txBody>
      </p:sp>
      <p:pic xmlns:a="http://schemas.openxmlformats.org/drawingml/2006/main" xmlns:r="http://schemas.openxmlformats.org/officeDocument/2006/relationships">
        <p:nvPicPr>
          <p:cNvPr id="32" name="Picture 31" descr="step8_oxidation_window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65146" y="2231136"/>
            <a:ext cx="5813706" cy="2999232"/>
          </a:xfrm>
          <a:prstGeom prst="rect">
            <a:avLst/>
          </a:prstGeom>
        </p:spPr>
      </p:pic>
      <p:sp xmlns:a="http://schemas.openxmlformats.org/drawingml/2006/main">
        <p:nvSpPr>
          <p:cNvPr id="33" name="TextBox 32"/>
          <p:cNvSpPr txBox="1"/>
          <p:nvPr/>
        </p:nvSpPr>
        <p:spPr>
          <a:xfrm>
            <a:off x="502920" y="5449824"/>
            <a:ext cx="81381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0">
                <a:solidFill>
                  <a:srgbClr val="1F2937"/>
                </a:solidFill>
                <a:latin typeface="Arial"/>
              </a:rPr>
              <a:t>&lt; stability window of every candidate  ·  window width by chemical group &gt;</a:t>
            </a:r>
          </a:p>
        </p:txBody>
      </p:sp>
      <p:sp xmlns:a="http://schemas.openxmlformats.org/drawingml/2006/main">
        <p:nvSpPr>
          <p:cNvPr id="34" name="TextBox 33"/>
          <p:cNvSpPr txBox="1"/>
          <p:nvPr/>
        </p:nvSpPr>
        <p:spPr>
          <a:xfrm>
            <a:off x="502920" y="5760720"/>
            <a:ext cx="8138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1">
                <a:solidFill>
                  <a:srgbClr val="BE123C"/>
                </a:solidFill>
                <a:latin typeface="Arial"/>
              </a:rPr>
              <a:t>five windows collapse below 0.05 V</a:t>
            </a:r>
            <a:r>
              <a:rPr sz="1150" b="0">
                <a:solidFill>
                  <a:srgbClr val="4B5563"/>
                </a:solidFill>
                <a:latin typeface="Arial"/>
              </a:rPr>
              <a:t>, all 3d metals from Mn to Ni; </a:t>
            </a:r>
            <a:r>
              <a:rPr sz="1150" b="1">
                <a:solidFill>
                  <a:srgbClr val="2563EB"/>
                </a:solidFill>
                <a:latin typeface="Arial"/>
              </a:rPr>
              <a:t>the group order is clean</a:t>
            </a:r>
          </a:p>
        </p:txBody>
      </p:sp>
    </p:spTree>
    <p:extLst>
      <p:ext uri="{BB962C8B-B14F-4D97-AF65-F5344CB8AC3E}">
        <p14:creationId xmlns:p14="http://schemas.microsoft.com/office/powerpoint/2010/main" val="582206516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2026-08-16T17:36:15.2940000Z</dcterms:created>
  <dcterms:modified xsi:type="dcterms:W3CDTF">2026-08-16T17:36:15.2940000Z</dcterms:modified>
</coreProperties>
</file>