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71" r:id="Rf5fc8157681b488f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d15051cc896443fc" Type="http://schemas.openxmlformats.org/officeDocument/2006/relationships/theme" Target="theme/theme1.xml"/><Relationship Id="Rf5fc8157681b488f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3.xml.rels><?xml version='1.0' encoding='UTF-8' standalone='yes'?>
<Relationships xmlns="http://schemas.openxmlformats.org/package/2006/relationships"><Relationship Id="R8f8f45b69a11478c" Type="http://schemas.openxmlformats.org/officeDocument/2006/relationships/slide" Target="../slides/slide16.xml"/><Relationship Id="Rb0a6596f291347d9" Type="http://schemas.openxmlformats.org/officeDocument/2006/relationships/notesMaster" Target="../notesMasters/notesMaster1.xml"/></Relationship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여덟 번째 단계에서는 Li 화학퍼텐셜을 전압축으로 바꾸고, 후보 조성이 어떤 상으로 분해될 수 있는지 봅니다. 같은 경쟁상 목록 안에서 host와 후보를 비교하면 bulk 산화 onset과 분해 산물을 얻을 수 있습니다. 하지만 이 계산은 0 K bulk 열역학입니다. 실제 계면 구조, 접착, 반응 속도와 passivation은 별도 계산과 실험이 필요합니다.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[발표자 메모]</a:t>
            </a:r>
            <a:endParaRPr/>
          </a:p>
          <a:p xmlns:a="http://schemas.openxmlformats.org/drawingml/2006/main">
            <a:r>
              <a:t>convex hull과 grand potential은 ‘분해 가능성’이지 ‘실제 수명’이 아니라고 선을 긋는다.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tools/oxidation/esw_cascade_batch.py; MP grand-potential workflow; same-phase-roster contract.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6.xml.rels><?xml version='1.0' encoding='UTF-8' standalone='yes'?>
<Relationships xmlns="http://schemas.openxmlformats.org/package/2006/relationships"><Relationship Id="R2590317027994963" Type="http://schemas.openxmlformats.org/officeDocument/2006/relationships/notesSlide" Target="../notesSlides/notesSlide13.xml"/><Relationship Id="R7de8b2dcde8b4299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g-13">
            <a:extLst xmlns:a="http://schemas.openxmlformats.org/drawingml/2006/main">
              <a:ext uri="{FF2B5EF4-FFF2-40B4-BE49-F238E27FC236}">
                <a16:creationId xmlns:a16="http://schemas.microsoft.com/office/drawing/2014/main" id="{3D5609ED-E38A-449C-B02D-E290DCD3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2EC70312-3194-4AFC-9A3A-FDE2660C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366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Electrochemical stability window</a:t>
            </a:r>
          </a:p>
        </p:txBody>
      </p:sp>
      <p:sp>
        <p:nvSpPr>
          <p:cNvPr id="3" name="terms-13">
            <a:extLst xmlns:a="http://schemas.openxmlformats.org/drawingml/2006/main">
              <a:ext uri="{FF2B5EF4-FFF2-40B4-BE49-F238E27FC236}">
                <a16:creationId xmlns:a16="http://schemas.microsoft.com/office/drawing/2014/main" id="{A4228897-517C-407B-BA46-F66243AE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Oxidation onset: the voltage at which decomposition becomes favorable  ·  Window: the voltage range where nothing decomposes</a:t>
            </a:r>
          </a:p>
        </p:txBody>
      </p:sp>
      <p:sp>
        <p:nvSpPr>
          <p:cNvPr id="4" name="divider-13">
            <a:extLst xmlns:a="http://schemas.openxmlformats.org/drawingml/2006/main">
              <a:ext uri="{FF2B5EF4-FFF2-40B4-BE49-F238E27FC236}">
                <a16:creationId xmlns:a16="http://schemas.microsoft.com/office/drawing/2014/main" id="{A716BF5D-C236-4FAB-86C8-5AC8CAA5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13">
            <a:extLst xmlns:a="http://schemas.openxmlformats.org/drawingml/2006/main">
              <a:ext uri="{FF2B5EF4-FFF2-40B4-BE49-F238E27FC236}">
                <a16:creationId xmlns:a16="http://schemas.microsoft.com/office/drawing/2014/main" id="{6E558DBF-8E89-4CF5-8086-9601E2F4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13">
            <a:extLst xmlns:a="http://schemas.openxmlformats.org/drawingml/2006/main">
              <a:ext uri="{FF2B5EF4-FFF2-40B4-BE49-F238E27FC236}">
                <a16:creationId xmlns:a16="http://schemas.microsoft.com/office/drawing/2014/main" id="{3CFCD0E2-136E-4770-AC8F-862FE17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Step 8: The oxidation onset from a grand-potential construction</a:t>
            </a:r>
          </a:p>
        </p:txBody>
      </p:sp>
      <p:sp>
        <p:nvSpPr>
          <p:cNvPr id="7" name="bullet-dot-13-0">
            <a:extLst xmlns:a="http://schemas.openxmlformats.org/drawingml/2006/main">
              <a:ext uri="{FF2B5EF4-FFF2-40B4-BE49-F238E27FC236}">
                <a16:creationId xmlns:a16="http://schemas.microsoft.com/office/drawing/2014/main" id="{AA64C761-0CEE-4C64-B777-F0B9C1F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13-0">
            <a:extLst xmlns:a="http://schemas.openxmlformats.org/drawingml/2006/main">
              <a:ext uri="{FF2B5EF4-FFF2-40B4-BE49-F238E27FC236}">
                <a16:creationId xmlns:a16="http://schemas.microsoft.com/office/drawing/2014/main" id="{9949F69E-0086-4EF5-83F0-40FC2B34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To locate decomposition,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the Li chemical potential was scanned as a voltage axis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bullet-dot-13-1">
            <a:extLst xmlns:a="http://schemas.openxmlformats.org/drawingml/2006/main">
              <a:ext uri="{FF2B5EF4-FFF2-40B4-BE49-F238E27FC236}">
                <a16:creationId xmlns:a16="http://schemas.microsoft.com/office/drawing/2014/main" id="{A4F70014-7C5E-4F50-B767-7CE3878B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13-1">
            <a:extLst xmlns:a="http://schemas.openxmlformats.org/drawingml/2006/main">
              <a:ext uri="{FF2B5EF4-FFF2-40B4-BE49-F238E27FC236}">
                <a16:creationId xmlns:a16="http://schemas.microsoft.com/office/drawing/2014/main" id="{89938A81-117B-4351-9897-A02C11D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result is </a:t>
            </a: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0 K bulk thermodynamics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, not a rate and not a passivation prediction.</a:t>
            </a:r>
          </a:p>
        </p:txBody>
      </p:sp>
      <p:sp>
        <p:nvSpPr>
          <p:cNvPr id="12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75694E06-3312-4145-8CA4-D260F2E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13">
            <a:extLst xmlns:a="http://schemas.openxmlformats.org/drawingml/2006/main">
              <a:ext uri="{FF2B5EF4-FFF2-40B4-BE49-F238E27FC236}">
                <a16:creationId xmlns:a16="http://schemas.microsoft.com/office/drawing/2014/main" id="{17BD0498-EB0C-4EE4-A844-A974FB55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9ADCA14B-0B8F-469D-BBD5-9D665B49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 xmlns:a="http://schemas.openxmlformats.org/drawingml/2006/main" xmlns:r="http://schemas.openxmlformats.org/officeDocument/2006/relationships">
        <p:nvPicPr>
          <p:cNvPr id="32" name="Picture 31" descr="step8_oxidation_wind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772" y="2231136"/>
            <a:ext cx="6386454" cy="2999232"/>
          </a:xfrm>
          <a:prstGeom prst="rect">
            <a:avLst/>
          </a:prstGeom>
        </p:spPr>
      </p:pic>
      <p:sp xmlns:a="http://schemas.openxmlformats.org/drawingml/2006/main">
        <p:nvSpPr>
          <p:cNvPr id="33" name="TextBox 32"/>
          <p:cNvSpPr txBox="1"/>
          <p:nvPr/>
        </p:nvSpPr>
        <p:spPr>
          <a:xfrm>
            <a:off x="502920" y="5449824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stability window of every candidate  ·  window width by chemical group &gt;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502920" y="5760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E123C"/>
                </a:solidFill>
                <a:latin typeface="Arial"/>
              </a:rPr>
              <a:t>five windows collapse below 0.05 V</a:t>
            </a:r>
            <a:r>
              <a:rPr sz="1150" b="0">
                <a:solidFill>
                  <a:srgbClr val="4B5563"/>
                </a:solidFill>
                <a:latin typeface="Arial"/>
              </a:rPr>
              <a:t>, all 3d metals from Mn to Ni; </a:t>
            </a:r>
            <a:r>
              <a:rPr sz="1150" b="1">
                <a:solidFill>
                  <a:srgbClr val="2563EB"/>
                </a:solidFill>
                <a:latin typeface="Arial"/>
              </a:rPr>
              <a:t>the group order is clean</a:t>
            </a:r>
          </a:p>
        </p:txBody>
      </p:sp>
    </p:spTree>
    <p:extLst>
      <p:ext uri="{BB962C8B-B14F-4D97-AF65-F5344CB8AC3E}">
        <p14:creationId xmlns:p14="http://schemas.microsoft.com/office/powerpoint/2010/main" val="5822065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