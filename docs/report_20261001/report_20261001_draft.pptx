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media/image12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1"/>
  </p:sldMasterIdLst>
  <p:notesMasterIdLst>
    <p:notesMasterId r:id="rId13"/>
  </p:notesMasterIdLst>
  <p:sldIdLst>
    <p:sldId id="8778" r:id="rId2"/>
    <p:sldId id="306" r:id="rId3"/>
    <p:sldId id="307" r:id="rId4"/>
    <p:sldId id="259" r:id="rId5"/>
    <p:sldId id="8779" r:id="rId6"/>
    <p:sldId id="8825" r:id="rId7"/>
    <p:sldId id="268" r:id="rId8"/>
    <p:sldId id="8827" r:id="rId18"/>
    <p:sldId id="8828" r:id="rId19"/>
    <p:sldId id="8829" r:id="rId20"/>
    <p:sldId id="8830" r:id="rId21"/>
    <p:sldId id="8831" r:id="rId22"/>
    <p:sldId id="8832" r:id="rId23"/>
    <p:sldId id="8833" r:id="rId24"/>
    <p:sldId id="8834" r:id="rId25"/>
    <p:sldId id="8835" r:id="rId26"/>
    <p:sldId id="8836" r:id="rId27"/>
    <p:sldId id="8837" r:id="rId28"/>
    <p:sldId id="8781" r:id="rId11"/>
    <p:sldId id="8824" r:id="rId1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52FEE47-E5A6-4184-BD90-60AC0E95BD8D}">
          <p14:sldIdLst>
            <p14:sldId id="8778"/>
            <p14:sldId id="306"/>
            <p14:sldId id="307"/>
          </p14:sldIdLst>
        </p14:section>
        <p14:section name="기관별 작성 요청" id="{911DABA7-AF7E-4663-AF91-6BD3B88F9489}">
          <p14:sldIdLst>
            <p14:sldId id="259"/>
            <p14:sldId id="8779"/>
            <p14:sldId id="8825"/>
            <p14:sldId id="268"/>
            <p14:sldId id="8780"/>
            <p14:sldId id="8826"/>
            <p14:sldId id="8781"/>
            <p14:sldId id="88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201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217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pos="6068" userDrawn="1">
          <p15:clr>
            <a:srgbClr val="A4A3A4"/>
          </p15:clr>
        </p15:guide>
        <p15:guide id="6" pos="3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87BC"/>
    <a:srgbClr val="2C4C87"/>
    <a:srgbClr val="B4C7E7"/>
    <a:srgbClr val="FBE5D6"/>
    <a:srgbClr val="FFFBEF"/>
    <a:srgbClr val="E5F2F9"/>
    <a:srgbClr val="D3E1F8"/>
    <a:srgbClr val="7F7F7F"/>
    <a:srgbClr val="4472C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82" autoAdjust="0"/>
    <p:restoredTop sz="96210" autoAdjust="0"/>
  </p:normalViewPr>
  <p:slideViewPr>
    <p:cSldViewPr snapToGrid="0">
      <p:cViewPr varScale="1">
        <p:scale>
          <a:sx n="114" d="100"/>
          <a:sy n="114" d="100"/>
        </p:scale>
        <p:origin x="1638" y="108"/>
      </p:cViewPr>
      <p:guideLst>
        <p:guide orient="horz" pos="4201"/>
        <p:guide pos="3120"/>
        <p:guide pos="217"/>
        <p:guide orient="horz" pos="777"/>
        <p:guide pos="6068"/>
        <p:guide pos="32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공극률 union</c:v>
                </c:pt>
              </c:strCache>
            </c:strRef>
          </c:tx>
          <c:spPr>
            <a:solidFill>
              <a:srgbClr val="2A78D6"/>
            </a:solidFill>
          </c:spPr>
          <c:dPt>
            <c:idx val="3"/>
            <c:spPr>
              <a:solidFill>
                <a:srgbClr val="EB6834"/>
              </a:solidFill>
            </c:spPr>
          </c:dPt>
          <c:cat>
            <c:strRef>
              <c:f>Sheet1!$A$2:$A$6</c:f>
              <c:strCache>
                <c:ptCount val="5"/>
                <c:pt idx="0">
                  <c:v>0:10</c:v>
                </c:pt>
                <c:pt idx="1">
                  <c:v>3:7</c:v>
                </c:pt>
                <c:pt idx="2">
                  <c:v>5:5</c:v>
                </c:pt>
                <c:pt idx="3">
                  <c:v>7:3</c:v>
                </c:pt>
                <c:pt idx="4">
                  <c:v>10:0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20.5892</c:v>
                </c:pt>
                <c:pt idx="1">
                  <c:v>18.6664</c:v>
                </c:pt>
                <c:pt idx="2">
                  <c:v>17.6696</c:v>
                </c:pt>
                <c:pt idx="3">
                  <c:v>16.4941</c:v>
                </c:pt>
                <c:pt idx="4">
                  <c:v>16.899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구 부피 합 (참고)</c:v>
                </c:pt>
              </c:strCache>
            </c:strRef>
          </c:tx>
          <c:spPr>
            <a:solidFill>
              <a:srgbClr val="9AA0A8"/>
            </a:solidFill>
          </c:spPr>
          <c:cat>
            <c:strRef>
              <c:f>Sheet1!$A$2:$A$6</c:f>
              <c:strCache>
                <c:ptCount val="5"/>
                <c:pt idx="0">
                  <c:v>0:10</c:v>
                </c:pt>
                <c:pt idx="1">
                  <c:v>3:7</c:v>
                </c:pt>
                <c:pt idx="2">
                  <c:v>5:5</c:v>
                </c:pt>
                <c:pt idx="3">
                  <c:v>7:3</c:v>
                </c:pt>
                <c:pt idx="4">
                  <c:v>10:0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19.1619</c:v>
                </c:pt>
                <c:pt idx="1">
                  <c:v>17.1575</c:v>
                </c:pt>
                <c:pt idx="2">
                  <c:v>16.2026</c:v>
                </c:pt>
                <c:pt idx="3">
                  <c:v>14.9536</c:v>
                </c:pt>
                <c:pt idx="4">
                  <c:v>15.8247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/>
                  <a:t>대 : 소 (질량비)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.0"/>
          <c:min val="10.0"/>
        </c:scaling>
        <c:delete val="0"/>
        <c:axPos val="l"/>
        <c:majorGridlines>
          <c:spPr>
            <a:ln>
              <a:solidFill>
                <a:srgbClr val="E3E6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공극률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공극률 편차 (%)</c:v>
                </c:pt>
              </c:strCache>
            </c:strRef>
          </c:tx>
          <c:spPr>
            <a:solidFill>
              <a:srgbClr val="2A78D6"/>
            </a:solidFill>
          </c:spPr>
          <c:dPt>
            <c:idx val="7"/>
            <c:spPr>
              <a:solidFill>
                <a:srgbClr val="EB6834"/>
              </a:solidFill>
            </c:spPr>
          </c:dPt>
          <c:cat>
            <c:strRef>
              <c:f>Sheet1!$A$2:$A$12</c:f>
              <c:strCache>
                <c:ptCount val="11"/>
                <c:pt idx="0">
                  <c:v>0:10</c:v>
                </c:pt>
                <c:pt idx="1">
                  <c:v>1:9</c:v>
                </c:pt>
                <c:pt idx="2">
                  <c:v>2:8</c:v>
                </c:pt>
                <c:pt idx="3">
                  <c:v>3:7</c:v>
                </c:pt>
                <c:pt idx="4">
                  <c:v>4:6</c:v>
                </c:pt>
                <c:pt idx="5">
                  <c:v>5:5</c:v>
                </c:pt>
                <c:pt idx="6">
                  <c:v>6:4</c:v>
                </c:pt>
                <c:pt idx="7">
                  <c:v>7:3</c:v>
                </c:pt>
                <c:pt idx="8">
                  <c:v>8:2</c:v>
                </c:pt>
                <c:pt idx="9">
                  <c:v>9:1</c:v>
                </c:pt>
                <c:pt idx="10">
                  <c:v>10:0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11.7</c:v>
                </c:pt>
                <c:pt idx="1">
                  <c:v>9.9</c:v>
                </c:pt>
                <c:pt idx="2">
                  <c:v>4.3</c:v>
                </c:pt>
                <c:pt idx="3">
                  <c:v>-0.2</c:v>
                </c:pt>
                <c:pt idx="4">
                  <c:v>-0.1</c:v>
                </c:pt>
                <c:pt idx="5">
                  <c:v>-8.4</c:v>
                </c:pt>
                <c:pt idx="6">
                  <c:v>-3.0</c:v>
                </c:pt>
                <c:pt idx="7">
                  <c:v>-16.9</c:v>
                </c:pt>
                <c:pt idx="8">
                  <c:v>-5.6</c:v>
                </c:pt>
                <c:pt idx="9">
                  <c:v>-10.9</c:v>
                </c:pt>
                <c:pt idx="10">
                  <c:v>-2.1</c:v>
                </c:pt>
              </c:numCache>
            </c:numRef>
          </c:val>
        </c:ser>
        <c:dLbls>
          <c:numFmt formatCode="+0.0;-0.0;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/>
                  <a:t>대 : 소 (질량비)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-20.0"/>
        </c:scaling>
        <c:delete val="0"/>
        <c:axPos val="l"/>
        <c:majorGridlines>
          <c:spPr>
            <a:ln>
              <a:solidFill>
                <a:srgbClr val="E3E6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보정 뒤 공극률 편차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맑은 고딕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공극률 union 중앙값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&lt; 20 %</c:v>
                </c:pt>
                <c:pt idx="1">
                  <c:v>20–30 %</c:v>
                </c:pt>
                <c:pt idx="2">
                  <c:v>30–40 %</c:v>
                </c:pt>
                <c:pt idx="3">
                  <c:v>40–50 %</c:v>
                </c:pt>
                <c:pt idx="4">
                  <c:v>≥ 50 %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24.2</c:v>
                </c:pt>
                <c:pt idx="1">
                  <c:v>17.32</c:v>
                </c:pt>
                <c:pt idx="2">
                  <c:v>10.52</c:v>
                </c:pt>
                <c:pt idx="3">
                  <c:v>8.71</c:v>
                </c:pt>
                <c:pt idx="4">
                  <c:v>7.27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/>
                  <a:t>고체 중 전해질 부피 (%)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>
          <c:spPr>
            <a:ln>
              <a:solidFill>
                <a:srgbClr val="E3E6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공극률 union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맑은 고딕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공극률 union 중앙값</c:v>
                </c:pt>
              </c:strCache>
            </c:strRef>
          </c:tx>
          <c:spPr>
            <a:solidFill>
              <a:srgbClr val="9AA0A8"/>
            </a:solidFill>
          </c:spPr>
          <c:cat>
            <c:strRef>
              <c:f>Sheet1!$A$2:$A$6</c:f>
              <c:strCache>
                <c:ptCount val="5"/>
                <c:pt idx="0">
                  <c:v>5–7</c:v>
                </c:pt>
                <c:pt idx="1">
                  <c:v>7–9</c:v>
                </c:pt>
                <c:pt idx="2">
                  <c:v>9–11</c:v>
                </c:pt>
                <c:pt idx="3">
                  <c:v>11–13</c:v>
                </c:pt>
                <c:pt idx="4">
                  <c:v>13–15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12.32</c:v>
                </c:pt>
                <c:pt idx="1">
                  <c:v>15.05</c:v>
                </c:pt>
                <c:pt idx="2">
                  <c:v>13.2</c:v>
                </c:pt>
                <c:pt idx="3">
                  <c:v>14.1</c:v>
                </c:pt>
                <c:pt idx="4">
                  <c:v>12.91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/>
                  <a:t>대입자 지름 (µm)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>
          <c:spPr>
            <a:ln>
              <a:solidFill>
                <a:srgbClr val="E3E6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공극률 union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93297-71CA-4B32-BEF8-485A8A5AD722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B835C-CCDF-46FB-B524-1E5CD9B328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57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1B835C-CCDF-46FB-B524-1E5CD9B3289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134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EBE6C-7915-061A-A299-0D4B98E9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3E05D3-63E4-69EB-BCA5-96B22C901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7E4FA8-879B-229B-7818-643AF0EA1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C87C56-E0D9-D2A9-79C8-E2F9303BB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A2C65-6271-402B-BFFF-E41D398C3725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100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참고 스토리라인: 목표 → 입력 → 설계인자 → 기준 구조 → 영향 분석 → 데이터셋 → 요약.  상태 열은 2026-09-29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수식은 PowerPoint 수식 개체 (더블클릭해 편집).  F_n 이력식은 LIGGGHTS hooke/hysteresis 의 하중/제하 강성 구조를 적은 것 — 정확한 강성 매개 (coefficientPlasticityDepth 등) 는 덱 참조.  물성 = 덱 값 (영률 · 압력은 덱 안에서 ×0.001 스케일, 길이는 ×1000 스케일).  1.35 GPa 연화 = CLAUDE.md E_SE calibration 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굴곡도 = 웹앱 calc_tortuosity (거리 가중 최단 경로 / z 거리).  전도도 = 웹앱 network_conductivity (Holm 1967 협착 · Kirchhoff).  union = scripts/lhs_union_webapp.py.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130 = docs/data/lhs_design_20260818.csv 설계 (2 mAh/cm²) · 64 = lhsx (전해질 과량) · 공극률 = docs/data/lhs_union_20260927/README.md 표.  사양 5 조성 = r4.5 union (r45_union_summary.tsv).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웹앱 케이스 260925_000559_082983 (input_6mAh_real_4_D9) · 덤프 atom_3220000.  구 부피 합은 겹침을 두 번 세는 웹앱 기본값 (union 과 병기).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 = docs/data/ps45_r45_union_20260929/r45_union_summary.tsv (union 정확 · MC ±0.02 %p).  오른쪽 = lhs_trends.json ps_resid (ln(union %) ~ 1 + SE/고체 + (SE/고체)² + d_SE  (최소제곱), R² 0.86).  입경 (대 · 소) 을 보정에 더해도 7:3 편차 −15 % 수준 유지 (2026-09-29 점검).  탐색적 분석 — 사전 등록 판정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라틴 하이퍼큐브는 인자를 동시에 바꾸므로 구간 중앙값은 다른 인자가 섞인 주변 경향이다.  전해질 함량 효과가 가장 크다는 점은 보정 회귀 (R² 0.86) 로도 같다.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값 = 웹앱 results/&lt;case_id&gt;/full_metrics.json (5 케이스: 6e4ff6 · 082983 · 123978 · bd85f9 · 0bee25).  ⬜ 칸은 값이 오면 채운다.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식 = scripts/make_mixer_deck.py (Hertz + SJKR · Bo = F_coh / W) · scripts/measure_mixing_index.py (Lacey).  그림 (a)(b) = docs/figures/mixer_summary_20260920.png 의 왼쪽 두 패널 — 09-21 재설계 이전 덱 (세대 표지 · devlog v08).  (c) 막대는 싣지 않았다 (옛 세대 수치 · 철회된 앵커 라벨).  현 캠페인 = docs/reviews/mixer_layered_prereg_20260921.md.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판정선 = docs/reviews/mixer_layered_prereg_20260921.md §2 · 결론 문안 §5 (Codex §9 문안: "사전 정의된 두 CED 행렬 · AM–AM 및 AM–벽 부착이 함께 다름 · 실제 코팅 재현으로 해석하지 않음").  ⬜ 칸 = 09-30 완주 뒤 판독기 planned.M_final.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요약 문장의 7:3 = 사양 5 조성 union 최소 + 130 설계점 보정 편차 (탐색적).  수송 우위 문장은 2-8 값이 채워진 뒤에만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A5E88E-3E0D-4705-A44B-979DE51C7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02AD-99A7-4FAF-8D7B-EEA4DD808CFF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254E1B-3341-4B57-A3AD-3B331AE7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2923DD-34DB-4C83-9EF8-9046DB1E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2108C-561C-4292-9C77-E5ADBE07620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C7DAF7-8556-4D57-9356-47337A4124B3}"/>
              </a:ext>
            </a:extLst>
          </p:cNvPr>
          <p:cNvSpPr/>
          <p:nvPr userDrawn="1"/>
        </p:nvSpPr>
        <p:spPr>
          <a:xfrm>
            <a:off x="-1" y="1"/>
            <a:ext cx="981075" cy="740176"/>
          </a:xfrm>
          <a:prstGeom prst="rect">
            <a:avLst/>
          </a:prstGeom>
          <a:solidFill>
            <a:srgbClr val="2C4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9" name="자유형 4">
            <a:extLst>
              <a:ext uri="{FF2B5EF4-FFF2-40B4-BE49-F238E27FC236}">
                <a16:creationId xmlns:a16="http://schemas.microsoft.com/office/drawing/2014/main" id="{BEB35536-093B-47A8-8331-0CA4AE2D64E6}"/>
              </a:ext>
            </a:extLst>
          </p:cNvPr>
          <p:cNvSpPr/>
          <p:nvPr userDrawn="1"/>
        </p:nvSpPr>
        <p:spPr>
          <a:xfrm rot="10800000">
            <a:off x="8369632" y="-1867"/>
            <a:ext cx="1536367" cy="742045"/>
          </a:xfrm>
          <a:custGeom>
            <a:avLst/>
            <a:gdLst>
              <a:gd name="connsiteX0" fmla="*/ 1418185 w 1418185"/>
              <a:gd name="connsiteY0" fmla="*/ 742045 h 742045"/>
              <a:gd name="connsiteX1" fmla="*/ 0 w 1418185"/>
              <a:gd name="connsiteY1" fmla="*/ 742045 h 742045"/>
              <a:gd name="connsiteX2" fmla="*/ 0 w 1418185"/>
              <a:gd name="connsiteY2" fmla="*/ 0 h 742045"/>
              <a:gd name="connsiteX3" fmla="*/ 676140 w 1418185"/>
              <a:gd name="connsiteY3" fmla="*/ 0 h 74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8185" h="742045">
                <a:moveTo>
                  <a:pt x="1418185" y="742045"/>
                </a:moveTo>
                <a:lnTo>
                  <a:pt x="0" y="742045"/>
                </a:lnTo>
                <a:lnTo>
                  <a:pt x="0" y="0"/>
                </a:lnTo>
                <a:lnTo>
                  <a:pt x="676140" y="0"/>
                </a:lnTo>
                <a:close/>
              </a:path>
            </a:pathLst>
          </a:custGeom>
          <a:solidFill>
            <a:srgbClr val="A8C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 sz="1463"/>
          </a:p>
        </p:txBody>
      </p:sp>
      <p:sp>
        <p:nvSpPr>
          <p:cNvPr id="10" name="자유형 5">
            <a:extLst>
              <a:ext uri="{FF2B5EF4-FFF2-40B4-BE49-F238E27FC236}">
                <a16:creationId xmlns:a16="http://schemas.microsoft.com/office/drawing/2014/main" id="{028EF0CA-4376-4308-A4E0-81904284A50F}"/>
              </a:ext>
            </a:extLst>
          </p:cNvPr>
          <p:cNvSpPr/>
          <p:nvPr userDrawn="1"/>
        </p:nvSpPr>
        <p:spPr>
          <a:xfrm rot="10800000">
            <a:off x="8851297" y="-1867"/>
            <a:ext cx="1054703" cy="742045"/>
          </a:xfrm>
          <a:custGeom>
            <a:avLst/>
            <a:gdLst>
              <a:gd name="connsiteX0" fmla="*/ 973572 w 973572"/>
              <a:gd name="connsiteY0" fmla="*/ 742045 h 742045"/>
              <a:gd name="connsiteX1" fmla="*/ 0 w 973572"/>
              <a:gd name="connsiteY1" fmla="*/ 742045 h 742045"/>
              <a:gd name="connsiteX2" fmla="*/ 0 w 973572"/>
              <a:gd name="connsiteY2" fmla="*/ 0 h 742045"/>
              <a:gd name="connsiteX3" fmla="*/ 231527 w 973572"/>
              <a:gd name="connsiteY3" fmla="*/ 0 h 74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572" h="742045">
                <a:moveTo>
                  <a:pt x="973572" y="742045"/>
                </a:moveTo>
                <a:lnTo>
                  <a:pt x="0" y="742045"/>
                </a:lnTo>
                <a:lnTo>
                  <a:pt x="0" y="0"/>
                </a:lnTo>
                <a:lnTo>
                  <a:pt x="231527" y="0"/>
                </a:lnTo>
                <a:close/>
              </a:path>
            </a:pathLst>
          </a:custGeom>
          <a:solidFill>
            <a:srgbClr val="2C4C8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 sz="1463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3243ACD-AB96-4261-82B4-2DAD9A1545E5}"/>
              </a:ext>
            </a:extLst>
          </p:cNvPr>
          <p:cNvSpPr/>
          <p:nvPr userDrawn="1"/>
        </p:nvSpPr>
        <p:spPr>
          <a:xfrm>
            <a:off x="0" y="740179"/>
            <a:ext cx="9906000" cy="9371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cxnSp>
        <p:nvCxnSpPr>
          <p:cNvPr id="13" name="직선 연결선[R] 8">
            <a:extLst>
              <a:ext uri="{FF2B5EF4-FFF2-40B4-BE49-F238E27FC236}">
                <a16:creationId xmlns:a16="http://schemas.microsoft.com/office/drawing/2014/main" id="{FD4083ED-F011-46BA-B826-45792BBD9460}"/>
              </a:ext>
            </a:extLst>
          </p:cNvPr>
          <p:cNvCxnSpPr>
            <a:cxnSpLocks/>
          </p:cNvCxnSpPr>
          <p:nvPr userDrawn="1"/>
        </p:nvCxnSpPr>
        <p:spPr>
          <a:xfrm>
            <a:off x="0" y="740178"/>
            <a:ext cx="99060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53188682-A58F-4008-8E80-3113897FB5BC}"/>
              </a:ext>
            </a:extLst>
          </p:cNvPr>
          <p:cNvSpPr txBox="1">
            <a:spLocks/>
          </p:cNvSpPr>
          <p:nvPr userDrawn="1"/>
        </p:nvSpPr>
        <p:spPr>
          <a:xfrm>
            <a:off x="7507193" y="1"/>
            <a:ext cx="2311399" cy="365125"/>
          </a:xfrm>
          <a:prstGeom prst="rect">
            <a:avLst/>
          </a:prstGeom>
        </p:spPr>
        <p:txBody>
          <a:bodyPr vert="horz" lIns="74295" tIns="37148" rIns="74295" bIns="37148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D22CD3B-FDDF-4998-970C-76E6E0BEC65F}" type="slidenum">
              <a:rPr lang="ko-KR" altLang="en-US" sz="975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ko-KR" altLang="en-US" sz="975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31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FEC92577-72A4-490F-8E09-0ED1E0EA4C18}"/>
              </a:ext>
            </a:extLst>
          </p:cNvPr>
          <p:cNvGrpSpPr/>
          <p:nvPr userDrawn="1"/>
        </p:nvGrpSpPr>
        <p:grpSpPr>
          <a:xfrm>
            <a:off x="1963670" y="0"/>
            <a:ext cx="7945106" cy="6866063"/>
            <a:chOff x="936984" y="0"/>
            <a:chExt cx="5960671" cy="5145088"/>
          </a:xfrm>
        </p:grpSpPr>
        <p:pic>
          <p:nvPicPr>
            <p:cNvPr id="12" name="Picture 8" descr="Bildergebnis für car charging">
              <a:extLst>
                <a:ext uri="{FF2B5EF4-FFF2-40B4-BE49-F238E27FC236}">
                  <a16:creationId xmlns:a16="http://schemas.microsoft.com/office/drawing/2014/main" id="{39F7072D-BE1F-4F00-A21C-14AD6A73B6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3898"/>
            <a:stretch/>
          </p:blipFill>
          <p:spPr bwMode="auto">
            <a:xfrm>
              <a:off x="2566588" y="0"/>
              <a:ext cx="4331067" cy="5145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C8B83EF9-351A-4E9C-93AD-E24EAB20E253}"/>
                </a:ext>
              </a:extLst>
            </p:cNvPr>
            <p:cNvSpPr/>
            <p:nvPr/>
          </p:nvSpPr>
          <p:spPr bwMode="auto">
            <a:xfrm>
              <a:off x="936984" y="0"/>
              <a:ext cx="4460561" cy="5145088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83179">
                  <a:srgbClr val="FFFFFF">
                    <a:alpha val="40000"/>
                  </a:srgbClr>
                </a:gs>
                <a:gs pos="69000">
                  <a:srgbClr val="FFFFFF">
                    <a:alpha val="74000"/>
                  </a:srgbClr>
                </a:gs>
                <a:gs pos="53000">
                  <a:srgbClr val="FFFFFF"/>
                </a:gs>
                <a:gs pos="29000">
                  <a:srgbClr val="FFFFFF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19963" tIns="62381" rIns="119963" bIns="62381" numCol="1" rtlCol="0" anchor="t" anchorCtr="0" compatLnSpc="1">
              <a:prstTxWarp prst="textNoShape">
                <a:avLst/>
              </a:prstTxWarp>
            </a:bodyPr>
            <a:lstStyle/>
            <a:p>
              <a:pPr defTabSz="1218804" fontAlgn="base" latinLnBrk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120000"/>
              </a:pPr>
              <a:endParaRPr lang="en-US" sz="2133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endParaRPr>
            </a:p>
          </p:txBody>
        </p:sp>
      </p:grp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C05F2E66-13F4-4C2A-A0F6-03E31C0D92FF}"/>
              </a:ext>
            </a:extLst>
          </p:cNvPr>
          <p:cNvSpPr/>
          <p:nvPr userDrawn="1"/>
        </p:nvSpPr>
        <p:spPr>
          <a:xfrm>
            <a:off x="7352175" y="6093701"/>
            <a:ext cx="2554866" cy="396000"/>
          </a:xfrm>
          <a:custGeom>
            <a:avLst/>
            <a:gdLst>
              <a:gd name="connsiteX0" fmla="*/ 206121 w 2554866"/>
              <a:gd name="connsiteY0" fmla="*/ 0 h 396000"/>
              <a:gd name="connsiteX1" fmla="*/ 2554866 w 2554866"/>
              <a:gd name="connsiteY1" fmla="*/ 0 h 396000"/>
              <a:gd name="connsiteX2" fmla="*/ 2554866 w 2554866"/>
              <a:gd name="connsiteY2" fmla="*/ 396000 h 396000"/>
              <a:gd name="connsiteX3" fmla="*/ 0 w 2554866"/>
              <a:gd name="connsiteY3" fmla="*/ 39600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4866" h="396000">
                <a:moveTo>
                  <a:pt x="206121" y="0"/>
                </a:moveTo>
                <a:lnTo>
                  <a:pt x="2554866" y="0"/>
                </a:lnTo>
                <a:lnTo>
                  <a:pt x="2554866" y="396000"/>
                </a:lnTo>
                <a:lnTo>
                  <a:pt x="0" y="396000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6A44FFC-68E9-4847-BAF2-0E4C39D48B4C}"/>
              </a:ext>
            </a:extLst>
          </p:cNvPr>
          <p:cNvCxnSpPr>
            <a:cxnSpLocks/>
          </p:cNvCxnSpPr>
          <p:nvPr userDrawn="1"/>
        </p:nvCxnSpPr>
        <p:spPr>
          <a:xfrm flipH="1">
            <a:off x="7182139" y="1181510"/>
            <a:ext cx="2723859" cy="5676490"/>
          </a:xfrm>
          <a:prstGeom prst="line">
            <a:avLst/>
          </a:prstGeom>
          <a:ln w="38100">
            <a:solidFill>
              <a:srgbClr val="D9E1EE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31937A6-10B3-46EC-884D-94407696A105}"/>
              </a:ext>
            </a:extLst>
          </p:cNvPr>
          <p:cNvCxnSpPr>
            <a:cxnSpLocks/>
          </p:cNvCxnSpPr>
          <p:nvPr userDrawn="1"/>
        </p:nvCxnSpPr>
        <p:spPr>
          <a:xfrm flipH="1">
            <a:off x="7066448" y="942975"/>
            <a:ext cx="2839552" cy="5915025"/>
          </a:xfrm>
          <a:prstGeom prst="line">
            <a:avLst/>
          </a:prstGeom>
          <a:ln w="38100">
            <a:solidFill>
              <a:srgbClr val="D9E1EE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1EA73D2C-D1E2-49A1-89E6-DF2B6B04C2C9}"/>
              </a:ext>
            </a:extLst>
          </p:cNvPr>
          <p:cNvSpPr/>
          <p:nvPr userDrawn="1"/>
        </p:nvSpPr>
        <p:spPr>
          <a:xfrm>
            <a:off x="2" y="6461126"/>
            <a:ext cx="7255532" cy="396000"/>
          </a:xfrm>
          <a:custGeom>
            <a:avLst/>
            <a:gdLst>
              <a:gd name="connsiteX0" fmla="*/ 0 w 7255532"/>
              <a:gd name="connsiteY0" fmla="*/ 0 h 396000"/>
              <a:gd name="connsiteX1" fmla="*/ 7255532 w 7255532"/>
              <a:gd name="connsiteY1" fmla="*/ 0 h 396000"/>
              <a:gd name="connsiteX2" fmla="*/ 7046357 w 7255532"/>
              <a:gd name="connsiteY2" fmla="*/ 396000 h 396000"/>
              <a:gd name="connsiteX3" fmla="*/ 0 w 7255532"/>
              <a:gd name="connsiteY3" fmla="*/ 39600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5532" h="396000">
                <a:moveTo>
                  <a:pt x="0" y="0"/>
                </a:moveTo>
                <a:lnTo>
                  <a:pt x="7255532" y="0"/>
                </a:lnTo>
                <a:lnTo>
                  <a:pt x="7046357" y="396000"/>
                </a:lnTo>
                <a:lnTo>
                  <a:pt x="0" y="396000"/>
                </a:lnTo>
                <a:close/>
              </a:path>
            </a:pathLst>
          </a:custGeom>
          <a:solidFill>
            <a:srgbClr val="2C4C8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784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FEC92577-72A4-490F-8E09-0ED1E0EA4C18}"/>
              </a:ext>
            </a:extLst>
          </p:cNvPr>
          <p:cNvGrpSpPr/>
          <p:nvPr userDrawn="1"/>
        </p:nvGrpSpPr>
        <p:grpSpPr>
          <a:xfrm>
            <a:off x="1963670" y="0"/>
            <a:ext cx="7945106" cy="6866063"/>
            <a:chOff x="936984" y="0"/>
            <a:chExt cx="5960671" cy="5145088"/>
          </a:xfrm>
        </p:grpSpPr>
        <p:pic>
          <p:nvPicPr>
            <p:cNvPr id="12" name="Picture 8" descr="Bildergebnis für car charging">
              <a:extLst>
                <a:ext uri="{FF2B5EF4-FFF2-40B4-BE49-F238E27FC236}">
                  <a16:creationId xmlns:a16="http://schemas.microsoft.com/office/drawing/2014/main" id="{39F7072D-BE1F-4F00-A21C-14AD6A73B6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3898"/>
            <a:stretch/>
          </p:blipFill>
          <p:spPr bwMode="auto">
            <a:xfrm>
              <a:off x="2566588" y="0"/>
              <a:ext cx="4331067" cy="5145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C8B83EF9-351A-4E9C-93AD-E24EAB20E253}"/>
                </a:ext>
              </a:extLst>
            </p:cNvPr>
            <p:cNvSpPr/>
            <p:nvPr/>
          </p:nvSpPr>
          <p:spPr bwMode="auto">
            <a:xfrm>
              <a:off x="936984" y="0"/>
              <a:ext cx="4460561" cy="5145088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83179">
                  <a:srgbClr val="FFFFFF">
                    <a:alpha val="40000"/>
                  </a:srgbClr>
                </a:gs>
                <a:gs pos="69000">
                  <a:srgbClr val="FFFFFF">
                    <a:alpha val="74000"/>
                  </a:srgbClr>
                </a:gs>
                <a:gs pos="53000">
                  <a:srgbClr val="FFFFFF"/>
                </a:gs>
                <a:gs pos="29000">
                  <a:srgbClr val="FFFFFF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19963" tIns="62381" rIns="119963" bIns="62381" numCol="1" rtlCol="0" anchor="t" anchorCtr="0" compatLnSpc="1">
              <a:prstTxWarp prst="textNoShape">
                <a:avLst/>
              </a:prstTxWarp>
            </a:bodyPr>
            <a:lstStyle/>
            <a:p>
              <a:pPr defTabSz="1218804" fontAlgn="base" latinLnBrk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120000"/>
              </a:pPr>
              <a:endParaRPr lang="en-US" sz="2133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endParaRPr>
            </a:p>
          </p:txBody>
        </p:sp>
      </p:grp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C05F2E66-13F4-4C2A-A0F6-03E31C0D92FF}"/>
              </a:ext>
            </a:extLst>
          </p:cNvPr>
          <p:cNvSpPr/>
          <p:nvPr userDrawn="1"/>
        </p:nvSpPr>
        <p:spPr>
          <a:xfrm>
            <a:off x="7352175" y="6093701"/>
            <a:ext cx="2554866" cy="396000"/>
          </a:xfrm>
          <a:custGeom>
            <a:avLst/>
            <a:gdLst>
              <a:gd name="connsiteX0" fmla="*/ 206121 w 2554866"/>
              <a:gd name="connsiteY0" fmla="*/ 0 h 396000"/>
              <a:gd name="connsiteX1" fmla="*/ 2554866 w 2554866"/>
              <a:gd name="connsiteY1" fmla="*/ 0 h 396000"/>
              <a:gd name="connsiteX2" fmla="*/ 2554866 w 2554866"/>
              <a:gd name="connsiteY2" fmla="*/ 396000 h 396000"/>
              <a:gd name="connsiteX3" fmla="*/ 0 w 2554866"/>
              <a:gd name="connsiteY3" fmla="*/ 39600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4866" h="396000">
                <a:moveTo>
                  <a:pt x="206121" y="0"/>
                </a:moveTo>
                <a:lnTo>
                  <a:pt x="2554866" y="0"/>
                </a:lnTo>
                <a:lnTo>
                  <a:pt x="2554866" y="396000"/>
                </a:lnTo>
                <a:lnTo>
                  <a:pt x="0" y="396000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6A44FFC-68E9-4847-BAF2-0E4C39D48B4C}"/>
              </a:ext>
            </a:extLst>
          </p:cNvPr>
          <p:cNvCxnSpPr>
            <a:cxnSpLocks/>
          </p:cNvCxnSpPr>
          <p:nvPr userDrawn="1"/>
        </p:nvCxnSpPr>
        <p:spPr>
          <a:xfrm flipH="1">
            <a:off x="7182139" y="1181510"/>
            <a:ext cx="2723859" cy="5676490"/>
          </a:xfrm>
          <a:prstGeom prst="line">
            <a:avLst/>
          </a:prstGeom>
          <a:ln w="38100">
            <a:solidFill>
              <a:srgbClr val="D9E1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31937A6-10B3-46EC-884D-94407696A105}"/>
              </a:ext>
            </a:extLst>
          </p:cNvPr>
          <p:cNvCxnSpPr>
            <a:cxnSpLocks/>
          </p:cNvCxnSpPr>
          <p:nvPr userDrawn="1"/>
        </p:nvCxnSpPr>
        <p:spPr>
          <a:xfrm flipH="1">
            <a:off x="7066448" y="942975"/>
            <a:ext cx="2839552" cy="5915025"/>
          </a:xfrm>
          <a:prstGeom prst="line">
            <a:avLst/>
          </a:prstGeom>
          <a:ln w="38100">
            <a:solidFill>
              <a:srgbClr val="95A5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1EA73D2C-D1E2-49A1-89E6-DF2B6B04C2C9}"/>
              </a:ext>
            </a:extLst>
          </p:cNvPr>
          <p:cNvSpPr/>
          <p:nvPr userDrawn="1"/>
        </p:nvSpPr>
        <p:spPr>
          <a:xfrm>
            <a:off x="2" y="6461126"/>
            <a:ext cx="7255532" cy="396000"/>
          </a:xfrm>
          <a:custGeom>
            <a:avLst/>
            <a:gdLst>
              <a:gd name="connsiteX0" fmla="*/ 0 w 7255532"/>
              <a:gd name="connsiteY0" fmla="*/ 0 h 396000"/>
              <a:gd name="connsiteX1" fmla="*/ 7255532 w 7255532"/>
              <a:gd name="connsiteY1" fmla="*/ 0 h 396000"/>
              <a:gd name="connsiteX2" fmla="*/ 7046357 w 7255532"/>
              <a:gd name="connsiteY2" fmla="*/ 396000 h 396000"/>
              <a:gd name="connsiteX3" fmla="*/ 0 w 7255532"/>
              <a:gd name="connsiteY3" fmla="*/ 39600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5532" h="396000">
                <a:moveTo>
                  <a:pt x="0" y="0"/>
                </a:moveTo>
                <a:lnTo>
                  <a:pt x="7255532" y="0"/>
                </a:lnTo>
                <a:lnTo>
                  <a:pt x="7046357" y="396000"/>
                </a:lnTo>
                <a:lnTo>
                  <a:pt x="0" y="396000"/>
                </a:lnTo>
                <a:close/>
              </a:path>
            </a:pathLst>
          </a:custGeom>
          <a:solidFill>
            <a:srgbClr val="2C4C8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A86E59CF-705C-46ED-B379-7020C24B7452}"/>
              </a:ext>
            </a:extLst>
          </p:cNvPr>
          <p:cNvSpPr/>
          <p:nvPr userDrawn="1"/>
        </p:nvSpPr>
        <p:spPr>
          <a:xfrm>
            <a:off x="1038056" y="0"/>
            <a:ext cx="8867944" cy="396000"/>
          </a:xfrm>
          <a:custGeom>
            <a:avLst/>
            <a:gdLst>
              <a:gd name="connsiteX0" fmla="*/ 226291 w 8909220"/>
              <a:gd name="connsiteY0" fmla="*/ 0 h 428625"/>
              <a:gd name="connsiteX1" fmla="*/ 8909220 w 8909220"/>
              <a:gd name="connsiteY1" fmla="*/ 0 h 428625"/>
              <a:gd name="connsiteX2" fmla="*/ 8909220 w 8909220"/>
              <a:gd name="connsiteY2" fmla="*/ 428625 h 428625"/>
              <a:gd name="connsiteX3" fmla="*/ 0 w 8909220"/>
              <a:gd name="connsiteY3" fmla="*/ 428625 h 428625"/>
              <a:gd name="connsiteX4" fmla="*/ 199161 w 8909220"/>
              <a:gd name="connsiteY4" fmla="*/ 15978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9220" h="428625">
                <a:moveTo>
                  <a:pt x="226291" y="0"/>
                </a:moveTo>
                <a:lnTo>
                  <a:pt x="8909220" y="0"/>
                </a:lnTo>
                <a:lnTo>
                  <a:pt x="8909220" y="428625"/>
                </a:lnTo>
                <a:lnTo>
                  <a:pt x="0" y="428625"/>
                </a:lnTo>
                <a:lnTo>
                  <a:pt x="199161" y="15978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D60CC2B8-26F2-47AA-A607-9D01432CC970}"/>
              </a:ext>
            </a:extLst>
          </p:cNvPr>
          <p:cNvSpPr/>
          <p:nvPr userDrawn="1"/>
        </p:nvSpPr>
        <p:spPr>
          <a:xfrm>
            <a:off x="-13392" y="396000"/>
            <a:ext cx="930075" cy="396000"/>
          </a:xfrm>
          <a:custGeom>
            <a:avLst/>
            <a:gdLst>
              <a:gd name="connsiteX0" fmla="*/ 0 w 930075"/>
              <a:gd name="connsiteY0" fmla="*/ 0 h 396000"/>
              <a:gd name="connsiteX1" fmla="*/ 930075 w 930075"/>
              <a:gd name="connsiteY1" fmla="*/ 0 h 396000"/>
              <a:gd name="connsiteX2" fmla="*/ 720136 w 930075"/>
              <a:gd name="connsiteY2" fmla="*/ 396000 h 396000"/>
              <a:gd name="connsiteX3" fmla="*/ 0 w 930075"/>
              <a:gd name="connsiteY3" fmla="*/ 39600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0075" h="396000">
                <a:moveTo>
                  <a:pt x="0" y="0"/>
                </a:moveTo>
                <a:lnTo>
                  <a:pt x="930075" y="0"/>
                </a:lnTo>
                <a:lnTo>
                  <a:pt x="720136" y="396000"/>
                </a:lnTo>
                <a:lnTo>
                  <a:pt x="0" y="396000"/>
                </a:lnTo>
                <a:close/>
              </a:path>
            </a:pathLst>
          </a:custGeom>
          <a:solidFill>
            <a:srgbClr val="2C4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83C5A6E-6D6B-4399-9891-2E2CBC833057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0"/>
            <a:ext cx="1238248" cy="2561104"/>
          </a:xfrm>
          <a:prstGeom prst="line">
            <a:avLst/>
          </a:prstGeom>
          <a:ln w="38100">
            <a:solidFill>
              <a:srgbClr val="95A5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EC03B9F-71E2-4DD5-AEC3-5418AB9359E4}"/>
              </a:ext>
            </a:extLst>
          </p:cNvPr>
          <p:cNvCxnSpPr>
            <a:cxnSpLocks/>
          </p:cNvCxnSpPr>
          <p:nvPr userDrawn="1"/>
        </p:nvCxnSpPr>
        <p:spPr>
          <a:xfrm flipH="1">
            <a:off x="-9524" y="0"/>
            <a:ext cx="1123950" cy="2343150"/>
          </a:xfrm>
          <a:prstGeom prst="line">
            <a:avLst/>
          </a:prstGeom>
          <a:ln w="38100">
            <a:solidFill>
              <a:srgbClr val="D9E1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278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3D77618E-3982-4ED9-BF4D-76E86DE4F3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4" b="13077"/>
          <a:stretch>
            <a:fillRect/>
          </a:stretch>
        </p:blipFill>
        <p:spPr>
          <a:xfrm>
            <a:off x="5245100" y="0"/>
            <a:ext cx="4660900" cy="6858000"/>
          </a:xfrm>
          <a:custGeom>
            <a:avLst/>
            <a:gdLst>
              <a:gd name="connsiteX0" fmla="*/ 1838785 w 4666082"/>
              <a:gd name="connsiteY0" fmla="*/ 0 h 6457950"/>
              <a:gd name="connsiteX1" fmla="*/ 4666082 w 4666082"/>
              <a:gd name="connsiteY1" fmla="*/ 0 h 6457950"/>
              <a:gd name="connsiteX2" fmla="*/ 4666082 w 4666082"/>
              <a:gd name="connsiteY2" fmla="*/ 6457950 h 6457950"/>
              <a:gd name="connsiteX3" fmla="*/ 0 w 4666082"/>
              <a:gd name="connsiteY3" fmla="*/ 6457950 h 645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6082" h="6457950">
                <a:moveTo>
                  <a:pt x="1838785" y="0"/>
                </a:moveTo>
                <a:lnTo>
                  <a:pt x="4666082" y="0"/>
                </a:lnTo>
                <a:lnTo>
                  <a:pt x="4666082" y="6457950"/>
                </a:lnTo>
                <a:lnTo>
                  <a:pt x="0" y="6457950"/>
                </a:lnTo>
                <a:close/>
              </a:path>
            </a:pathLst>
          </a:custGeom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61CBEDBC-8CE9-4CB1-A195-2E24B8B074FE}"/>
              </a:ext>
            </a:extLst>
          </p:cNvPr>
          <p:cNvSpPr/>
          <p:nvPr userDrawn="1"/>
        </p:nvSpPr>
        <p:spPr>
          <a:xfrm>
            <a:off x="1" y="6457950"/>
            <a:ext cx="5247218" cy="409576"/>
          </a:xfrm>
          <a:custGeom>
            <a:avLst/>
            <a:gdLst>
              <a:gd name="connsiteX0" fmla="*/ 0 w 5590118"/>
              <a:gd name="connsiteY0" fmla="*/ 0 h 409576"/>
              <a:gd name="connsiteX1" fmla="*/ 5590118 w 5590118"/>
              <a:gd name="connsiteY1" fmla="*/ 0 h 409576"/>
              <a:gd name="connsiteX2" fmla="*/ 5457007 w 5590118"/>
              <a:gd name="connsiteY2" fmla="*/ 409576 h 409576"/>
              <a:gd name="connsiteX3" fmla="*/ 0 w 5590118"/>
              <a:gd name="connsiteY3" fmla="*/ 409576 h 40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0118" h="409576">
                <a:moveTo>
                  <a:pt x="0" y="0"/>
                </a:moveTo>
                <a:lnTo>
                  <a:pt x="5590118" y="0"/>
                </a:lnTo>
                <a:lnTo>
                  <a:pt x="5457007" y="409576"/>
                </a:lnTo>
                <a:lnTo>
                  <a:pt x="0" y="409576"/>
                </a:lnTo>
                <a:close/>
              </a:path>
            </a:pathLst>
          </a:custGeom>
          <a:solidFill>
            <a:srgbClr val="2C4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2A47FF1-AD2F-47CE-9AF2-A69B111B797D}"/>
              </a:ext>
            </a:extLst>
          </p:cNvPr>
          <p:cNvCxnSpPr>
            <a:cxnSpLocks/>
          </p:cNvCxnSpPr>
          <p:nvPr userDrawn="1"/>
        </p:nvCxnSpPr>
        <p:spPr>
          <a:xfrm flipH="1">
            <a:off x="5132918" y="0"/>
            <a:ext cx="1864782" cy="6867526"/>
          </a:xfrm>
          <a:prstGeom prst="line">
            <a:avLst/>
          </a:prstGeom>
          <a:ln w="38100">
            <a:solidFill>
              <a:srgbClr val="B4C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654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063754C4-1788-48C6-9E0B-39234BF57EE2}"/>
              </a:ext>
            </a:extLst>
          </p:cNvPr>
          <p:cNvSpPr/>
          <p:nvPr userDrawn="1"/>
        </p:nvSpPr>
        <p:spPr>
          <a:xfrm rot="10800000">
            <a:off x="4621458" y="6448424"/>
            <a:ext cx="5284542" cy="409576"/>
          </a:xfrm>
          <a:custGeom>
            <a:avLst/>
            <a:gdLst>
              <a:gd name="connsiteX0" fmla="*/ 5284542 w 5284542"/>
              <a:gd name="connsiteY0" fmla="*/ 409576 h 409576"/>
              <a:gd name="connsiteX1" fmla="*/ 0 w 5284542"/>
              <a:gd name="connsiteY1" fmla="*/ 409576 h 409576"/>
              <a:gd name="connsiteX2" fmla="*/ 0 w 5284542"/>
              <a:gd name="connsiteY2" fmla="*/ 0 h 409576"/>
              <a:gd name="connsiteX3" fmla="*/ 5174184 w 5284542"/>
              <a:gd name="connsiteY3" fmla="*/ 0 h 40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84542" h="409576">
                <a:moveTo>
                  <a:pt x="5284542" y="409576"/>
                </a:moveTo>
                <a:lnTo>
                  <a:pt x="0" y="409576"/>
                </a:lnTo>
                <a:lnTo>
                  <a:pt x="0" y="0"/>
                </a:lnTo>
                <a:lnTo>
                  <a:pt x="5174184" y="0"/>
                </a:lnTo>
                <a:close/>
              </a:path>
            </a:pathLst>
          </a:custGeom>
          <a:solidFill>
            <a:srgbClr val="2C4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2A47FF1-AD2F-47CE-9AF2-A69B111B797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886075" y="0"/>
            <a:ext cx="1846794" cy="6858001"/>
          </a:xfrm>
          <a:prstGeom prst="line">
            <a:avLst/>
          </a:prstGeom>
          <a:ln w="38100">
            <a:solidFill>
              <a:srgbClr val="B4C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FD1FC44B-ECB7-4ED9-86D4-5E43CD956A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612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618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063754C4-1788-48C6-9E0B-39234BF57EE2}"/>
              </a:ext>
            </a:extLst>
          </p:cNvPr>
          <p:cNvSpPr/>
          <p:nvPr userDrawn="1"/>
        </p:nvSpPr>
        <p:spPr>
          <a:xfrm rot="10800000">
            <a:off x="4621458" y="6448424"/>
            <a:ext cx="5284542" cy="409576"/>
          </a:xfrm>
          <a:custGeom>
            <a:avLst/>
            <a:gdLst>
              <a:gd name="connsiteX0" fmla="*/ 5284542 w 5284542"/>
              <a:gd name="connsiteY0" fmla="*/ 409576 h 409576"/>
              <a:gd name="connsiteX1" fmla="*/ 0 w 5284542"/>
              <a:gd name="connsiteY1" fmla="*/ 409576 h 409576"/>
              <a:gd name="connsiteX2" fmla="*/ 0 w 5284542"/>
              <a:gd name="connsiteY2" fmla="*/ 0 h 409576"/>
              <a:gd name="connsiteX3" fmla="*/ 5174184 w 5284542"/>
              <a:gd name="connsiteY3" fmla="*/ 0 h 40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84542" h="409576">
                <a:moveTo>
                  <a:pt x="5284542" y="409576"/>
                </a:moveTo>
                <a:lnTo>
                  <a:pt x="0" y="409576"/>
                </a:lnTo>
                <a:lnTo>
                  <a:pt x="0" y="0"/>
                </a:lnTo>
                <a:lnTo>
                  <a:pt x="5174184" y="0"/>
                </a:lnTo>
                <a:close/>
              </a:path>
            </a:pathLst>
          </a:custGeom>
          <a:solidFill>
            <a:srgbClr val="2C4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2A47FF1-AD2F-47CE-9AF2-A69B111B797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886075" y="0"/>
            <a:ext cx="1846794" cy="6858001"/>
          </a:xfrm>
          <a:prstGeom prst="line">
            <a:avLst/>
          </a:prstGeom>
          <a:ln w="38100">
            <a:solidFill>
              <a:srgbClr val="B4C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FD1FC44B-ECB7-4ED9-86D4-5E43CD956A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612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716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bg>
      <p:bgPr>
        <a:solidFill>
          <a:schemeClr val="bg1">
            <a:lumMod val="95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47D2B4B9-CC18-4D2F-9F8D-1BFE50641CD0}"/>
              </a:ext>
            </a:extLst>
          </p:cNvPr>
          <p:cNvSpPr/>
          <p:nvPr userDrawn="1"/>
        </p:nvSpPr>
        <p:spPr>
          <a:xfrm>
            <a:off x="-1" y="0"/>
            <a:ext cx="9906001" cy="434975"/>
          </a:xfrm>
          <a:custGeom>
            <a:avLst/>
            <a:gdLst>
              <a:gd name="connsiteX0" fmla="*/ 0 w 9906001"/>
              <a:gd name="connsiteY0" fmla="*/ 0 h 434975"/>
              <a:gd name="connsiteX1" fmla="*/ 9906001 w 9906001"/>
              <a:gd name="connsiteY1" fmla="*/ 0 h 434975"/>
              <a:gd name="connsiteX2" fmla="*/ 9906001 w 9906001"/>
              <a:gd name="connsiteY2" fmla="*/ 434975 h 434975"/>
              <a:gd name="connsiteX3" fmla="*/ 0 w 9906001"/>
              <a:gd name="connsiteY3" fmla="*/ 434975 h 43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06001" h="434975">
                <a:moveTo>
                  <a:pt x="0" y="0"/>
                </a:moveTo>
                <a:lnTo>
                  <a:pt x="9906001" y="0"/>
                </a:lnTo>
                <a:lnTo>
                  <a:pt x="9906001" y="434975"/>
                </a:lnTo>
                <a:lnTo>
                  <a:pt x="0" y="434975"/>
                </a:lnTo>
                <a:close/>
              </a:path>
            </a:pathLst>
          </a:custGeom>
          <a:solidFill>
            <a:srgbClr val="2C4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408D011C-388F-444D-BCC9-1986BD79C221}"/>
              </a:ext>
            </a:extLst>
          </p:cNvPr>
          <p:cNvSpPr/>
          <p:nvPr userDrawn="1"/>
        </p:nvSpPr>
        <p:spPr>
          <a:xfrm>
            <a:off x="0" y="6429375"/>
            <a:ext cx="9906000" cy="428625"/>
          </a:xfrm>
          <a:custGeom>
            <a:avLst/>
            <a:gdLst>
              <a:gd name="connsiteX0" fmla="*/ 0 w 9906000"/>
              <a:gd name="connsiteY0" fmla="*/ 0 h 428625"/>
              <a:gd name="connsiteX1" fmla="*/ 9906000 w 9906000"/>
              <a:gd name="connsiteY1" fmla="*/ 0 h 428625"/>
              <a:gd name="connsiteX2" fmla="*/ 9906000 w 9906000"/>
              <a:gd name="connsiteY2" fmla="*/ 428625 h 428625"/>
              <a:gd name="connsiteX3" fmla="*/ 0 w 9906000"/>
              <a:gd name="connsiteY3" fmla="*/ 428625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06000" h="428625">
                <a:moveTo>
                  <a:pt x="0" y="0"/>
                </a:moveTo>
                <a:lnTo>
                  <a:pt x="9906000" y="0"/>
                </a:lnTo>
                <a:lnTo>
                  <a:pt x="9906000" y="428625"/>
                </a:lnTo>
                <a:lnTo>
                  <a:pt x="0" y="428625"/>
                </a:lnTo>
                <a:close/>
              </a:path>
            </a:pathLst>
          </a:custGeom>
          <a:solidFill>
            <a:srgbClr val="A8C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CD0889D-2289-4A95-8A85-DE155440C7F7}"/>
              </a:ext>
            </a:extLst>
          </p:cNvPr>
          <p:cNvSpPr/>
          <p:nvPr userDrawn="1"/>
        </p:nvSpPr>
        <p:spPr>
          <a:xfrm>
            <a:off x="171450" y="208756"/>
            <a:ext cx="9563100" cy="6440488"/>
          </a:xfrm>
          <a:prstGeom prst="roundRect">
            <a:avLst>
              <a:gd name="adj" fmla="val 3209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45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F72F4DC-5B2B-4DF8-BC15-7B64452C88F9}"/>
              </a:ext>
            </a:extLst>
          </p:cNvPr>
          <p:cNvCxnSpPr>
            <a:cxnSpLocks/>
          </p:cNvCxnSpPr>
          <p:nvPr userDrawn="1"/>
        </p:nvCxnSpPr>
        <p:spPr>
          <a:xfrm>
            <a:off x="345888" y="1033351"/>
            <a:ext cx="9165000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373CD79-19C4-4A93-9C5B-2C27E30AA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7695" y="504264"/>
            <a:ext cx="7361951" cy="51285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29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j-cs"/>
              </a:defRPr>
            </a:lvl1pPr>
          </a:lstStyle>
          <a:p>
            <a:r>
              <a:rPr lang="en-US" altLang="ko-KR" dirty="0"/>
              <a:t>01.</a:t>
            </a:r>
            <a:r>
              <a:rPr lang="ko-KR" altLang="en-US" dirty="0"/>
              <a:t>마스터 제목 스타일 편집</a:t>
            </a:r>
            <a:endParaRPr lang="en-US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EB3195F-4B7A-4B74-9E15-703C1FA25868}"/>
              </a:ext>
            </a:extLst>
          </p:cNvPr>
          <p:cNvCxnSpPr/>
          <p:nvPr userDrawn="1"/>
        </p:nvCxnSpPr>
        <p:spPr>
          <a:xfrm>
            <a:off x="1784725" y="240150"/>
            <a:ext cx="0" cy="78367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515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8BCD1-3BD9-459E-825E-F04D7293E353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2108C-561C-4292-9C77-E5ADBE076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501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1" r:id="rId2"/>
    <p:sldLayoutId id="2147483674" r:id="rId3"/>
    <p:sldLayoutId id="2147483670" r:id="rId4"/>
    <p:sldLayoutId id="2147483672" r:id="rId5"/>
    <p:sldLayoutId id="2147483673" r:id="rId6"/>
    <p:sldLayoutId id="2147483669" r:id="rId7"/>
    <p:sldLayoutId id="2147483675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Relationship Id="rId6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7F43DFA8-73CA-8F4A-9996-B7966EE3F5FD}"/>
              </a:ext>
            </a:extLst>
          </p:cNvPr>
          <p:cNvSpPr txBox="1"/>
          <p:nvPr/>
        </p:nvSpPr>
        <p:spPr>
          <a:xfrm>
            <a:off x="4286309" y="2684725"/>
            <a:ext cx="133338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3200">
                <a:latin typeface="Bahnschrift SemiBold" panose="020B0502040204020203" pitchFamily="34" charset="0"/>
                <a:ea typeface="나눔스퀘어 ExtraBold" panose="020B0600000101010101" pitchFamily="50" charset="-127"/>
              </a:defRPr>
            </a:lvl1pPr>
          </a:lstStyle>
          <a:p>
            <a:pPr algn="dist"/>
            <a:r>
              <a:rPr lang="en-US" altLang="ko-KR" sz="2000" b="1" dirty="0">
                <a:solidFill>
                  <a:srgbClr val="0094E9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itchFamily="34" charset="0"/>
              </a:rPr>
              <a:t>program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2AD3CBB-D87A-4206-A0D0-86BB7CCE3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780293"/>
              </p:ext>
            </p:extLst>
          </p:nvPr>
        </p:nvGraphicFramePr>
        <p:xfrm>
          <a:off x="767663" y="3309822"/>
          <a:ext cx="8362051" cy="227472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79459">
                  <a:extLst>
                    <a:ext uri="{9D8B030D-6E8A-4147-A177-3AD203B41FA5}">
                      <a16:colId xmlns:a16="http://schemas.microsoft.com/office/drawing/2014/main" val="44377574"/>
                    </a:ext>
                  </a:extLst>
                </a:gridCol>
                <a:gridCol w="1179459">
                  <a:extLst>
                    <a:ext uri="{9D8B030D-6E8A-4147-A177-3AD203B41FA5}">
                      <a16:colId xmlns:a16="http://schemas.microsoft.com/office/drawing/2014/main" val="1551541327"/>
                    </a:ext>
                  </a:extLst>
                </a:gridCol>
                <a:gridCol w="3892282">
                  <a:extLst>
                    <a:ext uri="{9D8B030D-6E8A-4147-A177-3AD203B41FA5}">
                      <a16:colId xmlns:a16="http://schemas.microsoft.com/office/drawing/2014/main" val="1208049658"/>
                    </a:ext>
                  </a:extLst>
                </a:gridCol>
                <a:gridCol w="2110851">
                  <a:extLst>
                    <a:ext uri="{9D8B030D-6E8A-4147-A177-3AD203B41FA5}">
                      <a16:colId xmlns:a16="http://schemas.microsoft.com/office/drawing/2014/main" val="1514157011"/>
                    </a:ext>
                  </a:extLst>
                </a:gridCol>
              </a:tblGrid>
              <a:tr h="49450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시간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내용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진행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발표자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80180"/>
                  </a:ext>
                </a:extLst>
              </a:tr>
              <a:tr h="445055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/>
                        <a:t>10/21</a:t>
                      </a:r>
                    </a:p>
                    <a:p>
                      <a:pPr algn="ctr" latinLnBrk="1"/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수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10:00 ~ 10:20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개회사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/>
                        <a:t>3</a:t>
                      </a:r>
                      <a:r>
                        <a:rPr lang="ko-KR" altLang="en-US" sz="1200" b="1" dirty="0"/>
                        <a:t>세부 주관책임자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101920"/>
                  </a:ext>
                </a:extLst>
              </a:tr>
              <a:tr h="445055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10:20 ~ 11:30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기관별 개발내용 및 중간실적 공유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/>
                        <a:t>각 기관별 연구책임자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710616"/>
                  </a:ext>
                </a:extLst>
              </a:tr>
              <a:tr h="445055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11:30 ~ 12:00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협의사항 논의 및 질의응답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참석자 전원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039023"/>
                  </a:ext>
                </a:extLst>
              </a:tr>
              <a:tr h="445055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12:00 ~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기념사진 촬영 및 폐회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F0502020204030204"/>
                          <a:ea typeface="+mn-ea"/>
                          <a:cs typeface="+mn-cs"/>
                        </a:rPr>
                        <a:t>점심식사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참석자 전원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7646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B433AE4-FFF8-404D-889F-35FA0E4F789C}"/>
              </a:ext>
            </a:extLst>
          </p:cNvPr>
          <p:cNvSpPr txBox="1"/>
          <p:nvPr/>
        </p:nvSpPr>
        <p:spPr>
          <a:xfrm>
            <a:off x="796161" y="1103950"/>
            <a:ext cx="8333553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lvl="0" algn="ctr">
              <a:defRPr/>
            </a:pPr>
            <a:r>
              <a:rPr lang="ko-KR" altLang="en-US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세라믹 </a:t>
            </a:r>
            <a:r>
              <a:rPr lang="en-US" altLang="ko-KR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catholyte </a:t>
            </a:r>
            <a:r>
              <a:rPr lang="ko-KR" altLang="en-US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기반 전극 성능 향상을 위한</a:t>
            </a:r>
            <a:endParaRPr lang="en-US" altLang="ko-KR" sz="2400" b="1" spc="-100" dirty="0">
              <a:gradFill>
                <a:gsLst>
                  <a:gs pos="0">
                    <a:srgbClr val="3B6DDD"/>
                  </a:gs>
                  <a:gs pos="79000">
                    <a:srgbClr val="12AEB6"/>
                  </a:gs>
                </a:gsLst>
                <a:lin ang="0" scaled="0"/>
              </a:gradFill>
              <a:latin typeface="맑은 고딕" panose="020B0503020000020004" pitchFamily="50" charset="-127"/>
            </a:endParaRPr>
          </a:p>
          <a:p>
            <a:pPr lvl="0" algn="ctr">
              <a:defRPr/>
            </a:pPr>
            <a:r>
              <a:rPr lang="ko-KR" altLang="en-US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단결정 </a:t>
            </a:r>
            <a:r>
              <a:rPr lang="ko-KR" altLang="en-US" sz="2400" b="1" spc="-100" dirty="0" err="1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양극재</a:t>
            </a:r>
            <a:r>
              <a:rPr lang="ko-KR" altLang="en-US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 제조 기술 개발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084838-7A36-4DC2-AFE3-CBF178CBBCA8}"/>
              </a:ext>
            </a:extLst>
          </p:cNvPr>
          <p:cNvSpPr txBox="1"/>
          <p:nvPr/>
        </p:nvSpPr>
        <p:spPr>
          <a:xfrm>
            <a:off x="2541619" y="2008185"/>
            <a:ext cx="481413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914400" latinLnBrk="1">
              <a:defRPr/>
            </a:pPr>
            <a:r>
              <a:rPr lang="en-US" altLang="ko-KR" sz="3200" b="1" dirty="0">
                <a:solidFill>
                  <a:srgbClr val="19458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3200" b="1" dirty="0">
                <a:solidFill>
                  <a:srgbClr val="19458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진도점검 워크샵</a:t>
            </a:r>
          </a:p>
        </p:txBody>
      </p:sp>
    </p:spTree>
    <p:extLst>
      <p:ext uri="{BB962C8B-B14F-4D97-AF65-F5344CB8AC3E}">
        <p14:creationId xmlns:p14="http://schemas.microsoft.com/office/powerpoint/2010/main" val="351893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CA557F-5101-4501-AA85-CDECEC1BF132}"/>
              </a:ext>
            </a:extLst>
          </p:cNvPr>
          <p:cNvSpPr txBox="1"/>
          <p:nvPr/>
        </p:nvSpPr>
        <p:spPr>
          <a:xfrm>
            <a:off x="266700" y="1664753"/>
            <a:ext cx="1566675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>
                <a:solidFill>
                  <a:srgbClr val="2C4C8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3600" b="1" dirty="0">
                <a:solidFill>
                  <a:srgbClr val="2C4C8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2C4C87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BE8F666-6A5F-4680-9170-56B8418AB6D0}"/>
              </a:ext>
            </a:extLst>
          </p:cNvPr>
          <p:cNvCxnSpPr>
            <a:cxnSpLocks/>
          </p:cNvCxnSpPr>
          <p:nvPr/>
        </p:nvCxnSpPr>
        <p:spPr>
          <a:xfrm>
            <a:off x="1665669" y="2100753"/>
            <a:ext cx="3443797" cy="0"/>
          </a:xfrm>
          <a:prstGeom prst="line">
            <a:avLst/>
          </a:prstGeom>
          <a:ln w="12700">
            <a:gradFill>
              <a:gsLst>
                <a:gs pos="0">
                  <a:srgbClr val="84919A"/>
                </a:gs>
                <a:gs pos="100000">
                  <a:srgbClr val="84919A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C7F9B4-3ED7-4EC3-93DB-38AE884F3394}"/>
              </a:ext>
            </a:extLst>
          </p:cNvPr>
          <p:cNvSpPr/>
          <p:nvPr/>
        </p:nvSpPr>
        <p:spPr>
          <a:xfrm>
            <a:off x="264320" y="2363491"/>
            <a:ext cx="63990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세라믹 </a:t>
            </a:r>
            <a:r>
              <a:rPr lang="en-US" altLang="ko-KR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catholyte </a:t>
            </a:r>
            <a:r>
              <a:rPr lang="ko-KR" altLang="en-US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기반 전극 성능 향상을 위한 단결정 </a:t>
            </a:r>
            <a:r>
              <a:rPr lang="ko-KR" altLang="en-US" sz="2400" b="1" spc="-100" dirty="0" err="1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양극재</a:t>
            </a:r>
            <a:r>
              <a:rPr lang="ko-KR" altLang="en-US" sz="2400" b="1" spc="-100" dirty="0">
                <a:gradFill>
                  <a:gsLst>
                    <a:gs pos="0">
                      <a:srgbClr val="3B6DDD"/>
                    </a:gs>
                    <a:gs pos="79000">
                      <a:srgbClr val="12AEB6"/>
                    </a:gs>
                  </a:gsLst>
                  <a:lin ang="0" scaled="0"/>
                </a:gradFill>
                <a:latin typeface="맑은 고딕" panose="020B0503020000020004" pitchFamily="50" charset="-127"/>
              </a:rPr>
              <a:t> 제조 기술 개발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FED2-EFC8-4865-8E39-B4CB0BFCF8E3}"/>
              </a:ext>
            </a:extLst>
          </p:cNvPr>
          <p:cNvSpPr txBox="1"/>
          <p:nvPr/>
        </p:nvSpPr>
        <p:spPr>
          <a:xfrm>
            <a:off x="8804249" y="6149818"/>
            <a:ext cx="1015021" cy="27699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2026. 10. 21</a:t>
            </a:r>
            <a:endParaRPr kumimoji="0" lang="ko-KR" altLang="en-US" sz="1200" b="1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3BF6BCE-D29F-4902-81A5-2ED3FC49A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831"/>
            <a:ext cx="1800274" cy="39301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35C1F37-FA0D-4DB2-9B9E-FE31045CE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189" y="217915"/>
            <a:ext cx="2088193" cy="207136"/>
          </a:xfrm>
          <a:prstGeom prst="rect">
            <a:avLst/>
          </a:prstGeom>
        </p:spPr>
      </p:pic>
      <p:sp>
        <p:nvSpPr>
          <p:cNvPr id="15" name="모서리가 둥근 직사각형 18">
            <a:extLst>
              <a:ext uri="{FF2B5EF4-FFF2-40B4-BE49-F238E27FC236}">
                <a16:creationId xmlns:a16="http://schemas.microsoft.com/office/drawing/2014/main" id="{0D966315-0818-4289-987C-4C15CA6C556A}"/>
              </a:ext>
            </a:extLst>
          </p:cNvPr>
          <p:cNvSpPr/>
          <p:nvPr/>
        </p:nvSpPr>
        <p:spPr>
          <a:xfrm>
            <a:off x="560114" y="4515542"/>
            <a:ext cx="1174351" cy="247651"/>
          </a:xfrm>
          <a:prstGeom prst="roundRect">
            <a:avLst>
              <a:gd name="adj" fmla="val 50000"/>
            </a:avLst>
          </a:prstGeom>
          <a:solidFill>
            <a:srgbClr val="6A87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/>
            <a:r>
              <a:rPr lang="ko-KR" altLang="en-US" sz="1200" spc="-2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주관연구기관</a:t>
            </a:r>
          </a:p>
        </p:txBody>
      </p:sp>
      <p:sp>
        <p:nvSpPr>
          <p:cNvPr id="16" name="모서리가 둥근 직사각형 22">
            <a:extLst>
              <a:ext uri="{FF2B5EF4-FFF2-40B4-BE49-F238E27FC236}">
                <a16:creationId xmlns:a16="http://schemas.microsoft.com/office/drawing/2014/main" id="{E0EA42FD-8207-4150-83D2-B463EF842B6D}"/>
              </a:ext>
            </a:extLst>
          </p:cNvPr>
          <p:cNvSpPr/>
          <p:nvPr/>
        </p:nvSpPr>
        <p:spPr>
          <a:xfrm>
            <a:off x="3587511" y="4518305"/>
            <a:ext cx="1174351" cy="247651"/>
          </a:xfrm>
          <a:prstGeom prst="roundRect">
            <a:avLst>
              <a:gd name="adj" fmla="val 50000"/>
            </a:avLst>
          </a:prstGeom>
          <a:solidFill>
            <a:srgbClr val="6A87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>
              <a:defRPr/>
            </a:pPr>
            <a:r>
              <a:rPr lang="ko-KR" altLang="en-US" sz="1200" spc="-2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공동연구기관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3CE9D-5FE2-4BD2-A190-7030D52FEC0F}"/>
              </a:ext>
            </a:extLst>
          </p:cNvPr>
          <p:cNvSpPr txBox="1"/>
          <p:nvPr/>
        </p:nvSpPr>
        <p:spPr>
          <a:xfrm>
            <a:off x="1741516" y="4477785"/>
            <a:ext cx="1673856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㈜엘앤에프</a:t>
            </a:r>
            <a:endParaRPr lang="en-US" altLang="ko-KR" sz="1600" b="1" dirty="0">
              <a:solidFill>
                <a:srgbClr val="27478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연구책임자</a:t>
            </a:r>
            <a:r>
              <a:rPr lang="en-US" altLang="ko-KR" sz="12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12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구정아</a:t>
            </a:r>
            <a:r>
              <a:rPr lang="en-US" altLang="ko-KR" sz="12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 b="1" spc="20" dirty="0">
              <a:solidFill>
                <a:srgbClr val="27478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6BF2CF-6EA2-4C13-998D-AFFB1BCE780A}"/>
              </a:ext>
            </a:extLst>
          </p:cNvPr>
          <p:cNvSpPr txBox="1"/>
          <p:nvPr/>
        </p:nvSpPr>
        <p:spPr>
          <a:xfrm>
            <a:off x="4797488" y="4477785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914400" latinLnBrk="1">
              <a:defRPr/>
            </a:pPr>
            <a:r>
              <a:rPr lang="ko-KR" altLang="en-US" sz="12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한국전자기술연구원</a:t>
            </a:r>
            <a:endParaRPr lang="en-US" altLang="ko-KR" sz="1200" b="1" dirty="0">
              <a:solidFill>
                <a:srgbClr val="27478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 latinLnBrk="1">
              <a:defRPr/>
            </a:pPr>
            <a:r>
              <a:rPr lang="ko-KR" altLang="en-US" sz="12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</a:t>
            </a:r>
            <a:endParaRPr lang="en-US" altLang="ko-KR" sz="1200" b="1" dirty="0">
              <a:solidFill>
                <a:srgbClr val="27478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381450B-9264-49C3-BBC6-A0FCD9D31A7C}"/>
              </a:ext>
            </a:extLst>
          </p:cNvPr>
          <p:cNvSpPr/>
          <p:nvPr/>
        </p:nvSpPr>
        <p:spPr>
          <a:xfrm>
            <a:off x="347189" y="6149817"/>
            <a:ext cx="1673856" cy="276999"/>
          </a:xfrm>
          <a:prstGeom prst="round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2C4C87"/>
                </a:solidFill>
                <a:latin typeface="+mj-ea"/>
                <a:ea typeface="+mj-ea"/>
              </a:rPr>
              <a:t> RS-2025-25463211</a:t>
            </a:r>
            <a:endParaRPr lang="ko-KR" altLang="en-US" sz="1200" b="1" dirty="0">
              <a:solidFill>
                <a:srgbClr val="2C4C87"/>
              </a:solidFill>
              <a:highlight>
                <a:srgbClr val="FFFF00"/>
              </a:highlight>
              <a:latin typeface="+mj-ea"/>
              <a:ea typeface="+mj-ea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BCC8BB0-79FA-4321-BDE7-B6221547E2F6}"/>
              </a:ext>
            </a:extLst>
          </p:cNvPr>
          <p:cNvSpPr/>
          <p:nvPr/>
        </p:nvSpPr>
        <p:spPr>
          <a:xfrm>
            <a:off x="560114" y="4065564"/>
            <a:ext cx="1174351" cy="247651"/>
          </a:xfrm>
          <a:prstGeom prst="roundRect">
            <a:avLst>
              <a:gd name="adj" fmla="val 50000"/>
            </a:avLst>
          </a:prstGeom>
          <a:solidFill>
            <a:srgbClr val="2B4A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lvl="0" algn="ctr">
              <a:defRPr/>
            </a:pPr>
            <a:r>
              <a:rPr lang="ko-KR" altLang="en-US" sz="12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사업기간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EBC740-364D-41A5-B6ED-021E670F089A}"/>
              </a:ext>
            </a:extLst>
          </p:cNvPr>
          <p:cNvSpPr txBox="1"/>
          <p:nvPr/>
        </p:nvSpPr>
        <p:spPr>
          <a:xfrm>
            <a:off x="1741516" y="4027807"/>
            <a:ext cx="2592376" cy="33855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srgbClr val="2747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2025.10.01 ~ 2028.12.31</a:t>
            </a:r>
            <a:endParaRPr lang="ko-KR" altLang="en-US" sz="1200" b="1" spc="20" dirty="0">
              <a:solidFill>
                <a:srgbClr val="27478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2671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FBF414DF-0A04-4610-AE44-E834632A92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3728899" y="945400"/>
            <a:ext cx="5607684" cy="2483600"/>
          </a:xfrm>
          <a:prstGeom prst="rect">
            <a:avLst/>
          </a:prstGeom>
          <a:effectLst>
            <a:outerShdw blurRad="50800" dist="50800" dir="5400000" algn="ctr" rotWithShape="0">
              <a:schemeClr val="accent1">
                <a:lumMod val="20000"/>
                <a:lumOff val="80000"/>
                <a:alpha val="0"/>
              </a:schemeClr>
            </a:outerShdw>
          </a:effec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8F111CC-C795-4376-A04A-B22D7E593808}"/>
              </a:ext>
            </a:extLst>
          </p:cNvPr>
          <p:cNvSpPr txBox="1"/>
          <p:nvPr/>
        </p:nvSpPr>
        <p:spPr>
          <a:xfrm>
            <a:off x="4009840" y="1464524"/>
            <a:ext cx="1955728" cy="592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50" b="1" dirty="0">
                <a:solidFill>
                  <a:srgbClr val="2C4C87"/>
                </a:solidFill>
              </a:rPr>
              <a:t>Contents</a:t>
            </a:r>
            <a:endParaRPr lang="ko-KR" altLang="en-US" sz="2275" b="1" dirty="0">
              <a:solidFill>
                <a:srgbClr val="2C4C87"/>
              </a:solidFill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3D77572-CA75-49D5-917C-5E317B5302A4}"/>
              </a:ext>
            </a:extLst>
          </p:cNvPr>
          <p:cNvCxnSpPr>
            <a:cxnSpLocks/>
          </p:cNvCxnSpPr>
          <p:nvPr/>
        </p:nvCxnSpPr>
        <p:spPr>
          <a:xfrm flipH="1">
            <a:off x="3448051" y="2081423"/>
            <a:ext cx="2592402" cy="0"/>
          </a:xfrm>
          <a:prstGeom prst="line">
            <a:avLst/>
          </a:prstGeom>
          <a:ln w="38100">
            <a:solidFill>
              <a:srgbClr val="6A87BC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F665C61-9DB2-4EA5-9CF4-F810AEB82E87}"/>
              </a:ext>
            </a:extLst>
          </p:cNvPr>
          <p:cNvSpPr txBox="1"/>
          <p:nvPr/>
        </p:nvSpPr>
        <p:spPr>
          <a:xfrm>
            <a:off x="6817565" y="3948124"/>
            <a:ext cx="2934526" cy="111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latinLnBrk="1">
              <a:spcBef>
                <a:spcPts val="1100"/>
              </a:spcBef>
              <a:defRPr/>
            </a:pPr>
            <a:r>
              <a:rPr lang="en-US" altLang="ko-KR" sz="1600" b="1" kern="0" dirty="0">
                <a:ln w="1270"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00" b="1" kern="0" dirty="0">
                <a:ln w="1270"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중간 성과</a:t>
            </a:r>
            <a:endParaRPr lang="en-US" altLang="ko-KR" sz="1600" b="1" kern="0" dirty="0">
              <a:ln w="1270"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 latinLnBrk="1">
              <a:spcBef>
                <a:spcPts val="1100"/>
              </a:spcBef>
              <a:defRPr/>
            </a:pPr>
            <a:r>
              <a:rPr lang="en-US" altLang="ko-KR" sz="1600" b="1" kern="0" dirty="0">
                <a:ln w="1270"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00" b="1" kern="0" dirty="0">
                <a:ln w="1270"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en-US" altLang="ko-KR" sz="1600" b="1" kern="0" dirty="0">
              <a:ln w="1270"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 latinLnBrk="1">
              <a:spcBef>
                <a:spcPts val="1100"/>
              </a:spcBef>
              <a:defRPr/>
            </a:pPr>
            <a:r>
              <a:rPr lang="ko-KR" altLang="en-US" sz="1600" b="1" kern="0" dirty="0">
                <a:ln w="1270"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요청사항 및 논의 필요 사항</a:t>
            </a:r>
            <a:endParaRPr lang="en-US" altLang="ko-KR" sz="1600" b="1" kern="0" dirty="0">
              <a:ln w="1270"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273C0C2-91DB-4A1D-8968-D7F8A0B2DC47}"/>
              </a:ext>
            </a:extLst>
          </p:cNvPr>
          <p:cNvGrpSpPr/>
          <p:nvPr/>
        </p:nvGrpSpPr>
        <p:grpSpPr>
          <a:xfrm>
            <a:off x="5638164" y="4011899"/>
            <a:ext cx="1015172" cy="215972"/>
            <a:chOff x="4941189" y="3789803"/>
            <a:chExt cx="432000" cy="215972"/>
          </a:xfrm>
        </p:grpSpPr>
        <p:sp>
          <p:nvSpPr>
            <p:cNvPr id="40" name="모서리가 둥근 직사각형 11">
              <a:extLst>
                <a:ext uri="{FF2B5EF4-FFF2-40B4-BE49-F238E27FC236}">
                  <a16:creationId xmlns:a16="http://schemas.microsoft.com/office/drawing/2014/main" id="{D711CBF8-787F-4DAD-9474-B04BC0ADCEAF}"/>
                </a:ext>
              </a:extLst>
            </p:cNvPr>
            <p:cNvSpPr/>
            <p:nvPr/>
          </p:nvSpPr>
          <p:spPr>
            <a:xfrm>
              <a:off x="4941189" y="3789803"/>
              <a:ext cx="432000" cy="215972"/>
            </a:xfrm>
            <a:prstGeom prst="roundRect">
              <a:avLst>
                <a:gd name="adj" fmla="val 50000"/>
              </a:avLst>
            </a:prstGeom>
            <a:solidFill>
              <a:srgbClr val="44546A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latinLnBrk="1">
                <a:defRPr/>
              </a:pPr>
              <a:endParaRPr lang="ko-KR" altLang="en-US" sz="900" b="1" kern="0" dirty="0">
                <a:solidFill>
                  <a:prstClr val="white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59A6BCF-04C8-441E-B643-A58BAFA95872}"/>
                </a:ext>
              </a:extLst>
            </p:cNvPr>
            <p:cNvSpPr txBox="1"/>
            <p:nvPr/>
          </p:nvSpPr>
          <p:spPr>
            <a:xfrm>
              <a:off x="5011214" y="3825426"/>
              <a:ext cx="29195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 defTabSz="914400" latinLnBrk="1">
                <a:defRPr/>
              </a:pPr>
              <a:r>
                <a:rPr lang="en-US" altLang="ko-KR" sz="900" b="1" kern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Arial" panose="020B0604020202020204" pitchFamily="34" charset="0"/>
                  <a:ea typeface="나눔바른고딕" panose="020B0603020101020101" pitchFamily="50" charset="-127"/>
                  <a:cs typeface="Arial" panose="020B0604020202020204" pitchFamily="34" charset="0"/>
                </a:rPr>
                <a:t>CHAPTER 1 </a:t>
              </a:r>
              <a:endParaRPr lang="ko-KR" altLang="en-US" sz="900" b="1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D952921-A655-403C-BBB8-BC3D0F791544}"/>
              </a:ext>
            </a:extLst>
          </p:cNvPr>
          <p:cNvGrpSpPr/>
          <p:nvPr/>
        </p:nvGrpSpPr>
        <p:grpSpPr>
          <a:xfrm>
            <a:off x="5638164" y="4396554"/>
            <a:ext cx="1015172" cy="215972"/>
            <a:chOff x="4941189" y="3789803"/>
            <a:chExt cx="432000" cy="215972"/>
          </a:xfrm>
        </p:grpSpPr>
        <p:sp>
          <p:nvSpPr>
            <p:cNvPr id="43" name="모서리가 둥근 직사각형 11">
              <a:extLst>
                <a:ext uri="{FF2B5EF4-FFF2-40B4-BE49-F238E27FC236}">
                  <a16:creationId xmlns:a16="http://schemas.microsoft.com/office/drawing/2014/main" id="{1FAE52D3-AF2B-4CD0-9E2D-73B47D778CA8}"/>
                </a:ext>
              </a:extLst>
            </p:cNvPr>
            <p:cNvSpPr/>
            <p:nvPr/>
          </p:nvSpPr>
          <p:spPr>
            <a:xfrm>
              <a:off x="4941189" y="3789803"/>
              <a:ext cx="432000" cy="215972"/>
            </a:xfrm>
            <a:prstGeom prst="roundRect">
              <a:avLst>
                <a:gd name="adj" fmla="val 50000"/>
              </a:avLst>
            </a:prstGeom>
            <a:solidFill>
              <a:srgbClr val="44546A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latinLnBrk="1">
                <a:defRPr/>
              </a:pPr>
              <a:endParaRPr lang="ko-KR" altLang="en-US" sz="900" b="1" kern="0" dirty="0">
                <a:solidFill>
                  <a:prstClr val="white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F1C6B4D-039D-4E3A-A739-447A93F5C506}"/>
                </a:ext>
              </a:extLst>
            </p:cNvPr>
            <p:cNvSpPr txBox="1"/>
            <p:nvPr/>
          </p:nvSpPr>
          <p:spPr>
            <a:xfrm>
              <a:off x="5011214" y="3825426"/>
              <a:ext cx="29195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 defTabSz="914400" latinLnBrk="1">
                <a:defRPr/>
              </a:pPr>
              <a:r>
                <a:rPr lang="en-US" altLang="ko-KR" sz="900" b="1" kern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Arial" panose="020B0604020202020204" pitchFamily="34" charset="0"/>
                  <a:ea typeface="나눔바른고딕" panose="020B0603020101020101" pitchFamily="50" charset="-127"/>
                  <a:cs typeface="Arial" panose="020B0604020202020204" pitchFamily="34" charset="0"/>
                </a:rPr>
                <a:t>CHAPTER 2 </a:t>
              </a:r>
              <a:endParaRPr lang="ko-KR" altLang="en-US" sz="900" b="1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2305807-270F-4DA9-92C3-17B7E59B0524}"/>
              </a:ext>
            </a:extLst>
          </p:cNvPr>
          <p:cNvGrpSpPr/>
          <p:nvPr/>
        </p:nvGrpSpPr>
        <p:grpSpPr>
          <a:xfrm>
            <a:off x="5638164" y="4781209"/>
            <a:ext cx="1015172" cy="215972"/>
            <a:chOff x="4941189" y="3789803"/>
            <a:chExt cx="432000" cy="215972"/>
          </a:xfrm>
        </p:grpSpPr>
        <p:sp>
          <p:nvSpPr>
            <p:cNvPr id="46" name="모서리가 둥근 직사각형 11">
              <a:extLst>
                <a:ext uri="{FF2B5EF4-FFF2-40B4-BE49-F238E27FC236}">
                  <a16:creationId xmlns:a16="http://schemas.microsoft.com/office/drawing/2014/main" id="{568931D0-9E81-4928-A844-2694F74141A9}"/>
                </a:ext>
              </a:extLst>
            </p:cNvPr>
            <p:cNvSpPr/>
            <p:nvPr/>
          </p:nvSpPr>
          <p:spPr>
            <a:xfrm>
              <a:off x="4941189" y="3789803"/>
              <a:ext cx="432000" cy="215972"/>
            </a:xfrm>
            <a:prstGeom prst="roundRect">
              <a:avLst>
                <a:gd name="adj" fmla="val 50000"/>
              </a:avLst>
            </a:prstGeom>
            <a:solidFill>
              <a:srgbClr val="44546A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latinLnBrk="1">
                <a:defRPr/>
              </a:pPr>
              <a:endParaRPr lang="ko-KR" altLang="en-US" sz="900" b="1" kern="0" dirty="0">
                <a:solidFill>
                  <a:prstClr val="white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73F1B8D-5629-43EE-8630-F011F88E2561}"/>
                </a:ext>
              </a:extLst>
            </p:cNvPr>
            <p:cNvSpPr txBox="1"/>
            <p:nvPr/>
          </p:nvSpPr>
          <p:spPr>
            <a:xfrm>
              <a:off x="5011214" y="3825426"/>
              <a:ext cx="29195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 defTabSz="914400" latinLnBrk="1">
                <a:defRPr/>
              </a:pPr>
              <a:r>
                <a:rPr lang="en-US" altLang="ko-KR" sz="900" b="1" kern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Arial" panose="020B0604020202020204" pitchFamily="34" charset="0"/>
                  <a:ea typeface="나눔바른고딕" panose="020B0603020101020101" pitchFamily="50" charset="-127"/>
                  <a:cs typeface="Arial" panose="020B0604020202020204" pitchFamily="34" charset="0"/>
                </a:rPr>
                <a:t>CHAPTER 3 </a:t>
              </a:r>
              <a:endParaRPr lang="ko-KR" altLang="en-US" sz="900" b="1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4612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264A302D-6036-434C-9A98-66798C05025E}"/>
              </a:ext>
            </a:extLst>
          </p:cNvPr>
          <p:cNvGrpSpPr/>
          <p:nvPr/>
        </p:nvGrpSpPr>
        <p:grpSpPr>
          <a:xfrm>
            <a:off x="4307039" y="2152712"/>
            <a:ext cx="1285876" cy="1285876"/>
            <a:chOff x="4338638" y="2389470"/>
            <a:chExt cx="1285876" cy="1285876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61F87A49-1BEB-4C74-A27B-B284D48E5D61}"/>
                </a:ext>
              </a:extLst>
            </p:cNvPr>
            <p:cNvSpPr/>
            <p:nvPr/>
          </p:nvSpPr>
          <p:spPr>
            <a:xfrm>
              <a:off x="4338638" y="2389470"/>
              <a:ext cx="1285876" cy="1285876"/>
            </a:xfrm>
            <a:prstGeom prst="ellipse">
              <a:avLst/>
            </a:prstGeom>
            <a:noFill/>
            <a:ln>
              <a:solidFill>
                <a:srgbClr val="6A87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kumimoji="1" lang="ko-KR" altLang="en-US" sz="6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C3E1209-FB7C-43DA-8193-D01A28D6E31E}"/>
                </a:ext>
              </a:extLst>
            </p:cNvPr>
            <p:cNvSpPr/>
            <p:nvPr/>
          </p:nvSpPr>
          <p:spPr>
            <a:xfrm>
              <a:off x="4472584" y="2523416"/>
              <a:ext cx="1017984" cy="1017984"/>
            </a:xfrm>
            <a:prstGeom prst="ellipse">
              <a:avLst/>
            </a:prstGeom>
            <a:solidFill>
              <a:srgbClr val="2C4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ko-KR" sz="4000" b="1" dirty="0">
                  <a:latin typeface="Arial" panose="020B0604020202020204" pitchFamily="34" charset="0"/>
                  <a:ea typeface="NanumGothic" panose="020D0604000000000000" pitchFamily="34" charset="-127"/>
                  <a:cs typeface="Arial" panose="020B0604020202020204" pitchFamily="34" charset="0"/>
                </a:rPr>
                <a:t>01</a:t>
              </a:r>
              <a:endParaRPr kumimoji="1" lang="ko-KR" altLang="en-US" sz="4000" b="1" dirty="0">
                <a:latin typeface="Arial" panose="020B0604020202020204" pitchFamily="34" charset="0"/>
                <a:ea typeface="NanumGothic" panose="020D0604000000000000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294415E-5B8D-458D-9C8F-0B138DCFA736}"/>
              </a:ext>
            </a:extLst>
          </p:cNvPr>
          <p:cNvSpPr txBox="1"/>
          <p:nvPr/>
        </p:nvSpPr>
        <p:spPr>
          <a:xfrm>
            <a:off x="4254711" y="1183024"/>
            <a:ext cx="1333383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3200">
                <a:latin typeface="Bahnschrift SemiBold" panose="020B0502040204020203" pitchFamily="34" charset="0"/>
                <a:ea typeface="나눔스퀘어 ExtraBold" panose="020B0600000101010101" pitchFamily="50" charset="-127"/>
              </a:defRPr>
            </a:lvl1pPr>
          </a:lstStyle>
          <a:p>
            <a:pPr algn="dist"/>
            <a:r>
              <a:rPr lang="en-US" altLang="ko-KR" sz="1200" dirty="0">
                <a:solidFill>
                  <a:srgbClr val="6A87BC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itchFamily="34" charset="0"/>
              </a:rPr>
              <a:t>CHAPTER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292274-E858-47B4-AECC-84777E91E469}"/>
              </a:ext>
            </a:extLst>
          </p:cNvPr>
          <p:cNvSpPr/>
          <p:nvPr/>
        </p:nvSpPr>
        <p:spPr>
          <a:xfrm>
            <a:off x="3348112" y="5726231"/>
            <a:ext cx="314657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세라믹 </a:t>
            </a:r>
            <a:r>
              <a:rPr lang="en-US" altLang="ko-KR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catholyte </a:t>
            </a: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기반 전극 성능 향상을 위한 단결정 </a:t>
            </a:r>
            <a:r>
              <a:rPr lang="ko-KR" altLang="en-US" sz="800" b="1" spc="-100" dirty="0" err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양극재</a:t>
            </a: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 제조 기술 개발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F844E90-34DD-457B-B44C-041D33764BF6}"/>
              </a:ext>
            </a:extLst>
          </p:cNvPr>
          <p:cNvGrpSpPr/>
          <p:nvPr/>
        </p:nvGrpSpPr>
        <p:grpSpPr>
          <a:xfrm>
            <a:off x="4818200" y="5172185"/>
            <a:ext cx="263554" cy="45719"/>
            <a:chOff x="4210965" y="5517900"/>
            <a:chExt cx="263554" cy="45719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2056618-D8E0-4C7B-9BB2-510DE0D6EEE6}"/>
                </a:ext>
              </a:extLst>
            </p:cNvPr>
            <p:cNvSpPr/>
            <p:nvPr/>
          </p:nvSpPr>
          <p:spPr>
            <a:xfrm>
              <a:off x="4319882" y="5517900"/>
              <a:ext cx="45719" cy="457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1B451465-366F-484B-8BB4-B98DF6DB9301}"/>
                </a:ext>
              </a:extLst>
            </p:cNvPr>
            <p:cNvSpPr/>
            <p:nvPr/>
          </p:nvSpPr>
          <p:spPr>
            <a:xfrm>
              <a:off x="4428800" y="5517900"/>
              <a:ext cx="45719" cy="457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C0E1CED-10A6-449F-98C3-DDF4C454F239}"/>
                </a:ext>
              </a:extLst>
            </p:cNvPr>
            <p:cNvSpPr/>
            <p:nvPr/>
          </p:nvSpPr>
          <p:spPr>
            <a:xfrm>
              <a:off x="4210965" y="5517900"/>
              <a:ext cx="45719" cy="45719"/>
            </a:xfrm>
            <a:prstGeom prst="ellipse">
              <a:avLst/>
            </a:prstGeom>
            <a:solidFill>
              <a:srgbClr val="E83F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17" name="object 7">
            <a:extLst>
              <a:ext uri="{FF2B5EF4-FFF2-40B4-BE49-F238E27FC236}">
                <a16:creationId xmlns:a16="http://schemas.microsoft.com/office/drawing/2014/main" id="{6B93C6D1-BB3A-41D5-BE39-DA0267680C31}"/>
              </a:ext>
            </a:extLst>
          </p:cNvPr>
          <p:cNvSpPr txBox="1">
            <a:spLocks/>
          </p:cNvSpPr>
          <p:nvPr/>
        </p:nvSpPr>
        <p:spPr>
          <a:xfrm>
            <a:off x="1744663" y="4080735"/>
            <a:ext cx="641667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rgbClr val="8BDA1F"/>
                </a:solidFill>
                <a:latin typeface="나눔고딕"/>
                <a:ea typeface="+mj-ea"/>
                <a:cs typeface="나눔고딕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altLang="ko-KR" sz="2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추진 실적 및 중간 성과</a:t>
            </a:r>
            <a:endParaRPr lang="en-US" sz="2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296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1-1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차년도 추진 실적 및 중간 성과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E556FD4-912A-4A6C-B706-6289B2EE7D1D}"/>
              </a:ext>
            </a:extLst>
          </p:cNvPr>
          <p:cNvGrpSpPr/>
          <p:nvPr/>
        </p:nvGrpSpPr>
        <p:grpSpPr>
          <a:xfrm>
            <a:off x="8070001" y="341761"/>
            <a:ext cx="1736773" cy="307777"/>
            <a:chOff x="7127569" y="215268"/>
            <a:chExt cx="1736773" cy="307777"/>
          </a:xfrm>
        </p:grpSpPr>
        <p:sp>
          <p:nvSpPr>
            <p:cNvPr id="25" name="모서리가 둥근 직사각형 31">
              <a:extLst>
                <a:ext uri="{FF2B5EF4-FFF2-40B4-BE49-F238E27FC236}">
                  <a16:creationId xmlns:a16="http://schemas.microsoft.com/office/drawing/2014/main" id="{5BF7FB0D-C317-42C7-8B2C-D90602B65245}"/>
                </a:ext>
              </a:extLst>
            </p:cNvPr>
            <p:cNvSpPr/>
            <p:nvPr/>
          </p:nvSpPr>
          <p:spPr>
            <a:xfrm>
              <a:off x="7127569" y="215268"/>
              <a:ext cx="1736773" cy="3077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rgbClr val="0094E9">
                  <a:alpha val="2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/>
              <a:r>
                <a:rPr lang="ko-KR" altLang="en-US" sz="1100" b="1" dirty="0">
                  <a:ln>
                    <a:solidFill>
                      <a:srgbClr val="01588B">
                        <a:alpha val="0"/>
                      </a:srgbClr>
                    </a:solidFill>
                  </a:ln>
                  <a:solidFill>
                    <a:srgbClr val="0094E9">
                      <a:alpha val="50000"/>
                    </a:srgb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사업계획서</a:t>
              </a:r>
              <a:r>
                <a:rPr lang="ko-KR" altLang="en-US" sz="1100" dirty="0">
                  <a:ln>
                    <a:solidFill>
                      <a:srgbClr val="01588B">
                        <a:alpha val="0"/>
                      </a:srgbClr>
                    </a:solidFill>
                  </a:ln>
                  <a:solidFill>
                    <a:srgbClr val="01588B">
                      <a:alpha val="50000"/>
                    </a:srgb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en-US" altLang="ko-KR" sz="1200" b="1" dirty="0">
                  <a:ln>
                    <a:solidFill>
                      <a:srgbClr val="01588B">
                        <a:alpha val="0"/>
                      </a:srgbClr>
                    </a:solidFill>
                  </a:ln>
                  <a:solidFill>
                    <a:srgbClr val="0094E9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p11~14</a:t>
              </a:r>
              <a:endParaRPr lang="ko-KR" altLang="en-US" sz="1200" b="1" dirty="0">
                <a:ln>
                  <a:solidFill>
                    <a:srgbClr val="01588B">
                      <a:alpha val="0"/>
                    </a:srgbClr>
                  </a:solidFill>
                </a:ln>
                <a:solidFill>
                  <a:srgbClr val="0094E9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9C938253-330E-4F83-9684-9415310B3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8955" y="316359"/>
              <a:ext cx="168731" cy="129981"/>
            </a:xfrm>
            <a:custGeom>
              <a:avLst/>
              <a:gdLst>
                <a:gd name="T0" fmla="*/ 1168 w 1286"/>
                <a:gd name="T1" fmla="*/ 817 h 993"/>
                <a:gd name="T2" fmla="*/ 1168 w 1286"/>
                <a:gd name="T3" fmla="*/ 145 h 993"/>
                <a:gd name="T4" fmla="*/ 963 w 1286"/>
                <a:gd name="T5" fmla="*/ 117 h 993"/>
                <a:gd name="T6" fmla="*/ 643 w 1286"/>
                <a:gd name="T7" fmla="*/ 205 h 993"/>
                <a:gd name="T8" fmla="*/ 643 w 1286"/>
                <a:gd name="T9" fmla="*/ 875 h 993"/>
                <a:gd name="T10" fmla="*/ 963 w 1286"/>
                <a:gd name="T11" fmla="*/ 787 h 993"/>
                <a:gd name="T12" fmla="*/ 1168 w 1286"/>
                <a:gd name="T13" fmla="*/ 817 h 993"/>
                <a:gd name="T14" fmla="*/ 962 w 1286"/>
                <a:gd name="T15" fmla="*/ 0 h 993"/>
                <a:gd name="T16" fmla="*/ 1285 w 1286"/>
                <a:gd name="T17" fmla="*/ 87 h 993"/>
                <a:gd name="T18" fmla="*/ 1285 w 1286"/>
                <a:gd name="T19" fmla="*/ 938 h 993"/>
                <a:gd name="T20" fmla="*/ 1255 w 1286"/>
                <a:gd name="T21" fmla="*/ 968 h 993"/>
                <a:gd name="T22" fmla="*/ 1241 w 1286"/>
                <a:gd name="T23" fmla="*/ 965 h 993"/>
                <a:gd name="T24" fmla="*/ 962 w 1286"/>
                <a:gd name="T25" fmla="*/ 905 h 993"/>
                <a:gd name="T26" fmla="*/ 643 w 1286"/>
                <a:gd name="T27" fmla="*/ 992 h 993"/>
                <a:gd name="T28" fmla="*/ 323 w 1286"/>
                <a:gd name="T29" fmla="*/ 905 h 993"/>
                <a:gd name="T30" fmla="*/ 44 w 1286"/>
                <a:gd name="T31" fmla="*/ 968 h 993"/>
                <a:gd name="T32" fmla="*/ 30 w 1286"/>
                <a:gd name="T33" fmla="*/ 970 h 993"/>
                <a:gd name="T34" fmla="*/ 0 w 1286"/>
                <a:gd name="T35" fmla="*/ 943 h 993"/>
                <a:gd name="T36" fmla="*/ 0 w 1286"/>
                <a:gd name="T37" fmla="*/ 87 h 993"/>
                <a:gd name="T38" fmla="*/ 323 w 1286"/>
                <a:gd name="T39" fmla="*/ 0 h 993"/>
                <a:gd name="T40" fmla="*/ 643 w 1286"/>
                <a:gd name="T41" fmla="*/ 87 h 993"/>
                <a:gd name="T42" fmla="*/ 962 w 1286"/>
                <a:gd name="T43" fmla="*/ 0 h 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86" h="993">
                  <a:moveTo>
                    <a:pt x="1168" y="817"/>
                  </a:moveTo>
                  <a:lnTo>
                    <a:pt x="1168" y="145"/>
                  </a:lnTo>
                  <a:cubicBezTo>
                    <a:pt x="1105" y="126"/>
                    <a:pt x="1034" y="117"/>
                    <a:pt x="963" y="117"/>
                  </a:cubicBezTo>
                  <a:cubicBezTo>
                    <a:pt x="864" y="117"/>
                    <a:pt x="722" y="156"/>
                    <a:pt x="643" y="205"/>
                  </a:cubicBezTo>
                  <a:lnTo>
                    <a:pt x="643" y="875"/>
                  </a:lnTo>
                  <a:cubicBezTo>
                    <a:pt x="722" y="825"/>
                    <a:pt x="864" y="787"/>
                    <a:pt x="963" y="787"/>
                  </a:cubicBezTo>
                  <a:cubicBezTo>
                    <a:pt x="1034" y="787"/>
                    <a:pt x="1105" y="798"/>
                    <a:pt x="1168" y="817"/>
                  </a:cubicBezTo>
                  <a:close/>
                  <a:moveTo>
                    <a:pt x="962" y="0"/>
                  </a:moveTo>
                  <a:cubicBezTo>
                    <a:pt x="1083" y="0"/>
                    <a:pt x="1211" y="30"/>
                    <a:pt x="1285" y="87"/>
                  </a:cubicBezTo>
                  <a:lnTo>
                    <a:pt x="1285" y="938"/>
                  </a:lnTo>
                  <a:cubicBezTo>
                    <a:pt x="1285" y="951"/>
                    <a:pt x="1269" y="968"/>
                    <a:pt x="1255" y="968"/>
                  </a:cubicBezTo>
                  <a:cubicBezTo>
                    <a:pt x="1250" y="968"/>
                    <a:pt x="1247" y="968"/>
                    <a:pt x="1241" y="965"/>
                  </a:cubicBezTo>
                  <a:cubicBezTo>
                    <a:pt x="1159" y="921"/>
                    <a:pt x="1058" y="905"/>
                    <a:pt x="962" y="905"/>
                  </a:cubicBezTo>
                  <a:cubicBezTo>
                    <a:pt x="864" y="905"/>
                    <a:pt x="722" y="943"/>
                    <a:pt x="643" y="992"/>
                  </a:cubicBezTo>
                  <a:cubicBezTo>
                    <a:pt x="558" y="929"/>
                    <a:pt x="437" y="905"/>
                    <a:pt x="323" y="905"/>
                  </a:cubicBezTo>
                  <a:cubicBezTo>
                    <a:pt x="238" y="905"/>
                    <a:pt x="123" y="929"/>
                    <a:pt x="44" y="968"/>
                  </a:cubicBezTo>
                  <a:cubicBezTo>
                    <a:pt x="38" y="968"/>
                    <a:pt x="36" y="970"/>
                    <a:pt x="30" y="970"/>
                  </a:cubicBezTo>
                  <a:cubicBezTo>
                    <a:pt x="16" y="970"/>
                    <a:pt x="0" y="957"/>
                    <a:pt x="0" y="943"/>
                  </a:cubicBezTo>
                  <a:lnTo>
                    <a:pt x="0" y="87"/>
                  </a:lnTo>
                  <a:cubicBezTo>
                    <a:pt x="85" y="24"/>
                    <a:pt x="208" y="0"/>
                    <a:pt x="323" y="0"/>
                  </a:cubicBezTo>
                  <a:cubicBezTo>
                    <a:pt x="437" y="0"/>
                    <a:pt x="558" y="24"/>
                    <a:pt x="643" y="87"/>
                  </a:cubicBezTo>
                  <a:cubicBezTo>
                    <a:pt x="727" y="24"/>
                    <a:pt x="848" y="0"/>
                    <a:pt x="962" y="0"/>
                  </a:cubicBezTo>
                  <a:close/>
                </a:path>
              </a:pathLst>
            </a:custGeom>
            <a:solidFill>
              <a:srgbClr val="0094E9">
                <a:alpha val="50000"/>
              </a:srgbClr>
            </a:solidFill>
            <a:ln>
              <a:noFill/>
            </a:ln>
            <a:effectLst/>
          </p:spPr>
          <p:txBody>
            <a:bodyPr wrap="none" lIns="36000" rIns="36000" anchor="ctr"/>
            <a:lstStyle>
              <a:defPPr>
                <a:defRPr lang="en-GB"/>
              </a:defPPr>
              <a:lvl1pPr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1pPr>
              <a:lvl2pPr marL="742950" indent="-28575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2pPr>
              <a:lvl3pPr marL="11430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3pPr>
              <a:lvl4pPr marL="16002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4pPr>
              <a:lvl5pPr marL="20574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9pPr>
            </a:lstStyle>
            <a:p>
              <a:endParaRPr lang="en-US" sz="1350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4532010" cy="3480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2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3</a:t>
            </a:r>
            <a:r>
              <a:rPr lang="ko-KR" altLang="en-US" sz="1400" b="1" kern="0" spc="-100" dirty="0">
                <a:solidFill>
                  <a:prstClr val="black"/>
                </a:solidFill>
                <a:cs typeface="Arial" charset="0"/>
              </a:rPr>
              <a:t>세부 </a:t>
            </a: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2</a:t>
            </a:r>
            <a:r>
              <a:rPr lang="ko-KR" altLang="en-US" sz="1400" b="1" kern="0" spc="-100" dirty="0">
                <a:solidFill>
                  <a:prstClr val="black"/>
                </a:solidFill>
                <a:cs typeface="Arial" charset="0"/>
              </a:rPr>
              <a:t>차년도 연구개발성과 성능 목표 및 실적</a:t>
            </a: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 (</a:t>
            </a:r>
            <a:r>
              <a:rPr lang="ko-KR" altLang="en-US" sz="1400" b="1" kern="0" spc="-100" dirty="0">
                <a:solidFill>
                  <a:prstClr val="black"/>
                </a:solidFill>
                <a:cs typeface="Arial" charset="0"/>
              </a:rPr>
              <a:t>중간점검</a:t>
            </a: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)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C8F0F90-B67F-4866-BEDB-B2AB92122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86161"/>
              </p:ext>
            </p:extLst>
          </p:nvPr>
        </p:nvGraphicFramePr>
        <p:xfrm>
          <a:off x="344488" y="1253957"/>
          <a:ext cx="9285771" cy="4249411"/>
        </p:xfrm>
        <a:graphic>
          <a:graphicData uri="http://schemas.openxmlformats.org/drawingml/2006/table">
            <a:tbl>
              <a:tblPr/>
              <a:tblGrid>
                <a:gridCol w="828000">
                  <a:extLst>
                    <a:ext uri="{9D8B030D-6E8A-4147-A177-3AD203B41FA5}">
                      <a16:colId xmlns:a16="http://schemas.microsoft.com/office/drawing/2014/main" val="1763198423"/>
                    </a:ext>
                  </a:extLst>
                </a:gridCol>
                <a:gridCol w="1437771">
                  <a:extLst>
                    <a:ext uri="{9D8B030D-6E8A-4147-A177-3AD203B41FA5}">
                      <a16:colId xmlns:a16="http://schemas.microsoft.com/office/drawing/2014/main" val="49250634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89578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688318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9289135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7515435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9627175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9317557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546914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80764099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121865272"/>
                    </a:ext>
                  </a:extLst>
                </a:gridCol>
              </a:tblGrid>
              <a:tr h="27529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-1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4930" marR="14930" marT="14930" marB="1493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4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항목</a:t>
                      </a:r>
                      <a:endParaRPr lang="ko-KR" altLang="en-US" sz="950" b="1" kern="0" spc="-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주요성능 </a:t>
                      </a:r>
                      <a:r>
                        <a:rPr lang="en-US" altLang="ko-KR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Spec)</a:t>
                      </a:r>
                      <a:endParaRPr lang="ko-KR" altLang="en-US" sz="950" b="1" kern="0" spc="-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930" marR="14930" marT="14930" marB="1493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4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  <a:endParaRPr lang="ko-KR" altLang="en-US" sz="950" b="1" kern="0" spc="-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930" marR="14930" marT="14930" marB="1493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4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비중</a:t>
                      </a:r>
                      <a:r>
                        <a:rPr lang="en-US" altLang="ko-KR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  <a:endParaRPr lang="ko-KR" altLang="en-US" sz="950" b="1" kern="0" spc="-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930" marR="14930" marT="14930" marB="1493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4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개발목표치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실적</a:t>
                      </a:r>
                    </a:p>
                  </a:txBody>
                  <a:tcPr marL="14930" marR="14930" marT="14930" marB="1493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4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평가 방법</a:t>
                      </a:r>
                      <a:endParaRPr lang="ko-KR" altLang="en-US" sz="950" b="1" kern="0" spc="-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4930" marR="14930" marT="14930" marB="1493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4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비고</a:t>
                      </a:r>
                      <a:endParaRPr lang="ko-KR" altLang="en-US" sz="950" b="1" kern="0" spc="-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930" marR="14930" marT="14930" marB="1493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4C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905362"/>
                  </a:ext>
                </a:extLst>
              </a:tr>
              <a:tr h="2590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차년도</a:t>
                      </a:r>
                      <a:endParaRPr lang="ko-KR" altLang="en-US" sz="950" b="1" kern="0" spc="-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차년도</a:t>
                      </a:r>
                      <a:endParaRPr lang="ko-KR" altLang="en-US" sz="950" b="1" kern="0" spc="-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차년도</a:t>
                      </a:r>
                      <a:endParaRPr lang="ko-KR" altLang="en-US" sz="950" b="1" kern="0" spc="-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95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차년도</a:t>
                      </a:r>
                      <a:endParaRPr lang="ko-KR" altLang="en-US" sz="950" b="1" kern="0" spc="-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해당연도</a:t>
                      </a:r>
                    </a:p>
                  </a:txBody>
                  <a:tcPr marL="14930" marR="14930" marT="14930" marB="1493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88484780"/>
                  </a:ext>
                </a:extLst>
              </a:tr>
              <a:tr h="361879">
                <a:tc rowSpan="4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전고체전지 </a:t>
                      </a:r>
                      <a:endParaRPr lang="en-US" altLang="ko-KR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후막 성능</a:t>
                      </a:r>
                      <a:endParaRPr lang="en-US" altLang="ko-KR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(KETI)</a:t>
                      </a:r>
                      <a:endParaRPr lang="ko-KR" altLang="en-US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 </a:t>
                      </a: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후막 전극 용량</a:t>
                      </a: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mAh</a:t>
                      </a: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/cm</a:t>
                      </a:r>
                      <a:r>
                        <a:rPr lang="en-US" sz="950" b="1" kern="0" spc="0" baseline="30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공인시험 평가</a:t>
                      </a:r>
                      <a:endParaRPr lang="ko-KR" alt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1pPr>
                      <a:lvl2pPr marL="457203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2pPr>
                      <a:lvl3pPr marL="914406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3pPr>
                      <a:lvl4pPr marL="1371609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4pPr>
                      <a:lvl5pPr marL="1828812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5pPr>
                      <a:lvl6pPr marL="2286015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6pPr>
                      <a:lvl7pPr marL="2743218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7pPr>
                      <a:lvl8pPr marL="3200421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8pPr>
                      <a:lvl9pPr marL="3657624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0.05C 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방전 시 후막 전극의 면적당 방전 용량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572232"/>
                  </a:ext>
                </a:extLst>
              </a:tr>
              <a:tr h="506522">
                <a:tc vMerge="1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7778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 </a:t>
                      </a: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후막 전극 면적</a:t>
                      </a: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</a:t>
                      </a:r>
                      <a:r>
                        <a:rPr lang="en-US" sz="950" b="1" kern="0" spc="0" baseline="30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5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공인시험 평가</a:t>
                      </a: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1pPr>
                      <a:lvl2pPr marL="457203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2pPr>
                      <a:lvl3pPr marL="914406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3pPr>
                      <a:lvl4pPr marL="1371609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4pPr>
                      <a:lvl5pPr marL="1828812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5pPr>
                      <a:lvl6pPr marL="2286015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6pPr>
                      <a:lvl7pPr marL="2743218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7pPr>
                      <a:lvl8pPr marL="3200421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8pPr>
                      <a:lvl9pPr marL="3657624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양극재</a:t>
                      </a: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, 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고체전해질</a:t>
                      </a: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,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 도전재</a:t>
                      </a: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, 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바인더로 구성된 전극 시트 면적</a:t>
                      </a:r>
                      <a:endParaRPr lang="ko-KR" altLang="en-US" sz="950" b="1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ExtraBold" panose="020B0600000101010101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170117"/>
                  </a:ext>
                </a:extLst>
              </a:tr>
              <a:tr h="405217">
                <a:tc vMerge="1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7778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3. </a:t>
                      </a: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고온 수명</a:t>
                      </a: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5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공인시험 평가</a:t>
                      </a: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1pPr>
                      <a:lvl2pPr marL="457203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2pPr>
                      <a:lvl3pPr marL="914406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3pPr>
                      <a:lvl4pPr marL="1371609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4pPr>
                      <a:lvl5pPr marL="1828812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5pPr>
                      <a:lvl6pPr marL="2286015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6pPr>
                      <a:lvl7pPr marL="2743218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7pPr>
                      <a:lvl8pPr marL="3200421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8pPr>
                      <a:lvl9pPr marL="3657624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60 </a:t>
                      </a:r>
                      <a:r>
                        <a:rPr lang="en-US" altLang="ko-KR" sz="950" b="1" kern="1200" spc="-50" baseline="30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o</a:t>
                      </a:r>
                      <a:r>
                        <a:rPr lang="en-US" altLang="ko-KR" sz="950" b="1" kern="1200" spc="-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C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에서 </a:t>
                      </a: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0.2C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 정전류 평가 </a:t>
                      </a: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100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회 사이클 용량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221043"/>
                  </a:ext>
                </a:extLst>
              </a:tr>
              <a:tr h="361879">
                <a:tc vMerge="1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7778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4. </a:t>
                      </a: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전극내 양극 활물질 비율</a:t>
                      </a: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공인시험 평가</a:t>
                      </a: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1pPr>
                      <a:lvl2pPr marL="457203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2pPr>
                      <a:lvl3pPr marL="914406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3pPr>
                      <a:lvl4pPr marL="1371609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4pPr>
                      <a:lvl5pPr marL="1828812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5pPr>
                      <a:lvl6pPr marL="2286015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6pPr>
                      <a:lvl7pPr marL="2743218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7pPr>
                      <a:lvl8pPr marL="3200421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8pPr>
                      <a:lvl9pPr marL="3657624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전극내 포함된 양극활물질 무게 비율</a:t>
                      </a:r>
                      <a:endParaRPr lang="ko-KR" altLang="en-US" sz="950" b="1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ExtraBold" panose="020B0600000101010101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949617"/>
                  </a:ext>
                </a:extLst>
              </a:tr>
              <a:tr h="361879">
                <a:tc rowSpan="3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단결정</a:t>
                      </a:r>
                      <a:endParaRPr lang="en-US" altLang="ko-KR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양극재 성능</a:t>
                      </a:r>
                      <a:endParaRPr lang="en-US" altLang="ko-KR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50" b="1" kern="0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엘앤에프</a:t>
                      </a: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5.</a:t>
                      </a:r>
                      <a:r>
                        <a:rPr lang="en-US" altLang="ko-KR" sz="950" b="1" kern="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양극활물질  가역 용량</a:t>
                      </a: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mAh</a:t>
                      </a: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/g</a:t>
                      </a: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5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공인시험 평가</a:t>
                      </a: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1pPr>
                      <a:lvl2pPr marL="457203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2pPr>
                      <a:lvl3pPr marL="914406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3pPr>
                      <a:lvl4pPr marL="1371609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4pPr>
                      <a:lvl5pPr marL="1828812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5pPr>
                      <a:lvl6pPr marL="2286015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6pPr>
                      <a:lvl7pPr marL="2743218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7pPr>
                      <a:lvl8pPr marL="3200421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8pPr>
                      <a:lvl9pPr marL="3657624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2.5-4.3 V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 </a:t>
                      </a:r>
                      <a:r>
                        <a:rPr lang="ko-KR" altLang="en-US" sz="950" b="1" kern="1200" spc="-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코인셀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 </a:t>
                      </a:r>
                      <a:r>
                        <a:rPr lang="ko-KR" altLang="en-US" sz="950" b="1" kern="1200" spc="-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평가시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 방전 용량 측정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667991"/>
                  </a:ext>
                </a:extLst>
              </a:tr>
              <a:tr h="361879">
                <a:tc vMerge="1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7778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6. </a:t>
                      </a:r>
                      <a:r>
                        <a:rPr lang="ko-KR" altLang="en-US" sz="950" b="1" kern="0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입자강도</a:t>
                      </a:r>
                      <a:endParaRPr lang="ko-KR" altLang="en-US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MPa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600</a:t>
                      </a:r>
                      <a:endParaRPr lang="en-US" sz="950" b="1" kern="0" spc="-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5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공인시험 평가</a:t>
                      </a: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1pPr>
                      <a:lvl2pPr marL="457203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2pPr>
                      <a:lvl3pPr marL="914406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3pPr>
                      <a:lvl4pPr marL="1371609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4pPr>
                      <a:lvl5pPr marL="1828812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5pPr>
                      <a:lvl6pPr marL="2286015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6pPr>
                      <a:lvl7pPr marL="2743218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7pPr>
                      <a:lvl8pPr marL="3200421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8pPr>
                      <a:lvl9pPr marL="3657624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입자 강도 </a:t>
                      </a: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= 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파손 하중</a:t>
                      </a:r>
                      <a:r>
                        <a:rPr lang="en-US" altLang="ko-KR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/ </a:t>
                      </a: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입자 면적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573169"/>
                  </a:ext>
                </a:extLst>
              </a:tr>
              <a:tr h="361879">
                <a:tc vMerge="1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7778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7. </a:t>
                      </a:r>
                      <a:r>
                        <a:rPr lang="ko-KR" altLang="en-US" sz="950" b="1" kern="0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펠렛</a:t>
                      </a: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밀도</a:t>
                      </a: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g/cc</a:t>
                      </a:r>
                      <a:endParaRPr lang="en-US" sz="950" b="1" kern="0" spc="-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950" b="1" kern="0" spc="-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</a:t>
                      </a:r>
                      <a:endParaRPr lang="en-US" sz="950" b="1" kern="0" spc="-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3.2</a:t>
                      </a:r>
                      <a:endParaRPr lang="en-US" sz="950" b="1" kern="0" spc="-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3.2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5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공인시험 평가</a:t>
                      </a:r>
                      <a:endParaRPr kumimoji="0" lang="ko-KR" altLang="en-US" sz="950" b="1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50" b="1" kern="1200" spc="-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ExtraBold" panose="020B0600000101010101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499193"/>
                  </a:ext>
                </a:extLst>
              </a:tr>
              <a:tr h="405217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모델링 기술</a:t>
                      </a:r>
                      <a:endParaRPr lang="en-US" altLang="ko-KR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한양대</a:t>
                      </a: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8. </a:t>
                      </a:r>
                      <a:r>
                        <a:rPr lang="ko-KR" altLang="en-US" sz="950" b="1" kern="0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모델정합도</a:t>
                      </a:r>
                      <a:endParaRPr lang="ko-KR" altLang="en-US" sz="950" b="1" kern="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7778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</a:t>
                      </a:r>
                      <a:endParaRPr 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kern="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자체 평가</a:t>
                      </a:r>
                      <a:endParaRPr lang="ko-KR" altLang="en-US" sz="950" b="1" kern="0" spc="-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78" marR="17778" marT="17778" marB="1777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1pPr>
                      <a:lvl2pPr marL="457203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2pPr>
                      <a:lvl3pPr marL="914406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3pPr>
                      <a:lvl4pPr marL="1371609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4pPr>
                      <a:lvl5pPr marL="1828812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5pPr>
                      <a:lvl6pPr marL="2286015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6pPr>
                      <a:lvl7pPr marL="2743218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7pPr>
                      <a:lvl8pPr marL="3200421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8pPr>
                      <a:lvl9pPr marL="3657624" algn="l" defTabSz="91440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SUI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실제 셀과 모델링 셀 평가 결과 비교를</a:t>
                      </a:r>
                      <a:endParaRPr lang="en-US" altLang="ko-KR" sz="950" b="1" kern="1200" spc="-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ExtraBold" panose="020B0600000101010101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ExtraBold" panose="020B0600000101010101" charset="-127"/>
                        </a:rPr>
                        <a:t>통한 정합도 도출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740243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4C89104F-EF86-4AA2-A50D-D4BE80D51D82}"/>
              </a:ext>
            </a:extLst>
          </p:cNvPr>
          <p:cNvSpPr/>
          <p:nvPr/>
        </p:nvSpPr>
        <p:spPr>
          <a:xfrm>
            <a:off x="5828437" y="1253957"/>
            <a:ext cx="555586" cy="42494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5BD0B-5C3D-4D91-8E10-C8A003DDC9D2}"/>
              </a:ext>
            </a:extLst>
          </p:cNvPr>
          <p:cNvSpPr/>
          <p:nvPr/>
        </p:nvSpPr>
        <p:spPr>
          <a:xfrm>
            <a:off x="169468" y="5579277"/>
            <a:ext cx="2249334" cy="3480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2"/>
              </a:buBlip>
            </a:pPr>
            <a:r>
              <a:rPr lang="ko-KR" altLang="en-US" sz="1400" b="1" kern="0" spc="-100" dirty="0">
                <a:solidFill>
                  <a:prstClr val="black"/>
                </a:solidFill>
                <a:cs typeface="Arial" charset="0"/>
              </a:rPr>
              <a:t>실적 및 정량적 목표 성과</a:t>
            </a:r>
            <a:endParaRPr lang="en-US" altLang="ko-KR" sz="1400" b="1" kern="0" spc="-1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A60137-668F-471E-B417-0B01D489BB56}"/>
              </a:ext>
            </a:extLst>
          </p:cNvPr>
          <p:cNvSpPr/>
          <p:nvPr/>
        </p:nvSpPr>
        <p:spPr>
          <a:xfrm>
            <a:off x="364152" y="5963850"/>
            <a:ext cx="9306512" cy="603325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361950" indent="-171450">
              <a:buFont typeface="Arial" panose="020B0604020202020204" pitchFamily="34" charset="0"/>
              <a:buChar char="•"/>
            </a:pPr>
            <a:r>
              <a:rPr lang="ko-KR" altLang="en-US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예시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) </a:t>
            </a:r>
          </a:p>
          <a:p>
            <a:pPr marL="361950" indent="-171450">
              <a:buFont typeface="Arial" panose="020B0604020202020204" pitchFamily="34" charset="0"/>
              <a:buChar char="•"/>
            </a:pP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국내 학술대회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 N</a:t>
            </a:r>
            <a:r>
              <a:rPr lang="ko-KR" altLang="en-US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건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(</a:t>
            </a:r>
            <a:r>
              <a:rPr lang="en-US" altLang="ko-KR" sz="105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aaaa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sz="105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bbbb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 )</a:t>
            </a:r>
          </a:p>
          <a:p>
            <a:pPr marL="361950" indent="-171450">
              <a:buFont typeface="Arial" panose="020B0604020202020204" pitchFamily="34" charset="0"/>
              <a:buChar char="•"/>
            </a:pP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국내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특허출원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 N</a:t>
            </a:r>
            <a:r>
              <a:rPr lang="ko-KR" altLang="en-US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건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(</a:t>
            </a:r>
            <a:r>
              <a:rPr lang="en-US" altLang="ko-KR" sz="105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aaaa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sz="105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bbbb</a:t>
            </a:r>
            <a:r>
              <a:rPr lang="en-US" altLang="ko-KR" sz="105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 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D9C9D00-7583-439E-B274-F1709A75D549}"/>
              </a:ext>
            </a:extLst>
          </p:cNvPr>
          <p:cNvSpPr/>
          <p:nvPr/>
        </p:nvSpPr>
        <p:spPr>
          <a:xfrm>
            <a:off x="4928974" y="81833"/>
            <a:ext cx="4703976" cy="1032095"/>
          </a:xfrm>
          <a:prstGeom prst="rect">
            <a:avLst/>
          </a:prstGeom>
          <a:solidFill>
            <a:srgbClr val="618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각 기관에서 달성한 실적이 있는 경우 기재</a:t>
            </a:r>
            <a:endParaRPr kumimoji="1" lang="en-US" altLang="ko-KR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(EX) </a:t>
            </a:r>
            <a:r>
              <a:rPr kumimoji="1" lang="ko-KR" altLang="en-US" dirty="0">
                <a:solidFill>
                  <a:srgbClr val="FF0000"/>
                </a:solidFill>
              </a:rPr>
              <a:t>평가항목</a:t>
            </a:r>
            <a:r>
              <a:rPr kumimoji="1" lang="en-US" altLang="ko-KR" dirty="0">
                <a:solidFill>
                  <a:srgbClr val="FF0000"/>
                </a:solidFill>
              </a:rPr>
              <a:t>/</a:t>
            </a:r>
            <a:r>
              <a:rPr kumimoji="1" lang="ko-KR" altLang="en-US" dirty="0">
                <a:solidFill>
                  <a:srgbClr val="FF0000"/>
                </a:solidFill>
              </a:rPr>
              <a:t>특허</a:t>
            </a:r>
            <a:r>
              <a:rPr kumimoji="1" lang="en-US" altLang="ko-KR" dirty="0">
                <a:solidFill>
                  <a:srgbClr val="FF0000"/>
                </a:solidFill>
              </a:rPr>
              <a:t>/</a:t>
            </a:r>
            <a:r>
              <a:rPr kumimoji="1" lang="ko-KR" altLang="en-US" dirty="0">
                <a:solidFill>
                  <a:srgbClr val="FF0000"/>
                </a:solidFill>
              </a:rPr>
              <a:t>논문 등</a:t>
            </a:r>
            <a:r>
              <a:rPr kumimoji="1" lang="en-US" altLang="ko-KR" dirty="0">
                <a:solidFill>
                  <a:srgbClr val="FF0000"/>
                </a:solidFill>
              </a:rPr>
              <a:t>)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04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1-1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차년도 추진 실적 및 중간 성과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 제조 기술 개발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E556FD4-912A-4A6C-B706-6289B2EE7D1D}"/>
              </a:ext>
            </a:extLst>
          </p:cNvPr>
          <p:cNvGrpSpPr/>
          <p:nvPr/>
        </p:nvGrpSpPr>
        <p:grpSpPr>
          <a:xfrm>
            <a:off x="8070001" y="341761"/>
            <a:ext cx="1736773" cy="307777"/>
            <a:chOff x="7127569" y="215268"/>
            <a:chExt cx="1736773" cy="307777"/>
          </a:xfrm>
        </p:grpSpPr>
        <p:sp>
          <p:nvSpPr>
            <p:cNvPr id="25" name="모서리가 둥근 직사각형 31">
              <a:extLst>
                <a:ext uri="{FF2B5EF4-FFF2-40B4-BE49-F238E27FC236}">
                  <a16:creationId xmlns:a16="http://schemas.microsoft.com/office/drawing/2014/main" id="{5BF7FB0D-C317-42C7-8B2C-D90602B65245}"/>
                </a:ext>
              </a:extLst>
            </p:cNvPr>
            <p:cNvSpPr/>
            <p:nvPr/>
          </p:nvSpPr>
          <p:spPr>
            <a:xfrm>
              <a:off x="7127569" y="215268"/>
              <a:ext cx="1736773" cy="30777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rgbClr val="0094E9">
                  <a:alpha val="2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/>
              <a:r>
                <a:rPr lang="ko-KR" altLang="en-US" sz="1100" b="1" dirty="0">
                  <a:ln>
                    <a:solidFill>
                      <a:srgbClr val="01588B">
                        <a:alpha val="0"/>
                      </a:srgbClr>
                    </a:solidFill>
                  </a:ln>
                  <a:solidFill>
                    <a:srgbClr val="0094E9">
                      <a:alpha val="50000"/>
                    </a:srgb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사업계획서</a:t>
              </a:r>
              <a:r>
                <a:rPr lang="ko-KR" altLang="en-US" sz="1100" dirty="0">
                  <a:ln>
                    <a:solidFill>
                      <a:srgbClr val="01588B">
                        <a:alpha val="0"/>
                      </a:srgbClr>
                    </a:solidFill>
                  </a:ln>
                  <a:solidFill>
                    <a:srgbClr val="01588B">
                      <a:alpha val="50000"/>
                    </a:srgb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en-US" altLang="ko-KR" sz="1200" b="1" dirty="0">
                  <a:ln>
                    <a:solidFill>
                      <a:srgbClr val="01588B">
                        <a:alpha val="0"/>
                      </a:srgbClr>
                    </a:solidFill>
                  </a:ln>
                  <a:solidFill>
                    <a:srgbClr val="0094E9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p11~14</a:t>
              </a:r>
              <a:endParaRPr lang="ko-KR" altLang="en-US" sz="1200" b="1" dirty="0">
                <a:ln>
                  <a:solidFill>
                    <a:srgbClr val="01588B">
                      <a:alpha val="0"/>
                    </a:srgbClr>
                  </a:solidFill>
                </a:ln>
                <a:solidFill>
                  <a:srgbClr val="0094E9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9C938253-330E-4F83-9684-9415310B3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8955" y="316359"/>
              <a:ext cx="168731" cy="129981"/>
            </a:xfrm>
            <a:custGeom>
              <a:avLst/>
              <a:gdLst>
                <a:gd name="T0" fmla="*/ 1168 w 1286"/>
                <a:gd name="T1" fmla="*/ 817 h 993"/>
                <a:gd name="T2" fmla="*/ 1168 w 1286"/>
                <a:gd name="T3" fmla="*/ 145 h 993"/>
                <a:gd name="T4" fmla="*/ 963 w 1286"/>
                <a:gd name="T5" fmla="*/ 117 h 993"/>
                <a:gd name="T6" fmla="*/ 643 w 1286"/>
                <a:gd name="T7" fmla="*/ 205 h 993"/>
                <a:gd name="T8" fmla="*/ 643 w 1286"/>
                <a:gd name="T9" fmla="*/ 875 h 993"/>
                <a:gd name="T10" fmla="*/ 963 w 1286"/>
                <a:gd name="T11" fmla="*/ 787 h 993"/>
                <a:gd name="T12" fmla="*/ 1168 w 1286"/>
                <a:gd name="T13" fmla="*/ 817 h 993"/>
                <a:gd name="T14" fmla="*/ 962 w 1286"/>
                <a:gd name="T15" fmla="*/ 0 h 993"/>
                <a:gd name="T16" fmla="*/ 1285 w 1286"/>
                <a:gd name="T17" fmla="*/ 87 h 993"/>
                <a:gd name="T18" fmla="*/ 1285 w 1286"/>
                <a:gd name="T19" fmla="*/ 938 h 993"/>
                <a:gd name="T20" fmla="*/ 1255 w 1286"/>
                <a:gd name="T21" fmla="*/ 968 h 993"/>
                <a:gd name="T22" fmla="*/ 1241 w 1286"/>
                <a:gd name="T23" fmla="*/ 965 h 993"/>
                <a:gd name="T24" fmla="*/ 962 w 1286"/>
                <a:gd name="T25" fmla="*/ 905 h 993"/>
                <a:gd name="T26" fmla="*/ 643 w 1286"/>
                <a:gd name="T27" fmla="*/ 992 h 993"/>
                <a:gd name="T28" fmla="*/ 323 w 1286"/>
                <a:gd name="T29" fmla="*/ 905 h 993"/>
                <a:gd name="T30" fmla="*/ 44 w 1286"/>
                <a:gd name="T31" fmla="*/ 968 h 993"/>
                <a:gd name="T32" fmla="*/ 30 w 1286"/>
                <a:gd name="T33" fmla="*/ 970 h 993"/>
                <a:gd name="T34" fmla="*/ 0 w 1286"/>
                <a:gd name="T35" fmla="*/ 943 h 993"/>
                <a:gd name="T36" fmla="*/ 0 w 1286"/>
                <a:gd name="T37" fmla="*/ 87 h 993"/>
                <a:gd name="T38" fmla="*/ 323 w 1286"/>
                <a:gd name="T39" fmla="*/ 0 h 993"/>
                <a:gd name="T40" fmla="*/ 643 w 1286"/>
                <a:gd name="T41" fmla="*/ 87 h 993"/>
                <a:gd name="T42" fmla="*/ 962 w 1286"/>
                <a:gd name="T43" fmla="*/ 0 h 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86" h="993">
                  <a:moveTo>
                    <a:pt x="1168" y="817"/>
                  </a:moveTo>
                  <a:lnTo>
                    <a:pt x="1168" y="145"/>
                  </a:lnTo>
                  <a:cubicBezTo>
                    <a:pt x="1105" y="126"/>
                    <a:pt x="1034" y="117"/>
                    <a:pt x="963" y="117"/>
                  </a:cubicBezTo>
                  <a:cubicBezTo>
                    <a:pt x="864" y="117"/>
                    <a:pt x="722" y="156"/>
                    <a:pt x="643" y="205"/>
                  </a:cubicBezTo>
                  <a:lnTo>
                    <a:pt x="643" y="875"/>
                  </a:lnTo>
                  <a:cubicBezTo>
                    <a:pt x="722" y="825"/>
                    <a:pt x="864" y="787"/>
                    <a:pt x="963" y="787"/>
                  </a:cubicBezTo>
                  <a:cubicBezTo>
                    <a:pt x="1034" y="787"/>
                    <a:pt x="1105" y="798"/>
                    <a:pt x="1168" y="817"/>
                  </a:cubicBezTo>
                  <a:close/>
                  <a:moveTo>
                    <a:pt x="962" y="0"/>
                  </a:moveTo>
                  <a:cubicBezTo>
                    <a:pt x="1083" y="0"/>
                    <a:pt x="1211" y="30"/>
                    <a:pt x="1285" y="87"/>
                  </a:cubicBezTo>
                  <a:lnTo>
                    <a:pt x="1285" y="938"/>
                  </a:lnTo>
                  <a:cubicBezTo>
                    <a:pt x="1285" y="951"/>
                    <a:pt x="1269" y="968"/>
                    <a:pt x="1255" y="968"/>
                  </a:cubicBezTo>
                  <a:cubicBezTo>
                    <a:pt x="1250" y="968"/>
                    <a:pt x="1247" y="968"/>
                    <a:pt x="1241" y="965"/>
                  </a:cubicBezTo>
                  <a:cubicBezTo>
                    <a:pt x="1159" y="921"/>
                    <a:pt x="1058" y="905"/>
                    <a:pt x="962" y="905"/>
                  </a:cubicBezTo>
                  <a:cubicBezTo>
                    <a:pt x="864" y="905"/>
                    <a:pt x="722" y="943"/>
                    <a:pt x="643" y="992"/>
                  </a:cubicBezTo>
                  <a:cubicBezTo>
                    <a:pt x="558" y="929"/>
                    <a:pt x="437" y="905"/>
                    <a:pt x="323" y="905"/>
                  </a:cubicBezTo>
                  <a:cubicBezTo>
                    <a:pt x="238" y="905"/>
                    <a:pt x="123" y="929"/>
                    <a:pt x="44" y="968"/>
                  </a:cubicBezTo>
                  <a:cubicBezTo>
                    <a:pt x="38" y="968"/>
                    <a:pt x="36" y="970"/>
                    <a:pt x="30" y="970"/>
                  </a:cubicBezTo>
                  <a:cubicBezTo>
                    <a:pt x="16" y="970"/>
                    <a:pt x="0" y="957"/>
                    <a:pt x="0" y="943"/>
                  </a:cubicBezTo>
                  <a:lnTo>
                    <a:pt x="0" y="87"/>
                  </a:lnTo>
                  <a:cubicBezTo>
                    <a:pt x="85" y="24"/>
                    <a:pt x="208" y="0"/>
                    <a:pt x="323" y="0"/>
                  </a:cubicBezTo>
                  <a:cubicBezTo>
                    <a:pt x="437" y="0"/>
                    <a:pt x="558" y="24"/>
                    <a:pt x="643" y="87"/>
                  </a:cubicBezTo>
                  <a:cubicBezTo>
                    <a:pt x="727" y="24"/>
                    <a:pt x="848" y="0"/>
                    <a:pt x="962" y="0"/>
                  </a:cubicBezTo>
                  <a:close/>
                </a:path>
              </a:pathLst>
            </a:custGeom>
            <a:solidFill>
              <a:srgbClr val="0094E9">
                <a:alpha val="50000"/>
              </a:srgbClr>
            </a:solidFill>
            <a:ln>
              <a:noFill/>
            </a:ln>
            <a:effectLst/>
          </p:spPr>
          <p:txBody>
            <a:bodyPr wrap="none" lIns="36000" rIns="36000" anchor="ctr"/>
            <a:lstStyle>
              <a:defPPr>
                <a:defRPr lang="en-GB"/>
              </a:defPPr>
              <a:lvl1pPr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1pPr>
              <a:lvl2pPr marL="742950" indent="-28575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2pPr>
              <a:lvl3pPr marL="11430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3pPr>
              <a:lvl4pPr marL="16002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4pPr>
              <a:lvl5pPr marL="20574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9pPr>
            </a:lstStyle>
            <a:p>
              <a:endParaRPr lang="en-US" sz="1350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3267241" cy="3480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2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3</a:t>
            </a:r>
            <a:r>
              <a:rPr lang="ko-KR" altLang="en-US" sz="1400" b="1" kern="0" spc="-100" dirty="0">
                <a:solidFill>
                  <a:prstClr val="black"/>
                </a:solidFill>
                <a:cs typeface="Arial" charset="0"/>
              </a:rPr>
              <a:t>세부 </a:t>
            </a: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2</a:t>
            </a:r>
            <a:r>
              <a:rPr lang="ko-KR" altLang="en-US" sz="1400" b="1" kern="0" spc="-100" dirty="0">
                <a:solidFill>
                  <a:prstClr val="black"/>
                </a:solidFill>
                <a:cs typeface="Arial" charset="0"/>
              </a:rPr>
              <a:t>차년도 실적 및 정량적 목표 성과</a:t>
            </a:r>
            <a:endParaRPr lang="en-US" altLang="ko-KR" sz="1400" b="1" kern="0" spc="-100" dirty="0">
              <a:solidFill>
                <a:prstClr val="black"/>
              </a:solidFill>
              <a:cs typeface="Arial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3E793E9-D593-4E6A-834F-F841FD84E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160519"/>
              </p:ext>
            </p:extLst>
          </p:nvPr>
        </p:nvGraphicFramePr>
        <p:xfrm>
          <a:off x="1280238" y="3497380"/>
          <a:ext cx="7520242" cy="2491236"/>
        </p:xfrm>
        <a:graphic>
          <a:graphicData uri="http://schemas.openxmlformats.org/drawingml/2006/table">
            <a:tbl>
              <a:tblPr/>
              <a:tblGrid>
                <a:gridCol w="1263890">
                  <a:extLst>
                    <a:ext uri="{9D8B030D-6E8A-4147-A177-3AD203B41FA5}">
                      <a16:colId xmlns:a16="http://schemas.microsoft.com/office/drawing/2014/main" val="2666122021"/>
                    </a:ext>
                  </a:extLst>
                </a:gridCol>
                <a:gridCol w="351800">
                  <a:extLst>
                    <a:ext uri="{9D8B030D-6E8A-4147-A177-3AD203B41FA5}">
                      <a16:colId xmlns:a16="http://schemas.microsoft.com/office/drawing/2014/main" val="3937422671"/>
                    </a:ext>
                  </a:extLst>
                </a:gridCol>
                <a:gridCol w="705148">
                  <a:extLst>
                    <a:ext uri="{9D8B030D-6E8A-4147-A177-3AD203B41FA5}">
                      <a16:colId xmlns:a16="http://schemas.microsoft.com/office/drawing/2014/main" val="4291892055"/>
                    </a:ext>
                  </a:extLst>
                </a:gridCol>
                <a:gridCol w="705148">
                  <a:extLst>
                    <a:ext uri="{9D8B030D-6E8A-4147-A177-3AD203B41FA5}">
                      <a16:colId xmlns:a16="http://schemas.microsoft.com/office/drawing/2014/main" val="3974921082"/>
                    </a:ext>
                  </a:extLst>
                </a:gridCol>
                <a:gridCol w="705148">
                  <a:extLst>
                    <a:ext uri="{9D8B030D-6E8A-4147-A177-3AD203B41FA5}">
                      <a16:colId xmlns:a16="http://schemas.microsoft.com/office/drawing/2014/main" val="774210207"/>
                    </a:ext>
                  </a:extLst>
                </a:gridCol>
                <a:gridCol w="705148">
                  <a:extLst>
                    <a:ext uri="{9D8B030D-6E8A-4147-A177-3AD203B41FA5}">
                      <a16:colId xmlns:a16="http://schemas.microsoft.com/office/drawing/2014/main" val="1476215341"/>
                    </a:ext>
                  </a:extLst>
                </a:gridCol>
                <a:gridCol w="770990">
                  <a:extLst>
                    <a:ext uri="{9D8B030D-6E8A-4147-A177-3AD203B41FA5}">
                      <a16:colId xmlns:a16="http://schemas.microsoft.com/office/drawing/2014/main" val="3683882298"/>
                    </a:ext>
                  </a:extLst>
                </a:gridCol>
                <a:gridCol w="770990">
                  <a:extLst>
                    <a:ext uri="{9D8B030D-6E8A-4147-A177-3AD203B41FA5}">
                      <a16:colId xmlns:a16="http://schemas.microsoft.com/office/drawing/2014/main" val="1918959735"/>
                    </a:ext>
                  </a:extLst>
                </a:gridCol>
                <a:gridCol w="770990">
                  <a:extLst>
                    <a:ext uri="{9D8B030D-6E8A-4147-A177-3AD203B41FA5}">
                      <a16:colId xmlns:a16="http://schemas.microsoft.com/office/drawing/2014/main" val="912295208"/>
                    </a:ext>
                  </a:extLst>
                </a:gridCol>
                <a:gridCol w="770990">
                  <a:extLst>
                    <a:ext uri="{9D8B030D-6E8A-4147-A177-3AD203B41FA5}">
                      <a16:colId xmlns:a16="http://schemas.microsoft.com/office/drawing/2014/main" val="3721603901"/>
                    </a:ext>
                  </a:extLst>
                </a:gridCol>
              </a:tblGrid>
              <a:tr h="362299">
                <a:tc gridSpan="6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87B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strike="noStrike" kern="0" spc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ko-KR" altLang="en-US" sz="1000" b="1" strike="noStrike" kern="0" spc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차년도 달성 성과</a:t>
                      </a:r>
                      <a:r>
                        <a:rPr lang="en-US" altLang="ko-KR" sz="1000" b="1" strike="noStrike" kern="0" spc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(2026)</a:t>
                      </a:r>
                      <a:endParaRPr lang="ko-KR" altLang="en-US" sz="1000" b="1" strike="noStrike" kern="0" spc="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C8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384109"/>
                  </a:ext>
                </a:extLst>
              </a:tr>
              <a:tr h="362299">
                <a:tc grid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성과지표명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87B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2025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87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2026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87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2027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87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2028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87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 err="1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엘앤에프</a:t>
                      </a:r>
                      <a:endParaRPr lang="en-US" sz="1000" b="1" strike="noStrike" kern="0" spc="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C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KETI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C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한양대학교</a:t>
                      </a:r>
                      <a:endParaRPr lang="en-US" sz="1000" b="1" strike="noStrike" kern="0" spc="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C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합계</a:t>
                      </a:r>
                      <a:endParaRPr lang="en-US" sz="1000" b="1" strike="noStrike" kern="0" spc="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C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344580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국내 특허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출원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522952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국내 특허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등록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5602858"/>
                  </a:ext>
                </a:extLst>
              </a:tr>
              <a:tr h="3315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국제 특허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출원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703558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국제 특허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등록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 </a:t>
                      </a:r>
                      <a:endParaRPr lang="ko-KR" alt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2717370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SCI </a:t>
                      </a: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논문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건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7061198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고용 창출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명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strike="noStrike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690253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8959F2C8-2698-4E2C-9D0D-25EA203F6442}"/>
              </a:ext>
            </a:extLst>
          </p:cNvPr>
          <p:cNvSpPr/>
          <p:nvPr/>
        </p:nvSpPr>
        <p:spPr>
          <a:xfrm>
            <a:off x="3591988" y="3857958"/>
            <a:ext cx="718510" cy="21306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8924AB7-5530-4C61-9F27-1832601AC14B}"/>
              </a:ext>
            </a:extLst>
          </p:cNvPr>
          <p:cNvGrpSpPr/>
          <p:nvPr/>
        </p:nvGrpSpPr>
        <p:grpSpPr>
          <a:xfrm>
            <a:off x="996958" y="1612634"/>
            <a:ext cx="7973880" cy="1474896"/>
            <a:chOff x="2084521" y="1180809"/>
            <a:chExt cx="7973880" cy="1474896"/>
          </a:xfrm>
        </p:grpSpPr>
        <p:pic>
          <p:nvPicPr>
            <p:cNvPr id="13" name="그래픽 57">
              <a:extLst>
                <a:ext uri="{FF2B5EF4-FFF2-40B4-BE49-F238E27FC236}">
                  <a16:creationId xmlns:a16="http://schemas.microsoft.com/office/drawing/2014/main" id="{30D1999D-DD25-43A4-8658-8AE241222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53951" y="1281519"/>
              <a:ext cx="7293898" cy="185600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77AAE40-B33B-4555-A86C-2DFCFEAED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6972" y="1472227"/>
              <a:ext cx="7881429" cy="40656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731E684-FAC5-4E4B-A2D5-47F6C62AB689}"/>
                </a:ext>
              </a:extLst>
            </p:cNvPr>
            <p:cNvSpPr txBox="1"/>
            <p:nvPr/>
          </p:nvSpPr>
          <p:spPr>
            <a:xfrm>
              <a:off x="2084521" y="1522857"/>
              <a:ext cx="98759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ko-KR" sz="1400" b="1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2025</a:t>
              </a:r>
              <a:endParaRPr kumimoji="1" lang="ko-KR" altLang="en-US" sz="1400" b="1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DBA8BE-6B5F-4D2F-828E-87D359A0EBFB}"/>
                </a:ext>
              </a:extLst>
            </p:cNvPr>
            <p:cNvSpPr txBox="1"/>
            <p:nvPr/>
          </p:nvSpPr>
          <p:spPr>
            <a:xfrm>
              <a:off x="5414839" y="1522857"/>
              <a:ext cx="670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ko-KR" sz="1400" b="1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2026</a:t>
              </a:r>
              <a:endParaRPr kumimoji="1" lang="ko-KR" altLang="en-US" sz="1400" b="1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7F5CBC-73AB-4897-8383-CC4F032DF34B}"/>
                </a:ext>
              </a:extLst>
            </p:cNvPr>
            <p:cNvSpPr txBox="1"/>
            <p:nvPr/>
          </p:nvSpPr>
          <p:spPr>
            <a:xfrm>
              <a:off x="9156425" y="1522857"/>
              <a:ext cx="670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ko-KR" sz="1400" b="1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2028</a:t>
              </a:r>
              <a:endParaRPr kumimoji="1" lang="ko-KR" altLang="en-US" sz="1400" b="1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18" name="사각형: 둥근 모서리 62">
              <a:extLst>
                <a:ext uri="{FF2B5EF4-FFF2-40B4-BE49-F238E27FC236}">
                  <a16:creationId xmlns:a16="http://schemas.microsoft.com/office/drawing/2014/main" id="{8939382E-9906-4782-B652-04F9462AE2E9}"/>
                </a:ext>
              </a:extLst>
            </p:cNvPr>
            <p:cNvSpPr/>
            <p:nvPr/>
          </p:nvSpPr>
          <p:spPr>
            <a:xfrm>
              <a:off x="4673823" y="1180809"/>
              <a:ext cx="2837158" cy="268474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75000"/>
              </a:sysClr>
            </a:solidFill>
            <a:ln w="15875" cap="flat" cmpd="sng" algn="ctr">
              <a:noFill/>
              <a:prstDash val="solid"/>
              <a:miter lim="800000"/>
            </a:ln>
            <a:effectLst/>
          </p:spPr>
          <p:txBody>
            <a:bodyPr rIns="360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    25.10.01~28.12.31 (39</a:t>
              </a: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개월</a:t>
              </a: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)</a:t>
              </a:r>
              <a:endParaRPr kumimoji="1" lang="ko-KR" altLang="en-US" sz="1200" b="1" i="0" u="none" strike="noStrike" cap="none" spc="-50" normalizeH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2700000" scaled="1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99E31498-68CF-4973-BE85-3CA4C2F6A5F5}"/>
                </a:ext>
              </a:extLst>
            </p:cNvPr>
            <p:cNvSpPr/>
            <p:nvPr/>
          </p:nvSpPr>
          <p:spPr>
            <a:xfrm>
              <a:off x="2483984" y="1449390"/>
              <a:ext cx="54000" cy="52440"/>
            </a:xfrm>
            <a:prstGeom prst="ellipse">
              <a:avLst/>
            </a:prstGeom>
            <a:solidFill>
              <a:srgbClr val="7F7F7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F4A10796-1E68-4A6D-849B-5062091E8496}"/>
                </a:ext>
              </a:extLst>
            </p:cNvPr>
            <p:cNvSpPr/>
            <p:nvPr/>
          </p:nvSpPr>
          <p:spPr>
            <a:xfrm>
              <a:off x="9668304" y="1457703"/>
              <a:ext cx="54000" cy="52440"/>
            </a:xfrm>
            <a:prstGeom prst="ellipse">
              <a:avLst/>
            </a:prstGeom>
            <a:solidFill>
              <a:srgbClr val="7F7F7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pic>
          <p:nvPicPr>
            <p:cNvPr id="22" name="그래픽 129">
              <a:extLst>
                <a:ext uri="{FF2B5EF4-FFF2-40B4-BE49-F238E27FC236}">
                  <a16:creationId xmlns:a16="http://schemas.microsoft.com/office/drawing/2014/main" id="{5F9D2DCA-A495-4409-86C4-35FB505AF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71924" y="1890560"/>
              <a:ext cx="3567862" cy="227064"/>
            </a:xfrm>
            <a:prstGeom prst="rect">
              <a:avLst/>
            </a:prstGeom>
          </p:spPr>
        </p:pic>
        <p:pic>
          <p:nvPicPr>
            <p:cNvPr id="23" name="그래픽 130">
              <a:extLst>
                <a:ext uri="{FF2B5EF4-FFF2-40B4-BE49-F238E27FC236}">
                  <a16:creationId xmlns:a16="http://schemas.microsoft.com/office/drawing/2014/main" id="{EC6AC867-074B-4A2C-9A09-441DB1C03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20025" y="1882246"/>
              <a:ext cx="3618109" cy="235377"/>
            </a:xfrm>
            <a:prstGeom prst="rect">
              <a:avLst/>
            </a:prstGeom>
          </p:spPr>
        </p:pic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90A53E4A-FF1D-4DA9-956A-C16A27F0A58C}"/>
                </a:ext>
              </a:extLst>
            </p:cNvPr>
            <p:cNvSpPr/>
            <p:nvPr/>
          </p:nvSpPr>
          <p:spPr>
            <a:xfrm>
              <a:off x="2495546" y="1869415"/>
              <a:ext cx="54000" cy="52440"/>
            </a:xfrm>
            <a:prstGeom prst="ellipse">
              <a:avLst/>
            </a:prstGeom>
            <a:solidFill>
              <a:srgbClr val="7F7F7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F9365E6F-E74F-492D-A3DC-397757C3238E}"/>
                </a:ext>
              </a:extLst>
            </p:cNvPr>
            <p:cNvSpPr/>
            <p:nvPr/>
          </p:nvSpPr>
          <p:spPr>
            <a:xfrm>
              <a:off x="9678456" y="1869415"/>
              <a:ext cx="54000" cy="52440"/>
            </a:xfrm>
            <a:prstGeom prst="ellipse">
              <a:avLst/>
            </a:prstGeom>
            <a:solidFill>
              <a:srgbClr val="7F7F7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5852A36-5F10-4F8A-9CFC-FB1DC8F47B0F}"/>
                </a:ext>
              </a:extLst>
            </p:cNvPr>
            <p:cNvSpPr/>
            <p:nvPr/>
          </p:nvSpPr>
          <p:spPr>
            <a:xfrm>
              <a:off x="6133445" y="1869415"/>
              <a:ext cx="54000" cy="52440"/>
            </a:xfrm>
            <a:prstGeom prst="ellipse">
              <a:avLst/>
            </a:prstGeom>
            <a:solidFill>
              <a:srgbClr val="7F7F7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E0E583D8-F9F4-4B87-8FC6-D95190D5FF26}"/>
                </a:ext>
              </a:extLst>
            </p:cNvPr>
            <p:cNvSpPr/>
            <p:nvPr/>
          </p:nvSpPr>
          <p:spPr>
            <a:xfrm>
              <a:off x="5966623" y="1869415"/>
              <a:ext cx="54000" cy="52440"/>
            </a:xfrm>
            <a:prstGeom prst="ellipse">
              <a:avLst/>
            </a:prstGeom>
            <a:solidFill>
              <a:srgbClr val="7F7F7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31" name="사각형: 둥근 모서리 135">
              <a:extLst>
                <a:ext uri="{FF2B5EF4-FFF2-40B4-BE49-F238E27FC236}">
                  <a16:creationId xmlns:a16="http://schemas.microsoft.com/office/drawing/2014/main" id="{EE1E03C2-015A-4CB3-98C9-95B509F4279E}"/>
                </a:ext>
              </a:extLst>
            </p:cNvPr>
            <p:cNvSpPr/>
            <p:nvPr/>
          </p:nvSpPr>
          <p:spPr>
            <a:xfrm>
              <a:off x="3640708" y="1888603"/>
              <a:ext cx="2111240" cy="350770"/>
            </a:xfrm>
            <a:prstGeom prst="roundRect">
              <a:avLst>
                <a:gd name="adj" fmla="val 50000"/>
              </a:avLst>
            </a:prstGeom>
            <a:solidFill>
              <a:srgbClr val="E8E8E8"/>
            </a:solidFill>
            <a:ln w="15875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Ins="180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25.10.01~26.12.31(15</a:t>
              </a: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개월</a:t>
              </a: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)</a:t>
              </a:r>
            </a:p>
          </p:txBody>
        </p:sp>
        <p:sp>
          <p:nvSpPr>
            <p:cNvPr id="32" name="사각형: 둥근 모서리 136">
              <a:extLst>
                <a:ext uri="{FF2B5EF4-FFF2-40B4-BE49-F238E27FC236}">
                  <a16:creationId xmlns:a16="http://schemas.microsoft.com/office/drawing/2014/main" id="{FB1CBB12-EE9A-499D-9F82-3807679AB77A}"/>
                </a:ext>
              </a:extLst>
            </p:cNvPr>
            <p:cNvSpPr/>
            <p:nvPr/>
          </p:nvSpPr>
          <p:spPr>
            <a:xfrm>
              <a:off x="7261860" y="1888603"/>
              <a:ext cx="2155772" cy="350770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85000"/>
              </a:sysClr>
            </a:solidFill>
            <a:ln w="15875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Ins="180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27.01.01~28.12.31(24</a:t>
              </a: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개월</a:t>
              </a: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)</a:t>
              </a:r>
            </a:p>
          </p:txBody>
        </p:sp>
        <p:sp>
          <p:nvSpPr>
            <p:cNvPr id="33" name="사각형: 둥근 모서리 137">
              <a:extLst>
                <a:ext uri="{FF2B5EF4-FFF2-40B4-BE49-F238E27FC236}">
                  <a16:creationId xmlns:a16="http://schemas.microsoft.com/office/drawing/2014/main" id="{130B94BE-5FB7-4314-AD33-B7B604D18856}"/>
                </a:ext>
              </a:extLst>
            </p:cNvPr>
            <p:cNvSpPr/>
            <p:nvPr/>
          </p:nvSpPr>
          <p:spPr>
            <a:xfrm>
              <a:off x="2637328" y="1888603"/>
              <a:ext cx="1040618" cy="35077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504D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65000"/>
                          <a:lumOff val="35000"/>
                        </a:prstClr>
                      </a:gs>
                      <a:gs pos="100000">
                        <a:prstClr val="black">
                          <a:lumMod val="65000"/>
                          <a:lumOff val="3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1~2</a:t>
              </a: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65000"/>
                          <a:lumOff val="35000"/>
                        </a:prstClr>
                      </a:gs>
                      <a:gs pos="100000">
                        <a:prstClr val="black">
                          <a:lumMod val="65000"/>
                          <a:lumOff val="3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차년도</a:t>
              </a:r>
            </a:p>
          </p:txBody>
        </p:sp>
        <p:sp>
          <p:nvSpPr>
            <p:cNvPr id="34" name="사각형: 둥근 모서리 139">
              <a:extLst>
                <a:ext uri="{FF2B5EF4-FFF2-40B4-BE49-F238E27FC236}">
                  <a16:creationId xmlns:a16="http://schemas.microsoft.com/office/drawing/2014/main" id="{8D615450-4EB4-46B6-9CAE-11C415C34B21}"/>
                </a:ext>
              </a:extLst>
            </p:cNvPr>
            <p:cNvSpPr/>
            <p:nvPr/>
          </p:nvSpPr>
          <p:spPr>
            <a:xfrm>
              <a:off x="6297730" y="1888603"/>
              <a:ext cx="1031547" cy="35077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504D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65000"/>
                          <a:lumOff val="35000"/>
                        </a:prstClr>
                      </a:gs>
                      <a:gs pos="100000">
                        <a:prstClr val="black">
                          <a:lumMod val="65000"/>
                          <a:lumOff val="3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3~4</a:t>
              </a:r>
              <a:r>
                <a:rPr kumimoji="1" lang="ko-KR" altLang="en-US" sz="1200" b="1" i="0" u="none" strike="noStrike" cap="none" spc="-50" normalizeH="0" noProof="0" dirty="0">
                  <a:ln>
                    <a:noFill/>
                  </a:ln>
                  <a:gradFill>
                    <a:gsLst>
                      <a:gs pos="0">
                        <a:prstClr val="black">
                          <a:lumMod val="65000"/>
                          <a:lumOff val="35000"/>
                        </a:prstClr>
                      </a:gs>
                      <a:gs pos="100000">
                        <a:prstClr val="black">
                          <a:lumMod val="65000"/>
                          <a:lumOff val="35000"/>
                        </a:prst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차년도</a:t>
              </a:r>
            </a:p>
          </p:txBody>
        </p:sp>
        <p:sp>
          <p:nvSpPr>
            <p:cNvPr id="35" name="자유형: 도형 140">
              <a:extLst>
                <a:ext uri="{FF2B5EF4-FFF2-40B4-BE49-F238E27FC236}">
                  <a16:creationId xmlns:a16="http://schemas.microsoft.com/office/drawing/2014/main" id="{FE653701-6CFE-42B2-9537-0DE8FF7B1210}"/>
                </a:ext>
              </a:extLst>
            </p:cNvPr>
            <p:cNvSpPr/>
            <p:nvPr/>
          </p:nvSpPr>
          <p:spPr>
            <a:xfrm>
              <a:off x="4191163" y="2239093"/>
              <a:ext cx="0" cy="163928"/>
            </a:xfrm>
            <a:custGeom>
              <a:avLst/>
              <a:gdLst>
                <a:gd name="connsiteX0" fmla="*/ 0 w 0"/>
                <a:gd name="connsiteY0" fmla="*/ 171939 h 171939"/>
                <a:gd name="connsiteX1" fmla="*/ 0 w 0"/>
                <a:gd name="connsiteY1" fmla="*/ 0 h 17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71939">
                  <a:moveTo>
                    <a:pt x="0" y="171939"/>
                  </a:move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36" name="자유형: 도형 141">
              <a:extLst>
                <a:ext uri="{FF2B5EF4-FFF2-40B4-BE49-F238E27FC236}">
                  <a16:creationId xmlns:a16="http://schemas.microsoft.com/office/drawing/2014/main" id="{6EFD7D27-F81F-469C-9401-1F66D00FE260}"/>
                </a:ext>
              </a:extLst>
            </p:cNvPr>
            <p:cNvSpPr/>
            <p:nvPr/>
          </p:nvSpPr>
          <p:spPr>
            <a:xfrm>
              <a:off x="7999485" y="2239093"/>
              <a:ext cx="0" cy="163928"/>
            </a:xfrm>
            <a:custGeom>
              <a:avLst/>
              <a:gdLst>
                <a:gd name="connsiteX0" fmla="*/ 0 w 0"/>
                <a:gd name="connsiteY0" fmla="*/ 171939 h 171939"/>
                <a:gd name="connsiteX1" fmla="*/ 0 w 0"/>
                <a:gd name="connsiteY1" fmla="*/ 0 h 17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71939">
                  <a:moveTo>
                    <a:pt x="0" y="171939"/>
                  </a:move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cap="none" spc="-5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BE858F0-9957-4FE2-B7A1-D62CC99BE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612" y="1608863"/>
              <a:ext cx="75770" cy="129083"/>
            </a:xfrm>
            <a:custGeom>
              <a:avLst/>
              <a:gdLst>
                <a:gd name="T0" fmla="*/ 96 w 98"/>
                <a:gd name="T1" fmla="*/ 80 h 152"/>
                <a:gd name="T2" fmla="*/ 26 w 98"/>
                <a:gd name="T3" fmla="*/ 150 h 152"/>
                <a:gd name="T4" fmla="*/ 22 w 98"/>
                <a:gd name="T5" fmla="*/ 152 h 152"/>
                <a:gd name="T6" fmla="*/ 18 w 98"/>
                <a:gd name="T7" fmla="*/ 150 h 152"/>
                <a:gd name="T8" fmla="*/ 2 w 98"/>
                <a:gd name="T9" fmla="*/ 135 h 152"/>
                <a:gd name="T10" fmla="*/ 0 w 98"/>
                <a:gd name="T11" fmla="*/ 130 h 152"/>
                <a:gd name="T12" fmla="*/ 2 w 98"/>
                <a:gd name="T13" fmla="*/ 126 h 152"/>
                <a:gd name="T14" fmla="*/ 52 w 98"/>
                <a:gd name="T15" fmla="*/ 76 h 152"/>
                <a:gd name="T16" fmla="*/ 2 w 98"/>
                <a:gd name="T17" fmla="*/ 26 h 152"/>
                <a:gd name="T18" fmla="*/ 0 w 98"/>
                <a:gd name="T19" fmla="*/ 21 h 152"/>
                <a:gd name="T20" fmla="*/ 2 w 98"/>
                <a:gd name="T21" fmla="*/ 17 h 152"/>
                <a:gd name="T22" fmla="*/ 18 w 98"/>
                <a:gd name="T23" fmla="*/ 1 h 152"/>
                <a:gd name="T24" fmla="*/ 22 w 98"/>
                <a:gd name="T25" fmla="*/ 0 h 152"/>
                <a:gd name="T26" fmla="*/ 26 w 98"/>
                <a:gd name="T27" fmla="*/ 1 h 152"/>
                <a:gd name="T28" fmla="*/ 96 w 98"/>
                <a:gd name="T29" fmla="*/ 72 h 152"/>
                <a:gd name="T30" fmla="*/ 98 w 98"/>
                <a:gd name="T31" fmla="*/ 76 h 152"/>
                <a:gd name="T32" fmla="*/ 96 w 98"/>
                <a:gd name="T33" fmla="*/ 8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8" h="152">
                  <a:moveTo>
                    <a:pt x="96" y="80"/>
                  </a:moveTo>
                  <a:cubicBezTo>
                    <a:pt x="26" y="150"/>
                    <a:pt x="26" y="150"/>
                    <a:pt x="26" y="150"/>
                  </a:cubicBezTo>
                  <a:cubicBezTo>
                    <a:pt x="25" y="152"/>
                    <a:pt x="24" y="152"/>
                    <a:pt x="22" y="152"/>
                  </a:cubicBezTo>
                  <a:cubicBezTo>
                    <a:pt x="20" y="152"/>
                    <a:pt x="19" y="152"/>
                    <a:pt x="18" y="150"/>
                  </a:cubicBezTo>
                  <a:cubicBezTo>
                    <a:pt x="2" y="135"/>
                    <a:pt x="2" y="135"/>
                    <a:pt x="2" y="135"/>
                  </a:cubicBezTo>
                  <a:cubicBezTo>
                    <a:pt x="1" y="133"/>
                    <a:pt x="0" y="132"/>
                    <a:pt x="0" y="130"/>
                  </a:cubicBezTo>
                  <a:cubicBezTo>
                    <a:pt x="0" y="129"/>
                    <a:pt x="1" y="127"/>
                    <a:pt x="2" y="12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5"/>
                    <a:pt x="0" y="23"/>
                    <a:pt x="0" y="21"/>
                  </a:cubicBezTo>
                  <a:cubicBezTo>
                    <a:pt x="0" y="20"/>
                    <a:pt x="1" y="18"/>
                    <a:pt x="2" y="17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4" y="0"/>
                    <a:pt x="25" y="0"/>
                    <a:pt x="26" y="1"/>
                  </a:cubicBezTo>
                  <a:cubicBezTo>
                    <a:pt x="96" y="72"/>
                    <a:pt x="96" y="72"/>
                    <a:pt x="96" y="72"/>
                  </a:cubicBezTo>
                  <a:cubicBezTo>
                    <a:pt x="98" y="73"/>
                    <a:pt x="98" y="74"/>
                    <a:pt x="98" y="76"/>
                  </a:cubicBezTo>
                  <a:cubicBezTo>
                    <a:pt x="98" y="78"/>
                    <a:pt x="98" y="79"/>
                    <a:pt x="96" y="8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cap="none" spc="-5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38" name="Freeform 84">
              <a:extLst>
                <a:ext uri="{FF2B5EF4-FFF2-40B4-BE49-F238E27FC236}">
                  <a16:creationId xmlns:a16="http://schemas.microsoft.com/office/drawing/2014/main" id="{89AD5D70-87A2-4C0C-8A79-107F9418C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9291" y="1608863"/>
              <a:ext cx="75770" cy="129083"/>
            </a:xfrm>
            <a:custGeom>
              <a:avLst/>
              <a:gdLst>
                <a:gd name="T0" fmla="*/ 96 w 98"/>
                <a:gd name="T1" fmla="*/ 80 h 152"/>
                <a:gd name="T2" fmla="*/ 26 w 98"/>
                <a:gd name="T3" fmla="*/ 150 h 152"/>
                <a:gd name="T4" fmla="*/ 22 w 98"/>
                <a:gd name="T5" fmla="*/ 152 h 152"/>
                <a:gd name="T6" fmla="*/ 18 w 98"/>
                <a:gd name="T7" fmla="*/ 150 h 152"/>
                <a:gd name="T8" fmla="*/ 2 w 98"/>
                <a:gd name="T9" fmla="*/ 135 h 152"/>
                <a:gd name="T10" fmla="*/ 0 w 98"/>
                <a:gd name="T11" fmla="*/ 130 h 152"/>
                <a:gd name="T12" fmla="*/ 2 w 98"/>
                <a:gd name="T13" fmla="*/ 126 h 152"/>
                <a:gd name="T14" fmla="*/ 52 w 98"/>
                <a:gd name="T15" fmla="*/ 76 h 152"/>
                <a:gd name="T16" fmla="*/ 2 w 98"/>
                <a:gd name="T17" fmla="*/ 26 h 152"/>
                <a:gd name="T18" fmla="*/ 0 w 98"/>
                <a:gd name="T19" fmla="*/ 21 h 152"/>
                <a:gd name="T20" fmla="*/ 2 w 98"/>
                <a:gd name="T21" fmla="*/ 17 h 152"/>
                <a:gd name="T22" fmla="*/ 18 w 98"/>
                <a:gd name="T23" fmla="*/ 1 h 152"/>
                <a:gd name="T24" fmla="*/ 22 w 98"/>
                <a:gd name="T25" fmla="*/ 0 h 152"/>
                <a:gd name="T26" fmla="*/ 26 w 98"/>
                <a:gd name="T27" fmla="*/ 1 h 152"/>
                <a:gd name="T28" fmla="*/ 96 w 98"/>
                <a:gd name="T29" fmla="*/ 72 h 152"/>
                <a:gd name="T30" fmla="*/ 98 w 98"/>
                <a:gd name="T31" fmla="*/ 76 h 152"/>
                <a:gd name="T32" fmla="*/ 96 w 98"/>
                <a:gd name="T33" fmla="*/ 8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8" h="152">
                  <a:moveTo>
                    <a:pt x="96" y="80"/>
                  </a:moveTo>
                  <a:cubicBezTo>
                    <a:pt x="26" y="150"/>
                    <a:pt x="26" y="150"/>
                    <a:pt x="26" y="150"/>
                  </a:cubicBezTo>
                  <a:cubicBezTo>
                    <a:pt x="25" y="152"/>
                    <a:pt x="24" y="152"/>
                    <a:pt x="22" y="152"/>
                  </a:cubicBezTo>
                  <a:cubicBezTo>
                    <a:pt x="20" y="152"/>
                    <a:pt x="19" y="152"/>
                    <a:pt x="18" y="150"/>
                  </a:cubicBezTo>
                  <a:cubicBezTo>
                    <a:pt x="2" y="135"/>
                    <a:pt x="2" y="135"/>
                    <a:pt x="2" y="135"/>
                  </a:cubicBezTo>
                  <a:cubicBezTo>
                    <a:pt x="1" y="133"/>
                    <a:pt x="0" y="132"/>
                    <a:pt x="0" y="130"/>
                  </a:cubicBezTo>
                  <a:cubicBezTo>
                    <a:pt x="0" y="129"/>
                    <a:pt x="1" y="127"/>
                    <a:pt x="2" y="12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5"/>
                    <a:pt x="0" y="23"/>
                    <a:pt x="0" y="21"/>
                  </a:cubicBezTo>
                  <a:cubicBezTo>
                    <a:pt x="0" y="20"/>
                    <a:pt x="1" y="18"/>
                    <a:pt x="2" y="17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4" y="0"/>
                    <a:pt x="25" y="0"/>
                    <a:pt x="26" y="1"/>
                  </a:cubicBezTo>
                  <a:cubicBezTo>
                    <a:pt x="96" y="72"/>
                    <a:pt x="96" y="72"/>
                    <a:pt x="96" y="72"/>
                  </a:cubicBezTo>
                  <a:cubicBezTo>
                    <a:pt x="98" y="73"/>
                    <a:pt x="98" y="74"/>
                    <a:pt x="98" y="76"/>
                  </a:cubicBezTo>
                  <a:cubicBezTo>
                    <a:pt x="98" y="78"/>
                    <a:pt x="98" y="79"/>
                    <a:pt x="96" y="8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cap="none" spc="-5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39" name="사각형: 둥근 모서리 144">
              <a:extLst>
                <a:ext uri="{FF2B5EF4-FFF2-40B4-BE49-F238E27FC236}">
                  <a16:creationId xmlns:a16="http://schemas.microsoft.com/office/drawing/2014/main" id="{059B7860-5FFB-44BB-9A79-CEFB68CCEC61}"/>
                </a:ext>
              </a:extLst>
            </p:cNvPr>
            <p:cNvSpPr/>
            <p:nvPr/>
          </p:nvSpPr>
          <p:spPr>
            <a:xfrm>
              <a:off x="2289203" y="2331705"/>
              <a:ext cx="3780000" cy="324000"/>
            </a:xfrm>
            <a:prstGeom prst="roundRect">
              <a:avLst>
                <a:gd name="adj" fmla="val 14656"/>
              </a:avLst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504D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100" b="1" i="0" u="none" strike="noStrike" cap="none" spc="-50" normalizeH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저가공법 </a:t>
              </a:r>
              <a:r>
                <a:rPr kumimoji="1" lang="ko-KR" altLang="en-US" sz="1100" b="1" i="0" u="none" strike="noStrike" cap="none" spc="-50" normalizeH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전구체</a:t>
              </a:r>
              <a:r>
                <a:rPr kumimoji="1" lang="ko-KR" altLang="en-US" sz="1100" b="1" i="0" u="none" strike="noStrike" cap="none" spc="-50" normalizeH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 및 고성능 단결정 양극재 합성 기술 개발</a:t>
              </a:r>
            </a:p>
          </p:txBody>
        </p:sp>
        <p:sp>
          <p:nvSpPr>
            <p:cNvPr id="40" name="사각형: 둥근 모서리 145">
              <a:extLst>
                <a:ext uri="{FF2B5EF4-FFF2-40B4-BE49-F238E27FC236}">
                  <a16:creationId xmlns:a16="http://schemas.microsoft.com/office/drawing/2014/main" id="{65C4423C-47E4-49DF-98CC-9C9CA8675012}"/>
                </a:ext>
              </a:extLst>
            </p:cNvPr>
            <p:cNvSpPr/>
            <p:nvPr/>
          </p:nvSpPr>
          <p:spPr>
            <a:xfrm>
              <a:off x="6127922" y="2331705"/>
              <a:ext cx="3780000" cy="324000"/>
            </a:xfrm>
            <a:prstGeom prst="roundRect">
              <a:avLst>
                <a:gd name="adj" fmla="val 14656"/>
              </a:avLst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lIns="0" tIns="36000" rIns="0" b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504D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100" b="1" i="0" u="none" strike="noStrike" cap="none" spc="-50" normalizeH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세라믹 </a:t>
              </a:r>
              <a:r>
                <a:rPr kumimoji="1" lang="en-US" altLang="ko-KR" sz="1100" b="1" spc="-50" dirty="0" err="1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catholyate</a:t>
              </a:r>
              <a:r>
                <a:rPr kumimoji="1" lang="en-US" altLang="ko-KR" sz="1100" b="1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 </a:t>
              </a:r>
              <a:r>
                <a:rPr kumimoji="1" lang="ko-KR" altLang="en-US" sz="1100" b="1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적용 </a:t>
              </a:r>
              <a:r>
                <a:rPr kumimoji="1" lang="en-US" altLang="ko-KR" sz="1100" b="1" i="0" u="none" strike="noStrike" cap="none" spc="-50" normalizeH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8.0 </a:t>
              </a:r>
              <a:r>
                <a:rPr kumimoji="1" lang="en-US" altLang="ko-KR" sz="1100" b="1" spc="-50" dirty="0" err="1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mAh</a:t>
              </a:r>
              <a:r>
                <a:rPr kumimoji="1" lang="en-US" altLang="ko-KR" sz="1100" b="1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/cm</a:t>
              </a:r>
              <a:r>
                <a:rPr kumimoji="1" lang="en-US" altLang="ko-KR" sz="1100" b="1" spc="-50" baseline="3000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2</a:t>
              </a:r>
              <a:r>
                <a:rPr kumimoji="1" lang="ko-KR" altLang="en-US" sz="1100" b="1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 후막 전극 기술 개발</a:t>
              </a:r>
              <a:endParaRPr kumimoji="1" lang="ko-KR" altLang="en-US" sz="1100" b="1" i="0" u="none" strike="noStrike" cap="none" spc="-5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6FA23C6-E9AB-4159-A2AE-DCFACBBC2E1C}"/>
                </a:ext>
              </a:extLst>
            </p:cNvPr>
            <p:cNvSpPr txBox="1"/>
            <p:nvPr/>
          </p:nvSpPr>
          <p:spPr>
            <a:xfrm>
              <a:off x="6069513" y="1522857"/>
              <a:ext cx="670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ko-KR" sz="1400" b="1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ExtraBold" panose="020B0600000101010101" charset="-127"/>
                </a:rPr>
                <a:t>2027</a:t>
              </a:r>
              <a:endParaRPr kumimoji="1" lang="ko-KR" altLang="en-US" sz="1400" b="1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 panose="020B0600000101010101" charset="-127"/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C09E7CB-1241-4C14-8368-FCD5DCE8B64E}"/>
              </a:ext>
            </a:extLst>
          </p:cNvPr>
          <p:cNvSpPr/>
          <p:nvPr/>
        </p:nvSpPr>
        <p:spPr>
          <a:xfrm>
            <a:off x="5725940" y="3857958"/>
            <a:ext cx="3074540" cy="21306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067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264A302D-6036-434C-9A98-66798C05025E}"/>
              </a:ext>
            </a:extLst>
          </p:cNvPr>
          <p:cNvGrpSpPr/>
          <p:nvPr/>
        </p:nvGrpSpPr>
        <p:grpSpPr>
          <a:xfrm>
            <a:off x="4307039" y="2152712"/>
            <a:ext cx="1285876" cy="1285876"/>
            <a:chOff x="4338638" y="2389470"/>
            <a:chExt cx="1285876" cy="1285876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61F87A49-1BEB-4C74-A27B-B284D48E5D61}"/>
                </a:ext>
              </a:extLst>
            </p:cNvPr>
            <p:cNvSpPr/>
            <p:nvPr/>
          </p:nvSpPr>
          <p:spPr>
            <a:xfrm>
              <a:off x="4338638" y="2389470"/>
              <a:ext cx="1285876" cy="1285876"/>
            </a:xfrm>
            <a:prstGeom prst="ellipse">
              <a:avLst/>
            </a:prstGeom>
            <a:noFill/>
            <a:ln>
              <a:solidFill>
                <a:srgbClr val="6A87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kumimoji="1" lang="ko-KR" altLang="en-US" sz="6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C3E1209-FB7C-43DA-8193-D01A28D6E31E}"/>
                </a:ext>
              </a:extLst>
            </p:cNvPr>
            <p:cNvSpPr/>
            <p:nvPr/>
          </p:nvSpPr>
          <p:spPr>
            <a:xfrm>
              <a:off x="4472584" y="2523416"/>
              <a:ext cx="1017984" cy="1017984"/>
            </a:xfrm>
            <a:prstGeom prst="ellipse">
              <a:avLst/>
            </a:prstGeom>
            <a:solidFill>
              <a:srgbClr val="2C4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ko-KR" sz="4000" b="1" dirty="0">
                  <a:latin typeface="Arial" panose="020B0604020202020204" pitchFamily="34" charset="0"/>
                  <a:ea typeface="NanumGothic" panose="020D0604000000000000" pitchFamily="34" charset="-127"/>
                  <a:cs typeface="Arial" panose="020B0604020202020204" pitchFamily="34" charset="0"/>
                </a:rPr>
                <a:t>02</a:t>
              </a:r>
              <a:endParaRPr kumimoji="1" lang="ko-KR" altLang="en-US" sz="4000" b="1" dirty="0">
                <a:latin typeface="Arial" panose="020B0604020202020204" pitchFamily="34" charset="0"/>
                <a:ea typeface="NanumGothic" panose="020D0604000000000000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294415E-5B8D-458D-9C8F-0B138DCFA736}"/>
              </a:ext>
            </a:extLst>
          </p:cNvPr>
          <p:cNvSpPr txBox="1"/>
          <p:nvPr/>
        </p:nvSpPr>
        <p:spPr>
          <a:xfrm>
            <a:off x="4254711" y="1183024"/>
            <a:ext cx="1333383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3200">
                <a:latin typeface="Bahnschrift SemiBold" panose="020B0502040204020203" pitchFamily="34" charset="0"/>
                <a:ea typeface="나눔스퀘어 ExtraBold" panose="020B0600000101010101" pitchFamily="50" charset="-127"/>
              </a:defRPr>
            </a:lvl1pPr>
          </a:lstStyle>
          <a:p>
            <a:pPr algn="dist"/>
            <a:r>
              <a:rPr lang="en-US" altLang="ko-KR" sz="1200" dirty="0">
                <a:solidFill>
                  <a:srgbClr val="6A87BC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itchFamily="34" charset="0"/>
              </a:rPr>
              <a:t>CHAPTER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292274-E858-47B4-AECC-84777E91E469}"/>
              </a:ext>
            </a:extLst>
          </p:cNvPr>
          <p:cNvSpPr/>
          <p:nvPr/>
        </p:nvSpPr>
        <p:spPr>
          <a:xfrm>
            <a:off x="3348112" y="5726231"/>
            <a:ext cx="314657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세라믹 </a:t>
            </a:r>
            <a:r>
              <a:rPr lang="en-US" altLang="ko-KR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catholyte </a:t>
            </a: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기반 전극 성능 향상을 위한 단결정 </a:t>
            </a:r>
            <a:r>
              <a:rPr lang="ko-KR" altLang="en-US" sz="800" b="1" spc="-100" dirty="0" err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양극재</a:t>
            </a: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 제조 기술 개발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F844E90-34DD-457B-B44C-041D33764BF6}"/>
              </a:ext>
            </a:extLst>
          </p:cNvPr>
          <p:cNvGrpSpPr/>
          <p:nvPr/>
        </p:nvGrpSpPr>
        <p:grpSpPr>
          <a:xfrm>
            <a:off x="4818200" y="5172186"/>
            <a:ext cx="263554" cy="45719"/>
            <a:chOff x="4210965" y="5517900"/>
            <a:chExt cx="263554" cy="45719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2056618-D8E0-4C7B-9BB2-510DE0D6EEE6}"/>
                </a:ext>
              </a:extLst>
            </p:cNvPr>
            <p:cNvSpPr/>
            <p:nvPr/>
          </p:nvSpPr>
          <p:spPr>
            <a:xfrm>
              <a:off x="4319882" y="5517900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1B451465-366F-484B-8BB4-B98DF6DB9301}"/>
                </a:ext>
              </a:extLst>
            </p:cNvPr>
            <p:cNvSpPr/>
            <p:nvPr/>
          </p:nvSpPr>
          <p:spPr>
            <a:xfrm>
              <a:off x="4428800" y="5517900"/>
              <a:ext cx="45719" cy="457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C0E1CED-10A6-449F-98C3-DDF4C454F239}"/>
                </a:ext>
              </a:extLst>
            </p:cNvPr>
            <p:cNvSpPr/>
            <p:nvPr/>
          </p:nvSpPr>
          <p:spPr>
            <a:xfrm>
              <a:off x="4210965" y="5517900"/>
              <a:ext cx="45719" cy="457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17" name="object 7">
            <a:extLst>
              <a:ext uri="{FF2B5EF4-FFF2-40B4-BE49-F238E27FC236}">
                <a16:creationId xmlns:a16="http://schemas.microsoft.com/office/drawing/2014/main" id="{6B93C6D1-BB3A-41D5-BE39-DA0267680C31}"/>
              </a:ext>
            </a:extLst>
          </p:cNvPr>
          <p:cNvSpPr txBox="1">
            <a:spLocks/>
          </p:cNvSpPr>
          <p:nvPr/>
        </p:nvSpPr>
        <p:spPr>
          <a:xfrm>
            <a:off x="1744663" y="4080735"/>
            <a:ext cx="641667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rgbClr val="8BDA1F"/>
                </a:solidFill>
                <a:latin typeface="나눔고딕"/>
                <a:ea typeface="+mj-ea"/>
                <a:cs typeface="나눔고딕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altLang="ko-KR" sz="2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en-US" sz="2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5123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264A302D-6036-434C-9A98-66798C05025E}"/>
              </a:ext>
            </a:extLst>
          </p:cNvPr>
          <p:cNvGrpSpPr/>
          <p:nvPr/>
        </p:nvGrpSpPr>
        <p:grpSpPr>
          <a:xfrm>
            <a:off x="4307039" y="2152712"/>
            <a:ext cx="1285876" cy="1285876"/>
            <a:chOff x="4338638" y="2389470"/>
            <a:chExt cx="1285876" cy="1285876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61F87A49-1BEB-4C74-A27B-B284D48E5D61}"/>
                </a:ext>
              </a:extLst>
            </p:cNvPr>
            <p:cNvSpPr/>
            <p:nvPr/>
          </p:nvSpPr>
          <p:spPr>
            <a:xfrm>
              <a:off x="4338638" y="2389470"/>
              <a:ext cx="1285876" cy="1285876"/>
            </a:xfrm>
            <a:prstGeom prst="ellipse">
              <a:avLst/>
            </a:prstGeom>
            <a:noFill/>
            <a:ln>
              <a:solidFill>
                <a:srgbClr val="6A87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kumimoji="1" lang="ko-KR" altLang="en-US" sz="6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C3E1209-FB7C-43DA-8193-D01A28D6E31E}"/>
                </a:ext>
              </a:extLst>
            </p:cNvPr>
            <p:cNvSpPr/>
            <p:nvPr/>
          </p:nvSpPr>
          <p:spPr>
            <a:xfrm>
              <a:off x="4472584" y="2523416"/>
              <a:ext cx="1017984" cy="1017984"/>
            </a:xfrm>
            <a:prstGeom prst="ellipse">
              <a:avLst/>
            </a:prstGeom>
            <a:solidFill>
              <a:srgbClr val="2C4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ko-KR" sz="4000" b="1" dirty="0">
                  <a:latin typeface="Arial" panose="020B0604020202020204" pitchFamily="34" charset="0"/>
                  <a:ea typeface="NanumGothic" panose="020D0604000000000000" pitchFamily="34" charset="-127"/>
                  <a:cs typeface="Arial" panose="020B0604020202020204" pitchFamily="34" charset="0"/>
                </a:rPr>
                <a:t>03</a:t>
              </a:r>
              <a:endParaRPr kumimoji="1" lang="ko-KR" altLang="en-US" sz="4000" b="1" dirty="0">
                <a:latin typeface="Arial" panose="020B0604020202020204" pitchFamily="34" charset="0"/>
                <a:ea typeface="NanumGothic" panose="020D0604000000000000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294415E-5B8D-458D-9C8F-0B138DCFA736}"/>
              </a:ext>
            </a:extLst>
          </p:cNvPr>
          <p:cNvSpPr txBox="1"/>
          <p:nvPr/>
        </p:nvSpPr>
        <p:spPr>
          <a:xfrm>
            <a:off x="4254711" y="1183024"/>
            <a:ext cx="1333383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3200">
                <a:latin typeface="Bahnschrift SemiBold" panose="020B0502040204020203" pitchFamily="34" charset="0"/>
                <a:ea typeface="나눔스퀘어 ExtraBold" panose="020B0600000101010101" pitchFamily="50" charset="-127"/>
              </a:defRPr>
            </a:lvl1pPr>
          </a:lstStyle>
          <a:p>
            <a:pPr algn="dist"/>
            <a:r>
              <a:rPr lang="en-US" altLang="ko-KR" sz="1200" dirty="0">
                <a:solidFill>
                  <a:srgbClr val="6A87BC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itchFamily="34" charset="0"/>
              </a:rPr>
              <a:t>CHAPTER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292274-E858-47B4-AECC-84777E91E469}"/>
              </a:ext>
            </a:extLst>
          </p:cNvPr>
          <p:cNvSpPr/>
          <p:nvPr/>
        </p:nvSpPr>
        <p:spPr>
          <a:xfrm>
            <a:off x="3348112" y="5726231"/>
            <a:ext cx="314657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세라믹 </a:t>
            </a:r>
            <a:r>
              <a:rPr lang="en-US" altLang="ko-KR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catholyte </a:t>
            </a: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기반 전극 성능 향상을 위한 단결정 </a:t>
            </a:r>
            <a:r>
              <a:rPr lang="ko-KR" altLang="en-US" sz="800" b="1" spc="-100" dirty="0" err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양극재</a:t>
            </a:r>
            <a:r>
              <a:rPr lang="ko-KR" altLang="en-US" sz="800" b="1" spc="-1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 제조 기술 개발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F844E90-34DD-457B-B44C-041D33764BF6}"/>
              </a:ext>
            </a:extLst>
          </p:cNvPr>
          <p:cNvGrpSpPr/>
          <p:nvPr/>
        </p:nvGrpSpPr>
        <p:grpSpPr>
          <a:xfrm>
            <a:off x="4818200" y="5172185"/>
            <a:ext cx="263554" cy="45719"/>
            <a:chOff x="4210965" y="5517900"/>
            <a:chExt cx="263554" cy="45719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2056618-D8E0-4C7B-9BB2-510DE0D6EEE6}"/>
                </a:ext>
              </a:extLst>
            </p:cNvPr>
            <p:cNvSpPr/>
            <p:nvPr/>
          </p:nvSpPr>
          <p:spPr>
            <a:xfrm>
              <a:off x="4319882" y="5517900"/>
              <a:ext cx="45719" cy="457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1B451465-366F-484B-8BB4-B98DF6DB9301}"/>
                </a:ext>
              </a:extLst>
            </p:cNvPr>
            <p:cNvSpPr/>
            <p:nvPr/>
          </p:nvSpPr>
          <p:spPr>
            <a:xfrm>
              <a:off x="4428800" y="5517900"/>
              <a:ext cx="45719" cy="45719"/>
            </a:xfrm>
            <a:prstGeom prst="ellipse">
              <a:avLst/>
            </a:prstGeom>
            <a:solidFill>
              <a:srgbClr val="E83F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C0E1CED-10A6-449F-98C3-DDF4C454F239}"/>
                </a:ext>
              </a:extLst>
            </p:cNvPr>
            <p:cNvSpPr/>
            <p:nvPr/>
          </p:nvSpPr>
          <p:spPr>
            <a:xfrm>
              <a:off x="4210965" y="5517900"/>
              <a:ext cx="45719" cy="457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17" name="object 7">
            <a:extLst>
              <a:ext uri="{FF2B5EF4-FFF2-40B4-BE49-F238E27FC236}">
                <a16:creationId xmlns:a16="http://schemas.microsoft.com/office/drawing/2014/main" id="{6B93C6D1-BB3A-41D5-BE39-DA0267680C31}"/>
              </a:ext>
            </a:extLst>
          </p:cNvPr>
          <p:cNvSpPr txBox="1">
            <a:spLocks/>
          </p:cNvSpPr>
          <p:nvPr/>
        </p:nvSpPr>
        <p:spPr>
          <a:xfrm>
            <a:off x="1744663" y="4080735"/>
            <a:ext cx="641667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rgbClr val="8BDA1F"/>
                </a:solidFill>
                <a:latin typeface="나눔고딕"/>
                <a:ea typeface="+mj-ea"/>
                <a:cs typeface="나눔고딕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ko-KR" altLang="en-US" sz="2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요청사항 및 논의 필요 사항</a:t>
            </a:r>
            <a:endParaRPr lang="en-US" sz="2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0920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01910-CC7B-B5D5-583F-B9A4BAA5B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모서리가 둥근 직사각형 246">
            <a:extLst>
              <a:ext uri="{FF2B5EF4-FFF2-40B4-BE49-F238E27FC236}">
                <a16:creationId xmlns:a16="http://schemas.microsoft.com/office/drawing/2014/main" id="{00602C30-70A5-4C42-97EB-875A2D13FFED}"/>
              </a:ext>
            </a:extLst>
          </p:cNvPr>
          <p:cNvSpPr/>
          <p:nvPr/>
        </p:nvSpPr>
        <p:spPr>
          <a:xfrm>
            <a:off x="665059" y="1187692"/>
            <a:ext cx="8575882" cy="5423101"/>
          </a:xfrm>
          <a:prstGeom prst="roundRect">
            <a:avLst>
              <a:gd name="adj" fmla="val 1947"/>
            </a:avLst>
          </a:prstGeom>
          <a:gradFill>
            <a:gsLst>
              <a:gs pos="0">
                <a:srgbClr val="FFFFFF"/>
              </a:gs>
              <a:gs pos="100000">
                <a:srgbClr val="FBFBFB"/>
              </a:gs>
            </a:gsLst>
            <a:lin ang="3000000" scaled="0"/>
          </a:gradFill>
          <a:ln w="6350" algn="ctr">
            <a:solidFill>
              <a:sysClr val="window" lastClr="FFFFFF">
                <a:lumMod val="85000"/>
              </a:sysClr>
            </a:solidFill>
            <a:miter lim="800000"/>
            <a:headEnd/>
            <a:tailEnd/>
          </a:ln>
        </p:spPr>
        <p:txBody>
          <a:bodyPr/>
          <a:lstStyle/>
          <a:p>
            <a:pPr defTabSz="914377"/>
            <a:endParaRPr kumimoji="1" lang="en-US" altLang="ko-KR" sz="1200" ker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defTabSz="914377"/>
            <a:endParaRPr kumimoji="1" lang="en-US" altLang="ko-KR" sz="1200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제목 38">
            <a:extLst>
              <a:ext uri="{FF2B5EF4-FFF2-40B4-BE49-F238E27FC236}">
                <a16:creationId xmlns:a16="http://schemas.microsoft.com/office/drawing/2014/main" id="{D8933D14-C2AD-4779-ACDA-E3393B8B5C43}"/>
              </a:ext>
            </a:extLst>
          </p:cNvPr>
          <p:cNvSpPr txBox="1">
            <a:spLocks/>
          </p:cNvSpPr>
          <p:nvPr/>
        </p:nvSpPr>
        <p:spPr>
          <a:xfrm>
            <a:off x="2105027" y="504264"/>
            <a:ext cx="6795647" cy="5128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29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j-cs"/>
              </a:defRPr>
            </a:lvl1pPr>
          </a:lstStyle>
          <a:p>
            <a:r>
              <a:rPr lang="ko-KR" altLang="en-US" sz="2400" b="1" dirty="0">
                <a:solidFill>
                  <a:srgbClr val="002060"/>
                </a:solidFill>
              </a:rPr>
              <a:t>요청사항 및 논의 필요 사항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39971FC2-86AD-4C43-B981-85CAFAF1B890}"/>
              </a:ext>
            </a:extLst>
          </p:cNvPr>
          <p:cNvCxnSpPr>
            <a:cxnSpLocks/>
          </p:cNvCxnSpPr>
          <p:nvPr/>
        </p:nvCxnSpPr>
        <p:spPr>
          <a:xfrm>
            <a:off x="908298" y="1632458"/>
            <a:ext cx="1196728" cy="0"/>
          </a:xfrm>
          <a:prstGeom prst="line">
            <a:avLst/>
          </a:prstGeom>
          <a:ln w="19050">
            <a:solidFill>
              <a:srgbClr val="243F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06BA3BA-1522-4931-9E16-97718236D463}"/>
              </a:ext>
            </a:extLst>
          </p:cNvPr>
          <p:cNvSpPr txBox="1"/>
          <p:nvPr/>
        </p:nvSpPr>
        <p:spPr>
          <a:xfrm>
            <a:off x="1038134" y="1316271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latin typeface="+mj-ea"/>
              </a:rPr>
              <a:t>요청 사항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A13F188-A261-4307-9D44-70DC4907CFE4}"/>
              </a:ext>
            </a:extLst>
          </p:cNvPr>
          <p:cNvSpPr/>
          <p:nvPr/>
        </p:nvSpPr>
        <p:spPr>
          <a:xfrm>
            <a:off x="908299" y="1336846"/>
            <a:ext cx="129835" cy="297404"/>
          </a:xfrm>
          <a:prstGeom prst="rect">
            <a:avLst/>
          </a:prstGeom>
          <a:solidFill>
            <a:srgbClr val="214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87A634-1CC0-5646-70B5-84815BBC17C1}"/>
              </a:ext>
            </a:extLst>
          </p:cNvPr>
          <p:cNvSpPr txBox="1"/>
          <p:nvPr/>
        </p:nvSpPr>
        <p:spPr>
          <a:xfrm>
            <a:off x="1006714" y="1743757"/>
            <a:ext cx="7509618" cy="1049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ko-KR" altLang="en-US" sz="1400" b="1" kern="0" dirty="0">
                <a:latin typeface="+mj-ea"/>
              </a:rPr>
              <a:t> </a:t>
            </a:r>
            <a:r>
              <a:rPr kumimoji="1" lang="ko-KR" altLang="en-US" sz="1400" b="1" kern="0" dirty="0" err="1">
                <a:latin typeface="+mj-ea"/>
              </a:rPr>
              <a:t>ㅇㅇ</a:t>
            </a:r>
            <a:r>
              <a:rPr kumimoji="1" lang="ko-KR" altLang="en-US" sz="1400" b="1" kern="0" dirty="0">
                <a:latin typeface="+mj-ea"/>
              </a:rPr>
              <a:t> 관련 요청사항</a:t>
            </a:r>
            <a:endParaRPr kumimoji="1" lang="en-US" altLang="ko-KR" sz="1400" b="1" kern="0" dirty="0">
              <a:latin typeface="+mj-ea"/>
            </a:endParaRPr>
          </a:p>
          <a:p>
            <a:pPr>
              <a:lnSpc>
                <a:spcPct val="150000"/>
              </a:lnSpc>
            </a:pPr>
            <a:endParaRPr kumimoji="1" lang="en-US" altLang="ko-KR" sz="500" b="1" kern="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b="1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1. </a:t>
            </a:r>
            <a:r>
              <a:rPr kumimoji="1" lang="ko-KR" altLang="en-US" sz="1200" b="1" kern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endParaRPr kumimoji="1" lang="en-US" altLang="ko-KR" sz="1200" b="1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</a:tabLst>
            </a:pPr>
            <a:r>
              <a:rPr kumimoji="1" lang="ko-KR" altLang="en-US" sz="1200" b="1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endParaRPr kumimoji="1" lang="en-US" altLang="ko-KR" sz="1200" b="1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7F02853-C430-4DBC-AD69-CC448F9AD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81" y="553480"/>
            <a:ext cx="1226705" cy="41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081162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2-1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28800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3세부 미세구조 · 공정 시뮬레이션 — 연구 목표 및 추진 내용</a:t>
            </a:r>
            <a:endParaRPr lang="en-US" altLang="ko-KR" sz="1400" b="1" kern="0" spc="-1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  </a:t>
            </a: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건식 황화물 복합양극의 미세구조 (조성 · 입도) 와 믹싱 공정을 시뮬레이션으로 예측해 이온 · 전자 경로가 좋은 설계 조건 제시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DEM 압축 모델로 전해질 함량 · 바이모달 비 (대:소 활물질) · 입경에 따른 공극률 · 굴곡도 · 전도도 정량화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건식 믹싱 DEM 으로 활물질 · 전해질 응집을 구현하고 활물질 표면 점착 (코팅 모사) 변화에 따른 혼합 균일성 평가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394000"/>
            <a:ext cx="2736000" cy="396000"/>
          </a:xfrm>
          <a:prstGeom prst="roundRect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① 전극 미세구조 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2826000"/>
            <a:ext cx="2736000" cy="46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맑은 고딕"/>
              </a:rPr>
              <a:t>DEM 분말 투입 · 300 MPa 압축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맑은 고딕"/>
              </a:rPr>
              <a:t>대 · 소 활물질 + 고체전해질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221999" y="2484000"/>
            <a:ext cx="288000" cy="216000"/>
          </a:xfrm>
          <a:prstGeom prst="rightArrow">
            <a:avLst/>
          </a:prstGeom>
          <a:solidFill>
            <a:srgbClr val="9A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36000" y="2394000"/>
            <a:ext cx="2736000" cy="396000"/>
          </a:xfrm>
          <a:prstGeom prst="roundRect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② 설계인자별 구조 · 수송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6000" y="2826000"/>
            <a:ext cx="2736000" cy="46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맑은 고딕"/>
              </a:rPr>
              <a:t>공극률 · 굴곡도 · 이온/전자 전도도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맑은 고딕"/>
              </a:rPr>
              <a:t>130 + 64 설계점 · 사양 5 조성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497999" y="2484000"/>
            <a:ext cx="288000" cy="216000"/>
          </a:xfrm>
          <a:prstGeom prst="rightArrow">
            <a:avLst/>
          </a:prstGeom>
          <a:solidFill>
            <a:srgbClr val="9A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12000" y="2394000"/>
            <a:ext cx="2736000" cy="396000"/>
          </a:xfrm>
          <a:prstGeom prst="roundRect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③ 건식 믹싱 균일성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2000" y="2826000"/>
            <a:ext cx="2736000" cy="46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맑은 고딕"/>
              </a:rPr>
              <a:t>점착 (vdW) 응집 구현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맑은 고딕"/>
              </a:rPr>
              <a:t>표면 점착 저감 (코팅 모사) 효과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3474000"/>
            <a:ext cx="9288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[ 2차년도 추진 현황 (2026-09-29) ]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60000" y="3761999"/>
          <a:ext cx="9288000" cy="20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000"/>
                <a:gridCol w="5220000"/>
                <a:gridCol w="2556000"/>
              </a:tblGrid>
              <a:tr h="342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DEM 압축 모델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대 · 소 활물질 + LPSCl · 300 MPa · 50 × 50 µm 주기 RVE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완료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설계점 데이터셋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라틴 하이퍼큐브 130 설계점 + 전해질 과량 64 설계점 (공극률 · 두께 · 접촉 위상)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인계 준비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사양 5 조성 (6 mAh/cm²)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대입자 9 µm · 대:소 = 10:0 · 7:3 · 5:5 · 3:7 · 0:10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공극률 완료 · 전도도 정리 중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건식 믹싱 캠페인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층상 장입 → 8 회전 · 점착 사다리 6 조건 + 기준 (13 런)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런 진행 중 (09-30 완주 예정)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코팅 조건 확장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고점착 조건 · 강성 민감도 사전 등록 · 외부 검토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설계 검토 중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2-2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28800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DEM 기반 복합양극 압축 모델</a:t>
            </a:r>
            <a:endParaRPr lang="en-US" altLang="ko-KR" sz="1400" b="1" kern="0" spc="-1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활물질 (NCM 대 · 소) 과 고체전해질 (LPSCl) 을 구형 입자로 두고 접촉력으로 운동방정식을 풀어 투입 → 침강 → 300 MPa 압축 → 이완을 재현 (LIGGGHTS)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접촉 = 탄성 접촉 + 하중/제하 이력 (잔류 겹침) 으로 소성 압밀을 대리 · 마찰 · 구름 저항 포함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전해질은 재배열 · 입계 미끄러짐을 담은 유효 탄성계수 1.35 GPa 사용 (실제 24 GPa · 순수 전해질 압축 겹침으로 보정)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286000"/>
            <a:ext cx="5112000" cy="4392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2322000"/>
            <a:ext cx="5112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지배 방정식 ]</a:t>
            </a:r>
          </a:p>
        </p:txBody>
      </p:sp>
      <mc:AlternateContent xmlns:mc="http://schemas.openxmlformats.org/markup-compatibility/2006" xmlns:m="http://schemas.openxmlformats.org/officeDocument/2006/math">
        <mc:Choice xmlns:a14="http://schemas.microsoft.com/office/drawing/2010/main" Requires="a14">
          <p:sp>
            <p:nvSpPr>
              <p:cNvPr id="18" name="수식 18"/>
              <p:cNvSpPr txBox="1"/>
              <p:nvPr/>
            </p:nvSpPr>
            <p:spPr>
              <a:xfrm>
                <a:off x="432000" y="2574000"/>
                <a:ext cx="4968000" cy="4031999"/>
              </a:xfrm>
              <a:prstGeom prst="rect">
                <a:avLst/>
              </a:prstGeom>
              <a:noFill/>
            </p:spPr>
            <p:txBody>
              <a:bodyPr wrap="square" lIns="72000" tIns="36000" rIns="36000" bIns="36000" rtlCol="0">
                <a:no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f>
                        <m:num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1"/>
                        </m:naryPr>
                        <m:sub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/>
                        <m:e>
                          <m:d>
                            <m:dPr>
                              <m:begChr m:val="("/>
                              <m:endChr m:val=")"/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n,ij</m:t>
                                  </m:r>
                                </m:sub>
                              </m:s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t,ij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b"/>
                        </m:rPr>
                        <a:rPr lang="en-US" altLang="ko-KR" sz="1300" dirty="0">
                          <a:latin typeface="Cambria Math" panose="02040503050406030204" pitchFamily="18" charset="0"/>
                        </a:rPr>
                        <m:t>g</m:t>
                      </m:r>
                    </m:oMath>
                  </m:oMathPara>
                </a14:m>
                <a:endParaRPr lang="en-US" altLang="ko-KR" sz="1300" dirty="0"/>
              </a:p>
              <a:p>
                <a:pPr>
                  <a:spcBef>
                    <a:spcPts val="6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f>
                        <m:num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1"/>
                        </m:naryPr>
                        <m:sub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/>
                        <m:e>
                          <m:d>
                            <m:dPr>
                              <m:begChr m:val="("/>
                              <m:endChr m:val=")"/>
                            </m:dPr>
                            <m:e>
                              <m:sSub>
                                <m:e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ij</m:t>
                                  </m:r>
                                </m:sub>
                              </m:s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t,ij</m:t>
                                  </m:r>
                                </m:sub>
                              </m:s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r,ij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1300" dirty="0"/>
              </a:p>
              <a:p>
                <a:pPr>
                  <a:spcBef>
                    <a:spcPts val="6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sSub>
                                <m:e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,     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loading</m:t>
                              </m:r>
                            </m:e>
                            <m:e>
                              <m:sSub>
                                <m:e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en-US" altLang="ko-KR" sz="1300" dirty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</m:e>
                                    <m:sub>
                                      <m:r>
                                        <a:rPr lang="en-US" altLang="ko-KR" sz="1300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,   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unloading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sz="1300" dirty="0"/>
              </a:p>
              <a:p>
                <a:pPr>
                  <a:spcBef>
                    <a:spcPts val="6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f>
                        <m:num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*</m:t>
                              </m:r>
                            </m:sup>
                          </m:sSup>
                        </m:den>
                      </m:f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ν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num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ν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,   </m:t>
                      </m:r>
                      <m:f>
                        <m:num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*</m:t>
                              </m:r>
                            </m:sup>
                          </m:sSup>
                        </m:den>
                      </m:f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num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1300" dirty="0"/>
              </a:p>
              <a:p>
                <a:pPr>
                  <a:spcBef>
                    <a:spcPts val="6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|"/>
                          <m:endChr m:val="|"/>
                        </m:dPr>
                        <m:e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μ</m:t>
                      </m:r>
                      <m:d>
                        <m:dPr>
                          <m:begChr m:val="|"/>
                          <m:endChr m:val="|"/>
                        </m:dPr>
                        <m:e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,   </m:t>
                      </m:r>
                      <m:d>
                        <m:dPr>
                          <m:begChr m:val="|"/>
                          <m:endChr m:val="|"/>
                        </m:dPr>
                        <m:e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e>
                      </m:d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sSup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*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</m:dPr>
                        <m:e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300" dirty="0"/>
              </a:p>
              <a:p>
                <a:pPr>
                  <a:spcBef>
                    <a:spcPts val="6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sSub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plate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box</m:t>
                              </m:r>
                            </m:sub>
                          </m:sSub>
                        </m:den>
                      </m:f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300" dirty="0">
                          <a:latin typeface="Cambria Math" panose="02040503050406030204" pitchFamily="18" charset="0"/>
                        </a:rPr>
                        <m:t>300 MPa</m:t>
                      </m:r>
                    </m:oMath>
                  </m:oMathPara>
                </a14:m>
                <a:endParaRPr lang="en-US" altLang="ko-KR" sz="1300" dirty="0"/>
              </a:p>
            </p:txBody>
          </p:sp>
        </mc:Choice>
        <mc:Fallback>
          <p:sp>
            <p:nvSpPr>
              <p:cNvPr id="18" name="수식 18"/>
              <p:cNvSpPr txBox="1"/>
              <p:nvPr/>
            </p:nvSpPr>
            <p:spPr>
              <a:xfrm>
                <a:off x="432000" y="2574000"/>
                <a:ext cx="4968000" cy="4031999"/>
              </a:xfrm>
              <a:prstGeom prst="rect">
                <a:avLst/>
              </a:prstGeom>
              <a:noFill/>
            </p:spPr>
            <p:txBody>
              <a:bodyPr wrap="square" lIns="72000" tIns="36000" rIns="36000" bIns="36000" rtlCol="0"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altLang="ko-KR" sz="1300" dirty="0">
                    <a:latin typeface="Cambria Math"/>
                  </a:rPr>
                  <a:t>m_i dv_i/dt = Σ_j (F_n,ij + F_t,ij) + m_i g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ko-KR" sz="1300" dirty="0">
                    <a:latin typeface="Cambria Math"/>
                  </a:rPr>
                  <a:t>I_i dω_i/dt = Σ_j (R_i n_ij × F_t,ij + M_r,ij)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ko-KR" sz="1300" dirty="0">
                    <a:latin typeface="Cambria Math"/>
                  </a:rPr>
                  <a:t>F_n = k1·δ (하중) · k2·(δ − δ0) (제하), k2 &gt; k1 → 잔류 겹침 δ0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ko-KR" sz="1300" dirty="0">
                    <a:latin typeface="Cambria Math"/>
                  </a:rPr>
                  <a:t>1/E* = (1−νi²)/Ei + (1−νj²)/Ej ,  1/R* = 1/Ri + 1/Rj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ko-KR" sz="1300" dirty="0">
                    <a:latin typeface="Cambria Math"/>
                  </a:rPr>
                  <a:t>|F_t| ≤ μ|F_n| ,  |M_r| ≤ μ_r R*|F_n|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ko-KR" sz="1300" dirty="0">
                    <a:latin typeface="Cambria Math"/>
                  </a:rPr>
                  <a:t>P = F_plate / A_box = 300 MPa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616000" y="2322000"/>
            <a:ext cx="4031999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입력 물성 (덱 값) ]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16000" y="2610000"/>
          <a:ext cx="4031996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332"/>
                <a:gridCol w="634666"/>
                <a:gridCol w="597333"/>
                <a:gridCol w="410666"/>
                <a:gridCol w="671999"/>
              </a:tblGrid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지름 (µm)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E (GPa)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ν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ρ (g/cm³)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대입자 AM (다결정 NCM)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9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140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0.25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4.8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소입자 AM (단결정 NCM)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4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140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0.25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4.8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고체전해질 LPSCl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1.35 *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0.30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2.0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616000" y="3798000"/>
            <a:ext cx="4031999" cy="432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900" b="0">
                <a:solidFill>
                  <a:srgbClr val="555B66"/>
                </a:solidFill>
                <a:latin typeface="맑은 고딕"/>
              </a:rPr>
              <a:t>* 유효값 (실제 bulk 24 GPa) — 강체 구가 못 담는 재배열 · 입계 미끄러짐 · 미세 파쇄를</a:t>
            </a:r>
          </a:p>
          <a:p>
            <a:pPr algn="l"/>
            <a:r>
              <a:rPr sz="900" b="0">
                <a:solidFill>
                  <a:srgbClr val="555B66"/>
                </a:solidFill>
                <a:latin typeface="맑은 고딕"/>
              </a:rPr>
              <a:t>   탄성계수 하나에 담은 규약 (순수 전해질 압축 겹침으로 보정)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6000" y="4301999"/>
            <a:ext cx="4031999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압축 과정 ]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16000" y="4590000"/>
          <a:ext cx="4031998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999"/>
                <a:gridCol w="2951999"/>
              </a:tblGrid>
              <a:tr h="259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투입 · 침강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질량비대로 무작위 투입 → 중력 침강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압축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플래튼 하강 → 300 MPa 도달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이완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플래튼 고정 → 잔류 응력 이완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경계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x · y 주기 · 바닥 벽 · 50 × 50 µm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16000" y="5957999"/>
            <a:ext cx="4031999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900" b="0">
                <a:solidFill>
                  <a:srgbClr val="555B66"/>
                </a:solidFill>
                <a:latin typeface="맑은 고딕"/>
              </a:rPr>
              <a:t>접촉 모델: LIGGGHTS hooke/hysteresis + tangential history</a:t>
            </a:r>
          </a:p>
          <a:p>
            <a:pPr algn="l"/>
            <a:r>
              <a:rPr sz="900" b="0">
                <a:solidFill>
                  <a:srgbClr val="555B66"/>
                </a:solidFill>
                <a:latin typeface="맑은 고딕"/>
              </a:rPr>
              <a:t>+ rolling friction (CDT)  ·  덱 in.ps_*_r45.liggghts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2-3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28800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미세구조 · 수송 성능 지표 정의</a:t>
            </a:r>
            <a:endParaRPr lang="en-US" altLang="ko-KR" sz="1400" b="1" kern="0" spc="-1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공극률은 겹친 입자를 한 번만 센 기하 공극률 (union) 로 보고 — 구 부피 단순 합은 겹침을 두 번 세어 공극을 작게 셈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굴곡도 = 전해질 접촉망의 최단 경로 길이 / 전극 두께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이온 · 전자 전도도 = 입자 접촉망에 접촉 협착 저항 (Holm) 을 두고 Kirchhoff 방정식을 풀어 산출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2322000"/>
            <a:ext cx="4896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지표 ]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2610000"/>
          <a:ext cx="4895996" cy="22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999"/>
                <a:gridCol w="647999"/>
                <a:gridCol w="611999"/>
                <a:gridCol w="2339999"/>
              </a:tblGrid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기호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단위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뜻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공극률 (union)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ε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%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입자에 속하지 않는 부피 비율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두께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L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µm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압축 · 이완 뒤 플래튼 높이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굴곡도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τ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–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전해질 경로 길이 / 두께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이온 전도도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σ_ion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mS/cm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전해질 접촉망 유효 전도도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전자 전도도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σ_e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mS/cm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활물질 접촉망 유효 전도도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전해질 배위수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CN_SE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–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전해질 1 개당 전해질 접촉 수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피복률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θ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%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활물질 표면 중 전해질 접촉 비율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72000" y="2286000"/>
            <a:ext cx="4176000" cy="4392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72000" y="2322000"/>
            <a:ext cx="4176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계산식 ]</a:t>
            </a:r>
          </a:p>
        </p:txBody>
      </p:sp>
      <mc:AlternateContent xmlns:mc="http://schemas.openxmlformats.org/markup-compatibility/2006" xmlns:m="http://schemas.openxmlformats.org/officeDocument/2006/math">
        <mc:Choice xmlns:a14="http://schemas.microsoft.com/office/drawing/2010/main" Requires="a14">
          <p:sp>
            <p:nvSpPr>
              <p:cNvPr id="20" name="수식 20"/>
              <p:cNvSpPr txBox="1"/>
              <p:nvPr/>
            </p:nvSpPr>
            <p:spPr>
              <a:xfrm>
                <a:off x="5544000" y="2574000"/>
                <a:ext cx="4031999" cy="3096000"/>
              </a:xfrm>
              <a:prstGeom prst="rect">
                <a:avLst/>
              </a:prstGeom>
              <a:noFill/>
            </p:spPr>
            <p:txBody>
              <a:bodyPr wrap="square" lIns="72000" tIns="36000" rIns="36000" bIns="36000" rtlCol="0">
                <a:noAutofit/>
              </a:bodyPr>
              <a:lstStyle/>
              <a:p>
                <a:pPr>
                  <a:spcBef>
                    <a:spcPts val="8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num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begChr m:val="("/>
                              <m:endChr m:val=")"/>
                            </m:dPr>
                            <m:e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nary>
                                    <m:naryPr>
                                      <m:chr m:val="⋃"/>
                                      <m:limLoc m:val="undOvr"/>
                                      <m:supHide m:val="1"/>
                                    </m:naryPr>
                                    <m:sub>
                                      <m:r>
                                        <a:rPr lang="en-US" altLang="ko-KR" sz="1300" dirty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  <m:sup/>
                                    <m:e>
                                      <m:sSub>
                                        <m:e>
                                          <m:r>
                                            <a:rPr lang="en-US" altLang="ko-KR" sz="1300" dirty="0">
                                              <a:latin typeface="Cambria Math" panose="02040503050406030204" pitchFamily="18" charset="0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300" dirty="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</m:num>
                        <m:den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begChr m:val="("/>
                              <m:endChr m:val=")"/>
                            </m:dPr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ko-KR" sz="1300" dirty="0"/>
              </a:p>
              <a:p>
                <a:pPr>
                  <a:spcBef>
                    <a:spcPts val="8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sSub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path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1300" dirty="0"/>
              </a:p>
              <a:p>
                <a:pPr>
                  <a:spcBef>
                    <a:spcPts val="8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nary>
                        <m:naryPr>
                          <m:chr m:val="∑"/>
                          <m:limLoc m:val="undOvr"/>
                          <m:supHide m:val="1"/>
                        </m:naryPr>
                        <m:sub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/>
                        <m:e>
                          <m:f>
                            <m:num>
                              <m:sSub>
                                <m:e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ko-KR" sz="1300" dirty="0">
                                      <a:latin typeface="Cambria Math" panose="02040503050406030204" pitchFamily="18" charset="0"/>
                                    </a:rPr>
                                    <m:t>ij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ko-KR" sz="1300" dirty="0"/>
              </a:p>
              <a:p>
                <a:pPr>
                  <a:spcBef>
                    <a:spcPts val="8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σ</m:t>
                          </m:r>
                          <m:sSub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1300" dirty="0"/>
              </a:p>
              <a:p>
                <a:pPr>
                  <a:spcBef>
                    <a:spcPts val="8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eff</m:t>
                          </m:r>
                        </m:sub>
                      </m:sSub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I</m:t>
                          </m:r>
                          <m:sSub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V</m:t>
                          </m:r>
                        </m:den>
                      </m:f>
                    </m:oMath>
                  </m:oMathPara>
                </a14:m>
                <a:endParaRPr lang="en-US" altLang="ko-KR" sz="1300" dirty="0"/>
              </a:p>
            </p:txBody>
          </p:sp>
        </mc:Choice>
        <mc:Fallback>
          <p:sp>
            <p:nvSpPr>
              <p:cNvPr id="20" name="수식 20"/>
              <p:cNvSpPr txBox="1"/>
              <p:nvPr/>
            </p:nvSpPr>
            <p:spPr>
              <a:xfrm>
                <a:off x="5544000" y="2574000"/>
                <a:ext cx="4031999" cy="3096000"/>
              </a:xfrm>
              <a:prstGeom prst="rect">
                <a:avLst/>
              </a:prstGeom>
              <a:noFill/>
            </p:spPr>
            <p:txBody>
              <a:bodyPr wrap="square" lIns="72000" tIns="36000" rIns="36000" bIns="36000" rtlCol="0">
                <a:noAutofit/>
              </a:bodyPr>
              <a:lstStyle/>
              <a:p>
                <a:pPr>
                  <a:spcBef>
                    <a:spcPts val="800"/>
                  </a:spcBef>
                </a:pPr>
                <a:r>
                  <a:rPr lang="en-US" altLang="ko-KR" sz="1300" dirty="0">
                    <a:latin typeface="Cambria Math"/>
                  </a:rPr>
                  <a:t>ε = 1 − V(∪ B_i ∩ Ω) / V(Ω)</a:t>
                </a:r>
              </a:p>
              <a:p>
                <a:pPr>
                  <a:spcBef>
                    <a:spcPts val="800"/>
                  </a:spcBef>
                </a:pPr>
                <a:r>
                  <a:rPr lang="en-US" altLang="ko-KR" sz="1300" dirty="0">
                    <a:latin typeface="Cambria Math"/>
                  </a:rPr>
                  <a:t>τ = L_path / L_z</a:t>
                </a:r>
              </a:p>
              <a:p>
                <a:pPr>
                  <a:spcBef>
                    <a:spcPts val="800"/>
                  </a:spcBef>
                </a:pPr>
                <a:r>
                  <a:rPr lang="en-US" altLang="ko-KR" sz="1300" dirty="0">
                    <a:latin typeface="Cambria Math"/>
                  </a:rPr>
                  <a:t>Σ_j (φ_i − φ_j) / R_ij = 0</a:t>
                </a:r>
              </a:p>
              <a:p>
                <a:pPr>
                  <a:spcBef>
                    <a:spcPts val="800"/>
                  </a:spcBef>
                </a:pPr>
                <a:r>
                  <a:rPr lang="en-US" altLang="ko-KR" sz="1300" dirty="0">
                    <a:latin typeface="Cambria Math"/>
                  </a:rPr>
                  <a:t>R_ij = 1 / (2σ a_ij)   (Holm 협착)</a:t>
                </a:r>
              </a:p>
              <a:p>
                <a:pPr>
                  <a:spcBef>
                    <a:spcPts val="800"/>
                  </a:spcBef>
                </a:pPr>
                <a:r>
                  <a:rPr lang="en-US" altLang="ko-KR" sz="1300" dirty="0">
                    <a:latin typeface="Cambria Math"/>
                  </a:rPr>
                  <a:t>σ_eff = I L_z / (A ΔV)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5580000" y="5742000"/>
            <a:ext cx="3960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950" b="0">
                <a:solidFill>
                  <a:srgbClr val="555B66"/>
                </a:solidFill>
                <a:latin typeface="맑은 고딕"/>
              </a:rPr>
              <a:t>B_i: 입자 i 의 구 · Ω: 전극 상자 (x · y 주기)</a:t>
            </a:r>
          </a:p>
          <a:p>
            <a:pPr algn="l"/>
            <a:r>
              <a:rPr sz="950" b="0">
                <a:solidFill>
                  <a:srgbClr val="555B66"/>
                </a:solidFill>
                <a:latin typeface="맑은 고딕"/>
              </a:rPr>
              <a:t>a_ij: 접촉 반지름 · φ: 전위 · ΔV: 인가 전위차</a:t>
            </a:r>
          </a:p>
          <a:p>
            <a:pPr algn="l"/>
            <a:r>
              <a:rPr sz="950" b="0">
                <a:solidFill>
                  <a:srgbClr val="555B66"/>
                </a:solidFill>
                <a:latin typeface="맑은 고딕"/>
              </a:rPr>
              <a:t>union 은 무작위 점 4×10⁶ 개로 계산 (오차 ±0.02 %p)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2-4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28800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설계인자 정의 및 설계점 데이터셋</a:t>
            </a:r>
            <a:endParaRPr lang="en-US" altLang="ko-KR" sz="1400" b="1" kern="0" spc="-1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전해질 함량 (활물질 wt%) · 바이모달 비 (대:소) · 대 · 소 활물질 입경 · 전해질 입경을 핵심 설계인자로 선정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이종기술 사양 (6 mAh/cm² · 대입자 9 µm) 을 기준으로 바이모달 비 5 조성 압축 계산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라틴 하이퍼큐브로 130 설계점 (+ 전해질 과량 64 설계점) 을 만들어 설계공간 전반의 구조 데이터 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2322000"/>
            <a:ext cx="5544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설계인자 ]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2610000"/>
          <a:ext cx="5543998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999"/>
                <a:gridCol w="1007999"/>
                <a:gridCol w="1584000"/>
                <a:gridCol w="792000"/>
              </a:tblGrid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설계인자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기준 (사양)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탐색 범위 (130 설계점)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단위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활물질 함량 (나머지 = 전해질)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81.6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70 – 95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wt%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바이모달 비 (대 : 소)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7 : 3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0:10 – 10:0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질량비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대입자 입경 D_P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9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5 – 15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µm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소입자 입경 D_S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4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 – 5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µm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전해질 입경 D_SE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 – 2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µm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압력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300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300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MPa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면용량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6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2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mAh/cm²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120000" y="2322000"/>
            <a:ext cx="3528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데이터셋 ]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120000" y="2610000"/>
          <a:ext cx="352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000"/>
                <a:gridCol w="576000"/>
                <a:gridCol w="1440000"/>
              </a:tblGrid>
              <a:tr h="324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묶음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건수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공극률 union (%)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130 설계점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130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13.6  (6.1 – 28.8)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전해질 과량 설계점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64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6.6  (5.4 – 9.4)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사양 5 조성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5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17.7  (16.5 – 20.6)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120000" y="4050000"/>
            <a:ext cx="3528000" cy="1260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맑은 고딕"/>
              </a:rPr>
              <a:t>공극률 = 중앙 (최소 – 최대)</a:t>
            </a:r>
          </a:p>
          <a:p>
            <a:pPr algn="l"/>
            <a:r>
              <a:rPr sz="1000" b="0">
                <a:solidFill>
                  <a:srgbClr val="555B66"/>
                </a:solidFill>
                <a:latin typeface="맑은 고딕"/>
              </a:rPr>
              <a:t>설계점마다 두께 · 공극률 · 전해질/활물질 부피분율 · 피복률 · 접촉 위상 (배위수) 을 표로 정리해 ML 담당에게 인계 준비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2-5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28800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기준 전극 (대:소 = 7:3) 의 3차원 압축 구조</a:t>
            </a:r>
            <a:endParaRPr lang="en-US" altLang="ko-KR" sz="1400" b="1" kern="0" spc="-1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 mAh/cm² · 300 MPa 압축 뒤 두께 111.1 µm · 공극률 (union) 16.5 %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대입자 사이를 소입자와 전해질이 채우는 바이모달 충전 구조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웹앱 3D 뷰어로 상별 분포 · 전해질 접촉망 · 공극 위치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2322000"/>
            <a:ext cx="3024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[ 3D 구조 (압축 뒤)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2610000"/>
            <a:ext cx="3024000" cy="4031999"/>
          </a:xfrm>
          <a:prstGeom prst="rect">
            <a:avLst/>
          </a:prstGeom>
          <a:solidFill>
            <a:srgbClr val="F3F4F6"/>
          </a:solidFill>
          <a:ln>
            <a:solidFill>
              <a:srgbClr val="9AA0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6B7078"/>
                </a:solidFill>
                <a:latin typeface="맑은 고딕"/>
              </a:rPr>
              <a:t>[그림 자리]</a:t>
            </a:r>
          </a:p>
          <a:p>
            <a:pPr algn="ctr"/>
            <a:r>
              <a:rPr sz="1050">
                <a:solidFill>
                  <a:srgbClr val="6B7078"/>
                </a:solidFill>
                <a:latin typeface="맑은 고딕"/>
              </a:rPr>
              <a:t>웹앱 3D 뷰어</a:t>
            </a:r>
          </a:p>
          <a:p>
            <a:pPr algn="ctr"/>
            <a:r>
              <a:rPr sz="1050">
                <a:solidFill>
                  <a:srgbClr val="6B7078"/>
                </a:solidFill>
                <a:latin typeface="맑은 고딕"/>
              </a:rPr>
              <a:t>input_6mAh_real_4_D9 (7:3)</a:t>
            </a:r>
          </a:p>
          <a:p>
            <a:pPr algn="ctr"/>
            <a:r>
              <a:rPr sz="1050">
                <a:solidFill>
                  <a:srgbClr val="6B7078"/>
                </a:solidFill>
                <a:latin typeface="맑은 고딕"/>
              </a:rPr>
              <a:t>상별 색: 대 · 소 활물질 · 전해질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1999" y="2322000"/>
            <a:ext cx="3024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단면 · 전해질 접촉망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1999" y="2610000"/>
            <a:ext cx="3024000" cy="4031999"/>
          </a:xfrm>
          <a:prstGeom prst="rect">
            <a:avLst/>
          </a:prstGeom>
          <a:solidFill>
            <a:srgbClr val="F3F4F6"/>
          </a:solidFill>
          <a:ln>
            <a:solidFill>
              <a:srgbClr val="9AA0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6B7078"/>
                </a:solidFill>
                <a:latin typeface="맑은 고딕"/>
              </a:rPr>
              <a:t>[그림 자리]</a:t>
            </a:r>
          </a:p>
          <a:p>
            <a:pPr algn="ctr"/>
            <a:r>
              <a:rPr sz="1050">
                <a:solidFill>
                  <a:srgbClr val="6B7078"/>
                </a:solidFill>
                <a:latin typeface="맑은 고딕"/>
              </a:rPr>
              <a:t>2D 단면 (xz) 또는</a:t>
            </a:r>
          </a:p>
          <a:p>
            <a:pPr algn="ctr"/>
            <a:r>
              <a:rPr sz="1050">
                <a:solidFill>
                  <a:srgbClr val="6B7078"/>
                </a:solidFill>
                <a:latin typeface="맑은 고딕"/>
              </a:rPr>
              <a:t>전해질 퍼콜레이션 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3999" y="2322000"/>
            <a:ext cx="3024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주요 값 ]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623999" y="2610000"/>
          <a:ext cx="3024000" cy="25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00"/>
                <a:gridCol w="1440000"/>
              </a:tblGrid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두께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111.1 µm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공극률 (union)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16.49 %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공극률 (구 부피 합)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14.95 %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대 / 소 활물질 수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280 / 1,376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전해질 입자 수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약 15.9 만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σ_ion (mS/cm)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B6834"/>
                          </a:solidFill>
                          <a:latin typeface="맑은 고딕"/>
                        </a:rPr>
                        <a:t>⬜ 웹앱 값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σ_e (mS/cm)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B6834"/>
                          </a:solidFill>
                          <a:latin typeface="맑은 고딕"/>
                        </a:rPr>
                        <a:t>⬜ 웹앱 값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굴곡도 τ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B6834"/>
                          </a:solidFill>
                          <a:latin typeface="맑은 고딕"/>
                        </a:rPr>
                        <a:t>⬜ 웹앱 값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2-6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28800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바이모달 비 (대:소) 에 따른 공극률 — 7:3 에서 가장 치밀</a:t>
            </a:r>
            <a:endParaRPr lang="en-US" altLang="ko-KR" sz="1400" b="1" kern="0" spc="-1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사양 5 조성에서 공극률 (union) 은 대:소 = 7:3 에서 16.5 % 로 가장 낮고 소입자만 (0:10) 20.6 % 로 가장 높음 · 두께도 7:3 이 최소 (111.1 µm)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소입자가 대입자 사이 틈을 채우는 바이모달 충전 효과 — 대입자만 (10:0) 보다도 낮음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130 설계점에서 전해질 함량 · 입경을 보정해도 대입자 몫 0.7 (7:3) 부근에서 공극률이 가장 낮게 남음 (보정 R² 0.86)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2322000"/>
            <a:ext cx="4536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사양 5 조성 (6 mAh/cm² · 대입자 9 µm · 300 MPa) ]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360000" y="2574000"/>
          <a:ext cx="4536000" cy="3024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0000" y="5670000"/>
          <a:ext cx="4536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00"/>
                <a:gridCol w="756000"/>
                <a:gridCol w="756000"/>
                <a:gridCol w="756000"/>
                <a:gridCol w="756000"/>
                <a:gridCol w="756000"/>
              </a:tblGrid>
              <a:tr h="251999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대 : 소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0:10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3:7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5:5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7:3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10:0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</a:tr>
              <a:tr h="251999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두께 (µm)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117.2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114.4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112.4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111.1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112.6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112000" y="2322000"/>
            <a:ext cx="4536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[ 130 설계점 — 전해질 함량 · 입경 보정 뒤 공극률 편차 ]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112000" y="2574000"/>
          <a:ext cx="4536000" cy="3024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112000" y="5634000"/>
            <a:ext cx="4536000" cy="93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900" b="0">
                <a:solidFill>
                  <a:srgbClr val="555B66"/>
                </a:solidFill>
                <a:latin typeface="맑은 고딕"/>
              </a:rPr>
              <a:t>편차 = ln(공극률) 을 전해질 부피분율 (2차) · 전해질 입경으로 회귀한 잔차의 조성별 중앙값 (조성당 10–15 점 · 2 mAh/cm²)</a:t>
            </a:r>
          </a:p>
          <a:p>
            <a:pPr algn="l"/>
            <a:r>
              <a:rPr sz="900" b="0">
                <a:solidFill>
                  <a:srgbClr val="555B66"/>
                </a:solidFill>
                <a:latin typeface="맑은 고딕"/>
              </a:rPr>
              <a:t>음수 = 같은 전해질 함량에서 더 치밀</a:t>
            </a:r>
          </a:p>
          <a:p>
            <a:pPr algn="l"/>
            <a:r>
              <a:rPr sz="900" b="0">
                <a:solidFill>
                  <a:srgbClr val="555B66"/>
                </a:solidFill>
                <a:latin typeface="맑은 고딕"/>
              </a:rPr>
              <a:t>⚠ 사양 5 조성은 조성당 침대 1 개 — 시드 산포 미측정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2-7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28800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전해질 함량 · 입경의 영향 (130 설계점)</a:t>
            </a:r>
            <a:endParaRPr lang="en-US" altLang="ko-KR" sz="1400" b="1" kern="0" spc="-1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공극률을 가장 크게 좌우하는 인자는 전해질 함량 — 고체 중 전해질 부피 20 % 미만 24.2 % → 50 % 이상 7.3 % (중앙값)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전해질이 대 · 소 활물질 틈을 채우므로 함량이 늘수록 공극이 줄고 두께가 얇아짐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대입자 입경 (5 – 15 µm) 의 단독 효과는 작음 — 입경 구간별 중앙값 12 – 15 %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2322000"/>
            <a:ext cx="4536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고체 중 전해질 부피분율 ]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360000" y="2574000"/>
          <a:ext cx="4536000" cy="3384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60000" y="5994000"/>
            <a:ext cx="4536000" cy="432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900" b="0">
                <a:solidFill>
                  <a:srgbClr val="555B66"/>
                </a:solidFill>
                <a:latin typeface="맑은 고딕"/>
              </a:rPr>
              <a:t>구간별 점 수: &lt; 20 21 · 20–30 47 · 30–40 21 · 40–50 20 · ≥ 50 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2000" y="2322000"/>
            <a:ext cx="4536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대입자 입경 D_P ]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112000" y="2574000"/>
          <a:ext cx="4536000" cy="3384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112000" y="5994000"/>
            <a:ext cx="4536000" cy="432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900" b="0">
                <a:solidFill>
                  <a:srgbClr val="555B66"/>
                </a:solidFill>
                <a:latin typeface="맑은 고딕"/>
              </a:rPr>
              <a:t>구간별 점 수: 5–7 21 · 7–9 20 · 9–11 23 · 11–13 21 · 13–15 30 (소입자만 15 점 제외)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2-8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28800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바이모달 비에 따른 전도도 · 굴곡도 (사양 5 조성)</a:t>
            </a:r>
            <a:endParaRPr lang="en-US" altLang="ko-KR" sz="1400" b="1" kern="0" spc="-1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 조성의 이온 · 전자 전도도와 굴곡도를 웹앱 접촉망 해석으로 산출 — ⬜ 값 정리 중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⬜ (값 입력 뒤 문장 확정) 7:3 의 σ_ion · σ_e · τ 를 단일 입도 (10:0 · 0:10) 와 비교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공극률이 가장 낮은 7:3 이 이온 경로 연결성 (배위수 · 퍼콜레이션) 에서도 유리한지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2322000"/>
            <a:ext cx="9288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사양 5 조성 — 구조 · 수송 지표 ]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2610000"/>
          <a:ext cx="9288000" cy="18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000"/>
                <a:gridCol w="1161000"/>
                <a:gridCol w="1161000"/>
                <a:gridCol w="1161000"/>
                <a:gridCol w="1161000"/>
                <a:gridCol w="1161000"/>
                <a:gridCol w="1161000"/>
                <a:gridCol w="1161000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대 : 소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공극률 union (%)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두께 (µm)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σ_ion (mS/cm)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σ_e (mS/cm)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굴곡도 τ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CN_SE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퍼콜레이션 (%)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0:10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20.59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117.2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3:7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18.67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114.4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5:5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17.67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112.4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7:3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16.49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111.1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10:0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16.90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112.6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60000" y="4590000"/>
            <a:ext cx="4536000" cy="2015999"/>
          </a:xfrm>
          <a:prstGeom prst="rect">
            <a:avLst/>
          </a:prstGeom>
          <a:solidFill>
            <a:srgbClr val="F3F4F6"/>
          </a:solidFill>
          <a:ln>
            <a:solidFill>
              <a:srgbClr val="9AA0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6B7078"/>
                </a:solidFill>
                <a:latin typeface="맑은 고딕"/>
              </a:rPr>
              <a:t>[차트 자리]</a:t>
            </a:r>
          </a:p>
          <a:p>
            <a:pPr algn="ctr"/>
            <a:r>
              <a:rPr sz="1050">
                <a:solidFill>
                  <a:srgbClr val="6B7078"/>
                </a:solidFill>
                <a:latin typeface="맑은 고딕"/>
              </a:rPr>
              <a:t>σ_ion · σ_e vs 대:소</a:t>
            </a:r>
          </a:p>
          <a:p>
            <a:pPr algn="ctr"/>
            <a:r>
              <a:rPr sz="1050">
                <a:solidFill>
                  <a:srgbClr val="6B7078"/>
                </a:solidFill>
                <a:latin typeface="맑은 고딕"/>
              </a:rPr>
              <a:t>(값 입력 뒤 생성)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12000" y="4590000"/>
            <a:ext cx="4536000" cy="2015999"/>
          </a:xfrm>
          <a:prstGeom prst="rect">
            <a:avLst/>
          </a:prstGeom>
          <a:solidFill>
            <a:srgbClr val="F3F4F6"/>
          </a:solidFill>
          <a:ln>
            <a:solidFill>
              <a:srgbClr val="9AA0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6B7078"/>
                </a:solidFill>
                <a:latin typeface="맑은 고딕"/>
              </a:rPr>
              <a:t>[차트 자리]</a:t>
            </a:r>
          </a:p>
          <a:p>
            <a:pPr algn="ctr"/>
            <a:r>
              <a:rPr sz="1050">
                <a:solidFill>
                  <a:srgbClr val="6B7078"/>
                </a:solidFill>
                <a:latin typeface="맑은 고딕"/>
              </a:rPr>
              <a:t>굴곡도 τ · CN_SE vs 대:소</a:t>
            </a:r>
          </a:p>
          <a:p>
            <a:pPr algn="ctr"/>
            <a:r>
              <a:rPr sz="1050">
                <a:solidFill>
                  <a:srgbClr val="6B7078"/>
                </a:solidFill>
                <a:latin typeface="맑은 고딕"/>
              </a:rPr>
              <a:t>(값 입력 뒤 생성)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2-9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28800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건식 믹싱 DEM — 활물질 · 전해질 응집 구현</a:t>
            </a:r>
            <a:endParaRPr lang="en-US" altLang="ko-KR" sz="1400" b="1" kern="0" spc="-1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회전 드럼에 대 · 소 활물질과 전해질 입자를 넣고 DEM 으로 혼합 과정을 계산 (100,000 입자 · 75 rpm)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입자 간 van der Waals 부착을 SJKR 접촉 점착력으로 넣고 크기는 Bond 수 (점착력 / 입자 무게) 로 설정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점착이 크면 활물질 응집체가 드럼과 함께 회전하고 작으면 자유 유동 — 응집 거동 재현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286000"/>
            <a:ext cx="4464000" cy="4392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2322000"/>
            <a:ext cx="4464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지배 방정식 ]</a:t>
            </a:r>
          </a:p>
        </p:txBody>
      </p:sp>
      <mc:AlternateContent xmlns:mc="http://schemas.openxmlformats.org/markup-compatibility/2006" xmlns:m="http://schemas.openxmlformats.org/officeDocument/2006/math">
        <mc:Choice xmlns:a14="http://schemas.microsoft.com/office/drawing/2010/main" Requires="a14">
          <p:sp>
            <p:nvSpPr>
              <p:cNvPr id="18" name="수식 18"/>
              <p:cNvSpPr txBox="1"/>
              <p:nvPr/>
            </p:nvSpPr>
            <p:spPr>
              <a:xfrm>
                <a:off x="432000" y="2574000"/>
                <a:ext cx="4320000" cy="2736000"/>
              </a:xfrm>
              <a:prstGeom prst="rect">
                <a:avLst/>
              </a:prstGeom>
              <a:noFill/>
            </p:spPr>
            <p:txBody>
              <a:bodyPr wrap="square" lIns="72000" tIns="36000" rIns="36000" bIns="36000" rtlCol="0">
                <a:noAutofit/>
              </a:bodyPr>
              <a:lstStyle/>
              <a:p>
                <a:pPr>
                  <a:spcBef>
                    <a:spcPts val="8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*</m:t>
                          </m:r>
                        </m:sup>
                      </m:sSup>
                      <m:rad>
                        <m:radPr>
                          <m:degHide m:val="1"/>
                        </m:radPr>
                        <m:deg/>
                        <m:e>
                          <m:sSup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*</m:t>
                              </m:r>
                            </m:sup>
                          </m:sSup>
                        </m:e>
                      </m:rad>
                      <m:sSup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3/2</m:t>
                          </m:r>
                        </m:sup>
                      </m:sSup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sSub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coh</m:t>
                          </m:r>
                        </m:sub>
                      </m:sSub>
                    </m:oMath>
                  </m:oMathPara>
                </a14:m>
                <a:endParaRPr lang="en-US" altLang="ko-KR" sz="1300" dirty="0"/>
              </a:p>
              <a:p>
                <a:pPr>
                  <a:spcBef>
                    <a:spcPts val="8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coh</m:t>
                          </m:r>
                        </m:sub>
                      </m:sSub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2π</m:t>
                      </m:r>
                      <m:sSup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*</m:t>
                          </m:r>
                        </m:sup>
                      </m:sSup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altLang="ko-KR" sz="1300" dirty="0"/>
              </a:p>
              <a:p>
                <a:pPr>
                  <a:spcBef>
                    <a:spcPts val="8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altLang="ko-KR" sz="1300" dirty="0">
                          <a:latin typeface="Cambria Math" panose="02040503050406030204" pitchFamily="18" charset="0"/>
                        </a:rPr>
                        <m:t>Bo</m:t>
                      </m:r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sSub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coh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g</m:t>
                          </m:r>
                        </m:den>
                      </m:f>
                    </m:oMath>
                  </m:oMathPara>
                </a14:m>
                <a:endParaRPr lang="en-US" altLang="ko-KR" sz="1300" dirty="0"/>
              </a:p>
              <a:p>
                <a:pPr>
                  <a:spcBef>
                    <a:spcPts val="800"/>
                  </a:spcBef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M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altLang="ko-KR" sz="13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sSubSup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p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("/>
                              <m:endChr m:val=")"/>
                            </m:dPr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sSubSup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ko-KR" sz="13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e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  <m:sup>
                              <m:r>
                                <a:rPr lang="en-US" altLang="ko-KR" sz="13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altLang="ko-KR" sz="1300" dirty="0"/>
              </a:p>
            </p:txBody>
          </p:sp>
        </mc:Choice>
        <mc:Fallback>
          <p:sp>
            <p:nvSpPr>
              <p:cNvPr id="18" name="수식 18"/>
              <p:cNvSpPr txBox="1"/>
              <p:nvPr/>
            </p:nvSpPr>
            <p:spPr>
              <a:xfrm>
                <a:off x="432000" y="2574000"/>
                <a:ext cx="4320000" cy="2736000"/>
              </a:xfrm>
              <a:prstGeom prst="rect">
                <a:avLst/>
              </a:prstGeom>
              <a:noFill/>
            </p:spPr>
            <p:txBody>
              <a:bodyPr wrap="square" lIns="72000" tIns="36000" rIns="36000" bIns="36000" rtlCol="0">
                <a:noAutofit/>
              </a:bodyPr>
              <a:lstStyle/>
              <a:p>
                <a:pPr>
                  <a:spcBef>
                    <a:spcPts val="800"/>
                  </a:spcBef>
                </a:pPr>
                <a:r>
                  <a:rPr lang="en-US" altLang="ko-KR" sz="1300" dirty="0">
                    <a:latin typeface="Cambria Math"/>
                  </a:rPr>
                  <a:t>F_n = (4/3) E* √R* δ^(3/2) − γ_n v_n − F_coh</a:t>
                </a:r>
              </a:p>
              <a:p>
                <a:pPr>
                  <a:spcBef>
                    <a:spcPts val="800"/>
                  </a:spcBef>
                </a:pPr>
                <a:r>
                  <a:rPr lang="en-US" altLang="ko-KR" sz="1300" dirty="0">
                    <a:latin typeface="Cambria Math"/>
                  </a:rPr>
                  <a:t>F_coh = k_c · 2π R* δ   (SJKR, k_c = 점착 에너지 밀도)</a:t>
                </a:r>
              </a:p>
              <a:p>
                <a:pPr>
                  <a:spcBef>
                    <a:spcPts val="800"/>
                  </a:spcBef>
                </a:pPr>
                <a:r>
                  <a:rPr lang="en-US" altLang="ko-KR" sz="1300" dirty="0">
                    <a:latin typeface="Cambria Math"/>
                  </a:rPr>
                  <a:t>Bo = F_coh / (m g)</a:t>
                </a:r>
              </a:p>
              <a:p>
                <a:pPr>
                  <a:spcBef>
                    <a:spcPts val="800"/>
                  </a:spcBef>
                </a:pPr>
                <a:r>
                  <a:rPr lang="en-US" altLang="ko-KR" sz="1300" dirty="0">
                    <a:latin typeface="Cambria Math"/>
                  </a:rPr>
                  <a:t>M(t) = (S0² − S²(t)) / (S0² − S_R²)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468000" y="5382000"/>
            <a:ext cx="4248000" cy="122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950" b="0">
                <a:solidFill>
                  <a:srgbClr val="555B66"/>
                </a:solidFill>
                <a:latin typeface="맑은 고딕"/>
              </a:rPr>
              <a:t>k_c: 점착 에너지 밀도 (J/m³) · Bo: Bond 수</a:t>
            </a:r>
          </a:p>
          <a:p>
            <a:pPr algn="l"/>
            <a:r>
              <a:rPr sz="950" b="0">
                <a:solidFill>
                  <a:srgbClr val="555B66"/>
                </a:solidFill>
                <a:latin typeface="맑은 고딕"/>
              </a:rPr>
              <a:t>S²: 셀별 활물질 부피분율의 분산</a:t>
            </a:r>
          </a:p>
          <a:p>
            <a:pPr algn="l"/>
            <a:r>
              <a:rPr sz="950" b="0">
                <a:solidFill>
                  <a:srgbClr val="555B66"/>
                </a:solidFill>
                <a:latin typeface="맑은 고딕"/>
              </a:rPr>
              <a:t>S0²: 층상 장입 직후 · S_R²: 무작위 균일 장입 (기준 런)</a:t>
            </a:r>
          </a:p>
          <a:p>
            <a:pPr algn="l"/>
            <a:r>
              <a:rPr sz="950" b="0">
                <a:solidFill>
                  <a:srgbClr val="555B66"/>
                </a:solidFill>
                <a:latin typeface="맑은 고딕"/>
              </a:rPr>
              <a:t>M = 0 미혼합 · 1 무작위 완전 혼합 (Lacey)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8000" y="2322000"/>
            <a:ext cx="4680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응집 구현 예시 (드럼 단면) ]</a:t>
            </a:r>
          </a:p>
        </p:txBody>
      </p:sp>
      <p:pic>
        <p:nvPicPr>
          <p:cNvPr id="21" name="Picture 20" descr="mix_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000" y="2574000"/>
            <a:ext cx="3780000" cy="22022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68000" y="4806000"/>
            <a:ext cx="4680000" cy="32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900" b="0">
                <a:solidFill>
                  <a:srgbClr val="EB6834"/>
                </a:solidFill>
                <a:latin typeface="맑은 고딕"/>
              </a:rPr>
              <a:t>⚠ 이전 세대 모델 (09-20) 예시 — 섬유 첨가제 포함 옛 덱 · 현 캠페인은 3 상 · 실제 입경 비 · 벽 부착으로 재설계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8000" y="5166000"/>
            <a:ext cx="4680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계산 조건 (현 캠페인) ]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968000" y="5454000"/>
          <a:ext cx="468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/>
                <a:gridCol w="3456000"/>
              </a:tblGrid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입자 (3 상)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대 9 · 소 4 · 전해질 1 µm (조대화 ×151)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배치 · 입자 수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2 g · 100,000 개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드럼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반지름 13.1 mm · 75 rpm · 8 회전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2-10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28800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활물질 표면 점착 저감 (코팅 모사) 에 따른 혼합 균일성</a:t>
            </a:r>
            <a:endParaRPr lang="en-US" altLang="ko-KR" sz="1400" b="1" kern="0" spc="-1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층상 장입 (아래 활물질 · 위 전해질) 에서 8 회전 뒤 Lacey 혼합지수 M 으로 균일성 비교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표면 점착을 전해질 수준으로 낮춘 조건 (LC · 코팅 모사) ↔ 점착이 큰 조건 (LA) 을 같은 시드끼리 비교 — 판정선 사전 등록 (차이 ≥ 0.10 · 시드 오차의 2 배 이상)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 런 진행 중 (09-29 기준 88 – 98 %) → 09-30 완주 뒤 판정 · 결과 반영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2322000"/>
            <a:ext cx="3671999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캠페인 설계 ]</a:t>
            </a:r>
          </a:p>
        </p:txBody>
      </p:sp>
      <p:pic>
        <p:nvPicPr>
          <p:cNvPr id="17" name="Picture 16" descr="mix_de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2574000"/>
            <a:ext cx="3671999" cy="3057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76000" y="2322000"/>
            <a:ext cx="2520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점착 조건 (AM–AM Bo) ]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176000" y="2574000"/>
          <a:ext cx="2520000" cy="20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000"/>
                <a:gridCol w="756000"/>
                <a:gridCol w="576000"/>
              </a:tblGrid>
              <a:tr h="251999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조건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Bo_code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시드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</a:tr>
              <a:tr h="251999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LC (코팅 모사)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0.00109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3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LB1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0.1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51999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LB2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0.5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LB3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1.5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51999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LA (기준)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3.0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3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L0 (음성 대조)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0 (전 쌍)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1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51999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E0 (무작위 기준)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0 · 무회전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3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40000" y="2322000"/>
            <a:ext cx="2808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결과 (판정 뒤 입력) ]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840000" y="2574000"/>
          <a:ext cx="2807999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07999"/>
                <a:gridCol w="720000"/>
              </a:tblGrid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M (8 회전 뒤)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시드 SD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LC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LA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Δ = LC − LA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>판정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B6834"/>
                          </a:solidFill>
                          <a:latin typeface="맑은 고딕"/>
                        </a:rPr>
                        <a:t>⬜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latin typeface="맑은 고딕"/>
                        </a:rPr>
                        <a:t/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176000" y="4662000"/>
            <a:ext cx="5472000" cy="194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맑은 고딕"/>
              </a:rPr>
              <a:t>• 판정 칸 16×16×4 (한 변 1.64 mm = 대입자 1.2 개) · 같은 시드 3 쌍의 차이 평균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맑은 고딕"/>
              </a:rPr>
              <a:t>• h1 = Δ ≥ 0.10 이고 Δ ≥ 2·SE — 그 사이는 "애매" 로 그대로 보고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맑은 고딕"/>
              </a:rPr>
              <a:t>• 코팅 모사 = 모델에서 활물질 표면 점착 에너지 밀도를 낮춘 조건 (AM–AM · AM–벽 부착이 함께 변함)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맑은 고딕"/>
              </a:rPr>
              <a:t>  → 실제 코팅 공정의 재현이 아니라 "표면 물성 변화" 효과의 모델 평가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맑은 고딕"/>
              </a:rPr>
              <a:t>• 고점착 확장 (Bo 38) · 강성 민감도는 외부 검토 뒤 착수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589A14AF-5BAC-4111-8491-A344E7D0B1FC}"/>
              </a:ext>
            </a:extLst>
          </p:cNvPr>
          <p:cNvSpPr txBox="1"/>
          <p:nvPr/>
        </p:nvSpPr>
        <p:spPr>
          <a:xfrm>
            <a:off x="169468" y="136216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2-11</a:t>
            </a:r>
            <a:endParaRPr lang="ko-KR" altLang="en-US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515C5-40F1-4FC3-B837-BD05CA72ACF7}"/>
              </a:ext>
            </a:extLst>
          </p:cNvPr>
          <p:cNvSpPr txBox="1"/>
          <p:nvPr/>
        </p:nvSpPr>
        <p:spPr>
          <a:xfrm>
            <a:off x="1050202" y="341761"/>
            <a:ext cx="766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차년도 연구개발 추진 내용</a:t>
            </a:r>
            <a:endParaRPr lang="ko-KR" altLang="en-US" sz="14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C017-4512-4BC2-9678-15DC7FBFE8CE}"/>
              </a:ext>
            </a:extLst>
          </p:cNvPr>
          <p:cNvSpPr txBox="1"/>
          <p:nvPr/>
        </p:nvSpPr>
        <p:spPr>
          <a:xfrm>
            <a:off x="1060483" y="105803"/>
            <a:ext cx="5829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세라믹 </a:t>
            </a:r>
            <a:r>
              <a:rPr lang="en-US" altLang="ko-KR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catholyte 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기반 전극 성능 향상을 위한 단결정 </a:t>
            </a:r>
            <a:r>
              <a:rPr lang="ko-KR" altLang="en-US" sz="9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양극재</a:t>
            </a:r>
            <a:r>
              <a:rPr lang="ko-KR" altLang="en-US" sz="9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</a:rPr>
              <a:t> 제조 기술 개발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069A6-A051-494E-B3B7-250B9ED9166F}"/>
              </a:ext>
            </a:extLst>
          </p:cNvPr>
          <p:cNvSpPr/>
          <p:nvPr/>
        </p:nvSpPr>
        <p:spPr>
          <a:xfrm>
            <a:off x="149802" y="869384"/>
            <a:ext cx="9288000" cy="34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95263">
              <a:lnSpc>
                <a:spcPct val="130000"/>
              </a:lnSpc>
              <a:buBlip>
                <a:blip r:embed="rId3"/>
              </a:buBlip>
            </a:pPr>
            <a:r>
              <a:rPr lang="en-US" altLang="ko-KR" sz="1400" b="1" kern="0" spc="-100" dirty="0">
                <a:solidFill>
                  <a:prstClr val="black"/>
                </a:solidFill>
                <a:cs typeface="Arial" charset="0"/>
              </a:rPr>
              <a:t>요약 및 향후 계획</a:t>
            </a:r>
            <a:endParaRPr lang="en-US" altLang="ko-KR" sz="1400" b="1" kern="0" spc="-1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5C7F6-66ED-438C-88C6-4B34E445A315}"/>
              </a:ext>
            </a:extLst>
          </p:cNvPr>
          <p:cNvSpPr/>
          <p:nvPr/>
        </p:nvSpPr>
        <p:spPr>
          <a:xfrm>
            <a:off x="353837" y="1258385"/>
            <a:ext cx="9288855" cy="947163"/>
          </a:xfrm>
          <a:prstGeom prst="rect">
            <a:avLst/>
          </a:prstGeom>
          <a:solidFill>
            <a:srgbClr val="E7ECF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DEM 압축 모델로 전해질 함량 · 바이모달 비 · 입경에 따른 전극 미세구조를 정량화 (130 + 64 설계점 · 사양 5 조성)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공극률은 전해질 함량이 가장 크게 좌우하고, 같은 함량에서는 바이모달 비 7:3 부근이 가장 치밀 (사양 5 조성 16.5 %)</a:t>
            </a:r>
          </a:p>
          <a:p>
            <a:pPr marL="44291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건식 믹싱 DEM 에 점착 응집을 구현했고, 표면 점착 저감 (코팅 모사) 의 균일성 효과를 사전 등록 판정으로 평가 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2322000"/>
            <a:ext cx="9288000" cy="251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맑은 고딕"/>
              </a:rPr>
              <a:t>[ 향후 계획 ]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2610000"/>
          <a:ext cx="9288000" cy="20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00"/>
                <a:gridCol w="5832000"/>
                <a:gridCol w="1800000"/>
              </a:tblGrid>
              <a:tr h="342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시기</a:t>
                      </a:r>
                    </a:p>
                  </a:txBody>
                  <a:tcPr marL="36000" marR="36000" marT="10800" marB="10800" anchor="ctr">
                    <a:solidFill>
                      <a:srgbClr val="2F4B7C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사양 5 조성 수송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이온 · 전자 전도도 · 굴곡도 정리 → 7:3 수송 우위 확인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10월 초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믹싱 판정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층상 캠페인 판정 (LC ↔ LA) → 결과 반영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09-30 완주 뒤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코팅 조건 확장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고점착 · 강성 민감도 확인 런 (외부 검토 뒤)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10월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데이터셋 인계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130 + 64 설계점 구조 지표 → 구조 예측 ML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10월</a:t>
                      </a:r>
                    </a:p>
                  </a:txBody>
                  <a:tcPr marL="36000" marR="36000" marT="10800" marB="10800" anchor="ctr">
                    <a:solidFill>
                      <a:srgbClr val="F2F5FB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MPM 연계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전해질 소성 변형 (형상) · 활물질 하중 분담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latin typeface="맑은 고딕"/>
                        </a:rPr>
                        <a:t>진행 중</a:t>
                      </a:r>
                    </a:p>
                  </a:txBody>
                  <a:tcPr marL="36000" marR="36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3904</TotalTime>
  <Words>725</Words>
  <Application>Microsoft Office PowerPoint</Application>
  <PresentationFormat>A4 용지(210x297mm)</PresentationFormat>
  <Paragraphs>239</Paragraphs>
  <Slides>11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4" baseType="lpstr">
      <vt:lpstr>Microsoft GothicNeo</vt:lpstr>
      <vt:lpstr>Pretendard ExtraBold</vt:lpstr>
      <vt:lpstr>SimSun</vt:lpstr>
      <vt:lpstr>나눔고딕</vt:lpstr>
      <vt:lpstr>나눔고딕</vt:lpstr>
      <vt:lpstr>나눔바른고딕</vt:lpstr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연구기획팀 박시은</dc:creator>
  <cp:lastModifiedBy>A2504008</cp:lastModifiedBy>
  <cp:revision>423</cp:revision>
  <dcterms:created xsi:type="dcterms:W3CDTF">2026-03-05T23:52:16Z</dcterms:created>
  <dcterms:modified xsi:type="dcterms:W3CDTF">2026-09-29T00:33:30Z</dcterms:modified>
</cp:coreProperties>
</file>