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269442fd8ce4b81" Type="http://schemas.openxmlformats.org/officeDocument/2006/relationships/officeDocument" Target="ppt/presentation.xml"/><Relationship Id="R69334117c5514b65" Type="http://schemas.openxmlformats.org/package/2006/relationships/metadata/core-properties" Target="docProps/core.xml"/><Relationship Id="Rcd7563b061c1420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9f4c5f7750487f"/>
  </p:sldMasterIdLst>
  <p:notesMasterIdLst>
    <p:notesMasterId xmlns:r="http://schemas.openxmlformats.org/officeDocument/2006/relationships" r:id="R636b2433d8094769"/>
  </p:notesMasterIdLst>
  <p:sldIdLst>
    <p:sldId xmlns:r="http://schemas.openxmlformats.org/officeDocument/2006/relationships" id="263" r:id="R8e9499b237dd44db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0bedd3fc95014fed" Type="http://schemas.openxmlformats.org/officeDocument/2006/relationships/presProps" Target="presProps.xml"/><Relationship Id="R245a50a1643649ab" Type="http://schemas.openxmlformats.org/officeDocument/2006/relationships/tableStyles" Target="tableStyles.xml"/><Relationship Id="R3eabe3a8ecf741a2" Type="http://schemas.openxmlformats.org/officeDocument/2006/relationships/viewProps" Target="viewProps.xml"/><Relationship Id="R636b2433d8094769" Type="http://schemas.openxmlformats.org/officeDocument/2006/relationships/notesMaster" Target="notesMasters/notesMaster1.xml"/><Relationship Id="R7a9f4c5f7750487f" Type="http://schemas.openxmlformats.org/officeDocument/2006/relationships/slideMaster" Target="slideMasters/slideMaster1.xml"/><Relationship Id="R8e9499b237dd44db" Type="http://schemas.openxmlformats.org/officeDocument/2006/relationships/slide" Target="slides/slide8.xml"/><Relationship Id="Rd15051cc896443fc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32b1c3d1c614449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5.xml.rels><?xml version='1.0' encoding='UTF-8' standalone='yes'?>
<Relationships xmlns="http://schemas.openxmlformats.org/package/2006/relationships"><Relationship Id="R10fc23a6c03d4d8a" Type="http://schemas.openxmlformats.org/officeDocument/2006/relationships/notesMaster" Target="../notesMasters/notesMaster1.xml"/><Relationship Id="Ref734c0e971641e3" Type="http://schemas.openxmlformats.org/officeDocument/2006/relationships/slide" Target="../slides/slide8.xml"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출발 명단은 산화물, 할라이드, 질화물과 황화물을 합친 91종입니다. 각 화합물에 세 개의 실행 라벨을 붙여 273개 작업을 계획했고, 그중 270개가 활성화된 workflow를 끝냈습니다. 여기서 x002, x005, x010은 실제 2, 5, 10퍼센트 농도가 아닙니다. 작은 셀의 정수 치환 때문에 세 라벨 모두 generator loading x=0.25로 들어갔고, 서로 독립적인 반복 측정도 아닙니다.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[발표자 메모]</a:t>
            </a:r>
            <a:endParaRPr/>
          </a:p>
          <a:p xmlns:a="http://schemas.openxmlformats.org/drawingml/2006/main">
            <a:r>
              <a:t>273을 후보 수라고 부르지 않고 workload라고 부른다.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master_batch_273.sh; db/properties/cascade_label_scatter_audit.json (corrected exact-formula regrouping).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567e83c79114d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280d18f2f3450f" Type="http://schemas.openxmlformats.org/officeDocument/2006/relationships/theme" Target="theme/theme2.xml"/><Relationship Id="Ra667905730bd4f4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7905730bd4f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8.xml.rels><?xml version='1.0' encoding='UTF-8' standalone='yes'?>
<Relationships xmlns="http://schemas.openxmlformats.org/package/2006/relationships"><Relationship Id="R0b22e29227af4dfd" Type="http://schemas.openxmlformats.org/officeDocument/2006/relationships/notesSlide" Target="../notesSlides/notesSlide5.xml"/><Relationship Id="R978acf923ad445bc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bg-5">
            <a:extLst xmlns:a="http://schemas.openxmlformats.org/drawingml/2006/main">
              <a:ext uri="{FF2B5EF4-FFF2-40B4-BE49-F238E27FC236}">
                <a16:creationId xmlns:a16="http://schemas.microsoft.com/office/drawing/2014/main" id="{F6C65ECC-966A-4434-B5BB-D132BAF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B055E6A9-098C-432C-98EC-3556E185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237744"/>
            <a:ext cx="81381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Candidate set on the periodic table</a:t>
            </a:r>
          </a:p>
        </p:txBody>
      </p:sp>
      <p:sp>
        <p:nvSpPr>
          <p:cNvPr id="3" name="terms-5">
            <a:extLst xmlns:a="http://schemas.openxmlformats.org/drawingml/2006/main">
              <a:ext uri="{FF2B5EF4-FFF2-40B4-BE49-F238E27FC236}">
                <a16:creationId xmlns:a16="http://schemas.microsoft.com/office/drawing/2014/main" id="{9CCEC6A8-8923-4D3A-B681-60539A62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7" y="6272784"/>
            <a:ext cx="8101583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863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863">
                <a:solidFill>
                  <a:srgbClr val="1F2937"/>
                </a:solidFill>
                <a:latin typeface="Arial"/>
                <a:ea typeface="Arial"/>
                <a:cs typeface="Arial"/>
              </a:rPr>
              <a:t>Cation: the metal we substitute in  ·  Coverage: how many compounds of that element were scored  ·  de: stability against the host</a:t>
            </a:r>
          </a:p>
        </p:txBody>
      </p:sp>
      <p:sp>
        <p:nvSpPr>
          <p:cNvPr id="4" name="divider-5">
            <a:extLst xmlns:a="http://schemas.openxmlformats.org/drawingml/2006/main">
              <a:ext uri="{FF2B5EF4-FFF2-40B4-BE49-F238E27FC236}">
                <a16:creationId xmlns:a16="http://schemas.microsoft.com/office/drawing/2014/main" id="{2E281D3E-967F-4D4D-91B7-79A74E8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90575"/>
            <a:ext cx="8334375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solidFill>
              <a:srgbClr val="6B7280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claim-square-5">
            <a:extLst xmlns:a="http://schemas.openxmlformats.org/drawingml/2006/main">
              <a:ext uri="{FF2B5EF4-FFF2-40B4-BE49-F238E27FC236}">
                <a16:creationId xmlns:a16="http://schemas.microsoft.com/office/drawing/2014/main" id="{120FA710-7C58-4098-9834-96495D5E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0287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1B2B"/>
          </a:solidFill>
          <a:ln xmlns:a="http://schemas.openxmlformats.org/drawingml/2006/main" w="0">
            <a:solidFill>
              <a:srgbClr val="A61B2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claim-5">
            <a:extLst xmlns:a="http://schemas.openxmlformats.org/drawingml/2006/main">
              <a:ext uri="{FF2B5EF4-FFF2-40B4-BE49-F238E27FC236}">
                <a16:creationId xmlns:a16="http://schemas.microsoft.com/office/drawing/2014/main" id="{C01476F7-6575-4D3A-92D6-0C616590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23925"/>
            <a:ext cx="7762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67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F2937"/>
                </a:solidFill>
                <a:latin typeface="Arial"/>
                <a:ea typeface="Arial"/>
                <a:cs typeface="Arial"/>
              </a:rPr>
              <a:t>Candidate set (2): 36 cation elements, colored by their best score</a:t>
            </a:r>
          </a:p>
        </p:txBody>
      </p:sp>
      <p:sp>
        <p:nvSpPr>
          <p:cNvPr id="7" name="bullet-dot-5-0">
            <a:extLst xmlns:a="http://schemas.openxmlformats.org/drawingml/2006/main">
              <a:ext uri="{FF2B5EF4-FFF2-40B4-BE49-F238E27FC236}">
                <a16:creationId xmlns:a16="http://schemas.microsoft.com/office/drawing/2014/main" id="{94E5C115-80F6-4C7F-B6E0-7A90B8E14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37160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4E79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bullet-5-0">
            <a:extLst xmlns:a="http://schemas.openxmlformats.org/drawingml/2006/main">
              <a:ext uri="{FF2B5EF4-FFF2-40B4-BE49-F238E27FC236}">
                <a16:creationId xmlns:a16="http://schemas.microsoft.com/office/drawing/2014/main" id="{1847B9A6-08D7-4ABB-B47B-BC7FCBDD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381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1F2937"/>
                </a:solidFill>
                <a:latin typeface="Arial"/>
                <a:ea typeface="Arial"/>
                <a:cs typeface="Arial"/>
              </a:rPr>
              <a:t>Late transition metals (Fe–Cu) form the </a:t>
            </a:r>
            <a:r>
              <a:rPr sz="1275" b="1">
                <a:solidFill>
                  <a:srgbClr val="BE123C"/>
                </a:solidFill>
                <a:latin typeface="Arial"/>
                <a:ea typeface="Arial"/>
                <a:cs typeface="Arial"/>
              </a:rPr>
              <a:t>red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block — their oxidation window is the narrowest.</a:t>
            </a:r>
          </a:p>
        </p:txBody>
      </p:sp>
      <p:sp>
        <p:nvSpPr>
          <p:cNvPr id="9" name="bullet-dot-5-1">
            <a:extLst xmlns:a="http://schemas.openxmlformats.org/drawingml/2006/main">
              <a:ext uri="{FF2B5EF4-FFF2-40B4-BE49-F238E27FC236}">
                <a16:creationId xmlns:a16="http://schemas.microsoft.com/office/drawing/2014/main" id="{FA32E48E-6825-4945-A51D-30C41D84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33550"/>
            <a:ext cx="171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F2937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bullet-5-1">
            <a:extLst xmlns:a="http://schemas.openxmlformats.org/drawingml/2006/main">
              <a:ext uri="{FF2B5EF4-FFF2-40B4-BE49-F238E27FC236}">
                <a16:creationId xmlns:a16="http://schemas.microsoft.com/office/drawing/2014/main" id="{1C50A290-B17E-4DF0-BA0C-3A4989D3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4307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F293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Group trends</a:t>
            </a:r>
            <a:r>
              <a:rPr sz="1275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 are robust, the exact order is not — the same elements stay at both ends.</a:t>
            </a:r>
          </a:p>
        </p:txBody>
      </p:sp>
      <p:sp>
        <p:nvSpPr>
          <p:cNvPr id="12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E8213834-278A-4868-935E-D4FE7EAC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1F4E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F4E79"/>
                </a:solidFill>
                <a:latin typeface="Arial"/>
                <a:ea typeface="Arial"/>
                <a:cs typeface="Arial"/>
              </a:rPr>
              <a:t>HANYANG UNIVERSITY</a:t>
            </a:r>
          </a:p>
        </p:txBody>
      </p:sp>
      <p:sp>
        <p:nvSpPr>
          <p:cNvPr id="13" name="footer-lab-5">
            <a:extLst xmlns:a="http://schemas.openxmlformats.org/drawingml/2006/main">
              <a:ext uri="{FF2B5EF4-FFF2-40B4-BE49-F238E27FC236}">
                <a16:creationId xmlns:a16="http://schemas.microsoft.com/office/drawing/2014/main" id="{607ACE82-BDB8-4372-BF66-4DCD744F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0557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6B7280"/>
                </a:solidFill>
                <a:latin typeface="Arial"/>
                <a:ea typeface="Arial"/>
                <a:cs typeface="Arial"/>
              </a:rPr>
              <a:t>Battery Materials Lab.</a:t>
            </a:r>
          </a:p>
        </p:txBody>
      </p:sp>
      <p:sp>
        <p:nvSpPr>
          <p:cNvPr id="1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51E93E5B-9C8B-4BB0-9417-36D9CDFE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64865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>
                <a:solidFill>
                  <a:srgbClr val="6B7280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B728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 xmlns:a="http://schemas.openxmlformats.org/drawingml/2006/main" xmlns:r="http://schemas.openxmlformats.org/officeDocument/2006/relationships">
        <p:nvPicPr>
          <p:cNvPr id="24" name="Picture 23" descr="roster_periodic_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60" y="2084831"/>
            <a:ext cx="7510479" cy="3310128"/>
          </a:xfrm>
          <a:prstGeom prst="rect">
            <a:avLst/>
          </a:prstGeom>
        </p:spPr>
      </p:pic>
      <p:sp xmlns:a="http://schemas.openxmlformats.org/drawingml/2006/main">
        <p:nvSpPr>
          <p:cNvPr id="25" name="TextBox 24"/>
          <p:cNvSpPr txBox="1"/>
          <p:nvPr/>
        </p:nvSpPr>
        <p:spPr>
          <a:xfrm>
            <a:off x="502920" y="5449824"/>
            <a:ext cx="8138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Arial"/>
              </a:rPr>
              <a:t>&lt; best score per element, 89-species pool (2026-08-13) &gt;</a:t>
            </a:r>
          </a:p>
        </p:txBody>
      </p:sp>
      <p:sp xmlns:a="http://schemas.openxmlformats.org/drawingml/2006/main">
        <p:nvSpPr>
          <p:cNvPr id="26" name="TextBox 25"/>
          <p:cNvSpPr txBox="1"/>
          <p:nvPr/>
        </p:nvSpPr>
        <p:spPr>
          <a:xfrm>
            <a:off x="502920" y="5760720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E123C"/>
                </a:solidFill>
                <a:latin typeface="Arial"/>
              </a:rPr>
              <a:t>no approved ranking yet</a:t>
            </a:r>
            <a:r>
              <a:rPr sz="1150" b="0">
                <a:solidFill>
                  <a:srgbClr val="4B5563"/>
                </a:solidFill>
                <a:latin typeface="Arial"/>
              </a:rPr>
              <a:t> — the same elements stayed top and bottom when the set doubled (47 → 89)</a:t>
            </a:r>
          </a:p>
        </p:txBody>
      </p:sp>
    </p:spTree>
    <p:extLst>
      <p:ext uri="{BB962C8B-B14F-4D97-AF65-F5344CB8AC3E}">
        <p14:creationId xmlns:p14="http://schemas.microsoft.com/office/powerpoint/2010/main" val="6949876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2026-08-16T17:36:15.2940000Z</dcterms:created>
  <dcterms:modified xsi:type="dcterms:W3CDTF">2026-08-16T17:36:15.2940000Z</dcterms:modified>
</coreProperties>
</file>