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1쪽 출처 (빌드 때 읽음 · kg50_y4_sources.py):</a:t>
            </a:r>
          </a:p>
          <a:p>
            <a:r>
              <a:t>덱 — D0.7: docs/data/kg50_decks_20261027_v3_b50/kg50_d07_b50/input_kg50_d07_b50.liggghts (sha256 2555640c7792…) / D1: docs/data/kg50_decks_20261027_v3_b50/kg50_d1_b50/input_kg50_d1_b50.liggghts (sha256 514afdb70561…) / D2: docs/data/kg50_decks_20261027_v3_b50/kg50_d2_b50/input_kg50_d2_b50.liggghts (sha256 f8ac9932a6cb…) / D3: docs/data/kg50_decks_20261026_v2/kg50_d3_b50_s1/input_kg50_d3_b50_s1.liggghts (sha256 7589c8ac6440…)</a:t>
            </a:r>
          </a:p>
          <a:p>
            <a:r>
              <a:t>끝 상태 — D2: docs/data/kg50_d2_end_20261030/kg50_d2_end_20261030_4files.tgz (sha256 ead5bed68e77…) · step 4015002 / D3: docs/data/kg50_d3_cell_verdict_20261027/kg50_d3_end_20261027.tgz (sha256 918394e1c153…) · step 4575002</a:t>
            </a:r>
          </a:p>
          <a:p>
            <a:r>
              <a:t>물성 — docs/sulfide_se_mechanical_anchors.md (DFT E_VRH 22.06 GPa · Bazzoun 2026 DEM 문헌 입력 22.1 GPa) · SE 영률 두 줄 = 계획 §1 KG50B-06 (모델 계열 = 선행 보고와 같음 · 입계 기전 = 실측 보고 인용만)</a:t>
            </a:r>
          </a:p>
          <a:p>
            <a:r>
              <a:t>NCM 140 GPa = DEM 입력 (출처 서술 없음 · CL-90)</a:t>
            </a:r>
          </a:p>
          <a:p>
            <a:r>
              <a:t>덱 넷 실행 줄 = 케이스 이름 · SE 반지름 · 시드 · 계획 SE 수 (검사 구간) 밖에서 같음 (생성기 대조 · normalize_deck)</a:t>
            </a:r>
          </a:p>
          <a:p>
            <a:r>
              <a:t>감쇠 계수 = 덱 넷 같음 (질량당 감쇠는 SE 크기에 따라 다름 · Q5 대조 전 — v2 덱 README §5 한계)</a:t>
            </a:r>
          </a:p>
          <a:p>
            <a:r>
              <a:t>계획 = docs/50kg/kg50_report_plan_fix_plan_20261030.md §2 1쪽 · 단면 = y = 25.0 µm 평면 · 그림 = figs/make_figs_p1.py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틀 (자료 받기 전) — 계획 docs/50kg/kg50_report_plan_fix_plan_20261030.md §2 2쪽 · 주 그림: AM 표면 거리별 SE 점유 (같은 µm 구간 · 정확 합집합) · 보조: 기공도–판 압력 (가압 가지 · 고정 높이 이완 가지 따로) · 결론의 꼴: 국소 점유와 전체 기공이 함께 변하는가</a:t>
            </a:r>
          </a:p>
          <a:p>
            <a:r>
              <a:t>보조 그림 = 초안 (figs/make_fig_p2_aux.py) — 로그 (리포 밖 · 메인 세션 반입 예정): D3: log.liggghts sha256 40ba638167250cd742cdbeb113f71f83851619103be36ac79eaab7572c7ffe22 (1267117 B) · 판 시작 166.627 µm · 압축 step 400002–4475002 (815 run) · 예측 끝 판 125.8773 ↔ 끝 mesh 125.8770 µm / D2: log.liggghts sha256 5d6721508615f2ffbd71a5c179a394f09c46f4993ac449496166ac08509dd198 (1102372 B) · 판 시작 157.619 µm · 압축 step 400002–3915002 (703 run) · 예측 끝 판 122.4686 ↔ 끝 mesh 122.4690 µm</a:t>
            </a:r>
          </a:p>
          <a:p>
            <a:r>
              <a:t>한계: KG50B-01 (국소 점유 = 정의 그대로의 이름) · KG50B-05 (껍질 분율 분모 · 상 겹침 = 계산 전 정의 고정 + 기하 반례 시험 먼저)</a:t>
            </a:r>
          </a:p>
          <a:p>
            <a:r>
              <a:t>순서 (계획 §4): 3판 + 분석 계획 → 새 지표 도구 (기하 반례 시험 먼저) → 자료 받기 (D3 · D2 두 프레임) → D3 · D2 그림 → D1 → D0.7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틀 (자료 받기 전) — 계획 docs/50kg/kg50_report_plan_fix_plan_20261030.md §2 3쪽 · 주 그림: AM 구면 기하 캡 합집합 지도 (등면적 투영 · 대표 AM = 사전 규칙) + 전체 AM 피복 분포 · 보조: AM 마다 (SE 접촉 수, 평균 기하 면적) — 0 접촉 AM 은 따로 수 · 위치 · 결론의 꼴: 접촉 수 · 크기 · 겹침을 나눈 관측</a:t>
            </a:r>
          </a:p>
          <a:p>
            <a:r>
              <a:t>한계: KG50B-05 (대표 AM 선택 · 구면 사상 · 겹침 = 사전 규칙 · 기하 반례 시험 먼저)</a:t>
            </a:r>
          </a:p>
          <a:p>
            <a:r>
              <a:t>순서 (계획 §4): 3판 + 분석 계획 → 새 지표 도구 (기하 반례 시험 먼저) → 자료 받기 (D3 · D2 두 프레임) → D3 · D2 그림 → D1 → D0.7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틀 (자료 받기 전) — 계획 docs/50kg/kg50_report_plan_fix_plan_20261030.md §2 4쪽 · 주 그림: 기하 tortuosity ↔ 수송 tortuosity 짝 (같은 침대 · 다른 양 · 비로 묶지 않음) · 보조: 전류 강조 3D (웹앱 정의 그대로 "높이 단면 32 곳 평균으로 단자 전류 80 % 를 나르는 상위 접촉 · 경로 보장 아님") + 협착 ↔ bulk 소산 몫 (같은 해의 Σ I²R_c / Σ I²R · 단자 전력과 합 대조) · 결론의 꼴: 직선성 · 연결성 · 오믹 저항이 서로 다른 정보</a:t>
            </a:r>
          </a:p>
          <a:p>
            <a:r>
              <a:t>한계: KG50B-01 (선형 1 V 이온 망 전류를 전기화학 반응 지표로 읽지 않음 · 전류 그림 이름 = 웹앱 정의 그대로) · KG50B-03 (f · 수송 tortuosity = 한 묶음 · φ 분모 명시)</a:t>
            </a:r>
          </a:p>
          <a:p>
            <a:r>
              <a:t>순서 (계획 §4): 3판 + 분석 계획 → 새 지표 도구 (기하 반례 시험 먼저) → 자료 받기 (D3 · D2 두 프레임) → D3 · D2 그림 → D1 → D0.7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틀 (자료 받기 전) — 계획 docs/50kg/kg50_report_plan_fix_plan_20261030.md §2 5쪽 · 주 그림: 공통 σ₀ 의 f(d) (원 솔버 · Hertz 주 · Physics 민감도) · 보조: 손익분기선: f(1)/f(3) &gt; 5.1/2.3 = 2.217 이면 1 µm 쪽이 높은 시나리오 · 0.7 = 2.267 (시료 대응 미확인 표지) · 2 µm = 결측 · 결론의 꼴: 절대값 인증 없이 구조 · 입력의 역할 구분</a:t>
            </a:r>
          </a:p>
          <a:p>
            <a:r>
              <a:t>한계: KG50B-02 (주 = 공통 σ₀ 의 f(d) · 보조 = 손익분기선 조건부 · 입도 우열 결론 문장 없음) · KG50B-07 (Stage-E σ_ion 은 D0.7 에만 가정 감점 → 보고에 안 씀)</a:t>
            </a:r>
          </a:p>
          <a:p>
            <a:r>
              <a:t>순서 (계획 §4): 3판 + 분석 계획 → 새 지표 도구 (기하 반례 시험 먼저) → 자료 받기 (D3 · D2 두 프레임) → D3 · D2 그림 → D1 → D0.7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틀 (자료 받기 전) — 계획 docs/50kg/kg50_report_plan_fix_plan_20261030.md §2 6쪽 · 주 그림: AM · SE 응력 분포 (Love–Weber · 같은 도구 같은 규약끼리 비교 · 프레임 미인증 한정) · 보조: z 구간별 SE 분율 · 전위 강하 · 소산 몫 (순 이온 전류는 보존식으로 평평 → 안 그림) · 결론의 꼴: 가압 상태의 비균일성 · 반응률 · 균열 · 용량 해석 아님</a:t>
            </a:r>
          </a:p>
          <a:p>
            <a:r>
              <a:t>한계: KG50B-01 (p6 = z 별 SE 분율 · 전위 강하 · 소산 · 응력 · 반응률 · 균열 · 용량 해석 아님)</a:t>
            </a:r>
          </a:p>
          <a:p>
            <a:r>
              <a:t>순서 (계획 §4): 3판 + 분석 계획 → 새 지표 도구 (기하 반례 시험 먼저) → 자료 받기 (D3 · D2 두 프레임) → D3 · D2 그림 → D1 → D0.7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틀 (자료 받기 전) — 계획 docs/50kg/kg50_report_plan_fix_plan_20261030.md §2 7쪽 · 주 그림: 지표 × 입도 표 — 상태 넷 (방향 일치 · 반대 / 비단조 · 판정 보류 · 계산 / 모형 한계) · 보조: 다음 = 계획 8 장 3D 전기화학 (국부 전류밀도 · Li 농도) 에서 볼 것 · 결론의 꼴: 네 침대에서 본 것과 다음에 볼 것을 구분</a:t>
            </a:r>
          </a:p>
          <a:p>
            <a:r>
              <a:t>한계: KG50B-04 (고정 유한 영역 · 입도별 시드 1 · 시드 산포를 침대 간 오차로 쓰지 않음)</a:t>
            </a:r>
          </a:p>
          <a:p>
            <a:r>
              <a:t>순서 (계획 §4): 3판 + 분석 계획 → 새 지표 도구 (기하 반례 시험 먼저) → 자료 받기 (D3 · D2 두 프레임) → D3 · D2 그림 → D1 → D0.7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hdr"/>
          <p:cNvGrpSpPr/>
          <p:nvPr userDrawn="1"/>
        </p:nvGrpSpPr>
        <p:grpSpPr>
          <a:xfrm>
            <a:off x="0" y="-1867"/>
            <a:ext cx="9144000" cy="835760"/>
            <a:chOff x="0" y="-1867"/>
            <a:chExt cx="9144000" cy="835760"/>
          </a:xfrm>
        </p:grpSpPr>
        <p:sp>
          <p:nvSpPr>
            <p:cNvPr id="11" name="hdr/deco1"/>
            <p:cNvSpPr/>
            <p:nvPr userDrawn="1"/>
          </p:nvSpPr>
          <p:spPr>
            <a:xfrm rot="10800000">
              <a:off x="7725814" y="-1867"/>
              <a:ext cx="1418185" cy="742045"/>
            </a:xfrm>
            <a:custGeom>
              <a:avLst/>
              <a:gdLst/>
              <a:ahLst/>
              <a:cxnLst/>
              <a:rect l="l" t="t" r="r" b="b"/>
              <a:pathLst>
                <a:path w="1418185" h="742045">
                  <a:moveTo>
                    <a:pt x="1418185" y="742045"/>
                  </a:moveTo>
                  <a:lnTo>
                    <a:pt x="0" y="742045"/>
                  </a:lnTo>
                  <a:lnTo>
                    <a:pt x="0" y="0"/>
                  </a:lnTo>
                  <a:lnTo>
                    <a:pt x="676140" y="0"/>
                  </a:lnTo>
                  <a:close/>
                </a:path>
              </a:pathLst>
            </a:custGeom>
            <a:solidFill>
              <a:srgbClr val="0094E9">
                <a:alpha val="5000"/>
              </a:srgbClr>
            </a:solidFill>
            <a:ln>
              <a:noFill/>
            </a:ln>
          </p:spPr>
        </p:sp>
        <p:sp>
          <p:nvSpPr>
            <p:cNvPr id="12" name="hdr/deco2"/>
            <p:cNvSpPr/>
            <p:nvPr userDrawn="1"/>
          </p:nvSpPr>
          <p:spPr>
            <a:xfrm rot="10800000">
              <a:off x="8170428" y="-1867"/>
              <a:ext cx="973572" cy="742045"/>
            </a:xfrm>
            <a:custGeom>
              <a:avLst/>
              <a:gdLst/>
              <a:ahLst/>
              <a:cxnLst/>
              <a:rect l="l" t="t" r="r" b="b"/>
              <a:pathLst>
                <a:path w="973572" h="742045">
                  <a:moveTo>
                    <a:pt x="973572" y="742045"/>
                  </a:moveTo>
                  <a:lnTo>
                    <a:pt x="0" y="742045"/>
                  </a:lnTo>
                  <a:lnTo>
                    <a:pt x="0" y="0"/>
                  </a:lnTo>
                  <a:lnTo>
                    <a:pt x="231527" y="0"/>
                  </a:lnTo>
                  <a:close/>
                </a:path>
              </a:pathLst>
            </a:custGeom>
            <a:solidFill>
              <a:srgbClr val="0094E9">
                <a:alpha val="5000"/>
              </a:srgbClr>
            </a:solidFill>
            <a:ln>
              <a:noFill/>
            </a:ln>
          </p:spPr>
        </p:sp>
        <p:sp>
          <p:nvSpPr>
            <p:cNvPr id="13" name="hdr/sq"/>
            <p:cNvSpPr/>
            <p:nvPr userDrawn="1"/>
          </p:nvSpPr>
          <p:spPr>
            <a:xfrm>
              <a:off x="0" y="1"/>
              <a:ext cx="929898" cy="740176"/>
            </a:xfrm>
            <a:prstGeom prst="rect">
              <a:avLst/>
            </a:prstGeom>
            <a:gradFill flip="none" rotWithShape="1">
              <a:gsLst>
                <a:gs pos="9000">
                  <a:srgbClr val="0094E9"/>
                </a:gs>
                <a:gs pos="100000">
                  <a:srgbClr val="78CCC8"/>
                </a:gs>
              </a:gsLst>
              <a:lin ang="2700000" scaled="1"/>
              <a:tileRect/>
            </a:gradFill>
            <a:ln>
              <a:noFill/>
            </a:ln>
          </p:spPr>
        </p:sp>
        <p:sp>
          <p:nvSpPr>
            <p:cNvPr id="14" name="hdr/band"/>
            <p:cNvSpPr/>
            <p:nvPr userDrawn="1"/>
          </p:nvSpPr>
          <p:spPr>
            <a:xfrm>
              <a:off x="0" y="740178"/>
              <a:ext cx="9144000" cy="93715"/>
            </a:xfrm>
            <a:prstGeom prst="rect">
              <a:avLst/>
            </a:prstGeom>
            <a:solidFill>
              <a:schemeClr val="tx1">
                <a:alpha val="5000"/>
              </a:schemeClr>
            </a:solidFill>
            <a:ln>
              <a:noFill/>
            </a:ln>
          </p:spPr>
        </p:sp>
        <p:cxnSp>
          <p:nvCxnSpPr>
            <p:cNvPr id="15" name="hdr/line"/>
            <p:cNvCxnSpPr/>
            <p:nvPr userDrawn="1"/>
          </p:nvCxnSpPr>
          <p:spPr>
            <a:xfrm>
              <a:off x="0" y="740178"/>
              <a:ext cx="914400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</p:cxn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/sq/num"/>
          <p:cNvSpPr txBox="1"/>
          <p:nvPr/>
        </p:nvSpPr>
        <p:spPr>
          <a:xfrm>
            <a:off x="283650" y="138022"/>
            <a:ext cx="362600" cy="461665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ko-KR" altLang="en-US">
                <a:solidFill>
                  <a:srgbClr val="FFFFFF"/>
                </a:solidFill>
                <a:latin typeface="Aptos"/>
                <a:ea typeface="KoPubWorld돋움체 Medium"/>
                <a:cs typeface="Aptos"/>
              </a:rPr>
              <a:t>4</a:t>
            </a:r>
            <a:endParaRPr lang="ko-KR" sz="24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3" name="hdr/proj"/>
          <p:cNvSpPr txBox="1"/>
          <p:nvPr/>
        </p:nvSpPr>
        <p:spPr>
          <a:xfrm>
            <a:off x="1009838" y="85527"/>
            <a:ext cx="3887736" cy="230832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복합전극용 50kg/batch급 고성능 고체전해질 제조공정기술 및 장비개발</a:t>
            </a:r>
            <a:endParaRPr lang="ko-KR" sz="9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4" name="hdr/title"/>
          <p:cNvSpPr txBox="1"/>
          <p:nvPr/>
        </p:nvSpPr>
        <p:spPr>
          <a:xfrm>
            <a:off x="1031154" y="332236"/>
            <a:ext cx="3427667" cy="307777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4차년도 조건에서 비교하는 네 SE 입도</a:t>
            </a:r>
            <a:endParaRPr lang="ko-KR" sz="14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5" name="band"/>
          <p:cNvSpPr/>
          <p:nvPr/>
        </p:nvSpPr>
        <p:spPr>
          <a:xfrm>
            <a:off x="258763" y="897206"/>
            <a:ext cx="8641044" cy="1178322"/>
          </a:xfrm>
          <a:prstGeom prst="roundRect">
            <a:avLst>
              <a:gd name="adj" fmla="val 11335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and/in"/>
          <p:cNvSpPr/>
          <p:nvPr/>
        </p:nvSpPr>
        <p:spPr>
          <a:xfrm>
            <a:off x="360476" y="994354"/>
            <a:ext cx="8437618" cy="990371"/>
          </a:xfrm>
          <a:prstGeom prst="roundRect">
            <a:avLst>
              <a:gd name="adj" fmla="val 812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and/in/tab"/>
          <p:cNvSpPr/>
          <p:nvPr/>
        </p:nvSpPr>
        <p:spPr>
          <a:xfrm>
            <a:off x="1522493" y="880287"/>
            <a:ext cx="6113583" cy="32018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4차년도 DEM 해석 — SE 입도 0.7 · 1 · 2 · 3 µm 비교 (입도별 시드 1)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8" name="band/in/i1/num"/>
          <p:cNvSpPr/>
          <p:nvPr/>
        </p:nvSpPr>
        <p:spPr>
          <a:xfrm>
            <a:off x="559520" y="1330248"/>
            <a:ext cx="191630" cy="191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1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9" name="band/in/i1/title"/>
          <p:cNvSpPr txBox="1"/>
          <p:nvPr/>
        </p:nvSpPr>
        <p:spPr>
          <a:xfrm>
            <a:off x="759693" y="1326715"/>
            <a:ext cx="3871804" cy="261610"/>
          </a:xfrm>
          <a:prstGeom prst="rect">
            <a:avLst/>
          </a:prstGeom>
          <a:noFill/>
        </p:spPr>
        <p:txBody>
          <a:bodyPr wrap="non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해석 설계 — SE 입도만 다른 네 침대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0" name="band/in/i1/desc"/>
          <p:cNvSpPr txBox="1"/>
          <p:nvPr/>
        </p:nvSpPr>
        <p:spPr>
          <a:xfrm>
            <a:off x="782113" y="1590931"/>
            <a:ext cx="3849384" cy="26161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덱 실행 줄 차이 = SE 반지름 · 시드 · SE 수 · 이름</a:t>
            </a:r>
            <a:endParaRPr lang="ko-KR" sz="11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band/in/i2/num"/>
          <p:cNvSpPr/>
          <p:nvPr/>
        </p:nvSpPr>
        <p:spPr>
          <a:xfrm>
            <a:off x="4768657" y="1330248"/>
            <a:ext cx="191630" cy="191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2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2" name="band/in/i2/title"/>
          <p:cNvSpPr txBox="1"/>
          <p:nvPr/>
        </p:nvSpPr>
        <p:spPr>
          <a:xfrm>
            <a:off x="5002368" y="1330734"/>
            <a:ext cx="3685998" cy="261610"/>
          </a:xfrm>
          <a:prstGeom prst="rect">
            <a:avLst/>
          </a:prstGeom>
          <a:noFill/>
        </p:spPr>
        <p:txBody>
          <a:bodyPr wrap="non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비교 범위 — 단분산 대리 입도 0.7 · 1 · 2 · 3 µm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band/in/i2/desc"/>
          <p:cNvSpPr txBox="1"/>
          <p:nvPr/>
        </p:nvSpPr>
        <p:spPr>
          <a:xfrm>
            <a:off x="5024787" y="1594950"/>
            <a:ext cx="3663579" cy="26161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- 4차년도 목표 0.7 µm 포함 · D</a:t>
            </a:r>
            <a:r>
              <a:rPr sz="1100" b="0" lang="ko-KR" altLang="en-US" baseline="-2500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</a:t>
            </a: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/D</a:t>
            </a:r>
            <a:r>
              <a:rPr sz="1100" b="0" lang="ko-KR" altLang="en-US" baseline="-2500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</a:t>
            </a: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8.57 – 2</a:t>
            </a:r>
            <a:endParaRPr lang="ko-KR" sz="11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L"/>
          <p:cNvSpPr/>
          <p:nvPr/>
        </p:nvSpPr>
        <p:spPr>
          <a:xfrm>
            <a:off x="258763" y="2204863"/>
            <a:ext cx="4235043" cy="4168505"/>
          </a:xfrm>
          <a:prstGeom prst="roundRect">
            <a:avLst>
              <a:gd name="adj" fmla="val 2377"/>
            </a:avLst>
          </a:prstGeom>
          <a:noFill/>
          <a:ln w="9525">
            <a:solidFill>
              <a:srgbClr val="7F7F7F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L/tab"/>
          <p:cNvSpPr txBox="1"/>
          <p:nvPr/>
        </p:nvSpPr>
        <p:spPr>
          <a:xfrm>
            <a:off x="1524845" y="2097005"/>
            <a:ext cx="1702879" cy="2769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45720" tIns="0" rIns="4572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000000"/>
                </a:solidFill>
                <a:latin typeface="Aptos"/>
                <a:ea typeface="KoPubWorld돋움체 Medium"/>
                <a:cs typeface="Aptos"/>
              </a:rPr>
              <a:t>(해석 조건 · 크기비)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6" name="L/s1"/>
          <p:cNvSpPr txBox="1"/>
          <p:nvPr/>
        </p:nvSpPr>
        <p:spPr>
          <a:xfrm>
            <a:off x="350203" y="2401436"/>
            <a:ext cx="4052163" cy="21361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조건 차이표 — 공통 조건 · 침대별 차이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graphicFrame>
        <p:nvGraphicFramePr>
          <p:cNvPr id="17" name="L/tA"/>
          <p:cNvGraphicFramePr>
            <a:graphicFrameLocks noGrp="1"/>
          </p:cNvGraphicFramePr>
          <p:nvPr/>
        </p:nvGraphicFramePr>
        <p:xfrm>
          <a:off x="368491" y="2633338"/>
          <a:ext cx="4015587" cy="112014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1426464"/>
                <a:gridCol w="2589123"/>
              </a:tblGrid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활물질 (AM)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NCM D6 단일 (r 3 µm) · 4.85 g/cm³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고체전해질 (SE)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LPSCl · 1.64 g/cm³ · 단분산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SE 영률 — 물성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22 GPa (DFT E</a:t>
                      </a:r>
                      <a:r>
                        <a:rPr sz="800" b="0" lang="ko-KR" altLang="en-US" baseline="-2500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VRH</a:t>
                      </a: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 22.06 · 문헌)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SE 영률 — DEM 유효 입력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1.35 GPa (선행 이종기술 DEM 과 같은 규약)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NCM 영률 (DEM 입력)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140 GPa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조성 · 면용량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AM:SE 85:15 wt% · 6.5 mAh/cm² (200 mAh/g)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가압 · 해석 영역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300 MPa · 50 × 50 µm (주기 x · y)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L/tB"/>
          <p:cNvGraphicFramePr>
            <a:graphicFrameLocks noGrp="1"/>
          </p:cNvGraphicFramePr>
          <p:nvPr/>
        </p:nvGraphicFramePr>
        <p:xfrm>
          <a:off x="368491" y="3808342"/>
          <a:ext cx="4015588" cy="112014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1005840"/>
                <a:gridCol w="752437"/>
                <a:gridCol w="752437"/>
                <a:gridCol w="752437"/>
                <a:gridCol w="752437"/>
              </a:tblGrid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침대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D0.7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D1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D2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D3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SE D50 (µm)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0.7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2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3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D</a:t>
                      </a:r>
                      <a:r>
                        <a:rPr sz="800" b="0" lang="ko-KR" altLang="en-US" baseline="-2500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AM</a:t>
                      </a: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/D</a:t>
                      </a:r>
                      <a:r>
                        <a:rPr sz="800" b="0" lang="ko-KR" altLang="en-US" baseline="-2500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SE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8.57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6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3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2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SE 수 (덱 계획)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4.868 × 10⁵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1.670 × 10⁵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2.087 × 10⁴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6184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AM 수 (덱 계획)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1481 (네 침대 같음)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AM 수 (끝 상태)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[D0.7</a:t>
                      </a:r>
                      <a:br>
                        <a:rPr sz="800">
                          <a:latin typeface="Aptos"/>
                          <a:ea typeface="KoPubWorld돋움체 Medium"/>
                          <a:cs typeface="Aptos"/>
                        </a:rPr>
                      </a:b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본 런 전]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[D1</a:t>
                      </a:r>
                      <a:br>
                        <a:rPr sz="800">
                          <a:latin typeface="Aptos"/>
                          <a:ea typeface="KoPubWorld돋움체 Medium"/>
                          <a:cs typeface="Aptos"/>
                        </a:rPr>
                      </a:b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해석 진행 중]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1481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1482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SE 수 (끝 상태)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2.087 × 10⁴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lang="ko-KR" altLang="en-US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6184</a:t>
                      </a:r>
                      <a:endParaRPr lang="ko-KR" sz="800">
                        <a:latin typeface="Aptos"/>
                        <a:ea typeface="KoPubWorld돋움체 Medium"/>
                        <a:cs typeface="Aptos"/>
                      </a:endParaRPr>
                    </a:p>
                  </a:txBody>
                  <a:tcPr marL="27432" marT="4572" marR="27432" marB="457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L/s2"/>
          <p:cNvSpPr txBox="1"/>
          <p:nvPr/>
        </p:nvSpPr>
        <p:spPr>
          <a:xfrm>
            <a:off x="350203" y="4983346"/>
            <a:ext cx="4052163" cy="21361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크기비 축 — D</a:t>
            </a:r>
            <a:r>
              <a:rPr sz="1000" b="0" lang="ko-KR" altLang="en-US" baseline="-2500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AM</a:t>
            </a: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/D</a:t>
            </a:r>
            <a:r>
              <a:rPr sz="1000" b="0" lang="ko-KR" altLang="en-US" baseline="-2500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SE</a:t>
            </a: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 · 이상화 삼각 목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pic>
        <p:nvPicPr>
          <p:cNvPr id="20" name="L/fig2" descr="p1_size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04" y="5215248"/>
            <a:ext cx="4023360" cy="786384"/>
          </a:xfrm>
          <a:prstGeom prst="rect">
            <a:avLst/>
          </a:prstGeom>
        </p:spPr>
      </p:pic>
      <p:sp>
        <p:nvSpPr>
          <p:cNvPr id="21" name="L/cap2"/>
          <p:cNvSpPr txBox="1"/>
          <p:nvPr/>
        </p:nvSpPr>
        <p:spPr>
          <a:xfrm>
            <a:off x="364604" y="6029064"/>
            <a:ext cx="4023360" cy="29489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【 점선 = 세 AM (D6) 이 맞닿은 평면 목의 내접원 d = (2/√3 − 1)·D</a:t>
            </a:r>
            <a:r>
              <a:rPr sz="700" b="0" lang="ko-KR" altLang="en-US" baseline="-2500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AM</a:t>
            </a:r>
            <a:r>
              <a:rPr sz="700" b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= 0.928 µm · 이상화 기준선 (실제 침대의 문턱 아님) · 왼쪽 = 그 목 모식도 】</a:t>
            </a:r>
            <a:endParaRPr lang="ko-KR" sz="7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R"/>
          <p:cNvSpPr/>
          <p:nvPr/>
        </p:nvSpPr>
        <p:spPr>
          <a:xfrm>
            <a:off x="4640670" y="2204863"/>
            <a:ext cx="4235043" cy="4168505"/>
          </a:xfrm>
          <a:prstGeom prst="roundRect">
            <a:avLst>
              <a:gd name="adj" fmla="val 2377"/>
            </a:avLst>
          </a:prstGeom>
          <a:noFill/>
          <a:ln w="9525">
            <a:solidFill>
              <a:srgbClr val="7F7F7F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/tab"/>
          <p:cNvSpPr txBox="1"/>
          <p:nvPr/>
        </p:nvSpPr>
        <p:spPr>
          <a:xfrm>
            <a:off x="6083369" y="2097005"/>
            <a:ext cx="1349645" cy="2769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45720" tIns="0" rIns="4572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000000"/>
                </a:solidFill>
                <a:latin typeface="Aptos"/>
                <a:ea typeface="KoPubWorld돋움체 Medium"/>
                <a:cs typeface="Aptos"/>
              </a:rPr>
              <a:t>(같은 배율 단면)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4" name="R/s1"/>
          <p:cNvSpPr txBox="1"/>
          <p:nvPr/>
        </p:nvSpPr>
        <p:spPr>
          <a:xfrm>
            <a:off x="4732110" y="2401436"/>
            <a:ext cx="4052163" cy="21361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끝 상태 x–z 단면 — 같은 배율 (y = 25 µm 평면)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5" name="R/d1"/>
          <p:cNvSpPr txBox="1"/>
          <p:nvPr/>
        </p:nvSpPr>
        <p:spPr>
          <a:xfrm>
            <a:off x="4786974" y="2615050"/>
            <a:ext cx="3997299" cy="384048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DEM (이산요소법) 끝 상태 = 판 고정 이완 끝 (가압 상태 · 언로딩 없음)</a:t>
            </a:r>
            <a:endParaRPr lang="ko-KR" sz="800"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벽 · 판과 겹친 입자 부분은 벽 · 판 선에서 자름</a:t>
            </a:r>
            <a:endParaRPr lang="ko-KR" sz="80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6" name="R/fig1" descr="p1_se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512" y="3026530"/>
            <a:ext cx="4023360" cy="2697480"/>
          </a:xfrm>
          <a:prstGeom prst="rect">
            <a:avLst/>
          </a:prstGeom>
        </p:spPr>
      </p:pic>
      <p:sp>
        <p:nvSpPr>
          <p:cNvPr id="27" name="R/fig1/ph-D0.7"/>
          <p:cNvSpPr txBox="1"/>
          <p:nvPr/>
        </p:nvSpPr>
        <p:spPr>
          <a:xfrm>
            <a:off x="5176280" y="4119238"/>
            <a:ext cx="742036" cy="384048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18288" tIns="18288" rIns="18288" bIns="18288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[D0.7</a:t>
            </a:r>
            <a:br>
              <a:rPr sz="800">
                <a:latin typeface="Aptos"/>
                <a:ea typeface="KoPubWorld돋움체 Medium"/>
                <a:cs typeface="Aptos"/>
              </a:rPr>
            </a:br>
            <a:r>
              <a:rPr sz="8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본 런 전]</a:t>
            </a:r>
            <a:endParaRPr lang="ko-KR" sz="8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8" name="R/fig1/ph-D1"/>
          <p:cNvSpPr txBox="1"/>
          <p:nvPr/>
        </p:nvSpPr>
        <p:spPr>
          <a:xfrm>
            <a:off x="6099366" y="4119238"/>
            <a:ext cx="742036" cy="384048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18288" tIns="18288" rIns="18288" bIns="18288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[D1</a:t>
            </a:r>
            <a:br>
              <a:rPr sz="800">
                <a:latin typeface="Aptos"/>
                <a:ea typeface="KoPubWorld돋움체 Medium"/>
                <a:cs typeface="Aptos"/>
              </a:rPr>
            </a:br>
            <a:r>
              <a:rPr sz="8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해석 진행 중]</a:t>
            </a:r>
            <a:endParaRPr lang="ko-KR" sz="8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9" name="R/leg/se"/>
          <p:cNvSpPr/>
          <p:nvPr/>
        </p:nvSpPr>
        <p:spPr>
          <a:xfrm>
            <a:off x="4837952" y="5778874"/>
            <a:ext cx="100584" cy="100584"/>
          </a:xfrm>
          <a:prstGeom prst="rect">
            <a:avLst/>
          </a:prstGeom>
          <a:solidFill>
            <a:srgbClr val="D264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/leg/se-t"/>
          <p:cNvSpPr txBox="1"/>
          <p:nvPr/>
        </p:nvSpPr>
        <p:spPr>
          <a:xfrm>
            <a:off x="4965968" y="5760586"/>
            <a:ext cx="613251" cy="146304"/>
          </a:xfrm>
          <a:prstGeom prst="rect">
            <a:avLst/>
          </a:prstGeom>
          <a:noFill/>
        </p:spPr>
        <p:txBody>
          <a:bodyPr wrap="none" anchor="ctr" lIns="18288" tIns="0" r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SE (LPSCl)</a:t>
            </a:r>
            <a:endParaRPr lang="ko-KR" sz="8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31" name="R/leg/am"/>
          <p:cNvSpPr/>
          <p:nvPr/>
        </p:nvSpPr>
        <p:spPr>
          <a:xfrm>
            <a:off x="5725523" y="5778874"/>
            <a:ext cx="100584" cy="10058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/leg/am-t"/>
          <p:cNvSpPr txBox="1"/>
          <p:nvPr/>
        </p:nvSpPr>
        <p:spPr>
          <a:xfrm>
            <a:off x="5853539" y="5760586"/>
            <a:ext cx="594789" cy="146304"/>
          </a:xfrm>
          <a:prstGeom prst="rect">
            <a:avLst/>
          </a:prstGeom>
          <a:noFill/>
        </p:spPr>
        <p:txBody>
          <a:bodyPr wrap="none" anchor="ctr" lIns="18288" tIns="0" r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AM (NCM)</a:t>
            </a:r>
            <a:endParaRPr lang="ko-KR" sz="8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33" name="R/leg/pore"/>
          <p:cNvSpPr/>
          <p:nvPr/>
        </p:nvSpPr>
        <p:spPr>
          <a:xfrm>
            <a:off x="6594632" y="5778874"/>
            <a:ext cx="100584" cy="100584"/>
          </a:xfrm>
          <a:prstGeom prst="rect">
            <a:avLst/>
          </a:prstGeom>
          <a:solidFill>
            <a:srgbClr val="FFFFFF"/>
          </a:solidFill>
          <a:ln w="6350">
            <a:solidFill>
              <a:srgbClr val="7F7F7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/leg/pore-t"/>
          <p:cNvSpPr txBox="1"/>
          <p:nvPr/>
        </p:nvSpPr>
        <p:spPr>
          <a:xfrm>
            <a:off x="6722648" y="5760586"/>
            <a:ext cx="294640" cy="146304"/>
          </a:xfrm>
          <a:prstGeom prst="rect">
            <a:avLst/>
          </a:prstGeom>
          <a:noFill/>
        </p:spPr>
        <p:txBody>
          <a:bodyPr wrap="none" anchor="ctr" lIns="18288" tIns="0" r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기공</a:t>
            </a:r>
            <a:endParaRPr lang="ko-KR" sz="8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35" name="R/leg/wall"/>
          <p:cNvSpPr/>
          <p:nvPr/>
        </p:nvSpPr>
        <p:spPr>
          <a:xfrm>
            <a:off x="7163592" y="5815450"/>
            <a:ext cx="146304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/leg/wall-t"/>
          <p:cNvSpPr txBox="1"/>
          <p:nvPr/>
        </p:nvSpPr>
        <p:spPr>
          <a:xfrm>
            <a:off x="7337328" y="5760586"/>
            <a:ext cx="696309" cy="146304"/>
          </a:xfrm>
          <a:prstGeom prst="rect">
            <a:avLst/>
          </a:prstGeom>
          <a:noFill/>
        </p:spPr>
        <p:txBody>
          <a:bodyPr wrap="none" anchor="ctr" lIns="18288" tIns="0" r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판 · 바닥 벽</a:t>
            </a:r>
            <a:endParaRPr lang="ko-KR" sz="8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37" name="R/cap1"/>
          <p:cNvSpPr txBox="1"/>
          <p:nvPr/>
        </p:nvSpPr>
        <p:spPr>
          <a:xfrm>
            <a:off x="4746512" y="5943466"/>
            <a:ext cx="4023360" cy="29489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【 끝 상태 덤프 (D2 step 4015002 · 판 122.5 µm · D3 step 4575002 · 판 125.9 µm) · x 주기 · 칸마다 같은 배율 · 빈 칸 = 자료 전 】</a:t>
            </a:r>
            <a:endParaRPr lang="ko-KR" sz="7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note"/>
          <p:cNvSpPr txBox="1"/>
          <p:nvPr/>
        </p:nvSpPr>
        <p:spPr>
          <a:xfrm>
            <a:off x="258775" y="6428232"/>
            <a:ext cx="6675120" cy="22860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 altLang="en-US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결론: 비교 범위 = SE D50 0.7 · 1 · 2 · 3 µm 단분산 대리 입도 (4차년도 목표 0.7 µm 포함) · 입도별 시드 1</a:t>
            </a:r>
            <a:endParaRPr lang="ko-KR" sz="9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pgnum"/>
          <p:cNvSpPr txBox="1"/>
          <p:nvPr/>
        </p:nvSpPr>
        <p:spPr>
          <a:xfrm>
            <a:off x="7010401" y="6491968"/>
            <a:ext cx="2133599" cy="365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B3E2F1A-5C4D-4E8F-9A1B-2C3D4E5F6A7B}" type="slidenum">
              <a:rPr lang="ko-KR" sz="120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‹#›</a:t>
            </a:fld>
            <a:endParaRPr lang="ko-KR" sz="1200"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/sq/num"/>
          <p:cNvSpPr txBox="1"/>
          <p:nvPr/>
        </p:nvSpPr>
        <p:spPr>
          <a:xfrm>
            <a:off x="283650" y="138022"/>
            <a:ext cx="362600" cy="461665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ko-KR" altLang="en-US">
                <a:solidFill>
                  <a:srgbClr val="FFFFFF"/>
                </a:solidFill>
                <a:latin typeface="Aptos"/>
                <a:ea typeface="KoPubWorld돋움체 Medium"/>
                <a:cs typeface="Aptos"/>
              </a:rPr>
              <a:t>4</a:t>
            </a:r>
            <a:endParaRPr lang="ko-KR" sz="24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3" name="hdr/proj"/>
          <p:cNvSpPr txBox="1"/>
          <p:nvPr/>
        </p:nvSpPr>
        <p:spPr>
          <a:xfrm>
            <a:off x="1009838" y="85527"/>
            <a:ext cx="3887736" cy="230832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복합전극용 50kg/batch급 고성능 고체전해질 제조공정기술 및 장비개발</a:t>
            </a:r>
            <a:endParaRPr lang="ko-KR" sz="9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4" name="hdr/title"/>
          <p:cNvSpPr txBox="1"/>
          <p:nvPr/>
        </p:nvSpPr>
        <p:spPr>
          <a:xfrm>
            <a:off x="1031154" y="332236"/>
            <a:ext cx="2674280" cy="307777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미립화에 따른 공간 점유와 압밀</a:t>
            </a:r>
            <a:endParaRPr lang="ko-KR" sz="14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5" name="band"/>
          <p:cNvSpPr/>
          <p:nvPr/>
        </p:nvSpPr>
        <p:spPr>
          <a:xfrm>
            <a:off x="258763" y="897206"/>
            <a:ext cx="8641044" cy="1178322"/>
          </a:xfrm>
          <a:prstGeom prst="roundRect">
            <a:avLst>
              <a:gd name="adj" fmla="val 11335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and/in"/>
          <p:cNvSpPr/>
          <p:nvPr/>
        </p:nvSpPr>
        <p:spPr>
          <a:xfrm>
            <a:off x="360476" y="994354"/>
            <a:ext cx="8437618" cy="990371"/>
          </a:xfrm>
          <a:prstGeom prst="roundRect">
            <a:avLst>
              <a:gd name="adj" fmla="val 812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and/in/tab"/>
          <p:cNvSpPr/>
          <p:nvPr/>
        </p:nvSpPr>
        <p:spPr>
          <a:xfrm>
            <a:off x="1522493" y="880287"/>
            <a:ext cx="6113583" cy="32018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4차년도 DEM 해석 — SE 입도 0.7 · 1 · 2 · 3 µm 비교 (입도별 시드 1)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8" name="band/in/i1/num"/>
          <p:cNvSpPr/>
          <p:nvPr/>
        </p:nvSpPr>
        <p:spPr>
          <a:xfrm>
            <a:off x="559520" y="1330248"/>
            <a:ext cx="191630" cy="191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1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9" name="band/in/i1/title"/>
          <p:cNvSpPr txBox="1"/>
          <p:nvPr/>
        </p:nvSpPr>
        <p:spPr>
          <a:xfrm>
            <a:off x="759693" y="1326715"/>
            <a:ext cx="3871804" cy="261610"/>
          </a:xfrm>
          <a:prstGeom prst="rect">
            <a:avLst/>
          </a:prstGeom>
          <a:noFill/>
        </p:spPr>
        <p:txBody>
          <a:bodyPr wrap="non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국소 점유 — AM 표면 거리별 SE 점유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0" name="band/in/i1/desc"/>
          <p:cNvSpPr txBox="1"/>
          <p:nvPr/>
        </p:nvSpPr>
        <p:spPr>
          <a:xfrm>
            <a:off x="782113" y="1590931"/>
            <a:ext cx="3849384" cy="26161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네 입도 같은 µm 거리 구간 · 정확 합집합</a:t>
            </a:r>
            <a:endParaRPr lang="ko-KR" sz="11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band/in/i2/num"/>
          <p:cNvSpPr/>
          <p:nvPr/>
        </p:nvSpPr>
        <p:spPr>
          <a:xfrm>
            <a:off x="4768657" y="1330248"/>
            <a:ext cx="191630" cy="191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2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2" name="band/in/i2/title"/>
          <p:cNvSpPr txBox="1"/>
          <p:nvPr/>
        </p:nvSpPr>
        <p:spPr>
          <a:xfrm>
            <a:off x="5002368" y="1330734"/>
            <a:ext cx="3685998" cy="261610"/>
          </a:xfrm>
          <a:prstGeom prst="rect">
            <a:avLst/>
          </a:prstGeom>
          <a:noFill/>
        </p:spPr>
        <p:txBody>
          <a:bodyPr wrap="non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전체 압밀 — 기공도–판 압력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band/in/i2/desc"/>
          <p:cNvSpPr txBox="1"/>
          <p:nvPr/>
        </p:nvSpPr>
        <p:spPr>
          <a:xfrm>
            <a:off x="5024787" y="1594950"/>
            <a:ext cx="3663579" cy="26161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가압 가지 · 고정 높이 이완 가지 따로</a:t>
            </a:r>
            <a:endParaRPr lang="ko-KR" sz="11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L"/>
          <p:cNvSpPr/>
          <p:nvPr/>
        </p:nvSpPr>
        <p:spPr>
          <a:xfrm>
            <a:off x="258763" y="2204863"/>
            <a:ext cx="4235043" cy="4168505"/>
          </a:xfrm>
          <a:prstGeom prst="roundRect">
            <a:avLst>
              <a:gd name="adj" fmla="val 2377"/>
            </a:avLst>
          </a:prstGeom>
          <a:noFill/>
          <a:ln w="9525">
            <a:solidFill>
              <a:srgbClr val="7F7F7F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L/tab"/>
          <p:cNvSpPr txBox="1"/>
          <p:nvPr/>
        </p:nvSpPr>
        <p:spPr>
          <a:xfrm>
            <a:off x="1305282" y="2097005"/>
            <a:ext cx="2142006" cy="2769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45720" tIns="0" rIns="4572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000000"/>
                </a:solidFill>
                <a:latin typeface="Aptos"/>
                <a:ea typeface="KoPubWorld돋움체 Medium"/>
                <a:cs typeface="Aptos"/>
              </a:rPr>
              <a:t>(AM 표면 거리별 SE 점유)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6" name="L/s1"/>
          <p:cNvSpPr txBox="1"/>
          <p:nvPr/>
        </p:nvSpPr>
        <p:spPr>
          <a:xfrm>
            <a:off x="350203" y="2401436"/>
            <a:ext cx="4052163" cy="37236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AM 표면에서 거리 구간별 SE 점유 분율 (같은 µm 구간 · 정확 합집합)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7" name="L/d1"/>
          <p:cNvSpPr txBox="1"/>
          <p:nvPr/>
        </p:nvSpPr>
        <p:spPr>
          <a:xfrm>
            <a:off x="405067" y="2773800"/>
            <a:ext cx="3997299" cy="384048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껍질 분율의 분모 · 상 겹침 처리 = 계산 전 정의 고정</a:t>
            </a:r>
            <a:endParaRPr lang="ko-KR" sz="800"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기하 반례 시험 먼저 (빈 SE · 단일 구 · 중복 구 · 경계 절단 · 회전)</a:t>
            </a:r>
            <a:endParaRPr lang="ko-KR" sz="8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"/>
          <p:cNvSpPr/>
          <p:nvPr/>
        </p:nvSpPr>
        <p:spPr>
          <a:xfrm>
            <a:off x="4640670" y="2204863"/>
            <a:ext cx="4235043" cy="4168505"/>
          </a:xfrm>
          <a:prstGeom prst="roundRect">
            <a:avLst>
              <a:gd name="adj" fmla="val 2377"/>
            </a:avLst>
          </a:prstGeom>
          <a:noFill/>
          <a:ln w="9525">
            <a:solidFill>
              <a:srgbClr val="7F7F7F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/tab"/>
          <p:cNvSpPr txBox="1"/>
          <p:nvPr/>
        </p:nvSpPr>
        <p:spPr>
          <a:xfrm>
            <a:off x="6031386" y="2097005"/>
            <a:ext cx="1453610" cy="2769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45720" tIns="0" rIns="4572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000000"/>
                </a:solidFill>
                <a:latin typeface="Aptos"/>
                <a:ea typeface="KoPubWorld돋움체 Medium"/>
                <a:cs typeface="Aptos"/>
              </a:rPr>
              <a:t>(기공도–판 압력)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0" name="R/s1"/>
          <p:cNvSpPr txBox="1"/>
          <p:nvPr/>
        </p:nvSpPr>
        <p:spPr>
          <a:xfrm>
            <a:off x="4732110" y="2401436"/>
            <a:ext cx="4052163" cy="21361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기공도 (ε</a:t>
            </a:r>
            <a:r>
              <a:rPr sz="1000" b="0" lang="ko-KR" altLang="en-US" baseline="-2500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sphere</a:t>
            </a: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 · 전극 부피 기준) – 판 압력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1" name="R/d1"/>
          <p:cNvSpPr txBox="1"/>
          <p:nvPr/>
        </p:nvSpPr>
        <p:spPr>
          <a:xfrm>
            <a:off x="4786974" y="2615050"/>
            <a:ext cx="3997299" cy="219456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가압 가지 (판 이동) · 고정 높이 이완 가지 따로 · 언로딩 없음 (가압 상태)</a:t>
            </a:r>
            <a:endParaRPr lang="ko-KR" sz="8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L/fig"/>
          <p:cNvSpPr/>
          <p:nvPr/>
        </p:nvSpPr>
        <p:spPr>
          <a:xfrm>
            <a:off x="386779" y="3212712"/>
            <a:ext cx="3979011" cy="3069216"/>
          </a:xfrm>
          <a:prstGeom prst="rect">
            <a:avLst/>
          </a:prstGeom>
          <a:noFill/>
          <a:ln w="9525">
            <a:solidFill>
              <a:srgbClr val="7F7F7F"/>
            </a:solidFill>
            <a:prstDash val="dash"/>
          </a:ln>
        </p:spPr>
        <p:txBody>
          <a:bodyPr rtlCol="0" anchor="ctr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[새 지표 정의 · 시험 뒤]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pic>
        <p:nvPicPr>
          <p:cNvPr id="23" name="R/fig" descr="p2_aux_comp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232" y="3212712"/>
            <a:ext cx="3931920" cy="2395728"/>
          </a:xfrm>
          <a:prstGeom prst="rect">
            <a:avLst/>
          </a:prstGeom>
        </p:spPr>
      </p:pic>
      <p:sp>
        <p:nvSpPr>
          <p:cNvPr id="24" name="R/leg2/D0.7-st"/>
          <p:cNvSpPr txBox="1"/>
          <p:nvPr/>
        </p:nvSpPr>
        <p:spPr>
          <a:xfrm>
            <a:off x="4883672" y="5645016"/>
            <a:ext cx="819309" cy="146304"/>
          </a:xfrm>
          <a:prstGeom prst="rect">
            <a:avLst/>
          </a:prstGeom>
          <a:noFill/>
        </p:spPr>
        <p:txBody>
          <a:bodyPr wrap="none" anchor="ctr" lIns="18288" tIns="0" r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[D0.7 본 런 전]</a:t>
            </a:r>
            <a:endParaRPr lang="ko-KR" sz="8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5" name="R/leg2/D1-st"/>
          <p:cNvSpPr txBox="1"/>
          <p:nvPr/>
        </p:nvSpPr>
        <p:spPr>
          <a:xfrm>
            <a:off x="5794420" y="5645016"/>
            <a:ext cx="925576" cy="146304"/>
          </a:xfrm>
          <a:prstGeom prst="rect">
            <a:avLst/>
          </a:prstGeom>
          <a:noFill/>
        </p:spPr>
        <p:txBody>
          <a:bodyPr wrap="none" anchor="ctr" lIns="18288" tIns="0" r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[D1 해석 진행 중]</a:t>
            </a:r>
            <a:endParaRPr lang="ko-KR" sz="8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6" name="R/leg2/D2"/>
          <p:cNvSpPr/>
          <p:nvPr/>
        </p:nvSpPr>
        <p:spPr>
          <a:xfrm>
            <a:off x="6811436" y="5704452"/>
            <a:ext cx="182880" cy="27432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/leg2/D2-t"/>
          <p:cNvSpPr txBox="1"/>
          <p:nvPr/>
        </p:nvSpPr>
        <p:spPr>
          <a:xfrm>
            <a:off x="7021748" y="5645016"/>
            <a:ext cx="531638" cy="146304"/>
          </a:xfrm>
          <a:prstGeom prst="rect">
            <a:avLst/>
          </a:prstGeom>
          <a:noFill/>
        </p:spPr>
        <p:txBody>
          <a:bodyPr wrap="none" anchor="ctr" lIns="18288" tIns="0" r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SE 2 µm</a:t>
            </a:r>
            <a:endParaRPr lang="ko-KR" sz="8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8" name="R/leg2/D3"/>
          <p:cNvSpPr/>
          <p:nvPr/>
        </p:nvSpPr>
        <p:spPr>
          <a:xfrm>
            <a:off x="7663114" y="5704452"/>
            <a:ext cx="182880" cy="27432"/>
          </a:xfrm>
          <a:prstGeom prst="rect">
            <a:avLst/>
          </a:prstGeom>
          <a:solidFill>
            <a:srgbClr val="174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/leg2/D3-t"/>
          <p:cNvSpPr txBox="1"/>
          <p:nvPr/>
        </p:nvSpPr>
        <p:spPr>
          <a:xfrm>
            <a:off x="7873426" y="5645016"/>
            <a:ext cx="531638" cy="146304"/>
          </a:xfrm>
          <a:prstGeom prst="rect">
            <a:avLst/>
          </a:prstGeom>
          <a:noFill/>
        </p:spPr>
        <p:txBody>
          <a:bodyPr wrap="none" anchor="ctr" lIns="18288" tIns="0" r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SE 3 µm</a:t>
            </a:r>
            <a:endParaRPr lang="ko-KR" sz="8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30" name="R/cap2"/>
          <p:cNvSpPr txBox="1"/>
          <p:nvPr/>
        </p:nvSpPr>
        <p:spPr>
          <a:xfrm>
            <a:off x="4792232" y="5846184"/>
            <a:ext cx="3931920" cy="414909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【 초안 · ε = 1 − ΣV</a:t>
            </a:r>
            <a:r>
              <a:rPr sz="700" b="0" lang="ko-KR" altLang="en-US" baseline="-2500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구</a:t>
            </a:r>
            <a:r>
              <a:rPr sz="700" b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/ (50 × 50 µm² × 판 높이) · 판 높이 = PLATE HEIGHT − 판 속도 × dt × 압축 step (끝 mesh 와 대조) · (a) 판 접촉 뒤 · (b) 판 고정 ε D2 16.74 % · D3 18.96 % 】</a:t>
            </a:r>
            <a:endParaRPr lang="ko-KR" sz="7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note"/>
          <p:cNvSpPr txBox="1"/>
          <p:nvPr/>
        </p:nvSpPr>
        <p:spPr>
          <a:xfrm>
            <a:off x="258775" y="6428232"/>
            <a:ext cx="6675120" cy="22860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 altLang="en-US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쓸 수 있는 결론의 꼴: 국소 점유와 전체 기공이 함께 변하는가</a:t>
            </a:r>
            <a:endParaRPr lang="ko-KR" sz="9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" name="pgnum"/>
          <p:cNvSpPr txBox="1"/>
          <p:nvPr/>
        </p:nvSpPr>
        <p:spPr>
          <a:xfrm>
            <a:off x="7010401" y="6491968"/>
            <a:ext cx="2133599" cy="365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B3E2F1A-5C4D-4E8F-9A1B-2C3D4E5F6A7B}" type="slidenum">
              <a:rPr lang="ko-KR" sz="120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‹#›</a:t>
            </a:fld>
            <a:endParaRPr lang="ko-KR" sz="1200"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/sq/num"/>
          <p:cNvSpPr txBox="1"/>
          <p:nvPr/>
        </p:nvSpPr>
        <p:spPr>
          <a:xfrm>
            <a:off x="283650" y="138022"/>
            <a:ext cx="362600" cy="461665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ko-KR" altLang="en-US">
                <a:solidFill>
                  <a:srgbClr val="FFFFFF"/>
                </a:solidFill>
                <a:latin typeface="Aptos"/>
                <a:ea typeface="KoPubWorld돋움체 Medium"/>
                <a:cs typeface="Aptos"/>
              </a:rPr>
              <a:t>4</a:t>
            </a:r>
            <a:endParaRPr lang="ko-KR" sz="24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3" name="hdr/proj"/>
          <p:cNvSpPr txBox="1"/>
          <p:nvPr/>
        </p:nvSpPr>
        <p:spPr>
          <a:xfrm>
            <a:off x="1009838" y="85527"/>
            <a:ext cx="3887736" cy="230832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복합전극용 50kg/batch급 고성능 고체전해질 제조공정기술 및 장비개발</a:t>
            </a:r>
            <a:endParaRPr lang="ko-KR" sz="9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4" name="hdr/title"/>
          <p:cNvSpPr txBox="1"/>
          <p:nvPr/>
        </p:nvSpPr>
        <p:spPr>
          <a:xfrm>
            <a:off x="1031154" y="332236"/>
            <a:ext cx="2788792" cy="307777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접촉이 늘어도 피복이 늘어나는가</a:t>
            </a:r>
            <a:endParaRPr lang="ko-KR" sz="14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5" name="band"/>
          <p:cNvSpPr/>
          <p:nvPr/>
        </p:nvSpPr>
        <p:spPr>
          <a:xfrm>
            <a:off x="258763" y="897206"/>
            <a:ext cx="8641044" cy="1178322"/>
          </a:xfrm>
          <a:prstGeom prst="roundRect">
            <a:avLst>
              <a:gd name="adj" fmla="val 11335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and/in"/>
          <p:cNvSpPr/>
          <p:nvPr/>
        </p:nvSpPr>
        <p:spPr>
          <a:xfrm>
            <a:off x="360476" y="994354"/>
            <a:ext cx="8437618" cy="990371"/>
          </a:xfrm>
          <a:prstGeom prst="roundRect">
            <a:avLst>
              <a:gd name="adj" fmla="val 812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and/in/tab"/>
          <p:cNvSpPr/>
          <p:nvPr/>
        </p:nvSpPr>
        <p:spPr>
          <a:xfrm>
            <a:off x="1522493" y="880287"/>
            <a:ext cx="6113583" cy="32018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4차년도 DEM 해석 — SE 입도 0.7 · 1 · 2 · 3 µm 비교 (입도별 시드 1)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8" name="band/in/i1/num"/>
          <p:cNvSpPr/>
          <p:nvPr/>
        </p:nvSpPr>
        <p:spPr>
          <a:xfrm>
            <a:off x="559520" y="1330248"/>
            <a:ext cx="191630" cy="191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1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9" name="band/in/i1/title"/>
          <p:cNvSpPr txBox="1"/>
          <p:nvPr/>
        </p:nvSpPr>
        <p:spPr>
          <a:xfrm>
            <a:off x="759693" y="1326715"/>
            <a:ext cx="3871804" cy="261610"/>
          </a:xfrm>
          <a:prstGeom prst="rect">
            <a:avLst/>
          </a:prstGeom>
          <a:noFill/>
        </p:spPr>
        <p:txBody>
          <a:bodyPr wrap="non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피복 지도 — AM 구면 기하 캡 합집합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0" name="band/in/i1/desc"/>
          <p:cNvSpPr txBox="1"/>
          <p:nvPr/>
        </p:nvSpPr>
        <p:spPr>
          <a:xfrm>
            <a:off x="782113" y="1590931"/>
            <a:ext cx="3849384" cy="26161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등면적 투영 · 대표 AM = 사전 규칙</a:t>
            </a:r>
            <a:endParaRPr lang="ko-KR" sz="11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band/in/i2/num"/>
          <p:cNvSpPr/>
          <p:nvPr/>
        </p:nvSpPr>
        <p:spPr>
          <a:xfrm>
            <a:off x="4768657" y="1330248"/>
            <a:ext cx="191630" cy="191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2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2" name="band/in/i2/title"/>
          <p:cNvSpPr txBox="1"/>
          <p:nvPr/>
        </p:nvSpPr>
        <p:spPr>
          <a:xfrm>
            <a:off x="5002368" y="1330734"/>
            <a:ext cx="3685998" cy="261610"/>
          </a:xfrm>
          <a:prstGeom prst="rect">
            <a:avLst/>
          </a:prstGeom>
          <a:noFill/>
        </p:spPr>
        <p:txBody>
          <a:bodyPr wrap="non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접촉 수 · 크기 — AM 마다 따로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band/in/i2/desc"/>
          <p:cNvSpPr txBox="1"/>
          <p:nvPr/>
        </p:nvSpPr>
        <p:spPr>
          <a:xfrm>
            <a:off x="5024787" y="1594950"/>
            <a:ext cx="3663579" cy="26161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- 0 접촉 AM 은 따로 수 · 위치</a:t>
            </a:r>
            <a:endParaRPr lang="ko-KR" sz="11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L"/>
          <p:cNvSpPr/>
          <p:nvPr/>
        </p:nvSpPr>
        <p:spPr>
          <a:xfrm>
            <a:off x="258763" y="2204863"/>
            <a:ext cx="4235043" cy="4168505"/>
          </a:xfrm>
          <a:prstGeom prst="roundRect">
            <a:avLst>
              <a:gd name="adj" fmla="val 2377"/>
            </a:avLst>
          </a:prstGeom>
          <a:noFill/>
          <a:ln w="9525">
            <a:solidFill>
              <a:srgbClr val="7F7F7F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L/tab"/>
          <p:cNvSpPr txBox="1"/>
          <p:nvPr/>
        </p:nvSpPr>
        <p:spPr>
          <a:xfrm>
            <a:off x="1524845" y="2097005"/>
            <a:ext cx="1702879" cy="2769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45720" tIns="0" rIns="4572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000000"/>
                </a:solidFill>
                <a:latin typeface="Aptos"/>
                <a:ea typeface="KoPubWorld돋움체 Medium"/>
                <a:cs typeface="Aptos"/>
              </a:rPr>
              <a:t>(기하 캡 합집합 피복)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6" name="L/s1"/>
          <p:cNvSpPr txBox="1"/>
          <p:nvPr/>
        </p:nvSpPr>
        <p:spPr>
          <a:xfrm>
            <a:off x="350203" y="2401436"/>
            <a:ext cx="4052163" cy="37236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AM 구면의 기하 캡 합집합 지도 (등면적 투영) + 전체 AM 피복 분포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7" name="L/d1"/>
          <p:cNvSpPr txBox="1"/>
          <p:nvPr/>
        </p:nvSpPr>
        <p:spPr>
          <a:xfrm>
            <a:off x="405067" y="2773800"/>
            <a:ext cx="3997299" cy="384048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대표 AM 선택 · 구면 사상 · 캡 겹침 = 계산 전 사전 규칙</a:t>
            </a:r>
            <a:endParaRPr lang="ko-KR" sz="800"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기하 반례 시험 먼저 (단일 구 · 중복 구 · 원판 ↔ 캡)</a:t>
            </a:r>
            <a:endParaRPr lang="ko-KR" sz="8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"/>
          <p:cNvSpPr/>
          <p:nvPr/>
        </p:nvSpPr>
        <p:spPr>
          <a:xfrm>
            <a:off x="4640670" y="2204863"/>
            <a:ext cx="4235043" cy="4168505"/>
          </a:xfrm>
          <a:prstGeom prst="roundRect">
            <a:avLst>
              <a:gd name="adj" fmla="val 2377"/>
            </a:avLst>
          </a:prstGeom>
          <a:noFill/>
          <a:ln w="9525">
            <a:solidFill>
              <a:srgbClr val="7F7F7F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/tab"/>
          <p:cNvSpPr txBox="1"/>
          <p:nvPr/>
        </p:nvSpPr>
        <p:spPr>
          <a:xfrm>
            <a:off x="5797595" y="2097005"/>
            <a:ext cx="1921192" cy="2769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45720" tIns="0" rIns="4572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000000"/>
                </a:solidFill>
                <a:latin typeface="Aptos"/>
                <a:ea typeface="KoPubWorld돋움체 Medium"/>
                <a:cs typeface="Aptos"/>
              </a:rPr>
              <a:t>(AM 별 접촉 수 · 면적)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0" name="R/s1"/>
          <p:cNvSpPr txBox="1"/>
          <p:nvPr/>
        </p:nvSpPr>
        <p:spPr>
          <a:xfrm>
            <a:off x="4732110" y="2401436"/>
            <a:ext cx="4052163" cy="21361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AM 마다 (SE 접촉 수, 평균 기하 면적)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1" name="R/d1"/>
          <p:cNvSpPr txBox="1"/>
          <p:nvPr/>
        </p:nvSpPr>
        <p:spPr>
          <a:xfrm>
            <a:off x="4786974" y="2615050"/>
            <a:ext cx="3997299" cy="219456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SE 접촉 0 개 AM = 따로 수 · 위치 표시</a:t>
            </a:r>
            <a:endParaRPr lang="ko-KR" sz="8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L/fig"/>
          <p:cNvSpPr/>
          <p:nvPr/>
        </p:nvSpPr>
        <p:spPr>
          <a:xfrm>
            <a:off x="386779" y="3212712"/>
            <a:ext cx="3979011" cy="3069216"/>
          </a:xfrm>
          <a:prstGeom prst="rect">
            <a:avLst/>
          </a:prstGeom>
          <a:noFill/>
          <a:ln w="9525">
            <a:solidFill>
              <a:srgbClr val="7F7F7F"/>
            </a:solidFill>
            <a:prstDash val="dash"/>
          </a:ln>
        </p:spPr>
        <p:txBody>
          <a:bodyPr rtlCol="0" anchor="ctr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[새 지표 정의 · 시험 뒤]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3" name="R/fig"/>
          <p:cNvSpPr/>
          <p:nvPr/>
        </p:nvSpPr>
        <p:spPr>
          <a:xfrm>
            <a:off x="4768686" y="3212712"/>
            <a:ext cx="3979011" cy="3069216"/>
          </a:xfrm>
          <a:prstGeom prst="rect">
            <a:avLst/>
          </a:prstGeom>
          <a:noFill/>
          <a:ln w="9525">
            <a:solidFill>
              <a:srgbClr val="7F7F7F"/>
            </a:solidFill>
            <a:prstDash val="dash"/>
          </a:ln>
        </p:spPr>
        <p:txBody>
          <a:bodyPr rtlCol="0" anchor="ctr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[새 지표 정의 · 시험 뒤]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4" name="note"/>
          <p:cNvSpPr txBox="1"/>
          <p:nvPr/>
        </p:nvSpPr>
        <p:spPr>
          <a:xfrm>
            <a:off x="258775" y="6428232"/>
            <a:ext cx="6675120" cy="22860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 altLang="en-US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쓸 수 있는 결론의 꼴: 접촉 수 · 크기 · 겹침을 나눈 관측</a:t>
            </a:r>
            <a:endParaRPr lang="ko-KR" sz="9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pgnum"/>
          <p:cNvSpPr txBox="1"/>
          <p:nvPr/>
        </p:nvSpPr>
        <p:spPr>
          <a:xfrm>
            <a:off x="7010401" y="6491968"/>
            <a:ext cx="2133599" cy="365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B3E2F1A-5C4D-4E8F-9A1B-2C3D4E5F6A7B}" type="slidenum">
              <a:rPr lang="ko-KR" sz="120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‹#›</a:t>
            </a:fld>
            <a:endParaRPr lang="ko-KR" sz="1200"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/sq/num"/>
          <p:cNvSpPr txBox="1"/>
          <p:nvPr/>
        </p:nvSpPr>
        <p:spPr>
          <a:xfrm>
            <a:off x="283650" y="138022"/>
            <a:ext cx="362600" cy="461665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ko-KR" altLang="en-US">
                <a:solidFill>
                  <a:srgbClr val="FFFFFF"/>
                </a:solidFill>
                <a:latin typeface="Aptos"/>
                <a:ea typeface="KoPubWorld돋움체 Medium"/>
                <a:cs typeface="Aptos"/>
              </a:rPr>
              <a:t>4</a:t>
            </a:r>
            <a:endParaRPr lang="ko-KR" sz="24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3" name="hdr/proj"/>
          <p:cNvSpPr txBox="1"/>
          <p:nvPr/>
        </p:nvSpPr>
        <p:spPr>
          <a:xfrm>
            <a:off x="1009838" y="85527"/>
            <a:ext cx="3887736" cy="230832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복합전극용 50kg/batch급 고성능 고체전해질 제조공정기술 및 장비개발</a:t>
            </a:r>
            <a:endParaRPr lang="ko-KR" sz="9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4" name="hdr/title"/>
          <p:cNvSpPr txBox="1"/>
          <p:nvPr/>
        </p:nvSpPr>
        <p:spPr>
          <a:xfrm>
            <a:off x="1031154" y="332236"/>
            <a:ext cx="2077592" cy="307777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이온 망의 연결성과 병목</a:t>
            </a:r>
            <a:endParaRPr lang="ko-KR" sz="14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5" name="band"/>
          <p:cNvSpPr/>
          <p:nvPr/>
        </p:nvSpPr>
        <p:spPr>
          <a:xfrm>
            <a:off x="258763" y="897206"/>
            <a:ext cx="8641044" cy="1178322"/>
          </a:xfrm>
          <a:prstGeom prst="roundRect">
            <a:avLst>
              <a:gd name="adj" fmla="val 11335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and/in"/>
          <p:cNvSpPr/>
          <p:nvPr/>
        </p:nvSpPr>
        <p:spPr>
          <a:xfrm>
            <a:off x="360476" y="994354"/>
            <a:ext cx="8437618" cy="990371"/>
          </a:xfrm>
          <a:prstGeom prst="roundRect">
            <a:avLst>
              <a:gd name="adj" fmla="val 812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and/in/tab"/>
          <p:cNvSpPr/>
          <p:nvPr/>
        </p:nvSpPr>
        <p:spPr>
          <a:xfrm>
            <a:off x="1522493" y="880287"/>
            <a:ext cx="6113583" cy="32018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4차년도 DEM 해석 — SE 입도 0.7 · 1 · 2 · 3 µm 비교 (입도별 시드 1)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8" name="band/in/i1/num"/>
          <p:cNvSpPr/>
          <p:nvPr/>
        </p:nvSpPr>
        <p:spPr>
          <a:xfrm>
            <a:off x="559520" y="1330248"/>
            <a:ext cx="191630" cy="191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1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9" name="band/in/i1/title"/>
          <p:cNvSpPr txBox="1"/>
          <p:nvPr/>
        </p:nvSpPr>
        <p:spPr>
          <a:xfrm>
            <a:off x="759693" y="1326715"/>
            <a:ext cx="3871804" cy="261610"/>
          </a:xfrm>
          <a:prstGeom prst="rect">
            <a:avLst/>
          </a:prstGeom>
          <a:noFill/>
        </p:spPr>
        <p:txBody>
          <a:bodyPr wrap="non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두 tortuosity — 기하 ↔ 수송 짝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0" name="band/in/i1/desc"/>
          <p:cNvSpPr txBox="1"/>
          <p:nvPr/>
        </p:nvSpPr>
        <p:spPr>
          <a:xfrm>
            <a:off x="782113" y="1590931"/>
            <a:ext cx="3849384" cy="26161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같은 침대 · 다른 양 · 비로 묶지 않음</a:t>
            </a:r>
            <a:endParaRPr lang="ko-KR" sz="11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band/in/i2/num"/>
          <p:cNvSpPr/>
          <p:nvPr/>
        </p:nvSpPr>
        <p:spPr>
          <a:xfrm>
            <a:off x="4768657" y="1330248"/>
            <a:ext cx="191630" cy="191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2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2" name="band/in/i2/title"/>
          <p:cNvSpPr txBox="1"/>
          <p:nvPr/>
        </p:nvSpPr>
        <p:spPr>
          <a:xfrm>
            <a:off x="5002368" y="1330734"/>
            <a:ext cx="3685998" cy="261610"/>
          </a:xfrm>
          <a:prstGeom prst="rect">
            <a:avLst/>
          </a:prstGeom>
          <a:noFill/>
        </p:spPr>
        <p:txBody>
          <a:bodyPr wrap="non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전류 · 소산 — 상위 접촉 · 협착 몫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band/in/i2/desc"/>
          <p:cNvSpPr txBox="1"/>
          <p:nvPr/>
        </p:nvSpPr>
        <p:spPr>
          <a:xfrm>
            <a:off x="5024787" y="1594950"/>
            <a:ext cx="3663579" cy="26161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높이 단면 32 곳 평균 · 경로 보장 아님</a:t>
            </a:r>
            <a:endParaRPr lang="ko-KR" sz="11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L"/>
          <p:cNvSpPr/>
          <p:nvPr/>
        </p:nvSpPr>
        <p:spPr>
          <a:xfrm>
            <a:off x="258763" y="2204863"/>
            <a:ext cx="4235043" cy="4168505"/>
          </a:xfrm>
          <a:prstGeom prst="roundRect">
            <a:avLst>
              <a:gd name="adj" fmla="val 2377"/>
            </a:avLst>
          </a:prstGeom>
          <a:noFill/>
          <a:ln w="9525">
            <a:solidFill>
              <a:srgbClr val="7F7F7F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L/tab"/>
          <p:cNvSpPr txBox="1"/>
          <p:nvPr/>
        </p:nvSpPr>
        <p:spPr>
          <a:xfrm>
            <a:off x="1246477" y="2097005"/>
            <a:ext cx="2259616" cy="2769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45720" tIns="0" rIns="4572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000000"/>
                </a:solidFill>
                <a:latin typeface="Aptos"/>
                <a:ea typeface="KoPubWorld돋움체 Medium"/>
                <a:cs typeface="Aptos"/>
              </a:rPr>
              <a:t>(기하 · 수송 tortuosity 짝)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6" name="L/s1"/>
          <p:cNvSpPr txBox="1"/>
          <p:nvPr/>
        </p:nvSpPr>
        <p:spPr>
          <a:xfrm>
            <a:off x="350203" y="2401436"/>
            <a:ext cx="4052163" cy="37236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기하 tortuosity (최단 경로 / 두께) ↔ 수송 tortuosity (φ</a:t>
            </a:r>
            <a:r>
              <a:rPr sz="1000" b="0" lang="ko-KR" altLang="en-US" baseline="-2500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SE</a:t>
            </a: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·σ₀/σ</a:t>
            </a:r>
            <a:r>
              <a:rPr sz="1000" b="0" lang="ko-KR" altLang="en-US" baseline="-2500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eff</a:t>
            </a: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)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7" name="L/d1"/>
          <p:cNvSpPr txBox="1"/>
          <p:nvPr/>
        </p:nvSpPr>
        <p:spPr>
          <a:xfrm>
            <a:off x="405067" y="2773800"/>
            <a:ext cx="3997299" cy="384048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수송 tortuosity = 제곱근 아님 · f 와 한 수송 묶음 (독립 성공 둘로 세지 않음)</a:t>
            </a:r>
            <a:endParaRPr lang="ko-KR" sz="800"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φ = 전극 부피 기준 (ε</a:t>
            </a:r>
            <a:r>
              <a:rPr sz="800" b="0" lang="ko-KR" altLang="en-US" baseline="-2500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sphere</a:t>
            </a: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주)</a:t>
            </a:r>
            <a:endParaRPr lang="ko-KR" sz="8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"/>
          <p:cNvSpPr/>
          <p:nvPr/>
        </p:nvSpPr>
        <p:spPr>
          <a:xfrm>
            <a:off x="4640670" y="2204863"/>
            <a:ext cx="4235043" cy="4168505"/>
          </a:xfrm>
          <a:prstGeom prst="roundRect">
            <a:avLst>
              <a:gd name="adj" fmla="val 2377"/>
            </a:avLst>
          </a:prstGeom>
          <a:noFill/>
          <a:ln w="9525">
            <a:solidFill>
              <a:srgbClr val="7F7F7F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/tab"/>
          <p:cNvSpPr txBox="1"/>
          <p:nvPr/>
        </p:nvSpPr>
        <p:spPr>
          <a:xfrm>
            <a:off x="5713061" y="2097005"/>
            <a:ext cx="2090261" cy="2769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45720" tIns="0" rIns="4572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000000"/>
                </a:solidFill>
                <a:latin typeface="Aptos"/>
                <a:ea typeface="KoPubWorld돋움체 Medium"/>
                <a:cs typeface="Aptos"/>
              </a:rPr>
              <a:t>(전류 강조 3D · 소산 몫)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0" name="R/s1"/>
          <p:cNvSpPr txBox="1"/>
          <p:nvPr/>
        </p:nvSpPr>
        <p:spPr>
          <a:xfrm>
            <a:off x="4732110" y="2401436"/>
            <a:ext cx="4052163" cy="37236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높이 단면 32 곳 평균으로 단자 전류 80 % 를 나르는 상위 접촉 (경로 보장 아님)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1" name="R/d1"/>
          <p:cNvSpPr txBox="1"/>
          <p:nvPr/>
        </p:nvSpPr>
        <p:spPr>
          <a:xfrm>
            <a:off x="4786974" y="2773800"/>
            <a:ext cx="3997299" cy="219456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협착 ↔ bulk 소산 몫 = 같은 해의 Σ I²R</a:t>
            </a:r>
            <a:r>
              <a:rPr sz="800" b="0" lang="ko-KR" altLang="en-US" baseline="-2500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</a:t>
            </a: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/ Σ I²R · 단자 전력과 합 대조</a:t>
            </a:r>
            <a:endParaRPr lang="ko-KR" sz="8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L/fig"/>
          <p:cNvSpPr/>
          <p:nvPr/>
        </p:nvSpPr>
        <p:spPr>
          <a:xfrm>
            <a:off x="386779" y="3212712"/>
            <a:ext cx="3979011" cy="3069216"/>
          </a:xfrm>
          <a:prstGeom prst="rect">
            <a:avLst/>
          </a:prstGeom>
          <a:noFill/>
          <a:ln w="9525">
            <a:solidFill>
              <a:srgbClr val="7F7F7F"/>
            </a:solidFill>
            <a:prstDash val="dash"/>
          </a:ln>
        </p:spPr>
        <p:txBody>
          <a:bodyPr rtlCol="0" anchor="ctr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[분석 계획 고정 뒤 · 계산 전]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3" name="R/fig"/>
          <p:cNvSpPr/>
          <p:nvPr/>
        </p:nvSpPr>
        <p:spPr>
          <a:xfrm>
            <a:off x="4768686" y="3212712"/>
            <a:ext cx="3979011" cy="3069216"/>
          </a:xfrm>
          <a:prstGeom prst="rect">
            <a:avLst/>
          </a:prstGeom>
          <a:noFill/>
          <a:ln w="9525">
            <a:solidFill>
              <a:srgbClr val="7F7F7F"/>
            </a:solidFill>
            <a:prstDash val="dash"/>
          </a:ln>
        </p:spPr>
        <p:txBody>
          <a:bodyPr rtlCol="0" anchor="ctr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[분석 계획 고정 뒤 · 계산 전]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4" name="note"/>
          <p:cNvSpPr txBox="1"/>
          <p:nvPr/>
        </p:nvSpPr>
        <p:spPr>
          <a:xfrm>
            <a:off x="258775" y="6428232"/>
            <a:ext cx="6675120" cy="22860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 altLang="en-US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쓸 수 있는 결론의 꼴: 직선성 · 연결성 · 오믹 저항이 서로 다른 정보</a:t>
            </a:r>
            <a:endParaRPr lang="ko-KR" sz="9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pgnum"/>
          <p:cNvSpPr txBox="1"/>
          <p:nvPr/>
        </p:nvSpPr>
        <p:spPr>
          <a:xfrm>
            <a:off x="7010401" y="6491968"/>
            <a:ext cx="2133599" cy="365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B3E2F1A-5C4D-4E8F-9A1B-2C3D4E5F6A7B}" type="slidenum">
              <a:rPr lang="ko-KR" sz="120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‹#›</a:t>
            </a:fld>
            <a:endParaRPr lang="ko-KR" sz="1200"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/sq/num"/>
          <p:cNvSpPr txBox="1"/>
          <p:nvPr/>
        </p:nvSpPr>
        <p:spPr>
          <a:xfrm>
            <a:off x="283650" y="138022"/>
            <a:ext cx="362600" cy="461665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ko-KR" altLang="en-US">
                <a:solidFill>
                  <a:srgbClr val="FFFFFF"/>
                </a:solidFill>
                <a:latin typeface="Aptos"/>
                <a:ea typeface="KoPubWorld돋움체 Medium"/>
                <a:cs typeface="Aptos"/>
              </a:rPr>
              <a:t>4</a:t>
            </a:r>
            <a:endParaRPr lang="ko-KR" sz="24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3" name="hdr/proj"/>
          <p:cNvSpPr txBox="1"/>
          <p:nvPr/>
        </p:nvSpPr>
        <p:spPr>
          <a:xfrm>
            <a:off x="1009838" y="85527"/>
            <a:ext cx="3887736" cy="230832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복합전극용 50kg/batch급 고성능 고체전해질 제조공정기술 및 장비개발</a:t>
            </a:r>
            <a:endParaRPr lang="ko-KR" sz="9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4" name="hdr/title"/>
          <p:cNvSpPr txBox="1"/>
          <p:nvPr/>
        </p:nvSpPr>
        <p:spPr>
          <a:xfrm>
            <a:off x="1031154" y="332236"/>
            <a:ext cx="2852080" cy="307777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구조 전달계수와 물성 가정의 분리</a:t>
            </a:r>
            <a:endParaRPr lang="ko-KR" sz="14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5" name="band"/>
          <p:cNvSpPr/>
          <p:nvPr/>
        </p:nvSpPr>
        <p:spPr>
          <a:xfrm>
            <a:off x="258763" y="897206"/>
            <a:ext cx="8641044" cy="1178322"/>
          </a:xfrm>
          <a:prstGeom prst="roundRect">
            <a:avLst>
              <a:gd name="adj" fmla="val 11335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and/in"/>
          <p:cNvSpPr/>
          <p:nvPr/>
        </p:nvSpPr>
        <p:spPr>
          <a:xfrm>
            <a:off x="360476" y="994354"/>
            <a:ext cx="8437618" cy="990371"/>
          </a:xfrm>
          <a:prstGeom prst="roundRect">
            <a:avLst>
              <a:gd name="adj" fmla="val 812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and/in/tab"/>
          <p:cNvSpPr/>
          <p:nvPr/>
        </p:nvSpPr>
        <p:spPr>
          <a:xfrm>
            <a:off x="1522493" y="880287"/>
            <a:ext cx="6113583" cy="32018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4차년도 DEM 해석 — SE 입도 0.7 · 1 · 2 · 3 µm 비교 (입도별 시드 1)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8" name="band/in/i1/num"/>
          <p:cNvSpPr/>
          <p:nvPr/>
        </p:nvSpPr>
        <p:spPr>
          <a:xfrm>
            <a:off x="559520" y="1330248"/>
            <a:ext cx="191630" cy="191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1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9" name="band/in/i1/title"/>
          <p:cNvSpPr txBox="1"/>
          <p:nvPr/>
        </p:nvSpPr>
        <p:spPr>
          <a:xfrm>
            <a:off x="759693" y="1326715"/>
            <a:ext cx="3871804" cy="261610"/>
          </a:xfrm>
          <a:prstGeom prst="rect">
            <a:avLst/>
          </a:prstGeom>
          <a:noFill/>
        </p:spPr>
        <p:txBody>
          <a:bodyPr wrap="non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구조 전달계수 — 공통 σ₀ 의 f(d)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0" name="band/in/i1/desc"/>
          <p:cNvSpPr txBox="1"/>
          <p:nvPr/>
        </p:nvSpPr>
        <p:spPr>
          <a:xfrm>
            <a:off x="782113" y="1590931"/>
            <a:ext cx="3849384" cy="26161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원 솔버 σ · Hertz 주 · Physics 민감도</a:t>
            </a:r>
            <a:endParaRPr lang="ko-KR" sz="11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band/in/i2/num"/>
          <p:cNvSpPr/>
          <p:nvPr/>
        </p:nvSpPr>
        <p:spPr>
          <a:xfrm>
            <a:off x="4768657" y="1330248"/>
            <a:ext cx="191630" cy="191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2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2" name="band/in/i2/title"/>
          <p:cNvSpPr txBox="1"/>
          <p:nvPr/>
        </p:nvSpPr>
        <p:spPr>
          <a:xfrm>
            <a:off x="5002368" y="1330734"/>
            <a:ext cx="3685998" cy="261610"/>
          </a:xfrm>
          <a:prstGeom prst="rect">
            <a:avLst/>
          </a:prstGeom>
          <a:noFill/>
        </p:spPr>
        <p:txBody>
          <a:bodyPr wrap="non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손익분기선 — 조건부 시나리오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band/in/i2/desc"/>
          <p:cNvSpPr txBox="1"/>
          <p:nvPr/>
        </p:nvSpPr>
        <p:spPr>
          <a:xfrm>
            <a:off x="5024787" y="1594950"/>
            <a:ext cx="3663579" cy="26161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- 1 µm 쪽이 높은 조건: f(1)/f(3) &gt; 2.217</a:t>
            </a:r>
            <a:endParaRPr lang="ko-KR" sz="11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L"/>
          <p:cNvSpPr/>
          <p:nvPr/>
        </p:nvSpPr>
        <p:spPr>
          <a:xfrm>
            <a:off x="258763" y="2204863"/>
            <a:ext cx="4235043" cy="4168505"/>
          </a:xfrm>
          <a:prstGeom prst="roundRect">
            <a:avLst>
              <a:gd name="adj" fmla="val 2377"/>
            </a:avLst>
          </a:prstGeom>
          <a:noFill/>
          <a:ln w="9525">
            <a:solidFill>
              <a:srgbClr val="7F7F7F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L/tab"/>
          <p:cNvSpPr txBox="1"/>
          <p:nvPr/>
        </p:nvSpPr>
        <p:spPr>
          <a:xfrm>
            <a:off x="1620023" y="2097005"/>
            <a:ext cx="1512522" cy="2769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45720" tIns="0" rIns="4572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000000"/>
                </a:solidFill>
                <a:latin typeface="Aptos"/>
                <a:ea typeface="KoPubWorld돋움체 Medium"/>
                <a:cs typeface="Aptos"/>
              </a:rPr>
              <a:t>(공통 σ₀ 의 f(d))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6" name="L/s1"/>
          <p:cNvSpPr txBox="1"/>
          <p:nvPr/>
        </p:nvSpPr>
        <p:spPr>
          <a:xfrm>
            <a:off x="350203" y="2401436"/>
            <a:ext cx="4052163" cy="37236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SE 입도별 f = σ</a:t>
            </a:r>
            <a:r>
              <a:rPr sz="1000" b="0" lang="ko-KR" altLang="en-US" baseline="-2500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eff</a:t>
            </a: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/σ₀ (원 솔버 σ · Hertz 주 · Physics 민감도)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7" name="L/d1"/>
          <p:cNvSpPr txBox="1"/>
          <p:nvPr/>
        </p:nvSpPr>
        <p:spPr>
          <a:xfrm>
            <a:off x="405067" y="2773800"/>
            <a:ext cx="3997299" cy="384048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입도 비교 = 원 솔버 σ · f 만 · Stage-E σ</a:t>
            </a:r>
            <a:r>
              <a:rPr sz="800" b="0" lang="ko-KR" altLang="en-US" baseline="-2500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ion</a:t>
            </a: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은 쓰지 않음</a:t>
            </a:r>
            <a:endParaRPr lang="ko-KR" sz="800"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절대값 인증 아님 · 입도별 시드 1</a:t>
            </a:r>
            <a:endParaRPr lang="ko-KR" sz="8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"/>
          <p:cNvSpPr/>
          <p:nvPr/>
        </p:nvSpPr>
        <p:spPr>
          <a:xfrm>
            <a:off x="4640670" y="2204863"/>
            <a:ext cx="4235043" cy="4168505"/>
          </a:xfrm>
          <a:prstGeom prst="roundRect">
            <a:avLst>
              <a:gd name="adj" fmla="val 2377"/>
            </a:avLst>
          </a:prstGeom>
          <a:noFill/>
          <a:ln w="9525">
            <a:solidFill>
              <a:srgbClr val="7F7F7F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/tab"/>
          <p:cNvSpPr txBox="1"/>
          <p:nvPr/>
        </p:nvSpPr>
        <p:spPr>
          <a:xfrm>
            <a:off x="5854769" y="2097005"/>
            <a:ext cx="1806845" cy="2769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45720" tIns="0" rIns="4572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000000"/>
                </a:solidFill>
                <a:latin typeface="Aptos"/>
                <a:ea typeface="KoPubWorld돋움체 Medium"/>
                <a:cs typeface="Aptos"/>
              </a:rPr>
              <a:t>(손익분기선 · 조건부)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0" name="R/s1"/>
          <p:cNvSpPr txBox="1"/>
          <p:nvPr/>
        </p:nvSpPr>
        <p:spPr>
          <a:xfrm>
            <a:off x="4732110" y="2401436"/>
            <a:ext cx="4052163" cy="37236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f(1)/f(3) &gt; 5.1/2.3 = 2.217 이면 1 µm 쪽 σ</a:t>
            </a:r>
            <a:r>
              <a:rPr sz="1000" b="0" lang="ko-KR" altLang="en-US" baseline="-2500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eff</a:t>
            </a: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 가 높은 시나리오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1" name="R/d1"/>
          <p:cNvSpPr txBox="1"/>
          <p:nvPr/>
        </p:nvSpPr>
        <p:spPr>
          <a:xfrm>
            <a:off x="4786974" y="2773800"/>
            <a:ext cx="3997299" cy="713232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σ</a:t>
            </a:r>
            <a:r>
              <a:rPr sz="800" b="0" lang="ko-KR" altLang="en-US" baseline="-2500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</a:t>
            </a: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실측 (3차년도): 1 µm 2.3 · 3 µm 5.1 mS/cm</a:t>
            </a:r>
            <a:endParaRPr lang="ko-KR" sz="800"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- 0.7 µm 선: f(0.7)/f(3) &gt; 5.1/2.25 = 2.267 (D50 0.66 µm 시료 · 대응 미확인 표지)</a:t>
            </a:r>
            <a:endParaRPr lang="ko-KR" sz="800"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- 2 µm 실측 = 결측 · 펠릿 σ 대입 곱 = 조건부 시나리오 (표로만)</a:t>
            </a:r>
            <a:endParaRPr lang="ko-KR" sz="8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L/fig"/>
          <p:cNvSpPr/>
          <p:nvPr/>
        </p:nvSpPr>
        <p:spPr>
          <a:xfrm>
            <a:off x="386779" y="3541896"/>
            <a:ext cx="3979011" cy="2740032"/>
          </a:xfrm>
          <a:prstGeom prst="rect">
            <a:avLst/>
          </a:prstGeom>
          <a:noFill/>
          <a:ln w="9525">
            <a:solidFill>
              <a:srgbClr val="7F7F7F"/>
            </a:solidFill>
            <a:prstDash val="dash"/>
          </a:ln>
        </p:spPr>
        <p:txBody>
          <a:bodyPr rtlCol="0" anchor="ctr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[분석 계획 고정 뒤 · 계산 전]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3" name="R/fig"/>
          <p:cNvSpPr/>
          <p:nvPr/>
        </p:nvSpPr>
        <p:spPr>
          <a:xfrm>
            <a:off x="4768686" y="3541896"/>
            <a:ext cx="3979011" cy="2740032"/>
          </a:xfrm>
          <a:prstGeom prst="rect">
            <a:avLst/>
          </a:prstGeom>
          <a:noFill/>
          <a:ln w="9525">
            <a:solidFill>
              <a:srgbClr val="7F7F7F"/>
            </a:solidFill>
            <a:prstDash val="dash"/>
          </a:ln>
        </p:spPr>
        <p:txBody>
          <a:bodyPr rtlCol="0" anchor="ctr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[f(d) 계산 뒤]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4" name="note"/>
          <p:cNvSpPr txBox="1"/>
          <p:nvPr/>
        </p:nvSpPr>
        <p:spPr>
          <a:xfrm>
            <a:off x="258775" y="6428232"/>
            <a:ext cx="6675120" cy="22860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 altLang="en-US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쓸 수 있는 결론의 꼴: 절대값 인증 없이 구조 · 입력의 역할 구분</a:t>
            </a:r>
            <a:endParaRPr lang="ko-KR" sz="9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pgnum"/>
          <p:cNvSpPr txBox="1"/>
          <p:nvPr/>
        </p:nvSpPr>
        <p:spPr>
          <a:xfrm>
            <a:off x="7010401" y="6491968"/>
            <a:ext cx="2133599" cy="365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B3E2F1A-5C4D-4E8F-9A1B-2C3D4E5F6A7B}" type="slidenum">
              <a:rPr lang="ko-KR" sz="120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‹#›</a:t>
            </a:fld>
            <a:endParaRPr lang="ko-KR" sz="1200"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/sq/num"/>
          <p:cNvSpPr txBox="1"/>
          <p:nvPr/>
        </p:nvSpPr>
        <p:spPr>
          <a:xfrm>
            <a:off x="283650" y="138022"/>
            <a:ext cx="362600" cy="461665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ko-KR" altLang="en-US">
                <a:solidFill>
                  <a:srgbClr val="FFFFFF"/>
                </a:solidFill>
                <a:latin typeface="Aptos"/>
                <a:ea typeface="KoPubWorld돋움체 Medium"/>
                <a:cs typeface="Aptos"/>
              </a:rPr>
              <a:t>4</a:t>
            </a:r>
            <a:endParaRPr lang="ko-KR" sz="24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3" name="hdr/proj"/>
          <p:cNvSpPr txBox="1"/>
          <p:nvPr/>
        </p:nvSpPr>
        <p:spPr>
          <a:xfrm>
            <a:off x="1009838" y="85527"/>
            <a:ext cx="3887736" cy="230832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복합전극용 50kg/batch급 고성능 고체전해질 제조공정기술 및 장비개발</a:t>
            </a:r>
            <a:endParaRPr lang="ko-KR" sz="9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4" name="hdr/title"/>
          <p:cNvSpPr txBox="1"/>
          <p:nvPr/>
        </p:nvSpPr>
        <p:spPr>
          <a:xfrm>
            <a:off x="1031154" y="332236"/>
            <a:ext cx="3093168" cy="307777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두께 방향의 압밀 불균일과 오믹 손실</a:t>
            </a:r>
            <a:endParaRPr lang="ko-KR" sz="14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5" name="band"/>
          <p:cNvSpPr/>
          <p:nvPr/>
        </p:nvSpPr>
        <p:spPr>
          <a:xfrm>
            <a:off x="258763" y="897206"/>
            <a:ext cx="8641044" cy="1178322"/>
          </a:xfrm>
          <a:prstGeom prst="roundRect">
            <a:avLst>
              <a:gd name="adj" fmla="val 11335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and/in"/>
          <p:cNvSpPr/>
          <p:nvPr/>
        </p:nvSpPr>
        <p:spPr>
          <a:xfrm>
            <a:off x="360476" y="994354"/>
            <a:ext cx="8437618" cy="990371"/>
          </a:xfrm>
          <a:prstGeom prst="roundRect">
            <a:avLst>
              <a:gd name="adj" fmla="val 812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and/in/tab"/>
          <p:cNvSpPr/>
          <p:nvPr/>
        </p:nvSpPr>
        <p:spPr>
          <a:xfrm>
            <a:off x="1522493" y="880287"/>
            <a:ext cx="6113583" cy="32018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4차년도 DEM 해석 — SE 입도 0.7 · 1 · 2 · 3 µm 비교 (입도별 시드 1)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8" name="band/in/i1/num"/>
          <p:cNvSpPr/>
          <p:nvPr/>
        </p:nvSpPr>
        <p:spPr>
          <a:xfrm>
            <a:off x="559520" y="1330248"/>
            <a:ext cx="191630" cy="191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1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9" name="band/in/i1/title"/>
          <p:cNvSpPr txBox="1"/>
          <p:nvPr/>
        </p:nvSpPr>
        <p:spPr>
          <a:xfrm>
            <a:off x="759693" y="1326715"/>
            <a:ext cx="3871804" cy="261610"/>
          </a:xfrm>
          <a:prstGeom prst="rect">
            <a:avLst/>
          </a:prstGeom>
          <a:noFill/>
        </p:spPr>
        <p:txBody>
          <a:bodyPr wrap="non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응력 분포 — AM · SE 입자 응력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0" name="band/in/i1/desc"/>
          <p:cNvSpPr txBox="1"/>
          <p:nvPr/>
        </p:nvSpPr>
        <p:spPr>
          <a:xfrm>
            <a:off x="782113" y="1590931"/>
            <a:ext cx="3849384" cy="26161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Love–Weber · 같은 도구 · 같은 규약끼리</a:t>
            </a:r>
            <a:endParaRPr lang="ko-KR" sz="11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band/in/i2/num"/>
          <p:cNvSpPr/>
          <p:nvPr/>
        </p:nvSpPr>
        <p:spPr>
          <a:xfrm>
            <a:off x="4768657" y="1330248"/>
            <a:ext cx="191630" cy="191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2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2" name="band/in/i2/title"/>
          <p:cNvSpPr txBox="1"/>
          <p:nvPr/>
        </p:nvSpPr>
        <p:spPr>
          <a:xfrm>
            <a:off x="5002368" y="1330734"/>
            <a:ext cx="3685998" cy="261610"/>
          </a:xfrm>
          <a:prstGeom prst="rect">
            <a:avLst/>
          </a:prstGeom>
          <a:noFill/>
        </p:spPr>
        <p:txBody>
          <a:bodyPr wrap="non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z 구간 — SE 분율 · 전위 강하 · 소산 몫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band/in/i2/desc"/>
          <p:cNvSpPr txBox="1"/>
          <p:nvPr/>
        </p:nvSpPr>
        <p:spPr>
          <a:xfrm>
            <a:off x="5024787" y="1594950"/>
            <a:ext cx="3663579" cy="26161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순 이온 전류 = z 에 평평 → 안 그림</a:t>
            </a:r>
            <a:endParaRPr lang="ko-KR" sz="11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L"/>
          <p:cNvSpPr/>
          <p:nvPr/>
        </p:nvSpPr>
        <p:spPr>
          <a:xfrm>
            <a:off x="258763" y="2204863"/>
            <a:ext cx="4235043" cy="4168505"/>
          </a:xfrm>
          <a:prstGeom prst="roundRect">
            <a:avLst>
              <a:gd name="adj" fmla="val 2377"/>
            </a:avLst>
          </a:prstGeom>
          <a:noFill/>
          <a:ln w="9525">
            <a:solidFill>
              <a:srgbClr val="7F7F7F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L/tab"/>
          <p:cNvSpPr txBox="1"/>
          <p:nvPr/>
        </p:nvSpPr>
        <p:spPr>
          <a:xfrm>
            <a:off x="1495782" y="2097005"/>
            <a:ext cx="1761006" cy="2769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45720" tIns="0" rIns="4572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000000"/>
                </a:solidFill>
                <a:latin typeface="Aptos"/>
                <a:ea typeface="KoPubWorld돋움체 Medium"/>
                <a:cs typeface="Aptos"/>
              </a:rPr>
              <a:t>(AM · SE 응력 분포)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6" name="L/s1"/>
          <p:cNvSpPr txBox="1"/>
          <p:nvPr/>
        </p:nvSpPr>
        <p:spPr>
          <a:xfrm>
            <a:off x="350203" y="2401436"/>
            <a:ext cx="4052163" cy="21361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AM · SE 입자 응력 분포 (Love–Weber)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7" name="L/d1"/>
          <p:cNvSpPr txBox="1"/>
          <p:nvPr/>
        </p:nvSpPr>
        <p:spPr>
          <a:xfrm>
            <a:off x="405067" y="2615050"/>
            <a:ext cx="3997299" cy="384048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같은 도구 · 같은 규약끼리만 비교 · 프레임 미인증 한정</a:t>
            </a:r>
            <a:endParaRPr lang="ko-KR" sz="800"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가압 상태 (판 고정 이완 끝) · 언로딩 없음</a:t>
            </a:r>
            <a:endParaRPr lang="ko-KR" sz="8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"/>
          <p:cNvSpPr/>
          <p:nvPr/>
        </p:nvSpPr>
        <p:spPr>
          <a:xfrm>
            <a:off x="4640670" y="2204863"/>
            <a:ext cx="4235043" cy="4168505"/>
          </a:xfrm>
          <a:prstGeom prst="roundRect">
            <a:avLst>
              <a:gd name="adj" fmla="val 2377"/>
            </a:avLst>
          </a:prstGeom>
          <a:noFill/>
          <a:ln w="9525">
            <a:solidFill>
              <a:srgbClr val="7F7F7F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/tab"/>
          <p:cNvSpPr txBox="1"/>
          <p:nvPr/>
        </p:nvSpPr>
        <p:spPr>
          <a:xfrm>
            <a:off x="5463815" y="2097005"/>
            <a:ext cx="2588752" cy="2769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45720" tIns="0" rIns="4572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000000"/>
                </a:solidFill>
                <a:latin typeface="Aptos"/>
                <a:ea typeface="KoPubWorld돋움체 Medium"/>
                <a:cs typeface="Aptos"/>
              </a:rPr>
              <a:t>(z 구간 SE 분율 · 전위 · 소산)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0" name="R/s1"/>
          <p:cNvSpPr txBox="1"/>
          <p:nvPr/>
        </p:nvSpPr>
        <p:spPr>
          <a:xfrm>
            <a:off x="4732110" y="2401436"/>
            <a:ext cx="4052163" cy="21361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두께 (z) 구간별 SE 분율 · 전위 강하 · 소산 몫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1" name="R/d1"/>
          <p:cNvSpPr txBox="1"/>
          <p:nvPr/>
        </p:nvSpPr>
        <p:spPr>
          <a:xfrm>
            <a:off x="4786974" y="2615050"/>
            <a:ext cx="3997299" cy="219456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순 이온 전류는 보존식으로 z 에 평평 → 그리지 않음</a:t>
            </a:r>
            <a:endParaRPr lang="ko-KR" sz="8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L/fig"/>
          <p:cNvSpPr/>
          <p:nvPr/>
        </p:nvSpPr>
        <p:spPr>
          <a:xfrm>
            <a:off x="386779" y="3053962"/>
            <a:ext cx="3979011" cy="3227966"/>
          </a:xfrm>
          <a:prstGeom prst="rect">
            <a:avLst/>
          </a:prstGeom>
          <a:noFill/>
          <a:ln w="9525">
            <a:solidFill>
              <a:srgbClr val="7F7F7F"/>
            </a:solidFill>
            <a:prstDash val="dash"/>
          </a:ln>
        </p:spPr>
        <p:txBody>
          <a:bodyPr rtlCol="0" anchor="ctr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[분석 계획 고정 뒤 · 계산 전]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3" name="R/fig"/>
          <p:cNvSpPr/>
          <p:nvPr/>
        </p:nvSpPr>
        <p:spPr>
          <a:xfrm>
            <a:off x="4768686" y="3053962"/>
            <a:ext cx="3979011" cy="3227966"/>
          </a:xfrm>
          <a:prstGeom prst="rect">
            <a:avLst/>
          </a:prstGeom>
          <a:noFill/>
          <a:ln w="9525">
            <a:solidFill>
              <a:srgbClr val="7F7F7F"/>
            </a:solidFill>
            <a:prstDash val="dash"/>
          </a:ln>
        </p:spPr>
        <p:txBody>
          <a:bodyPr rtlCol="0" anchor="ctr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[새 지표 정의 · 시험 뒤]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4" name="note"/>
          <p:cNvSpPr txBox="1"/>
          <p:nvPr/>
        </p:nvSpPr>
        <p:spPr>
          <a:xfrm>
            <a:off x="258775" y="6428232"/>
            <a:ext cx="6675120" cy="22860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 altLang="en-US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쓸 수 있는 결론의 꼴: 가압 상태의 비균일성 (반응률 · 균열 · 용량 해석 아님)</a:t>
            </a:r>
            <a:endParaRPr lang="ko-KR" sz="9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pgnum"/>
          <p:cNvSpPr txBox="1"/>
          <p:nvPr/>
        </p:nvSpPr>
        <p:spPr>
          <a:xfrm>
            <a:off x="7010401" y="6491968"/>
            <a:ext cx="2133599" cy="365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B3E2F1A-5C4D-4E8F-9A1B-2C3D4E5F6A7B}" type="slidenum">
              <a:rPr lang="ko-KR" sz="120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‹#›</a:t>
            </a:fld>
            <a:endParaRPr lang="ko-KR" sz="1200"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/sq/num"/>
          <p:cNvSpPr txBox="1"/>
          <p:nvPr/>
        </p:nvSpPr>
        <p:spPr>
          <a:xfrm>
            <a:off x="283650" y="138022"/>
            <a:ext cx="362600" cy="461665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ko-KR" altLang="en-US">
                <a:solidFill>
                  <a:srgbClr val="FFFFFF"/>
                </a:solidFill>
                <a:latin typeface="Aptos"/>
                <a:ea typeface="KoPubWorld돋움체 Medium"/>
                <a:cs typeface="Aptos"/>
              </a:rPr>
              <a:t>4</a:t>
            </a:r>
            <a:endParaRPr lang="ko-KR" sz="24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3" name="hdr/proj"/>
          <p:cNvSpPr txBox="1"/>
          <p:nvPr/>
        </p:nvSpPr>
        <p:spPr>
          <a:xfrm>
            <a:off x="1009838" y="85527"/>
            <a:ext cx="3887736" cy="230832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복합전극용 50kg/batch급 고성능 고체전해질 제조공정기술 및 장비개발</a:t>
            </a:r>
            <a:endParaRPr lang="ko-KR" sz="9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4" name="hdr/title"/>
          <p:cNvSpPr txBox="1"/>
          <p:nvPr/>
        </p:nvSpPr>
        <p:spPr>
          <a:xfrm>
            <a:off x="1031154" y="332236"/>
            <a:ext cx="2077592" cy="307777"/>
          </a:xfrm>
          <a:prstGeom prst="rect">
            <a:avLst/>
          </a:prstGeom>
          <a:noFill/>
        </p:spPr>
        <p:txBody>
          <a:bodyPr wrap="none" anchor="ctr" lIns="27432" tIns="27432" r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관측된 경향과 다음 검증</a:t>
            </a:r>
            <a:endParaRPr lang="ko-KR" sz="14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5" name="band"/>
          <p:cNvSpPr/>
          <p:nvPr/>
        </p:nvSpPr>
        <p:spPr>
          <a:xfrm>
            <a:off x="258763" y="897206"/>
            <a:ext cx="8641044" cy="1178322"/>
          </a:xfrm>
          <a:prstGeom prst="roundRect">
            <a:avLst>
              <a:gd name="adj" fmla="val 11335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and/in"/>
          <p:cNvSpPr/>
          <p:nvPr/>
        </p:nvSpPr>
        <p:spPr>
          <a:xfrm>
            <a:off x="360476" y="994354"/>
            <a:ext cx="8437618" cy="990371"/>
          </a:xfrm>
          <a:prstGeom prst="roundRect">
            <a:avLst>
              <a:gd name="adj" fmla="val 812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and/in/tab"/>
          <p:cNvSpPr/>
          <p:nvPr/>
        </p:nvSpPr>
        <p:spPr>
          <a:xfrm>
            <a:off x="1522493" y="880287"/>
            <a:ext cx="6113583" cy="32018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4차년도 DEM 해석 — SE 입도 0.7 · 1 · 2 · 3 µm 비교 (입도별 시드 1)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8" name="band/in/i1/num"/>
          <p:cNvSpPr/>
          <p:nvPr/>
        </p:nvSpPr>
        <p:spPr>
          <a:xfrm>
            <a:off x="559520" y="1330248"/>
            <a:ext cx="191630" cy="191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1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9" name="band/in/i1/title"/>
          <p:cNvSpPr txBox="1"/>
          <p:nvPr/>
        </p:nvSpPr>
        <p:spPr>
          <a:xfrm>
            <a:off x="759693" y="1326715"/>
            <a:ext cx="3871804" cy="261610"/>
          </a:xfrm>
          <a:prstGeom prst="rect">
            <a:avLst/>
          </a:prstGeom>
          <a:noFill/>
        </p:spPr>
        <p:txBody>
          <a:bodyPr wrap="non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지표 × 입도 표 — 상태 넷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0" name="band/in/i1/desc"/>
          <p:cNvSpPr txBox="1"/>
          <p:nvPr/>
        </p:nvSpPr>
        <p:spPr>
          <a:xfrm>
            <a:off x="782113" y="1590931"/>
            <a:ext cx="3849384" cy="26161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일치 · 반대/비단조 · 보류 · 계산/모형 한계</a:t>
            </a:r>
            <a:endParaRPr lang="ko-KR" sz="11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band/in/i2/num"/>
          <p:cNvSpPr/>
          <p:nvPr/>
        </p:nvSpPr>
        <p:spPr>
          <a:xfrm>
            <a:off x="4768657" y="1330248"/>
            <a:ext cx="191630" cy="191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0070C0"/>
                </a:solidFill>
                <a:latin typeface="Aptos"/>
                <a:ea typeface="KoPubWorld돋움체 Medium"/>
                <a:cs typeface="Aptos"/>
              </a:rPr>
              <a:t>2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2" name="band/in/i2/title"/>
          <p:cNvSpPr txBox="1"/>
          <p:nvPr/>
        </p:nvSpPr>
        <p:spPr>
          <a:xfrm>
            <a:off x="5002368" y="1330734"/>
            <a:ext cx="3685998" cy="261610"/>
          </a:xfrm>
          <a:prstGeom prst="rect">
            <a:avLst/>
          </a:prstGeom>
          <a:noFill/>
        </p:spPr>
        <p:txBody>
          <a:bodyPr wrap="non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다음 검증 — 3D 전기화학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band/in/i2/desc"/>
          <p:cNvSpPr txBox="1"/>
          <p:nvPr/>
        </p:nvSpPr>
        <p:spPr>
          <a:xfrm>
            <a:off x="5024787" y="1594950"/>
            <a:ext cx="3663579" cy="26161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국부 전류밀도 · Li 농도 (계획 덱 8 장)</a:t>
            </a:r>
            <a:endParaRPr lang="ko-KR" sz="11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L"/>
          <p:cNvSpPr/>
          <p:nvPr/>
        </p:nvSpPr>
        <p:spPr>
          <a:xfrm>
            <a:off x="258763" y="2204863"/>
            <a:ext cx="4235043" cy="4168505"/>
          </a:xfrm>
          <a:prstGeom prst="roundRect">
            <a:avLst>
              <a:gd name="adj" fmla="val 2377"/>
            </a:avLst>
          </a:prstGeom>
          <a:noFill/>
          <a:ln w="9525">
            <a:solidFill>
              <a:srgbClr val="7F7F7F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L/tab"/>
          <p:cNvSpPr txBox="1"/>
          <p:nvPr/>
        </p:nvSpPr>
        <p:spPr>
          <a:xfrm>
            <a:off x="1677245" y="2097005"/>
            <a:ext cx="1398079" cy="2769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45720" tIns="0" rIns="4572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000000"/>
                </a:solidFill>
                <a:latin typeface="Aptos"/>
                <a:ea typeface="KoPubWorld돋움체 Medium"/>
                <a:cs typeface="Aptos"/>
              </a:rPr>
              <a:t>(지표 × 입도 표)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6" name="L/s1"/>
          <p:cNvSpPr txBox="1"/>
          <p:nvPr/>
        </p:nvSpPr>
        <p:spPr>
          <a:xfrm>
            <a:off x="350203" y="2401436"/>
            <a:ext cx="4052163" cy="37236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지표 × 입도 (0.7 · 1 · 2 · 3 µm) 표 — 칸마다 상태 넷 중 하나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17" name="L/d1"/>
          <p:cNvSpPr txBox="1"/>
          <p:nvPr/>
        </p:nvSpPr>
        <p:spPr>
          <a:xfrm>
            <a:off x="405067" y="2773800"/>
            <a:ext cx="3997299" cy="548640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상태 넷 = 방향 일치 · 반대 / 비단조 · 판정 보류 · 계산 / 모형 한계</a:t>
            </a:r>
            <a:endParaRPr lang="ko-KR" sz="800"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비교 순서 0.7 → 1 → 2 → 3 · 주 대비 0.7 ↔ 3 · 고정 유한 영역 · 입도별 시드 1</a:t>
            </a:r>
            <a:endParaRPr lang="ko-KR" sz="8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"/>
          <p:cNvSpPr/>
          <p:nvPr/>
        </p:nvSpPr>
        <p:spPr>
          <a:xfrm>
            <a:off x="4640670" y="2204863"/>
            <a:ext cx="4235043" cy="4168505"/>
          </a:xfrm>
          <a:prstGeom prst="roundRect">
            <a:avLst>
              <a:gd name="adj" fmla="val 2377"/>
            </a:avLst>
          </a:prstGeom>
          <a:noFill/>
          <a:ln w="9525">
            <a:solidFill>
              <a:srgbClr val="7F7F7F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/tab"/>
          <p:cNvSpPr txBox="1"/>
          <p:nvPr/>
        </p:nvSpPr>
        <p:spPr>
          <a:xfrm>
            <a:off x="6259986" y="2097005"/>
            <a:ext cx="996410" cy="2769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45720" tIns="0" rIns="4572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altLang="en-US">
                <a:solidFill>
                  <a:srgbClr val="000000"/>
                </a:solidFill>
                <a:latin typeface="Aptos"/>
                <a:ea typeface="KoPubWorld돋움체 Medium"/>
                <a:cs typeface="Aptos"/>
              </a:rPr>
              <a:t>(다음 검증)</a:t>
            </a:r>
            <a:endParaRPr lang="ko-KR" sz="12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0" name="R/s1"/>
          <p:cNvSpPr txBox="1"/>
          <p:nvPr/>
        </p:nvSpPr>
        <p:spPr>
          <a:xfrm>
            <a:off x="4732110" y="2401436"/>
            <a:ext cx="4052163" cy="213614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 altLang="en-US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다음 = 3D 전기화학 (국부 전류밀도 · Li 농도) 에서 볼 것</a:t>
            </a:r>
            <a:endParaRPr lang="ko-KR" sz="10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1" name="R/d1"/>
          <p:cNvSpPr txBox="1"/>
          <p:nvPr/>
        </p:nvSpPr>
        <p:spPr>
          <a:xfrm>
            <a:off x="4786974" y="2615050"/>
            <a:ext cx="3997299" cy="219456"/>
          </a:xfrm>
          <a:prstGeom prst="rect">
            <a:avLst/>
          </a:prstGeom>
          <a:noFill/>
        </p:spPr>
        <p:txBody>
          <a:bodyPr wrap="square" anchor="t" lIns="36576" tIns="18288" rIns="36576" bIns="1828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ko-KR" altLang="en-US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DEM 구조 기반 · 이번 보고에 결과 없음</a:t>
            </a:r>
            <a:endParaRPr lang="ko-KR" sz="8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L/fig"/>
          <p:cNvSpPr/>
          <p:nvPr/>
        </p:nvSpPr>
        <p:spPr>
          <a:xfrm>
            <a:off x="386779" y="3377304"/>
            <a:ext cx="3979011" cy="2904624"/>
          </a:xfrm>
          <a:prstGeom prst="rect">
            <a:avLst/>
          </a:prstGeom>
          <a:noFill/>
          <a:ln w="9525">
            <a:solidFill>
              <a:srgbClr val="7F7F7F"/>
            </a:solidFill>
            <a:prstDash val="dash"/>
          </a:ln>
        </p:spPr>
        <p:txBody>
          <a:bodyPr rtlCol="0" anchor="ctr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[네 입도 지표 산출 뒤]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3" name="R/fig"/>
          <p:cNvSpPr/>
          <p:nvPr/>
        </p:nvSpPr>
        <p:spPr>
          <a:xfrm>
            <a:off x="4768686" y="3377304"/>
            <a:ext cx="3979011" cy="2904624"/>
          </a:xfrm>
          <a:prstGeom prst="rect">
            <a:avLst/>
          </a:prstGeom>
          <a:noFill/>
          <a:ln w="9525">
            <a:solidFill>
              <a:srgbClr val="7F7F7F"/>
            </a:solidFill>
            <a:prstDash val="dash"/>
          </a:ln>
        </p:spPr>
        <p:txBody>
          <a:bodyPr rtlCol="0" anchor="ctr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altLang="en-US">
                <a:solidFill>
                  <a:srgbClr val="7F7F7F"/>
                </a:solidFill>
                <a:latin typeface="Aptos"/>
                <a:ea typeface="KoPubWorld돋움체 Medium"/>
                <a:cs typeface="Aptos"/>
              </a:rPr>
              <a:t>[다음 보고 (3D 전기화학)]</a:t>
            </a:r>
            <a:endParaRPr lang="ko-KR" sz="1100">
              <a:latin typeface="Aptos"/>
              <a:ea typeface="KoPubWorld돋움체 Medium"/>
              <a:cs typeface="Aptos"/>
            </a:endParaRPr>
          </a:p>
        </p:txBody>
      </p:sp>
      <p:sp>
        <p:nvSpPr>
          <p:cNvPr id="24" name="note"/>
          <p:cNvSpPr txBox="1"/>
          <p:nvPr/>
        </p:nvSpPr>
        <p:spPr>
          <a:xfrm>
            <a:off x="258775" y="6428232"/>
            <a:ext cx="6675120" cy="228600"/>
          </a:xfrm>
          <a:prstGeom prst="rect">
            <a:avLst/>
          </a:prstGeom>
          <a:noFill/>
        </p:spPr>
        <p:txBody>
          <a:bodyPr wrap="square" anchor="ctr" lIns="45720" tIns="18288" rIns="45720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 altLang="en-US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쓸 수 있는 결론의 꼴: 네 침대에서 본 것과 다음에 볼 것을 구분</a:t>
            </a:r>
            <a:endParaRPr lang="ko-KR" sz="90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pgnum"/>
          <p:cNvSpPr txBox="1"/>
          <p:nvPr/>
        </p:nvSpPr>
        <p:spPr>
          <a:xfrm>
            <a:off x="7010401" y="6491968"/>
            <a:ext cx="2133599" cy="365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B3E2F1A-5C4D-4E8F-9A1B-2C3D4E5F6A7B}" type="slidenum">
              <a:rPr lang="ko-KR" sz="120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‹#›</a:t>
            </a:fld>
            <a:endParaRPr lang="ko-KR" sz="1200"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Hang" typeface="함초롬돋움"/>
      </a:majorFont>
      <a:minorFont>
        <a:latin typeface="함초롬돋움"/>
        <a:ea typeface=""/>
        <a:cs typeface="Times New Roman"/>
        <a:font script="Hang" typeface="함초롬돋움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50kg/batch 4차년도 DEM 해석 7쪽 — 초안 1</dc:title>
  <dc:subject>SE 입도 0.7 · 1 · 2 · 3 µm 비교 (1쪽 완성 · 2–7쪽 틀)</dc:subject>
  <dc:creator/>
  <cp:keywords/>
  <dc:description>docs/50kg/report_y4/build_kg50_report_y4.py</dc:description>
  <cp:lastModifiedBy/>
  <cp:revision>1</cp:revision>
  <dcterms:created xsi:type="dcterms:W3CDTF">2026-10-30T00:00:00Z</dcterms:created>
  <dcterms:modified xsi:type="dcterms:W3CDTF">2026-10-30T00:00:00Z</dcterms:modified>
  <cp:category/>
  <cp:lastPrinted>2026-10-30T00:00:00Z</cp:lastPrinted>
</cp:coreProperties>
</file>