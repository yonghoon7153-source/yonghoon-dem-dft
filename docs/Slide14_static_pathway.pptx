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69" r:id="R4644b85309e1439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4644b85309e14395" Type="http://schemas.openxmlformats.org/officeDocument/2006/relationships/slide" Target="slides/slide14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d15051cc896443f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1.xml.rels><?xml version='1.0' encoding='UTF-8' standalone='yes'?>
<Relationships xmlns="http://schemas.openxmlformats.org/package/2006/relationships"><Relationship Id="Rdb5e373131034f68" Type="http://schemas.openxmlformats.org/officeDocument/2006/relationships/notesMaster" Target="../notesMasters/notesMaster1.xml"/><Relationship Id="Rf772b5bb7b5044ba" Type="http://schemas.openxmlformats.org/officeDocument/2006/relationships/slide" Target="../slides/slide14.xml"/></Relationship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여섯 번째 단계는 정적 구조에서 Li 경로가 불리해 보이는지 빠르게 확인합니다. bond-valence 지형은 국소 배위를 보고, 4 Å 지표는 도펀트 주변에 놓인 Li의 기하학적 비율을 셉니다. 둘 다 확산계수나 전도도가 아닙니다. 또 과거 cascade의 파라미터는 현재 프로젝트 표준 softBV와 다르기 때문에, 지금은 과거 구조의 위험 신호로만 사용하고 최종 후보는 표준 규약으로 다시 계산해야 합니다.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[발표자 메모]</a:t>
            </a:r>
            <a:endParaRPr/>
          </a:p>
          <a:p xmlns:a="http://schemas.openxmlformats.org/drawingml/2006/main">
            <a:r>
              <a:t>그림의 노란 영역을 ‘통로’라고 단정하지 말고 정적 low-energy region이라고 설명한다.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docs/figures/bv_structure_panels_comp1.png; legacy cascade BVS code; canonical softBV convention.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4.xml.rels><?xml version='1.0' encoding='UTF-8' standalone='yes'?>
<Relationships xmlns="http://schemas.openxmlformats.org/package/2006/relationships"><Relationship Id="R6b3f270135454dce" Type="http://schemas.openxmlformats.org/officeDocument/2006/relationships/notesSlide" Target="../notesSlides/notesSlide11.xml"/><Relationship Id="Re915225b4e2744da" Type="http://schemas.openxmlformats.org/officeDocument/2006/relationships/image" Target="../media/image3.png"/><Relationship Id="Rf455cd2d2108455e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g-11">
            <a:extLst xmlns:a="http://schemas.openxmlformats.org/drawingml/2006/main">
              <a:ext uri="{FF2B5EF4-FFF2-40B4-BE49-F238E27FC236}">
                <a16:creationId xmlns:a16="http://schemas.microsoft.com/office/drawing/2014/main" id="{42BCE85D-7FF1-4A39-81FC-4F573368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6BD01FA7-AB46-428E-86BD-81D025FF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08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Static lithium transport pathway</a:t>
            </a:r>
          </a:p>
        </p:txBody>
      </p:sp>
      <p:sp>
        <p:nvSpPr>
          <p:cNvPr id="3" name="terms-11">
            <a:extLst xmlns:a="http://schemas.openxmlformats.org/drawingml/2006/main">
              <a:ext uri="{FF2B5EF4-FFF2-40B4-BE49-F238E27FC236}">
                <a16:creationId xmlns:a16="http://schemas.microsoft.com/office/drawing/2014/main" id="{1576C10E-4D2B-4CF8-B1BF-7D59CE71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Bond-valence map: a cheap estimate of how comfortable an ion is at a point  ·  Percolation: a low-energy path that spans the crystal</a:t>
            </a:r>
          </a:p>
        </p:txBody>
      </p:sp>
      <p:sp>
        <p:nvSpPr>
          <p:cNvPr id="4" name="divider-11">
            <a:extLst xmlns:a="http://schemas.openxmlformats.org/drawingml/2006/main">
              <a:ext uri="{FF2B5EF4-FFF2-40B4-BE49-F238E27FC236}">
                <a16:creationId xmlns:a16="http://schemas.microsoft.com/office/drawing/2014/main" id="{A562BBF3-1F41-4961-9084-83E274E8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11">
            <a:extLst xmlns:a="http://schemas.openxmlformats.org/drawingml/2006/main">
              <a:ext uri="{FF2B5EF4-FFF2-40B4-BE49-F238E27FC236}">
                <a16:creationId xmlns:a16="http://schemas.microsoft.com/office/drawing/2014/main" id="{625E0C1A-217D-4BB4-A278-B712AB0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11">
            <a:extLst xmlns:a="http://schemas.openxmlformats.org/drawingml/2006/main">
              <a:ext uri="{FF2B5EF4-FFF2-40B4-BE49-F238E27FC236}">
                <a16:creationId xmlns:a16="http://schemas.microsoft.com/office/drawing/2014/main" id="{1800E3FB-DDE3-4845-BC77-13FB348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Step 6: The Li energy landscape is mapped on the annealed geometry</a:t>
            </a:r>
          </a:p>
        </p:txBody>
      </p:sp>
      <p:sp>
        <p:nvSpPr>
          <p:cNvPr id="7" name="bullet-dot-11-0">
            <a:extLst xmlns:a="http://schemas.openxmlformats.org/drawingml/2006/main">
              <a:ext uri="{FF2B5EF4-FFF2-40B4-BE49-F238E27FC236}">
                <a16:creationId xmlns:a16="http://schemas.microsoft.com/office/drawing/2014/main" id="{575266FD-784D-4D5D-8973-706488C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11-0">
            <a:extLst xmlns:a="http://schemas.openxmlformats.org/drawingml/2006/main">
              <a:ext uri="{FF2B5EF4-FFF2-40B4-BE49-F238E27FC236}">
                <a16:creationId xmlns:a16="http://schemas.microsoft.com/office/drawing/2014/main" id="{FBF502C3-1E31-458F-BCDB-B44C8585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To flag transport risk without dynamics, a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bond-valence landscape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was computed.</a:t>
            </a:r>
          </a:p>
        </p:txBody>
      </p:sp>
      <p:sp>
        <p:nvSpPr>
          <p:cNvPr id="9" name="bullet-dot-11-1">
            <a:extLst xmlns:a="http://schemas.openxmlformats.org/drawingml/2006/main">
              <a:ext uri="{FF2B5EF4-FFF2-40B4-BE49-F238E27FC236}">
                <a16:creationId xmlns:a16="http://schemas.microsoft.com/office/drawing/2014/main" id="{94A13DB2-4EC0-4A18-B733-353E5E2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11-1">
            <a:extLst xmlns:a="http://schemas.openxmlformats.org/drawingml/2006/main">
              <a:ext uri="{FF2B5EF4-FFF2-40B4-BE49-F238E27FC236}">
                <a16:creationId xmlns:a16="http://schemas.microsoft.com/office/drawing/2014/main" id="{F889828F-7509-4F0E-8D36-88ECFCB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Low-energy valleys are </a:t>
            </a: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structural pathways, not diffusion coefficients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72094AD0-9D08-44F8-8D2C-641CACA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11">
            <a:extLst xmlns:a="http://schemas.openxmlformats.org/drawingml/2006/main">
              <a:ext uri="{FF2B5EF4-FFF2-40B4-BE49-F238E27FC236}">
                <a16:creationId xmlns:a16="http://schemas.microsoft.com/office/drawing/2014/main" id="{77073424-3802-4A2B-A036-E4962842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A5893C2A-6074-4180-8227-B9C0731E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 xmlns:a="http://schemas.openxmlformats.org/drawingml/2006/main" xmlns:r="http://schemas.openxmlformats.org/officeDocument/2006/relationships">
        <p:nvPicPr>
          <p:cNvPr id="19" name="Picture 18" descr="step6_li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049" y="2231136"/>
            <a:ext cx="6191901" cy="2999232"/>
          </a:xfrm>
          <a:prstGeom prst="rect">
            <a:avLst/>
          </a:prstGeom>
        </p:spPr>
      </p:pic>
      <p:sp xmlns:a="http://schemas.openxmlformats.org/drawingml/2006/main">
        <p:nvSpPr>
          <p:cNvPr id="20" name="TextBox 19"/>
          <p:cNvSpPr txBox="1"/>
          <p:nvPr/>
        </p:nvSpPr>
        <p:spPr>
          <a:xfrm>
            <a:off x="502920" y="5449824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Li landscape on the annealed geometry, undoped versus B₂O₃-doped &gt;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502920" y="5760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E123C"/>
                </a:solidFill>
                <a:latin typeface="Arial"/>
              </a:rPr>
              <a:t>a worked example from our other DFT study, not a screened candidate</a:t>
            </a:r>
            <a:r>
              <a:rPr sz="1150" b="0">
                <a:solidFill>
                  <a:srgbClr val="4B5563"/>
                </a:solidFill>
                <a:latin typeface="Arial"/>
              </a:rPr>
              <a:t>; valleys are low-energy regions, not channels</a:t>
            </a:r>
          </a:p>
        </p:txBody>
      </p:sp>
    </p:spTree>
    <p:extLst>
      <p:ext uri="{BB962C8B-B14F-4D97-AF65-F5344CB8AC3E}">
        <p14:creationId xmlns:p14="http://schemas.microsoft.com/office/powerpoint/2010/main" val="6330229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