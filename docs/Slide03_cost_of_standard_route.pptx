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0269442fd8ce4b81" Type="http://schemas.openxmlformats.org/officeDocument/2006/relationships/officeDocument" Target="ppt/presentation.xml"/><Relationship Id="R69334117c5514b65" Type="http://schemas.openxmlformats.org/package/2006/relationships/metadata/core-properties" Target="docProps/core.xml"/><Relationship Id="Rcd7563b061c1420c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a9f4c5f7750487f"/>
  </p:sldMasterIdLst>
  <p:notesMasterIdLst>
    <p:notesMasterId xmlns:r="http://schemas.openxmlformats.org/officeDocument/2006/relationships" r:id="R636b2433d8094769"/>
  </p:notesMasterIdLst>
  <p:sldIdLst>
    <p:sldId xmlns:r="http://schemas.openxmlformats.org/officeDocument/2006/relationships" id="258" r:id="rId1"/>
  </p:sldIdLst>
  <p:sldSz cx="9144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0bedd3fc95014fed" Type="http://schemas.openxmlformats.org/officeDocument/2006/relationships/presProps" Target="presProps.xml"/><Relationship Id="R245a50a1643649ab" Type="http://schemas.openxmlformats.org/officeDocument/2006/relationships/tableStyles" Target="tableStyles.xml"/><Relationship Id="R3eabe3a8ecf741a2" Type="http://schemas.openxmlformats.org/officeDocument/2006/relationships/viewProps" Target="viewProps.xml"/><Relationship Id="R636b2433d8094769" Type="http://schemas.openxmlformats.org/officeDocument/2006/relationships/notesMaster" Target="notesMasters/notesMaster1.xml"/><Relationship Id="R7a9f4c5f7750487f" Type="http://schemas.openxmlformats.org/officeDocument/2006/relationships/slideMaster" Target="slideMasters/slideMaster1.xml"/><Relationship Id="Rd15051cc896443fc" Type="http://schemas.openxmlformats.org/officeDocument/2006/relationships/theme" Target="theme/theme1.xml"/><Relationship Id="rId1" Type="http://schemas.openxmlformats.org/officeDocument/2006/relationships/slide" Target="slides/slide1.xml"/></Relationships>
</file>

<file path=ppt/notesMasters/_rels/notesMaster1.xml.rels><?xml version='1.0' encoding='UTF-8' standalone='yes'?>
<Relationships xmlns="http://schemas.openxmlformats.org/package/2006/relationships"><Relationship Id="R32b1c3d1c614449b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Layouts/_rels/slideLayout1.xml.rels><?xml version='1.0' encoding='UTF-8' standalone='yes'?>
<Relationships xmlns="http://schemas.openxmlformats.org/package/2006/relationships"><Relationship Id="R2567e83c79114d43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43280d18f2f3450f" Type="http://schemas.openxmlformats.org/officeDocument/2006/relationships/theme" Target="theme/theme2.xml"/><Relationship Id="Ra667905730bd4f44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67905730bd4f44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f6c3590f50c04caa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bg-2">
            <a:extLst xmlns:a="http://schemas.openxmlformats.org/drawingml/2006/main">
              <a:ext uri="{FF2B5EF4-FFF2-40B4-BE49-F238E27FC236}">
                <a16:creationId xmlns:a16="http://schemas.microsoft.com/office/drawing/2014/main" id="{42EC1371-5B0D-41B2-BF80-F758CD9B4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section-2">
            <a:extLst xmlns:a="http://schemas.openxmlformats.org/drawingml/2006/main">
              <a:ext uri="{FF2B5EF4-FFF2-40B4-BE49-F238E27FC236}">
                <a16:creationId xmlns:a16="http://schemas.microsoft.com/office/drawing/2014/main" id="{D623EED9-29A0-45DF-8EE5-6F77B9257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7" y="237744"/>
            <a:ext cx="813816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Cost of the standard doping route</a:t>
            </a:r>
          </a:p>
        </p:txBody>
      </p:sp>
      <p:sp>
        <p:nvSpPr>
          <p:cNvPr id="3" name="terms-2">
            <a:extLst xmlns:a="http://schemas.openxmlformats.org/drawingml/2006/main">
              <a:ext uri="{FF2B5EF4-FFF2-40B4-BE49-F238E27FC236}">
                <a16:creationId xmlns:a16="http://schemas.microsoft.com/office/drawing/2014/main" id="{F792F0E3-CE53-49E0-BCCF-F37A8450F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272784"/>
            <a:ext cx="8101583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863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863">
                <a:solidFill>
                  <a:srgbClr val="1F2937"/>
                </a:solidFill>
                <a:latin typeface="Arial"/>
                <a:ea typeface="Arial"/>
                <a:cs typeface="Arial"/>
              </a:rPr>
              <a:t>MLIP: machine-learned interatomic potential  ·  EOS: energy as a function of cell volume  ·  Multi-seed: the same run repeated from different starting arrangements</a:t>
            </a:r>
          </a:p>
        </p:txBody>
      </p:sp>
      <p:sp>
        <p:nvSpPr>
          <p:cNvPr id="4" name="divider-2">
            <a:extLst xmlns:a="http://schemas.openxmlformats.org/drawingml/2006/main">
              <a:ext uri="{FF2B5EF4-FFF2-40B4-BE49-F238E27FC236}">
                <a16:creationId xmlns:a16="http://schemas.microsoft.com/office/drawing/2014/main" id="{DA99A446-E4AC-418D-9803-BFCBDD3DF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90575"/>
            <a:ext cx="8334375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7280"/>
          </a:solidFill>
          <a:ln xmlns:a="http://schemas.openxmlformats.org/drawingml/2006/main" w="0">
            <a:solidFill>
              <a:srgbClr val="6B728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claim-square-2">
            <a:extLst xmlns:a="http://schemas.openxmlformats.org/drawingml/2006/main">
              <a:ext uri="{FF2B5EF4-FFF2-40B4-BE49-F238E27FC236}">
                <a16:creationId xmlns:a16="http://schemas.microsoft.com/office/drawing/2014/main" id="{2F72EA30-3994-437F-B0DA-EDD82E388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0287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1B2B"/>
          </a:solidFill>
          <a:ln xmlns:a="http://schemas.openxmlformats.org/drawingml/2006/main" w="0">
            <a:solidFill>
              <a:srgbClr val="A61B2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claim-2">
            <a:extLst xmlns:a="http://schemas.openxmlformats.org/drawingml/2006/main">
              <a:ext uri="{FF2B5EF4-FFF2-40B4-BE49-F238E27FC236}">
                <a16:creationId xmlns:a16="http://schemas.microsoft.com/office/drawing/2014/main" id="{7738225A-C6C1-4C88-AD90-F4446A1E8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23925"/>
            <a:ext cx="7762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F2937"/>
                </a:solidFill>
                <a:latin typeface="Arial"/>
                <a:ea typeface="Arial"/>
                <a:cs typeface="Arial"/>
              </a:rPr>
              <a:t>Motivation (2): The route we already use is accurate but slow</a:t>
            </a:r>
          </a:p>
        </p:txBody>
      </p:sp>
      <p:sp>
        <p:nvSpPr>
          <p:cNvPr id="7" name="bullet-dot-2-0">
            <a:extLst xmlns:a="http://schemas.openxmlformats.org/drawingml/2006/main">
              <a:ext uri="{FF2B5EF4-FFF2-40B4-BE49-F238E27FC236}">
                <a16:creationId xmlns:a16="http://schemas.microsoft.com/office/drawing/2014/main" id="{BCADEBCB-FECB-4E8F-BB40-9992E2386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371600"/>
            <a:ext cx="171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F4E7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8" name="bullet-2-0">
            <a:extLst xmlns:a="http://schemas.openxmlformats.org/drawingml/2006/main">
              <a:ext uri="{FF2B5EF4-FFF2-40B4-BE49-F238E27FC236}">
                <a16:creationId xmlns:a16="http://schemas.microsoft.com/office/drawing/2014/main" id="{97F073C5-D98B-4A92-ADF3-6B1977D3A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381125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F2937"/>
                </a:solidFill>
                <a:latin typeface="Arial"/>
                <a:ea typeface="Arial"/>
                <a:cs typeface="Arial"/>
              </a:rPr>
              <a:t>Several calculations were run for the project, and each of them is accurate.</a:t>
            </a:r>
          </a:p>
        </p:txBody>
      </p:sp>
      <p:sp>
        <p:nvSpPr>
          <p:cNvPr id="9" name="bullet-dot-2-1">
            <a:extLst xmlns:a="http://schemas.openxmlformats.org/drawingml/2006/main">
              <a:ext uri="{FF2B5EF4-FFF2-40B4-BE49-F238E27FC236}">
                <a16:creationId xmlns:a16="http://schemas.microsoft.com/office/drawing/2014/main" id="{DAB856AC-5722-4BA6-837F-607BFDFAD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733550"/>
            <a:ext cx="171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F2937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0" name="bullet-2-1">
            <a:extLst xmlns:a="http://schemas.openxmlformats.org/drawingml/2006/main">
              <a:ext uri="{FF2B5EF4-FFF2-40B4-BE49-F238E27FC236}">
                <a16:creationId xmlns:a16="http://schemas.microsoft.com/office/drawing/2014/main" id="{B8F35558-8FB5-4548-A491-8A0189E2F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743075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F2937"/>
                </a:solidFill>
                <a:latin typeface="Arial"/>
                <a:ea typeface="Arial"/>
                <a:cs typeface="Arial"/>
              </a:rPr>
              <a:t>The cost per composition is </a:t>
            </a:r>
            <a:r>
              <a:rPr sz="1275" b="1">
                <a:solidFill>
                  <a:srgbClr val="BE123C"/>
                </a:solidFill>
                <a:latin typeface="Arial"/>
                <a:ea typeface="Arial"/>
                <a:cs typeface="Arial"/>
              </a:rPr>
              <a:t>large</a:t>
            </a:r>
            <a:r>
              <a:rPr sz="1275" b="0">
                <a:solidFill>
                  <a:srgbClr val="374151"/>
                </a:solidFill>
                <a:latin typeface="Arial"/>
                <a:ea typeface="Arial"/>
                <a:cs typeface="Arial"/>
              </a:rPr>
              <a:t>, and it grows with every candidate added.</a:t>
            </a:r>
          </a:p>
        </p:txBody>
      </p:sp>
      <p:sp>
        <p:nvSpPr>
          <p:cNvPr id="11" name="citation-2">
            <a:extLst xmlns:a="http://schemas.openxmlformats.org/drawingml/2006/main">
              <a:ext uri="{FF2B5EF4-FFF2-40B4-BE49-F238E27FC236}">
                <a16:creationId xmlns:a16="http://schemas.microsoft.com/office/drawing/2014/main" id="{15A87E25-6307-4635-B824-9EE412672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5232" y="6053328"/>
            <a:ext cx="3364992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38" i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638" i="1">
                <a:solidFill>
                  <a:srgbClr val="6B7280"/>
                </a:solidFill>
                <a:latin typeface="Arial"/>
                <a:ea typeface="Arial"/>
                <a:cs typeface="Arial"/>
              </a:rPr>
              <a:t>Our standard route, per doped composition</a:t>
            </a:r>
          </a:p>
        </p:txBody>
      </p:sp>
      <p:sp>
        <p:nvSpPr>
          <p:cNvPr id="12" name="footer-brand-2">
            <a:extLst xmlns:a="http://schemas.openxmlformats.org/drawingml/2006/main">
              <a:ext uri="{FF2B5EF4-FFF2-40B4-BE49-F238E27FC236}">
                <a16:creationId xmlns:a16="http://schemas.microsoft.com/office/drawing/2014/main" id="{1C741C2F-D017-43D0-885B-99CBDF560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055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HANYANG UNIVERSITY</a:t>
            </a:r>
          </a:p>
        </p:txBody>
      </p:sp>
      <p:sp>
        <p:nvSpPr>
          <p:cNvPr id="13" name="footer-lab-2">
            <a:extLst xmlns:a="http://schemas.openxmlformats.org/drawingml/2006/main">
              <a:ext uri="{FF2B5EF4-FFF2-40B4-BE49-F238E27FC236}">
                <a16:creationId xmlns:a16="http://schemas.microsoft.com/office/drawing/2014/main" id="{B91944C3-DB4A-4076-AF1D-47C0F8DA8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6505575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6B7280"/>
                </a:solidFill>
                <a:latin typeface="Arial"/>
                <a:ea typeface="Arial"/>
                <a:cs typeface="Arial"/>
              </a:rPr>
              <a:t>Battery Materials Lab.</a:t>
            </a:r>
          </a:p>
        </p:txBody>
      </p:sp>
      <p:sp>
        <p:nvSpPr>
          <p:cNvPr id="14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C0E3793D-7774-496D-9AB3-19C8C670A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64865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B728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 xmlns:a="http://schemas.openxmlformats.org/drawingml/2006/main">
        <p:nvSpPr>
          <p:cNvPr id="35" name="Rounded Rectangle 34"/>
          <p:cNvSpPr/>
          <p:nvPr/>
        </p:nvSpPr>
        <p:spPr>
          <a:xfrm>
            <a:off x="566928" y="2432304"/>
            <a:ext cx="8010144" cy="2103120"/>
          </a:xfrm>
          <a:prstGeom prst="roundRect">
            <a:avLst>
              <a:gd name="adj" fmla="val 5000"/>
            </a:avLst>
          </a:prstGeom>
          <a:noFill/>
          <a:ln w="22225">
            <a:solidFill>
              <a:srgbClr val="0070C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6" name="TextBox 35"/>
          <p:cNvSpPr txBox="1"/>
          <p:nvPr/>
        </p:nvSpPr>
        <p:spPr>
          <a:xfrm>
            <a:off x="1069848" y="2290572"/>
            <a:ext cx="2743200" cy="2834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350" b="1">
                <a:solidFill>
                  <a:srgbClr val="0070C0"/>
                </a:solidFill>
                <a:latin typeface="Arial"/>
              </a:rPr>
              <a:t>Standard route per composition</a:t>
            </a:r>
          </a:p>
        </p:txBody>
      </p:sp>
      <p:sp xmlns:a="http://schemas.openxmlformats.org/drawingml/2006/main">
        <p:nvSpPr>
          <p:cNvPr id="37" name="TextBox 36"/>
          <p:cNvSpPr txBox="1"/>
          <p:nvPr/>
        </p:nvSpPr>
        <p:spPr>
          <a:xfrm>
            <a:off x="1051560" y="2706624"/>
            <a:ext cx="31089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F2937"/>
                </a:solidFill>
                <a:latin typeface="Arial"/>
              </a:rPr>
              <a:t>1.</a:t>
            </a:r>
          </a:p>
        </p:txBody>
      </p:sp>
      <p:sp xmlns:a="http://schemas.openxmlformats.org/drawingml/2006/main">
        <p:nvSpPr>
          <p:cNvPr id="38" name="TextBox 37"/>
          <p:cNvSpPr txBox="1"/>
          <p:nvPr/>
        </p:nvSpPr>
        <p:spPr>
          <a:xfrm>
            <a:off x="1389888" y="2706624"/>
            <a:ext cx="3291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F2937"/>
                </a:solidFill>
                <a:latin typeface="Arial"/>
              </a:rPr>
              <a:t>Enumerate substitutions</a:t>
            </a:r>
          </a:p>
        </p:txBody>
      </p:sp>
      <p:sp xmlns:a="http://schemas.openxmlformats.org/drawingml/2006/main">
        <p:nvSpPr>
          <p:cNvPr id="39" name="TextBox 38"/>
          <p:cNvSpPr txBox="1"/>
          <p:nvPr/>
        </p:nvSpPr>
        <p:spPr>
          <a:xfrm>
            <a:off x="4800600" y="2706624"/>
            <a:ext cx="3291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B7280"/>
                </a:solidFill>
                <a:latin typeface="Arial"/>
              </a:rPr>
              <a:t>(site × charge recipe)</a:t>
            </a:r>
          </a:p>
        </p:txBody>
      </p:sp>
      <p:sp xmlns:a="http://schemas.openxmlformats.org/drawingml/2006/main">
        <p:nvSpPr>
          <p:cNvPr id="40" name="TextBox 39"/>
          <p:cNvSpPr txBox="1"/>
          <p:nvPr/>
        </p:nvSpPr>
        <p:spPr>
          <a:xfrm>
            <a:off x="1051560" y="3163824"/>
            <a:ext cx="31089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F2937"/>
                </a:solidFill>
                <a:latin typeface="Arial"/>
              </a:rPr>
              <a:t>2.</a:t>
            </a:r>
          </a:p>
        </p:txBody>
      </p:sp>
      <p:sp xmlns:a="http://schemas.openxmlformats.org/drawingml/2006/main">
        <p:nvSpPr>
          <p:cNvPr id="41" name="TextBox 40"/>
          <p:cNvSpPr txBox="1"/>
          <p:nvPr/>
        </p:nvSpPr>
        <p:spPr>
          <a:xfrm>
            <a:off x="1389888" y="3163824"/>
            <a:ext cx="3291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F2937"/>
                </a:solidFill>
                <a:latin typeface="Arial"/>
              </a:rPr>
              <a:t>MLIP screen + anneal</a:t>
            </a:r>
          </a:p>
        </p:txBody>
      </p:sp>
      <p:sp xmlns:a="http://schemas.openxmlformats.org/drawingml/2006/main">
        <p:nvSpPr>
          <p:cNvPr id="42" name="TextBox 41"/>
          <p:cNvSpPr txBox="1"/>
          <p:nvPr/>
        </p:nvSpPr>
        <p:spPr>
          <a:xfrm>
            <a:off x="4800600" y="3163824"/>
            <a:ext cx="3291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B7280"/>
                </a:solidFill>
                <a:latin typeface="Arial"/>
              </a:rPr>
              <a:t>(Li ordering)</a:t>
            </a:r>
          </a:p>
        </p:txBody>
      </p:sp>
      <p:sp xmlns:a="http://schemas.openxmlformats.org/drawingml/2006/main">
        <p:nvSpPr>
          <p:cNvPr id="43" name="TextBox 42"/>
          <p:cNvSpPr txBox="1"/>
          <p:nvPr/>
        </p:nvSpPr>
        <p:spPr>
          <a:xfrm>
            <a:off x="1051560" y="3621024"/>
            <a:ext cx="31089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F2937"/>
                </a:solidFill>
                <a:latin typeface="Arial"/>
              </a:rPr>
              <a:t>3.</a:t>
            </a:r>
          </a:p>
        </p:txBody>
      </p:sp>
      <p:sp xmlns:a="http://schemas.openxmlformats.org/drawingml/2006/main">
        <p:nvSpPr>
          <p:cNvPr id="44" name="TextBox 43"/>
          <p:cNvSpPr txBox="1"/>
          <p:nvPr/>
        </p:nvSpPr>
        <p:spPr>
          <a:xfrm>
            <a:off x="1389888" y="3621024"/>
            <a:ext cx="3291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F2937"/>
                </a:solidFill>
                <a:latin typeface="Arial"/>
              </a:rPr>
              <a:t>DFT validation</a:t>
            </a:r>
          </a:p>
        </p:txBody>
      </p:sp>
      <p:sp xmlns:a="http://schemas.openxmlformats.org/drawingml/2006/main">
        <p:nvSpPr>
          <p:cNvPr id="45" name="TextBox 44"/>
          <p:cNvSpPr txBox="1"/>
          <p:nvPr/>
        </p:nvSpPr>
        <p:spPr>
          <a:xfrm>
            <a:off x="4800600" y="3621024"/>
            <a:ext cx="3291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B7280"/>
                </a:solidFill>
                <a:latin typeface="Arial"/>
              </a:rPr>
              <a:t>(EOS, elastic, band structure)</a:t>
            </a:r>
          </a:p>
        </p:txBody>
      </p:sp>
      <p:sp xmlns:a="http://schemas.openxmlformats.org/drawingml/2006/main">
        <p:nvSpPr>
          <p:cNvPr id="46" name="TextBox 45"/>
          <p:cNvSpPr txBox="1"/>
          <p:nvPr/>
        </p:nvSpPr>
        <p:spPr>
          <a:xfrm>
            <a:off x="1051560" y="4078224"/>
            <a:ext cx="31089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F2937"/>
                </a:solidFill>
                <a:latin typeface="Arial"/>
              </a:rPr>
              <a:t>4.</a:t>
            </a:r>
          </a:p>
        </p:txBody>
      </p:sp>
      <p:sp xmlns:a="http://schemas.openxmlformats.org/drawingml/2006/main">
        <p:nvSpPr>
          <p:cNvPr id="47" name="TextBox 46"/>
          <p:cNvSpPr txBox="1"/>
          <p:nvPr/>
        </p:nvSpPr>
        <p:spPr>
          <a:xfrm>
            <a:off x="1389888" y="4078224"/>
            <a:ext cx="3291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F2937"/>
                </a:solidFill>
                <a:latin typeface="Arial"/>
              </a:rPr>
              <a:t>Long MD</a:t>
            </a:r>
          </a:p>
        </p:txBody>
      </p:sp>
      <p:sp xmlns:a="http://schemas.openxmlformats.org/drawingml/2006/main">
        <p:nvSpPr>
          <p:cNvPr id="48" name="TextBox 47"/>
          <p:cNvSpPr txBox="1"/>
          <p:nvPr/>
        </p:nvSpPr>
        <p:spPr>
          <a:xfrm>
            <a:off x="4800600" y="4078224"/>
            <a:ext cx="3291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B7280"/>
                </a:solidFill>
                <a:latin typeface="Arial"/>
              </a:rPr>
              <a:t>(conductivity, multi-seed)</a:t>
            </a:r>
          </a:p>
        </p:txBody>
      </p:sp>
      <p:sp xmlns:a="http://schemas.openxmlformats.org/drawingml/2006/main">
        <p:nvSpPr>
          <p:cNvPr id="49" name="TextBox 48"/>
          <p:cNvSpPr txBox="1"/>
          <p:nvPr/>
        </p:nvSpPr>
        <p:spPr>
          <a:xfrm>
            <a:off x="960120" y="4956048"/>
            <a:ext cx="7223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50">
                <a:solidFill>
                  <a:srgbClr val="1F2937"/>
                </a:solidFill>
                <a:latin typeface="Arial"/>
              </a:rPr>
              <a:t>So a low-cost screening route was devised, and run over 91 candidates.</a:t>
            </a:r>
          </a:p>
        </p:txBody>
      </p:sp>
    </p:spTree>
    <p:extLst>
      <p:ext uri="{BB962C8B-B14F-4D97-AF65-F5344CB8AC3E}">
        <p14:creationId xmlns:p14="http://schemas.microsoft.com/office/powerpoint/2010/main" val="79106766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2026-08-16T17:36:15.2940000Z</dcterms:created>
  <dcterms:modified xsi:type="dcterms:W3CDTF">2026-08-16T17:36:15.2940000Z</dcterms:modified>
</coreProperties>
</file>