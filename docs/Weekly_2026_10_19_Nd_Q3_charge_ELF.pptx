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Away from Nd</c:v>
                </c:pt>
              </c:strCache>
            </c:strRef>
          </c:tx>
          <c:spPr>
            <a:solidFill>
              <a:srgbClr val="8EA9C1"/>
            </a:solidFill>
          </c:spPr>
          <c:cat>
            <c:strRef>
              <c:f>Sheet1!$A$2:$A$4</c:f>
              <c:strCache>
                <c:ptCount val="3"/>
                <c:pt idx="0">
                  <c:v>Free S</c:v>
                </c:pt>
                <c:pt idx="1">
                  <c:v>Cl</c:v>
                </c:pt>
                <c:pt idx="2">
                  <c:v>O (P–O)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-1.6898</c:v>
                </c:pt>
                <c:pt idx="1">
                  <c:v>-0.9133</c:v>
                </c:pt>
                <c:pt idx="2">
                  <c:v>-1.8984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Next to Nd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Sheet1!$A$2:$A$4</c:f>
              <c:strCache>
                <c:ptCount val="3"/>
                <c:pt idx="0">
                  <c:v>Free S</c:v>
                </c:pt>
                <c:pt idx="1">
                  <c:v>Cl</c:v>
                </c:pt>
                <c:pt idx="2">
                  <c:v>O (P–O)</c:v>
                </c:pt>
              </c:strCache>
            </c:strRef>
          </c:cat>
          <c:val>
            <c:numRef>
              <c:f>Sheet1!$C$2:$C$4</c:f>
              <c:numCache>
                <c:formatCode>0.00</c:formatCode>
                <c:ptCount val="3"/>
                <c:pt idx="0">
                  <c:v>-1.4703</c:v>
                </c:pt>
                <c:pt idx="1">
                  <c:v>-0.8327</c:v>
                </c:pt>
                <c:pt idx="2">
                  <c:v>-1.8499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00000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"/>
          <c:min val="-2.0"/>
        </c:scaling>
        <c:delete val="0"/>
        <c:axPos val="l"/>
        <c:majorGridlines>
          <c:spPr>
            <a:ln>
              <a:solidFill>
                <a:srgbClr val="BFBFBF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r>
                  <a:rPr sz="900" b="0"/>
                  <a:t>Bader charge (e)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crossAx val="-2068027336"/>
        <c:crosses val="autoZero"/>
        <c:majorUnit val="0.5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Host bonds</c:v>
                </c:pt>
              </c:strCache>
            </c:strRef>
          </c:tx>
          <c:spPr>
            <a:solidFill>
              <a:srgbClr val="4F81BD"/>
            </a:solidFill>
          </c:spPr>
          <c:cat>
            <c:strRef>
              <c:f>Sheet1!$A$2:$A$9</c:f>
              <c:strCache>
                <c:ptCount val="8"/>
                <c:pt idx="0">
                  <c:v>P–S</c:v>
                </c:pt>
                <c:pt idx="1">
                  <c:v>O–P</c:v>
                </c:pt>
                <c:pt idx="2">
                  <c:v>Li–S</c:v>
                </c:pt>
                <c:pt idx="3">
                  <c:v>Li–Cl</c:v>
                </c:pt>
                <c:pt idx="4">
                  <c:v>Li–O</c:v>
                </c:pt>
                <c:pt idx="5">
                  <c:v>Nd–S</c:v>
                </c:pt>
                <c:pt idx="6">
                  <c:v>Nd–Cl</c:v>
                </c:pt>
                <c:pt idx="7">
                  <c:v>Nd–O</c:v>
                </c:pt>
              </c:strCache>
            </c:strRef>
          </c:cat>
          <c:val>
            <c:numRef>
              <c:f>Sheet1!$B$2:$B$9</c:f>
              <c:numCache>
                <c:formatCode>0.00</c:formatCode>
                <c:ptCount val="8"/>
                <c:pt idx="0">
                  <c:v>0.943</c:v>
                </c:pt>
                <c:pt idx="1">
                  <c:v>0.923</c:v>
                </c:pt>
                <c:pt idx="2">
                  <c:v>0.931</c:v>
                </c:pt>
                <c:pt idx="3">
                  <c:v>0.893</c:v>
                </c:pt>
                <c:pt idx="4">
                  <c:v>0.779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Nd bonds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Sheet1!$A$2:$A$9</c:f>
              <c:strCache>
                <c:ptCount val="8"/>
                <c:pt idx="0">
                  <c:v>P–S</c:v>
                </c:pt>
                <c:pt idx="1">
                  <c:v>O–P</c:v>
                </c:pt>
                <c:pt idx="2">
                  <c:v>Li–S</c:v>
                </c:pt>
                <c:pt idx="3">
                  <c:v>Li–Cl</c:v>
                </c:pt>
                <c:pt idx="4">
                  <c:v>Li–O</c:v>
                </c:pt>
                <c:pt idx="5">
                  <c:v>Nd–S</c:v>
                </c:pt>
                <c:pt idx="6">
                  <c:v>Nd–Cl</c:v>
                </c:pt>
                <c:pt idx="7">
                  <c:v>Nd–O</c:v>
                </c:pt>
              </c:strCache>
            </c:strRef>
          </c:cat>
          <c:val>
            <c:numRef>
              <c:f>Sheet1!$C$2:$C$9</c:f>
              <c:numCache>
                <c:formatCode>0.00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0.466</c:v>
                </c:pt>
                <c:pt idx="6">
                  <c:v>0.372</c:v>
                </c:pt>
                <c:pt idx="7">
                  <c:v>0.311</c:v>
                </c:pt>
              </c:numCache>
            </c:numRef>
          </c:val>
        </c:ser>
        <c:dLbls>
          <c:numFmt formatCode="0.00;;;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00000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BFBFBF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r>
                  <a:rPr sz="900" b="0"/>
                  <a:t>ELF at bond midpoint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crossAx val="-2068027336"/>
        <c:crosses val="autoZero"/>
        <c:majorUnit val="0.5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90500" cy="762000"/>
          </a:xfrm>
          <a:prstGeom prst="rect">
            <a:avLst/>
          </a:prstGeom>
          <a:solidFill>
            <a:srgbClr val="00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219456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Arial"/>
                <a:ea typeface="맑은 고딕"/>
              </a:rPr>
              <a:t>2. </a:t>
            </a:r>
            <a:r>
              <a:rPr sz="2400" b="1">
                <a:solidFill>
                  <a:srgbClr val="1F497D"/>
                </a:solidFill>
                <a:latin typeface="맑은 고딕"/>
                <a:ea typeface="맑은 고딕"/>
              </a:rPr>
              <a:t>DFT 관련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A50021"/>
                </a:solidFill>
                <a:latin typeface="Arial"/>
                <a:ea typeface="맑은 고딕"/>
              </a:rPr>
              <a:t>■ 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Nd 주변 전자 분포 — Bader 전하 · 결합 중점 ELF (Nd@Li 모델)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81328"/>
            <a:ext cx="84124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Bef>
                <a:spcPts val="0"/>
              </a:spcBef>
              <a:buClr>
                <a:srgbClr val="404040"/>
              </a:buClr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Nd</a:t>
            </a:r>
            <a:r>
              <a:rPr sz="1200" b="0" baseline="-25000">
                <a:solidFill>
                  <a:srgbClr val="000000"/>
                </a:solidFill>
                <a:latin typeface="맑은 고딕"/>
                <a:ea typeface="맑은 고딕"/>
              </a:rPr>
              <a:t>2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O</a:t>
            </a:r>
            <a:r>
              <a:rPr sz="1200" b="0" baseline="-25000">
                <a:solidFill>
                  <a:srgbClr val="000000"/>
                </a:solidFill>
                <a:latin typeface="맑은 고딕"/>
                <a:ea typeface="맑은 고딕"/>
              </a:rPr>
              <a:t>3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@LPSCl1.6 (Nd@Li · 120 원자) · QE PBE · Nd 4f-in-core — 같은 셀에서 Nd 옆 / 먼 음이온 비교</a:t>
            </a:r>
          </a:p>
          <a:p>
            <a:pPr marL="274320" indent="-274320">
              <a:spcBef>
                <a:spcPts val="500"/>
              </a:spcBef>
              <a:buClr>
                <a:srgbClr val="404040"/>
              </a:buClr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Nd 옆 음이온이 전자를 덜 가짐 (자유 S </a:t>
            </a:r>
            <a:r>
              <a:rPr sz="1200" b="0">
                <a:solidFill>
                  <a:srgbClr val="0070C0"/>
                </a:solidFill>
                <a:latin typeface="맑은 고딕"/>
                <a:ea typeface="맑은 고딕"/>
              </a:rPr>
              <a:t>−1.47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vs −1.69 e · Cl </a:t>
            </a:r>
            <a:r>
              <a:rPr sz="1200" b="0">
                <a:solidFill>
                  <a:srgbClr val="0070C0"/>
                </a:solidFill>
                <a:latin typeface="맑은 고딕"/>
                <a:ea typeface="맑은 고딕"/>
              </a:rPr>
              <a:t>−0.83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vs −0.91 e) → 전자가 음이온 쪽으로 더 가지 않음</a:t>
            </a:r>
          </a:p>
          <a:p>
            <a:pPr marL="274320" indent="-274320">
              <a:spcBef>
                <a:spcPts val="500"/>
              </a:spcBef>
              <a:buClr>
                <a:srgbClr val="404040"/>
              </a:buClr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Nd </a:t>
            </a:r>
            <a:r>
              <a:rPr sz="1200" b="0">
                <a:solidFill>
                  <a:srgbClr val="0070C0"/>
                </a:solidFill>
                <a:latin typeface="맑은 고딕"/>
                <a:ea typeface="맑은 고딕"/>
              </a:rPr>
              <a:t>+1.96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(형식 +3 의 65 %) · Li +0.88 (호스트와 같음) → Nd 는 전자를 다 내주지 않고 일부를 음이온 사이에 남김</a:t>
            </a:r>
          </a:p>
          <a:p>
            <a:pPr marL="274320" indent="-274320">
              <a:spcBef>
                <a:spcPts val="500"/>
              </a:spcBef>
              <a:buClr>
                <a:srgbClr val="404040"/>
              </a:buClr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Nd–X 결합 중점 ELF </a:t>
            </a:r>
            <a:r>
              <a:rPr sz="1200" b="0">
                <a:solidFill>
                  <a:srgbClr val="0070C0"/>
                </a:solidFill>
                <a:latin typeface="맑은 고딕"/>
                <a:ea typeface="맑은 고딕"/>
              </a:rPr>
              <a:t>0.31–0.47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 (P–S 0.94) → 공유 전자쌍은 없음 · 주로 이온 결합, Li–X 보다 공유성이 조금 더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3108960"/>
          <a:ext cx="425196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120640" y="3108960"/>
          <a:ext cx="425196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83387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&lt; Bader 전하 — Nd 옆 / 먼 음이온 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583387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&lt; 결합 중점 ELF (0.5 = 균일 전자기체) 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63056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7F7F7F"/>
                </a:solidFill>
                <a:latin typeface="맑은 고딕"/>
                <a:ea typeface="맑은 고딕"/>
              </a:rPr>
              <a:t>※ Nd 2 개 · Nd 옆 음이온 각 2 개 · 구조 1 개 · 4f-in-core PP 로 낸 값 — Nd 자리 선호 (EOS 진행 중) 와 분해 안정성은 따로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6400800"/>
            <a:ext cx="320040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200" b="0">
                <a:solidFill>
                  <a:srgbClr val="7F7F7F"/>
                </a:solidFill>
                <a:latin typeface="Calibri"/>
                <a:ea typeface="Calibri"/>
              </a:rPr>
              <a:t>Battery Materials Laboratory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6400800"/>
            <a:ext cx="548640" cy="274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/>
            <a:fld id="{B6F15528-21DE-4FAA-801E-634DDDAF4B2B}" type="slidenum">
              <a:rPr lang="en-US" sz="1200">
                <a:solidFill>
                  <a:srgbClr val="888888"/>
                </a:solidFill>
                <a:latin typeface="Calibri"/>
              </a:rPr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