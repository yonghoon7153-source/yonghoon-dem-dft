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1"/>
  </p:sldMasterIdLst>
  <p:notesMasterIdLst>
    <p:notesMasterId r:id="rId13"/>
  </p:notesMasterIdLst>
  <p:sldIdLst>
    <p:sldId id="8778" r:id="rId2"/>
    <p:sldId id="306" r:id="rId3"/>
    <p:sldId id="307" r:id="rId4"/>
    <p:sldId id="259" r:id="rId5"/>
    <p:sldId id="8779" r:id="rId6"/>
    <p:sldId id="8825" r:id="rId7"/>
    <p:sldId id="268" r:id="rId8"/>
    <p:sldId id="8827" r:id="rId18"/>
    <p:sldId id="8828" r:id="rId19"/>
    <p:sldId id="8829" r:id="rId20"/>
    <p:sldId id="8830" r:id="rId21"/>
    <p:sldId id="8831" r:id="rId22"/>
    <p:sldId id="8832" r:id="rId23"/>
    <p:sldId id="8833" r:id="rId24"/>
    <p:sldId id="8834" r:id="rId25"/>
    <p:sldId id="8835" r:id="rId26"/>
    <p:sldId id="8836" r:id="rId27"/>
    <p:sldId id="8837" r:id="rId28"/>
    <p:sldId id="8838" r:id="rId29"/>
    <p:sldId id="8839" r:id="rId30"/>
    <p:sldId id="8781" r:id="rId11"/>
    <p:sldId id="8824" r:id="rId1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52FEE47-E5A6-4184-BD90-60AC0E95BD8D}">
          <p14:sldIdLst>
            <p14:sldId id="8778"/>
            <p14:sldId id="306"/>
            <p14:sldId id="307"/>
          </p14:sldIdLst>
        </p14:section>
        <p14:section name="기관별 작성 요청" id="{911DABA7-AF7E-4663-AF91-6BD3B88F9489}">
          <p14:sldIdLst>
            <p14:sldId id="259"/>
            <p14:sldId id="8779"/>
            <p14:sldId id="8825"/>
            <p14:sldId id="268"/>
            <p14:sldId id="8780"/>
            <p14:sldId id="8826"/>
            <p14:sldId id="8781"/>
            <p14:sldId id="88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01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pos="3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7BC"/>
    <a:srgbClr val="2C4C87"/>
    <a:srgbClr val="B4C7E7"/>
    <a:srgbClr val="FBE5D6"/>
    <a:srgbClr val="FFFBEF"/>
    <a:srgbClr val="E5F2F9"/>
    <a:srgbClr val="D3E1F8"/>
    <a:srgbClr val="7F7F7F"/>
    <a:srgbClr val="4472C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6210" autoAdjust="0"/>
  </p:normalViewPr>
  <p:slideViewPr>
    <p:cSldViewPr snapToGrid="0">
      <p:cViewPr varScale="1">
        <p:scale>
          <a:sx n="114" d="100"/>
          <a:sy n="114" d="100"/>
        </p:scale>
        <p:origin x="1638" y="108"/>
      </p:cViewPr>
      <p:guideLst>
        <p:guide orient="horz" pos="4201"/>
        <p:guide pos="3120"/>
        <p:guide pos="217"/>
        <p:guide orient="horz" pos="777"/>
        <p:guide pos="6068"/>
        <p:guide pos="3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1" Type="http://schemas.openxmlformats.org/officeDocument/2006/relationships/slide" Target="slides/slide21.xml"/><Relationship Id="rId12" Type="http://schemas.openxmlformats.org/officeDocument/2006/relationships/slide" Target="slides/slide2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93297-71CA-4B32-BEF8-485A8A5AD722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B835C-CCDF-46FB-B524-1E5CD9B328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5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B835C-CCDF-46FB-B524-1E5CD9B3289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34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BE6C-7915-061A-A299-0D4B98E9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3E05D3-63E4-69EB-BCA5-96B22C901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7E4FA8-879B-229B-7818-643AF0EA1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87C56-E0D9-D2A9-79C8-E2F9303BB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A2C65-6271-402B-BFFF-E41D398C372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10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 출처 = docs/report_20261021/summary.json (make_figs.py).  배포 v1 = docs/data/lhs_release_20261001/.  믹서 = docs/data/mixer_final10_20260930/README.md.  Phase A = docs/data/phase_a_104arms_20260921/ · phase_a_rep100_20260930/.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수식은 PowerPoint 수식 개체 (더블클릭해 편집).  F_n 이력식은 LIGGGHTS hooke/hysteresis 의 하중/제하 강성 구조.  물성 = 덱 값 (dem_scripts/ps_sweep_6mah_20260914/in.ps_7_3_r45.liggghts).  ⚠ 과제 공식 물성 E_NCM 221 GPa (단결정) · 제작 압력 450 MPa 와 다름 — 모델 규약 (논의 사항).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굴곡도 = 수확기 벽 기준 Dijkstra (tortuosity_SE_wall) — 수송 τ (Laplace) 아님.  피복률 = 기하 접촉 면적 기준 (J20-m).  고립 = 100 − ionic_active_pct (경로 기준).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130 = docs/data/lhs_design_20260818.csv 설계 (2 mAh/cm²) · 64 = lhsx (전해질 과량) · 공극률 = 배포 v1 porosity_union_exact_pct.  사양 5 조성 = ps45 union (r45_union_summary.tsv).  공극률 중앙값 표기는 5 조성의 경우 5:5 값 (중앙값).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웹앱 케이스 260925_000559_082983 (input_6mAh_real_4_D9) · 덤프 atom_3220000.  구 부피 합은 겹침을 두 번 세는 값 (union 과 병기).  ⬜ = 사양 5 조성 수송 값 (웹앱 PC extract_r45_metrics.py).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= docs/data/ps45_r45_union_20260929/r45_union_summary.tsv.  오른쪽 = 배포 v1 130 설계점 ln(union) ~ 1 + SE/고체 + (SE/고체)² + d_SE (최소제곱) 잔차의 조성별 중앙값을 공극률 비 (exp − 1) 로 바꾼 값 (10-05 정정 — 앞 판은 ln × 100 을 % 로 적었다).  ⚠ 7:3 과 10:0 의 차 (0.4 %p) 는 조성당 침대 1 개 기준 — 반복 없음 (논의 사항).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라틴 하이퍼큐브는 인자를 동시에 바꾸므로 수준별 · 구간 중앙값은 다른 인자가 섞인 주변 경향이다.  활물질 함량은 70–95 wt% 여섯 수준 (SE 11–51 vol%) — 10-05 정정 전 판은 10 % 폭 구간으로 21 % · 30 % 두 수준을 한 칸에 합쳤다.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= 배포 v1 (tortuosity_SE_wall · ionic_active_pct · se_of_solid_vol).  굴곡도 = 수확기 벽 기준 Dijkstra — 수송 τ 아님.  비관통 24 건 = 09-19 진단과 같은 집합.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docs/data/phase_a_104arms_20260921/ (판정 ORDER-ROBUST · 72/72 · replay 0.00000 %) · 재현 docs/data/phase_a_rep100_20260930/.  한정어: 등록된 estimand 는 순서뿐 · 증분 % 는 기술 보고 · 복셀 σ 는 접촉 저항 미포함 (CONTACT_FREE 가지).  ⚠ 이 장을 넣을지 = 논의 사항.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식 = scripts/make_mixer_deck.py (Hertz + SJKR · Bo = F_coh / W) · scripts/measure_mixing_index.py (Lacey).  현 캠페인 = docs/reviews/mixer_layered_prereg_20260921.md.  드럼 그림 = /mixer 침대 보기 캡처로 넣을 것 (옛 09-20 세대 그림은 쓰지 않는다).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docs/data/mixer_final10_20260930/README.md · verdict_20260930.json.  결론 문안 = 사전등록 §5 (비교 이름 · 계약 한정어).  "효과 없음" · "동등" 이라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사전등록 docs/reviews/mixer_highbo_prereg_20260927.md (v2.7) · Codex 검토.  결과가 나오면 2-11 과 같은 꼴 (막대 + 판정표) 로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 지침은 이 모델 · 이 설계 범위의 중간 결과 (탐색적 포함).  ⬜ 항목은 10월 중 결과로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5E88E-3E0D-4705-A44B-979DE51C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02AD-99A7-4FAF-8D7B-EEA4DD808CFF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254E1B-3341-4B57-A3AD-3B331AE7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923DD-34DB-4C83-9EF8-9046DB1E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2108C-561C-4292-9C77-E5ADBE07620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C7DAF7-8556-4D57-9356-47337A4124B3}"/>
              </a:ext>
            </a:extLst>
          </p:cNvPr>
          <p:cNvSpPr/>
          <p:nvPr userDrawn="1"/>
        </p:nvSpPr>
        <p:spPr>
          <a:xfrm>
            <a:off x="-1" y="1"/>
            <a:ext cx="981075" cy="740176"/>
          </a:xfrm>
          <a:prstGeom prst="rect">
            <a:avLst/>
          </a:pr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9" name="자유형 4">
            <a:extLst>
              <a:ext uri="{FF2B5EF4-FFF2-40B4-BE49-F238E27FC236}">
                <a16:creationId xmlns:a16="http://schemas.microsoft.com/office/drawing/2014/main" id="{BEB35536-093B-47A8-8331-0CA4AE2D64E6}"/>
              </a:ext>
            </a:extLst>
          </p:cNvPr>
          <p:cNvSpPr/>
          <p:nvPr userDrawn="1"/>
        </p:nvSpPr>
        <p:spPr>
          <a:xfrm rot="10800000">
            <a:off x="8369632" y="-1867"/>
            <a:ext cx="1536367" cy="742045"/>
          </a:xfrm>
          <a:custGeom>
            <a:avLst/>
            <a:gdLst>
              <a:gd name="connsiteX0" fmla="*/ 1418185 w 1418185"/>
              <a:gd name="connsiteY0" fmla="*/ 742045 h 742045"/>
              <a:gd name="connsiteX1" fmla="*/ 0 w 1418185"/>
              <a:gd name="connsiteY1" fmla="*/ 742045 h 742045"/>
              <a:gd name="connsiteX2" fmla="*/ 0 w 1418185"/>
              <a:gd name="connsiteY2" fmla="*/ 0 h 742045"/>
              <a:gd name="connsiteX3" fmla="*/ 676140 w 1418185"/>
              <a:gd name="connsiteY3" fmla="*/ 0 h 7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8185" h="742045">
                <a:moveTo>
                  <a:pt x="1418185" y="742045"/>
                </a:moveTo>
                <a:lnTo>
                  <a:pt x="0" y="742045"/>
                </a:lnTo>
                <a:lnTo>
                  <a:pt x="0" y="0"/>
                </a:lnTo>
                <a:lnTo>
                  <a:pt x="676140" y="0"/>
                </a:lnTo>
                <a:close/>
              </a:path>
            </a:pathLst>
          </a:custGeom>
          <a:solidFill>
            <a:srgbClr val="A8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463"/>
          </a:p>
        </p:txBody>
      </p:sp>
      <p:sp>
        <p:nvSpPr>
          <p:cNvPr id="10" name="자유형 5">
            <a:extLst>
              <a:ext uri="{FF2B5EF4-FFF2-40B4-BE49-F238E27FC236}">
                <a16:creationId xmlns:a16="http://schemas.microsoft.com/office/drawing/2014/main" id="{028EF0CA-4376-4308-A4E0-81904284A50F}"/>
              </a:ext>
            </a:extLst>
          </p:cNvPr>
          <p:cNvSpPr/>
          <p:nvPr userDrawn="1"/>
        </p:nvSpPr>
        <p:spPr>
          <a:xfrm rot="10800000">
            <a:off x="8851297" y="-1867"/>
            <a:ext cx="1054703" cy="742045"/>
          </a:xfrm>
          <a:custGeom>
            <a:avLst/>
            <a:gdLst>
              <a:gd name="connsiteX0" fmla="*/ 973572 w 973572"/>
              <a:gd name="connsiteY0" fmla="*/ 742045 h 742045"/>
              <a:gd name="connsiteX1" fmla="*/ 0 w 973572"/>
              <a:gd name="connsiteY1" fmla="*/ 742045 h 742045"/>
              <a:gd name="connsiteX2" fmla="*/ 0 w 973572"/>
              <a:gd name="connsiteY2" fmla="*/ 0 h 742045"/>
              <a:gd name="connsiteX3" fmla="*/ 231527 w 973572"/>
              <a:gd name="connsiteY3" fmla="*/ 0 h 7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572" h="742045">
                <a:moveTo>
                  <a:pt x="973572" y="742045"/>
                </a:moveTo>
                <a:lnTo>
                  <a:pt x="0" y="742045"/>
                </a:lnTo>
                <a:lnTo>
                  <a:pt x="0" y="0"/>
                </a:lnTo>
                <a:lnTo>
                  <a:pt x="231527" y="0"/>
                </a:lnTo>
                <a:close/>
              </a:path>
            </a:pathLst>
          </a:custGeom>
          <a:solidFill>
            <a:srgbClr val="2C4C8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463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243ACD-AB96-4261-82B4-2DAD9A1545E5}"/>
              </a:ext>
            </a:extLst>
          </p:cNvPr>
          <p:cNvSpPr/>
          <p:nvPr userDrawn="1"/>
        </p:nvSpPr>
        <p:spPr>
          <a:xfrm>
            <a:off x="0" y="740179"/>
            <a:ext cx="9906000" cy="9371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cxnSp>
        <p:nvCxnSpPr>
          <p:cNvPr id="13" name="직선 연결선[R] 8">
            <a:extLst>
              <a:ext uri="{FF2B5EF4-FFF2-40B4-BE49-F238E27FC236}">
                <a16:creationId xmlns:a16="http://schemas.microsoft.com/office/drawing/2014/main" id="{FD4083ED-F011-46BA-B826-45792BBD9460}"/>
              </a:ext>
            </a:extLst>
          </p:cNvPr>
          <p:cNvCxnSpPr>
            <a:cxnSpLocks/>
          </p:cNvCxnSpPr>
          <p:nvPr userDrawn="1"/>
        </p:nvCxnSpPr>
        <p:spPr>
          <a:xfrm>
            <a:off x="0" y="740178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3188682-A58F-4008-8E80-3113897FB5BC}"/>
              </a:ext>
            </a:extLst>
          </p:cNvPr>
          <p:cNvSpPr txBox="1">
            <a:spLocks/>
          </p:cNvSpPr>
          <p:nvPr userDrawn="1"/>
        </p:nvSpPr>
        <p:spPr>
          <a:xfrm>
            <a:off x="7507193" y="1"/>
            <a:ext cx="2311399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22CD3B-FDDF-4998-970C-76E6E0BEC65F}" type="slidenum">
              <a:rPr lang="ko-KR" altLang="en-US" sz="975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ko-KR" altLang="en-US" sz="97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1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EC92577-72A4-490F-8E09-0ED1E0EA4C18}"/>
              </a:ext>
            </a:extLst>
          </p:cNvPr>
          <p:cNvGrpSpPr/>
          <p:nvPr userDrawn="1"/>
        </p:nvGrpSpPr>
        <p:grpSpPr>
          <a:xfrm>
            <a:off x="1963670" y="0"/>
            <a:ext cx="7945106" cy="6866063"/>
            <a:chOff x="936984" y="0"/>
            <a:chExt cx="5960671" cy="5145088"/>
          </a:xfrm>
        </p:grpSpPr>
        <p:pic>
          <p:nvPicPr>
            <p:cNvPr id="12" name="Picture 8" descr="Bildergebnis für car charging">
              <a:extLst>
                <a:ext uri="{FF2B5EF4-FFF2-40B4-BE49-F238E27FC236}">
                  <a16:creationId xmlns:a16="http://schemas.microsoft.com/office/drawing/2014/main" id="{39F7072D-BE1F-4F00-A21C-14AD6A73B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898"/>
            <a:stretch/>
          </p:blipFill>
          <p:spPr bwMode="auto">
            <a:xfrm>
              <a:off x="2566588" y="0"/>
              <a:ext cx="4331067" cy="5145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8B83EF9-351A-4E9C-93AD-E24EAB20E253}"/>
                </a:ext>
              </a:extLst>
            </p:cNvPr>
            <p:cNvSpPr/>
            <p:nvPr/>
          </p:nvSpPr>
          <p:spPr bwMode="auto">
            <a:xfrm>
              <a:off x="936984" y="0"/>
              <a:ext cx="4460561" cy="5145088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3179">
                  <a:srgbClr val="FFFFFF">
                    <a:alpha val="40000"/>
                  </a:srgbClr>
                </a:gs>
                <a:gs pos="69000">
                  <a:srgbClr val="FFFFFF">
                    <a:alpha val="74000"/>
                  </a:srgbClr>
                </a:gs>
                <a:gs pos="53000">
                  <a:srgbClr val="FFFFFF"/>
                </a:gs>
                <a:gs pos="29000">
                  <a:srgbClr val="FFFFFF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19963" tIns="62381" rIns="119963" bIns="62381" numCol="1" rtlCol="0" anchor="t" anchorCtr="0" compatLnSpc="1">
              <a:prstTxWarp prst="textNoShape">
                <a:avLst/>
              </a:prstTxWarp>
            </a:bodyPr>
            <a:lstStyle/>
            <a:p>
              <a:pPr defTabSz="1218804" fontAlgn="base" latinLnBrk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</a:pPr>
              <a:endParaRPr lang="en-US" sz="2133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endParaRPr>
            </a:p>
          </p:txBody>
        </p:sp>
      </p:grp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05F2E66-13F4-4C2A-A0F6-03E31C0D92FF}"/>
              </a:ext>
            </a:extLst>
          </p:cNvPr>
          <p:cNvSpPr/>
          <p:nvPr userDrawn="1"/>
        </p:nvSpPr>
        <p:spPr>
          <a:xfrm>
            <a:off x="7352175" y="6093701"/>
            <a:ext cx="2554866" cy="396000"/>
          </a:xfrm>
          <a:custGeom>
            <a:avLst/>
            <a:gdLst>
              <a:gd name="connsiteX0" fmla="*/ 206121 w 2554866"/>
              <a:gd name="connsiteY0" fmla="*/ 0 h 396000"/>
              <a:gd name="connsiteX1" fmla="*/ 2554866 w 2554866"/>
              <a:gd name="connsiteY1" fmla="*/ 0 h 396000"/>
              <a:gd name="connsiteX2" fmla="*/ 2554866 w 2554866"/>
              <a:gd name="connsiteY2" fmla="*/ 396000 h 396000"/>
              <a:gd name="connsiteX3" fmla="*/ 0 w 2554866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4866" h="396000">
                <a:moveTo>
                  <a:pt x="206121" y="0"/>
                </a:moveTo>
                <a:lnTo>
                  <a:pt x="2554866" y="0"/>
                </a:lnTo>
                <a:lnTo>
                  <a:pt x="255486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A44FFC-68E9-4847-BAF2-0E4C39D48B4C}"/>
              </a:ext>
            </a:extLst>
          </p:cNvPr>
          <p:cNvCxnSpPr>
            <a:cxnSpLocks/>
          </p:cNvCxnSpPr>
          <p:nvPr userDrawn="1"/>
        </p:nvCxnSpPr>
        <p:spPr>
          <a:xfrm flipH="1">
            <a:off x="7182139" y="1181510"/>
            <a:ext cx="2723859" cy="5676490"/>
          </a:xfrm>
          <a:prstGeom prst="line">
            <a:avLst/>
          </a:prstGeom>
          <a:ln w="38100">
            <a:solidFill>
              <a:srgbClr val="D9E1EE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1937A6-10B3-46EC-884D-94407696A105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6448" y="942975"/>
            <a:ext cx="2839552" cy="5915025"/>
          </a:xfrm>
          <a:prstGeom prst="line">
            <a:avLst/>
          </a:prstGeom>
          <a:ln w="38100">
            <a:solidFill>
              <a:srgbClr val="D9E1EE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A73D2C-D1E2-49A1-89E6-DF2B6B04C2C9}"/>
              </a:ext>
            </a:extLst>
          </p:cNvPr>
          <p:cNvSpPr/>
          <p:nvPr userDrawn="1"/>
        </p:nvSpPr>
        <p:spPr>
          <a:xfrm>
            <a:off x="2" y="6461126"/>
            <a:ext cx="7255532" cy="396000"/>
          </a:xfrm>
          <a:custGeom>
            <a:avLst/>
            <a:gdLst>
              <a:gd name="connsiteX0" fmla="*/ 0 w 7255532"/>
              <a:gd name="connsiteY0" fmla="*/ 0 h 396000"/>
              <a:gd name="connsiteX1" fmla="*/ 7255532 w 7255532"/>
              <a:gd name="connsiteY1" fmla="*/ 0 h 396000"/>
              <a:gd name="connsiteX2" fmla="*/ 7046357 w 7255532"/>
              <a:gd name="connsiteY2" fmla="*/ 396000 h 396000"/>
              <a:gd name="connsiteX3" fmla="*/ 0 w 7255532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5532" h="396000">
                <a:moveTo>
                  <a:pt x="0" y="0"/>
                </a:moveTo>
                <a:lnTo>
                  <a:pt x="7255532" y="0"/>
                </a:lnTo>
                <a:lnTo>
                  <a:pt x="7046357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78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EC92577-72A4-490F-8E09-0ED1E0EA4C18}"/>
              </a:ext>
            </a:extLst>
          </p:cNvPr>
          <p:cNvGrpSpPr/>
          <p:nvPr userDrawn="1"/>
        </p:nvGrpSpPr>
        <p:grpSpPr>
          <a:xfrm>
            <a:off x="1963670" y="0"/>
            <a:ext cx="7945106" cy="6866063"/>
            <a:chOff x="936984" y="0"/>
            <a:chExt cx="5960671" cy="5145088"/>
          </a:xfrm>
        </p:grpSpPr>
        <p:pic>
          <p:nvPicPr>
            <p:cNvPr id="12" name="Picture 8" descr="Bildergebnis für car charging">
              <a:extLst>
                <a:ext uri="{FF2B5EF4-FFF2-40B4-BE49-F238E27FC236}">
                  <a16:creationId xmlns:a16="http://schemas.microsoft.com/office/drawing/2014/main" id="{39F7072D-BE1F-4F00-A21C-14AD6A73B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898"/>
            <a:stretch/>
          </p:blipFill>
          <p:spPr bwMode="auto">
            <a:xfrm>
              <a:off x="2566588" y="0"/>
              <a:ext cx="4331067" cy="5145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8B83EF9-351A-4E9C-93AD-E24EAB20E253}"/>
                </a:ext>
              </a:extLst>
            </p:cNvPr>
            <p:cNvSpPr/>
            <p:nvPr/>
          </p:nvSpPr>
          <p:spPr bwMode="auto">
            <a:xfrm>
              <a:off x="936984" y="0"/>
              <a:ext cx="4460561" cy="5145088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3179">
                  <a:srgbClr val="FFFFFF">
                    <a:alpha val="40000"/>
                  </a:srgbClr>
                </a:gs>
                <a:gs pos="69000">
                  <a:srgbClr val="FFFFFF">
                    <a:alpha val="74000"/>
                  </a:srgbClr>
                </a:gs>
                <a:gs pos="53000">
                  <a:srgbClr val="FFFFFF"/>
                </a:gs>
                <a:gs pos="29000">
                  <a:srgbClr val="FFFFFF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19963" tIns="62381" rIns="119963" bIns="62381" numCol="1" rtlCol="0" anchor="t" anchorCtr="0" compatLnSpc="1">
              <a:prstTxWarp prst="textNoShape">
                <a:avLst/>
              </a:prstTxWarp>
            </a:bodyPr>
            <a:lstStyle/>
            <a:p>
              <a:pPr defTabSz="1218804" fontAlgn="base" latinLnBrk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</a:pPr>
              <a:endParaRPr lang="en-US" sz="2133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endParaRPr>
            </a:p>
          </p:txBody>
        </p:sp>
      </p:grp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05F2E66-13F4-4C2A-A0F6-03E31C0D92FF}"/>
              </a:ext>
            </a:extLst>
          </p:cNvPr>
          <p:cNvSpPr/>
          <p:nvPr userDrawn="1"/>
        </p:nvSpPr>
        <p:spPr>
          <a:xfrm>
            <a:off x="7352175" y="6093701"/>
            <a:ext cx="2554866" cy="396000"/>
          </a:xfrm>
          <a:custGeom>
            <a:avLst/>
            <a:gdLst>
              <a:gd name="connsiteX0" fmla="*/ 206121 w 2554866"/>
              <a:gd name="connsiteY0" fmla="*/ 0 h 396000"/>
              <a:gd name="connsiteX1" fmla="*/ 2554866 w 2554866"/>
              <a:gd name="connsiteY1" fmla="*/ 0 h 396000"/>
              <a:gd name="connsiteX2" fmla="*/ 2554866 w 2554866"/>
              <a:gd name="connsiteY2" fmla="*/ 396000 h 396000"/>
              <a:gd name="connsiteX3" fmla="*/ 0 w 2554866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4866" h="396000">
                <a:moveTo>
                  <a:pt x="206121" y="0"/>
                </a:moveTo>
                <a:lnTo>
                  <a:pt x="2554866" y="0"/>
                </a:lnTo>
                <a:lnTo>
                  <a:pt x="255486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A44FFC-68E9-4847-BAF2-0E4C39D48B4C}"/>
              </a:ext>
            </a:extLst>
          </p:cNvPr>
          <p:cNvCxnSpPr>
            <a:cxnSpLocks/>
          </p:cNvCxnSpPr>
          <p:nvPr userDrawn="1"/>
        </p:nvCxnSpPr>
        <p:spPr>
          <a:xfrm flipH="1">
            <a:off x="7182139" y="1181510"/>
            <a:ext cx="2723859" cy="5676490"/>
          </a:xfrm>
          <a:prstGeom prst="line">
            <a:avLst/>
          </a:prstGeom>
          <a:ln w="38100">
            <a:solidFill>
              <a:srgbClr val="D9E1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1937A6-10B3-46EC-884D-94407696A105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6448" y="942975"/>
            <a:ext cx="2839552" cy="5915025"/>
          </a:xfrm>
          <a:prstGeom prst="line">
            <a:avLst/>
          </a:prstGeom>
          <a:ln w="38100">
            <a:solidFill>
              <a:srgbClr val="95A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A73D2C-D1E2-49A1-89E6-DF2B6B04C2C9}"/>
              </a:ext>
            </a:extLst>
          </p:cNvPr>
          <p:cNvSpPr/>
          <p:nvPr userDrawn="1"/>
        </p:nvSpPr>
        <p:spPr>
          <a:xfrm>
            <a:off x="2" y="6461126"/>
            <a:ext cx="7255532" cy="396000"/>
          </a:xfrm>
          <a:custGeom>
            <a:avLst/>
            <a:gdLst>
              <a:gd name="connsiteX0" fmla="*/ 0 w 7255532"/>
              <a:gd name="connsiteY0" fmla="*/ 0 h 396000"/>
              <a:gd name="connsiteX1" fmla="*/ 7255532 w 7255532"/>
              <a:gd name="connsiteY1" fmla="*/ 0 h 396000"/>
              <a:gd name="connsiteX2" fmla="*/ 7046357 w 7255532"/>
              <a:gd name="connsiteY2" fmla="*/ 396000 h 396000"/>
              <a:gd name="connsiteX3" fmla="*/ 0 w 7255532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5532" h="396000">
                <a:moveTo>
                  <a:pt x="0" y="0"/>
                </a:moveTo>
                <a:lnTo>
                  <a:pt x="7255532" y="0"/>
                </a:lnTo>
                <a:lnTo>
                  <a:pt x="7046357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A86E59CF-705C-46ED-B379-7020C24B7452}"/>
              </a:ext>
            </a:extLst>
          </p:cNvPr>
          <p:cNvSpPr/>
          <p:nvPr userDrawn="1"/>
        </p:nvSpPr>
        <p:spPr>
          <a:xfrm>
            <a:off x="1038056" y="0"/>
            <a:ext cx="8867944" cy="396000"/>
          </a:xfrm>
          <a:custGeom>
            <a:avLst/>
            <a:gdLst>
              <a:gd name="connsiteX0" fmla="*/ 226291 w 8909220"/>
              <a:gd name="connsiteY0" fmla="*/ 0 h 428625"/>
              <a:gd name="connsiteX1" fmla="*/ 8909220 w 8909220"/>
              <a:gd name="connsiteY1" fmla="*/ 0 h 428625"/>
              <a:gd name="connsiteX2" fmla="*/ 8909220 w 8909220"/>
              <a:gd name="connsiteY2" fmla="*/ 428625 h 428625"/>
              <a:gd name="connsiteX3" fmla="*/ 0 w 8909220"/>
              <a:gd name="connsiteY3" fmla="*/ 428625 h 428625"/>
              <a:gd name="connsiteX4" fmla="*/ 199161 w 8909220"/>
              <a:gd name="connsiteY4" fmla="*/ 15978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9220" h="428625">
                <a:moveTo>
                  <a:pt x="226291" y="0"/>
                </a:moveTo>
                <a:lnTo>
                  <a:pt x="8909220" y="0"/>
                </a:lnTo>
                <a:lnTo>
                  <a:pt x="8909220" y="428625"/>
                </a:lnTo>
                <a:lnTo>
                  <a:pt x="0" y="428625"/>
                </a:lnTo>
                <a:lnTo>
                  <a:pt x="199161" y="15978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60CC2B8-26F2-47AA-A607-9D01432CC970}"/>
              </a:ext>
            </a:extLst>
          </p:cNvPr>
          <p:cNvSpPr/>
          <p:nvPr userDrawn="1"/>
        </p:nvSpPr>
        <p:spPr>
          <a:xfrm>
            <a:off x="-13392" y="396000"/>
            <a:ext cx="930075" cy="396000"/>
          </a:xfrm>
          <a:custGeom>
            <a:avLst/>
            <a:gdLst>
              <a:gd name="connsiteX0" fmla="*/ 0 w 930075"/>
              <a:gd name="connsiteY0" fmla="*/ 0 h 396000"/>
              <a:gd name="connsiteX1" fmla="*/ 930075 w 930075"/>
              <a:gd name="connsiteY1" fmla="*/ 0 h 396000"/>
              <a:gd name="connsiteX2" fmla="*/ 720136 w 930075"/>
              <a:gd name="connsiteY2" fmla="*/ 396000 h 396000"/>
              <a:gd name="connsiteX3" fmla="*/ 0 w 930075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075" h="396000">
                <a:moveTo>
                  <a:pt x="0" y="0"/>
                </a:moveTo>
                <a:lnTo>
                  <a:pt x="930075" y="0"/>
                </a:lnTo>
                <a:lnTo>
                  <a:pt x="72013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83C5A6E-6D6B-4399-9891-2E2CBC8330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0"/>
            <a:ext cx="1238248" cy="2561104"/>
          </a:xfrm>
          <a:prstGeom prst="line">
            <a:avLst/>
          </a:prstGeom>
          <a:ln w="38100">
            <a:solidFill>
              <a:srgbClr val="95A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EC03B9F-71E2-4DD5-AEC3-5418AB9359E4}"/>
              </a:ext>
            </a:extLst>
          </p:cNvPr>
          <p:cNvCxnSpPr>
            <a:cxnSpLocks/>
          </p:cNvCxnSpPr>
          <p:nvPr userDrawn="1"/>
        </p:nvCxnSpPr>
        <p:spPr>
          <a:xfrm flipH="1">
            <a:off x="-9524" y="0"/>
            <a:ext cx="1123950" cy="2343150"/>
          </a:xfrm>
          <a:prstGeom prst="line">
            <a:avLst/>
          </a:prstGeom>
          <a:ln w="38100">
            <a:solidFill>
              <a:srgbClr val="D9E1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27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D77618E-3982-4ED9-BF4D-76E86DE4F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" b="13077"/>
          <a:stretch>
            <a:fillRect/>
          </a:stretch>
        </p:blipFill>
        <p:spPr>
          <a:xfrm>
            <a:off x="5245100" y="0"/>
            <a:ext cx="4660900" cy="6858000"/>
          </a:xfrm>
          <a:custGeom>
            <a:avLst/>
            <a:gdLst>
              <a:gd name="connsiteX0" fmla="*/ 1838785 w 4666082"/>
              <a:gd name="connsiteY0" fmla="*/ 0 h 6457950"/>
              <a:gd name="connsiteX1" fmla="*/ 4666082 w 4666082"/>
              <a:gd name="connsiteY1" fmla="*/ 0 h 6457950"/>
              <a:gd name="connsiteX2" fmla="*/ 4666082 w 4666082"/>
              <a:gd name="connsiteY2" fmla="*/ 6457950 h 6457950"/>
              <a:gd name="connsiteX3" fmla="*/ 0 w 4666082"/>
              <a:gd name="connsiteY3" fmla="*/ 6457950 h 645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6082" h="6457950">
                <a:moveTo>
                  <a:pt x="1838785" y="0"/>
                </a:moveTo>
                <a:lnTo>
                  <a:pt x="4666082" y="0"/>
                </a:lnTo>
                <a:lnTo>
                  <a:pt x="4666082" y="6457950"/>
                </a:lnTo>
                <a:lnTo>
                  <a:pt x="0" y="6457950"/>
                </a:lnTo>
                <a:close/>
              </a:path>
            </a:pathLst>
          </a:custGeom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61CBEDBC-8CE9-4CB1-A195-2E24B8B074FE}"/>
              </a:ext>
            </a:extLst>
          </p:cNvPr>
          <p:cNvSpPr/>
          <p:nvPr userDrawn="1"/>
        </p:nvSpPr>
        <p:spPr>
          <a:xfrm>
            <a:off x="1" y="6457950"/>
            <a:ext cx="5247218" cy="409576"/>
          </a:xfrm>
          <a:custGeom>
            <a:avLst/>
            <a:gdLst>
              <a:gd name="connsiteX0" fmla="*/ 0 w 5590118"/>
              <a:gd name="connsiteY0" fmla="*/ 0 h 409576"/>
              <a:gd name="connsiteX1" fmla="*/ 5590118 w 5590118"/>
              <a:gd name="connsiteY1" fmla="*/ 0 h 409576"/>
              <a:gd name="connsiteX2" fmla="*/ 5457007 w 5590118"/>
              <a:gd name="connsiteY2" fmla="*/ 409576 h 409576"/>
              <a:gd name="connsiteX3" fmla="*/ 0 w 5590118"/>
              <a:gd name="connsiteY3" fmla="*/ 409576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0118" h="409576">
                <a:moveTo>
                  <a:pt x="0" y="0"/>
                </a:moveTo>
                <a:lnTo>
                  <a:pt x="5590118" y="0"/>
                </a:lnTo>
                <a:lnTo>
                  <a:pt x="5457007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32918" y="0"/>
            <a:ext cx="1864782" cy="6867526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65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063754C4-1788-48C6-9E0B-39234BF57EE2}"/>
              </a:ext>
            </a:extLst>
          </p:cNvPr>
          <p:cNvSpPr/>
          <p:nvPr userDrawn="1"/>
        </p:nvSpPr>
        <p:spPr>
          <a:xfrm rot="10800000">
            <a:off x="4621458" y="6448424"/>
            <a:ext cx="5284542" cy="409576"/>
          </a:xfrm>
          <a:custGeom>
            <a:avLst/>
            <a:gdLst>
              <a:gd name="connsiteX0" fmla="*/ 5284542 w 5284542"/>
              <a:gd name="connsiteY0" fmla="*/ 409576 h 409576"/>
              <a:gd name="connsiteX1" fmla="*/ 0 w 5284542"/>
              <a:gd name="connsiteY1" fmla="*/ 409576 h 409576"/>
              <a:gd name="connsiteX2" fmla="*/ 0 w 5284542"/>
              <a:gd name="connsiteY2" fmla="*/ 0 h 409576"/>
              <a:gd name="connsiteX3" fmla="*/ 5174184 w 5284542"/>
              <a:gd name="connsiteY3" fmla="*/ 0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4542" h="409576">
                <a:moveTo>
                  <a:pt x="5284542" y="409576"/>
                </a:moveTo>
                <a:lnTo>
                  <a:pt x="0" y="409576"/>
                </a:lnTo>
                <a:lnTo>
                  <a:pt x="0" y="0"/>
                </a:lnTo>
                <a:lnTo>
                  <a:pt x="5174184" y="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886075" y="0"/>
            <a:ext cx="1846794" cy="6858001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D1FC44B-ECB7-4ED9-86D4-5E43CD956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61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1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063754C4-1788-48C6-9E0B-39234BF57EE2}"/>
              </a:ext>
            </a:extLst>
          </p:cNvPr>
          <p:cNvSpPr/>
          <p:nvPr userDrawn="1"/>
        </p:nvSpPr>
        <p:spPr>
          <a:xfrm rot="10800000">
            <a:off x="4621458" y="6448424"/>
            <a:ext cx="5284542" cy="409576"/>
          </a:xfrm>
          <a:custGeom>
            <a:avLst/>
            <a:gdLst>
              <a:gd name="connsiteX0" fmla="*/ 5284542 w 5284542"/>
              <a:gd name="connsiteY0" fmla="*/ 409576 h 409576"/>
              <a:gd name="connsiteX1" fmla="*/ 0 w 5284542"/>
              <a:gd name="connsiteY1" fmla="*/ 409576 h 409576"/>
              <a:gd name="connsiteX2" fmla="*/ 0 w 5284542"/>
              <a:gd name="connsiteY2" fmla="*/ 0 h 409576"/>
              <a:gd name="connsiteX3" fmla="*/ 5174184 w 5284542"/>
              <a:gd name="connsiteY3" fmla="*/ 0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4542" h="409576">
                <a:moveTo>
                  <a:pt x="5284542" y="409576"/>
                </a:moveTo>
                <a:lnTo>
                  <a:pt x="0" y="409576"/>
                </a:lnTo>
                <a:lnTo>
                  <a:pt x="0" y="0"/>
                </a:lnTo>
                <a:lnTo>
                  <a:pt x="5174184" y="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886075" y="0"/>
            <a:ext cx="1846794" cy="6858001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D1FC44B-ECB7-4ED9-86D4-5E43CD956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61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1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bg>
      <p:bgPr>
        <a:solidFill>
          <a:schemeClr val="bg1">
            <a:lumMod val="9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7D2B4B9-CC18-4D2F-9F8D-1BFE50641CD0}"/>
              </a:ext>
            </a:extLst>
          </p:cNvPr>
          <p:cNvSpPr/>
          <p:nvPr userDrawn="1"/>
        </p:nvSpPr>
        <p:spPr>
          <a:xfrm>
            <a:off x="-1" y="0"/>
            <a:ext cx="9906001" cy="434975"/>
          </a:xfrm>
          <a:custGeom>
            <a:avLst/>
            <a:gdLst>
              <a:gd name="connsiteX0" fmla="*/ 0 w 9906001"/>
              <a:gd name="connsiteY0" fmla="*/ 0 h 434975"/>
              <a:gd name="connsiteX1" fmla="*/ 9906001 w 9906001"/>
              <a:gd name="connsiteY1" fmla="*/ 0 h 434975"/>
              <a:gd name="connsiteX2" fmla="*/ 9906001 w 9906001"/>
              <a:gd name="connsiteY2" fmla="*/ 434975 h 434975"/>
              <a:gd name="connsiteX3" fmla="*/ 0 w 9906001"/>
              <a:gd name="connsiteY3" fmla="*/ 434975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1" h="434975">
                <a:moveTo>
                  <a:pt x="0" y="0"/>
                </a:moveTo>
                <a:lnTo>
                  <a:pt x="9906001" y="0"/>
                </a:lnTo>
                <a:lnTo>
                  <a:pt x="9906001" y="434975"/>
                </a:lnTo>
                <a:lnTo>
                  <a:pt x="0" y="434975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08D011C-388F-444D-BCC9-1986BD79C221}"/>
              </a:ext>
            </a:extLst>
          </p:cNvPr>
          <p:cNvSpPr/>
          <p:nvPr userDrawn="1"/>
        </p:nvSpPr>
        <p:spPr>
          <a:xfrm>
            <a:off x="0" y="6429375"/>
            <a:ext cx="9906000" cy="428625"/>
          </a:xfrm>
          <a:custGeom>
            <a:avLst/>
            <a:gdLst>
              <a:gd name="connsiteX0" fmla="*/ 0 w 9906000"/>
              <a:gd name="connsiteY0" fmla="*/ 0 h 428625"/>
              <a:gd name="connsiteX1" fmla="*/ 9906000 w 9906000"/>
              <a:gd name="connsiteY1" fmla="*/ 0 h 428625"/>
              <a:gd name="connsiteX2" fmla="*/ 9906000 w 9906000"/>
              <a:gd name="connsiteY2" fmla="*/ 428625 h 428625"/>
              <a:gd name="connsiteX3" fmla="*/ 0 w 9906000"/>
              <a:gd name="connsiteY3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428625">
                <a:moveTo>
                  <a:pt x="0" y="0"/>
                </a:moveTo>
                <a:lnTo>
                  <a:pt x="9906000" y="0"/>
                </a:lnTo>
                <a:lnTo>
                  <a:pt x="99060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A8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CD0889D-2289-4A95-8A85-DE155440C7F7}"/>
              </a:ext>
            </a:extLst>
          </p:cNvPr>
          <p:cNvSpPr/>
          <p:nvPr userDrawn="1"/>
        </p:nvSpPr>
        <p:spPr>
          <a:xfrm>
            <a:off x="171450" y="208756"/>
            <a:ext cx="9563100" cy="6440488"/>
          </a:xfrm>
          <a:prstGeom prst="roundRect">
            <a:avLst>
              <a:gd name="adj" fmla="val 3209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F72F4DC-5B2B-4DF8-BC15-7B64452C88F9}"/>
              </a:ext>
            </a:extLst>
          </p:cNvPr>
          <p:cNvCxnSpPr>
            <a:cxnSpLocks/>
          </p:cNvCxnSpPr>
          <p:nvPr userDrawn="1"/>
        </p:nvCxnSpPr>
        <p:spPr>
          <a:xfrm>
            <a:off x="345888" y="1033351"/>
            <a:ext cx="91650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373CD79-19C4-4A93-9C5B-2C27E30AA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7695" y="504264"/>
            <a:ext cx="7361951" cy="5128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29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defRPr>
            </a:lvl1pPr>
          </a:lstStyle>
          <a:p>
            <a:r>
              <a:rPr lang="en-US" altLang="ko-KR" dirty="0"/>
              <a:t>01.</a:t>
            </a:r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EB3195F-4B7A-4B74-9E15-703C1FA25868}"/>
              </a:ext>
            </a:extLst>
          </p:cNvPr>
          <p:cNvCxnSpPr/>
          <p:nvPr userDrawn="1"/>
        </p:nvCxnSpPr>
        <p:spPr>
          <a:xfrm>
            <a:off x="1784725" y="240150"/>
            <a:ext cx="0" cy="78367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15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8BCD1-3BD9-459E-825E-F04D7293E35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2108C-561C-4292-9C77-E5ADBE076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50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  <p:sldLayoutId id="2147483674" r:id="rId3"/>
    <p:sldLayoutId id="2147483670" r:id="rId4"/>
    <p:sldLayoutId id="2147483672" r:id="rId5"/>
    <p:sldLayoutId id="2147483673" r:id="rId6"/>
    <p:sldLayoutId id="2147483669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7F43DFA8-73CA-8F4A-9996-B7966EE3F5FD}"/>
              </a:ext>
            </a:extLst>
          </p:cNvPr>
          <p:cNvSpPr txBox="1"/>
          <p:nvPr/>
        </p:nvSpPr>
        <p:spPr>
          <a:xfrm>
            <a:off x="4286309" y="2684725"/>
            <a:ext cx="133338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2000" b="1" dirty="0"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program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2AD3CBB-D87A-4206-A0D0-86BB7CCE3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780293"/>
              </p:ext>
            </p:extLst>
          </p:nvPr>
        </p:nvGraphicFramePr>
        <p:xfrm>
          <a:off x="767663" y="3309822"/>
          <a:ext cx="8362051" cy="227472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79459">
                  <a:extLst>
                    <a:ext uri="{9D8B030D-6E8A-4147-A177-3AD203B41FA5}">
                      <a16:colId xmlns:a16="http://schemas.microsoft.com/office/drawing/2014/main" val="44377574"/>
                    </a:ext>
                  </a:extLst>
                </a:gridCol>
                <a:gridCol w="1179459">
                  <a:extLst>
                    <a:ext uri="{9D8B030D-6E8A-4147-A177-3AD203B41FA5}">
                      <a16:colId xmlns:a16="http://schemas.microsoft.com/office/drawing/2014/main" val="1551541327"/>
                    </a:ext>
                  </a:extLst>
                </a:gridCol>
                <a:gridCol w="3892282">
                  <a:extLst>
                    <a:ext uri="{9D8B030D-6E8A-4147-A177-3AD203B41FA5}">
                      <a16:colId xmlns:a16="http://schemas.microsoft.com/office/drawing/2014/main" val="1208049658"/>
                    </a:ext>
                  </a:extLst>
                </a:gridCol>
                <a:gridCol w="2110851">
                  <a:extLst>
                    <a:ext uri="{9D8B030D-6E8A-4147-A177-3AD203B41FA5}">
                      <a16:colId xmlns:a16="http://schemas.microsoft.com/office/drawing/2014/main" val="1514157011"/>
                    </a:ext>
                  </a:extLst>
                </a:gridCol>
              </a:tblGrid>
              <a:tr h="494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시간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진행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발표자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80180"/>
                  </a:ext>
                </a:extLst>
              </a:tr>
              <a:tr h="445055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/>
                        <a:t>10/21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10:00 ~ 10:20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개회사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세부 주관책임자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01920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10:20 ~ 11:30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기관별 개발내용 및 중간실적 공유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/>
                        <a:t>각 기관별 연구책임자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710616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11:30 ~ 12:00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협의사항 논의 및 질의응답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참석자 전원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039023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12:00 ~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기념사진 촬영 및 폐회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점심식사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참석자 전원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7646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433AE4-FFF8-404D-889F-35FA0E4F789C}"/>
              </a:ext>
            </a:extLst>
          </p:cNvPr>
          <p:cNvSpPr txBox="1"/>
          <p:nvPr/>
        </p:nvSpPr>
        <p:spPr>
          <a:xfrm>
            <a:off x="796161" y="1103950"/>
            <a:ext cx="833355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algn="ctr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세라믹 </a:t>
            </a:r>
            <a:r>
              <a:rPr lang="en-US" altLang="ko-KR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catholyte 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기반 전극 성능 향상을 위한</a:t>
            </a:r>
            <a:endParaRPr lang="en-US" altLang="ko-KR" sz="2400" b="1" spc="-100" dirty="0">
              <a:gradFill>
                <a:gsLst>
                  <a:gs pos="0">
                    <a:srgbClr val="3B6DDD"/>
                  </a:gs>
                  <a:gs pos="79000">
                    <a:srgbClr val="12AEB6"/>
                  </a:gs>
                </a:gsLst>
                <a:lin ang="0" scaled="0"/>
              </a:gradFill>
              <a:latin typeface="맑은 고딕" panose="020B0503020000020004" pitchFamily="50" charset="-127"/>
            </a:endParaRPr>
          </a:p>
          <a:p>
            <a:pPr lvl="0" algn="ctr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단결정 </a:t>
            </a:r>
            <a:r>
              <a:rPr lang="ko-KR" altLang="en-US" sz="2400" b="1" spc="-100" dirty="0" err="1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양극재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 제조 기술 개발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84838-7A36-4DC2-AFE3-CBF178CBBCA8}"/>
              </a:ext>
            </a:extLst>
          </p:cNvPr>
          <p:cNvSpPr txBox="1"/>
          <p:nvPr/>
        </p:nvSpPr>
        <p:spPr>
          <a:xfrm>
            <a:off x="2541619" y="2008185"/>
            <a:ext cx="481413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914400" latinLnBrk="1">
              <a:defRPr/>
            </a:pPr>
            <a:r>
              <a:rPr lang="en-US" altLang="ko-KR" sz="3200" b="1" dirty="0">
                <a:solidFill>
                  <a:srgbClr val="1945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200" b="1" dirty="0">
                <a:solidFill>
                  <a:srgbClr val="1945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진도점검 워크샵</a:t>
            </a:r>
          </a:p>
        </p:txBody>
      </p:sp>
    </p:spTree>
    <p:extLst>
      <p:ext uri="{BB962C8B-B14F-4D97-AF65-F5344CB8AC3E}">
        <p14:creationId xmlns:p14="http://schemas.microsoft.com/office/powerpoint/2010/main" val="351893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CA557F-5101-4501-AA85-CDECEC1BF132}"/>
              </a:ext>
            </a:extLst>
          </p:cNvPr>
          <p:cNvSpPr txBox="1"/>
          <p:nvPr/>
        </p:nvSpPr>
        <p:spPr>
          <a:xfrm>
            <a:off x="266700" y="1664753"/>
            <a:ext cx="1566675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solidFill>
                  <a:srgbClr val="2C4C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600" b="1" dirty="0">
                <a:solidFill>
                  <a:srgbClr val="2C4C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2C4C87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BE8F666-6A5F-4680-9170-56B8418AB6D0}"/>
              </a:ext>
            </a:extLst>
          </p:cNvPr>
          <p:cNvCxnSpPr>
            <a:cxnSpLocks/>
          </p:cNvCxnSpPr>
          <p:nvPr/>
        </p:nvCxnSpPr>
        <p:spPr>
          <a:xfrm>
            <a:off x="1665669" y="2100753"/>
            <a:ext cx="3443797" cy="0"/>
          </a:xfrm>
          <a:prstGeom prst="line">
            <a:avLst/>
          </a:prstGeom>
          <a:ln w="12700">
            <a:gradFill>
              <a:gsLst>
                <a:gs pos="0">
                  <a:srgbClr val="84919A"/>
                </a:gs>
                <a:gs pos="100000">
                  <a:srgbClr val="84919A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C7F9B4-3ED7-4EC3-93DB-38AE884F3394}"/>
              </a:ext>
            </a:extLst>
          </p:cNvPr>
          <p:cNvSpPr/>
          <p:nvPr/>
        </p:nvSpPr>
        <p:spPr>
          <a:xfrm>
            <a:off x="264320" y="2363491"/>
            <a:ext cx="63990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세라믹 </a:t>
            </a:r>
            <a:r>
              <a:rPr lang="en-US" altLang="ko-KR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catholyte 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2400" b="1" spc="-100" dirty="0" err="1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양극재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 제조 기술 개발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FED2-EFC8-4865-8E39-B4CB0BFCF8E3}"/>
              </a:ext>
            </a:extLst>
          </p:cNvPr>
          <p:cNvSpPr txBox="1"/>
          <p:nvPr/>
        </p:nvSpPr>
        <p:spPr>
          <a:xfrm>
            <a:off x="8804249" y="6149818"/>
            <a:ext cx="1015021" cy="2769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2026. 10. 21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3BF6BCE-D29F-4902-81A5-2ED3FC49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31"/>
            <a:ext cx="1800274" cy="3930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35C1F37-FA0D-4DB2-9B9E-FE31045CE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189" y="217915"/>
            <a:ext cx="2088193" cy="207136"/>
          </a:xfrm>
          <a:prstGeom prst="rect">
            <a:avLst/>
          </a:prstGeom>
        </p:spPr>
      </p:pic>
      <p:sp>
        <p:nvSpPr>
          <p:cNvPr id="15" name="모서리가 둥근 직사각형 18">
            <a:extLst>
              <a:ext uri="{FF2B5EF4-FFF2-40B4-BE49-F238E27FC236}">
                <a16:creationId xmlns:a16="http://schemas.microsoft.com/office/drawing/2014/main" id="{0D966315-0818-4289-987C-4C15CA6C556A}"/>
              </a:ext>
            </a:extLst>
          </p:cNvPr>
          <p:cNvSpPr/>
          <p:nvPr/>
        </p:nvSpPr>
        <p:spPr>
          <a:xfrm>
            <a:off x="560114" y="4515542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6A87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ko-KR" altLang="en-US" sz="1200" spc="-2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주관연구기관</a:t>
            </a:r>
          </a:p>
        </p:txBody>
      </p:sp>
      <p:sp>
        <p:nvSpPr>
          <p:cNvPr id="16" name="모서리가 둥근 직사각형 22">
            <a:extLst>
              <a:ext uri="{FF2B5EF4-FFF2-40B4-BE49-F238E27FC236}">
                <a16:creationId xmlns:a16="http://schemas.microsoft.com/office/drawing/2014/main" id="{E0EA42FD-8207-4150-83D2-B463EF842B6D}"/>
              </a:ext>
            </a:extLst>
          </p:cNvPr>
          <p:cNvSpPr/>
          <p:nvPr/>
        </p:nvSpPr>
        <p:spPr>
          <a:xfrm>
            <a:off x="3587511" y="4518305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6A87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>
              <a:defRPr/>
            </a:pPr>
            <a:r>
              <a:rPr lang="ko-KR" altLang="en-US" sz="1200" spc="-2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공동연구기관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3CE9D-5FE2-4BD2-A190-7030D52FEC0F}"/>
              </a:ext>
            </a:extLst>
          </p:cNvPr>
          <p:cNvSpPr txBox="1"/>
          <p:nvPr/>
        </p:nvSpPr>
        <p:spPr>
          <a:xfrm>
            <a:off x="1741516" y="4477785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㈜엘앤에프</a:t>
            </a:r>
            <a:endParaRPr lang="en-US" altLang="ko-KR" sz="16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연구책임자</a:t>
            </a: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구정아</a:t>
            </a: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b="1" spc="20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BF2CF-6EA2-4C13-998D-AFFB1BCE780A}"/>
              </a:ext>
            </a:extLst>
          </p:cNvPr>
          <p:cNvSpPr txBox="1"/>
          <p:nvPr/>
        </p:nvSpPr>
        <p:spPr>
          <a:xfrm>
            <a:off x="4797488" y="4477785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914400" latinLnBrk="1">
              <a:defRPr/>
            </a:pP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한국전자기술연구원</a:t>
            </a:r>
            <a:endParaRPr lang="en-US" altLang="ko-KR" sz="12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defRPr/>
            </a:pP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</a:t>
            </a:r>
            <a:endParaRPr lang="en-US" altLang="ko-KR" sz="12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381450B-9264-49C3-BBC6-A0FCD9D31A7C}"/>
              </a:ext>
            </a:extLst>
          </p:cNvPr>
          <p:cNvSpPr/>
          <p:nvPr/>
        </p:nvSpPr>
        <p:spPr>
          <a:xfrm>
            <a:off x="347189" y="6149817"/>
            <a:ext cx="1673856" cy="276999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2C4C87"/>
                </a:solidFill>
                <a:latin typeface="+mj-ea"/>
                <a:ea typeface="+mj-ea"/>
              </a:rPr>
              <a:t> RS-2025-25463211</a:t>
            </a:r>
            <a:endParaRPr lang="ko-KR" altLang="en-US" sz="1200" b="1" dirty="0">
              <a:solidFill>
                <a:srgbClr val="2C4C87"/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BCC8BB0-79FA-4321-BDE7-B6221547E2F6}"/>
              </a:ext>
            </a:extLst>
          </p:cNvPr>
          <p:cNvSpPr/>
          <p:nvPr/>
        </p:nvSpPr>
        <p:spPr>
          <a:xfrm>
            <a:off x="560114" y="4065564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2B4A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algn="ctr"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사업기간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BC740-364D-41A5-B6ED-021E670F089A}"/>
              </a:ext>
            </a:extLst>
          </p:cNvPr>
          <p:cNvSpPr txBox="1"/>
          <p:nvPr/>
        </p:nvSpPr>
        <p:spPr>
          <a:xfrm>
            <a:off x="1741516" y="4027807"/>
            <a:ext cx="2592376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2025.10.01 ~ 2028.12.31</a:t>
            </a:r>
            <a:endParaRPr lang="ko-KR" altLang="en-US" sz="1200" b="1" spc="20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67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FBF414DF-0A04-4610-AE44-E834632A92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728899" y="945400"/>
            <a:ext cx="5607684" cy="2483600"/>
          </a:xfrm>
          <a:prstGeom prst="rect">
            <a:avLst/>
          </a:prstGeom>
          <a:effectLst>
            <a:outerShdw blurRad="50800" dist="50800" dir="5400000" algn="ctr" rotWithShape="0">
              <a:schemeClr val="accent1">
                <a:lumMod val="20000"/>
                <a:lumOff val="80000"/>
                <a:alpha val="0"/>
              </a:schemeClr>
            </a:outerShdw>
          </a:effec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8F111CC-C795-4376-A04A-B22D7E593808}"/>
              </a:ext>
            </a:extLst>
          </p:cNvPr>
          <p:cNvSpPr txBox="1"/>
          <p:nvPr/>
        </p:nvSpPr>
        <p:spPr>
          <a:xfrm>
            <a:off x="4009840" y="1464524"/>
            <a:ext cx="1955728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50" b="1" dirty="0">
                <a:solidFill>
                  <a:srgbClr val="2C4C87"/>
                </a:solidFill>
              </a:rPr>
              <a:t>Contents</a:t>
            </a:r>
            <a:endParaRPr lang="ko-KR" altLang="en-US" sz="2275" b="1" dirty="0">
              <a:solidFill>
                <a:srgbClr val="2C4C87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3D77572-CA75-49D5-917C-5E317B5302A4}"/>
              </a:ext>
            </a:extLst>
          </p:cNvPr>
          <p:cNvCxnSpPr>
            <a:cxnSpLocks/>
          </p:cNvCxnSpPr>
          <p:nvPr/>
        </p:nvCxnSpPr>
        <p:spPr>
          <a:xfrm flipH="1">
            <a:off x="3448051" y="2081423"/>
            <a:ext cx="2592402" cy="0"/>
          </a:xfrm>
          <a:prstGeom prst="line">
            <a:avLst/>
          </a:prstGeom>
          <a:ln w="38100">
            <a:solidFill>
              <a:srgbClr val="6A87BC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665C61-9DB2-4EA5-9CF4-F810AEB82E87}"/>
              </a:ext>
            </a:extLst>
          </p:cNvPr>
          <p:cNvSpPr txBox="1"/>
          <p:nvPr/>
        </p:nvSpPr>
        <p:spPr>
          <a:xfrm>
            <a:off x="6817565" y="3948124"/>
            <a:ext cx="2934526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>
              <a:spcBef>
                <a:spcPts val="1100"/>
              </a:spcBef>
              <a:defRPr/>
            </a:pPr>
            <a:r>
              <a:rPr lang="en-US" altLang="ko-KR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중간 성과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spcBef>
                <a:spcPts val="1100"/>
              </a:spcBef>
              <a:defRPr/>
            </a:pPr>
            <a:r>
              <a:rPr lang="en-US" altLang="ko-KR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spcBef>
                <a:spcPts val="1100"/>
              </a:spcBef>
              <a:defRPr/>
            </a:pP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및 논의 필요 사항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273C0C2-91DB-4A1D-8968-D7F8A0B2DC47}"/>
              </a:ext>
            </a:extLst>
          </p:cNvPr>
          <p:cNvGrpSpPr/>
          <p:nvPr/>
        </p:nvGrpSpPr>
        <p:grpSpPr>
          <a:xfrm>
            <a:off x="5638164" y="4011899"/>
            <a:ext cx="1015172" cy="215972"/>
            <a:chOff x="4941189" y="3789803"/>
            <a:chExt cx="432000" cy="215972"/>
          </a:xfrm>
        </p:grpSpPr>
        <p:sp>
          <p:nvSpPr>
            <p:cNvPr id="40" name="모서리가 둥근 직사각형 11">
              <a:extLst>
                <a:ext uri="{FF2B5EF4-FFF2-40B4-BE49-F238E27FC236}">
                  <a16:creationId xmlns:a16="http://schemas.microsoft.com/office/drawing/2014/main" id="{D711CBF8-787F-4DAD-9474-B04BC0ADCEAF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9A6BCF-04C8-441E-B643-A58BAFA95872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1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D952921-A655-403C-BBB8-BC3D0F791544}"/>
              </a:ext>
            </a:extLst>
          </p:cNvPr>
          <p:cNvGrpSpPr/>
          <p:nvPr/>
        </p:nvGrpSpPr>
        <p:grpSpPr>
          <a:xfrm>
            <a:off x="5638164" y="4396554"/>
            <a:ext cx="1015172" cy="215972"/>
            <a:chOff x="4941189" y="3789803"/>
            <a:chExt cx="432000" cy="215972"/>
          </a:xfrm>
        </p:grpSpPr>
        <p:sp>
          <p:nvSpPr>
            <p:cNvPr id="43" name="모서리가 둥근 직사각형 11">
              <a:extLst>
                <a:ext uri="{FF2B5EF4-FFF2-40B4-BE49-F238E27FC236}">
                  <a16:creationId xmlns:a16="http://schemas.microsoft.com/office/drawing/2014/main" id="{1FAE52D3-AF2B-4CD0-9E2D-73B47D778CA8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1C6B4D-039D-4E3A-A739-447A93F5C506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2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2305807-270F-4DA9-92C3-17B7E59B0524}"/>
              </a:ext>
            </a:extLst>
          </p:cNvPr>
          <p:cNvGrpSpPr/>
          <p:nvPr/>
        </p:nvGrpSpPr>
        <p:grpSpPr>
          <a:xfrm>
            <a:off x="5638164" y="4781209"/>
            <a:ext cx="1015172" cy="215972"/>
            <a:chOff x="4941189" y="3789803"/>
            <a:chExt cx="432000" cy="215972"/>
          </a:xfrm>
        </p:grpSpPr>
        <p:sp>
          <p:nvSpPr>
            <p:cNvPr id="46" name="모서리가 둥근 직사각형 11">
              <a:extLst>
                <a:ext uri="{FF2B5EF4-FFF2-40B4-BE49-F238E27FC236}">
                  <a16:creationId xmlns:a16="http://schemas.microsoft.com/office/drawing/2014/main" id="{568931D0-9E81-4928-A844-2694F74141A9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73F1B8D-5629-43EE-8630-F011F88E2561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3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61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01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5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rgbClr val="E83F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추진 실적 및 중간 성과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96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1-1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차년도 추진 실적 및 중간 성과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556FD4-912A-4A6C-B706-6289B2EE7D1D}"/>
              </a:ext>
            </a:extLst>
          </p:cNvPr>
          <p:cNvGrpSpPr/>
          <p:nvPr/>
        </p:nvGrpSpPr>
        <p:grpSpPr>
          <a:xfrm>
            <a:off x="8070001" y="341761"/>
            <a:ext cx="1736773" cy="307777"/>
            <a:chOff x="7127569" y="215268"/>
            <a:chExt cx="1736773" cy="307777"/>
          </a:xfrm>
        </p:grpSpPr>
        <p:sp>
          <p:nvSpPr>
            <p:cNvPr id="25" name="모서리가 둥근 직사각형 31">
              <a:extLst>
                <a:ext uri="{FF2B5EF4-FFF2-40B4-BE49-F238E27FC236}">
                  <a16:creationId xmlns:a16="http://schemas.microsoft.com/office/drawing/2014/main" id="{5BF7FB0D-C317-42C7-8B2C-D90602B65245}"/>
                </a:ext>
              </a:extLst>
            </p:cNvPr>
            <p:cNvSpPr/>
            <p:nvPr/>
          </p:nvSpPr>
          <p:spPr>
            <a:xfrm>
              <a:off x="7127569" y="215268"/>
              <a:ext cx="1736773" cy="3077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94E9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/>
              <a:r>
                <a:rPr lang="ko-KR" altLang="en-US" sz="11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사업계획서</a:t>
              </a:r>
              <a:r>
                <a:rPr lang="ko-KR" altLang="en-US" sz="1100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1588B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p11~14</a:t>
              </a:r>
              <a:endParaRPr lang="ko-KR" altLang="en-US" sz="1200" b="1" dirty="0">
                <a:ln>
                  <a:solidFill>
                    <a:srgbClr val="01588B">
                      <a:alpha val="0"/>
                    </a:srgbClr>
                  </a:solidFill>
                </a:ln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C938253-330E-4F83-9684-9415310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8955" y="316359"/>
              <a:ext cx="168731" cy="129981"/>
            </a:xfrm>
            <a:custGeom>
              <a:avLst/>
              <a:gdLst>
                <a:gd name="T0" fmla="*/ 1168 w 1286"/>
                <a:gd name="T1" fmla="*/ 817 h 993"/>
                <a:gd name="T2" fmla="*/ 1168 w 1286"/>
                <a:gd name="T3" fmla="*/ 145 h 993"/>
                <a:gd name="T4" fmla="*/ 963 w 1286"/>
                <a:gd name="T5" fmla="*/ 117 h 993"/>
                <a:gd name="T6" fmla="*/ 643 w 1286"/>
                <a:gd name="T7" fmla="*/ 205 h 993"/>
                <a:gd name="T8" fmla="*/ 643 w 1286"/>
                <a:gd name="T9" fmla="*/ 875 h 993"/>
                <a:gd name="T10" fmla="*/ 963 w 1286"/>
                <a:gd name="T11" fmla="*/ 787 h 993"/>
                <a:gd name="T12" fmla="*/ 1168 w 1286"/>
                <a:gd name="T13" fmla="*/ 817 h 993"/>
                <a:gd name="T14" fmla="*/ 962 w 1286"/>
                <a:gd name="T15" fmla="*/ 0 h 993"/>
                <a:gd name="T16" fmla="*/ 1285 w 1286"/>
                <a:gd name="T17" fmla="*/ 87 h 993"/>
                <a:gd name="T18" fmla="*/ 1285 w 1286"/>
                <a:gd name="T19" fmla="*/ 938 h 993"/>
                <a:gd name="T20" fmla="*/ 1255 w 1286"/>
                <a:gd name="T21" fmla="*/ 968 h 993"/>
                <a:gd name="T22" fmla="*/ 1241 w 1286"/>
                <a:gd name="T23" fmla="*/ 965 h 993"/>
                <a:gd name="T24" fmla="*/ 962 w 1286"/>
                <a:gd name="T25" fmla="*/ 905 h 993"/>
                <a:gd name="T26" fmla="*/ 643 w 1286"/>
                <a:gd name="T27" fmla="*/ 992 h 993"/>
                <a:gd name="T28" fmla="*/ 323 w 1286"/>
                <a:gd name="T29" fmla="*/ 905 h 993"/>
                <a:gd name="T30" fmla="*/ 44 w 1286"/>
                <a:gd name="T31" fmla="*/ 968 h 993"/>
                <a:gd name="T32" fmla="*/ 30 w 1286"/>
                <a:gd name="T33" fmla="*/ 970 h 993"/>
                <a:gd name="T34" fmla="*/ 0 w 1286"/>
                <a:gd name="T35" fmla="*/ 943 h 993"/>
                <a:gd name="T36" fmla="*/ 0 w 1286"/>
                <a:gd name="T37" fmla="*/ 87 h 993"/>
                <a:gd name="T38" fmla="*/ 323 w 1286"/>
                <a:gd name="T39" fmla="*/ 0 h 993"/>
                <a:gd name="T40" fmla="*/ 643 w 1286"/>
                <a:gd name="T41" fmla="*/ 87 h 993"/>
                <a:gd name="T42" fmla="*/ 962 w 1286"/>
                <a:gd name="T43" fmla="*/ 0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6" h="993">
                  <a:moveTo>
                    <a:pt x="1168" y="817"/>
                  </a:moveTo>
                  <a:lnTo>
                    <a:pt x="1168" y="145"/>
                  </a:lnTo>
                  <a:cubicBezTo>
                    <a:pt x="1105" y="126"/>
                    <a:pt x="1034" y="117"/>
                    <a:pt x="963" y="117"/>
                  </a:cubicBezTo>
                  <a:cubicBezTo>
                    <a:pt x="864" y="117"/>
                    <a:pt x="722" y="156"/>
                    <a:pt x="643" y="205"/>
                  </a:cubicBezTo>
                  <a:lnTo>
                    <a:pt x="643" y="875"/>
                  </a:lnTo>
                  <a:cubicBezTo>
                    <a:pt x="722" y="825"/>
                    <a:pt x="864" y="787"/>
                    <a:pt x="963" y="787"/>
                  </a:cubicBezTo>
                  <a:cubicBezTo>
                    <a:pt x="1034" y="787"/>
                    <a:pt x="1105" y="798"/>
                    <a:pt x="1168" y="817"/>
                  </a:cubicBezTo>
                  <a:close/>
                  <a:moveTo>
                    <a:pt x="962" y="0"/>
                  </a:moveTo>
                  <a:cubicBezTo>
                    <a:pt x="1083" y="0"/>
                    <a:pt x="1211" y="30"/>
                    <a:pt x="1285" y="87"/>
                  </a:cubicBezTo>
                  <a:lnTo>
                    <a:pt x="1285" y="938"/>
                  </a:lnTo>
                  <a:cubicBezTo>
                    <a:pt x="1285" y="951"/>
                    <a:pt x="1269" y="968"/>
                    <a:pt x="1255" y="968"/>
                  </a:cubicBezTo>
                  <a:cubicBezTo>
                    <a:pt x="1250" y="968"/>
                    <a:pt x="1247" y="968"/>
                    <a:pt x="1241" y="965"/>
                  </a:cubicBezTo>
                  <a:cubicBezTo>
                    <a:pt x="1159" y="921"/>
                    <a:pt x="1058" y="905"/>
                    <a:pt x="962" y="905"/>
                  </a:cubicBezTo>
                  <a:cubicBezTo>
                    <a:pt x="864" y="905"/>
                    <a:pt x="722" y="943"/>
                    <a:pt x="643" y="992"/>
                  </a:cubicBezTo>
                  <a:cubicBezTo>
                    <a:pt x="558" y="929"/>
                    <a:pt x="437" y="905"/>
                    <a:pt x="323" y="905"/>
                  </a:cubicBezTo>
                  <a:cubicBezTo>
                    <a:pt x="238" y="905"/>
                    <a:pt x="123" y="929"/>
                    <a:pt x="44" y="968"/>
                  </a:cubicBezTo>
                  <a:cubicBezTo>
                    <a:pt x="38" y="968"/>
                    <a:pt x="36" y="970"/>
                    <a:pt x="30" y="970"/>
                  </a:cubicBezTo>
                  <a:cubicBezTo>
                    <a:pt x="16" y="970"/>
                    <a:pt x="0" y="957"/>
                    <a:pt x="0" y="943"/>
                  </a:cubicBezTo>
                  <a:lnTo>
                    <a:pt x="0" y="87"/>
                  </a:lnTo>
                  <a:cubicBezTo>
                    <a:pt x="85" y="24"/>
                    <a:pt x="208" y="0"/>
                    <a:pt x="323" y="0"/>
                  </a:cubicBezTo>
                  <a:cubicBezTo>
                    <a:pt x="437" y="0"/>
                    <a:pt x="558" y="24"/>
                    <a:pt x="643" y="87"/>
                  </a:cubicBezTo>
                  <a:cubicBezTo>
                    <a:pt x="727" y="24"/>
                    <a:pt x="848" y="0"/>
                    <a:pt x="962" y="0"/>
                  </a:cubicBezTo>
                  <a:close/>
                </a:path>
              </a:pathLst>
            </a:custGeom>
            <a:solidFill>
              <a:srgbClr val="0094E9">
                <a:alpha val="50000"/>
              </a:srgbClr>
            </a:solidFill>
            <a:ln>
              <a:noFill/>
            </a:ln>
            <a:effectLst/>
          </p:spPr>
          <p:txBody>
            <a:bodyPr wrap="none" lIns="36000" rIns="36000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35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4532010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3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세부 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2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차년도 연구개발성과 성능 목표 및 실적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 (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중간점검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)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C8F0F90-B67F-4866-BEDB-B2AB92122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6161"/>
              </p:ext>
            </p:extLst>
          </p:nvPr>
        </p:nvGraphicFramePr>
        <p:xfrm>
          <a:off x="344488" y="1253957"/>
          <a:ext cx="9285771" cy="4249411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1763198423"/>
                    </a:ext>
                  </a:extLst>
                </a:gridCol>
                <a:gridCol w="1437771">
                  <a:extLst>
                    <a:ext uri="{9D8B030D-6E8A-4147-A177-3AD203B41FA5}">
                      <a16:colId xmlns:a16="http://schemas.microsoft.com/office/drawing/2014/main" val="4925063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89578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688318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9289135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7515435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962717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9317557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54691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80764099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121865272"/>
                    </a:ext>
                  </a:extLst>
                </a:gridCol>
              </a:tblGrid>
              <a:tr h="27529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-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4930" marR="14930" marT="14930" marB="1493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주요성능 </a:t>
                      </a: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Spec)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비중</a:t>
                      </a: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개발목표치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평가 방법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905362"/>
                  </a:ext>
                </a:extLst>
              </a:tr>
              <a:tr h="259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해당연도</a:t>
                      </a: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8484780"/>
                  </a:ext>
                </a:extLst>
              </a:tr>
              <a:tr h="361879">
                <a:tc rowSpan="4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전고체전지 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성능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(KETI)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전극 용량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mAh</a:t>
                      </a: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/cm</a:t>
                      </a:r>
                      <a:r>
                        <a:rPr lang="en-US" sz="950" b="1" kern="0" spc="0" baseline="30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공인시험 평가</a:t>
                      </a: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0.05C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방전 시 후막 전극의 면적당 방전 용량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72232"/>
                  </a:ext>
                </a:extLst>
              </a:tr>
              <a:tr h="506522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전극 면적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</a:t>
                      </a:r>
                      <a:r>
                        <a:rPr lang="en-US" sz="950" b="1" kern="0" spc="0" baseline="30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양극재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고체전해질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도전재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바인더로 구성된 전극 시트 면적</a:t>
                      </a:r>
                      <a:endParaRPr lang="ko-KR" altLang="en-US" sz="950" b="1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170117"/>
                  </a:ext>
                </a:extLst>
              </a:tr>
              <a:tr h="405217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고온 수명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60 </a:t>
                      </a:r>
                      <a:r>
                        <a:rPr lang="en-US" altLang="ko-KR" sz="950" b="1" kern="1200" spc="-50" baseline="30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o</a:t>
                      </a:r>
                      <a:r>
                        <a:rPr lang="en-US" altLang="ko-KR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C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에서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0.2C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정전류 평가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100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회 사이클 용량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21043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전극내 양극 활물질 비율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전극내 포함된 양극활물질 무게 비율</a:t>
                      </a:r>
                      <a:endParaRPr lang="ko-KR" altLang="en-US" sz="950" b="1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49617"/>
                  </a:ext>
                </a:extLst>
              </a:tr>
              <a:tr h="361879"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단결정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양극재 성능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엘앤에프</a:t>
                      </a: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5.</a:t>
                      </a:r>
                      <a:r>
                        <a:rPr lang="en-US" altLang="ko-KR" sz="950" b="1" kern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양극활물질  가역 용량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mAh</a:t>
                      </a: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/g</a:t>
                      </a: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2.5-4.3 V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</a:t>
                      </a:r>
                      <a:r>
                        <a:rPr lang="ko-KR" altLang="en-US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코인셀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</a:t>
                      </a:r>
                      <a:r>
                        <a:rPr lang="ko-KR" altLang="en-US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평가시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방전 용량 측정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67991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입자강도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MPa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입자 강도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=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파손 하중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/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입자 면적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573169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펠렛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밀도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g/cc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50" b="1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499193"/>
                  </a:ext>
                </a:extLst>
              </a:tr>
              <a:tr h="40521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 기술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한양대</a:t>
                      </a: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모델정합도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자체 평가</a:t>
                      </a: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실제 셀과 모델링 셀 평가 결과 비교를</a:t>
                      </a:r>
                      <a:endParaRPr lang="en-US" altLang="ko-KR" sz="950" b="1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통한 정합도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40243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C89104F-EF86-4AA2-A50D-D4BE80D51D82}"/>
              </a:ext>
            </a:extLst>
          </p:cNvPr>
          <p:cNvSpPr/>
          <p:nvPr/>
        </p:nvSpPr>
        <p:spPr>
          <a:xfrm>
            <a:off x="5828437" y="1253957"/>
            <a:ext cx="555586" cy="42494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5579277"/>
            <a:ext cx="2249334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실적 및 정량적 목표 성과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A60137-668F-471E-B417-0B01D489BB56}"/>
              </a:ext>
            </a:extLst>
          </p:cNvPr>
          <p:cNvSpPr/>
          <p:nvPr/>
        </p:nvSpPr>
        <p:spPr>
          <a:xfrm>
            <a:off x="364152" y="5963850"/>
            <a:ext cx="9306512" cy="603325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3619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예시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) </a:t>
            </a:r>
          </a:p>
          <a:p>
            <a:pPr marL="3619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국내 학술대회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 N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aaaa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bbbb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 )</a:t>
            </a:r>
          </a:p>
          <a:p>
            <a:pPr marL="3619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국내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특허출원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 N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aaaa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bbbb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 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9C9D00-7583-439E-B274-F1709A75D549}"/>
              </a:ext>
            </a:extLst>
          </p:cNvPr>
          <p:cNvSpPr/>
          <p:nvPr/>
        </p:nvSpPr>
        <p:spPr>
          <a:xfrm>
            <a:off x="4928974" y="81833"/>
            <a:ext cx="4703976" cy="1032095"/>
          </a:xfrm>
          <a:prstGeom prst="rect">
            <a:avLst/>
          </a:prstGeom>
          <a:solidFill>
            <a:srgbClr val="61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각 기관에서 달성한 실적이 있는 경우 기재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(EX) </a:t>
            </a:r>
            <a:r>
              <a:rPr kumimoji="1" lang="ko-KR" altLang="en-US" dirty="0">
                <a:solidFill>
                  <a:srgbClr val="FF0000"/>
                </a:solidFill>
              </a:rPr>
              <a:t>평가항목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특허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논문 등</a:t>
            </a:r>
            <a:r>
              <a:rPr kumimoji="1" lang="en-US" altLang="ko-KR" dirty="0">
                <a:solidFill>
                  <a:srgbClr val="FF0000"/>
                </a:solidFill>
              </a:rPr>
              <a:t>)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0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1-1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차년도 추진 실적 및 중간 성과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제조 기술 개발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556FD4-912A-4A6C-B706-6289B2EE7D1D}"/>
              </a:ext>
            </a:extLst>
          </p:cNvPr>
          <p:cNvGrpSpPr/>
          <p:nvPr/>
        </p:nvGrpSpPr>
        <p:grpSpPr>
          <a:xfrm>
            <a:off x="8070001" y="341761"/>
            <a:ext cx="1736773" cy="307777"/>
            <a:chOff x="7127569" y="215268"/>
            <a:chExt cx="1736773" cy="307777"/>
          </a:xfrm>
        </p:grpSpPr>
        <p:sp>
          <p:nvSpPr>
            <p:cNvPr id="25" name="모서리가 둥근 직사각형 31">
              <a:extLst>
                <a:ext uri="{FF2B5EF4-FFF2-40B4-BE49-F238E27FC236}">
                  <a16:creationId xmlns:a16="http://schemas.microsoft.com/office/drawing/2014/main" id="{5BF7FB0D-C317-42C7-8B2C-D90602B65245}"/>
                </a:ext>
              </a:extLst>
            </p:cNvPr>
            <p:cNvSpPr/>
            <p:nvPr/>
          </p:nvSpPr>
          <p:spPr>
            <a:xfrm>
              <a:off x="7127569" y="215268"/>
              <a:ext cx="1736773" cy="3077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94E9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/>
              <a:r>
                <a:rPr lang="ko-KR" altLang="en-US" sz="11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사업계획서</a:t>
              </a:r>
              <a:r>
                <a:rPr lang="ko-KR" altLang="en-US" sz="1100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1588B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p11~14</a:t>
              </a:r>
              <a:endParaRPr lang="ko-KR" altLang="en-US" sz="1200" b="1" dirty="0">
                <a:ln>
                  <a:solidFill>
                    <a:srgbClr val="01588B">
                      <a:alpha val="0"/>
                    </a:srgbClr>
                  </a:solidFill>
                </a:ln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C938253-330E-4F83-9684-9415310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8955" y="316359"/>
              <a:ext cx="168731" cy="129981"/>
            </a:xfrm>
            <a:custGeom>
              <a:avLst/>
              <a:gdLst>
                <a:gd name="T0" fmla="*/ 1168 w 1286"/>
                <a:gd name="T1" fmla="*/ 817 h 993"/>
                <a:gd name="T2" fmla="*/ 1168 w 1286"/>
                <a:gd name="T3" fmla="*/ 145 h 993"/>
                <a:gd name="T4" fmla="*/ 963 w 1286"/>
                <a:gd name="T5" fmla="*/ 117 h 993"/>
                <a:gd name="T6" fmla="*/ 643 w 1286"/>
                <a:gd name="T7" fmla="*/ 205 h 993"/>
                <a:gd name="T8" fmla="*/ 643 w 1286"/>
                <a:gd name="T9" fmla="*/ 875 h 993"/>
                <a:gd name="T10" fmla="*/ 963 w 1286"/>
                <a:gd name="T11" fmla="*/ 787 h 993"/>
                <a:gd name="T12" fmla="*/ 1168 w 1286"/>
                <a:gd name="T13" fmla="*/ 817 h 993"/>
                <a:gd name="T14" fmla="*/ 962 w 1286"/>
                <a:gd name="T15" fmla="*/ 0 h 993"/>
                <a:gd name="T16" fmla="*/ 1285 w 1286"/>
                <a:gd name="T17" fmla="*/ 87 h 993"/>
                <a:gd name="T18" fmla="*/ 1285 w 1286"/>
                <a:gd name="T19" fmla="*/ 938 h 993"/>
                <a:gd name="T20" fmla="*/ 1255 w 1286"/>
                <a:gd name="T21" fmla="*/ 968 h 993"/>
                <a:gd name="T22" fmla="*/ 1241 w 1286"/>
                <a:gd name="T23" fmla="*/ 965 h 993"/>
                <a:gd name="T24" fmla="*/ 962 w 1286"/>
                <a:gd name="T25" fmla="*/ 905 h 993"/>
                <a:gd name="T26" fmla="*/ 643 w 1286"/>
                <a:gd name="T27" fmla="*/ 992 h 993"/>
                <a:gd name="T28" fmla="*/ 323 w 1286"/>
                <a:gd name="T29" fmla="*/ 905 h 993"/>
                <a:gd name="T30" fmla="*/ 44 w 1286"/>
                <a:gd name="T31" fmla="*/ 968 h 993"/>
                <a:gd name="T32" fmla="*/ 30 w 1286"/>
                <a:gd name="T33" fmla="*/ 970 h 993"/>
                <a:gd name="T34" fmla="*/ 0 w 1286"/>
                <a:gd name="T35" fmla="*/ 943 h 993"/>
                <a:gd name="T36" fmla="*/ 0 w 1286"/>
                <a:gd name="T37" fmla="*/ 87 h 993"/>
                <a:gd name="T38" fmla="*/ 323 w 1286"/>
                <a:gd name="T39" fmla="*/ 0 h 993"/>
                <a:gd name="T40" fmla="*/ 643 w 1286"/>
                <a:gd name="T41" fmla="*/ 87 h 993"/>
                <a:gd name="T42" fmla="*/ 962 w 1286"/>
                <a:gd name="T43" fmla="*/ 0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6" h="993">
                  <a:moveTo>
                    <a:pt x="1168" y="817"/>
                  </a:moveTo>
                  <a:lnTo>
                    <a:pt x="1168" y="145"/>
                  </a:lnTo>
                  <a:cubicBezTo>
                    <a:pt x="1105" y="126"/>
                    <a:pt x="1034" y="117"/>
                    <a:pt x="963" y="117"/>
                  </a:cubicBezTo>
                  <a:cubicBezTo>
                    <a:pt x="864" y="117"/>
                    <a:pt x="722" y="156"/>
                    <a:pt x="643" y="205"/>
                  </a:cubicBezTo>
                  <a:lnTo>
                    <a:pt x="643" y="875"/>
                  </a:lnTo>
                  <a:cubicBezTo>
                    <a:pt x="722" y="825"/>
                    <a:pt x="864" y="787"/>
                    <a:pt x="963" y="787"/>
                  </a:cubicBezTo>
                  <a:cubicBezTo>
                    <a:pt x="1034" y="787"/>
                    <a:pt x="1105" y="798"/>
                    <a:pt x="1168" y="817"/>
                  </a:cubicBezTo>
                  <a:close/>
                  <a:moveTo>
                    <a:pt x="962" y="0"/>
                  </a:moveTo>
                  <a:cubicBezTo>
                    <a:pt x="1083" y="0"/>
                    <a:pt x="1211" y="30"/>
                    <a:pt x="1285" y="87"/>
                  </a:cubicBezTo>
                  <a:lnTo>
                    <a:pt x="1285" y="938"/>
                  </a:lnTo>
                  <a:cubicBezTo>
                    <a:pt x="1285" y="951"/>
                    <a:pt x="1269" y="968"/>
                    <a:pt x="1255" y="968"/>
                  </a:cubicBezTo>
                  <a:cubicBezTo>
                    <a:pt x="1250" y="968"/>
                    <a:pt x="1247" y="968"/>
                    <a:pt x="1241" y="965"/>
                  </a:cubicBezTo>
                  <a:cubicBezTo>
                    <a:pt x="1159" y="921"/>
                    <a:pt x="1058" y="905"/>
                    <a:pt x="962" y="905"/>
                  </a:cubicBezTo>
                  <a:cubicBezTo>
                    <a:pt x="864" y="905"/>
                    <a:pt x="722" y="943"/>
                    <a:pt x="643" y="992"/>
                  </a:cubicBezTo>
                  <a:cubicBezTo>
                    <a:pt x="558" y="929"/>
                    <a:pt x="437" y="905"/>
                    <a:pt x="323" y="905"/>
                  </a:cubicBezTo>
                  <a:cubicBezTo>
                    <a:pt x="238" y="905"/>
                    <a:pt x="123" y="929"/>
                    <a:pt x="44" y="968"/>
                  </a:cubicBezTo>
                  <a:cubicBezTo>
                    <a:pt x="38" y="968"/>
                    <a:pt x="36" y="970"/>
                    <a:pt x="30" y="970"/>
                  </a:cubicBezTo>
                  <a:cubicBezTo>
                    <a:pt x="16" y="970"/>
                    <a:pt x="0" y="957"/>
                    <a:pt x="0" y="943"/>
                  </a:cubicBezTo>
                  <a:lnTo>
                    <a:pt x="0" y="87"/>
                  </a:lnTo>
                  <a:cubicBezTo>
                    <a:pt x="85" y="24"/>
                    <a:pt x="208" y="0"/>
                    <a:pt x="323" y="0"/>
                  </a:cubicBezTo>
                  <a:cubicBezTo>
                    <a:pt x="437" y="0"/>
                    <a:pt x="558" y="24"/>
                    <a:pt x="643" y="87"/>
                  </a:cubicBezTo>
                  <a:cubicBezTo>
                    <a:pt x="727" y="24"/>
                    <a:pt x="848" y="0"/>
                    <a:pt x="962" y="0"/>
                  </a:cubicBezTo>
                  <a:close/>
                </a:path>
              </a:pathLst>
            </a:custGeom>
            <a:solidFill>
              <a:srgbClr val="0094E9">
                <a:alpha val="50000"/>
              </a:srgbClr>
            </a:solidFill>
            <a:ln>
              <a:noFill/>
            </a:ln>
            <a:effectLst/>
          </p:spPr>
          <p:txBody>
            <a:bodyPr wrap="none" lIns="36000" rIns="36000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35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3267241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3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세부 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2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차년도 실적 및 정량적 목표 성과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3E793E9-D593-4E6A-834F-F841FD84E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160519"/>
              </p:ext>
            </p:extLst>
          </p:nvPr>
        </p:nvGraphicFramePr>
        <p:xfrm>
          <a:off x="1280238" y="3497380"/>
          <a:ext cx="7520242" cy="2491236"/>
        </p:xfrm>
        <a:graphic>
          <a:graphicData uri="http://schemas.openxmlformats.org/drawingml/2006/table">
            <a:tbl>
              <a:tblPr/>
              <a:tblGrid>
                <a:gridCol w="1263890">
                  <a:extLst>
                    <a:ext uri="{9D8B030D-6E8A-4147-A177-3AD203B41FA5}">
                      <a16:colId xmlns:a16="http://schemas.microsoft.com/office/drawing/2014/main" val="2666122021"/>
                    </a:ext>
                  </a:extLst>
                </a:gridCol>
                <a:gridCol w="351800">
                  <a:extLst>
                    <a:ext uri="{9D8B030D-6E8A-4147-A177-3AD203B41FA5}">
                      <a16:colId xmlns:a16="http://schemas.microsoft.com/office/drawing/2014/main" val="3937422671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4291892055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3974921082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774210207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1476215341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3683882298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1918959735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912295208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3721603901"/>
                    </a:ext>
                  </a:extLst>
                </a:gridCol>
              </a:tblGrid>
              <a:tr h="362299">
                <a:tc gridSpan="6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차년도 달성 성과</a:t>
                      </a:r>
                      <a:r>
                        <a:rPr lang="en-US" altLang="ko-KR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(2026)</a:t>
                      </a:r>
                      <a:endParaRPr lang="ko-KR" alt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84109"/>
                  </a:ext>
                </a:extLst>
              </a:tr>
              <a:tr h="362299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성과지표명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2027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2028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엘앤에프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KETI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한양대학교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합계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4458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국내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22952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국내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602858"/>
                  </a:ext>
                </a:extLst>
              </a:tr>
              <a:tr h="3315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국제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출원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3558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국제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71737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SCI 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논문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061198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고용 창출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69025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59F2C8-2698-4E2C-9D0D-25EA203F6442}"/>
              </a:ext>
            </a:extLst>
          </p:cNvPr>
          <p:cNvSpPr/>
          <p:nvPr/>
        </p:nvSpPr>
        <p:spPr>
          <a:xfrm>
            <a:off x="3591988" y="3857958"/>
            <a:ext cx="718510" cy="2130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924AB7-5530-4C61-9F27-1832601AC14B}"/>
              </a:ext>
            </a:extLst>
          </p:cNvPr>
          <p:cNvGrpSpPr/>
          <p:nvPr/>
        </p:nvGrpSpPr>
        <p:grpSpPr>
          <a:xfrm>
            <a:off x="996958" y="1612634"/>
            <a:ext cx="7973880" cy="1474896"/>
            <a:chOff x="2084521" y="1180809"/>
            <a:chExt cx="7973880" cy="1474896"/>
          </a:xfrm>
        </p:grpSpPr>
        <p:pic>
          <p:nvPicPr>
            <p:cNvPr id="13" name="그래픽 57">
              <a:extLst>
                <a:ext uri="{FF2B5EF4-FFF2-40B4-BE49-F238E27FC236}">
                  <a16:creationId xmlns:a16="http://schemas.microsoft.com/office/drawing/2014/main" id="{30D1999D-DD25-43A4-8658-8AE241222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53951" y="1281519"/>
              <a:ext cx="7293898" cy="1856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7AAE40-B33B-4555-A86C-2DFCFEAED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6972" y="1472227"/>
              <a:ext cx="7881429" cy="406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31E684-FAC5-4E4B-A2D5-47F6C62AB689}"/>
                </a:ext>
              </a:extLst>
            </p:cNvPr>
            <p:cNvSpPr txBox="1"/>
            <p:nvPr/>
          </p:nvSpPr>
          <p:spPr>
            <a:xfrm>
              <a:off x="2084521" y="1522857"/>
              <a:ext cx="9875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2025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DBA8BE-6B5F-4D2F-828E-87D359A0EBFB}"/>
                </a:ext>
              </a:extLst>
            </p:cNvPr>
            <p:cNvSpPr txBox="1"/>
            <p:nvPr/>
          </p:nvSpPr>
          <p:spPr>
            <a:xfrm>
              <a:off x="5414839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2026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F5CBC-73AB-4897-8383-CC4F032DF34B}"/>
                </a:ext>
              </a:extLst>
            </p:cNvPr>
            <p:cNvSpPr txBox="1"/>
            <p:nvPr/>
          </p:nvSpPr>
          <p:spPr>
            <a:xfrm>
              <a:off x="9156425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2028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8" name="사각형: 둥근 모서리 62">
              <a:extLst>
                <a:ext uri="{FF2B5EF4-FFF2-40B4-BE49-F238E27FC236}">
                  <a16:creationId xmlns:a16="http://schemas.microsoft.com/office/drawing/2014/main" id="{8939382E-9906-4782-B652-04F9462AE2E9}"/>
                </a:ext>
              </a:extLst>
            </p:cNvPr>
            <p:cNvSpPr/>
            <p:nvPr/>
          </p:nvSpPr>
          <p:spPr>
            <a:xfrm>
              <a:off x="4673823" y="1180809"/>
              <a:ext cx="2837158" cy="268474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75000"/>
              </a:sysClr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Ins="36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   25.10.01~28.12.31 (39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  <a:endParaRPr kumimoji="1" lang="ko-KR" altLang="en-US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9E31498-68CF-4973-BE85-3CA4C2F6A5F5}"/>
                </a:ext>
              </a:extLst>
            </p:cNvPr>
            <p:cNvSpPr/>
            <p:nvPr/>
          </p:nvSpPr>
          <p:spPr>
            <a:xfrm>
              <a:off x="2483984" y="1449390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4A10796-1E68-4A6D-849B-5062091E8496}"/>
                </a:ext>
              </a:extLst>
            </p:cNvPr>
            <p:cNvSpPr/>
            <p:nvPr/>
          </p:nvSpPr>
          <p:spPr>
            <a:xfrm>
              <a:off x="9668304" y="1457703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pic>
          <p:nvPicPr>
            <p:cNvPr id="22" name="그래픽 129">
              <a:extLst>
                <a:ext uri="{FF2B5EF4-FFF2-40B4-BE49-F238E27FC236}">
                  <a16:creationId xmlns:a16="http://schemas.microsoft.com/office/drawing/2014/main" id="{5F9D2DCA-A495-4409-86C4-35FB505A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71924" y="1890560"/>
              <a:ext cx="3567862" cy="227064"/>
            </a:xfrm>
            <a:prstGeom prst="rect">
              <a:avLst/>
            </a:prstGeom>
          </p:spPr>
        </p:pic>
        <p:pic>
          <p:nvPicPr>
            <p:cNvPr id="23" name="그래픽 130">
              <a:extLst>
                <a:ext uri="{FF2B5EF4-FFF2-40B4-BE49-F238E27FC236}">
                  <a16:creationId xmlns:a16="http://schemas.microsoft.com/office/drawing/2014/main" id="{EC6AC867-074B-4A2C-9A09-441DB1C03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20025" y="1882246"/>
              <a:ext cx="3618109" cy="235377"/>
            </a:xfrm>
            <a:prstGeom prst="rect">
              <a:avLst/>
            </a:prstGeom>
          </p:spPr>
        </p:pic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0A53E4A-FF1D-4DA9-956A-C16A27F0A58C}"/>
                </a:ext>
              </a:extLst>
            </p:cNvPr>
            <p:cNvSpPr/>
            <p:nvPr/>
          </p:nvSpPr>
          <p:spPr>
            <a:xfrm>
              <a:off x="2495546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9365E6F-E74F-492D-A3DC-397757C3238E}"/>
                </a:ext>
              </a:extLst>
            </p:cNvPr>
            <p:cNvSpPr/>
            <p:nvPr/>
          </p:nvSpPr>
          <p:spPr>
            <a:xfrm>
              <a:off x="9678456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5852A36-5F10-4F8A-9CFC-FB1DC8F47B0F}"/>
                </a:ext>
              </a:extLst>
            </p:cNvPr>
            <p:cNvSpPr/>
            <p:nvPr/>
          </p:nvSpPr>
          <p:spPr>
            <a:xfrm>
              <a:off x="6133445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0E583D8-F9F4-4B87-8FC6-D95190D5FF26}"/>
                </a:ext>
              </a:extLst>
            </p:cNvPr>
            <p:cNvSpPr/>
            <p:nvPr/>
          </p:nvSpPr>
          <p:spPr>
            <a:xfrm>
              <a:off x="5966623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1" name="사각형: 둥근 모서리 135">
              <a:extLst>
                <a:ext uri="{FF2B5EF4-FFF2-40B4-BE49-F238E27FC236}">
                  <a16:creationId xmlns:a16="http://schemas.microsoft.com/office/drawing/2014/main" id="{EE1E03C2-015A-4CB3-98C9-95B509F4279E}"/>
                </a:ext>
              </a:extLst>
            </p:cNvPr>
            <p:cNvSpPr/>
            <p:nvPr/>
          </p:nvSpPr>
          <p:spPr>
            <a:xfrm>
              <a:off x="3640708" y="1888603"/>
              <a:ext cx="2111240" cy="350770"/>
            </a:xfrm>
            <a:prstGeom prst="roundRect">
              <a:avLst>
                <a:gd name="adj" fmla="val 50000"/>
              </a:avLst>
            </a:prstGeom>
            <a:solidFill>
              <a:srgbClr val="E8E8E8"/>
            </a:solidFill>
            <a:ln w="158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Ins="18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25.10.01~26.12.31(15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</a:p>
          </p:txBody>
        </p:sp>
        <p:sp>
          <p:nvSpPr>
            <p:cNvPr id="32" name="사각형: 둥근 모서리 136">
              <a:extLst>
                <a:ext uri="{FF2B5EF4-FFF2-40B4-BE49-F238E27FC236}">
                  <a16:creationId xmlns:a16="http://schemas.microsoft.com/office/drawing/2014/main" id="{FB1CBB12-EE9A-499D-9F82-3807679AB77A}"/>
                </a:ext>
              </a:extLst>
            </p:cNvPr>
            <p:cNvSpPr/>
            <p:nvPr/>
          </p:nvSpPr>
          <p:spPr>
            <a:xfrm>
              <a:off x="7261860" y="1888603"/>
              <a:ext cx="2155772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158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Ins="18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27.01.01~28.12.31(24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</a:p>
          </p:txBody>
        </p:sp>
        <p:sp>
          <p:nvSpPr>
            <p:cNvPr id="33" name="사각형: 둥근 모서리 137">
              <a:extLst>
                <a:ext uri="{FF2B5EF4-FFF2-40B4-BE49-F238E27FC236}">
                  <a16:creationId xmlns:a16="http://schemas.microsoft.com/office/drawing/2014/main" id="{130B94BE-5FB7-4314-AD33-B7B604D18856}"/>
                </a:ext>
              </a:extLst>
            </p:cNvPr>
            <p:cNvSpPr/>
            <p:nvPr/>
          </p:nvSpPr>
          <p:spPr>
            <a:xfrm>
              <a:off x="2637328" y="1888603"/>
              <a:ext cx="1040618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1~2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차년도</a:t>
              </a:r>
            </a:p>
          </p:txBody>
        </p:sp>
        <p:sp>
          <p:nvSpPr>
            <p:cNvPr id="34" name="사각형: 둥근 모서리 139">
              <a:extLst>
                <a:ext uri="{FF2B5EF4-FFF2-40B4-BE49-F238E27FC236}">
                  <a16:creationId xmlns:a16="http://schemas.microsoft.com/office/drawing/2014/main" id="{8D615450-4EB4-46B6-9CAE-11C415C34B21}"/>
                </a:ext>
              </a:extLst>
            </p:cNvPr>
            <p:cNvSpPr/>
            <p:nvPr/>
          </p:nvSpPr>
          <p:spPr>
            <a:xfrm>
              <a:off x="6297730" y="1888603"/>
              <a:ext cx="1031547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3~4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차년도</a:t>
              </a:r>
            </a:p>
          </p:txBody>
        </p:sp>
        <p:sp>
          <p:nvSpPr>
            <p:cNvPr id="35" name="자유형: 도형 140">
              <a:extLst>
                <a:ext uri="{FF2B5EF4-FFF2-40B4-BE49-F238E27FC236}">
                  <a16:creationId xmlns:a16="http://schemas.microsoft.com/office/drawing/2014/main" id="{FE653701-6CFE-42B2-9537-0DE8FF7B1210}"/>
                </a:ext>
              </a:extLst>
            </p:cNvPr>
            <p:cNvSpPr/>
            <p:nvPr/>
          </p:nvSpPr>
          <p:spPr>
            <a:xfrm>
              <a:off x="4191163" y="2239093"/>
              <a:ext cx="0" cy="163928"/>
            </a:xfrm>
            <a:custGeom>
              <a:avLst/>
              <a:gdLst>
                <a:gd name="connsiteX0" fmla="*/ 0 w 0"/>
                <a:gd name="connsiteY0" fmla="*/ 171939 h 171939"/>
                <a:gd name="connsiteX1" fmla="*/ 0 w 0"/>
                <a:gd name="connsiteY1" fmla="*/ 0 h 17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71939">
                  <a:moveTo>
                    <a:pt x="0" y="17193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6" name="자유형: 도형 141">
              <a:extLst>
                <a:ext uri="{FF2B5EF4-FFF2-40B4-BE49-F238E27FC236}">
                  <a16:creationId xmlns:a16="http://schemas.microsoft.com/office/drawing/2014/main" id="{6EFD7D27-F81F-469C-9401-1F66D00FE260}"/>
                </a:ext>
              </a:extLst>
            </p:cNvPr>
            <p:cNvSpPr/>
            <p:nvPr/>
          </p:nvSpPr>
          <p:spPr>
            <a:xfrm>
              <a:off x="7999485" y="2239093"/>
              <a:ext cx="0" cy="163928"/>
            </a:xfrm>
            <a:custGeom>
              <a:avLst/>
              <a:gdLst>
                <a:gd name="connsiteX0" fmla="*/ 0 w 0"/>
                <a:gd name="connsiteY0" fmla="*/ 171939 h 171939"/>
                <a:gd name="connsiteX1" fmla="*/ 0 w 0"/>
                <a:gd name="connsiteY1" fmla="*/ 0 h 17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71939">
                  <a:moveTo>
                    <a:pt x="0" y="17193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BE858F0-9957-4FE2-B7A1-D62CC99B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612" y="1608863"/>
              <a:ext cx="75770" cy="129083"/>
            </a:xfrm>
            <a:custGeom>
              <a:avLst/>
              <a:gdLst>
                <a:gd name="T0" fmla="*/ 96 w 98"/>
                <a:gd name="T1" fmla="*/ 80 h 152"/>
                <a:gd name="T2" fmla="*/ 26 w 98"/>
                <a:gd name="T3" fmla="*/ 150 h 152"/>
                <a:gd name="T4" fmla="*/ 22 w 98"/>
                <a:gd name="T5" fmla="*/ 152 h 152"/>
                <a:gd name="T6" fmla="*/ 18 w 98"/>
                <a:gd name="T7" fmla="*/ 150 h 152"/>
                <a:gd name="T8" fmla="*/ 2 w 98"/>
                <a:gd name="T9" fmla="*/ 135 h 152"/>
                <a:gd name="T10" fmla="*/ 0 w 98"/>
                <a:gd name="T11" fmla="*/ 130 h 152"/>
                <a:gd name="T12" fmla="*/ 2 w 98"/>
                <a:gd name="T13" fmla="*/ 126 h 152"/>
                <a:gd name="T14" fmla="*/ 52 w 98"/>
                <a:gd name="T15" fmla="*/ 76 h 152"/>
                <a:gd name="T16" fmla="*/ 2 w 98"/>
                <a:gd name="T17" fmla="*/ 26 h 152"/>
                <a:gd name="T18" fmla="*/ 0 w 98"/>
                <a:gd name="T19" fmla="*/ 21 h 152"/>
                <a:gd name="T20" fmla="*/ 2 w 98"/>
                <a:gd name="T21" fmla="*/ 17 h 152"/>
                <a:gd name="T22" fmla="*/ 18 w 98"/>
                <a:gd name="T23" fmla="*/ 1 h 152"/>
                <a:gd name="T24" fmla="*/ 22 w 98"/>
                <a:gd name="T25" fmla="*/ 0 h 152"/>
                <a:gd name="T26" fmla="*/ 26 w 98"/>
                <a:gd name="T27" fmla="*/ 1 h 152"/>
                <a:gd name="T28" fmla="*/ 96 w 98"/>
                <a:gd name="T29" fmla="*/ 72 h 152"/>
                <a:gd name="T30" fmla="*/ 98 w 98"/>
                <a:gd name="T31" fmla="*/ 76 h 152"/>
                <a:gd name="T32" fmla="*/ 96 w 98"/>
                <a:gd name="T33" fmla="*/ 8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" h="152">
                  <a:moveTo>
                    <a:pt x="96" y="8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5" y="152"/>
                    <a:pt x="24" y="152"/>
                    <a:pt x="22" y="152"/>
                  </a:cubicBezTo>
                  <a:cubicBezTo>
                    <a:pt x="20" y="152"/>
                    <a:pt x="19" y="152"/>
                    <a:pt x="18" y="150"/>
                  </a:cubicBezTo>
                  <a:cubicBezTo>
                    <a:pt x="2" y="135"/>
                    <a:pt x="2" y="135"/>
                    <a:pt x="2" y="135"/>
                  </a:cubicBezTo>
                  <a:cubicBezTo>
                    <a:pt x="1" y="133"/>
                    <a:pt x="0" y="132"/>
                    <a:pt x="0" y="130"/>
                  </a:cubicBezTo>
                  <a:cubicBezTo>
                    <a:pt x="0" y="129"/>
                    <a:pt x="1" y="127"/>
                    <a:pt x="2" y="12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5"/>
                    <a:pt x="0" y="23"/>
                    <a:pt x="0" y="21"/>
                  </a:cubicBezTo>
                  <a:cubicBezTo>
                    <a:pt x="0" y="20"/>
                    <a:pt x="1" y="18"/>
                    <a:pt x="2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4" y="0"/>
                    <a:pt x="25" y="0"/>
                    <a:pt x="26" y="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8" y="73"/>
                    <a:pt x="98" y="74"/>
                    <a:pt x="98" y="76"/>
                  </a:cubicBezTo>
                  <a:cubicBezTo>
                    <a:pt x="98" y="78"/>
                    <a:pt x="98" y="79"/>
                    <a:pt x="96" y="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cap="none" spc="-5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8" name="Freeform 84">
              <a:extLst>
                <a:ext uri="{FF2B5EF4-FFF2-40B4-BE49-F238E27FC236}">
                  <a16:creationId xmlns:a16="http://schemas.microsoft.com/office/drawing/2014/main" id="{89AD5D70-87A2-4C0C-8A79-107F9418C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9291" y="1608863"/>
              <a:ext cx="75770" cy="129083"/>
            </a:xfrm>
            <a:custGeom>
              <a:avLst/>
              <a:gdLst>
                <a:gd name="T0" fmla="*/ 96 w 98"/>
                <a:gd name="T1" fmla="*/ 80 h 152"/>
                <a:gd name="T2" fmla="*/ 26 w 98"/>
                <a:gd name="T3" fmla="*/ 150 h 152"/>
                <a:gd name="T4" fmla="*/ 22 w 98"/>
                <a:gd name="T5" fmla="*/ 152 h 152"/>
                <a:gd name="T6" fmla="*/ 18 w 98"/>
                <a:gd name="T7" fmla="*/ 150 h 152"/>
                <a:gd name="T8" fmla="*/ 2 w 98"/>
                <a:gd name="T9" fmla="*/ 135 h 152"/>
                <a:gd name="T10" fmla="*/ 0 w 98"/>
                <a:gd name="T11" fmla="*/ 130 h 152"/>
                <a:gd name="T12" fmla="*/ 2 w 98"/>
                <a:gd name="T13" fmla="*/ 126 h 152"/>
                <a:gd name="T14" fmla="*/ 52 w 98"/>
                <a:gd name="T15" fmla="*/ 76 h 152"/>
                <a:gd name="T16" fmla="*/ 2 w 98"/>
                <a:gd name="T17" fmla="*/ 26 h 152"/>
                <a:gd name="T18" fmla="*/ 0 w 98"/>
                <a:gd name="T19" fmla="*/ 21 h 152"/>
                <a:gd name="T20" fmla="*/ 2 w 98"/>
                <a:gd name="T21" fmla="*/ 17 h 152"/>
                <a:gd name="T22" fmla="*/ 18 w 98"/>
                <a:gd name="T23" fmla="*/ 1 h 152"/>
                <a:gd name="T24" fmla="*/ 22 w 98"/>
                <a:gd name="T25" fmla="*/ 0 h 152"/>
                <a:gd name="T26" fmla="*/ 26 w 98"/>
                <a:gd name="T27" fmla="*/ 1 h 152"/>
                <a:gd name="T28" fmla="*/ 96 w 98"/>
                <a:gd name="T29" fmla="*/ 72 h 152"/>
                <a:gd name="T30" fmla="*/ 98 w 98"/>
                <a:gd name="T31" fmla="*/ 76 h 152"/>
                <a:gd name="T32" fmla="*/ 96 w 98"/>
                <a:gd name="T33" fmla="*/ 8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" h="152">
                  <a:moveTo>
                    <a:pt x="96" y="8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5" y="152"/>
                    <a:pt x="24" y="152"/>
                    <a:pt x="22" y="152"/>
                  </a:cubicBezTo>
                  <a:cubicBezTo>
                    <a:pt x="20" y="152"/>
                    <a:pt x="19" y="152"/>
                    <a:pt x="18" y="150"/>
                  </a:cubicBezTo>
                  <a:cubicBezTo>
                    <a:pt x="2" y="135"/>
                    <a:pt x="2" y="135"/>
                    <a:pt x="2" y="135"/>
                  </a:cubicBezTo>
                  <a:cubicBezTo>
                    <a:pt x="1" y="133"/>
                    <a:pt x="0" y="132"/>
                    <a:pt x="0" y="130"/>
                  </a:cubicBezTo>
                  <a:cubicBezTo>
                    <a:pt x="0" y="129"/>
                    <a:pt x="1" y="127"/>
                    <a:pt x="2" y="12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5"/>
                    <a:pt x="0" y="23"/>
                    <a:pt x="0" y="21"/>
                  </a:cubicBezTo>
                  <a:cubicBezTo>
                    <a:pt x="0" y="20"/>
                    <a:pt x="1" y="18"/>
                    <a:pt x="2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4" y="0"/>
                    <a:pt x="25" y="0"/>
                    <a:pt x="26" y="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8" y="73"/>
                    <a:pt x="98" y="74"/>
                    <a:pt x="98" y="76"/>
                  </a:cubicBezTo>
                  <a:cubicBezTo>
                    <a:pt x="98" y="78"/>
                    <a:pt x="98" y="79"/>
                    <a:pt x="96" y="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cap="none" spc="-5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9" name="사각형: 둥근 모서리 144">
              <a:extLst>
                <a:ext uri="{FF2B5EF4-FFF2-40B4-BE49-F238E27FC236}">
                  <a16:creationId xmlns:a16="http://schemas.microsoft.com/office/drawing/2014/main" id="{059B7860-5FFB-44BB-9A79-CEFB68CCEC61}"/>
                </a:ext>
              </a:extLst>
            </p:cNvPr>
            <p:cNvSpPr/>
            <p:nvPr/>
          </p:nvSpPr>
          <p:spPr>
            <a:xfrm>
              <a:off x="2289203" y="2331705"/>
              <a:ext cx="3780000" cy="324000"/>
            </a:xfrm>
            <a:prstGeom prst="roundRect">
              <a:avLst>
                <a:gd name="adj" fmla="val 14656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저가공법 </a:t>
              </a:r>
              <a:r>
                <a:rPr kumimoji="1" lang="ko-KR" altLang="en-US" sz="1100" b="1" i="0" u="none" strike="noStrike" cap="none" spc="-50" normalizeH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전구체</a:t>
              </a: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및 고성능 단결정 양극재 합성 기술 개발</a:t>
              </a:r>
            </a:p>
          </p:txBody>
        </p:sp>
        <p:sp>
          <p:nvSpPr>
            <p:cNvPr id="40" name="사각형: 둥근 모서리 145">
              <a:extLst>
                <a:ext uri="{FF2B5EF4-FFF2-40B4-BE49-F238E27FC236}">
                  <a16:creationId xmlns:a16="http://schemas.microsoft.com/office/drawing/2014/main" id="{65C4423C-47E4-49DF-98CC-9C9CA8675012}"/>
                </a:ext>
              </a:extLst>
            </p:cNvPr>
            <p:cNvSpPr/>
            <p:nvPr/>
          </p:nvSpPr>
          <p:spPr>
            <a:xfrm>
              <a:off x="6127922" y="2331705"/>
              <a:ext cx="3780000" cy="324000"/>
            </a:xfrm>
            <a:prstGeom prst="roundRect">
              <a:avLst>
                <a:gd name="adj" fmla="val 14656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세라믹 </a:t>
              </a:r>
              <a:r>
                <a:rPr kumimoji="1" lang="en-US" altLang="ko-KR" sz="1100" b="1" spc="-50" dirty="0" err="1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catholyate</a:t>
              </a:r>
              <a:r>
                <a:rPr kumimoji="1" lang="en-US" altLang="ko-KR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</a:t>
              </a:r>
              <a:r>
                <a:rPr kumimoji="1" lang="ko-KR" altLang="en-US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적용 </a:t>
              </a:r>
              <a:r>
                <a:rPr kumimoji="1" lang="en-US" altLang="ko-KR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8.0 </a:t>
              </a:r>
              <a:r>
                <a:rPr kumimoji="1" lang="en-US" altLang="ko-KR" sz="1100" b="1" spc="-50" dirty="0" err="1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mAh</a:t>
              </a:r>
              <a:r>
                <a:rPr kumimoji="1" lang="en-US" altLang="ko-KR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/cm</a:t>
              </a:r>
              <a:r>
                <a:rPr kumimoji="1" lang="en-US" altLang="ko-KR" sz="1100" b="1" spc="-50" baseline="3000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</a:t>
              </a:r>
              <a:r>
                <a:rPr kumimoji="1" lang="ko-KR" altLang="en-US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후막 전극 기술 개발</a:t>
              </a:r>
              <a:endParaRPr kumimoji="1" lang="ko-KR" altLang="en-US" sz="1100" b="1" i="0" u="none" strike="noStrike" cap="none" spc="-5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FA23C6-E9AB-4159-A2AE-DCFACBBC2E1C}"/>
                </a:ext>
              </a:extLst>
            </p:cNvPr>
            <p:cNvSpPr txBox="1"/>
            <p:nvPr/>
          </p:nvSpPr>
          <p:spPr>
            <a:xfrm>
              <a:off x="6069513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2027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C09E7CB-1241-4C14-8368-FCD5DCE8B64E}"/>
              </a:ext>
            </a:extLst>
          </p:cNvPr>
          <p:cNvSpPr/>
          <p:nvPr/>
        </p:nvSpPr>
        <p:spPr>
          <a:xfrm>
            <a:off x="5725940" y="3857958"/>
            <a:ext cx="3074540" cy="2130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06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02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6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12338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3세부 2차년도 개발 목표 및 중간 성과 — 한양대 (전극 미세구조 · 공정 시뮬레이션)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3세부 2차년도 연구개발 추진 내용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목표  </a:t>
            </a: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건식 황화물 후막 복합양극 (6 mAh/cm²) 의 미세구조와 이온 · 전자 경로를 조성 · 바이모달 비 · 입경으로 예측하고 설계 · 믹싱 조건 제시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성과  </a:t>
            </a: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DEM 압축 모델 · 설계점 194 건 데이터셋 배포 · 전해질 함량 · 바이모달 비 · 도전재 영향 정량 · 건식 믹싱 판정 (사전 등록)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추진 체계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주요 결과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658368" y="3383280"/>
            <a:ext cx="3749039" cy="786384"/>
          </a:xfrm>
          <a:prstGeom prst="roundRect">
            <a:avLst>
              <a:gd name="adj" fmla="val 12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① 전극 미세구조 모델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DEM 투입 · 침강 · 300 MPa 압축 · 이완 (LIGGGHTS)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389120"/>
            <a:ext cx="3749039" cy="786384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② 설계인자별 구조 · 이온/전자 경로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설계점 194 건 · 사양 5 조성 · 도전재 함량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394960"/>
            <a:ext cx="3749039" cy="786384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③ 건식 믹싱 균일성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  <a:ea typeface="KoPubWorld돋움체 Medium"/>
                <a:cs typeface="Aptos"/>
              </a:rPr>
              <a:t>회전 드럼 DEM · 입자 점착 · 표면 점착 저감 (코팅 모사)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49824" y="3319272"/>
          <a:ext cx="398678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627"/>
                <a:gridCol w="28411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결과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설계점 데이터셋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194 설계점 · 측정 지표 57 개 · 열 사전 (배포 10-01)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바이모달 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소입자만 20.6 % → 7:3 16.5 % (공극률)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함량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고체 중 SE 11 → 51 vol% 공극률 24.2 → 7.3 % · 21 % 이하 경로 단절 24 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도전재 함량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VGCF 1→4 wt% 전자 전도도 순서 72/72 유지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건식 믹싱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8 회전 뒤 전 조건 M ≈ 1 · 코팅 모사 차이 구분 불가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고점착 확장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⬜ 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2-2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DEM 기반 복합양극 압축 모델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모델 · 입력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활물질 (NCM 대 · 소) · 고체전해질 (LPSCl) 을 구형 입자로 두고 접촉력으로 운동방정식을 풀어 투입 → 침강 → 300 MPa 압축 → 이완을 계산 (LIGGGHTS)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접촉 = 탄성 + 하중/제하 이력 (잔류 겹침) 으로 소성 압밀 대리 · 전해질 유효 탄성계수 1.35 GPa (실제 24 GPa · 순수 전해질 압축 겹침으로 보정)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지배 방정식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입력 물성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37" name="수식 37"/>
              <p:cNvSpPr txBox="1"/>
              <p:nvPr/>
            </p:nvSpPr>
            <p:spPr>
              <a:xfrm>
                <a:off x="566928" y="3273552"/>
                <a:ext cx="3931920" cy="3127248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n,ij</m:t>
                                  </m:r>
                                </m:sub>
                              </m:s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t,ij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b"/>
                        </m:rPr>
                        <a:rPr lang="en-US" altLang="ko-KR" sz="1200" dirty="0"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t,ij</m:t>
                                  </m:r>
                                </m:sub>
                              </m:s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r,ij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,  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loading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US" altLang="ko-KR" sz="12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altLang="ko-KR" sz="1200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,  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unloading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μ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,  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d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sSup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4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plate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box</m:t>
                              </m:r>
                            </m:sub>
                          </m:sSub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200" dirty="0">
                          <a:latin typeface="Cambria Math" panose="02040503050406030204" pitchFamily="18" charset="0"/>
                        </a:rPr>
                        <m:t>300 MPa</m:t>
                      </m:r>
                    </m:oMath>
                  </m:oMathPara>
                </a14:m>
                <a:endParaRPr lang="en-US" altLang="ko-KR" sz="1150" dirty="0"/>
              </a:p>
            </p:txBody>
          </p:sp>
        </mc:Choice>
        <mc:Fallback>
          <p:sp>
            <p:nvSpPr>
              <p:cNvPr id="37" name="수식 37"/>
              <p:cNvSpPr txBox="1"/>
              <p:nvPr/>
            </p:nvSpPr>
            <p:spPr>
              <a:xfrm>
                <a:off x="566928" y="3273552"/>
                <a:ext cx="3931920" cy="3127248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m_i dv_i/dt = Σ_j (F_n,ij + F_t,ij) + m_i g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I_i dω_i/dt = Σ_j (R_i n_ij × F_t,ij + M_r,ij)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F_n = k1·δ (loading) · k2·(δ − δ0) (unloading)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1/E* = (1−νi²)/Ei + (1−νj²)/Ej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|F_t| ≤ μ|F_n| ,  |M_r| ≤ μ_r R*|F_n|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altLang="ko-KR" sz="1150" dirty="0">
                    <a:latin typeface="Cambria Math"/>
                  </a:rPr>
                  <a:t>P = F_plate / A_box = 300 MPa</a:t>
                </a:r>
              </a:p>
            </p:txBody>
          </p:sp>
        </mc:Fallback>
      </mc:AlternateContent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49824" y="3291840"/>
          <a:ext cx="398678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586"/>
                <a:gridCol w="647205"/>
                <a:gridCol w="621316"/>
                <a:gridCol w="388323"/>
                <a:gridCol w="690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상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지름 (µm)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E (GPa)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ν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ρ (g/cm³)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대입자 (다결정 NCM)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0.25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4.8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소입자 (단결정 NCM)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140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0.25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4.8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고체전해질 LPSCl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1.35 *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0.30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49824" y="4416552"/>
            <a:ext cx="3986784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* 유효값 (bulk 24 GPa) — 강체 구가 못 담는 재배열 · 입계 미끄러짐 · 미세 파쇄를 탄성계수 하나에 담은 규약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49824" y="4846320"/>
          <a:ext cx="3986783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59"/>
                <a:gridCol w="3059624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단계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내용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투입 · 침강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질량비대로 무작위 투입 → 중력 침강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압축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플래튼 하강 → 300 MPa 도달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이완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플래튼 고정 → 잔류 응력 이완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경계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x · y 주기 · 바닥 벽 · 50 × 50 µm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2-3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미세구조 · 수송 성능 지표 정의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지표 · 계산식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공극률 = 겹친 입자를 한 번만 센 기하 공극 (union) · 굴곡도 = 아래 벽 → 위 벽 전해질 접촉망 최단 경로 / 두께 (기하 굴곡도)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이온 · 전자 전도도 = 입자 접촉망 + 접촉 협착 저항 (Holm) · Kirchhoff 해석  ·  고립 활물질 = 분리막 쪽 전해질 망에 닿지 못한 활물질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지표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계산식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66928" y="3291840"/>
          <a:ext cx="39319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6"/>
                <a:gridCol w="742696"/>
                <a:gridCol w="480568"/>
                <a:gridCol w="15290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지표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기호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단위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뜻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공극률 (union)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ε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입자에 속하지 않는 부피 비율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두께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µm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압축 · 이완 뒤 플래튼 높이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굴곡도 (벽 기준)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τ_wall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최단 경로 길이 / 두께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이온 · 전자 전도도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σ_ion · σ_e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mS/cm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접촉망 유효 전도도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배위수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CN_SE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1 개당 전해질 접촉 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피복률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θ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%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활물질 표면 중 전해질 접촉 면적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고립 활물질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f_iso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이온 경로가 없는 활물질 비율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38" name="수식 38"/>
              <p:cNvSpPr txBox="1"/>
              <p:nvPr/>
            </p:nvSpPr>
            <p:spPr>
              <a:xfrm>
                <a:off x="5449824" y="3273552"/>
                <a:ext cx="3986784" cy="233172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5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nary>
                                    <m:naryPr>
                                      <m:chr m:val="⋃"/>
                                      <m:limLoc m:val="undOvr"/>
                                      <m:supHide m:val="1"/>
                                    </m:naryPr>
                                    <m:sub>
                                      <m:r>
                                        <a:rPr lang="en-US" altLang="ko-KR" sz="1200" dirty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  <m:sup/>
                                    <m:e>
                                      <m:sSub>
                                        <m:e>
                                          <m:r>
                                            <a:rPr lang="en-US" altLang="ko-KR" sz="1200" dirty="0">
                                              <a:latin typeface="Cambria Math" panose="020405030504060302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dirty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5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wall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path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5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σ</m:t>
                          </m:r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den>
                      </m:f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, 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f>
                            <m:num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dirty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5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</m:oMath>
                  </m:oMathPara>
                </a14:m>
                <a:endParaRPr lang="en-US" altLang="ko-KR" sz="1150" dirty="0"/>
              </a:p>
              <a:p>
                <a:pPr>
                  <a:spcBef>
                    <a:spcPts val="5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iso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num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AM, linked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AM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150" dirty="0"/>
              </a:p>
            </p:txBody>
          </p:sp>
        </mc:Choice>
        <mc:Fallback>
          <p:sp>
            <p:nvSpPr>
              <p:cNvPr id="38" name="수식 38"/>
              <p:cNvSpPr txBox="1"/>
              <p:nvPr/>
            </p:nvSpPr>
            <p:spPr>
              <a:xfrm>
                <a:off x="5449824" y="3273552"/>
                <a:ext cx="3986784" cy="233172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500"/>
                  </a:spcBef>
                </a:pPr>
                <a:r>
                  <a:rPr lang="en-US" altLang="ko-KR" sz="1150" dirty="0">
                    <a:latin typeface="Cambria Math"/>
                  </a:rPr>
                  <a:t>ε = 1 − V(∪ B_i ∩ Ω) / V(Ω)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altLang="ko-KR" sz="1150" dirty="0">
                    <a:latin typeface="Cambria Math"/>
                  </a:rPr>
                  <a:t>τ_wall = L_path / L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altLang="ko-KR" sz="1150" dirty="0">
                    <a:latin typeface="Cambria Math"/>
                  </a:rPr>
                  <a:t>R_ij = 1/(2σ a_ij) ,  Σ_j (φ_i − φ_j)/R_ij = 0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altLang="ko-KR" sz="1150" dirty="0">
                    <a:latin typeface="Cambria Math"/>
                  </a:rPr>
                  <a:t>σ_eff = I L / (A ΔV)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altLang="ko-KR" sz="1150" dirty="0">
                    <a:latin typeface="Cambria Math"/>
                  </a:rPr>
                  <a:t>f_iso = 1 − N_AM,linked / N_AM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5449824" y="5669280"/>
            <a:ext cx="3986784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B_i: 입자 i · Ω: 전극 상자 (x · y 주기) · a_ij: 접촉 반지름 · φ: 전위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union = 무작위 점 4×10⁶ 개 (±0.02 %p) · τ_wall 은 기하 최단 경로 (수송 굴곡도와 다름)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2-4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설계인자 정의 및 설계점 데이터셋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설계인자 · 데이터셋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핵심 설계인자 = 전해질 함량 · 바이모달 비 (대:소) · 대 · 소 활물질 입경 · 전해질 입경 → 라틴 하이퍼큐브 130 설계점 + 전해질 과량 64 설계점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설계점마다 구조 · 접촉 위상 · 이온 경로 측정 지표 57 개 (+ 설계 변수 17) 를 열 사전 (정의 · 계산 코드 · 한정어) 과 함께 배포 (10-01) → ML 구조 예측 입력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설계인자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데이터셋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66928" y="3291840"/>
          <a:ext cx="39319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1097280"/>
                <a:gridCol w="6400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설계인자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사양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130 설계점 범위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단위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활물질 함량 (나머지 SE)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81.6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70 – 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wt%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바이모달 비 (대 : 소)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7 : 3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0:10 – 10:0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질량비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대입자 입경 D_P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5 – 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µm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소입자 입경 D_S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 – 5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µm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입경 D_SE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 – 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µm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압력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300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300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MPa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면용량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mAh/cm²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49824" y="3291840"/>
          <a:ext cx="3986783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452"/>
                <a:gridCol w="549901"/>
                <a:gridCol w="224543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묶음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건수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공극률 union (%) 중앙 (범위)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라틴 하이퍼큐브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13.6  (6.1 – 28.8)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과량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6.5  (5.4 – 9.4)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사양 5 조성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17.7  (16.5 – 20.6)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49824" y="4572000"/>
            <a:ext cx="3986784" cy="1783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1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지표 묶음 </a:t>
            </a:r>
          </a:p>
          <a:p>
            <a:pPr algn="l"/>
            <a:r>
              <a:rPr sz="88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구조: 두께 · 공극률 · 전해질 / 활물질 부피분율</a:t>
            </a:r>
          </a:p>
          <a:p>
            <a:pPr algn="l"/>
            <a:r>
              <a:rPr sz="88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접촉 위상: 배위수 (SE–SE · AM–AM · AM–SE) · 계면 수</a:t>
            </a:r>
          </a:p>
          <a:p>
            <a:pPr algn="l"/>
            <a:r>
              <a:rPr sz="88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이온 경로: 전해질 관통 · 벽 기준 굴곡도 · 고립 활물질</a:t>
            </a:r>
          </a:p>
          <a:p>
            <a:pPr algn="l"/>
            <a:r>
              <a:rPr sz="88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피복률: 활물질 표면의 전해질 접촉 면적</a:t>
            </a:r>
          </a:p>
          <a:p>
            <a:pPr algn="l"/>
            <a:r>
              <a:rPr sz="88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• 분해 지표 추가판 (v1.1) </a:t>
            </a:r>
            <a:r>
              <a:rPr sz="880" b="0">
                <a:solidFill>
                  <a:srgbClr val="D95D12"/>
                </a:solidFill>
                <a:latin typeface="Aptos"/>
                <a:ea typeface="KoPubWorld돋움체 Medium"/>
                <a:cs typeface="Aptos"/>
              </a:rPr>
              <a:t>(10월 중 완료 예정)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2-5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기준 전극 (대:소 = 7:3) 의 3차원 압축 구조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3차원 구조 · 주요 값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6 mAh/cm² · 300 MPa 압축 뒤 두께 111.1 µm · 공극률 (union) 16.5 % — 대입자 사이를 소입자와 전해질이 채우는 바이모달 충전 구조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웹앱 3D 뷰어로 상별 분포 · 전해질 접촉망 · 공극 위치 확인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3D 구조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주요 값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566928" y="3273552"/>
            <a:ext cx="3931920" cy="3127248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55B66"/>
                </a:solidFill>
                <a:latin typeface="Aptos"/>
                <a:ea typeface="KoPubWorld돋움체 Medium"/>
                <a:cs typeface="Aptos"/>
              </a:rPr>
              <a:t>[그림] 웹앱 3D 뷰어 캡처</a:t>
            </a:r>
          </a:p>
          <a:p>
            <a:pPr algn="ctr"/>
            <a:r>
              <a:rPr sz="950">
                <a:solidFill>
                  <a:srgbClr val="555B66"/>
                </a:solidFill>
                <a:latin typeface="Aptos"/>
                <a:ea typeface="KoPubWorld돋움체 Medium"/>
                <a:cs typeface="Aptos"/>
              </a:rPr>
              <a:t>input_6mAh_real_4_D9 (7:3)</a:t>
            </a:r>
          </a:p>
          <a:p>
            <a:pPr algn="ctr"/>
            <a:r>
              <a:rPr sz="950">
                <a:solidFill>
                  <a:srgbClr val="555B66"/>
                </a:solidFill>
                <a:latin typeface="Aptos"/>
                <a:ea typeface="KoPubWorld돋움체 Medium"/>
                <a:cs typeface="Aptos"/>
              </a:rPr>
              <a:t>대 · 소 활물질 · 전해질 색 구분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49824" y="3291840"/>
          <a:ext cx="3986783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403"/>
                <a:gridCol w="25203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값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두께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111.1 µm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공극률 (union)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16.49 %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공극률 (구 부피 합)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14.95 %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대 / 소 활물질 수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280 / 1,376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입자 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약 15.9 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σ_ion (mS/cm)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⬜ 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σ_e (mS/cm)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⬜ 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굴곡도 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⬜ 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2-6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바이모달 비 (대:소) 에 따른 공극률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사양 5 조성 · 130 설계점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사양 5 조성: 소입자만 (0:10) 20.6 % → 대입자 비율이 클수록 치밀 · 7:3 (16.5 %) 과 10:0 (16.9 %) 이 최저 구간 · 두께도 7:3 최소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130 설계점 (전해질 함량 · 입경 보정): 대입자 몫 0.7 부근 공극률 최저 (예측 대비 -15.5 % · 탐색적 분석 · R² 0.86)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사양 5 조성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130 설계점 편차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pic>
        <p:nvPicPr>
          <p:cNvPr id="37" name="Picture 36" descr="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4" y="3273552"/>
            <a:ext cx="3661967" cy="2852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6144768"/>
            <a:ext cx="3931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조성당 침대 1 개 · union = 정확 계산 (±0.02 %p)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(origin/G1.ogs) 으로 교체</a:t>
            </a:r>
          </a:p>
        </p:txBody>
      </p:sp>
      <p:pic>
        <p:nvPicPr>
          <p:cNvPr id="39" name="Picture 38" descr="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232" y="3273552"/>
            <a:ext cx="3661967" cy="2852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49824" y="6144768"/>
            <a:ext cx="398678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편차 = 같은 SE 함량 · 입경의 예측 대비 공극률 비 (exp(잔차) − 1) · 조성별 중앙값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(origin/G2.ogs) 으로 교체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2-7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전해질 함량 · 입경의 영향 (130 설계점)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설계인자별 공극률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공극률을 가장 크게 좌우하는 인자는 전해질 함량 — 고체 중 SE 11 vol% (활물질 95 wt%) 24.2 % → 51 vol% (70 wt%) 7.3 % (수준별 중앙값)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대입자 입경 (5 – 15 µm) 의 단독 효과는 작음 — 구간 중앙값 12 – 15 %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전해질 함량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대입자 입경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pic>
        <p:nvPicPr>
          <p:cNvPr id="37" name="Picture 36" descr="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4" y="3273552"/>
            <a:ext cx="3661967" cy="2852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6144768"/>
            <a:ext cx="3931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수준별 점 수: AM 95 21 · AM 90 23 · AM 85 24 · AM 80 21 · AM 75 20 · AM 70 21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(origin/G3.ogs) 으로 교체</a:t>
            </a:r>
          </a:p>
        </p:txBody>
      </p:sp>
      <p:pic>
        <p:nvPicPr>
          <p:cNvPr id="39" name="Picture 38" descr="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232" y="3273552"/>
            <a:ext cx="3661967" cy="2852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49824" y="6144768"/>
            <a:ext cx="398678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구간 점 수: 5-7 21 · 7-9 20 · 9-11 23 · 11-13 21 · 13-15 30 (소입자만 15 점 제외)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(origin/G4.ogs) 으로 교체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2-8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이온 경로 — 전해질 관통 · 굴곡도 · 고립 활물질 (194 설계점)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이온 경로 지표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고체 중 SE 21 % 이하에서 분리막까지 이어지는 전해질 경로가 끊기는 설계점 발생 (130 중 24 건) — 이때 활물질 대부분이 이온적으로 고립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경로가 이어진 설계점의 굴곡도 1.29 – 4.15 · SE 가 많을수록 1 에 가까움 (전해질 과량 64 건: 1.26 – 1.60 · 고립 ≈ 0 %)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벽 기준 굴곡도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고립 활물질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pic>
        <p:nvPicPr>
          <p:cNvPr id="37" name="Picture 36" descr="G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4" y="3273552"/>
            <a:ext cx="3661967" cy="2852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6144768"/>
            <a:ext cx="3931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× = 전해질 경로 없음 (굴곡도 정의 불가) · 기하 최단 경로 기준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(origin/G5a.ogs) 으로 교체</a:t>
            </a:r>
          </a:p>
        </p:txBody>
      </p:sp>
      <p:pic>
        <p:nvPicPr>
          <p:cNvPr id="39" name="Picture 38" descr="G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232" y="3273552"/>
            <a:ext cx="3661967" cy="2852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49824" y="6144768"/>
            <a:ext cx="398678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고립 = 분리막 쪽 전해질 망에 닿지 못한 활물질 (경로 기준)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(origin/G5b.ogs) 으로 교체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2-9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도전재 (VGCF) 함량에 따른 전자 전도도 — 순서 판정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계산 설계 · 결과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사양 7:3 전극에 VGCF 1 – 4 wt% 를 넣어 MPM 압밀 뒤 복셀 해석으로 전자 전도도 계산 — 함량 4 × 격자 3 × 원점 8 = 96 팔 + 재실행 대조 8 팔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함량 순서 (1 &lt; 2 &lt; 3 &lt; 4 wt%) 가 인접 쌍 72 비교 모두에서 유지 → 사전 등록 판정 "순서 견고" · VGCF 탄성계수 10 → 100 GPa 재현도 같은 판정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계산 · 판정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전자 전도도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66928" y="3291840"/>
          <a:ext cx="39319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내용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침대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6 mAh/cm² · 대:소 7:3 · MPM 압밀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도전재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VGCF 1 · 2 · 3 · 4 wt% (+ PTFE 1 wt%)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해석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복셀 유한체적 전자 전도도 (σ_e)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격자 × 원점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0.15 · 0.20 · 0.25 µm × 8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판정 (사전 등록)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인접 함량 쌍 72 비교 · 위반 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재현 (09-30)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VGCF E 100 GPa 104 팔 · 같은 판정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재실행 일치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대조 8 팔 차이 0.00000 %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8" name="Picture 37" descr="G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232" y="3273552"/>
            <a:ext cx="3661967" cy="2852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49824" y="6144768"/>
            <a:ext cx="398678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원점 8 평균 · 원점 간 산포 ≤ 3.4 % · 판정 대상은 순서 (절대값은 격자 의존)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(origin/G6.ogs) 으로 교체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2-10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건식 믹싱 DEM — 활물질 · 전해질 응집 구현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모델 · 계산 조건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회전 드럼에 대 · 소 활물질과 전해질을 층상 장입 (아래 활물질 · 위 전해질) 후 8 회전 · 입자 점착 (van der Waals) 을 SJKR 접촉 점착력으로 구현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혼합 정도 = Lacey 혼합지수 M (0 미혼합 · 1 무작위 완전 혼합) · 코팅 모사 = 활물질 표면 점착 에너지 밀도를 낮춘 조건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지배 방정식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계산 조건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37" name="수식 37"/>
              <p:cNvSpPr txBox="1"/>
              <p:nvPr/>
            </p:nvSpPr>
            <p:spPr>
              <a:xfrm>
                <a:off x="566928" y="3273552"/>
                <a:ext cx="3931920" cy="210312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e>
                      </m:rad>
                      <m:sSup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coh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coh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2π</m:t>
                      </m:r>
                      <m:sSup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altLang="ko-KR" sz="12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ko-KR" sz="1200" dirty="0">
                          <a:latin typeface="Cambria Math" panose="02040503050406030204" pitchFamily="18" charset="0"/>
                        </a:rPr>
                        <m:t>Bo</m:t>
                      </m:r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coh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g</m:t>
                          </m:r>
                        </m:den>
                      </m:f>
                    </m:oMath>
                  </m:oMathPara>
                </a14:m>
                <a:endParaRPr lang="en-US" altLang="ko-KR" sz="12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altLang="ko-KR" sz="12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sSub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  <m:sup>
                              <m:r>
                                <a:rPr lang="en-US" altLang="ko-KR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ko-KR" sz="1200" dirty="0"/>
              </a:p>
            </p:txBody>
          </p:sp>
        </mc:Choice>
        <mc:Fallback>
          <p:sp>
            <p:nvSpPr>
              <p:cNvPr id="37" name="수식 37"/>
              <p:cNvSpPr txBox="1"/>
              <p:nvPr/>
            </p:nvSpPr>
            <p:spPr>
              <a:xfrm>
                <a:off x="566928" y="3273552"/>
                <a:ext cx="3931920" cy="210312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ko-KR" sz="1200" dirty="0">
                    <a:latin typeface="Cambria Math"/>
                  </a:rPr>
                  <a:t>F_n = (4/3) E* √R* δ^(3/2) − γ_n v_n − F_coh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200" dirty="0">
                    <a:latin typeface="Cambria Math"/>
                  </a:rPr>
                  <a:t>F_coh = k_c · 2π R* δ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200" dirty="0">
                    <a:latin typeface="Cambria Math"/>
                  </a:rPr>
                  <a:t>Bo = F_coh / (m g)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200" dirty="0">
                    <a:latin typeface="Cambria Math"/>
                  </a:rPr>
                  <a:t>M(t) = (S0² − S²(t)) / (S0² − S_R²)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6928" y="5449824"/>
            <a:ext cx="393192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k_c: 점착 에너지 밀도 (J/m³) · Bo: Bond 수 · S²: 칸별 활물질 부피분율 분산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S0²: 층상 장입 직후 · S_R²: 무작위 균일 장입 (기준 런)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49824" y="3291840"/>
          <a:ext cx="3986783" cy="2921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277"/>
                <a:gridCol w="2749506"/>
              </a:tblGrid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값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입자 (3 상)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대 9 · 소 4 · 전해질 1 µm (조대화 ×151)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배치 · 입자 수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2 g · 100,000 개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드럼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반지름 13.1 mm · 75 rpm · 8 회전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LC (코팅 모사)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AM–AM Bo 0.00109 · 시드 3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LB1 · LB2 · LB3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Bo 0.1 · 0.5 · 1.5 · 시드 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LA (기준)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Bo 3.0 · 시드 3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L0 (음성 대조)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점착 0 (전 쌍) · 시드 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E0 (무작위 기준)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점착 0 · 무회전 · 시드 3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층상 장입 건식 믹싱 결과 (8 회전) — 사전 등록 판정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결과 · 판정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10 런 모두 8 회전 뒤 M 0.96 – 1.00 (점착 0 대조 포함) — 이 판정 칸 규모에서는 점착 설정과 무관하게 혼합이 거의 끝남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코팅 모사 (LC) − 기준 (LA): Δ = +0.001 ± 0.007 (시드 3 쌍) → 등록된 "무분리" 범주 — 효과가 없다는 뜻이 아니라 이 해상도에서 가를 수 없음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혼합지수 M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판정 (사전 등록)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pic>
        <p:nvPicPr>
          <p:cNvPr id="37" name="Picture 36" descr="G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4" y="3273552"/>
            <a:ext cx="3661967" cy="2852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6144768"/>
            <a:ext cx="3931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막대 = 8 회전째 25 프레임 평균 · 오차 = 런내부 SD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미리보기 — Origin (origin/G7.ogs) 으로 교체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49824" y="3291840"/>
          <a:ext cx="398678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277"/>
                <a:gridCol w="274950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결과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주 비교 (16×16×4)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Δ +0.0012 · SE 0.0073 → 무분리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판정선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Δ ≥ 0.10 이고 ≥ 2·SE → 차이 있음 · |Δ| ≤ SE → 무분리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음성 대조 L0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M 0.97 – 0.99 ≥ 0.8 → 통과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바닥 검사 · 평탄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10/10 · 30/30 통과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사다리 (LB1→LA)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단조 아님 (런내부 SD 안)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449824" y="5559552"/>
            <a:ext cx="398678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코팅 모사 = 활물질 표면 점착 (AM–AM · AM–벽) 을 함께 낮춘 모델 조건 — 실제 코팅 공정 재현이 아님</a:t>
            </a:r>
          </a:p>
          <a:p>
            <a:pPr algn="l"/>
            <a:r>
              <a:rPr sz="800" b="0">
                <a:solidFill>
                  <a:srgbClr val="555B66"/>
                </a:solidFill>
                <a:latin typeface="맑은 고딕"/>
                <a:ea typeface="맑은 고딕"/>
                <a:cs typeface="맑은 고딕"/>
              </a:rPr>
              <a:t>판정선 · 칸 · 시드 · 회전 수는 결과를 보기 전에 등록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2-12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고점착 조건 확장 — 표면 점착 저감 (코팅 대리) 효과 (10월 중 완료 예정)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계산 설계 · 결과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점착이 큰 조건 (AM–AM Bo 38.4) 에서 표면 점착 저감 (코팅 대리) 이 혼합 진척을 바꾸는지 확인 — 판정선 사전 등록 · 외부 검토 반영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⬜ (10월 중 완료 예정)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계산 설계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결과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66928" y="3291840"/>
          <a:ext cx="39319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39"/>
                <a:gridCol w="269747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내용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비교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LC (코팅 대리) ↔ LH (고점착)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점착 (AM–AM Bo)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LC 0.00109 · LH 38.4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시드 · 회전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시드 3 · 8 회전 (4 회전 중간 판정)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판정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결과 전 등록 (중간 · 최종)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검증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강성 · 시간 간격 민감도 · 접촉 겹침 점검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5449824" y="3273552"/>
            <a:ext cx="3986784" cy="3127248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55B66"/>
                </a:solidFill>
                <a:latin typeface="Aptos"/>
                <a:ea typeface="KoPubWorld돋움체 Medium"/>
                <a:cs typeface="Aptos"/>
              </a:rPr>
              <a:t>혼합지수 M (LC · LH) · Δ · 판정</a:t>
            </a:r>
          </a:p>
          <a:p>
            <a:pPr algn="ctr"/>
            <a:r>
              <a:rPr sz="950">
                <a:solidFill>
                  <a:srgbClr val="D95D12"/>
                </a:solidFill>
                <a:latin typeface="Aptos"/>
                <a:ea typeface="KoPubWorld돋움체 Medium"/>
                <a:cs typeface="Aptos"/>
              </a:rPr>
              <a:t>⬜ (10월 중 완료 예정)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2-13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요약 및 향후 계획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2424276"/>
            <a:ext cx="905256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latin typeface="Aptos"/>
                <a:ea typeface="KoPubWorld돋움체 Medium"/>
                <a:cs typeface="Aptos"/>
              </a:rPr>
              <a:t>요약 · 향후 계획</a:t>
            </a:r>
            <a:endParaRPr lang="en-US" altLang="ko-KR" sz="1400" b="1" kern="0" spc="-100" dirty="0">
              <a:solidFill>
                <a:prstClr val="black"/>
              </a:solidFill>
              <a:latin typeface="Aptos"/>
              <a:ea typeface="KoPubWorld돋움체 Medium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DEM 압축 모델로 전해질 함량 · 바이모달 비 · 입경 · 도전재가 후막 미세구조와 이온 · 전자 경로에 주는 영향을 정량 (194 설계점 · 사양 5 조성)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  <a:cs typeface="맑은 고딕"/>
              </a:rPr>
              <a:t>이온 경로는 전해질 함량이 지배 (고체 중 SE 21 % 이하에서 단절) · 같은 함량에서는 대입자 몫 0.7 부근이 가장 치밀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B6890-1C54-435F-A585-4C09CCA95517}"/>
              </a:ext>
            </a:extLst>
          </p:cNvPr>
          <p:cNvGrpSpPr/>
          <p:nvPr/>
        </p:nvGrpSpPr>
        <p:grpSpPr>
          <a:xfrm>
            <a:off x="344488" y="2814396"/>
            <a:ext cx="4332089" cy="3701844"/>
            <a:chOff x="2640858" y="2797390"/>
            <a:chExt cx="4624283" cy="39515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15F041B-3E90-47DF-9DCF-F4B47E00C062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0EFDE6A-B3DD-455C-B122-611A6BDABC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28" name="사각형: 둥근 모서리 13">
                <a:extLst>
                  <a:ext uri="{FF2B5EF4-FFF2-40B4-BE49-F238E27FC236}">
                    <a16:creationId xmlns:a16="http://schemas.microsoft.com/office/drawing/2014/main" id="{8194CA66-6120-4D65-A96D-5601D7DD0EDA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BED619D-B866-46F6-87B3-F36BD310BE6E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설계 지침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5E22C0-D8A8-4E4C-8AA7-2AEE3BBDDF59}"/>
                </a:ext>
              </a:extLst>
            </p:cNvPr>
            <p:cNvSpPr txBox="1"/>
            <p:nvPr/>
          </p:nvSpPr>
          <p:spPr>
            <a:xfrm>
              <a:off x="2846246" y="2898639"/>
              <a:ext cx="1913366" cy="274728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71CA9C-3D90-467E-B1E2-60E539176591}"/>
              </a:ext>
            </a:extLst>
          </p:cNvPr>
          <p:cNvGrpSpPr/>
          <p:nvPr/>
        </p:nvGrpSpPr>
        <p:grpSpPr>
          <a:xfrm>
            <a:off x="5229425" y="2814396"/>
            <a:ext cx="4403525" cy="3762888"/>
            <a:chOff x="2640858" y="2797390"/>
            <a:chExt cx="4624283" cy="39515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884391-C360-432B-9963-CB09E0EEA941}"/>
                </a:ext>
              </a:extLst>
            </p:cNvPr>
            <p:cNvGrpSpPr/>
            <p:nvPr/>
          </p:nvGrpSpPr>
          <p:grpSpPr>
            <a:xfrm>
              <a:off x="2640858" y="2814395"/>
              <a:ext cx="4624283" cy="3934524"/>
              <a:chOff x="4437181" y="1680127"/>
              <a:chExt cx="5220000" cy="4788000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011CC0A6-6D6A-41E6-A75D-39D12B7506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181" y="1680127"/>
                <a:ext cx="5220000" cy="4788000"/>
              </a:xfrm>
              <a:prstGeom prst="rect">
                <a:avLst/>
              </a:prstGeom>
            </p:spPr>
          </p:pic>
          <p:sp>
            <p:nvSpPr>
              <p:cNvPr id="36" name="사각형: 둥근 모서리 13">
                <a:extLst>
                  <a:ext uri="{FF2B5EF4-FFF2-40B4-BE49-F238E27FC236}">
                    <a16:creationId xmlns:a16="http://schemas.microsoft.com/office/drawing/2014/main" id="{2FCAAEA5-7F03-48B1-8D8A-45810B49044D}"/>
                  </a:ext>
                </a:extLst>
              </p:cNvPr>
              <p:cNvSpPr/>
              <p:nvPr/>
            </p:nvSpPr>
            <p:spPr>
              <a:xfrm>
                <a:off x="4646837" y="2183101"/>
                <a:ext cx="4860000" cy="4176000"/>
              </a:xfrm>
              <a:prstGeom prst="roundRect">
                <a:avLst>
                  <a:gd name="adj" fmla="val 2438"/>
                </a:avLst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ExtraBold" panose="020B0600000101010101" charset="-127"/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9A89EE-1BA6-4C4E-B836-C5106A09B430}"/>
                </a:ext>
              </a:extLst>
            </p:cNvPr>
            <p:cNvSpPr/>
            <p:nvPr/>
          </p:nvSpPr>
          <p:spPr>
            <a:xfrm>
              <a:off x="5158414" y="2797390"/>
              <a:ext cx="1899341" cy="3077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Tx/>
                <a:buFontTx/>
                <a:buNone/>
                <a:tabLst/>
                <a:defRPr>
                  <a:latin typeface="Aptos"/>
                  <a:ea typeface="KoPubWorld돋움체 Medium"/>
                  <a:cs typeface="Aptos"/>
                </a:defRPr>
              </a:pP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ptos"/>
                  <a:ea typeface="KoPubWorld돋움체 Medium"/>
                  <a:cs typeface="Aptos"/>
                </a:rPr>
                <a:t>향후 계획</a:t>
              </a:r>
              <a:endParaRPr kumimoji="1" lang="en-US" altLang="ko-KR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2700000" scaled="1"/>
                </a:gradFill>
                <a:effectLst/>
                <a:uLnTx/>
                <a:uFillTx/>
                <a:latin typeface="Aptos"/>
                <a:ea typeface="KoPubWorld돋움체 Medium"/>
                <a:cs typeface="Apto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D6324F-EFD6-4BA8-9486-3B26889B603D}"/>
                </a:ext>
              </a:extLst>
            </p:cNvPr>
            <p:cNvSpPr txBox="1"/>
            <p:nvPr/>
          </p:nvSpPr>
          <p:spPr>
            <a:xfrm>
              <a:off x="2846246" y="2898640"/>
              <a:ext cx="1913366" cy="270271"/>
            </a:xfrm>
            <a:prstGeom prst="rect">
              <a:avLst/>
            </a:prstGeom>
            <a:noFill/>
          </p:spPr>
          <p:txBody>
            <a:bodyPr wrap="square" lIns="0" tIns="36000" rIns="0" bIns="36000">
              <a:spAutoFit/>
            </a:bodyPr>
            <a:lstStyle/>
            <a:p>
              <a:r>
                <a:rPr kumimoji="1" lang="ko-KR" altLang="en-US" sz="1200" b="1" spc="-50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Aptos"/>
                  <a:ea typeface="KoPubWorld돋움체 Medium"/>
                  <a:cs typeface="Aptos"/>
                </a:rPr>
                <a:t> 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66928" y="3273552"/>
            <a:ext cx="3931920" cy="3127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① 전해질 함량  </a:t>
            </a:r>
            <a:r>
              <a:rPr sz="95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고체 중 SE &gt; 21 vol % 관통 100 % · ≥ 37 vol % (활물질 ≤ 80 wt%) 면 모든 설계점 고립 &lt; 13 %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② 바이모달 비  </a:t>
            </a:r>
            <a:r>
              <a:rPr sz="95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대 : 소 ≈ 7 : 3 — 가장 치밀 · 얇음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③ 도전재  </a:t>
            </a:r>
            <a:r>
              <a:rPr sz="95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VGCF 함량 순서 견고 — 목표 전자 전도도에 맞춰 선택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④ 건식 믹싱  </a:t>
            </a:r>
            <a:r>
              <a:rPr sz="950" b="0">
                <a:solidFill>
                  <a:srgbClr val="262626"/>
                </a:solidFill>
                <a:latin typeface="Aptos"/>
                <a:ea typeface="KoPubWorld돋움체 Medium"/>
                <a:cs typeface="Aptos"/>
              </a:rPr>
              <a:t>8 회전이면 칸 규모 균일 · 코팅 대리 효과는 고점착 조건에서 판정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49824" y="3291840"/>
          <a:ext cx="398678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277"/>
                <a:gridCol w="1603878"/>
                <a:gridCol w="114562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항목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내용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시기</a:t>
                      </a:r>
                    </a:p>
                  </a:txBody>
                  <a:tcPr marL="36576" marR="36576" marT="9144" marB="9144" anchor="ctr">
                    <a:solidFill>
                      <a:srgbClr val="1F3A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사양 5 조성 수송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σ_ion · σ_e · 굴곡도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고점착 믹싱 판정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LC ↔ LH (확인 런)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데이터셋 v1.1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분해 지표 · 구조 예측 ML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D95D12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(10월 중 완료 예정)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MPM 연계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전해질 소성 형상 · 하중 분담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3차년도</a:t>
                      </a:r>
                    </a:p>
                  </a:txBody>
                  <a:tcPr marL="36576" marR="36576" marT="9144" marB="9144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열화 연계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사이클 접촉 손실 · 임피던스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262626"/>
                          </a:solidFill>
                          <a:latin typeface="Aptos"/>
                          <a:ea typeface="KoPubWorld돋움체 Medium"/>
                          <a:cs typeface="Aptos"/>
                        </a:rPr>
                        <a:t>3차년도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03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5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rgbClr val="E83F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및 논의 필요 사항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0920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1910-CC7B-B5D5-583F-B9A4BAA5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246">
            <a:extLst>
              <a:ext uri="{FF2B5EF4-FFF2-40B4-BE49-F238E27FC236}">
                <a16:creationId xmlns:a16="http://schemas.microsoft.com/office/drawing/2014/main" id="{00602C30-70A5-4C42-97EB-875A2D13FFED}"/>
              </a:ext>
            </a:extLst>
          </p:cNvPr>
          <p:cNvSpPr/>
          <p:nvPr/>
        </p:nvSpPr>
        <p:spPr>
          <a:xfrm>
            <a:off x="665059" y="1187692"/>
            <a:ext cx="8575882" cy="5423101"/>
          </a:xfrm>
          <a:prstGeom prst="roundRect">
            <a:avLst>
              <a:gd name="adj" fmla="val 1947"/>
            </a:avLst>
          </a:prstGeom>
          <a:gradFill>
            <a:gsLst>
              <a:gs pos="0">
                <a:srgbClr val="FFFFFF"/>
              </a:gs>
              <a:gs pos="100000">
                <a:srgbClr val="FBFBFB"/>
              </a:gs>
            </a:gsLst>
            <a:lin ang="3000000" scaled="0"/>
          </a:grad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kumimoji="1" lang="en-US" altLang="ko-KR" sz="1200" ker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defTabSz="914377"/>
            <a:endParaRPr kumimoji="1" lang="en-US" altLang="ko-KR" sz="1200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제목 38">
            <a:extLst>
              <a:ext uri="{FF2B5EF4-FFF2-40B4-BE49-F238E27FC236}">
                <a16:creationId xmlns:a16="http://schemas.microsoft.com/office/drawing/2014/main" id="{D8933D14-C2AD-4779-ACDA-E3393B8B5C43}"/>
              </a:ext>
            </a:extLst>
          </p:cNvPr>
          <p:cNvSpPr txBox="1">
            <a:spLocks/>
          </p:cNvSpPr>
          <p:nvPr/>
        </p:nvSpPr>
        <p:spPr>
          <a:xfrm>
            <a:off x="2105027" y="504264"/>
            <a:ext cx="6795647" cy="512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9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rgbClr val="002060"/>
                </a:solidFill>
              </a:rPr>
              <a:t>요청사항 및 논의 필요 사항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9971FC2-86AD-4C43-B981-85CAFAF1B890}"/>
              </a:ext>
            </a:extLst>
          </p:cNvPr>
          <p:cNvCxnSpPr>
            <a:cxnSpLocks/>
          </p:cNvCxnSpPr>
          <p:nvPr/>
        </p:nvCxnSpPr>
        <p:spPr>
          <a:xfrm>
            <a:off x="908298" y="1632458"/>
            <a:ext cx="1196728" cy="0"/>
          </a:xfrm>
          <a:prstGeom prst="line">
            <a:avLst/>
          </a:prstGeom>
          <a:ln w="19050">
            <a:solidFill>
              <a:srgbClr val="243F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6BA3BA-1522-4931-9E16-97718236D463}"/>
              </a:ext>
            </a:extLst>
          </p:cNvPr>
          <p:cNvSpPr txBox="1"/>
          <p:nvPr/>
        </p:nvSpPr>
        <p:spPr>
          <a:xfrm>
            <a:off x="1038134" y="1316271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+mj-ea"/>
              </a:rPr>
              <a:t>요청 사항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13F188-A261-4307-9D44-70DC4907CFE4}"/>
              </a:ext>
            </a:extLst>
          </p:cNvPr>
          <p:cNvSpPr/>
          <p:nvPr/>
        </p:nvSpPr>
        <p:spPr>
          <a:xfrm>
            <a:off x="908299" y="1336846"/>
            <a:ext cx="129835" cy="297404"/>
          </a:xfrm>
          <a:prstGeom prst="rect">
            <a:avLst/>
          </a:prstGeom>
          <a:solidFill>
            <a:srgbClr val="214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7A634-1CC0-5646-70B5-84815BBC17C1}"/>
              </a:ext>
            </a:extLst>
          </p:cNvPr>
          <p:cNvSpPr txBox="1"/>
          <p:nvPr/>
        </p:nvSpPr>
        <p:spPr>
          <a:xfrm>
            <a:off x="1006714" y="1743757"/>
            <a:ext cx="7509618" cy="104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ko-KR" altLang="en-US" sz="1400" b="1" kern="0" dirty="0">
                <a:latin typeface="+mj-ea"/>
              </a:rPr>
              <a:t> </a:t>
            </a:r>
            <a:r>
              <a:rPr kumimoji="1" lang="ko-KR" altLang="en-US" sz="1400" b="1" kern="0" dirty="0" err="1">
                <a:latin typeface="+mj-ea"/>
              </a:rPr>
              <a:t>ㅇㅇ</a:t>
            </a:r>
            <a:r>
              <a:rPr kumimoji="1" lang="ko-KR" altLang="en-US" sz="1400" b="1" kern="0" dirty="0">
                <a:latin typeface="+mj-ea"/>
              </a:rPr>
              <a:t> 관련 요청사항</a:t>
            </a:r>
            <a:endParaRPr kumimoji="1" lang="en-US" altLang="ko-KR" sz="1400" b="1" kern="0" dirty="0">
              <a:latin typeface="+mj-ea"/>
            </a:endParaRPr>
          </a:p>
          <a:p>
            <a:pPr>
              <a:lnSpc>
                <a:spcPct val="150000"/>
              </a:lnSpc>
            </a:pPr>
            <a:endParaRPr kumimoji="1" lang="en-US" altLang="ko-KR" sz="500" b="1" kern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1. </a:t>
            </a:r>
            <a:r>
              <a:rPr kumimoji="1" lang="ko-KR" altLang="en-US" sz="1200" b="1" kern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kumimoji="1" lang="en-US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</a:tabLst>
            </a:pPr>
            <a:r>
              <a:rPr kumimoji="1"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kumimoji="1" lang="en-US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F02853-C430-4DBC-AD69-CC448F9A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81" y="553480"/>
            <a:ext cx="1226705" cy="41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8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3904</TotalTime>
  <Words>725</Words>
  <Application>Microsoft Office PowerPoint</Application>
  <PresentationFormat>A4 용지(210x297mm)</PresentationFormat>
  <Paragraphs>239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4" baseType="lpstr">
      <vt:lpstr>Microsoft GothicNeo</vt:lpstr>
      <vt:lpstr>Pretendard ExtraBold</vt:lpstr>
      <vt:lpstr>SimSun</vt:lpstr>
      <vt:lpstr>나눔고딕</vt:lpstr>
      <vt:lpstr>나눔고딕</vt:lpstr>
      <vt:lpstr>나눔바른고딕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연구기획팀 박시은</dc:creator>
  <cp:lastModifiedBy>A2504008</cp:lastModifiedBy>
  <cp:revision>423</cp:revision>
  <dcterms:created xsi:type="dcterms:W3CDTF">2026-03-05T23:52:16Z</dcterms:created>
  <dcterms:modified xsi:type="dcterms:W3CDTF">2026-09-29T00:33:30Z</dcterms:modified>
</cp:coreProperties>
</file>