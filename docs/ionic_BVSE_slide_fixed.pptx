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1316" r:id="rId21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1AFF1A"/>
    <a:srgbClr val="8080FF"/>
    <a:srgbClr val="FF8080"/>
    <a:srgbClr val="64C5FF"/>
    <a:srgbClr val="FDAAAA"/>
    <a:srgbClr val="0000FF"/>
    <a:srgbClr val="41B541"/>
    <a:srgbClr val="6AE76A"/>
    <a:srgbClr val="FBE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19F00-B1F4-48DC-B11E-F9F0ACB154A1}" v="110" dt="2026-03-03T06:11:15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9" autoAdjust="0"/>
    <p:restoredTop sz="95260" autoAdjust="0"/>
  </p:normalViewPr>
  <p:slideViewPr>
    <p:cSldViewPr showGuides="1">
      <p:cViewPr varScale="1">
        <p:scale>
          <a:sx n="80" d="100"/>
          <a:sy n="80" d="100"/>
        </p:scale>
        <p:origin x="1068" y="78"/>
      </p:cViewPr>
      <p:guideLst>
        <p:guide orient="horz" pos="89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8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r">
              <a:defRPr sz="1100"/>
            </a:lvl1pPr>
          </a:lstStyle>
          <a:p>
            <a:fld id="{785B0769-355D-4F7A-9BBB-FB4B4242278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8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r">
              <a:defRPr sz="1100"/>
            </a:lvl1pPr>
          </a:lstStyle>
          <a:p>
            <a:fld id="{6F53F785-4121-48C3-9976-6CF0E478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54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r">
              <a:defRPr sz="1100"/>
            </a:lvl1pPr>
          </a:lstStyle>
          <a:p>
            <a:fld id="{3C888668-3DAB-4CC6-8B29-40D6FCB1E1B6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8" tIns="45501" rIns="90998" bIns="455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52"/>
            <a:ext cx="5438140" cy="3908860"/>
          </a:xfrm>
          <a:prstGeom prst="rect">
            <a:avLst/>
          </a:prstGeom>
        </p:spPr>
        <p:txBody>
          <a:bodyPr vert="horz" lIns="90998" tIns="45501" rIns="90998" bIns="4550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r">
              <a:defRPr sz="1100"/>
            </a:lvl1pPr>
          </a:lstStyle>
          <a:p>
            <a:fld id="{C0D08264-4636-41C1-92C7-DB593C887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8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5283-C68E-32CC-C582-7786A979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3D1F25-D78E-C923-0F6E-6A05B5939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F731A9-C86B-E8CC-FC7D-B01C24D0F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2A9FB-1B79-F59A-42FC-9FA4FE59E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4201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4E79-B82E-470C-9377-0AC7F4542FB2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/>
          <p:cNvSpPr txBox="1">
            <a:spLocks/>
          </p:cNvSpPr>
          <p:nvPr userDrawn="1"/>
        </p:nvSpPr>
        <p:spPr>
          <a:xfrm>
            <a:off x="8604448" y="6571815"/>
            <a:ext cx="432048" cy="19174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85439E-65BC-4904-94CE-9CE86FCE3B8A}" type="slidenum">
              <a:rPr lang="ko-KR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바른돋움 1" pitchFamily="18" charset="-127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바른돋움 1" pitchFamily="18" charset="-127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5FB8FCC-2F2C-42E2-A25B-47C1D550EB32}"/>
              </a:ext>
            </a:extLst>
          </p:cNvPr>
          <p:cNvCxnSpPr/>
          <p:nvPr userDrawn="1"/>
        </p:nvCxnSpPr>
        <p:spPr>
          <a:xfrm>
            <a:off x="386910" y="836712"/>
            <a:ext cx="8351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CBE823-65F2-459A-8192-8848CACE68B6}"/>
              </a:ext>
            </a:extLst>
          </p:cNvPr>
          <p:cNvSpPr/>
          <p:nvPr userDrawn="1"/>
        </p:nvSpPr>
        <p:spPr>
          <a:xfrm>
            <a:off x="1835696" y="6465849"/>
            <a:ext cx="146899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latinLnBrk="0"/>
            <a:r>
              <a:rPr lang="en-US" altLang="ko-KR" sz="1100" i="0" kern="0" spc="-3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Battery Materials Lab.</a:t>
            </a:r>
            <a:endParaRPr kumimoji="0" lang="ko-KR" altLang="en-US" sz="1400" i="0" u="none" strike="noStrike" kern="0" cap="none" spc="-30" normalizeH="0" baseline="0" noProof="0" dirty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DFA539-8737-C042-478D-D3B5D9943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2" t="-7082" r="-1"/>
          <a:stretch/>
        </p:blipFill>
        <p:spPr>
          <a:xfrm>
            <a:off x="106678" y="6372426"/>
            <a:ext cx="1683211" cy="4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9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44E79-B82E-470C-9377-0AC7F4542FB2}" type="datetimeFigureOut">
              <a:rPr lang="ko-KR" altLang="en-US" smtClean="0"/>
              <a:pPr/>
              <a:t>2026-06-18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6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4F758-F4FC-86F3-C012-7F4262C8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84531F13-17FF-F395-98E7-869B803EE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56" y="984937"/>
            <a:ext cx="8586344" cy="1602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65113" indent="-265113" latinLnBrk="0">
              <a:lnSpc>
                <a:spcPct val="15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ko-KR" altLang="ko-KR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Cross-check</a:t>
            </a:r>
            <a:r>
              <a:rPr kumimoji="1" lang="ko-KR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#4: The </a:t>
            </a:r>
            <a:r>
              <a:rPr kumimoji="1" lang="ko-KR" altLang="ko-KR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kumimoji="1" lang="ko-KR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ko-KR" altLang="ko-KR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kumimoji="1" lang="ko-KR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ko-KR" altLang="ko-KR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splits</a:t>
            </a:r>
            <a:r>
              <a:rPr kumimoji="1" lang="ko-KR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ko-KR" altLang="ko-KR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kumimoji="1" lang="ko-KR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ko-KR" altLang="ko-KR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kumimoji="1" lang="ko-KR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kumimoji="1" lang="ko-KR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BVSE </a:t>
            </a:r>
            <a:r>
              <a:rPr kumimoji="1" lang="ko-KR" altLang="ko-KR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bimodal</a:t>
            </a:r>
            <a:endParaRPr kumimoji="1" lang="en-US" altLang="ko-KR" dirty="0">
              <a:solidFill>
                <a:schemeClr val="bg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750" lvl="0" indent="-285750" latinLnBrk="0">
              <a:lnSpc>
                <a:spcPct val="15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LPSCl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one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narrow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population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— 3000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at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BVS 1.60–1.64 (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σ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0.016)</a:t>
            </a:r>
            <a:endParaRPr kumimoji="1" lang="en-US" altLang="ko-KR" sz="1500" dirty="0">
              <a:solidFill>
                <a:schemeClr val="bg1"/>
              </a:solidFill>
              <a:latin typeface="Calibri" panose="020F0502020204030204" pitchFamily="34" charset="0"/>
              <a:ea typeface="-윤고딕340" pitchFamily="18" charset="-127"/>
              <a:cs typeface="Calibri" panose="020F0502020204030204" pitchFamily="34" charset="0"/>
            </a:endParaRPr>
          </a:p>
          <a:p>
            <a:pPr marL="573750" lvl="0" indent="-285750" latinLnBrk="0">
              <a:lnSpc>
                <a:spcPct val="15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LPSCl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₁.₆: </a:t>
            </a:r>
            <a:r>
              <a:rPr kumimoji="1" lang="ko-KR" altLang="ko-KR" sz="1500" dirty="0" err="1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bimodal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— 39.8% </a:t>
            </a:r>
            <a:r>
              <a:rPr kumimoji="1" lang="en-US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LPSCl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-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like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+ 60.2%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shifted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+15%</a:t>
            </a:r>
            <a:endParaRPr kumimoji="1" lang="en-US" altLang="ko-KR" sz="1500" dirty="0">
              <a:solidFill>
                <a:srgbClr val="0070C0"/>
              </a:solidFill>
              <a:latin typeface="Calibri" panose="020F0502020204030204" pitchFamily="34" charset="0"/>
              <a:ea typeface="-윤고딕340" pitchFamily="18" charset="-127"/>
              <a:cs typeface="Calibri" panose="020F0502020204030204" pitchFamily="34" charset="0"/>
            </a:endParaRPr>
          </a:p>
          <a:p>
            <a:pPr marL="573750" lvl="0" indent="-285750" latinLnBrk="0">
              <a:lnSpc>
                <a:spcPct val="15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1626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high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-BVS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/ 300 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anti-site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Cl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= </a:t>
            </a:r>
            <a:r>
              <a:rPr kumimoji="1" lang="ko-KR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5.4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per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anti-site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—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matches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–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Cl</a:t>
            </a:r>
            <a:r>
              <a:rPr kumimoji="1" lang="ko-KR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</a:t>
            </a:r>
            <a:r>
              <a:rPr kumimoji="1" lang="ko-KR" altLang="ko-KR" sz="1500" dirty="0" err="1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coordination</a:t>
            </a:r>
            <a:endParaRPr kumimoji="1" lang="en-US" altLang="ko-KR" sz="1500" dirty="0">
              <a:solidFill>
                <a:schemeClr val="bg1"/>
              </a:solidFill>
              <a:latin typeface="Calibri" panose="020F0502020204030204" pitchFamily="34" charset="0"/>
              <a:ea typeface="-윤고딕340" pitchFamily="18" charset="-127"/>
              <a:cs typeface="Calibri" panose="020F05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206037-B642-DD14-E124-E6FD6C18FB6D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DFT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1CA9C7-6033-CC71-31F1-E90E01A21EE3}"/>
              </a:ext>
            </a:extLst>
          </p:cNvPr>
          <p:cNvSpPr txBox="1"/>
          <p:nvPr/>
        </p:nvSpPr>
        <p:spPr>
          <a:xfrm>
            <a:off x="2833420" y="389562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BVS: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bond-valence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virtual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ideal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≈ 1;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deviation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ko-KR" altLang="ko-KR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ko-KR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ko-KR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paired 5×5×5: identical cubic lattice (50.275 Å) · grid 100³ · cutoff 5 Å — only chemistry differs</a:t>
            </a:r>
            <a:endParaRPr lang="ko-KR" altLang="ko-KR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0B33C7A-AF7B-9E90-F1A6-54A42767715A}"/>
              </a:ext>
            </a:extLst>
          </p:cNvPr>
          <p:cNvGrpSpPr/>
          <p:nvPr/>
        </p:nvGrpSpPr>
        <p:grpSpPr>
          <a:xfrm>
            <a:off x="125158" y="3037125"/>
            <a:ext cx="4846596" cy="2483294"/>
            <a:chOff x="4232" y="3135563"/>
            <a:chExt cx="4846596" cy="2483294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6CA36A1B-E087-4509-63A5-32DDF6E5925B}"/>
                </a:ext>
              </a:extLst>
            </p:cNvPr>
            <p:cNvGrpSpPr/>
            <p:nvPr/>
          </p:nvGrpSpPr>
          <p:grpSpPr>
            <a:xfrm>
              <a:off x="395536" y="3258674"/>
              <a:ext cx="3988316" cy="2199716"/>
              <a:chOff x="395536" y="3258674"/>
              <a:chExt cx="3988316" cy="2199716"/>
            </a:xfrm>
          </p:grpSpPr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696CBC00-B013-5BED-1951-23B30E0FAB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6194"/>
              <a:stretch>
                <a:fillRect/>
              </a:stretch>
            </p:blipFill>
            <p:spPr>
              <a:xfrm>
                <a:off x="395536" y="3258674"/>
                <a:ext cx="3988316" cy="1898518"/>
              </a:xfrm>
              <a:prstGeom prst="rect">
                <a:avLst/>
              </a:prstGeom>
            </p:spPr>
          </p:pic>
          <p:pic>
            <p:nvPicPr>
              <p:cNvPr id="69" name="그림 68">
                <a:extLst>
                  <a:ext uri="{FF2B5EF4-FFF2-40B4-BE49-F238E27FC236}">
                    <a16:creationId xmlns:a16="http://schemas.microsoft.com/office/drawing/2014/main" id="{303E36D0-D8C8-DDB8-C72C-59AEE7487D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544" y="5134495"/>
                <a:ext cx="3817263" cy="323895"/>
              </a:xfrm>
              <a:prstGeom prst="rect">
                <a:avLst/>
              </a:prstGeom>
            </p:spPr>
          </p:pic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B03BD0C-28FB-49CD-C2BD-5ED94937E675}"/>
                </a:ext>
              </a:extLst>
            </p:cNvPr>
            <p:cNvSpPr txBox="1"/>
            <p:nvPr/>
          </p:nvSpPr>
          <p:spPr>
            <a:xfrm>
              <a:off x="101800" y="3135563"/>
              <a:ext cx="474902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 </a:t>
              </a:r>
              <a:r>
                <a:rPr lang="ko-KR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Li-accessible</a:t>
              </a:r>
              <a:r>
                <a:rPr lang="ko-KR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ko-KR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channels</a:t>
              </a:r>
              <a:r>
                <a:rPr lang="ko-KR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— </a:t>
              </a:r>
              <a:r>
                <a:rPr lang="ko-KR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only</a:t>
              </a:r>
              <a:r>
                <a:rPr lang="ko-KR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ko-KR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low-energy</a:t>
              </a:r>
              <a:r>
                <a:rPr lang="ko-KR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ko-KR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regions</a:t>
              </a:r>
              <a:r>
                <a:rPr lang="ko-KR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(BVSE ≤ </a:t>
              </a:r>
              <a:r>
                <a:rPr lang="ko-KR" altLang="ko-KR" sz="1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0.30</a:t>
              </a:r>
              <a:r>
                <a:rPr lang="ko-KR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) </a:t>
              </a:r>
              <a:r>
                <a:rPr lang="ko-KR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shown</a:t>
              </a:r>
              <a:r>
                <a:rPr lang="en-US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altLang="ko-KR" sz="1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&gt;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88E7124-9E92-00C8-E13C-86374D910564}"/>
                </a:ext>
              </a:extLst>
            </p:cNvPr>
            <p:cNvSpPr txBox="1"/>
            <p:nvPr/>
          </p:nvSpPr>
          <p:spPr>
            <a:xfrm>
              <a:off x="4232" y="5157192"/>
              <a:ext cx="28291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ko-KR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 LPSCl</a:t>
              </a:r>
            </a:p>
            <a:p>
              <a:pPr algn="ctr"/>
              <a:r>
                <a:rPr lang="de-DE" altLang="ko-KR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Low-BVSE channel: 8.75% &gt;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0CEBCC6-6618-F6E9-0F87-C633DBE897AC}"/>
                </a:ext>
              </a:extLst>
            </p:cNvPr>
            <p:cNvSpPr txBox="1"/>
            <p:nvPr/>
          </p:nvSpPr>
          <p:spPr>
            <a:xfrm>
              <a:off x="2017976" y="5157192"/>
              <a:ext cx="28291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altLang="ko-KR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&lt; LPSCl</a:t>
              </a:r>
              <a:r>
                <a:rPr lang="de-DE" altLang="ko-KR" sz="1200" baseline="-25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1.6</a:t>
              </a:r>
            </a:p>
            <a:p>
              <a:pPr algn="ctr"/>
              <a:r>
                <a:rPr lang="de-DE" altLang="ko-KR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Low-BVSE channel: 7.4% (</a:t>
              </a:r>
              <a:r>
                <a:rPr lang="de-DE" altLang="ko-KR" sz="12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-15%</a:t>
              </a:r>
              <a:r>
                <a:rPr lang="de-DE" altLang="ko-KR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) &gt;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BDFE13-893B-1F7F-C5FD-9CF5681D3B76}"/>
              </a:ext>
            </a:extLst>
          </p:cNvPr>
          <p:cNvSpPr txBox="1"/>
          <p:nvPr/>
        </p:nvSpPr>
        <p:spPr>
          <a:xfrm>
            <a:off x="4394972" y="2610086"/>
            <a:ext cx="4749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paired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5×5×5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supercell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500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f.u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.) </a:t>
            </a:r>
            <a:endParaRPr lang="en-US" altLang="ko-KR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LPSCl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6,500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atoms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·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LPSCl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₁.₆ 6,200 (300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300 </a:t>
            </a:r>
            <a:r>
              <a:rPr lang="ko-KR" altLang="ko-KR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de-DE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9C454C8D-E95C-CD62-858D-AB3B2ABC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981523"/>
              </p:ext>
            </p:extLst>
          </p:nvPr>
        </p:nvGraphicFramePr>
        <p:xfrm>
          <a:off x="4727891" y="3032341"/>
          <a:ext cx="4083190" cy="242198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36197">
                  <a:extLst>
                    <a:ext uri="{9D8B030D-6E8A-4147-A177-3AD203B41FA5}">
                      <a16:colId xmlns:a16="http://schemas.microsoft.com/office/drawing/2014/main" val="65446376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74800182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82639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101953771"/>
                    </a:ext>
                  </a:extLst>
                </a:gridCol>
                <a:gridCol w="1358761">
                  <a:extLst>
                    <a:ext uri="{9D8B030D-6E8A-4147-A177-3AD203B41FA5}">
                      <a16:colId xmlns:a16="http://schemas.microsoft.com/office/drawing/2014/main" val="1175527287"/>
                    </a:ext>
                  </a:extLst>
                </a:gridCol>
              </a:tblGrid>
              <a:tr h="60299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System</a:t>
                      </a:r>
                    </a:p>
                  </a:txBody>
                  <a:tcPr marL="57150" marR="57150" marT="57150" marB="57150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1" kern="1200" dirty="0" err="1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n_Li</a:t>
                      </a:r>
                      <a:endParaRPr lang="en-US" altLang="ko-KR" sz="1200" b="1" kern="1200" dirty="0">
                        <a:solidFill>
                          <a:schemeClr val="bg1"/>
                        </a:solidFill>
                        <a:latin typeface="callibri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share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1" kern="120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BVS peak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environment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6258"/>
                  </a:ext>
                </a:extLst>
              </a:tr>
              <a:tr h="4700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LPSCl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 (single)</a:t>
                      </a:r>
                    </a:p>
                  </a:txBody>
                  <a:tcPr marL="57150" marR="57150" marT="57150" marB="57150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3000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100%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FF0000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1.60–1.64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F-43m ordered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013472"/>
                  </a:ext>
                </a:extLst>
              </a:tr>
              <a:tr h="60299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LPSCl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₁.₆ low (A)</a:t>
                      </a:r>
                    </a:p>
                  </a:txBody>
                  <a:tcPr marL="57150" marR="57150" marT="57150" marB="57150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1074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39.8%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FF0000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1.60–1.64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LPSCl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-like </a:t>
                      </a:r>
                      <a:b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(far from anti-site)</a:t>
                      </a: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046165"/>
                  </a:ext>
                </a:extLst>
              </a:tr>
              <a:tr h="73593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LPSCl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₁.₆ high (B) 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latin typeface="callibri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7150" marR="57150" marT="57150" marB="57150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1626</a:t>
                      </a:r>
                      <a:endParaRPr lang="ko-KR" altLang="en-US" sz="1200" b="0" kern="1200">
                        <a:solidFill>
                          <a:schemeClr val="bg1"/>
                        </a:solidFill>
                        <a:latin typeface="callibri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60.2%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latin typeface="callibri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70C0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1.83–1.89</a:t>
                      </a:r>
                      <a:endParaRPr lang="ko-KR" altLang="en-US" sz="1200" b="0" kern="1200" dirty="0">
                        <a:solidFill>
                          <a:srgbClr val="0070C0"/>
                        </a:solidFill>
                        <a:latin typeface="callibri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b="0" kern="1200" dirty="0" err="1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adjacent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b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anti-site Cl</a:t>
                      </a:r>
                      <a:r>
                        <a:rPr lang="ko-KR" altLang="en-US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altLang="ko-KR" sz="1200" b="0" kern="1200" dirty="0">
                          <a:solidFill>
                            <a:srgbClr val="0070C0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+15%</a:t>
                      </a:r>
                      <a:r>
                        <a:rPr lang="en-US" altLang="ko-KR" sz="1200" b="0" kern="1200" dirty="0">
                          <a:solidFill>
                            <a:schemeClr val="bg1"/>
                          </a:solidFill>
                          <a:latin typeface="callibri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lang="ko-KR" altLang="en-US" sz="1200" b="0" kern="1200" dirty="0">
                        <a:solidFill>
                          <a:schemeClr val="bg1"/>
                        </a:solidFill>
                        <a:latin typeface="callibri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57150" marR="57150" marT="57150" marB="57150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159822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19C5BD72-9311-FC14-0813-9FA1510CC83A}"/>
              </a:ext>
            </a:extLst>
          </p:cNvPr>
          <p:cNvSpPr txBox="1"/>
          <p:nvPr/>
        </p:nvSpPr>
        <p:spPr>
          <a:xfrm>
            <a:off x="4676058" y="5503731"/>
            <a:ext cx="4427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60.2% = 5.4 × 300 / 2700 — exact closure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BVSE </a:t>
            </a:r>
            <a:r>
              <a:rPr lang="en-US" altLang="ko-KR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+15%</a:t>
            </a:r>
            <a:r>
              <a:rPr lang="en-US" altLang="ko-KR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↔ ICOHP </a:t>
            </a:r>
            <a:r>
              <a:rPr lang="en-US" altLang="ko-KR" sz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+40% </a:t>
            </a:r>
            <a:r>
              <a:rPr lang="en-US" altLang="ko-KR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per-bond: </a:t>
            </a:r>
            <a:br>
              <a:rPr lang="en-US" altLang="ko-KR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same anti-site, two independent probes</a:t>
            </a:r>
            <a:endParaRPr lang="de-DE" altLang="ko-KR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01168" y="5559552"/>
            <a:ext cx="4389120" cy="786384"/>
          </a:xfrm>
          <a:prstGeom prst="rect">
            <a:avLst/>
          </a:prstGeom>
          <a:solidFill>
            <a:srgbClr val="FFF6EC"/>
          </a:solidFill>
          <a:ln w="9525">
            <a:solidFill>
              <a:srgbClr val="E0B080"/>
            </a:solidFill>
          </a:ln>
        </p:spPr>
        <p:txBody>
          <a:bodyPr wrap="square" lIns="45720" rIns="36576" tIns="27432" bIns="0">
            <a:spAutoFit/>
          </a:bodyPr>
          <a:lstStyle/>
          <a:p>
            <a:r>
              <a:rPr sz="950" b="1">
                <a:solidFill>
                  <a:srgbClr val="202020"/>
                </a:solidFill>
                <a:latin typeface="Calibri"/>
                <a:ea typeface="맑은 고딕"/>
              </a:rPr>
              <a:t>※ static BVSE는 단일이온·Li </a:t>
            </a:r>
            <a:r>
              <a:rPr sz="950" b="1">
                <a:solidFill>
                  <a:srgbClr val="C00000"/>
                </a:solidFill>
                <a:latin typeface="Calibri"/>
                <a:ea typeface="맑은 고딕"/>
              </a:rPr>
              <a:t>공공(carrier) 무시</a:t>
            </a:r>
            <a:r>
              <a:rPr sz="950" b="1">
                <a:solidFill>
                  <a:srgbClr val="202020"/>
                </a:solidFill>
                <a:latin typeface="Calibri"/>
                <a:ea typeface="맑은 고딕"/>
              </a:rPr>
              <a:t> → 채널 </a:t>
            </a:r>
            <a:r>
              <a:rPr sz="950" b="1">
                <a:solidFill>
                  <a:srgbClr val="C00000"/>
                </a:solidFill>
                <a:latin typeface="Calibri"/>
                <a:ea typeface="맑은 고딕"/>
              </a:rPr>
              <a:t>−15%</a:t>
            </a:r>
            <a:r>
              <a:rPr sz="950" b="1">
                <a:solidFill>
                  <a:srgbClr val="202020"/>
                </a:solidFill>
                <a:latin typeface="Calibri"/>
                <a:ea typeface="맑은 고딕"/>
              </a:rPr>
              <a:t>는 정적 한계, σ와 모순 아님.</a:t>
            </a:r>
          </a:p>
          <a:p>
            <a:r>
              <a:rPr sz="950" b="0">
                <a:solidFill>
                  <a:srgbClr val="202020"/>
                </a:solidFill>
                <a:latin typeface="Calibri"/>
                <a:ea typeface="맑은 고딕"/>
              </a:rPr>
              <a:t>그 Li 공공이 </a:t>
            </a:r>
            <a:r>
              <a:rPr sz="950" b="1">
                <a:solidFill>
                  <a:srgbClr val="1F6FC4"/>
                </a:solidFill>
                <a:latin typeface="Calibri"/>
                <a:ea typeface="맑은 고딕"/>
              </a:rPr>
              <a:t>AIMD ×4 가속(D₀↑)</a:t>
            </a:r>
            <a:r>
              <a:rPr sz="950" b="0">
                <a:solidFill>
                  <a:srgbClr val="202020"/>
                </a:solidFill>
                <a:latin typeface="Calibri"/>
                <a:ea typeface="맑은 고딕"/>
              </a:rPr>
              <a:t>의 동력 — 정적 좁음 ≠ 동적 느림.</a:t>
            </a:r>
          </a:p>
          <a:p>
            <a:r>
              <a:rPr sz="900" b="0">
                <a:solidFill>
                  <a:srgbClr val="606060"/>
                </a:solidFill>
                <a:latin typeface="Calibri"/>
                <a:ea typeface="맑은 고딕"/>
              </a:rPr>
              <a:t>→ 핵심 = </a:t>
            </a:r>
            <a:r>
              <a:rPr sz="900" b="1">
                <a:solidFill>
                  <a:srgbClr val="1A5C1A"/>
                </a:solidFill>
                <a:latin typeface="Calibri"/>
                <a:ea typeface="맑은 고딕"/>
              </a:rPr>
              <a:t>anti-site 3중 검증</a:t>
            </a:r>
            <a:r>
              <a:rPr sz="900" b="0">
                <a:solidFill>
                  <a:srgbClr val="606060"/>
                </a:solidFill>
                <a:latin typeface="Calibri"/>
                <a:ea typeface="맑은 고딕"/>
              </a:rPr>
              <a:t>(bimodal·5.4 Li/anti-site·ICOHP +40%)</a:t>
            </a:r>
          </a:p>
        </p:txBody>
      </p:sp>
    </p:spTree>
    <p:extLst>
      <p:ext uri="{BB962C8B-B14F-4D97-AF65-F5344CB8AC3E}">
        <p14:creationId xmlns:p14="http://schemas.microsoft.com/office/powerpoint/2010/main" val="1265270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6AFE5361305704485C7D500A4632ABE" ma:contentTypeVersion="11" ma:contentTypeDescription="새 문서를 만듭니다." ma:contentTypeScope="" ma:versionID="ee2f9e464ea0d9b90a4fba868166d8d5">
  <xsd:schema xmlns:xsd="http://www.w3.org/2001/XMLSchema" xmlns:xs="http://www.w3.org/2001/XMLSchema" xmlns:p="http://schemas.microsoft.com/office/2006/metadata/properties" xmlns:ns3="8618cbce-88c9-49f3-9f20-59c1fddbfdd1" targetNamespace="http://schemas.microsoft.com/office/2006/metadata/properties" ma:root="true" ma:fieldsID="d2e4f78982f91351a718f3a14bdce4a6" ns3:_="">
    <xsd:import namespace="8618cbce-88c9-49f3-9f20-59c1fddbfd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8cbce-88c9-49f3-9f20-59c1fddbf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2DA5A3-25CB-4F0F-8A4E-1A578D020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8cbce-88c9-49f3-9f20-59c1fddbf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A4CB31-0D99-4B37-8F6C-83B70069D72B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8618cbce-88c9-49f3-9f20-59c1fddbfdd1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F27F94D-CF2A-433F-BFD9-BDAC2A5C0A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46816</TotalTime>
  <Words>2822</Words>
  <Application>Microsoft Office PowerPoint</Application>
  <PresentationFormat>화면 슬라이드 쇼(4:3)</PresentationFormat>
  <Paragraphs>532</Paragraphs>
  <Slides>17</Slides>
  <Notes>16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callibri</vt:lpstr>
      <vt:lpstr>Arial</vt:lpstr>
      <vt:lpstr>Calibri</vt:lpstr>
      <vt:lpstr>Cambria Math</vt:lpstr>
      <vt:lpstr>Wingdings</vt:lpstr>
      <vt:lpstr>맑은 고딕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안용훈</cp:lastModifiedBy>
  <cp:revision>3191</cp:revision>
  <cp:lastPrinted>2026-06-12T05:34:39Z</cp:lastPrinted>
  <dcterms:created xsi:type="dcterms:W3CDTF">2013-09-11T08:33:43Z</dcterms:created>
  <dcterms:modified xsi:type="dcterms:W3CDTF">2026-06-18T03:14:23Z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0x010100A6AFE5361305704485C7D500A4632ABE</vt:lpwstr>
  </property>
</Properties>
</file>