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7" r:id="Rdc2e3032cd0b46c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Relationship Id="Rdc2e3032cd0b46c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9.xml.rels><?xml version='1.0' encoding='UTF-8' standalone='yes'?>
<Relationships xmlns="http://schemas.openxmlformats.org/package/2006/relationships"><Relationship Id="Rbe05c8903c7144c0" Type="http://schemas.openxmlformats.org/officeDocument/2006/relationships/notesMaster" Target="../notesMasters/notesMaster1.xml"/><Relationship Id="Rec9e49a4df5a4318" Type="http://schemas.openxmlformats.org/officeDocument/2006/relationships/slide" Target="../slides/slide12.xml"/></Relationship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이완된 구조 중 다음 단계로 보낼 대표 구조를 고릅니다. 여기서 winner라는 말이 나오지만, 의미는 생성된 메뉴 안에서 상대적으로 나은 배치라는 정도입니다. 후보 수와 seed 수가 화학종마다 다르기 때문에, 이 선택을 곧바로 최고의 도펀트라고 부를 수는 없습니다. 구조 선택과 화학종 순위는 반드시 분리해서 봐야 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‘winner’라는 단어의 범위를 좁히는 슬라이드다.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tools/doping/select_winners.py lineage; cascade_v23_all.csv.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2.xml.rels><?xml version='1.0' encoding='UTF-8' standalone='yes'?>
<Relationships xmlns="http://schemas.openxmlformats.org/package/2006/relationships"><Relationship Id="R02df4fce4b614a80" Type="http://schemas.openxmlformats.org/officeDocument/2006/relationships/notesSlide" Target="../notesSlides/notesSlide9.xml"/><Relationship Id="R4a31a6a4449642b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bg-9">
            <a:extLst xmlns:a="http://schemas.openxmlformats.org/drawingml/2006/main">
              <a:ext uri="{FF2B5EF4-FFF2-40B4-BE49-F238E27FC236}">
                <a16:creationId xmlns:a16="http://schemas.microsoft.com/office/drawing/2014/main" id="{435E53D0-CEAA-46C2-BB49-53B64558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9">
            <a:extLst xmlns:a="http://schemas.openxmlformats.org/drawingml/2006/main">
              <a:ext uri="{FF2B5EF4-FFF2-40B4-BE49-F238E27FC236}">
                <a16:creationId xmlns:a16="http://schemas.microsoft.com/office/drawing/2014/main" id="{C81C8D5A-4935-46EC-8322-BF08C9A5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424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Representative structure selection</a:t>
            </a:r>
          </a:p>
        </p:txBody>
      </p:sp>
      <p:sp>
        <p:nvSpPr>
          <p:cNvPr id="3" name="terms-9">
            <a:extLst xmlns:a="http://schemas.openxmlformats.org/drawingml/2006/main">
              <a:ext uri="{FF2B5EF4-FFF2-40B4-BE49-F238E27FC236}">
                <a16:creationId xmlns:a16="http://schemas.microsoft.com/office/drawing/2014/main" id="{7ED23FC5-965C-470E-83D6-2B28B501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Representative: the one structure kept for the next steps  ·  Convergence: the optimizer actually finished</a:t>
            </a:r>
          </a:p>
        </p:txBody>
      </p:sp>
      <p:sp>
        <p:nvSpPr>
          <p:cNvPr id="4" name="divider-9">
            <a:extLst xmlns:a="http://schemas.openxmlformats.org/drawingml/2006/main">
              <a:ext uri="{FF2B5EF4-FFF2-40B4-BE49-F238E27FC236}">
                <a16:creationId xmlns:a16="http://schemas.microsoft.com/office/drawing/2014/main" id="{94480B59-D522-450C-A078-7CCFF97C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9">
            <a:extLst xmlns:a="http://schemas.openxmlformats.org/drawingml/2006/main">
              <a:ext uri="{FF2B5EF4-FFF2-40B4-BE49-F238E27FC236}">
                <a16:creationId xmlns:a16="http://schemas.microsoft.com/office/drawing/2014/main" id="{DFE43A8F-2800-4FD5-9D8C-70C0F926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9">
            <a:extLst xmlns:a="http://schemas.openxmlformats.org/drawingml/2006/main">
              <a:ext uri="{FF2B5EF4-FFF2-40B4-BE49-F238E27FC236}">
                <a16:creationId xmlns:a16="http://schemas.microsoft.com/office/drawing/2014/main" id="{91B269EA-4BE7-4FDF-99EB-D4B987BA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4: One structure per candidate is kept for the full calculations</a:t>
            </a:r>
          </a:p>
        </p:txBody>
      </p:sp>
      <p:sp>
        <p:nvSpPr>
          <p:cNvPr id="7" name="bullet-dot-9-0">
            <a:extLst xmlns:a="http://schemas.openxmlformats.org/drawingml/2006/main">
              <a:ext uri="{FF2B5EF4-FFF2-40B4-BE49-F238E27FC236}">
                <a16:creationId xmlns:a16="http://schemas.microsoft.com/office/drawing/2014/main" id="{B05F1B8D-DB8F-4785-B727-975BF771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9-0">
            <a:extLst xmlns:a="http://schemas.openxmlformats.org/drawingml/2006/main">
              <a:ext uri="{FF2B5EF4-FFF2-40B4-BE49-F238E27FC236}">
                <a16:creationId xmlns:a16="http://schemas.microsoft.com/office/drawing/2014/main" id="{097DF6AB-08A8-499E-BD2A-D6A037DC2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carry one structure per compound, the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top-ranked configuration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was kept.</a:t>
            </a:r>
          </a:p>
        </p:txBody>
      </p:sp>
      <p:sp>
        <p:nvSpPr>
          <p:cNvPr id="9" name="bullet-dot-9-1">
            <a:extLst xmlns:a="http://schemas.openxmlformats.org/drawingml/2006/main">
              <a:ext uri="{FF2B5EF4-FFF2-40B4-BE49-F238E27FC236}">
                <a16:creationId xmlns:a16="http://schemas.microsoft.com/office/drawing/2014/main" id="{317F55AD-BD44-4DD2-B51A-BBB5D38F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9-1">
            <a:extLst xmlns:a="http://schemas.openxmlformats.org/drawingml/2006/main">
              <a:ext uri="{FF2B5EF4-FFF2-40B4-BE49-F238E27FC236}">
                <a16:creationId xmlns:a16="http://schemas.microsoft.com/office/drawing/2014/main" id="{B0F4EE59-F92C-4E5E-9E16-6DBBD997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Candidate counts differ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15 to 150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per compound, so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this selection is not a ranking of elements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oter-brand-9">
            <a:extLst xmlns:a="http://schemas.openxmlformats.org/drawingml/2006/main">
              <a:ext uri="{FF2B5EF4-FFF2-40B4-BE49-F238E27FC236}">
                <a16:creationId xmlns:a16="http://schemas.microsoft.com/office/drawing/2014/main" id="{DACB3A1B-7A3B-4DBD-B207-7A59F3E8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9">
            <a:extLst xmlns:a="http://schemas.openxmlformats.org/drawingml/2006/main">
              <a:ext uri="{FF2B5EF4-FFF2-40B4-BE49-F238E27FC236}">
                <a16:creationId xmlns:a16="http://schemas.microsoft.com/office/drawing/2014/main" id="{F7ABA427-5C5A-4CBA-86C3-074010FB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13129437-2C2C-4E12-B0FB-B0263BC9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30" name="Picture 29" descr="step4_stability_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590" y="2231136"/>
            <a:ext cx="7524819" cy="2999231"/>
          </a:xfrm>
          <a:prstGeom prst="rect">
            <a:avLst/>
          </a:prstGeom>
        </p:spPr>
      </p:pic>
      <p:sp xmlns:a="http://schemas.openxmlformats.org/drawingml/2006/main">
        <p:nvSpPr>
          <p:cNvPr id="31" name="TextBox 30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spread of the three top-ranked structures per species &gt;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4B5563"/>
                </a:solidFill>
                <a:latin typeface="Arial"/>
              </a:rPr>
              <a:t>median spread </a:t>
            </a:r>
            <a:r>
              <a:rPr sz="1150" b="1">
                <a:solidFill>
                  <a:srgbClr val="2563EB"/>
                </a:solidFill>
                <a:latin typeface="Arial"/>
              </a:rPr>
              <a:t>0.04 eV / atom</a:t>
            </a:r>
            <a:r>
              <a:rPr sz="1150" b="0">
                <a:solidFill>
                  <a:srgbClr val="4B5563"/>
                </a:solidFill>
                <a:latin typeface="Arial"/>
              </a:rPr>
              <a:t>; </a:t>
            </a:r>
            <a:r>
              <a:rPr sz="1150" b="1">
                <a:solidFill>
                  <a:srgbClr val="BE123C"/>
                </a:solidFill>
                <a:latin typeface="Arial"/>
              </a:rPr>
              <a:t>6 of 88 exceed 0.10</a:t>
            </a:r>
            <a:r>
              <a:rPr sz="1150" b="0">
                <a:solidFill>
                  <a:srgbClr val="4B5563"/>
                </a:solidFill>
                <a:latin typeface="Arial"/>
              </a:rPr>
              <a:t> — there the choice is real</a:t>
            </a:r>
          </a:p>
        </p:txBody>
      </p:sp>
    </p:spTree>
    <p:extLst>
      <p:ext uri="{BB962C8B-B14F-4D97-AF65-F5344CB8AC3E}">
        <p14:creationId xmlns:p14="http://schemas.microsoft.com/office/powerpoint/2010/main" val="6330229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