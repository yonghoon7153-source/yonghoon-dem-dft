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0269442fd8ce4b81" Type="http://schemas.openxmlformats.org/officeDocument/2006/relationships/officeDocument" Target="ppt/presentation.xml"/><Relationship Id="R69334117c5514b65" Type="http://schemas.openxmlformats.org/package/2006/relationships/metadata/core-properties" Target="docProps/core.xml"/><Relationship Id="Rcd7563b061c1420c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9f4c5f7750487f"/>
  </p:sldMasterIdLst>
  <p:notesMasterIdLst>
    <p:notesMasterId xmlns:r="http://schemas.openxmlformats.org/officeDocument/2006/relationships" r:id="R636b2433d8094769"/>
  </p:notesMasterIdLst>
  <p:sldIdLst>
    <p:sldId xmlns:r="http://schemas.openxmlformats.org/officeDocument/2006/relationships" id="267" r:id="Rdc2e3032cd0b46c4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0bedd3fc95014fed" Type="http://schemas.openxmlformats.org/officeDocument/2006/relationships/presProps" Target="presProps.xml"/><Relationship Id="R245a50a1643649ab" Type="http://schemas.openxmlformats.org/officeDocument/2006/relationships/tableStyles" Target="tableStyles.xml"/><Relationship Id="R3eabe3a8ecf741a2" Type="http://schemas.openxmlformats.org/officeDocument/2006/relationships/viewProps" Target="viewProps.xml"/><Relationship Id="R636b2433d8094769" Type="http://schemas.openxmlformats.org/officeDocument/2006/relationships/notesMaster" Target="notesMasters/notesMaster1.xml"/><Relationship Id="R7a9f4c5f7750487f" Type="http://schemas.openxmlformats.org/officeDocument/2006/relationships/slideMaster" Target="slideMasters/slideMaster1.xml"/><Relationship Id="Rd15051cc896443fc" Type="http://schemas.openxmlformats.org/officeDocument/2006/relationships/theme" Target="theme/theme1.xml"/><Relationship Id="Rdc2e3032cd0b46c4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32b1c3d1c614449b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9.xml.rels><?xml version='1.0' encoding='UTF-8' standalone='yes'?>
<Relationships xmlns="http://schemas.openxmlformats.org/package/2006/relationships"><Relationship Id="Rbe05c8903c7144c0" Type="http://schemas.openxmlformats.org/officeDocument/2006/relationships/notesMaster" Target="../notesMasters/notesMaster1.xml"/><Relationship Id="Rec9e49a4df5a4318" Type="http://schemas.openxmlformats.org/officeDocument/2006/relationships/slide" Target="../slides/slide12.xml"/></Relationship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이완된 구조 중 다음 단계로 보낼 대표 구조를 고릅니다. 여기서 winner라는 말이 나오지만, 의미는 생성된 메뉴 안에서 상대적으로 나은 배치라는 정도입니다. 후보 수와 seed 수가 화학종마다 다르기 때문에, 이 선택을 곧바로 최고의 도펀트라고 부를 수는 없습니다. 구조 선택과 화학종 순위는 반드시 분리해서 봐야 합니다.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[발표자 메모]</a:t>
            </a:r>
            <a:endParaRPr/>
          </a:p>
          <a:p xmlns:a="http://schemas.openxmlformats.org/drawingml/2006/main">
            <a:r>
              <a:t>‘winner’라는 단어의 범위를 좁히는 슬라이드다.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tools/doping/select_winners.py lineage; cascade_v23_all.csv.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2567e83c79114d43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43280d18f2f3450f" Type="http://schemas.openxmlformats.org/officeDocument/2006/relationships/theme" Target="theme/theme2.xml"/><Relationship Id="Ra667905730bd4f44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67905730bd4f44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2.xml.rels><?xml version='1.0' encoding='UTF-8' standalone='yes'?>
<Relationships xmlns="http://schemas.openxmlformats.org/package/2006/relationships"><Relationship Id="R02df4fce4b614a80" Type="http://schemas.openxmlformats.org/officeDocument/2006/relationships/notesSlide" Target="../notesSlides/notesSlide9.xml"/><Relationship Id="R4a31a6a4449642b1" Type="http://schemas.openxmlformats.org/officeDocument/2006/relationships/slideLayout" Target="../slideLayouts/slideLayout1.xml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bg-9">
            <a:extLst xmlns:a="http://schemas.openxmlformats.org/drawingml/2006/main">
              <a:ext uri="{FF2B5EF4-FFF2-40B4-BE49-F238E27FC236}">
                <a16:creationId xmlns:a16="http://schemas.microsoft.com/office/drawing/2014/main" id="{435E53D0-CEAA-46C2-BB49-53B64558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section-9">
            <a:extLst xmlns:a="http://schemas.openxmlformats.org/drawingml/2006/main">
              <a:ext uri="{FF2B5EF4-FFF2-40B4-BE49-F238E27FC236}">
                <a16:creationId xmlns:a16="http://schemas.microsoft.com/office/drawing/2014/main" id="{C81C8D5A-4935-46EC-8322-BF08C9A5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7" y="237744"/>
            <a:ext cx="81381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0424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Representative structure selection</a:t>
            </a:r>
          </a:p>
        </p:txBody>
      </p:sp>
      <p:sp>
        <p:nvSpPr>
          <p:cNvPr id="3" name="terms-9">
            <a:extLst xmlns:a="http://schemas.openxmlformats.org/drawingml/2006/main">
              <a:ext uri="{FF2B5EF4-FFF2-40B4-BE49-F238E27FC236}">
                <a16:creationId xmlns:a16="http://schemas.microsoft.com/office/drawing/2014/main" id="{7ED23FC5-965C-470E-83D6-2B28B501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7" y="6272784"/>
            <a:ext cx="8101583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863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1F2937"/>
                </a:solidFill>
                <a:latin typeface="Arial"/>
                <a:ea typeface="Arial"/>
                <a:cs typeface="Arial"/>
              </a:rPr>
              <a:t>Representative: the one structure kept for the next steps  ·  Convergence: the optimizer actually finished</a:t>
            </a:r>
          </a:p>
        </p:txBody>
      </p:sp>
      <p:sp>
        <p:nvSpPr>
          <p:cNvPr id="4" name="divider-9">
            <a:extLst xmlns:a="http://schemas.openxmlformats.org/drawingml/2006/main">
              <a:ext uri="{FF2B5EF4-FFF2-40B4-BE49-F238E27FC236}">
                <a16:creationId xmlns:a16="http://schemas.microsoft.com/office/drawing/2014/main" id="{94480B59-D522-450C-A078-7CCFF97C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90575"/>
            <a:ext cx="8334375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solidFill>
              <a:srgbClr val="6B728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claim-square-9">
            <a:extLst xmlns:a="http://schemas.openxmlformats.org/drawingml/2006/main">
              <a:ext uri="{FF2B5EF4-FFF2-40B4-BE49-F238E27FC236}">
                <a16:creationId xmlns:a16="http://schemas.microsoft.com/office/drawing/2014/main" id="{DFE43A8F-2800-4FD5-9D8C-70C0F926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028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1B2B"/>
          </a:solidFill>
          <a:ln xmlns:a="http://schemas.openxmlformats.org/drawingml/2006/main" w="0">
            <a:solidFill>
              <a:srgbClr val="A61B2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claim-9">
            <a:extLst xmlns:a="http://schemas.openxmlformats.org/drawingml/2006/main">
              <a:ext uri="{FF2B5EF4-FFF2-40B4-BE49-F238E27FC236}">
                <a16:creationId xmlns:a16="http://schemas.microsoft.com/office/drawing/2014/main" id="{91B269EA-4BE7-4FDF-99EB-D4B987BA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23925"/>
            <a:ext cx="776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F2937"/>
                </a:solidFill>
                <a:latin typeface="Arial"/>
                <a:ea typeface="Arial"/>
                <a:cs typeface="Arial"/>
              </a:rPr>
              <a:t>Step 4: One structure per candidate is kept for the full calculations</a:t>
            </a:r>
          </a:p>
        </p:txBody>
      </p:sp>
      <p:sp>
        <p:nvSpPr>
          <p:cNvPr id="7" name="bullet-dot-9-0">
            <a:extLst xmlns:a="http://schemas.openxmlformats.org/drawingml/2006/main">
              <a:ext uri="{FF2B5EF4-FFF2-40B4-BE49-F238E27FC236}">
                <a16:creationId xmlns:a16="http://schemas.microsoft.com/office/drawing/2014/main" id="{B05F1B8D-DB8F-4785-B727-975BF771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371600"/>
            <a:ext cx="171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F4E7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bullet-9-0">
            <a:extLst xmlns:a="http://schemas.openxmlformats.org/drawingml/2006/main">
              <a:ext uri="{FF2B5EF4-FFF2-40B4-BE49-F238E27FC236}">
                <a16:creationId xmlns:a16="http://schemas.microsoft.com/office/drawing/2014/main" id="{097DF6AB-08A8-499E-BD2A-D6A037DC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381125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F2937"/>
                </a:solidFill>
                <a:latin typeface="Arial"/>
                <a:ea typeface="Arial"/>
                <a:cs typeface="Arial"/>
              </a:rPr>
              <a:t>To carry one structure per compound, the </a:t>
            </a: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top-ranked configuration</a:t>
            </a:r>
            <a:r>
              <a:rPr sz="1275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 was kept.</a:t>
            </a:r>
          </a:p>
        </p:txBody>
      </p:sp>
      <p:sp>
        <p:nvSpPr>
          <p:cNvPr id="9" name="bullet-dot-9-1">
            <a:extLst xmlns:a="http://schemas.openxmlformats.org/drawingml/2006/main">
              <a:ext uri="{FF2B5EF4-FFF2-40B4-BE49-F238E27FC236}">
                <a16:creationId xmlns:a16="http://schemas.microsoft.com/office/drawing/2014/main" id="{317F55AD-BD44-4DD2-B51A-BBB5D38F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733550"/>
            <a:ext cx="171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F2937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bullet-9-1">
            <a:extLst xmlns:a="http://schemas.openxmlformats.org/drawingml/2006/main">
              <a:ext uri="{FF2B5EF4-FFF2-40B4-BE49-F238E27FC236}">
                <a16:creationId xmlns:a16="http://schemas.microsoft.com/office/drawing/2014/main" id="{B0F4EE59-F92C-4E5E-9E16-6DBBD997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743075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F2937"/>
                </a:solidFill>
                <a:latin typeface="Arial"/>
                <a:ea typeface="Arial"/>
                <a:cs typeface="Arial"/>
              </a:rPr>
              <a:t>Candidate counts differ per compound, so </a:t>
            </a:r>
            <a:r>
              <a:rPr sz="1275" b="1">
                <a:solidFill>
                  <a:srgbClr val="BE123C"/>
                </a:solidFill>
                <a:latin typeface="Arial"/>
                <a:ea typeface="Arial"/>
                <a:cs typeface="Arial"/>
              </a:rPr>
              <a:t>this selection is not a ranking of elements</a:t>
            </a:r>
            <a:r>
              <a:rPr sz="1275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2" name="footer-brand-9">
            <a:extLst xmlns:a="http://schemas.openxmlformats.org/drawingml/2006/main">
              <a:ext uri="{FF2B5EF4-FFF2-40B4-BE49-F238E27FC236}">
                <a16:creationId xmlns:a16="http://schemas.microsoft.com/office/drawing/2014/main" id="{DACB3A1B-7A3B-4DBD-B207-7A59F3E8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055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HANYANG UNIVERSITY</a:t>
            </a:r>
          </a:p>
        </p:txBody>
      </p:sp>
      <p:sp>
        <p:nvSpPr>
          <p:cNvPr id="13" name="footer-lab-9">
            <a:extLst xmlns:a="http://schemas.openxmlformats.org/drawingml/2006/main">
              <a:ext uri="{FF2B5EF4-FFF2-40B4-BE49-F238E27FC236}">
                <a16:creationId xmlns:a16="http://schemas.microsoft.com/office/drawing/2014/main" id="{F7ABA427-5C5A-4CBA-86C3-074010FB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650557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6B7280"/>
                </a:solidFill>
                <a:latin typeface="Arial"/>
                <a:ea typeface="Arial"/>
                <a:cs typeface="Arial"/>
              </a:rPr>
              <a:t>Battery Materials Lab.</a:t>
            </a:r>
          </a:p>
        </p:txBody>
      </p:sp>
      <p:sp>
        <p:nvSpPr>
          <p:cNvPr id="14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13129437-2C2C-4E12-B0FB-B0263BC9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6486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B728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 xmlns:a="http://schemas.openxmlformats.org/drawingml/2006/main" xmlns:r="http://schemas.openxmlformats.org/officeDocument/2006/relationships">
        <p:nvPicPr>
          <p:cNvPr id="30" name="Picture 29" descr="step4_stability_ba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590" y="2231136"/>
            <a:ext cx="7524819" cy="2999231"/>
          </a:xfrm>
          <a:prstGeom prst="rect">
            <a:avLst/>
          </a:prstGeom>
        </p:spPr>
      </p:pic>
      <p:sp xmlns:a="http://schemas.openxmlformats.org/drawingml/2006/main">
        <p:nvSpPr>
          <p:cNvPr id="31" name="TextBox 30"/>
          <p:cNvSpPr txBox="1"/>
          <p:nvPr/>
        </p:nvSpPr>
        <p:spPr>
          <a:xfrm>
            <a:off x="502920" y="5449824"/>
            <a:ext cx="8138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Arial"/>
              </a:rPr>
              <a:t>&lt; spread of the three top-ranked structures per species &gt;</a:t>
            </a:r>
          </a:p>
        </p:txBody>
      </p:sp>
      <p:sp xmlns:a="http://schemas.openxmlformats.org/drawingml/2006/main">
        <p:nvSpPr>
          <p:cNvPr id="32" name="TextBox 31"/>
          <p:cNvSpPr txBox="1"/>
          <p:nvPr/>
        </p:nvSpPr>
        <p:spPr>
          <a:xfrm>
            <a:off x="502920" y="5760720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4B5563"/>
                </a:solidFill>
                <a:latin typeface="Arial"/>
              </a:rPr>
              <a:t>median spread </a:t>
            </a:r>
            <a:r>
              <a:rPr sz="1150" b="1">
                <a:solidFill>
                  <a:srgbClr val="2563EB"/>
                </a:solidFill>
                <a:latin typeface="Arial"/>
              </a:rPr>
              <a:t>0.04 eV / atom</a:t>
            </a:r>
            <a:r>
              <a:rPr sz="1150" b="0">
                <a:solidFill>
                  <a:srgbClr val="4B5563"/>
                </a:solidFill>
                <a:latin typeface="Arial"/>
              </a:rPr>
              <a:t>; </a:t>
            </a:r>
            <a:r>
              <a:rPr sz="1150" b="1">
                <a:solidFill>
                  <a:srgbClr val="BE123C"/>
                </a:solidFill>
                <a:latin typeface="Arial"/>
              </a:rPr>
              <a:t>6 of 88 exceed 0.10</a:t>
            </a:r>
            <a:r>
              <a:rPr sz="1150" b="0">
                <a:solidFill>
                  <a:srgbClr val="4B5563"/>
                </a:solidFill>
                <a:latin typeface="Arial"/>
              </a:rPr>
              <a:t> — there the choice is real</a:t>
            </a:r>
          </a:p>
        </p:txBody>
      </p:sp>
    </p:spTree>
    <p:extLst>
      <p:ext uri="{BB962C8B-B14F-4D97-AF65-F5344CB8AC3E}">
        <p14:creationId xmlns:p14="http://schemas.microsoft.com/office/powerpoint/2010/main" val="63302296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2026-08-16T17:36:15.2940000Z</dcterms:created>
  <dcterms:modified xsi:type="dcterms:W3CDTF">2026-08-16T17:36:15.2940000Z</dcterms:modified>
</coreProperties>
</file>