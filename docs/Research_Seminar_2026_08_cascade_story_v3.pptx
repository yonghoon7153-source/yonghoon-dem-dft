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Id1"/>
    <p:sldId xmlns:r="http://schemas.openxmlformats.org/officeDocument/2006/relationships" id="259" r:id="R0b61f05e137348dc"/>
    <p:sldId xmlns:r="http://schemas.openxmlformats.org/officeDocument/2006/relationships" id="260" r:id="Rbfba0b31b08944a9"/>
    <p:sldId xmlns:r="http://schemas.openxmlformats.org/officeDocument/2006/relationships" id="261" r:id="Rcb663844fffc477a"/>
    <p:sldId xmlns:r="http://schemas.openxmlformats.org/officeDocument/2006/relationships" id="262" r:id="R8e9499b237dd44db"/>
    <p:sldId xmlns:r="http://schemas.openxmlformats.org/officeDocument/2006/relationships" id="263" r:id="R4ba3f48111084143"/>
    <p:sldId xmlns:r="http://schemas.openxmlformats.org/officeDocument/2006/relationships" id="264" r:id="Rb665c5fe9e3347e9"/>
    <p:sldId xmlns:r="http://schemas.openxmlformats.org/officeDocument/2006/relationships" id="265" r:id="Rcd9b255cb4c54f2e"/>
    <p:sldId xmlns:r="http://schemas.openxmlformats.org/officeDocument/2006/relationships" id="266" r:id="Rdc2e3032cd0b46c4"/>
    <p:sldId xmlns:r="http://schemas.openxmlformats.org/officeDocument/2006/relationships" id="267" r:id="R21c89c806d8844aa"/>
    <p:sldId xmlns:r="http://schemas.openxmlformats.org/officeDocument/2006/relationships" id="268" r:id="R4644b85309e14395"/>
    <p:sldId xmlns:r="http://schemas.openxmlformats.org/officeDocument/2006/relationships" id="269" r:id="R59bb6e4a8ecc4c71"/>
    <p:sldId xmlns:r="http://schemas.openxmlformats.org/officeDocument/2006/relationships" id="270" r:id="Rf5fc8157681b488f"/>
    <p:sldId xmlns:r="http://schemas.openxmlformats.org/officeDocument/2006/relationships" id="271" r:id="R585d8b53172a4fb4"/>
    <p:sldId xmlns:r="http://schemas.openxmlformats.org/officeDocument/2006/relationships" id="272" r:id="R582cf44da6534111"/>
    <p:sldId xmlns:r="http://schemas.openxmlformats.org/officeDocument/2006/relationships" id="273" r:id="Ree46da3645da4342"/>
    <p:sldId xmlns:r="http://schemas.openxmlformats.org/officeDocument/2006/relationships" id="274" r:id="Rcb18a1d8bd1d40bb"/>
    <p:sldId xmlns:r="http://schemas.openxmlformats.org/officeDocument/2006/relationships" id="275" r:id="rId2"/>
    <p:sldId xmlns:r="http://schemas.openxmlformats.org/officeDocument/2006/relationships" id="276" r:id="R52754f0ac4c84cf8"/>
    <p:sldId xmlns:r="http://schemas.openxmlformats.org/officeDocument/2006/relationships" id="277" r:id="Rf852efb193f945ab"/>
    <p:sldId xmlns:r="http://schemas.openxmlformats.org/officeDocument/2006/relationships" id="278" r:id="Reb1f0020af2b4833"/>
    <p:sldId xmlns:r="http://schemas.openxmlformats.org/officeDocument/2006/relationships" id="279" r:id="R8409038232d64c49"/>
    <p:sldId xmlns:r="http://schemas.openxmlformats.org/officeDocument/2006/relationships" id="280" r:id="R75f40cb2bb314b1c"/>
    <p:sldId xmlns:r="http://schemas.openxmlformats.org/officeDocument/2006/relationships" id="281" r:id="R8e5693ac9e014a39"/>
    <p:sldId xmlns:r="http://schemas.openxmlformats.org/officeDocument/2006/relationships" id="282" r:id="R2763d70795d6457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61f05e137348dc" Type="http://schemas.openxmlformats.org/officeDocument/2006/relationships/slide" Target="slides/slide4.xml"/><Relationship Id="R0bedd3fc95014fed" Type="http://schemas.openxmlformats.org/officeDocument/2006/relationships/presProps" Target="presProps.xml"/><Relationship Id="R21c89c806d8844aa" Type="http://schemas.openxmlformats.org/officeDocument/2006/relationships/slide" Target="slides/slide12.xml"/><Relationship Id="R245a50a1643649ab" Type="http://schemas.openxmlformats.org/officeDocument/2006/relationships/tableStyles" Target="tableStyles.xml"/><Relationship Id="R2763d70795d64571" Type="http://schemas.openxmlformats.org/officeDocument/2006/relationships/slide" Target="slides/slide27.xml"/><Relationship Id="R3ccdefa3e23f4a3b" Type="http://schemas.openxmlformats.org/officeDocument/2006/relationships/slide" Target="slides/slide2.xml"/><Relationship Id="R3eabe3a8ecf741a2" Type="http://schemas.openxmlformats.org/officeDocument/2006/relationships/viewProps" Target="viewProps.xml"/><Relationship Id="R4644b85309e14395" Type="http://schemas.openxmlformats.org/officeDocument/2006/relationships/slide" Target="slides/slide13.xml"/><Relationship Id="R4ba3f48111084143" Type="http://schemas.openxmlformats.org/officeDocument/2006/relationships/slide" Target="slides/slide8.xml"/><Relationship Id="R52754f0ac4c84cf8" Type="http://schemas.openxmlformats.org/officeDocument/2006/relationships/slide" Target="slides/slide21.xml"/><Relationship Id="R582cf44da6534111" Type="http://schemas.openxmlformats.org/officeDocument/2006/relationships/slide" Target="slides/slide17.xml"/><Relationship Id="R585d8b53172a4fb4" Type="http://schemas.openxmlformats.org/officeDocument/2006/relationships/slide" Target="slides/slide16.xml"/><Relationship Id="R59bb6e4a8ecc4c71" Type="http://schemas.openxmlformats.org/officeDocument/2006/relationships/slide" Target="slides/slide14.xml"/><Relationship Id="R636b2433d8094769" Type="http://schemas.openxmlformats.org/officeDocument/2006/relationships/notesMaster" Target="notesMasters/notesMaster1.xml"/><Relationship Id="R75f40cb2bb314b1c" Type="http://schemas.openxmlformats.org/officeDocument/2006/relationships/slide" Target="slides/slide25.xml"/><Relationship Id="R7a9f4c5f7750487f" Type="http://schemas.openxmlformats.org/officeDocument/2006/relationships/slideMaster" Target="slideMasters/slideMaster1.xml"/><Relationship Id="R8409038232d64c49" Type="http://schemas.openxmlformats.org/officeDocument/2006/relationships/slide" Target="slides/slide24.xml"/><Relationship Id="R8e5693ac9e014a39" Type="http://schemas.openxmlformats.org/officeDocument/2006/relationships/slide" Target="slides/slide26.xml"/><Relationship Id="R8e9499b237dd44db" Type="http://schemas.openxmlformats.org/officeDocument/2006/relationships/slide" Target="slides/slide7.xml"/><Relationship Id="Ra0f5ac940dfa4f56" Type="http://schemas.openxmlformats.org/officeDocument/2006/relationships/slide" Target="slides/slide1.xml"/><Relationship Id="Rb665c5fe9e3347e9" Type="http://schemas.openxmlformats.org/officeDocument/2006/relationships/slide" Target="slides/slide9.xml"/><Relationship Id="Rbfba0b31b08944a9" Type="http://schemas.openxmlformats.org/officeDocument/2006/relationships/slide" Target="slides/slide5.xml"/><Relationship Id="Rcb18a1d8bd1d40bb" Type="http://schemas.openxmlformats.org/officeDocument/2006/relationships/slide" Target="slides/slide19.xml"/><Relationship Id="Rcb663844fffc477a" Type="http://schemas.openxmlformats.org/officeDocument/2006/relationships/slide" Target="slides/slide6.xml"/><Relationship Id="Rcd9b255cb4c54f2e" Type="http://schemas.openxmlformats.org/officeDocument/2006/relationships/slide" Target="slides/slide10.xml"/><Relationship Id="Rd15051cc896443fc" Type="http://schemas.openxmlformats.org/officeDocument/2006/relationships/theme" Target="theme/theme1.xml"/><Relationship Id="Rdc2e3032cd0b46c4" Type="http://schemas.openxmlformats.org/officeDocument/2006/relationships/slide" Target="slides/slide11.xml"/><Relationship Id="Reb1f0020af2b4833" Type="http://schemas.openxmlformats.org/officeDocument/2006/relationships/slide" Target="slides/slide23.xml"/><Relationship Id="Ree46da3645da4342" Type="http://schemas.openxmlformats.org/officeDocument/2006/relationships/slide" Target="slides/slide18.xml"/><Relationship Id="Rf5fc8157681b488f" Type="http://schemas.openxmlformats.org/officeDocument/2006/relationships/slide" Target="slides/slide15.xml"/><Relationship Id="Rf852efb193f945ab" Type="http://schemas.openxmlformats.org/officeDocument/2006/relationships/slide" Target="slides/slide22.xml"/><Relationship Id="rId1" Type="http://schemas.openxmlformats.org/officeDocument/2006/relationships/slide" Target="slides/slide3.xml"/><Relationship Id="rId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6a1b76dbeb4387" Type="http://schemas.openxmlformats.org/officeDocument/2006/relationships/slide" Target="../slides/slide1.xml"/><Relationship Id="R4ada200f62cf43b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ededadd90e1c4a6f" Type="http://schemas.openxmlformats.org/officeDocument/2006/relationships/slide" Target="../slides/slide2.xml"/><Relationship Id="Rf541ceadc01a486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81f5c9eab145fd" Type="http://schemas.openxmlformats.org/officeDocument/2006/relationships/slide" Target="../slides/slide4.xml"/><Relationship Id="Re2e1404a383044a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14c9682839643be" Type="http://schemas.openxmlformats.org/officeDocument/2006/relationships/notesMaster" Target="../notesMasters/notesMaster1.xml"/><Relationship Id="R6217f86a64e7454f"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10fc23a6c03d4d8a" Type="http://schemas.openxmlformats.org/officeDocument/2006/relationships/notesMaster" Target="../notesMasters/notesMaster1.xml"/><Relationship Id="Ref734c0e971641e3"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1c922b19d1a54e9e" Type="http://schemas.openxmlformats.org/officeDocument/2006/relationships/notesMaster" Target="../notesMasters/notesMaster1.xml"/><Relationship Id="Rbc4a71bc818b445b"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2f84311f06ec4b6f" Type="http://schemas.openxmlformats.org/officeDocument/2006/relationships/slide" Target="../slides/slide10.xml"/><Relationship Id="R5abb24fafe4d456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e05c8903c7144c0" Type="http://schemas.openxmlformats.org/officeDocument/2006/relationships/notesMaster" Target="../notesMasters/notesMaster1.xml"/><Relationship Id="Rec9e49a4df5a4318"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db5e373131034f68" Type="http://schemas.openxmlformats.org/officeDocument/2006/relationships/notesMaster" Target="../notesMasters/notesMaster1.xml"/><Relationship Id="Rf772b5bb7b5044ba"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830f75de92b04141" Type="http://schemas.openxmlformats.org/officeDocument/2006/relationships/notesMaster" Target="../notesMasters/notesMaster1.xml"/><Relationship Id="Re4e57e40824f4eac"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8f8f45b69a11478c" Type="http://schemas.openxmlformats.org/officeDocument/2006/relationships/slide" Target="../slides/slide15.xml"/><Relationship Id="Rb0a6596f291347d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6.xml"/><Relationship Id="R386f305cb90641d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f76fb8cb7d34880" Type="http://schemas.openxmlformats.org/officeDocument/2006/relationships/notesMaster" Target="../notesMasters/notesMaster1.xml"/><Relationship Id="Rcc9b7279b5314fb8"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075c135c27f44d24" Type="http://schemas.openxmlformats.org/officeDocument/2006/relationships/notesMaster" Target="../notesMasters/notesMaster1.xml"/><Relationship Id="R6e3f03dc79364cc9"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59faecdc68f243fe" Type="http://schemas.openxmlformats.org/officeDocument/2006/relationships/notesMaster" Target="../notesMasters/notesMaster1.xml"/><Relationship Id="Ra6aaf8df4086463f"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91902cb8513f4efa" Type="http://schemas.openxmlformats.org/officeDocument/2006/relationships/slide" Target="../slides/slide21.xml"/><Relationship Id="Rdbe3942926fe4a8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dbee6464ad146fe" Type="http://schemas.openxmlformats.org/officeDocument/2006/relationships/slide" Target="../slides/slide22.xml"/><Relationship Id="Rd341e6c91ba24d6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5f08109be84699" Type="http://schemas.openxmlformats.org/officeDocument/2006/relationships/notesMaster" Target="../notesMasters/notesMaster1.xml"/><Relationship Id="Rd9a2edc4b0f8416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278502d857144efd" Type="http://schemas.openxmlformats.org/officeDocument/2006/relationships/notesMaster" Target="../notesMasters/notesMaster1.xml"/><Relationship Id="R6450e6213ecc4cb6"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68359804a54e4372" Type="http://schemas.openxmlformats.org/officeDocument/2006/relationships/notesMaster" Target="../notesMasters/notesMaster1.xml"/><Relationship Id="R979231a02a2d401b" Type="http://schemas.openxmlformats.org/officeDocument/2006/relationships/slide" Target="../slides/slide6.xml"/></Relationships>
</file>

<file path=ppt/notesSlides/_rels/notesSlide23.xml.rels><?xml version='1.0' encoding='UTF-8' standalone='yes'?>
<Relationships xmlns="http://schemas.openxmlformats.org/package/2006/relationships"><Relationship Id="R10ca586f2119442c" Type="http://schemas.openxmlformats.org/officeDocument/2006/relationships/slide" Target="../slides/slide25.xml"/><Relationship Id="Rb8ac22d8eb5f487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cf6e917756124564" Type="http://schemas.openxmlformats.org/officeDocument/2006/relationships/notesMaster" Target="../notesMasters/notesMaster1.xml"/><Relationship Id="Rd782b404347747ba"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5159c48bcac44ab6" Type="http://schemas.openxmlformats.org/officeDocument/2006/relationships/notesMaster" Target="../notesMasters/notesMaster1.xml"/><Relationship Id="Rc15bdcf425ae4aca" Type="http://schemas.openxmlformats.org/officeDocument/2006/relationships/slide" Target="../slides/slide2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a586bc1e3a8c4e1e" Type="http://schemas.openxmlformats.org/officeDocument/2006/relationships/notesSlide" Target="../notesSlides/notesSlide1.xml"/><Relationship Id="Reb8cbb49eadf4f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6cc3b2b82a64024" Type="http://schemas.openxmlformats.org/officeDocument/2006/relationships/notesSlide" Target="../notesSlides/notesSlide2.xml"/><Relationship Id="Rf6c3590f50c04caa" Type="http://schemas.openxmlformats.org/officeDocument/2006/relationships/slideLayout" Target="../slideLayouts/slideLayou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486b66683e74bee" Type="http://schemas.openxmlformats.org/officeDocument/2006/relationships/slideLayout" Target="../slideLayouts/slideLayout1.xml"/><Relationship Id="R6deca4d840cc4253" Type="http://schemas.openxmlformats.org/officeDocument/2006/relationships/image" Target="../media/image.png"/><Relationship Id="R79dedd7a1a8147ea" Type="http://schemas.openxmlformats.org/officeDocument/2006/relationships/notesSlide" Target="../notesSlides/notesSlide3.xml"/><Relationship Id="R9fca5c5484f246df" Type="http://schemas.openxmlformats.org/officeDocument/2006/relationships/image" Target="../media/image2.png"/></Relationships>
</file>

<file path=ppt/slides/_rels/slide5.xml.rels><?xml version='1.0' encoding='UTF-8' standalone='yes'?>
<Relationships xmlns="http://schemas.openxmlformats.org/package/2006/relationships"><Relationship Id="R07fe1e7f0afa4efe" Type="http://schemas.openxmlformats.org/officeDocument/2006/relationships/notesSlide" Target="../notesSlides/notesSlide4.xml"/><Relationship Id="Ra6a2ed24502f45cf" Type="http://schemas.openxmlformats.org/officeDocument/2006/relationships/slideLayout" Target="../slideLayouts/slideLayout1.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5e175781f8174f78" Type="http://schemas.openxmlformats.org/officeDocument/2006/relationships/slideLayout" Target="../slideLayouts/slideLayout1.xml"/><Relationship Id="Re4d46d810f534167" Type="http://schemas.openxmlformats.org/officeDocument/2006/relationships/notesSlide" Target="../notesSlides/notesSlide22.xml"/></Relationships>
</file>

<file path=ppt/slides/_rels/slide7.xml.rels><?xml version='1.0' encoding='UTF-8' standalone='yes'?>
<Relationships xmlns="http://schemas.openxmlformats.org/package/2006/relationships"><Relationship Id="R0b22e29227af4dfd" Type="http://schemas.openxmlformats.org/officeDocument/2006/relationships/notesSlide" Target="../notesSlides/notesSlide5.xml"/><Relationship Id="R978acf923ad445bc" Type="http://schemas.openxmlformats.org/officeDocument/2006/relationships/slideLayout" Target="../slideLayouts/slideLayout1.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51b24b0c6a0f41f6" Type="http://schemas.openxmlformats.org/officeDocument/2006/relationships/slideLayout" Target="../slideLayouts/slideLayout1.xml"/><Relationship Id="Re63c6527db6947e5" Type="http://schemas.openxmlformats.org/officeDocument/2006/relationships/notesSlide" Target="../notesSlides/notesSlide6.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9e0230364baa4842" Type="http://schemas.openxmlformats.org/officeDocument/2006/relationships/slideLayout" Target="../slideLayouts/slideLayout1.xml"/><Relationship Id="Rd63d5a2cf0ef48ff"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02df4fce4b614a80" Type="http://schemas.openxmlformats.org/officeDocument/2006/relationships/notesSlide" Target="../notesSlides/notesSlide9.xml"/><Relationship Id="R4a31a6a4449642b1" Type="http://schemas.openxmlformats.org/officeDocument/2006/relationships/slideLayout" Target="../slideLayouts/slideLayout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b3f270135454dce" Type="http://schemas.openxmlformats.org/officeDocument/2006/relationships/notesSlide" Target="../notesSlides/notesSlide11.xml"/><Relationship Id="Re915225b4e2744da" Type="http://schemas.openxmlformats.org/officeDocument/2006/relationships/image" Target="../media/image3.png"/><Relationship Id="Rf455cd2d2108455e"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1021685119a248bf" Type="http://schemas.openxmlformats.org/officeDocument/2006/relationships/notesSlide" Target="../notesSlides/notesSlide12.xml"/><Relationship Id="R546c4c07047d4a55" Type="http://schemas.openxmlformats.org/officeDocument/2006/relationships/slideLayout" Target="../slideLayouts/slideLayout1.xml"/><Relationship Id="R65d023672e8d410a" Type="http://schemas.openxmlformats.org/officeDocument/2006/relationships/image" Target="../media/image4.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2590317027994963" Type="http://schemas.openxmlformats.org/officeDocument/2006/relationships/notesSlide" Target="../notesSlides/notesSlide13.xml"/><Relationship Id="R7de8b2dcde8b4299" Type="http://schemas.openxmlformats.org/officeDocument/2006/relationships/slideLayout" Target="../slideLayouts/slideLayout1.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8dbd413e7a124206" Type="http://schemas.openxmlformats.org/officeDocument/2006/relationships/slideLayout" Target="../slideLayouts/slideLayout1.xml"/><Relationship Id="Rb665912394854af6"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1cfcb68ced4b419c" Type="http://schemas.openxmlformats.org/officeDocument/2006/relationships/notesSlide" Target="../notesSlides/notesSlide16.xml"/><Relationship Id="Rb65a02830b1a434c" Type="http://schemas.openxmlformats.org/officeDocument/2006/relationships/slideLayout" Target="../slideLayouts/slideLayout1.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17e897009f404d13" Type="http://schemas.openxmlformats.org/officeDocument/2006/relationships/image" Target="../media/image5.png"/><Relationship Id="R85b1ab9abc184e26" Type="http://schemas.openxmlformats.org/officeDocument/2006/relationships/notesSlide" Target="../notesSlides/notesSlide17.xml"/><Relationship Id="Rb3a9725744bc4a13" Type="http://schemas.openxmlformats.org/officeDocument/2006/relationships/image" Target="../media/image6.png"/><Relationship Id="Re4118e6e80224e5a" Type="http://schemas.openxmlformats.org/officeDocument/2006/relationships/slideLayout" Target="../slideLayouts/slideLayout1.xml"/><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f6c3590f50c04caa"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0f59e6dfc01c49f1" Type="http://schemas.openxmlformats.org/officeDocument/2006/relationships/slideLayout" Target="../slideLayouts/slideLayout1.xml"/><Relationship Id="R91db3424564c4196" Type="http://schemas.openxmlformats.org/officeDocument/2006/relationships/notesSlide" Target="../notesSlides/notesSlide18.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37aeb1508b324da7" Type="http://schemas.openxmlformats.org/officeDocument/2006/relationships/slideLayout" Target="../slideLayouts/slideLayout1.xml"/><Relationship Id="R921af0ec6a3c4aec" Type="http://schemas.openxmlformats.org/officeDocument/2006/relationships/image" Target="../media/image7.png"/><Relationship Id="Rfa26b8530dc54f17"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33beb340747244ac" Type="http://schemas.openxmlformats.org/officeDocument/2006/relationships/notesSlide" Target="../notesSlides/notesSlide20.xml"/><Relationship Id="Rb6d2b06b66264f18"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0c779884c4004931" Type="http://schemas.openxmlformats.org/officeDocument/2006/relationships/image" Target="../media/image8.png"/><Relationship Id="R685e833d95464a54" Type="http://schemas.openxmlformats.org/officeDocument/2006/relationships/notesSlide" Target="../notesSlides/notesSlide21.xml"/><Relationship Id="Rf61fb32876c4485c"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e1528b53c9e4eef" Type="http://schemas.openxmlformats.org/officeDocument/2006/relationships/slideLayout" Target="../slideLayouts/slideLayout1.xml"/><Relationship Id="R95658c919bdf4d69"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a43d242820da4a2e" Type="http://schemas.openxmlformats.org/officeDocument/2006/relationships/notesSlide" Target="../notesSlides/notesSlide24.xml"/><Relationship Id="Rf25573a49a73402f"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668d903d47d94387" Type="http://schemas.openxmlformats.org/officeDocument/2006/relationships/slideLayout" Target="../slideLayouts/slideLayout1.xml"/><Relationship Id="Rc3edc59d963840f4" Type="http://schemas.openxmlformats.org/officeDocument/2006/relationships/notesSlide" Target="../notesSlides/notesSlide25.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 problem</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Argyrodite: the Li₆PS₅Cl crystal family  ·  Cathode-side: where the electrolyte is oxidised
Dendrite: metal growing through the electrolyte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sulfide electrolyte fails in several ways at once</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Oxidation at the cathode, contact loss, cracking and dendrites are </a:t>
            </a:r>
            <a:r>
              <a:rPr sz="1275" b="1">
                <a:solidFill>
                  <a:srgbClr val="BE123C"/>
                </a:solidFill>
                <a:latin typeface="Arial"/>
                <a:ea typeface="Arial"/>
                <a:cs typeface="Arial"/>
              </a:rPr>
              <a:t>coupled</a:t>
            </a:r>
            <a:r>
              <a:rPr sz="1275" b="0">
                <a:solidFill>
                  <a:srgbClr val="374151"/>
                </a:solidFill>
                <a:latin typeface="Arial"/>
                <a:ea typeface="Arial"/>
                <a:cs typeface="Arial"/>
              </a:rPr>
              <a:t>, not separate.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So a modifier that helps one axis can </a:t>
            </a:r>
            <a:r>
              <a:rPr sz="1275" b="1">
                <a:solidFill>
                  <a:srgbClr val="BE123C"/>
                </a:solidFill>
                <a:latin typeface="Arial"/>
                <a:ea typeface="Arial"/>
                <a:cs typeface="Arial"/>
              </a:rPr>
              <a:t>quietly cost you another</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Kang et al., Chem. Commun. 2026</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pic xmlns:a="http://schemas.openxmlformats.org/drawingml/2006/main" xmlns:r="http://schemas.openxmlformats.org/officeDocument/2006/relationships">
        <p:nvPicPr>
          <p:cNvPr id="35" name="Picture 34" descr="fig_16.png"/>
          <p:cNvPicPr>
            <a:picLocks noChangeAspect="1"/>
          </p:cNvPicPr>
          <p:nvPr/>
        </p:nvPicPr>
        <p:blipFill>
          <a:blip r:embed="rId3"/>
          <a:stretch>
            <a:fillRect/>
          </a:stretch>
        </p:blipFill>
        <p:spPr>
          <a:xfrm>
            <a:off x="502920" y="2616104"/>
            <a:ext cx="8138160" cy="2905951"/>
          </a:xfrm>
          <a:prstGeom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Kang et al., Chem. Commun. (2026), Fig. 16 — a literature map of how the failure modes feed each other. The three green boxes are the levers people actually pull. Not our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The lever, and the cost</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Lever: the variable you are allowed to change  ·  Charge recipe: how Li is added or removed to keep the cell neutral</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Doping the electrolyte is the lever we can screen cheaply</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Coating and anode work live at </a:t>
            </a:r>
            <a:r>
              <a:rPr sz="1275" b="1">
                <a:solidFill>
                  <a:srgbClr val="BE123C"/>
                </a:solidFill>
                <a:latin typeface="Arial"/>
                <a:ea typeface="Arial"/>
                <a:cs typeface="Arial"/>
              </a:rPr>
              <a:t>interfaces</a:t>
            </a:r>
            <a:r>
              <a:rPr sz="1275" b="0">
                <a:solidFill>
                  <a:srgbClr val="374151"/>
                </a:solidFill>
                <a:latin typeface="Arial"/>
                <a:ea typeface="Arial"/>
                <a:cs typeface="Arial"/>
              </a:rPr>
              <a:t> — hard to build, harder to predict in advance.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Doping happens </a:t>
            </a:r>
            <a:r>
              <a:rPr sz="1275" b="1">
                <a:solidFill>
                  <a:srgbClr val="2563EB"/>
                </a:solidFill>
                <a:latin typeface="Arial"/>
                <a:ea typeface="Arial"/>
                <a:cs typeface="Arial"/>
              </a:rPr>
              <a:t>inside the lattice</a:t>
            </a:r>
            <a:r>
              <a:rPr sz="1275" b="0">
                <a:solidFill>
                  <a:srgbClr val="374151"/>
                </a:solidFill>
                <a:latin typeface="Arial"/>
                <a:ea typeface="Arial"/>
                <a:cs typeface="Arial"/>
              </a:rPr>
              <a:t>, so a computer can survey it before anyone synthesises.</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Framing for this talk</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sp xmlns:a="http://schemas.openxmlformats.org/drawingml/2006/main">
        <p:nvSpPr>
          <p:cNvPr id="35" name="TextBox 34"/>
          <p:cNvSpPr txBox="1"/>
          <p:nvPr/>
        </p:nvSpPr>
        <p:spPr>
          <a:xfrm>
            <a:off x="960120" y="2788920"/>
            <a:ext cx="7223760" cy="603504"/>
          </a:xfrm>
          <a:prstGeom prst="rect">
            <a:avLst/>
          </a:prstGeom>
          <a:noFill/>
        </p:spPr>
        <p:txBody>
          <a:bodyPr wrap="square">
            <a:spAutoFit/>
          </a:bodyPr>
          <a:lstStyle/>
          <a:p>
            <a:r>
              <a:rPr sz="1450" b="1">
                <a:solidFill>
                  <a:srgbClr val="1F2937"/>
                </a:solidFill>
                <a:latin typeface="Arial"/>
              </a:rPr>
              <a:t>The catch  </a:t>
            </a:r>
            <a:r>
              <a:rPr sz="1450" b="0">
                <a:solidFill>
                  <a:srgbClr val="374151"/>
                </a:solidFill>
                <a:latin typeface="Arial"/>
              </a:rPr>
              <a:t>one element changes oxidation, Li transport and stiffness </a:t>
            </a:r>
            <a:r>
              <a:rPr sz="1450" b="1">
                <a:solidFill>
                  <a:srgbClr val="BE123C"/>
                </a:solidFill>
                <a:latin typeface="Arial"/>
              </a:rPr>
              <a:t>all at once</a:t>
            </a:r>
            <a:r>
              <a:rPr sz="1450" b="0">
                <a:solidFill>
                  <a:srgbClr val="374151"/>
                </a:solidFill>
                <a:latin typeface="Arial"/>
              </a:rPr>
              <a:t> — several axes, not one.</a:t>
            </a:r>
          </a:p>
        </p:txBody>
      </p:sp>
      <p:sp xmlns:a="http://schemas.openxmlformats.org/drawingml/2006/main">
        <p:nvSpPr>
          <p:cNvPr id="36" name="TextBox 35"/>
          <p:cNvSpPr txBox="1"/>
          <p:nvPr/>
        </p:nvSpPr>
        <p:spPr>
          <a:xfrm>
            <a:off x="960120" y="3392424"/>
            <a:ext cx="7223760" cy="603504"/>
          </a:xfrm>
          <a:prstGeom prst="rect">
            <a:avLst/>
          </a:prstGeom>
          <a:noFill/>
        </p:spPr>
        <p:txBody>
          <a:bodyPr wrap="square">
            <a:spAutoFit/>
          </a:bodyPr>
          <a:lstStyle/>
          <a:p>
            <a:r>
              <a:rPr sz="1450" b="1">
                <a:solidFill>
                  <a:srgbClr val="1F2937"/>
                </a:solidFill>
                <a:latin typeface="Arial"/>
              </a:rPr>
              <a:t>The arithmetic  </a:t>
            </a:r>
            <a:r>
              <a:rPr sz="1450" b="1">
                <a:solidFill>
                  <a:srgbClr val="2563EB"/>
                </a:solidFill>
                <a:latin typeface="Arial"/>
              </a:rPr>
              <a:t>91 candidates</a:t>
            </a:r>
            <a:r>
              <a:rPr sz="1450" b="0">
                <a:solidFill>
                  <a:srgbClr val="374151"/>
                </a:solidFill>
                <a:latin typeface="Arial"/>
              </a:rPr>
              <a:t> × several sites × several charge recipes = thousands of structures.</a:t>
            </a:r>
          </a:p>
        </p:txBody>
      </p:sp>
      <p:sp xmlns:a="http://schemas.openxmlformats.org/drawingml/2006/main">
        <p:nvSpPr>
          <p:cNvPr id="37" name="TextBox 36"/>
          <p:cNvSpPr txBox="1"/>
          <p:nvPr/>
        </p:nvSpPr>
        <p:spPr>
          <a:xfrm>
            <a:off x="960120" y="3995928"/>
            <a:ext cx="7223760" cy="603504"/>
          </a:xfrm>
          <a:prstGeom prst="rect">
            <a:avLst/>
          </a:prstGeom>
          <a:noFill/>
        </p:spPr>
        <p:txBody>
          <a:bodyPr wrap="square">
            <a:spAutoFit/>
          </a:bodyPr>
          <a:lstStyle/>
          <a:p>
            <a:r>
              <a:rPr sz="1450" b="1">
                <a:solidFill>
                  <a:srgbClr val="1F2937"/>
                </a:solidFill>
                <a:latin typeface="Arial"/>
              </a:rPr>
              <a:t>So the question is not  </a:t>
            </a:r>
            <a:r>
              <a:rPr sz="1450" b="0">
                <a:solidFill>
                  <a:srgbClr val="374151"/>
                </a:solidFill>
                <a:latin typeface="Arial"/>
              </a:rPr>
              <a:t>which is best? — it is </a:t>
            </a:r>
            <a:r>
              <a:rPr sz="1450" b="1">
                <a:solidFill>
                  <a:srgbClr val="2563EB"/>
                </a:solidFill>
                <a:latin typeface="Arial"/>
              </a:rPr>
              <a:t>what deserves the expensive calculation next?</a:t>
            </a:r>
          </a:p>
        </p:txBody>
      </p:sp>
      <p:sp xmlns:a="http://schemas.openxmlformats.org/drawingml/2006/main">
        <p:nvSpPr>
          <p:cNvPr id="38" name="TextBox 37"/>
          <p:cNvSpPr txBox="1"/>
          <p:nvPr/>
        </p:nvSpPr>
        <p:spPr>
          <a:xfrm>
            <a:off x="960120" y="489204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and cheaply.</a:t>
            </a:r>
          </a:p>
          <a:p>
            <a:pPr>
              <a:spcAft>
                <a:spcPts val="600"/>
              </a:spcAft>
            </a:pPr>
            <a:r>
              <a:rPr sz="1750">
                <a:solidFill>
                  <a:srgbClr val="1F2937"/>
                </a:solidFill>
                <a:latin typeface="Arial"/>
              </a:rPr>
              <a:t>Spend the accurate methods only where the answer would change.</a:t>
            </a:r>
          </a:p>
        </p:txBody>
      </p:sp>
    </p:spTree>
    <p:extLst>
      <p:ext uri="{BB962C8B-B14F-4D97-AF65-F5344CB8AC3E}">
        <p14:creationId xmlns:p14="http://schemas.microsoft.com/office/powerpoint/2010/main" val="7910676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How others do it</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Gate: a pass / fail condition  ·  Fidelity: how accurate and how expensive the method is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Everyone narrows the space before spending on accuracy</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cuts 104,082 coating candidates to three with </a:t>
            </a:r>
            <a:r>
              <a:rPr sz="1275" b="1">
                <a:solidFill>
                  <a:srgbClr val="2563EB"/>
                </a:solidFill>
                <a:latin typeface="Arial"/>
                <a:ea typeface="Arial"/>
                <a:cs typeface="Arial"/>
              </a:rPr>
              <a:t>sequential physical gates</a:t>
            </a:r>
            <a:r>
              <a:rPr sz="1275" b="0">
                <a:solidFill>
                  <a:srgbClr val="374151"/>
                </a:solidFill>
                <a:latin typeface="Arial"/>
                <a:ea typeface="Arial"/>
                <a:cs typeface="Arial"/>
              </a:rPr>
              <a:t>.</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instead </a:t>
            </a:r>
            <a:r>
              <a:rPr sz="1275" b="1">
                <a:solidFill>
                  <a:srgbClr val="2563EB"/>
                </a:solidFill>
                <a:latin typeface="Arial"/>
                <a:ea typeface="Arial"/>
                <a:cs typeface="Arial"/>
              </a:rPr>
              <a:t>raises the accuracy</a:t>
            </a:r>
            <a:r>
              <a:rPr sz="1275" b="0">
                <a:solidFill>
                  <a:srgbClr val="374151"/>
                </a:solidFill>
                <a:latin typeface="Arial"/>
                <a:ea typeface="Arial"/>
                <a:cs typeface="Arial"/>
              </a:rPr>
              <a:t> stage by stage, ending in first-principles MD.</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2019  ·  Kahle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4747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474720"/>
          </a:xfrm>
          <a:prstGeom xmlns:a="http://schemas.openxmlformats.org/drawingml/2006/main" prst="rect">
            <a:avLst/>
          </a:prstGeom>
        </p:spPr>
      </p:pic>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Xiao, Miara, Wang &amp; Ceder, Joule 3 (2019) 1252, Fig. 1.   Right: Kahle, Marcolongo &amp; Marzari, Energy Environ. Sci. 13 (2020) 928, Fig. 1.</a:t>
            </a:r>
          </a:p>
        </p:txBody>
      </p:sp>
    </p:spTree>
    <p:extLst>
      <p:ext uri="{BB962C8B-B14F-4D97-AF65-F5344CB8AC3E}">
        <p14:creationId xmlns:p14="http://schemas.microsoft.com/office/powerpoint/2010/main" val="413440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we took</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Threshold: the numeric value of a gate  ·  Queue: the order in which expensive calculations get run</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We borrowed the ordering, not the thresholds</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Their cut-offs were tuned for coatings; </a:t>
            </a:r>
            <a:r>
              <a:rPr sz="1275" b="1">
                <a:solidFill>
                  <a:srgbClr val="BE123C"/>
                </a:solidFill>
                <a:latin typeface="Arial"/>
                <a:ea typeface="Arial"/>
                <a:cs typeface="Arial"/>
              </a:rPr>
              <a:t>a sulfide host would fail all of them</a:t>
            </a:r>
            <a:r>
              <a:rPr sz="1275" b="0">
                <a:solidFill>
                  <a:srgbClr val="374151"/>
                </a:solidFill>
                <a:latin typeface="Arial"/>
                <a:ea typeface="Arial"/>
                <a:cs typeface="Arial"/>
              </a:rPr>
              <a:t>.</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transfers: </a:t>
            </a:r>
            <a:r>
              <a:rPr sz="1275" b="1">
                <a:solidFill>
                  <a:srgbClr val="2563EB"/>
                </a:solidFill>
                <a:latin typeface="Arial"/>
                <a:ea typeface="Arial"/>
                <a:cs typeface="Arial"/>
              </a:rPr>
              <a:t>a cheap stage reorders the queue — it never certifies a material</a:t>
            </a:r>
            <a:r>
              <a:rPr sz="1275" b="0">
                <a:solidFill>
                  <a:srgbClr val="374151"/>
                </a:solidFill>
                <a:latin typeface="Arial"/>
                <a:ea typeface="Arial"/>
                <a:cs typeface="Arial"/>
              </a:rPr>
              <a:t>.</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pic xmlns:a="http://schemas.openxmlformats.org/drawingml/2006/main" xmlns:r="http://schemas.openxmlformats.org/officeDocument/2006/relationships">
        <p:nvPicPr>
          <p:cNvPr id="38" name="Picture 37" descr="fig_1.png"/>
          <p:cNvPicPr>
            <a:picLocks noChangeAspect="1"/>
          </p:cNvPicPr>
          <p:nvPr/>
        </p:nvPicPr>
        <p:blipFill>
          <a:blip r:embed="rId3"/>
          <a:stretch>
            <a:fillRect/>
          </a:stretch>
        </p:blipFill>
        <p:spPr>
          <a:xfrm>
            <a:off x="1044036" y="2304288"/>
            <a:ext cx="7055926" cy="3529584"/>
          </a:xfrm>
          <a:prstGeom prst="rect">
            <a:avLst/>
          </a:prstGeom>
        </p:spPr>
      </p:pic>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Yang, Cubuk, Duerloo, Cui &amp; Reed, Energy Environ. Sci. 10 (2017) 306, Fig. 1 — physical gates first, then a classifier trained on only 40 measured conductors. Their honesty about small training sets is the part we reuse.</a:t>
            </a:r>
          </a:p>
        </p:txBody>
      </p:sp>
    </p:spTree>
    <p:extLst>
      <p:ext uri="{BB962C8B-B14F-4D97-AF65-F5344CB8AC3E}">
        <p14:creationId xmlns:p14="http://schemas.microsoft.com/office/powerpoint/2010/main" val="14125183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we put in</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Family: compounds grouped by their dominant anion  ·  Roster: the full input list, before anything is judged</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91 compounds across seven families — chosen to span the chemistry</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Oxides for </a:t>
            </a:r>
            <a:r>
              <a:rPr sz="1275" b="1">
                <a:solidFill>
                  <a:srgbClr val="2563EB"/>
                </a:solidFill>
                <a:latin typeface="Arial"/>
                <a:ea typeface="Arial"/>
                <a:cs typeface="Arial"/>
              </a:rPr>
              <a:t>strong bonds</a:t>
            </a:r>
            <a:r>
              <a:rPr sz="1275" b="0">
                <a:solidFill>
                  <a:srgbClr val="374151"/>
                </a:solidFill>
                <a:latin typeface="Arial"/>
                <a:ea typeface="Arial"/>
                <a:cs typeface="Arial"/>
              </a:rPr>
              <a:t>; halides because the host has Cl; nitrides and sulfides as controls.</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The list leans toward </a:t>
            </a:r>
            <a:r>
              <a:rPr sz="1275" b="1">
                <a:solidFill>
                  <a:srgbClr val="BE123C"/>
                </a:solidFill>
                <a:latin typeface="Arial"/>
                <a:ea typeface="Arial"/>
                <a:cs typeface="Arial"/>
              </a:rPr>
              <a:t>well-known stable compounds</a:t>
            </a:r>
            <a:r>
              <a:rPr sz="1275" b="0">
                <a:solidFill>
                  <a:srgbClr val="374151"/>
                </a:solidFill>
                <a:latin typeface="Arial"/>
                <a:ea typeface="Arial"/>
                <a:cs typeface="Arial"/>
              </a:rPr>
              <a:t> — that turns out to matter later.</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Input roster — not a shortlist</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sp xmlns:a="http://schemas.openxmlformats.org/drawingml/2006/main">
        <p:nvSpPr>
          <p:cNvPr id="32" name="TextBox 31"/>
          <p:cNvSpPr txBox="1"/>
          <p:nvPr/>
        </p:nvSpPr>
        <p:spPr>
          <a:xfrm>
            <a:off x="566928" y="2304288"/>
            <a:ext cx="3749039" cy="237744"/>
          </a:xfrm>
          <a:prstGeom prst="rect">
            <a:avLst/>
          </a:prstGeom>
          <a:noFill/>
        </p:spPr>
        <p:txBody>
          <a:bodyPr wrap="none">
            <a:spAutoFit/>
          </a:bodyPr>
          <a:lstStyle/>
          <a:p>
            <a:r>
              <a:rPr sz="1250" b="1">
                <a:solidFill>
                  <a:srgbClr val="BE123C"/>
                </a:solidFill>
                <a:latin typeface="Arial"/>
              </a:rPr>
              <a:t>OXIDES   37</a:t>
            </a:r>
          </a:p>
        </p:txBody>
      </p:sp>
      <p:sp xmlns:a="http://schemas.openxmlformats.org/drawingml/2006/main">
        <p:nvSpPr>
          <p:cNvPr id="33" name="TextBox 32"/>
          <p:cNvSpPr txBox="1"/>
          <p:nvPr/>
        </p:nvSpPr>
        <p:spPr>
          <a:xfrm>
            <a:off x="566928" y="2560320"/>
            <a:ext cx="3749039" cy="658368"/>
          </a:xfrm>
          <a:prstGeom prst="rect">
            <a:avLst/>
          </a:prstGeom>
          <a:noFill/>
        </p:spPr>
        <p:txBody>
          <a:bodyPr wrap="square">
            <a:spAutoFit/>
          </a:bodyPr>
          <a:lstStyle/>
          <a:p>
            <a:r>
              <a:rPr sz="1100">
                <a:solidFill>
                  <a:srgbClr val="374151"/>
                </a:solidFill>
                <a:latin typeface="Arial"/>
              </a:rPr>
              <a:t>Ag₂O  Al₂O₃  B₂O₃  BaO  CaO  CoO  Cr₂O₃  CrO₃  Cu₂O  Fe₂O₃  Ga₂O₃  Gd₂O₃  GeO₂</a:t>
            </a:r>
          </a:p>
          <a:p>
            <a:r>
              <a:rPr sz="1100">
                <a:solidFill>
                  <a:srgbClr val="374151"/>
                </a:solidFill>
                <a:latin typeface="Arial"/>
              </a:rPr>
              <a:t>HfO₂  In₂O₃  La₂O₃  Li₂O  MgO  MnO  MoO₃  Na₂O  Nb₂O₅  Nd₂O₃  NiO  Sb₂O₅  Sc₂O₃</a:t>
            </a:r>
          </a:p>
          <a:p>
            <a:r>
              <a:rPr sz="1100">
                <a:solidFill>
                  <a:srgbClr val="374151"/>
                </a:solidFill>
                <a:latin typeface="Arial"/>
              </a:rPr>
              <a:t>SiO₂  Sm₂O₃  SnO₂  SrO  Ta₂O₅  TiO₂  V₂O₅  WO₃  Y₂O₃  ZnO  ZrO₂</a:t>
            </a:r>
          </a:p>
        </p:txBody>
      </p:sp>
      <p:sp xmlns:a="http://schemas.openxmlformats.org/drawingml/2006/main">
        <p:nvSpPr>
          <p:cNvPr id="34" name="TextBox 33"/>
          <p:cNvSpPr txBox="1"/>
          <p:nvPr/>
        </p:nvSpPr>
        <p:spPr>
          <a:xfrm>
            <a:off x="566928" y="3493008"/>
            <a:ext cx="3749039" cy="237744"/>
          </a:xfrm>
          <a:prstGeom prst="rect">
            <a:avLst/>
          </a:prstGeom>
          <a:noFill/>
        </p:spPr>
        <p:txBody>
          <a:bodyPr wrap="none">
            <a:spAutoFit/>
          </a:bodyPr>
          <a:lstStyle/>
          <a:p>
            <a:r>
              <a:rPr sz="1250" b="1">
                <a:solidFill>
                  <a:srgbClr val="65A30D"/>
                </a:solidFill>
                <a:latin typeface="Arial"/>
              </a:rPr>
              <a:t>CHLORIDES   19</a:t>
            </a:r>
          </a:p>
        </p:txBody>
      </p:sp>
      <p:sp xmlns:a="http://schemas.openxmlformats.org/drawingml/2006/main">
        <p:nvSpPr>
          <p:cNvPr id="35" name="TextBox 34"/>
          <p:cNvSpPr txBox="1"/>
          <p:nvPr/>
        </p:nvSpPr>
        <p:spPr>
          <a:xfrm>
            <a:off x="566928" y="3749039"/>
            <a:ext cx="3749039" cy="438912"/>
          </a:xfrm>
          <a:prstGeom prst="rect">
            <a:avLst/>
          </a:prstGeom>
          <a:noFill/>
        </p:spPr>
        <p:txBody>
          <a:bodyPr wrap="square">
            <a:spAutoFit/>
          </a:bodyPr>
          <a:lstStyle/>
          <a:p>
            <a:r>
              <a:rPr sz="1100">
                <a:solidFill>
                  <a:srgbClr val="374151"/>
                </a:solidFill>
                <a:latin typeface="Arial"/>
              </a:rPr>
              <a:t>AlCl₃  BaCl₂  CaCl₂  CrCl₃  FeCl₃  GaCl₃  HfCl₄  LaCl₃  LiCl  MgCl₂</a:t>
            </a:r>
          </a:p>
          <a:p>
            <a:r>
              <a:rPr sz="1100">
                <a:solidFill>
                  <a:srgbClr val="374151"/>
                </a:solidFill>
                <a:latin typeface="Arial"/>
              </a:rPr>
              <a:t>NbCl₅  NdCl₃  ScCl₃  SmCl₃  SrCl₂  TaCl₅  TiCl₄  YCl₃  ZrCl₄</a:t>
            </a:r>
          </a:p>
        </p:txBody>
      </p:sp>
      <p:sp xmlns:a="http://schemas.openxmlformats.org/drawingml/2006/main">
        <p:nvSpPr>
          <p:cNvPr id="36" name="TextBox 35"/>
          <p:cNvSpPr txBox="1"/>
          <p:nvPr/>
        </p:nvSpPr>
        <p:spPr>
          <a:xfrm>
            <a:off x="566928" y="4462272"/>
            <a:ext cx="3749039" cy="237744"/>
          </a:xfrm>
          <a:prstGeom prst="rect">
            <a:avLst/>
          </a:prstGeom>
          <a:noFill/>
        </p:spPr>
        <p:txBody>
          <a:bodyPr wrap="none">
            <a:spAutoFit/>
          </a:bodyPr>
          <a:lstStyle/>
          <a:p>
            <a:r>
              <a:rPr sz="1250" b="1">
                <a:solidFill>
                  <a:srgbClr val="C05621"/>
                </a:solidFill>
                <a:latin typeface="Arial"/>
              </a:rPr>
              <a:t>SULFIDES   11</a:t>
            </a:r>
          </a:p>
        </p:txBody>
      </p:sp>
      <p:sp xmlns:a="http://schemas.openxmlformats.org/drawingml/2006/main">
        <p:nvSpPr>
          <p:cNvPr id="37" name="TextBox 36"/>
          <p:cNvSpPr txBox="1"/>
          <p:nvPr/>
        </p:nvSpPr>
        <p:spPr>
          <a:xfrm>
            <a:off x="566928" y="4718304"/>
            <a:ext cx="3749039" cy="219456"/>
          </a:xfrm>
          <a:prstGeom prst="rect">
            <a:avLst/>
          </a:prstGeom>
          <a:noFill/>
        </p:spPr>
        <p:txBody>
          <a:bodyPr wrap="square">
            <a:spAutoFit/>
          </a:bodyPr>
          <a:lstStyle/>
          <a:p>
            <a:r>
              <a:rPr sz="1100">
                <a:solidFill>
                  <a:srgbClr val="374151"/>
                </a:solidFill>
                <a:latin typeface="Arial"/>
              </a:rPr>
              <a:t>Al₂S₃  As₂S₃  CaS  Ga₂S₃  GeS₂  Li₂S  MgS  Na₂S  Sb₂S₃  SiS₂  SnS₂</a:t>
            </a:r>
          </a:p>
        </p:txBody>
      </p:sp>
      <p:sp xmlns:a="http://schemas.openxmlformats.org/drawingml/2006/main">
        <p:nvSpPr>
          <p:cNvPr id="38" name="TextBox 37"/>
          <p:cNvSpPr txBox="1"/>
          <p:nvPr/>
        </p:nvSpPr>
        <p:spPr>
          <a:xfrm>
            <a:off x="4892040" y="2304288"/>
            <a:ext cx="3749039" cy="237744"/>
          </a:xfrm>
          <a:prstGeom prst="rect">
            <a:avLst/>
          </a:prstGeom>
          <a:noFill/>
        </p:spPr>
        <p:txBody>
          <a:bodyPr wrap="none">
            <a:spAutoFit/>
          </a:bodyPr>
          <a:lstStyle/>
          <a:p>
            <a:r>
              <a:rPr sz="1250" b="1">
                <a:solidFill>
                  <a:srgbClr val="0284C7"/>
                </a:solidFill>
                <a:latin typeface="Arial"/>
              </a:rPr>
              <a:t>FLUORIDES   10</a:t>
            </a:r>
          </a:p>
        </p:txBody>
      </p:sp>
      <p:sp xmlns:a="http://schemas.openxmlformats.org/drawingml/2006/main">
        <p:nvSpPr>
          <p:cNvPr id="39" name="TextBox 38"/>
          <p:cNvSpPr txBox="1"/>
          <p:nvPr/>
        </p:nvSpPr>
        <p:spPr>
          <a:xfrm>
            <a:off x="4892040" y="2560320"/>
            <a:ext cx="3749039" cy="219456"/>
          </a:xfrm>
          <a:prstGeom prst="rect">
            <a:avLst/>
          </a:prstGeom>
          <a:noFill/>
        </p:spPr>
        <p:txBody>
          <a:bodyPr wrap="square">
            <a:spAutoFit/>
          </a:bodyPr>
          <a:lstStyle/>
          <a:p>
            <a:r>
              <a:rPr sz="1100">
                <a:solidFill>
                  <a:srgbClr val="374151"/>
                </a:solidFill>
                <a:latin typeface="Arial"/>
              </a:rPr>
              <a:t>AlF₃  CaF₂  LaF₃  LiF  MgF₂  NdF₃  ScF₃  TiF₄  YF₃  ZrF₄</a:t>
            </a:r>
          </a:p>
        </p:txBody>
      </p:sp>
      <p:sp xmlns:a="http://schemas.openxmlformats.org/drawingml/2006/main">
        <p:nvSpPr>
          <p:cNvPr id="40" name="TextBox 39"/>
          <p:cNvSpPr txBox="1"/>
          <p:nvPr/>
        </p:nvSpPr>
        <p:spPr>
          <a:xfrm>
            <a:off x="4892040" y="3054096"/>
            <a:ext cx="3749039" cy="237744"/>
          </a:xfrm>
          <a:prstGeom prst="rect">
            <a:avLst/>
          </a:prstGeom>
          <a:noFill/>
        </p:spPr>
        <p:txBody>
          <a:bodyPr wrap="none">
            <a:spAutoFit/>
          </a:bodyPr>
          <a:lstStyle/>
          <a:p>
            <a:r>
              <a:rPr sz="1250" b="1">
                <a:solidFill>
                  <a:srgbClr val="7C3AED"/>
                </a:solidFill>
                <a:latin typeface="Arial"/>
              </a:rPr>
              <a:t>BROMIDES   5</a:t>
            </a:r>
          </a:p>
        </p:txBody>
      </p:sp>
      <p:sp xmlns:a="http://schemas.openxmlformats.org/drawingml/2006/main">
        <p:nvSpPr>
          <p:cNvPr id="41" name="TextBox 40"/>
          <p:cNvSpPr txBox="1"/>
          <p:nvPr/>
        </p:nvSpPr>
        <p:spPr>
          <a:xfrm>
            <a:off x="4892040" y="3310128"/>
            <a:ext cx="3749039" cy="219456"/>
          </a:xfrm>
          <a:prstGeom prst="rect">
            <a:avLst/>
          </a:prstGeom>
          <a:noFill/>
        </p:spPr>
        <p:txBody>
          <a:bodyPr wrap="square">
            <a:spAutoFit/>
          </a:bodyPr>
          <a:lstStyle/>
          <a:p>
            <a:r>
              <a:rPr sz="1100">
                <a:solidFill>
                  <a:srgbClr val="374151"/>
                </a:solidFill>
                <a:latin typeface="Arial"/>
              </a:rPr>
              <a:t>AlBr₃  CaBr₂  LiBr  MgBr₂  ZrBr₄</a:t>
            </a:r>
          </a:p>
        </p:txBody>
      </p:sp>
      <p:sp xmlns:a="http://schemas.openxmlformats.org/drawingml/2006/main">
        <p:nvSpPr>
          <p:cNvPr id="42" name="TextBox 41"/>
          <p:cNvSpPr txBox="1"/>
          <p:nvPr/>
        </p:nvSpPr>
        <p:spPr>
          <a:xfrm>
            <a:off x="4892040" y="3803904"/>
            <a:ext cx="3749039" cy="237744"/>
          </a:xfrm>
          <a:prstGeom prst="rect">
            <a:avLst/>
          </a:prstGeom>
          <a:noFill/>
        </p:spPr>
        <p:txBody>
          <a:bodyPr wrap="none">
            <a:spAutoFit/>
          </a:bodyPr>
          <a:lstStyle/>
          <a:p>
            <a:r>
              <a:rPr sz="1250" b="1">
                <a:solidFill>
                  <a:srgbClr val="0D9488"/>
                </a:solidFill>
                <a:latin typeface="Arial"/>
              </a:rPr>
              <a:t>NITRIDES   5</a:t>
            </a:r>
          </a:p>
        </p:txBody>
      </p:sp>
      <p:sp xmlns:a="http://schemas.openxmlformats.org/drawingml/2006/main">
        <p:nvSpPr>
          <p:cNvPr id="43" name="TextBox 42"/>
          <p:cNvSpPr txBox="1"/>
          <p:nvPr/>
        </p:nvSpPr>
        <p:spPr>
          <a:xfrm>
            <a:off x="4892040" y="4059936"/>
            <a:ext cx="3749039" cy="219456"/>
          </a:xfrm>
          <a:prstGeom prst="rect">
            <a:avLst/>
          </a:prstGeom>
          <a:noFill/>
        </p:spPr>
        <p:txBody>
          <a:bodyPr wrap="square">
            <a:spAutoFit/>
          </a:bodyPr>
          <a:lstStyle/>
          <a:p>
            <a:r>
              <a:rPr sz="1100">
                <a:solidFill>
                  <a:srgbClr val="374151"/>
                </a:solidFill>
                <a:latin typeface="Arial"/>
              </a:rPr>
              <a:t>AlN  Ca₃N₂  GaN  Li₃N  Mg₃N₂</a:t>
            </a:r>
          </a:p>
        </p:txBody>
      </p:sp>
      <p:sp xmlns:a="http://schemas.openxmlformats.org/drawingml/2006/main">
        <p:nvSpPr>
          <p:cNvPr id="44" name="TextBox 43"/>
          <p:cNvSpPr txBox="1"/>
          <p:nvPr/>
        </p:nvSpPr>
        <p:spPr>
          <a:xfrm>
            <a:off x="4892040" y="4553712"/>
            <a:ext cx="3749039" cy="237744"/>
          </a:xfrm>
          <a:prstGeom prst="rect">
            <a:avLst/>
          </a:prstGeom>
          <a:noFill/>
        </p:spPr>
        <p:txBody>
          <a:bodyPr wrap="none">
            <a:spAutoFit/>
          </a:bodyPr>
          <a:lstStyle/>
          <a:p>
            <a:r>
              <a:rPr sz="1250" b="1">
                <a:solidFill>
                  <a:srgbClr val="6B7280"/>
                </a:solidFill>
                <a:latin typeface="Arial"/>
              </a:rPr>
              <a:t>IODIDES   4</a:t>
            </a:r>
          </a:p>
        </p:txBody>
      </p:sp>
      <p:sp xmlns:a="http://schemas.openxmlformats.org/drawingml/2006/main">
        <p:nvSpPr>
          <p:cNvPr id="45" name="TextBox 44"/>
          <p:cNvSpPr txBox="1"/>
          <p:nvPr/>
        </p:nvSpPr>
        <p:spPr>
          <a:xfrm>
            <a:off x="4892040" y="4809744"/>
            <a:ext cx="3749039" cy="219456"/>
          </a:xfrm>
          <a:prstGeom prst="rect">
            <a:avLst/>
          </a:prstGeom>
          <a:noFill/>
        </p:spPr>
        <p:txBody>
          <a:bodyPr wrap="square">
            <a:spAutoFit/>
          </a:bodyPr>
          <a:lstStyle/>
          <a:p>
            <a:r>
              <a:rPr sz="1100">
                <a:solidFill>
                  <a:srgbClr val="374151"/>
                </a:solidFill>
                <a:latin typeface="Arial"/>
              </a:rPr>
              <a:t>AlI₃  LiI  MgI₂  NaI</a:t>
            </a:r>
          </a:p>
        </p:txBody>
      </p:sp>
      <p:sp xmlns:a="http://schemas.openxmlformats.org/drawingml/2006/main">
        <p:nvSpPr>
          <p:cNvPr id="46" name="TextBox 4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Grouped by the dominant anion. Order inside a family carries no meaning — this is the input list, not a shortlist.</a:t>
            </a:r>
          </a:p>
        </p:txBody>
      </p:sp>
    </p:spTree>
    <p:extLst>
      <p:ext uri="{BB962C8B-B14F-4D97-AF65-F5344CB8AC3E}">
        <p14:creationId xmlns:p14="http://schemas.microsoft.com/office/powerpoint/2010/main" val="19244058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Where they sit</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Cation: the metal we substitute in  ·  Coverage: how many compounds of that element we ran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36 cation elements, from alkali metals to lanthanides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number in each box is </a:t>
            </a:r>
            <a:r>
              <a:rPr sz="1275" b="1">
                <a:solidFill>
                  <a:srgbClr val="2563EB"/>
                </a:solidFill>
                <a:latin typeface="Arial"/>
                <a:ea typeface="Arial"/>
                <a:cs typeface="Arial"/>
              </a:rPr>
              <a:t>how many different compounds of that element</a:t>
            </a:r>
            <a:r>
              <a:rPr sz="1275" b="0">
                <a:solidFill>
                  <a:srgbClr val="374151"/>
                </a:solidFill>
                <a:latin typeface="Arial"/>
                <a:ea typeface="Arial"/>
                <a:cs typeface="Arial"/>
              </a:rPr>
              <a:t> we actually ran.</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Coverage is broad in the transition metals and thin in the </a:t>
            </a:r>
            <a:r>
              <a:rPr sz="1275" b="1">
                <a:solidFill>
                  <a:srgbClr val="BE123C"/>
                </a:solidFill>
                <a:latin typeface="Arial"/>
                <a:ea typeface="Arial"/>
                <a:cs typeface="Arial"/>
              </a:rPr>
              <a:t>heavy main group</a:t>
            </a:r>
            <a:r>
              <a:rPr sz="1275" b="0">
                <a:solidFill>
                  <a:srgbClr val="374151"/>
                </a:solidFill>
                <a:latin typeface="Arial"/>
                <a:ea typeface="Arial"/>
                <a:cs typeface="Arial"/>
              </a:rPr>
              <a:t>.</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roster, drawn on the table</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pic xmlns:a="http://schemas.openxmlformats.org/drawingml/2006/main" xmlns:r="http://schemas.openxmlformats.org/officeDocument/2006/relationships">
        <p:nvPicPr>
          <p:cNvPr id="24" name="Picture 23" descr="roster_periodic_table.png"/>
          <p:cNvPicPr>
            <a:picLocks noChangeAspect="1"/>
          </p:cNvPicPr>
          <p:nvPr/>
        </p:nvPicPr>
        <p:blipFill>
          <a:blip r:embed="rId3"/>
          <a:stretch>
            <a:fillRect/>
          </a:stretch>
        </p:blipFill>
        <p:spPr>
          <a:xfrm>
            <a:off x="502920" y="2389184"/>
            <a:ext cx="8138160" cy="3359790"/>
          </a:xfrm>
          <a:prstGeom prst="rect">
            <a:avLst/>
          </a:prstGeom>
        </p:spPr>
      </p:pic>
      <p:sp xmlns:a="http://schemas.openxmlformats.org/drawingml/2006/main">
        <p:nvSpPr>
          <p:cNvPr id="25" name="TextBox 2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own roster. Colour marks the chemical family only — it is not a score and not a ranking.</a:t>
            </a:r>
          </a:p>
        </p:txBody>
      </p:sp>
    </p:spTree>
    <p:extLst>
      <p:ext uri="{BB962C8B-B14F-4D97-AF65-F5344CB8AC3E}">
        <p14:creationId xmlns:p14="http://schemas.microsoft.com/office/powerpoint/2010/main" val="694987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1 — Where it sits</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Sublattice: the set of equivalent positions one element occupies  ·  Aliovalent: a different charge from the ion it replaces</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dopant name is not yet a structure</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Li, P, S and Cl sublattices are distinct — an oxide needs </a:t>
            </a:r>
            <a:r>
              <a:rPr sz="1275" b="1">
                <a:solidFill>
                  <a:srgbClr val="2563EB"/>
                </a:solidFill>
                <a:latin typeface="Arial"/>
                <a:ea typeface="Arial"/>
                <a:cs typeface="Arial"/>
              </a:rPr>
              <a:t>a cation site and an anion site</a:t>
            </a:r>
            <a:r>
              <a:rPr sz="1275" b="0">
                <a:solidFill>
                  <a:srgbClr val="374151"/>
                </a:solidFill>
                <a:latin typeface="Arial"/>
                <a:ea typeface="Arial"/>
                <a:cs typeface="Arial"/>
              </a:rPr>
              <a:t>.</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Aliovalent substitution adds or removes Li, and </a:t>
            </a:r>
            <a:r>
              <a:rPr sz="1275" b="1">
                <a:solidFill>
                  <a:srgbClr val="BE123C"/>
                </a:solidFill>
                <a:latin typeface="Arial"/>
                <a:ea typeface="Arial"/>
                <a:cs typeface="Arial"/>
              </a:rPr>
              <a:t>more than one recipe balances the charge</a:t>
            </a:r>
            <a:r>
              <a:rPr sz="1275" b="0">
                <a:solidFill>
                  <a:srgbClr val="374151"/>
                </a:solidFill>
                <a:latin typeface="Arial"/>
                <a:ea typeface="Arial"/>
                <a:cs typeface="Arial"/>
              </a:rPr>
              <a:t>.</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site preference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pic xmlns:a="http://schemas.openxmlformats.org/drawingml/2006/main" xmlns:r="http://schemas.openxmlformats.org/officeDocument/2006/relationships">
        <p:nvPicPr>
          <p:cNvPr id="33" name="Picture 32" descr="step1_site_choice.png"/>
          <p:cNvPicPr>
            <a:picLocks noChangeAspect="1"/>
          </p:cNvPicPr>
          <p:nvPr/>
        </p:nvPicPr>
        <p:blipFill>
          <a:blip r:embed="rId3"/>
          <a:stretch>
            <a:fillRect/>
          </a:stretch>
        </p:blipFill>
        <p:spPr>
          <a:xfrm>
            <a:off x="1544600" y="2304288"/>
            <a:ext cx="6054798" cy="3529584"/>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which sublattice each cation prefers, plotted against its ionic radius. Big cations end up on Li sites; small group-14 ions replace P. Bars are the spread across our three runs.</a:t>
            </a:r>
          </a:p>
        </p:txBody>
      </p:sp>
    </p:spTree>
    <p:extLst>
      <p:ext uri="{BB962C8B-B14F-4D97-AF65-F5344CB8AC3E}">
        <p14:creationId xmlns:p14="http://schemas.microsoft.com/office/powerpoint/2010/main" val="8475215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2 — Building it</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Configuration: one specific arrangement of atoms in the cell  ·  Generator: the code that enumerates candidate structures</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 allowed site becomes its own candidate structure</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One compound produces </a:t>
            </a:r>
            <a:r>
              <a:rPr sz="1275" b="1">
                <a:solidFill>
                  <a:srgbClr val="2563EB"/>
                </a:solidFill>
                <a:latin typeface="Arial"/>
                <a:ea typeface="Arial"/>
                <a:cs typeface="Arial"/>
              </a:rPr>
              <a:t>several structures</a:t>
            </a:r>
            <a:r>
              <a:rPr sz="1275" b="0">
                <a:solidFill>
                  <a:srgbClr val="374151"/>
                </a:solidFill>
                <a:latin typeface="Arial"/>
                <a:ea typeface="Arial"/>
                <a:cs typeface="Arial"/>
              </a:rPr>
              <a:t>, not one — different sites, different charge recipes.</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Which site wins is </a:t>
            </a:r>
            <a:r>
              <a:rPr sz="1275" b="1">
                <a:solidFill>
                  <a:srgbClr val="BE123C"/>
                </a:solidFill>
                <a:latin typeface="Arial"/>
                <a:ea typeface="Arial"/>
                <a:cs typeface="Arial"/>
              </a:rPr>
              <a:t>an output of the generator</a:t>
            </a:r>
            <a:r>
              <a:rPr sz="1275" b="0">
                <a:solidFill>
                  <a:srgbClr val="374151"/>
                </a:solidFill>
                <a:latin typeface="Arial"/>
                <a:ea typeface="Arial"/>
                <a:cs typeface="Arial"/>
              </a:rPr>
              <a:t>, not something we controlled.</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where the anion landed</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pic xmlns:a="http://schemas.openxmlformats.org/drawingml/2006/main" xmlns:r="http://schemas.openxmlformats.org/officeDocument/2006/relationships">
        <p:nvPicPr>
          <p:cNvPr id="31" name="Picture 30" descr="step2_anion_site.png"/>
          <p:cNvPicPr>
            <a:picLocks noChangeAspect="1"/>
          </p:cNvPicPr>
          <p:nvPr/>
        </p:nvPicPr>
        <p:blipFill>
          <a:blip r:embed="rId3"/>
          <a:stretch>
            <a:fillRect/>
          </a:stretch>
        </p:blipFill>
        <p:spPr>
          <a:xfrm>
            <a:off x="502920" y="2392935"/>
            <a:ext cx="8138160" cy="3352289"/>
          </a:xfrm>
          <a:prstGeom prst="rect">
            <a:avLst/>
          </a:prstGeom>
        </p:spPr>
      </p:pic>
      <p:sp xmlns:a="http://schemas.openxmlformats.org/drawingml/2006/main">
        <p:nvSpPr>
          <p:cNvPr id="32" name="TextBox 3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where the dopant's anion actually landed across the campaign. Three sublattices absorbed it in comparable numbers, so the site was never fixed by design.</a:t>
            </a:r>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1800" b="1">
                <a:solidFill>
                  <a:srgbClr val="1F4E79"/>
                </a:solidFill>
                <a:latin typeface="Arial"/>
                <a:ea typeface="Arial"/>
                <a:cs typeface="Arial"/>
              </a:rPr>
              <a:t>STEP 3 — Cheap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Relaxation: moving atoms until the forces vanish  ·  Machine-learned potential: a fast stand-in for quantum-mechanical forces</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Let a fast model decide which structures are even plausible</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machine-learned potential relaxes in </a:t>
            </a:r>
            <a:r>
              <a:rPr sz="1275" b="1">
                <a:solidFill>
                  <a:srgbClr val="2563EB"/>
                </a:solidFill>
                <a:latin typeface="Arial"/>
                <a:ea typeface="Arial"/>
                <a:cs typeface="Arial"/>
              </a:rPr>
              <a:t>minutes instead of hours</a:t>
            </a:r>
            <a:r>
              <a:rPr sz="1275" b="0">
                <a:solidFill>
                  <a:srgbClr val="374151"/>
                </a:solidFill>
                <a:latin typeface="Arial"/>
                <a:ea typeface="Arial"/>
                <a:cs typeface="Arial"/>
              </a:rPr>
              <a:t>, so we can afford all of them.</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that collapse or refuse to converge drop out here.</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sp xmlns:a="http://schemas.openxmlformats.org/drawingml/2006/main">
        <p:nvSpPr>
          <p:cNvPr id="39" name="TextBox 38"/>
          <p:cNvSpPr txBox="1"/>
          <p:nvPr/>
        </p:nvSpPr>
        <p:spPr>
          <a:xfrm>
            <a:off x="960120" y="3931920"/>
            <a:ext cx="7223760" cy="566928"/>
          </a:xfrm>
          <a:prstGeom prst="rect">
            <a:avLst/>
          </a:prstGeom>
          <a:noFill/>
        </p:spPr>
        <p:txBody>
          <a:bodyPr wrap="square">
            <a:spAutoFit/>
          </a:bodyPr>
          <a:lstStyle/>
          <a:p>
            <a:r>
              <a:rPr sz="1400" b="1">
                <a:solidFill>
                  <a:srgbClr val="1F2937"/>
                </a:solidFill>
                <a:latin typeface="Arial"/>
              </a:rPr>
              <a:t>What we get  </a:t>
            </a:r>
            <a:r>
              <a:rPr sz="1400" b="0">
                <a:solidFill>
                  <a:srgbClr val="374151"/>
                </a:solidFill>
                <a:latin typeface="Arial"/>
              </a:rPr>
              <a:t>relative energies inside </a:t>
            </a:r>
            <a:r>
              <a:rPr sz="1400" b="1">
                <a:solidFill>
                  <a:srgbClr val="2563EB"/>
                </a:solidFill>
                <a:latin typeface="Arial"/>
              </a:rPr>
              <a:t>one consistent convention</a:t>
            </a:r>
            <a:r>
              <a:rPr sz="1400" b="0">
                <a:solidFill>
                  <a:srgbClr val="374151"/>
                </a:solidFill>
                <a:latin typeface="Arial"/>
              </a:rPr>
              <a:t> — enough to compare candidates.</a:t>
            </a:r>
          </a:p>
        </p:txBody>
      </p:sp>
      <p:sp xmlns:a="http://schemas.openxmlformats.org/drawingml/2006/main">
        <p:nvSpPr>
          <p:cNvPr id="40" name="TextBox 39"/>
          <p:cNvSpPr txBox="1"/>
          <p:nvPr/>
        </p:nvSpPr>
        <p:spPr>
          <a:xfrm>
            <a:off x="960120" y="4498848"/>
            <a:ext cx="7223760" cy="566928"/>
          </a:xfrm>
          <a:prstGeom prst="rect">
            <a:avLst/>
          </a:prstGeom>
          <a:noFill/>
        </p:spPr>
        <p:txBody>
          <a:bodyPr wrap="square">
            <a:spAutoFit/>
          </a:bodyPr>
          <a:lstStyle/>
          <a:p>
            <a:r>
              <a:rPr sz="1400" b="1">
                <a:solidFill>
                  <a:srgbClr val="BE123C"/>
                </a:solidFill>
                <a:latin typeface="Arial"/>
              </a:rPr>
              <a:t>What we do not get  </a:t>
            </a:r>
            <a:r>
              <a:rPr sz="1400" b="0">
                <a:solidFill>
                  <a:srgbClr val="374151"/>
                </a:solidFill>
                <a:latin typeface="Arial"/>
              </a:rPr>
              <a:t>formation energies, hull distances, or anything comparable to a database value.</a:t>
            </a:r>
          </a:p>
        </p:txBody>
      </p:sp>
      <p:sp xmlns:a="http://schemas.openxmlformats.org/drawingml/2006/main">
        <p:nvSpPr>
          <p:cNvPr id="41" name="TextBox 40"/>
          <p:cNvSpPr txBox="1"/>
          <p:nvPr/>
        </p:nvSpPr>
        <p:spPr>
          <a:xfrm>
            <a:off x="960120" y="5065776"/>
            <a:ext cx="7223760" cy="566928"/>
          </a:xfrm>
          <a:prstGeom prst="rect">
            <a:avLst/>
          </a:prstGeom>
          <a:noFill/>
        </p:spPr>
        <p:txBody>
          <a:bodyPr wrap="square">
            <a:spAutoFit/>
          </a:bodyPr>
          <a:lstStyle/>
          <a:p>
            <a:r>
              <a:rPr sz="1400" b="1">
                <a:solidFill>
                  <a:srgbClr val="1F2937"/>
                </a:solidFill>
                <a:latin typeface="Arial"/>
              </a:rPr>
              <a:t>Why that is fine  </a:t>
            </a:r>
            <a:r>
              <a:rPr sz="1400" b="0">
                <a:solidFill>
                  <a:srgbClr val="374151"/>
                </a:solidFill>
                <a:latin typeface="Arial"/>
              </a:rPr>
              <a:t>nothing downstream needs an absolute number — only an ordering.</a:t>
            </a:r>
          </a:p>
        </p:txBody>
      </p:sp>
      <p:sp xmlns:a="http://schemas.openxmlformats.org/drawingml/2006/main">
        <p:nvSpPr>
          <p:cNvPr id="42" name="TextBox 41"/>
          <p:cNvSpPr txBox="1"/>
          <p:nvPr/>
        </p:nvSpPr>
        <p:spPr>
          <a:xfrm>
            <a:off x="960120" y="2788920"/>
            <a:ext cx="7223760" cy="1371600"/>
          </a:xfrm>
          <a:prstGeom prst="rect">
            <a:avLst/>
          </a:prstGeom>
          <a:noFill/>
        </p:spPr>
        <p:txBody>
          <a:bodyPr wrap="square">
            <a:spAutoFit/>
          </a:bodyPr>
          <a:lstStyle/>
          <a:p>
            <a:pPr>
              <a:spcAft>
                <a:spcPts val="600"/>
              </a:spcAft>
            </a:pPr>
            <a:r>
              <a:rPr sz="1800">
                <a:solidFill>
                  <a:srgbClr val="1F2937"/>
                </a:solidFill>
                <a:latin typeface="Arial"/>
              </a:rPr>
              <a:t>This stage answers one question: does the structure hold together?</a:t>
            </a:r>
          </a:p>
        </p:txBody>
      </p:sp>
    </p:spTree>
    <p:extLst>
      <p:ext uri="{BB962C8B-B14F-4D97-AF65-F5344CB8AC3E}">
        <p14:creationId xmlns:p14="http://schemas.microsoft.com/office/powerpoint/2010/main" val="63302296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STEP 4 — Picking one</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the one structure carried forward  ·  Convergence: the optimiser actually finished</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One structure per candidate goes forward — and that is a choice</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keep the converged, low-energy structure whose cell volume did not blow up.</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Candidate counts differ per compound, so </a:t>
            </a:r>
            <a:r>
              <a:rPr sz="1275" b="1">
                <a:solidFill>
                  <a:srgbClr val="BE123C"/>
                </a:solidFill>
                <a:latin typeface="Arial"/>
                <a:ea typeface="Arial"/>
                <a:cs typeface="Arial"/>
              </a:rPr>
              <a:t>this is not a ranking of the elements</a:t>
            </a:r>
            <a:r>
              <a:rPr sz="1275" b="0">
                <a:solidFill>
                  <a:srgbClr val="374151"/>
                </a:solidFill>
                <a:latin typeface="Arial"/>
                <a:ea typeface="Arial"/>
                <a:cs typeface="Arial"/>
              </a:rPr>
              <a:t>.</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stability band</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xmlns:a="http://schemas.openxmlformats.org/drawingml/2006/main" xmlns:r="http://schemas.openxmlformats.org/officeDocument/2006/relationships">
        <p:nvPicPr>
          <p:cNvPr id="30" name="Picture 29" descr="step4_stability_band.png"/>
          <p:cNvPicPr>
            <a:picLocks noChangeAspect="1"/>
          </p:cNvPicPr>
          <p:nvPr/>
        </p:nvPicPr>
        <p:blipFill>
          <a:blip r:embed="rId3"/>
          <a:stretch>
            <a:fillRect/>
          </a:stretch>
        </p:blipFill>
        <p:spPr>
          <a:xfrm>
            <a:off x="1394948" y="2304288"/>
            <a:ext cx="6354103" cy="3529584"/>
          </a:xfrm>
          <a:prstGeom prst="rect">
            <a:avLst/>
          </a:prstGeom>
        </p:spPr>
      </p:pic>
      <p:sp xmlns:a="http://schemas.openxmlformats.org/drawingml/2006/main">
        <p:nvSpPr>
          <p:cNvPr id="31" name="TextBox 30"/>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against the undoped host, with the spread across our three runs. Here the runs agree, so a representative structure is defensible on this axis.</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5 — Shaking it</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a brief run at high temperature  ·  Local minimum: the nearest stable arrangement, not necessarily the right one</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short heat-and-relax tests whether the structure survives</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Plain relaxation only finds the </a:t>
            </a:r>
            <a:r>
              <a:rPr sz="1275" b="1">
                <a:solidFill>
                  <a:srgbClr val="BE123C"/>
                </a:solidFill>
                <a:latin typeface="Arial"/>
                <a:ea typeface="Arial"/>
                <a:cs typeface="Arial"/>
              </a:rPr>
              <a:t>nearest</a:t>
            </a:r>
            <a:r>
              <a:rPr sz="1275" b="0">
                <a:solidFill>
                  <a:srgbClr val="374151"/>
                </a:solidFill>
                <a:latin typeface="Arial"/>
                <a:ea typeface="Arial"/>
                <a:cs typeface="Arial"/>
              </a:rPr>
              <a:t> minimum; real synthesis explores much further.</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So we heat briefly, then relax again — everything measured next depends on </a:t>
            </a:r>
            <a:r>
              <a:rPr sz="1275" b="1">
                <a:solidFill>
                  <a:srgbClr val="2563EB"/>
                </a:solidFill>
                <a:latin typeface="Arial"/>
                <a:ea typeface="Arial"/>
                <a:cs typeface="Arial"/>
              </a:rPr>
              <a:t>bond lengths</a:t>
            </a:r>
            <a:r>
              <a:rPr sz="1275" b="0">
                <a:solidFill>
                  <a:srgbClr val="374151"/>
                </a:solidFill>
                <a:latin typeface="Arial"/>
                <a:ea typeface="Arial"/>
                <a:cs typeface="Arial"/>
              </a:rPr>
              <a:t>.</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sp xmlns:a="http://schemas.openxmlformats.org/drawingml/2006/main">
        <p:nvSpPr>
          <p:cNvPr id="39" name="TextBox 38"/>
          <p:cNvSpPr txBox="1"/>
          <p:nvPr/>
        </p:nvSpPr>
        <p:spPr>
          <a:xfrm>
            <a:off x="960120" y="4434840"/>
            <a:ext cx="7223760" cy="566928"/>
          </a:xfrm>
          <a:prstGeom prst="rect">
            <a:avLst/>
          </a:prstGeom>
          <a:noFill/>
        </p:spPr>
        <p:txBody>
          <a:bodyPr wrap="square">
            <a:spAutoFit/>
          </a:bodyPr>
          <a:lstStyle/>
          <a:p>
            <a:r>
              <a:rPr sz="1400" b="1">
                <a:solidFill>
                  <a:srgbClr val="1F2937"/>
                </a:solidFill>
                <a:latin typeface="Arial"/>
              </a:rPr>
              <a:t>Why it matters  </a:t>
            </a:r>
            <a:r>
              <a:rPr sz="1400" b="0">
                <a:solidFill>
                  <a:srgbClr val="374151"/>
                </a:solidFill>
                <a:latin typeface="Arial"/>
              </a:rPr>
              <a:t>Li pathways and stiffness both shift when bond lengths shift.</a:t>
            </a:r>
          </a:p>
        </p:txBody>
      </p:sp>
      <p:sp xmlns:a="http://schemas.openxmlformats.org/drawingml/2006/main">
        <p:nvSpPr>
          <p:cNvPr id="40" name="TextBox 39"/>
          <p:cNvSpPr txBox="1"/>
          <p:nvPr/>
        </p:nvSpPr>
        <p:spPr>
          <a:xfrm>
            <a:off x="960120" y="5001768"/>
            <a:ext cx="7223760" cy="566928"/>
          </a:xfrm>
          <a:prstGeom prst="rect">
            <a:avLst/>
          </a:prstGeom>
          <a:noFill/>
        </p:spPr>
        <p:txBody>
          <a:bodyPr wrap="square">
            <a:spAutoFit/>
          </a:bodyPr>
          <a:lstStyle/>
          <a:p>
            <a:r>
              <a:rPr sz="1400" b="1">
                <a:solidFill>
                  <a:srgbClr val="BE123C"/>
                </a:solidFill>
                <a:latin typeface="Arial"/>
              </a:rPr>
              <a:t>What it is not  </a:t>
            </a:r>
            <a:r>
              <a:rPr sz="1400" b="0">
                <a:solidFill>
                  <a:srgbClr val="374151"/>
                </a:solidFill>
                <a:latin typeface="Arial"/>
              </a:rPr>
              <a:t>an equilibrium structure, a synthesis history, or a conductivity measurement.</a:t>
            </a:r>
          </a:p>
        </p:txBody>
      </p:sp>
      <p:sp xmlns:a="http://schemas.openxmlformats.org/drawingml/2006/main">
        <p:nvSpPr>
          <p:cNvPr id="41" name="TextBox 40"/>
          <p:cNvSpPr txBox="1"/>
          <p:nvPr/>
        </p:nvSpPr>
        <p:spPr>
          <a:xfrm>
            <a:off x="960120" y="2880360"/>
            <a:ext cx="7223760" cy="1371600"/>
          </a:xfrm>
          <a:prstGeom prst="rect">
            <a:avLst/>
          </a:prstGeom>
          <a:noFill/>
        </p:spPr>
        <p:txBody>
          <a:bodyPr wrap="square">
            <a:spAutoFit/>
          </a:bodyPr>
          <a:lstStyle/>
          <a:p>
            <a:pPr>
              <a:spcAft>
                <a:spcPts val="600"/>
              </a:spcAft>
            </a:pPr>
            <a:r>
              <a:rPr sz="1700">
                <a:solidFill>
                  <a:srgbClr val="1F2937"/>
                </a:solidFill>
                <a:latin typeface="Arial"/>
              </a:rPr>
              <a:t>500 K for 50 picoseconds, then relax again.</a:t>
            </a:r>
          </a:p>
          <a:p>
            <a:pPr>
              <a:spcAft>
                <a:spcPts val="600"/>
              </a:spcAft>
            </a:pPr>
            <a:r>
              <a:rPr sz="1700">
                <a:solidFill>
                  <a:srgbClr val="1F2937"/>
                </a:solidFill>
                <a:latin typeface="Arial"/>
              </a:rPr>
              <a:t>Long enough to cross a small barrier, short enough to afford for everyone.</a:t>
            </a:r>
          </a:p>
        </p:txBody>
      </p:sp>
    </p:spTree>
    <p:extLst>
      <p:ext uri="{BB962C8B-B14F-4D97-AF65-F5344CB8AC3E}">
        <p14:creationId xmlns:p14="http://schemas.microsoft.com/office/powerpoint/2010/main" val="41894597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STEP 6 — The Li path</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map: a cheap estimate of how comfortable an ion is at a point  ·  Percolation: a low-energy path that spans the crystal</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Map the energy landscape a lithium ion would have to cross</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score every point for how comfortable a Li ion would be, then look for </a:t>
            </a:r>
            <a:r>
              <a:rPr sz="1275" b="1">
                <a:solidFill>
                  <a:srgbClr val="2563EB"/>
                </a:solidFill>
                <a:latin typeface="Arial"/>
                <a:ea typeface="Arial"/>
                <a:cs typeface="Arial"/>
              </a:rPr>
              <a:t>connected valleys</a:t>
            </a:r>
            <a:r>
              <a:rPr sz="1275" b="0">
                <a:solidFill>
                  <a:srgbClr val="374151"/>
                </a:solidFill>
                <a:latin typeface="Arial"/>
                <a:ea typeface="Arial"/>
                <a:cs typeface="Arial"/>
              </a:rPr>
              <a:t>.</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also count how much of the path the dopant itself </a:t>
            </a:r>
            <a:r>
              <a:rPr sz="1275" b="1">
                <a:solidFill>
                  <a:srgbClr val="BE123C"/>
                </a:solidFill>
                <a:latin typeface="Arial"/>
                <a:ea typeface="Arial"/>
                <a:cs typeface="Arial"/>
              </a:rPr>
              <a:t>sits in the way of</a:t>
            </a:r>
            <a:r>
              <a:rPr sz="1275" b="0">
                <a:solidFill>
                  <a:srgbClr val="374151"/>
                </a:solidFill>
                <a:latin typeface="Arial"/>
                <a:ea typeface="Arial"/>
                <a:cs typeface="Arial"/>
              </a:rPr>
              <a: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Li landscape</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19" name="Picture 18" descr="step6_li_landscape.png"/>
          <p:cNvPicPr>
            <a:picLocks noChangeAspect="1"/>
          </p:cNvPicPr>
          <p:nvPr/>
        </p:nvPicPr>
        <p:blipFill>
          <a:blip r:embed="rId4"/>
          <a:stretch>
            <a:fillRect/>
          </a:stretch>
        </p:blipFill>
        <p:spPr>
          <a:xfrm>
            <a:off x="770747" y="2304288"/>
            <a:ext cx="7602504" cy="3529584"/>
          </a:xfrm>
          <a:prstGeom prst="rect">
            <a:avLst/>
          </a:prstGeom>
        </p:spPr>
      </p:pic>
      <p:sp xmlns:a="http://schemas.openxmlformats.org/drawingml/2006/main">
        <p:nvSpPr>
          <p:cNvPr id="20" name="TextBox 1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static landscape, undoped versus B₂O₃-doped. ⚠ Valleys are low-energy regions, not verified channels — this flags risk, it does not measure conductivity.</a:t>
            </a:r>
          </a:p>
        </p:txBody>
      </p:sp>
    </p:spTree>
    <p:extLst>
      <p:ext uri="{BB962C8B-B14F-4D97-AF65-F5344CB8AC3E}">
        <p14:creationId xmlns:p14="http://schemas.microsoft.com/office/powerpoint/2010/main" val="6330229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7 — Squeezing it</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Equation of state: energy as the cell volume changes  ·  Stack pressure: the force holding the cell together</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In a solid-state cell the mechanics are part of the performance</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Too stiff and particles </a:t>
            </a:r>
            <a:r>
              <a:rPr sz="1275" b="1">
                <a:solidFill>
                  <a:srgbClr val="BE123C"/>
                </a:solidFill>
                <a:latin typeface="Arial"/>
                <a:ea typeface="Arial"/>
                <a:cs typeface="Arial"/>
              </a:rPr>
              <a:t>never make contact</a:t>
            </a:r>
            <a:r>
              <a:rPr sz="1275" b="0">
                <a:solidFill>
                  <a:srgbClr val="374151"/>
                </a:solidFill>
                <a:latin typeface="Arial"/>
                <a:ea typeface="Arial"/>
                <a:cs typeface="Arial"/>
              </a:rPr>
              <a:t>; too soft and the layer creeps.</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change the cell volume and apply small strains to get </a:t>
            </a:r>
            <a:r>
              <a:rPr sz="1275" b="1">
                <a:solidFill>
                  <a:srgbClr val="2563EB"/>
                </a:solidFill>
                <a:latin typeface="Arial"/>
                <a:ea typeface="Arial"/>
                <a:cs typeface="Arial"/>
              </a:rPr>
              <a:t>stiffness and ductility</a:t>
            </a:r>
            <a:r>
              <a:rPr sz="1275" b="0">
                <a:solidFill>
                  <a:srgbClr val="374151"/>
                </a:solidFill>
                <a:latin typeface="Arial"/>
                <a:ea typeface="Arial"/>
                <a:cs typeface="Arial"/>
              </a:rPr>
              <a:t>.</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checked against DFT</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pic xmlns:a="http://schemas.openxmlformats.org/drawingml/2006/main" xmlns:r="http://schemas.openxmlformats.org/officeDocument/2006/relationships">
        <p:nvPicPr>
          <p:cNvPr id="26" name="Picture 25" descr="step7_equation_of_state.png"/>
          <p:cNvPicPr>
            <a:picLocks noChangeAspect="1"/>
          </p:cNvPicPr>
          <p:nvPr/>
        </p:nvPicPr>
        <p:blipFill>
          <a:blip r:embed="rId4"/>
          <a:stretch>
            <a:fillRect/>
          </a:stretch>
        </p:blipFill>
        <p:spPr>
          <a:xfrm>
            <a:off x="1785003" y="2304288"/>
            <a:ext cx="5573992" cy="3529583"/>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one equation-of-state case checked against DFT. ⚠ A single-case check — the campaign-wide elastic numbers are model values compared within one convention.</a:t>
            </a:r>
          </a:p>
        </p:txBody>
      </p:sp>
    </p:spTree>
    <p:extLst>
      <p:ext uri="{BB962C8B-B14F-4D97-AF65-F5344CB8AC3E}">
        <p14:creationId xmlns:p14="http://schemas.microsoft.com/office/powerpoint/2010/main" val="18183679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8 — The window</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Oxidation onset: the voltage at which decomposition becomes favourable  ·  Window: the voltage range where nothing is driven to decompose</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Raising the voltage pulls Li out — we compute where it breaks</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At each voltage we ask whether the material would rather stay whole or </a:t>
            </a:r>
            <a:r>
              <a:rPr sz="1275" b="1">
                <a:solidFill>
                  <a:srgbClr val="BE123C"/>
                </a:solidFill>
                <a:latin typeface="Arial"/>
                <a:ea typeface="Arial"/>
                <a:cs typeface="Arial"/>
              </a:rPr>
              <a:t>split into other phases</a:t>
            </a:r>
            <a:r>
              <a:rPr sz="1275" b="0">
                <a:solidFill>
                  <a:srgbClr val="374151"/>
                </a:solidFill>
                <a:latin typeface="Arial"/>
                <a:ea typeface="Arial"/>
                <a:cs typeface="Arial"/>
              </a:rPr>
              <a:t>.</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get the onset </a:t>
            </a:r>
            <a:r>
              <a:rPr sz="1275" b="1">
                <a:solidFill>
                  <a:srgbClr val="2563EB"/>
                </a:solidFill>
                <a:latin typeface="Arial"/>
                <a:ea typeface="Arial"/>
                <a:cs typeface="Arial"/>
              </a:rPr>
              <a:t>and the products</a:t>
            </a:r>
            <a:r>
              <a:rPr sz="1275" b="0">
                <a:solidFill>
                  <a:srgbClr val="374151"/>
                </a:solidFill>
                <a:latin typeface="Arial"/>
                <a:ea typeface="Arial"/>
                <a:cs typeface="Arial"/>
              </a:rPr>
              <a:t> — an insulating one behaves nothing like a conducting one.</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90 candidates</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pic xmlns:a="http://schemas.openxmlformats.org/drawingml/2006/main" xmlns:r="http://schemas.openxmlformats.org/officeDocument/2006/relationships">
        <p:nvPicPr>
          <p:cNvPr id="32" name="Picture 31" descr="step8_oxidation_windows.png"/>
          <p:cNvPicPr>
            <a:picLocks noChangeAspect="1"/>
          </p:cNvPicPr>
          <p:nvPr/>
        </p:nvPicPr>
        <p:blipFill>
          <a:blip r:embed="rId3"/>
          <a:stretch>
            <a:fillRect/>
          </a:stretch>
        </p:blipFill>
        <p:spPr>
          <a:xfrm>
            <a:off x="828611" y="2304288"/>
            <a:ext cx="7486776" cy="3529584"/>
          </a:xfrm>
          <a:prstGeom prst="rect">
            <a:avLst/>
          </a:prstGeom>
        </p:spPr>
      </p:pic>
      <p:sp xmlns:a="http://schemas.openxmlformats.org/drawingml/2006/main">
        <p:nvSpPr>
          <p:cNvPr id="33" name="TextBox 3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voltage range over which each candidate is not driven to decompose. Late transition metals lose the window entirely. 0 K bulk thermodynamics — this says decomposition is allowed, not how fast.</a:t>
            </a:r>
          </a:p>
        </p:txBody>
      </p:sp>
    </p:spTree>
    <p:extLst>
      <p:ext uri="{BB962C8B-B14F-4D97-AF65-F5344CB8AC3E}">
        <p14:creationId xmlns:p14="http://schemas.microsoft.com/office/powerpoint/2010/main" val="58220651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1800" b="1">
                <a:solidFill>
                  <a:srgbClr val="1F4E79"/>
                </a:solidFill>
                <a:latin typeface="Arial"/>
                <a:ea typeface="Arial"/>
                <a:cs typeface="Arial"/>
              </a:rPr>
              <a:t>STEP 9 — What we skipped</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something cheap that correlates with what you want  ·  Adhesion: how strongly two materials stick across an interface</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Two calculations were designed in and never run</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Real conductivity</a:t>
            </a:r>
            <a:r>
              <a:rPr sz="1275" b="0">
                <a:solidFill>
                  <a:srgbClr val="374151"/>
                </a:solidFill>
                <a:latin typeface="Arial"/>
                <a:ea typeface="Arial"/>
                <a:cs typeface="Arial"/>
              </a:rPr>
              <a:t> — long dynamics per candidate, days each. Step 6 stands in as a proxy.</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The interface</a:t>
            </a:r>
            <a:r>
              <a:rPr sz="1275" b="0">
                <a:solidFill>
                  <a:srgbClr val="374151"/>
                </a:solidFill>
                <a:latin typeface="Arial"/>
                <a:ea typeface="Arial"/>
                <a:cs typeface="Arial"/>
              </a:rPr>
              <a:t> — how the doped electrolyte meets the cathode. Not attempted at all.</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Sundar et al., Adv. Sci. 2025</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pic xmlns:a="http://schemas.openxmlformats.org/drawingml/2006/main" xmlns:r="http://schemas.openxmlformats.org/officeDocument/2006/relationships">
        <p:nvPicPr>
          <p:cNvPr id="33" name="Picture 32" descr="image.png"/>
          <p:cNvPicPr>
            <a:picLocks noChangeAspect="1"/>
          </p:cNvPicPr>
          <p:nvPr/>
        </p:nvPicPr>
        <p:blipFill>
          <a:blip r:embed="rId3"/>
          <a:stretch>
            <a:fillRect/>
          </a:stretch>
        </p:blipFill>
        <p:spPr>
          <a:xfrm>
            <a:off x="502920" y="2522522"/>
            <a:ext cx="8138160" cy="3093115"/>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Sundar et al., Adv. Sci. (2025), Fig. 2 — the same oxide scored at four different interfaces. An element that looks safe against the electrolyte can look bad against the anode. We computed none of these four maps.</a:t>
            </a:r>
          </a:p>
        </p:txBody>
      </p:sp>
    </p:spTree>
    <p:extLst>
      <p:ext uri="{BB962C8B-B14F-4D97-AF65-F5344CB8AC3E}">
        <p14:creationId xmlns:p14="http://schemas.microsoft.com/office/powerpoint/2010/main" val="63302296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exists</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a file-backed result exists  ·  Not computed: no result exists, and no proxy substitutes for it</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Broad in structures, thin in the expensive evidence</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relaxation, anneal, Li maps, mechanics and oxidation windows </a:t>
            </a:r>
            <a:r>
              <a:rPr sz="1275" b="1">
                <a:solidFill>
                  <a:srgbClr val="2563EB"/>
                </a:solidFill>
                <a:latin typeface="Arial"/>
                <a:ea typeface="Arial"/>
                <a:cs typeface="Arial"/>
              </a:rPr>
              <a:t>all exist</a:t>
            </a:r>
            <a:r>
              <a:rPr sz="1275" b="0">
                <a:solidFill>
                  <a:srgbClr val="374151"/>
                </a:solidFill>
                <a:latin typeface="Arial"/>
                <a:ea typeface="Arial"/>
                <a:cs typeface="Arial"/>
              </a:rPr>
              <a: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Real conductivity, explicit interfaces and pool-wide DFT confirmation </a:t>
            </a:r>
            <a:r>
              <a:rPr sz="1275" b="1">
                <a:solidFill>
                  <a:srgbClr val="BE123C"/>
                </a:solidFill>
                <a:latin typeface="Arial"/>
                <a:ea typeface="Arial"/>
                <a:cs typeface="Arial"/>
              </a:rPr>
              <a:t>do not</a:t>
            </a:r>
            <a:r>
              <a:rPr sz="1275" b="0">
                <a:solidFill>
                  <a:srgbClr val="374151"/>
                </a:solidFill>
                <a:latin typeface="Arial"/>
                <a:ea typeface="Arial"/>
                <a:cs typeface="Arial"/>
              </a:rPr>
              <a:t>.</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Evidence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sp xmlns:a="http://schemas.openxmlformats.org/drawingml/2006/main">
        <p:nvSpPr>
          <p:cNvPr id="25" name="TextBox 24"/>
          <p:cNvSpPr txBox="1"/>
          <p:nvPr/>
        </p:nvSpPr>
        <p:spPr>
          <a:xfrm>
            <a:off x="960120" y="2697480"/>
            <a:ext cx="7223760" cy="1143000"/>
          </a:xfrm>
          <a:prstGeom prst="rect">
            <a:avLst/>
          </a:prstGeom>
          <a:noFill/>
        </p:spPr>
        <p:txBody>
          <a:bodyPr wrap="square">
            <a:spAutoFit/>
          </a:bodyPr>
          <a:lstStyle/>
          <a:p>
            <a:r>
              <a:rPr sz="1400" b="1">
                <a:solidFill>
                  <a:srgbClr val="2563EB"/>
                </a:solidFill>
                <a:latin typeface="Arial"/>
              </a:rPr>
              <a:t>Computed  </a:t>
            </a:r>
            <a:r>
              <a:rPr sz="1400" b="0">
                <a:solidFill>
                  <a:srgbClr val="374151"/>
                </a:solidFill>
                <a:latin typeface="Arial"/>
              </a:rPr>
              <a:t>candidate structures · fast relaxation · short anneal · static Li-path maps · stiffness and equation of state · bulk oxidation windows and decomposition products</a:t>
            </a:r>
          </a:p>
        </p:txBody>
      </p:sp>
      <p:sp xmlns:a="http://schemas.openxmlformats.org/drawingml/2006/main">
        <p:nvSpPr>
          <p:cNvPr id="26" name="TextBox 25"/>
          <p:cNvSpPr txBox="1"/>
          <p:nvPr/>
        </p:nvSpPr>
        <p:spPr>
          <a:xfrm>
            <a:off x="960120" y="3840480"/>
            <a:ext cx="7223760" cy="1143000"/>
          </a:xfrm>
          <a:prstGeom prst="rect">
            <a:avLst/>
          </a:prstGeom>
          <a:noFill/>
        </p:spPr>
        <p:txBody>
          <a:bodyPr wrap="square">
            <a:spAutoFit/>
          </a:bodyPr>
          <a:lstStyle/>
          <a:p>
            <a:r>
              <a:rPr sz="1400" b="1">
                <a:solidFill>
                  <a:srgbClr val="BE123C"/>
                </a:solidFill>
                <a:latin typeface="Arial"/>
              </a:rPr>
              <a:t>Not computed  </a:t>
            </a:r>
            <a:r>
              <a:rPr sz="1400" b="0">
                <a:solidFill>
                  <a:srgbClr val="374151"/>
                </a:solidFill>
                <a:latin typeface="Arial"/>
              </a:rPr>
              <a:t>a real concentration series · repeats at a fixed site · long conductivity dynamics · explicit interfaces and adhesion · DFT confirmation across the whole pool</a:t>
            </a:r>
          </a:p>
        </p:txBody>
      </p:sp>
      <p:sp xmlns:a="http://schemas.openxmlformats.org/drawingml/2006/main">
        <p:nvSpPr>
          <p:cNvPr id="27" name="TextBox 26"/>
          <p:cNvSpPr txBox="1"/>
          <p:nvPr/>
        </p:nvSpPr>
        <p:spPr>
          <a:xfrm>
            <a:off x="960120" y="4846320"/>
            <a:ext cx="7223760" cy="1371600"/>
          </a:xfrm>
          <a:prstGeom prst="rect">
            <a:avLst/>
          </a:prstGeom>
          <a:noFill/>
        </p:spPr>
        <p:txBody>
          <a:bodyPr wrap="square">
            <a:spAutoFit/>
          </a:bodyPr>
          <a:lstStyle/>
          <a:p>
            <a:pPr>
              <a:spcAft>
                <a:spcPts val="600"/>
              </a:spcAft>
            </a:pPr>
            <a:r>
              <a:rPr sz="1800">
                <a:solidFill>
                  <a:srgbClr val="1F2937"/>
                </a:solidFill>
                <a:latin typeface="Arial"/>
              </a:rPr>
              <a:t>A missing calculation stays missing.</a:t>
            </a:r>
          </a:p>
          <a:p>
            <a:pPr>
              <a:spcAft>
                <a:spcPts val="600"/>
              </a:spcAft>
            </a:pPr>
            <a:r>
              <a:rPr sz="1800">
                <a:solidFill>
                  <a:srgbClr val="1F2937"/>
                </a:solidFill>
                <a:latin typeface="Arial"/>
              </a:rPr>
              <a:t>A proxy can reorder the queue; it cannot take the place of the answer.</a:t>
            </a:r>
          </a:p>
        </p:txBody>
      </p:sp>
    </p:spTree>
    <p:extLst>
      <p:ext uri="{BB962C8B-B14F-4D97-AF65-F5344CB8AC3E}">
        <p14:creationId xmlns:p14="http://schemas.microsoft.com/office/powerpoint/2010/main" val="59665616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1 — Identity</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the atom counts in the simulated cell  ·  Placement: which site the dopant actually took</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same dopant name did not mean the same material</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2563EB"/>
                </a:solidFill>
                <a:latin typeface="Arial"/>
                <a:ea typeface="Arial"/>
                <a:cs typeface="Arial"/>
              </a:rPr>
              <a:t>59 of 90</a:t>
            </a:r>
            <a:r>
              <a:rPr sz="1275" b="0">
                <a:solidFill>
                  <a:srgbClr val="374151"/>
                </a:solidFill>
                <a:latin typeface="Arial"/>
                <a:ea typeface="Arial"/>
                <a:cs typeface="Arial"/>
              </a:rPr>
              <a:t> species kept one exact formula across our three runs; </a:t>
            </a:r>
            <a:r>
              <a:rPr sz="1275" b="1">
                <a:solidFill>
                  <a:srgbClr val="BE123C"/>
                </a:solidFill>
                <a:latin typeface="Arial"/>
                <a:ea typeface="Arial"/>
                <a:cs typeface="Arial"/>
              </a:rPr>
              <a:t>31 did not</a:t>
            </a:r>
            <a:r>
              <a:rPr sz="1275" b="0">
                <a:solidFill>
                  <a:srgbClr val="374151"/>
                </a:solidFill>
                <a:latin typeface="Arial"/>
                <a:ea typeface="Arial"/>
                <a:cs typeface="Arial"/>
              </a:rPr>
              <a: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Where the site moved the value moved too — averaging the three </a:t>
            </a:r>
            <a:r>
              <a:rPr sz="1275" b="1">
                <a:solidFill>
                  <a:srgbClr val="BE123C"/>
                </a:solidFill>
                <a:latin typeface="Arial"/>
                <a:ea typeface="Arial"/>
                <a:cs typeface="Arial"/>
              </a:rPr>
              <a:t>mixes different materials</a:t>
            </a:r>
            <a:r>
              <a:rPr sz="1275" b="0">
                <a:solidFill>
                  <a:srgbClr val="374151"/>
                </a:solidFill>
                <a:latin typeface="Arial"/>
                <a:ea typeface="Arial"/>
                <a:cs typeface="Arial"/>
              </a:rPr>
              <a:t>.</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label spread</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pic xmlns:a="http://schemas.openxmlformats.org/drawingml/2006/main" xmlns:r="http://schemas.openxmlformats.org/officeDocument/2006/relationships">
        <p:nvPicPr>
          <p:cNvPr id="26" name="Picture 25" descr="result1_same_name_different_value.png"/>
          <p:cNvPicPr>
            <a:picLocks noChangeAspect="1"/>
          </p:cNvPicPr>
          <p:nvPr/>
        </p:nvPicPr>
        <p:blipFill>
          <a:blip r:embed="rId3"/>
          <a:stretch>
            <a:fillRect/>
          </a:stretch>
        </p:blipFill>
        <p:spPr>
          <a:xfrm>
            <a:off x="502920" y="2339894"/>
            <a:ext cx="8138160" cy="3458370"/>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each grey bar is one species, each dot one run. The bar is as tall as the gap between a dozen different species — which means placement, not chemistry, is driving that axis.</a:t>
            </a:r>
          </a:p>
        </p:txBody>
      </p:sp>
    </p:spTree>
    <p:extLst>
      <p:ext uri="{BB962C8B-B14F-4D97-AF65-F5344CB8AC3E}">
        <p14:creationId xmlns:p14="http://schemas.microsoft.com/office/powerpoint/2010/main" val="19244058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2 — Oxidation</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Valence band: the highest filled electronic states  ·  Pinned: set by one element regardless of what else changes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Sulfur sets the limit, and shifts away from it are conditional</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top of the valence band is </a:t>
            </a:r>
            <a:r>
              <a:rPr sz="1275" b="1">
                <a:solidFill>
                  <a:srgbClr val="2563EB"/>
                </a:solidFill>
                <a:latin typeface="Arial"/>
                <a:ea typeface="Arial"/>
                <a:cs typeface="Arial"/>
              </a:rPr>
              <a:t>sulfur</a:t>
            </a:r>
            <a:r>
              <a:rPr sz="1275" b="0">
                <a:solidFill>
                  <a:srgbClr val="374151"/>
                </a:solidFill>
                <a:latin typeface="Arial"/>
                <a:ea typeface="Arial"/>
                <a:cs typeface="Arial"/>
              </a:rPr>
              <a:t>, so sulfur is oxidised first no matter what we add.</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Late transition metals are the clear loss: </a:t>
            </a:r>
            <a:r>
              <a:rPr sz="1275" b="1">
                <a:solidFill>
                  <a:srgbClr val="BE123C"/>
                </a:solidFill>
                <a:latin typeface="Arial"/>
                <a:ea typeface="Arial"/>
                <a:cs typeface="Arial"/>
              </a:rPr>
              <a:t>the window collapses</a:t>
            </a:r>
            <a:r>
              <a:rPr sz="1275" b="0">
                <a:solidFill>
                  <a:srgbClr val="374151"/>
                </a:solidFill>
                <a:latin typeface="Arial"/>
                <a:ea typeface="Arial"/>
                <a:cs typeface="Arial"/>
              </a:rPr>
              <a:t> rather than shifting.</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2022  ·  our onsets</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xmlns:a="http://schemas.openxmlformats.org/drawingml/2006/main" xmlns:r="http://schemas.openxmlformats.org/officeDocument/2006/relationships">
        <p:nvPicPr>
          <p:cNvPr id="21" name="Picture 20" descr="image.png"/>
          <p:cNvPicPr>
            <a:picLocks noChangeAspect="1"/>
          </p:cNvPicPr>
          <p:nvPr/>
        </p:nvPicPr>
        <p:blipFill>
          <a:blip r:embed="R17e897009f404d13"/>
          <a:stretch>
            <a:fillRect/>
          </a:stretch>
        </p:blipFill>
        <p:spPr>
          <a:xfrm>
            <a:off x="502920" y="2667054"/>
            <a:ext cx="3968496" cy="2804050"/>
          </a:xfrm>
          <a:prstGeom prst="rect">
            <a:avLst/>
          </a:prstGeom>
        </p:spPr>
      </p:pic>
      <p:pic xmlns:a="http://schemas.openxmlformats.org/drawingml/2006/main" xmlns:r="http://schemas.openxmlformats.org/officeDocument/2006/relationships">
        <p:nvPicPr>
          <p:cNvPr id="22" name="Picture 21" descr="result2_onset_by_chemistry.png"/>
          <p:cNvPicPr>
            <a:picLocks noChangeAspect="1"/>
          </p:cNvPicPr>
          <p:nvPr/>
        </p:nvPicPr>
        <p:blipFill>
          <a:blip r:embed="rId5"/>
          <a:stretch>
            <a:fillRect/>
          </a:stretch>
        </p:blipFill>
        <p:spPr>
          <a:xfrm>
            <a:off x="4672583" y="3085834"/>
            <a:ext cx="3968496" cy="1966491"/>
          </a:xfrm>
          <a:prstGeom prst="rect">
            <a:avLst/>
          </a:prstGeom>
        </p:spPr>
      </p:pic>
      <p:sp xmlns:a="http://schemas.openxmlformats.org/drawingml/2006/main">
        <p:nvSpPr>
          <p:cNvPr id="23" name="TextBox 2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Banik et al. (2022), Fig. 4 — the valence-band edge of Li₆PS₅Cl is sulfur. Right: our onsets grouped by cation chemistry. Most sit pinned at the host value; we cannot yet attribute the exceptions to an element.</a:t>
            </a:r>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3 — The trade</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Blocking fraction: how much of the Li path the dopant occupies  ·  Trade-off: a gain on one axis paid for on another</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What stabilises the lattice also blocks the traffic</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our candidates the two axes </a:t>
            </a:r>
            <a:r>
              <a:rPr sz="1275" b="1">
                <a:solidFill>
                  <a:srgbClr val="BE123C"/>
                </a:solidFill>
                <a:latin typeface="Arial"/>
                <a:ea typeface="Arial"/>
                <a:cs typeface="Arial"/>
              </a:rPr>
              <a:t>pull against each other</a:t>
            </a:r>
            <a:r>
              <a:rPr sz="1275" b="0">
                <a:solidFill>
                  <a:srgbClr val="374151"/>
                </a:solidFill>
                <a:latin typeface="Arial"/>
                <a:ea typeface="Arial"/>
                <a:cs typeface="Arial"/>
              </a:rPr>
              <a:t> — the trend is real, not noise.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tension shows up in the literature on a completely different material set.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data  ·  Xiao 2019</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pic xmlns:a="http://schemas.openxmlformats.org/drawingml/2006/main" xmlns:r="http://schemas.openxmlformats.org/officeDocument/2006/relationships">
        <p:nvPicPr>
          <p:cNvPr id="35" name="Picture 34" descr="result3_stability_vs_traffic.png"/>
          <p:cNvPicPr>
            <a:picLocks noChangeAspect="1"/>
          </p:cNvPicPr>
          <p:nvPr/>
        </p:nvPicPr>
        <p:blipFill>
          <a:blip r:embed="rId2"/>
          <a:stretch>
            <a:fillRect/>
          </a:stretch>
        </p:blipFill>
        <p:spPr>
          <a:xfrm>
            <a:off x="502920" y="2955798"/>
            <a:ext cx="3968496" cy="2226564"/>
          </a:xfrm>
          <a:prstGeom prst="rect">
            <a:avLst/>
          </a:prstGeom>
        </p:spPr>
      </p:pic>
      <p:pic xmlns:a="http://schemas.openxmlformats.org/drawingml/2006/main" xmlns:r="http://schemas.openxmlformats.org/officeDocument/2006/relationships">
        <p:nvPicPr>
          <p:cNvPr id="36" name="Picture 35" descr="fig_7.png"/>
          <p:cNvPicPr>
            <a:picLocks noChangeAspect="1"/>
          </p:cNvPicPr>
          <p:nvPr/>
        </p:nvPicPr>
        <p:blipFill>
          <a:blip r:embed="rId3"/>
          <a:stretch>
            <a:fillRect/>
          </a:stretch>
        </p:blipFill>
        <p:spPr>
          <a:xfrm>
            <a:off x="4672583" y="2710755"/>
            <a:ext cx="3968496" cy="2716649"/>
          </a:xfrm>
          <a:prstGeom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our candidates — more stabilising means more Li sites blocked. Right: Xiao et al. (2019), Fig. 7 — across 411 oxides, more lithium means a lower oxidation limit. Same shape of problem.</a:t>
            </a:r>
          </a:p>
        </p:txBody>
      </p:sp>
    </p:spTree>
    <p:extLst>
      <p:ext uri="{BB962C8B-B14F-4D97-AF65-F5344CB8AC3E}">
        <p14:creationId xmlns:p14="http://schemas.microsoft.com/office/powerpoint/2010/main" val="79106766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Next round</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Seed: a different random starting arrangement  ·  Boundary case: a candidate sitting near a decision threshold</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Fix the comparison before making it bigger</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2563EB"/>
                </a:solidFill>
                <a:latin typeface="Arial"/>
                <a:ea typeface="Arial"/>
                <a:cs typeface="Arial"/>
              </a:rPr>
              <a:t>Freeze the site and the formula</a:t>
            </a:r>
            <a:r>
              <a:rPr sz="1275" b="0">
                <a:solidFill>
                  <a:srgbClr val="374151"/>
                </a:solidFill>
                <a:latin typeface="Arial"/>
                <a:ea typeface="Arial"/>
                <a:cs typeface="Arial"/>
              </a:rPr>
              <a:t>, then repeat — that separates chemistry from placement.</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Build real low concentrations in </a:t>
            </a:r>
            <a:r>
              <a:rPr sz="1275" b="1">
                <a:solidFill>
                  <a:srgbClr val="2563EB"/>
                </a:solidFill>
                <a:latin typeface="Arial"/>
                <a:ea typeface="Arial"/>
                <a:cs typeface="Arial"/>
              </a:rPr>
              <a:t>larger cells</a:t>
            </a:r>
            <a:r>
              <a:rPr sz="1275" b="0">
                <a:solidFill>
                  <a:srgbClr val="374151"/>
                </a:solidFill>
                <a:latin typeface="Arial"/>
                <a:ea typeface="Arial"/>
                <a:cs typeface="Arial"/>
              </a:rPr>
              <a:t>; promote only boundary cases upward.</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reference host</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xmlns:a="http://schemas.openxmlformats.org/drawingml/2006/main" xmlns:r="http://schemas.openxmlformats.org/officeDocument/2006/relationships">
        <p:nvPicPr>
          <p:cNvPr id="43" name="Picture 42" descr="image.png"/>
          <p:cNvPicPr>
            <a:picLocks noChangeAspect="1"/>
          </p:cNvPicPr>
          <p:nvPr/>
        </p:nvPicPr>
        <p:blipFill>
          <a:blip r:embed="rId3"/>
          <a:stretch>
            <a:fillRect/>
          </a:stretch>
        </p:blipFill>
        <p:spPr>
          <a:xfrm>
            <a:off x="502920" y="2608384"/>
            <a:ext cx="8138160" cy="2921390"/>
          </a:xfrm>
          <a:prstGeom prst="rect">
            <a:avLst/>
          </a:prstGeom>
        </p:spPr>
      </p:pic>
      <p:sp xmlns:a="http://schemas.openxmlformats.org/drawingml/2006/main">
        <p:nvSpPr>
          <p:cNvPr id="44" name="TextBox 4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framework, Li percolation path and the bond-valence channel of the undoped host — the reference the next campaign is built on.</a:t>
            </a:r>
          </a:p>
        </p:txBody>
      </p:sp>
    </p:spTree>
    <p:extLst>
      <p:ext uri="{BB962C8B-B14F-4D97-AF65-F5344CB8AC3E}">
        <p14:creationId xmlns:p14="http://schemas.microsoft.com/office/powerpoint/2010/main" val="17652413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ML &amp; co-doping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the region the training data actually covers  ·  Co-doping: two modifiers in the same lattice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the data to schedule calculations, not to invent results</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90 candidates gives </a:t>
            </a:r>
            <a:r>
              <a:rPr sz="1275" b="1">
                <a:solidFill>
                  <a:srgbClr val="2563EB"/>
                </a:solidFill>
                <a:latin typeface="Arial"/>
                <a:ea typeface="Arial"/>
                <a:cs typeface="Arial"/>
              </a:rPr>
              <a:t>4,000 pairs</a:t>
            </a:r>
            <a:r>
              <a:rPr sz="1275" b="0">
                <a:solidFill>
                  <a:srgbClr val="374151"/>
                </a:solidFill>
                <a:latin typeface="Arial"/>
                <a:ea typeface="Arial"/>
                <a:cs typeface="Arial"/>
              </a:rPr>
              <a:t> — never computable, but predictable enough to prioritise.</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On today's data a model would also learn our </a:t>
            </a:r>
            <a:r>
              <a:rPr sz="1275" b="1">
                <a:solidFill>
                  <a:srgbClr val="BE123C"/>
                </a:solidFill>
                <a:latin typeface="Arial"/>
                <a:ea typeface="Arial"/>
                <a:cs typeface="Arial"/>
              </a:rPr>
              <a:t>placement noise</a:t>
            </a:r>
            <a:r>
              <a:rPr sz="1275" b="0">
                <a:solidFill>
                  <a:srgbClr val="374151"/>
                </a:solidFill>
                <a:latin typeface="Arial"/>
                <a:ea typeface="Arial"/>
                <a:cs typeface="Arial"/>
              </a:rPr>
              <a:t> — Result 1 comes first.</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714375" y="2673248"/>
            <a:ext cx="3714750" cy="2464004"/>
          </a:xfrm>
          <a:prstGeom xmlns:a="http://schemas.openxmlformats.org/drawingml/2006/main"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et al. (2017), Fig. 4 — read the distance from the training data on the x-axis, not only the probability on the y-axis. Confidence outside the training domain is the failure mode to guard against.</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survives being rebuilt a different way  ·  Validation budget: how many expensive calculations we can afford</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Where I would like the room's opinion</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we have is a </a:t>
            </a:r>
            <a:r>
              <a:rPr sz="1275" b="1">
                <a:solidFill>
                  <a:srgbClr val="2563EB"/>
                </a:solidFill>
                <a:latin typeface="Arial"/>
                <a:ea typeface="Arial"/>
                <a:cs typeface="Arial"/>
              </a:rPr>
              <a:t>map of where the comparison is solid</a:t>
            </a:r>
            <a:r>
              <a:rPr sz="1275" b="0">
                <a:solidFill>
                  <a:srgbClr val="374151"/>
                </a:solidFill>
                <a:latin typeface="Arial"/>
                <a:ea typeface="Arial"/>
                <a:cs typeface="Arial"/>
              </a:rPr>
              <a:t> and where it wobbles.</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we do not have is a shortlist — and I would rather earn one than announce one.</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Questions for the room</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xmlns:a="http://schemas.openxmlformats.org/drawingml/2006/main">
        <p:nvSpPr>
          <p:cNvPr id="29" name="TextBox 28"/>
          <p:cNvSpPr txBox="1"/>
          <p:nvPr/>
        </p:nvSpPr>
        <p:spPr>
          <a:xfrm>
            <a:off x="960120" y="2651760"/>
            <a:ext cx="7223760" cy="749808"/>
          </a:xfrm>
          <a:prstGeom prst="rect">
            <a:avLst/>
          </a:prstGeom>
          <a:noFill/>
        </p:spPr>
        <p:txBody>
          <a:bodyPr wrap="square">
            <a:spAutoFit/>
          </a:bodyPr>
          <a:lstStyle/>
          <a:p>
            <a:r>
              <a:rPr sz="1450" b="1">
                <a:solidFill>
                  <a:srgbClr val="1F2937"/>
                </a:solidFill>
                <a:latin typeface="Arial"/>
              </a:rPr>
              <a:t>1 · What first?  </a:t>
            </a:r>
            <a:r>
              <a:rPr sz="1450" b="0">
                <a:solidFill>
                  <a:srgbClr val="374151"/>
                </a:solidFill>
                <a:latin typeface="Arial"/>
              </a:rPr>
              <a:t>A real concentration series with repeats, or the first explicit interface?</a:t>
            </a:r>
          </a:p>
        </p:txBody>
      </p:sp>
      <p:sp xmlns:a="http://schemas.openxmlformats.org/drawingml/2006/main">
        <p:nvSpPr>
          <p:cNvPr id="30" name="TextBox 29"/>
          <p:cNvSpPr txBox="1"/>
          <p:nvPr/>
        </p:nvSpPr>
        <p:spPr>
          <a:xfrm>
            <a:off x="960120" y="3401568"/>
            <a:ext cx="7223760" cy="749808"/>
          </a:xfrm>
          <a:prstGeom prst="rect">
            <a:avLst/>
          </a:prstGeom>
          <a:noFill/>
        </p:spPr>
        <p:txBody>
          <a:bodyPr wrap="square">
            <a:spAutoFit/>
          </a:bodyPr>
          <a:lstStyle/>
          <a:p>
            <a:r>
              <a:rPr sz="1450" b="1">
                <a:solidFill>
                  <a:srgbClr val="1F2937"/>
                </a:solidFill>
                <a:latin typeface="Arial"/>
              </a:rPr>
              <a:t>2 · What is “best”?  </a:t>
            </a:r>
            <a:r>
              <a:rPr sz="1450" b="0">
                <a:solidFill>
                  <a:srgbClr val="374151"/>
                </a:solidFill>
                <a:latin typeface="Arial"/>
              </a:rPr>
              <a:t>The best single configuration, or the candidate that survives </a:t>
            </a:r>
            <a:r>
              <a:rPr sz="1450" b="1">
                <a:solidFill>
                  <a:srgbClr val="2563EB"/>
                </a:solidFill>
                <a:latin typeface="Arial"/>
              </a:rPr>
              <a:t>being rebuilt</a:t>
            </a:r>
            <a:r>
              <a:rPr sz="1450" b="0">
                <a:solidFill>
                  <a:srgbClr val="374151"/>
                </a:solidFill>
                <a:latin typeface="Arial"/>
              </a:rPr>
              <a:t>?</a:t>
            </a:r>
          </a:p>
        </p:txBody>
      </p:sp>
      <p:sp xmlns:a="http://schemas.openxmlformats.org/drawingml/2006/main">
        <p:nvSpPr>
          <p:cNvPr id="31" name="TextBox 30"/>
          <p:cNvSpPr txBox="1"/>
          <p:nvPr/>
        </p:nvSpPr>
        <p:spPr>
          <a:xfrm>
            <a:off x="960120" y="4151376"/>
            <a:ext cx="7223760" cy="749808"/>
          </a:xfrm>
          <a:prstGeom prst="rect">
            <a:avLst/>
          </a:prstGeom>
          <a:noFill/>
        </p:spPr>
        <p:txBody>
          <a:bodyPr wrap="square">
            <a:spAutoFit/>
          </a:bodyPr>
          <a:lstStyle/>
          <a:p>
            <a:r>
              <a:rPr sz="1450" b="1">
                <a:solidFill>
                  <a:srgbClr val="1F2937"/>
                </a:solidFill>
                <a:latin typeface="Arial"/>
              </a:rPr>
              <a:t>3 · How many repeats?  </a:t>
            </a:r>
            <a:r>
              <a:rPr sz="1450" b="0">
                <a:solidFill>
                  <a:srgbClr val="374151"/>
                </a:solidFill>
                <a:latin typeface="Arial"/>
              </a:rPr>
              <a:t>How many sites and seeds before a chemistry is worth promoting?</a:t>
            </a:r>
          </a:p>
        </p:txBody>
      </p:sp>
      <p:sp xmlns:a="http://schemas.openxmlformats.org/drawingml/2006/main">
        <p:nvSpPr>
          <p:cNvPr id="32" name="TextBox 31"/>
          <p:cNvSpPr txBox="1"/>
          <p:nvPr/>
        </p:nvSpPr>
        <p:spPr>
          <a:xfrm>
            <a:off x="960120" y="4901183"/>
            <a:ext cx="7223760" cy="749808"/>
          </a:xfrm>
          <a:prstGeom prst="rect">
            <a:avLst/>
          </a:prstGeom>
          <a:noFill/>
        </p:spPr>
        <p:txBody>
          <a:bodyPr wrap="square">
            <a:spAutoFit/>
          </a:bodyPr>
          <a:lstStyle/>
          <a:p>
            <a:r>
              <a:rPr sz="1450" b="1">
                <a:solidFill>
                  <a:srgbClr val="1F2937"/>
                </a:solidFill>
                <a:latin typeface="Arial"/>
              </a:rPr>
              <a:t>4 · Is a bulk-only screen worth handing to experiment?  </a:t>
            </a:r>
            <a:r>
              <a:rPr sz="1450" b="0">
                <a:solidFill>
                  <a:srgbClr val="374151"/>
                </a:solidFill>
                <a:latin typeface="Arial"/>
              </a:rPr>
              <a:t>Or must the </a:t>
            </a:r>
            <a:r>
              <a:rPr sz="1450" b="1">
                <a:solidFill>
                  <a:srgbClr val="BE123C"/>
                </a:solidFill>
                <a:latin typeface="Arial"/>
              </a:rPr>
              <a:t>interface</a:t>
            </a:r>
            <a:r>
              <a:rPr sz="1450" b="0">
                <a:solidFill>
                  <a:srgbClr val="374151"/>
                </a:solidFill>
                <a:latin typeface="Arial"/>
              </a:rPr>
              <a:t> be computed first?</a:t>
            </a:r>
          </a:p>
        </p:txBody>
      </p:sp>
      <p:sp xmlns:a="http://schemas.openxmlformats.org/drawingml/2006/main">
        <p:nvSpPr>
          <p:cNvPr id="33" name="TextBox 32"/>
          <p:cNvSpPr txBox="1"/>
          <p:nvPr/>
        </p:nvSpPr>
        <p:spPr>
          <a:xfrm>
            <a:off x="960120" y="553212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the twin</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Garnet: the Li₇La₃Zr₂O₁₂ oxide electrolyte family  ·  Survey: every dopant tried, not only the ones that worked</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same survey, done in a laboratory instead of a computer</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59 dopants synthesised and measured in a garnet — </a:t>
            </a:r>
            <a:r>
              <a:rPr sz="1275" b="1">
                <a:solidFill>
                  <a:srgbClr val="2563EB"/>
                </a:solidFill>
                <a:latin typeface="Arial"/>
                <a:ea typeface="Arial"/>
                <a:cs typeface="Arial"/>
              </a:rPr>
              <a:t>our closest experimental twin</a:t>
            </a:r>
            <a:r>
              <a:rPr sz="1275" b="0">
                <a:solidFill>
                  <a:srgbClr val="374151"/>
                </a:solidFill>
                <a:latin typeface="Arial"/>
                <a:ea typeface="Arial"/>
                <a:cs typeface="Arial"/>
              </a:rPr>
              <a:t>.</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32 of our 36 cation elements appear in their table too.</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Anderson, Zolfaghar, Jonderian, Khaliullin &amp; McCalla, Adv. Energy Mater. 14 (2024) 2304025, Fig. 1. Yellow marks dopants tried there for the first time.</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steps</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Talk step: the question as told here  ·  Workflow stage: the folder that actually ran</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How the nine talk steps map onto what actually ran</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talk names each step by </a:t>
            </a:r>
            <a:r>
              <a:rPr sz="1275" b="1">
                <a:solidFill>
                  <a:srgbClr val="2563EB"/>
                </a:solidFill>
                <a:latin typeface="Arial"/>
                <a:ea typeface="Arial"/>
                <a:cs typeface="Arial"/>
              </a:rPr>
              <a:t>the question it answers</a:t>
            </a:r>
            <a:r>
              <a:rPr sz="1275" b="0">
                <a:solidFill>
                  <a:srgbClr val="374151"/>
                </a:solidFill>
                <a:latin typeface="Arial"/>
                <a:ea typeface="Arial"/>
                <a:cs typeface="Arial"/>
              </a:rPr>
              <a:t>; the folders are named by what ran.</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Two designed stages never produced evidence — they are marked </a:t>
            </a:r>
            <a:r>
              <a:rPr sz="1275" b="1">
                <a:solidFill>
                  <a:srgbClr val="BE123C"/>
                </a:solidFill>
                <a:latin typeface="Arial"/>
                <a:ea typeface="Arial"/>
                <a:cs typeface="Arial"/>
              </a:rPr>
              <a:t>not run</a:t>
            </a:r>
            <a:r>
              <a:rPr sz="1275" b="0">
                <a:solidFill>
                  <a:srgbClr val="374151"/>
                </a:solidFill>
                <a:latin typeface="Arial"/>
                <a:ea typeface="Arial"/>
                <a:cs typeface="Arial"/>
              </a:rPr>
              <a:t>.</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Implementation map</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sp xmlns:a="http://schemas.openxmlformats.org/drawingml/2006/main">
        <p:nvSpPr>
          <p:cNvPr id="43" name="TextBox 42"/>
          <p:cNvSpPr txBox="1"/>
          <p:nvPr/>
        </p:nvSpPr>
        <p:spPr>
          <a:xfrm>
            <a:off x="960120" y="2542032"/>
            <a:ext cx="7223760" cy="352044"/>
          </a:xfrm>
          <a:prstGeom prst="rect">
            <a:avLst/>
          </a:prstGeom>
          <a:noFill/>
        </p:spPr>
        <p:txBody>
          <a:bodyPr wrap="square">
            <a:spAutoFit/>
          </a:bodyPr>
          <a:lstStyle/>
          <a:p>
            <a:r>
              <a:rPr sz="1300" b="1">
                <a:solidFill>
                  <a:srgbClr val="1F2937"/>
                </a:solidFill>
                <a:latin typeface="Arial"/>
              </a:rPr>
              <a:t>1 · Where it sits  </a:t>
            </a:r>
            <a:r>
              <a:rPr sz="1300" b="0">
                <a:solidFill>
                  <a:srgbClr val="374151"/>
                </a:solidFill>
                <a:latin typeface="Arial"/>
              </a:rPr>
              <a:t>enumerate the sublattices and the charge recipes</a:t>
            </a:r>
          </a:p>
        </p:txBody>
      </p:sp>
      <p:sp xmlns:a="http://schemas.openxmlformats.org/drawingml/2006/main">
        <p:nvSpPr>
          <p:cNvPr id="44" name="TextBox 43"/>
          <p:cNvSpPr txBox="1"/>
          <p:nvPr/>
        </p:nvSpPr>
        <p:spPr>
          <a:xfrm>
            <a:off x="960120" y="2894076"/>
            <a:ext cx="7223760" cy="352044"/>
          </a:xfrm>
          <a:prstGeom prst="rect">
            <a:avLst/>
          </a:prstGeom>
          <a:noFill/>
        </p:spPr>
        <p:txBody>
          <a:bodyPr wrap="square">
            <a:spAutoFit/>
          </a:bodyPr>
          <a:lstStyle/>
          <a:p>
            <a:r>
              <a:rPr sz="1300" b="1">
                <a:solidFill>
                  <a:srgbClr val="1F2937"/>
                </a:solidFill>
                <a:latin typeface="Arial"/>
              </a:rPr>
              <a:t>2 · Building it  </a:t>
            </a:r>
            <a:r>
              <a:rPr sz="1300" b="0">
                <a:solidFill>
                  <a:srgbClr val="374151"/>
                </a:solidFill>
                <a:latin typeface="Arial"/>
              </a:rPr>
              <a:t>generate one structure per allowed placement</a:t>
            </a:r>
          </a:p>
        </p:txBody>
      </p:sp>
      <p:sp xmlns:a="http://schemas.openxmlformats.org/drawingml/2006/main">
        <p:nvSpPr>
          <p:cNvPr id="45" name="TextBox 44"/>
          <p:cNvSpPr txBox="1"/>
          <p:nvPr/>
        </p:nvSpPr>
        <p:spPr>
          <a:xfrm>
            <a:off x="960120" y="3246120"/>
            <a:ext cx="7223760" cy="352044"/>
          </a:xfrm>
          <a:prstGeom prst="rect">
            <a:avLst/>
          </a:prstGeom>
          <a:noFill/>
        </p:spPr>
        <p:txBody>
          <a:bodyPr wrap="square">
            <a:spAutoFit/>
          </a:bodyPr>
          <a:lstStyle/>
          <a:p>
            <a:r>
              <a:rPr sz="1300" b="1">
                <a:solidFill>
                  <a:srgbClr val="1F2937"/>
                </a:solidFill>
                <a:latin typeface="Arial"/>
              </a:rPr>
              <a:t>3 · Cheap relaxation  </a:t>
            </a:r>
            <a:r>
              <a:rPr sz="1300" b="0">
                <a:solidFill>
                  <a:srgbClr val="374151"/>
                </a:solidFill>
                <a:latin typeface="Arial"/>
              </a:rPr>
              <a:t>relax every candidate with the fast potential</a:t>
            </a:r>
          </a:p>
        </p:txBody>
      </p:sp>
      <p:sp xmlns:a="http://schemas.openxmlformats.org/drawingml/2006/main">
        <p:nvSpPr>
          <p:cNvPr id="46" name="TextBox 45"/>
          <p:cNvSpPr txBox="1"/>
          <p:nvPr/>
        </p:nvSpPr>
        <p:spPr>
          <a:xfrm>
            <a:off x="960120" y="3598163"/>
            <a:ext cx="7223760" cy="352044"/>
          </a:xfrm>
          <a:prstGeom prst="rect">
            <a:avLst/>
          </a:prstGeom>
          <a:noFill/>
        </p:spPr>
        <p:txBody>
          <a:bodyPr wrap="square">
            <a:spAutoFit/>
          </a:bodyPr>
          <a:lstStyle/>
          <a:p>
            <a:r>
              <a:rPr sz="1300" b="1">
                <a:solidFill>
                  <a:srgbClr val="1F2937"/>
                </a:solidFill>
                <a:latin typeface="Arial"/>
              </a:rPr>
              <a:t>4 · Picking one  </a:t>
            </a:r>
            <a:r>
              <a:rPr sz="1300" b="0">
                <a:solidFill>
                  <a:srgbClr val="374151"/>
                </a:solidFill>
                <a:latin typeface="Arial"/>
              </a:rPr>
              <a:t>keep a converged, low-energy representative</a:t>
            </a:r>
          </a:p>
        </p:txBody>
      </p:sp>
      <p:sp xmlns:a="http://schemas.openxmlformats.org/drawingml/2006/main">
        <p:nvSpPr>
          <p:cNvPr id="47" name="TextBox 46"/>
          <p:cNvSpPr txBox="1"/>
          <p:nvPr/>
        </p:nvSpPr>
        <p:spPr>
          <a:xfrm>
            <a:off x="960120" y="3950208"/>
            <a:ext cx="7223760" cy="352044"/>
          </a:xfrm>
          <a:prstGeom prst="rect">
            <a:avLst/>
          </a:prstGeom>
          <a:noFill/>
        </p:spPr>
        <p:txBody>
          <a:bodyPr wrap="square">
            <a:spAutoFit/>
          </a:bodyPr>
          <a:lstStyle/>
          <a:p>
            <a:r>
              <a:rPr sz="1300" b="1">
                <a:solidFill>
                  <a:srgbClr val="1F2937"/>
                </a:solidFill>
                <a:latin typeface="Arial"/>
              </a:rPr>
              <a:t>5 · Shaking it  </a:t>
            </a:r>
            <a:r>
              <a:rPr sz="1300" b="0">
                <a:solidFill>
                  <a:srgbClr val="374151"/>
                </a:solidFill>
                <a:latin typeface="Arial"/>
              </a:rPr>
              <a:t>brief anneal at 500 K, then relax again</a:t>
            </a:r>
          </a:p>
        </p:txBody>
      </p:sp>
      <p:sp xmlns:a="http://schemas.openxmlformats.org/drawingml/2006/main">
        <p:nvSpPr>
          <p:cNvPr id="48" name="TextBox 47"/>
          <p:cNvSpPr txBox="1"/>
          <p:nvPr/>
        </p:nvSpPr>
        <p:spPr>
          <a:xfrm>
            <a:off x="960120" y="4302252"/>
            <a:ext cx="7223760" cy="352044"/>
          </a:xfrm>
          <a:prstGeom prst="rect">
            <a:avLst/>
          </a:prstGeom>
          <a:noFill/>
        </p:spPr>
        <p:txBody>
          <a:bodyPr wrap="square">
            <a:spAutoFit/>
          </a:bodyPr>
          <a:lstStyle/>
          <a:p>
            <a:r>
              <a:rPr sz="1300" b="1">
                <a:solidFill>
                  <a:srgbClr val="1F2937"/>
                </a:solidFill>
                <a:latin typeface="Arial"/>
              </a:rPr>
              <a:t>6 · The Li path  </a:t>
            </a:r>
            <a:r>
              <a:rPr sz="1300" b="0">
                <a:solidFill>
                  <a:srgbClr val="374151"/>
                </a:solidFill>
                <a:latin typeface="Arial"/>
              </a:rPr>
              <a:t>bond-valence landscape and the blocking count</a:t>
            </a:r>
          </a:p>
        </p:txBody>
      </p:sp>
      <p:sp xmlns:a="http://schemas.openxmlformats.org/drawingml/2006/main">
        <p:nvSpPr>
          <p:cNvPr id="49" name="TextBox 48"/>
          <p:cNvSpPr txBox="1"/>
          <p:nvPr/>
        </p:nvSpPr>
        <p:spPr>
          <a:xfrm>
            <a:off x="960120" y="4654296"/>
            <a:ext cx="7223760" cy="352044"/>
          </a:xfrm>
          <a:prstGeom prst="rect">
            <a:avLst/>
          </a:prstGeom>
          <a:noFill/>
        </p:spPr>
        <p:txBody>
          <a:bodyPr wrap="square">
            <a:spAutoFit/>
          </a:bodyPr>
          <a:lstStyle/>
          <a:p>
            <a:r>
              <a:rPr sz="1300" b="1">
                <a:solidFill>
                  <a:srgbClr val="1F2937"/>
                </a:solidFill>
                <a:latin typeface="Arial"/>
              </a:rPr>
              <a:t>7 · Squeezing it  </a:t>
            </a:r>
            <a:r>
              <a:rPr sz="1300" b="0">
                <a:solidFill>
                  <a:srgbClr val="374151"/>
                </a:solidFill>
                <a:latin typeface="Arial"/>
              </a:rPr>
              <a:t>equation of state and elastic response</a:t>
            </a:r>
          </a:p>
        </p:txBody>
      </p:sp>
      <p:sp xmlns:a="http://schemas.openxmlformats.org/drawingml/2006/main">
        <p:nvSpPr>
          <p:cNvPr id="50" name="TextBox 49"/>
          <p:cNvSpPr txBox="1"/>
          <p:nvPr/>
        </p:nvSpPr>
        <p:spPr>
          <a:xfrm>
            <a:off x="960120" y="5006340"/>
            <a:ext cx="7223760" cy="352044"/>
          </a:xfrm>
          <a:prstGeom prst="rect">
            <a:avLst/>
          </a:prstGeom>
          <a:noFill/>
        </p:spPr>
        <p:txBody>
          <a:bodyPr wrap="square">
            <a:spAutoFit/>
          </a:bodyPr>
          <a:lstStyle/>
          <a:p>
            <a:r>
              <a:rPr sz="1300" b="1">
                <a:solidFill>
                  <a:srgbClr val="1F2937"/>
                </a:solidFill>
                <a:latin typeface="Arial"/>
              </a:rPr>
              <a:t>8 · The window  </a:t>
            </a:r>
            <a:r>
              <a:rPr sz="1300" b="0">
                <a:solidFill>
                  <a:srgbClr val="374151"/>
                </a:solidFill>
                <a:latin typeface="Arial"/>
              </a:rPr>
              <a:t>grand-potential oxidation onset and products</a:t>
            </a:r>
          </a:p>
        </p:txBody>
      </p:sp>
      <p:sp xmlns:a="http://schemas.openxmlformats.org/drawingml/2006/main">
        <p:nvSpPr>
          <p:cNvPr id="51" name="TextBox 50"/>
          <p:cNvSpPr txBox="1"/>
          <p:nvPr/>
        </p:nvSpPr>
        <p:spPr>
          <a:xfrm>
            <a:off x="960120" y="5358383"/>
            <a:ext cx="7223760" cy="352044"/>
          </a:xfrm>
          <a:prstGeom prst="rect">
            <a:avLst/>
          </a:prstGeom>
          <a:noFill/>
        </p:spPr>
        <p:txBody>
          <a:bodyPr wrap="square">
            <a:spAutoFit/>
          </a:bodyPr>
          <a:lstStyle/>
          <a:p>
            <a:r>
              <a:rPr sz="1300" b="1">
                <a:solidFill>
                  <a:srgbClr val="1F2937"/>
                </a:solidFill>
                <a:latin typeface="Arial"/>
              </a:rPr>
              <a:t>9 · What we skipped  </a:t>
            </a:r>
            <a:r>
              <a:rPr sz="1300" b="1">
                <a:solidFill>
                  <a:srgbClr val="BE123C"/>
                </a:solidFill>
                <a:latin typeface="Arial"/>
              </a:rPr>
              <a:t>conductivity dynamics · explicit interface — never run</a:t>
            </a:r>
          </a:p>
        </p:txBody>
      </p:sp>
    </p:spTree>
    <p:extLst>
      <p:ext uri="{BB962C8B-B14F-4D97-AF65-F5344CB8AC3E}">
        <p14:creationId xmlns:p14="http://schemas.microsoft.com/office/powerpoint/2010/main" val="19244058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labels</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the same thing measured again under the same conditions  ·  Quantised: rounded to the nearest whole atom</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Why our three runs are neither concentrations nor clean repeats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collapsed to the </a:t>
            </a:r>
            <a:r>
              <a:rPr sz="1275" b="1">
                <a:solidFill>
                  <a:srgbClr val="BE123C"/>
                </a:solidFill>
                <a:latin typeface="Arial"/>
                <a:ea typeface="Arial"/>
                <a:cs typeface="Arial"/>
              </a:rPr>
              <a:t>same substitution</a:t>
            </a:r>
            <a:r>
              <a:rPr sz="1275" b="0">
                <a:solidFill>
                  <a:srgbClr val="374151"/>
                </a:solidFill>
                <a:latin typeface="Arial"/>
                <a:ea typeface="Arial"/>
                <a:cs typeface="Arial"/>
              </a:rPr>
              <a:t> in a small cell — no concentration axis.</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Regrouping by exact formula gives </a:t>
            </a:r>
            <a:r>
              <a:rPr sz="1275" b="1">
                <a:solidFill>
                  <a:srgbClr val="2563EB"/>
                </a:solidFill>
                <a:latin typeface="Arial"/>
                <a:ea typeface="Arial"/>
                <a:cs typeface="Arial"/>
              </a:rPr>
              <a:t>59 same-formula</a:t>
            </a:r>
            <a:r>
              <a:rPr sz="1275" b="0">
                <a:solidFill>
                  <a:srgbClr val="374151"/>
                </a:solidFill>
                <a:latin typeface="Arial"/>
                <a:ea typeface="Arial"/>
                <a:cs typeface="Arial"/>
              </a:rPr>
              <a:t> and </a:t>
            </a:r>
            <a:r>
              <a:rPr sz="1275" b="1">
                <a:solidFill>
                  <a:srgbClr val="BE123C"/>
                </a:solidFill>
                <a:latin typeface="Arial"/>
                <a:ea typeface="Arial"/>
                <a:cs typeface="Arial"/>
              </a:rPr>
              <a:t>31 changed-formula</a:t>
            </a:r>
            <a:r>
              <a:rPr sz="1275" b="0">
                <a:solidFill>
                  <a:srgbClr val="374151"/>
                </a:solidFill>
                <a:latin typeface="Arial"/>
                <a:ea typeface="Arial"/>
                <a:cs typeface="Arial"/>
              </a:rPr>
              <a:t> species.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Label audit</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26</a:t>
            </a:r>
          </a:p>
        </p:txBody>
      </p:sp>
      <p:sp xmlns:a="http://schemas.openxmlformats.org/drawingml/2006/main">
        <p:nvSpPr>
          <p:cNvPr id="39" name="TextBox 38"/>
          <p:cNvSpPr txBox="1"/>
          <p:nvPr/>
        </p:nvSpPr>
        <p:spPr>
          <a:xfrm>
            <a:off x="960120" y="2697480"/>
            <a:ext cx="7223760" cy="548640"/>
          </a:xfrm>
          <a:prstGeom prst="rect">
            <a:avLst/>
          </a:prstGeom>
          <a:noFill/>
        </p:spPr>
        <p:txBody>
          <a:bodyPr wrap="square">
            <a:spAutoFit/>
          </a:bodyPr>
          <a:lstStyle/>
          <a:p>
            <a:r>
              <a:rPr sz="1350" b="1">
                <a:solidFill>
                  <a:srgbClr val="1F2937"/>
                </a:solidFill>
                <a:latin typeface="Arial"/>
              </a:rPr>
              <a:t>What they are  </a:t>
            </a:r>
            <a:r>
              <a:rPr sz="1350" b="0">
                <a:solidFill>
                  <a:srgbClr val="374151"/>
                </a:solidFill>
                <a:latin typeface="Arial"/>
              </a:rPr>
              <a:t>three directory names — x002, x005, x010.</a:t>
            </a:r>
          </a:p>
        </p:txBody>
      </p:sp>
      <p:sp xmlns:a="http://schemas.openxmlformats.org/drawingml/2006/main">
        <p:nvSpPr>
          <p:cNvPr id="40" name="TextBox 39"/>
          <p:cNvSpPr txBox="1"/>
          <p:nvPr/>
        </p:nvSpPr>
        <p:spPr>
          <a:xfrm>
            <a:off x="960120" y="3246120"/>
            <a:ext cx="7223760" cy="548640"/>
          </a:xfrm>
          <a:prstGeom prst="rect">
            <a:avLst/>
          </a:prstGeom>
          <a:noFill/>
        </p:spPr>
        <p:txBody>
          <a:bodyPr wrap="square">
            <a:spAutoFit/>
          </a:bodyPr>
          <a:lstStyle/>
          <a:p>
            <a:r>
              <a:rPr sz="1350" b="1">
                <a:solidFill>
                  <a:srgbClr val="1F2937"/>
                </a:solidFill>
                <a:latin typeface="Arial"/>
              </a:rPr>
              <a:t>What they actually were  </a:t>
            </a:r>
            <a:r>
              <a:rPr sz="1350" b="1">
                <a:solidFill>
                  <a:srgbClr val="BE123C"/>
                </a:solidFill>
                <a:latin typeface="Arial"/>
              </a:rPr>
              <a:t>the same integer substitution</a:t>
            </a:r>
            <a:r>
              <a:rPr sz="1350" b="0">
                <a:solidFill>
                  <a:srgbClr val="374151"/>
                </a:solidFill>
                <a:latin typeface="Arial"/>
              </a:rPr>
              <a:t> in a four-formula-unit cell.</a:t>
            </a:r>
          </a:p>
        </p:txBody>
      </p:sp>
      <p:sp xmlns:a="http://schemas.openxmlformats.org/drawingml/2006/main">
        <p:nvSpPr>
          <p:cNvPr id="41" name="TextBox 40"/>
          <p:cNvSpPr txBox="1"/>
          <p:nvPr/>
        </p:nvSpPr>
        <p:spPr>
          <a:xfrm>
            <a:off x="960120" y="3794760"/>
            <a:ext cx="7223760" cy="548640"/>
          </a:xfrm>
          <a:prstGeom prst="rect">
            <a:avLst/>
          </a:prstGeom>
          <a:noFill/>
        </p:spPr>
        <p:txBody>
          <a:bodyPr wrap="square">
            <a:spAutoFit/>
          </a:bodyPr>
          <a:lstStyle/>
          <a:p>
            <a:r>
              <a:rPr sz="1350" b="1">
                <a:solidFill>
                  <a:srgbClr val="1F2937"/>
                </a:solidFill>
                <a:latin typeface="Arial"/>
              </a:rPr>
              <a:t>What to do instead  </a:t>
            </a:r>
            <a:r>
              <a:rPr sz="1350" b="1">
                <a:solidFill>
                  <a:srgbClr val="2563EB"/>
                </a:solidFill>
                <a:latin typeface="Arial"/>
              </a:rPr>
              <a:t>fix the formula and the site</a:t>
            </a:r>
            <a:r>
              <a:rPr sz="1350" b="0">
                <a:solidFill>
                  <a:srgbClr val="374151"/>
                </a:solidFill>
                <a:latin typeface="Arial"/>
              </a:rPr>
              <a:t>, then vary only the starting seed.</a:t>
            </a:r>
          </a:p>
        </p:txBody>
      </p:sp>
      <p:sp xmlns:a="http://schemas.openxmlformats.org/drawingml/2006/main">
        <p:nvSpPr>
          <p:cNvPr id="42" name="TextBox 41"/>
          <p:cNvSpPr txBox="1"/>
          <p:nvPr/>
        </p:nvSpPr>
        <p:spPr>
          <a:xfrm>
            <a:off x="960120" y="4343400"/>
            <a:ext cx="7223760" cy="548640"/>
          </a:xfrm>
          <a:prstGeom prst="rect">
            <a:avLst/>
          </a:prstGeom>
          <a:noFill/>
        </p:spPr>
        <p:txBody>
          <a:bodyPr wrap="square">
            <a:spAutoFit/>
          </a:bodyPr>
          <a:lstStyle/>
          <a:p>
            <a:r>
              <a:rPr sz="1350" b="1">
                <a:solidFill>
                  <a:srgbClr val="1F2937"/>
                </a:solidFill>
                <a:latin typeface="Arial"/>
              </a:rPr>
              <a:t>And separately  </a:t>
            </a:r>
            <a:r>
              <a:rPr sz="1350" b="0">
                <a:solidFill>
                  <a:srgbClr val="374151"/>
                </a:solidFill>
                <a:latin typeface="Arial"/>
              </a:rPr>
              <a:t>change the cell size to create </a:t>
            </a:r>
            <a:r>
              <a:rPr sz="1350" b="1">
                <a:solidFill>
                  <a:srgbClr val="2563EB"/>
                </a:solidFill>
                <a:latin typeface="Arial"/>
              </a:rPr>
              <a:t>a real concentration axis</a:t>
            </a:r>
            <a:r>
              <a:rPr sz="1350" b="0">
                <a:solidFill>
                  <a:srgbClr val="374151"/>
                </a:solidFill>
                <a:latin typeface="Arial"/>
              </a:rPr>
              <a:t>.</a:t>
            </a:r>
          </a:p>
        </p:txBody>
      </p:sp>
      <p:sp xmlns:a="http://schemas.openxmlformats.org/drawingml/2006/main">
        <p:nvSpPr>
          <p:cNvPr id="43" name="TextBox 42"/>
          <p:cNvSpPr txBox="1"/>
          <p:nvPr/>
        </p:nvSpPr>
        <p:spPr>
          <a:xfrm>
            <a:off x="960120" y="5120640"/>
            <a:ext cx="7223760" cy="1371600"/>
          </a:xfrm>
          <a:prstGeom prst="rect">
            <a:avLst/>
          </a:prstGeom>
          <a:noFill/>
        </p:spPr>
        <p:txBody>
          <a:bodyPr wrap="square">
            <a:spAutoFit/>
          </a:bodyPr>
          <a:lstStyle/>
          <a:p>
            <a:pPr>
              <a:spcAft>
                <a:spcPts val="600"/>
              </a:spcAft>
            </a:pPr>
            <a:r>
              <a:rPr sz="1700">
                <a:solidFill>
                  <a:srgbClr val="1F2937"/>
                </a:solidFill>
                <a:latin typeface="Arial"/>
              </a:rPr>
              <a:t>A directory name is not a concentration,</a:t>
            </a:r>
          </a:p>
          <a:p>
            <a:pPr>
              <a:spcAft>
                <a:spcPts val="600"/>
              </a:spcAft>
            </a:pPr>
            <a:r>
              <a:rPr sz="1700">
                <a:solidFill>
                  <a:srgbClr val="1F2937"/>
                </a:solidFill>
                <a:latin typeface="Arial"/>
              </a:rPr>
              <a:t>and three of them are not three repeats.</a:t>
            </a:r>
          </a:p>
        </p:txBody>
      </p:sp>
    </p:spTree>
    <p:extLst>
      <p:ext uri="{BB962C8B-B14F-4D97-AF65-F5344CB8AC3E}">
        <p14:creationId xmlns:p14="http://schemas.microsoft.com/office/powerpoint/2010/main" val="19244058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methods</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cheap and correlated  ·  Validation: the matched, higher-fidelity calculation the claim actually needs</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 method is named by the question it can actually answer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Left of the arrow is </a:t>
            </a:r>
            <a:r>
              <a:rPr sz="1275" b="1">
                <a:solidFill>
                  <a:srgbClr val="2563EB"/>
                </a:solidFill>
                <a:latin typeface="Arial"/>
                <a:ea typeface="Arial"/>
                <a:cs typeface="Arial"/>
              </a:rPr>
              <a:t>what the method answers</a:t>
            </a:r>
            <a:r>
              <a:rPr sz="1275" b="0">
                <a:solidFill>
                  <a:srgbClr val="374151"/>
                </a:solidFill>
                <a:latin typeface="Arial"/>
                <a:ea typeface="Arial"/>
                <a:cs typeface="Arial"/>
              </a:rPr>
              <a:t>; right of it is what people assume it answers.</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line on the right is a calculation we </a:t>
            </a:r>
            <a:r>
              <a:rPr sz="1275" b="1">
                <a:solidFill>
                  <a:srgbClr val="BE123C"/>
                </a:solidFill>
                <a:latin typeface="Arial"/>
                <a:ea typeface="Arial"/>
                <a:cs typeface="Arial"/>
              </a:rPr>
              <a:t>have not run</a:t>
            </a:r>
            <a:r>
              <a:rPr sz="1275" b="0">
                <a:solidFill>
                  <a:srgbClr val="374151"/>
                </a:solidFill>
                <a:latin typeface="Arial"/>
                <a:ea typeface="Arial"/>
                <a:cs typeface="Arial"/>
              </a:rPr>
              <a:t>.</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boundaries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27</a:t>
            </a:r>
          </a:p>
        </p:txBody>
      </p:sp>
      <p:sp xmlns:a="http://schemas.openxmlformats.org/drawingml/2006/main">
        <p:nvSpPr>
          <p:cNvPr id="25" name="TextBox 24"/>
          <p:cNvSpPr txBox="1"/>
          <p:nvPr/>
        </p:nvSpPr>
        <p:spPr>
          <a:xfrm>
            <a:off x="960120" y="2560320"/>
            <a:ext cx="7223760" cy="530352"/>
          </a:xfrm>
          <a:prstGeom prst="rect">
            <a:avLst/>
          </a:prstGeom>
          <a:noFill/>
        </p:spPr>
        <p:txBody>
          <a:bodyPr wrap="square">
            <a:spAutoFit/>
          </a:bodyPr>
          <a:lstStyle/>
          <a:p>
            <a:r>
              <a:rPr sz="1350" b="1">
                <a:solidFill>
                  <a:srgbClr val="1F2937"/>
                </a:solidFill>
                <a:latin typeface="Arial"/>
              </a:rPr>
              <a:t>Fast relaxation  </a:t>
            </a:r>
            <a:r>
              <a:rPr sz="1350" b="0">
                <a:solidFill>
                  <a:srgbClr val="374151"/>
                </a:solidFill>
                <a:latin typeface="Arial"/>
              </a:rPr>
              <a:t>does the structure hold together?  →  </a:t>
            </a:r>
            <a:r>
              <a:rPr sz="1350" b="1">
                <a:solidFill>
                  <a:srgbClr val="BE123C"/>
                </a:solidFill>
                <a:latin typeface="Arial"/>
              </a:rPr>
              <a:t>not</a:t>
            </a:r>
            <a:r>
              <a:rPr sz="1350" b="0">
                <a:solidFill>
                  <a:srgbClr val="374151"/>
                </a:solidFill>
                <a:latin typeface="Arial"/>
              </a:rPr>
              <a:t> a formation energy</a:t>
            </a:r>
          </a:p>
        </p:txBody>
      </p:sp>
      <p:sp xmlns:a="http://schemas.openxmlformats.org/drawingml/2006/main">
        <p:nvSpPr>
          <p:cNvPr id="26" name="TextBox 25"/>
          <p:cNvSpPr txBox="1"/>
          <p:nvPr/>
        </p:nvSpPr>
        <p:spPr>
          <a:xfrm>
            <a:off x="960120" y="3090672"/>
            <a:ext cx="7223760" cy="530352"/>
          </a:xfrm>
          <a:prstGeom prst="rect">
            <a:avLst/>
          </a:prstGeom>
          <a:noFill/>
        </p:spPr>
        <p:txBody>
          <a:bodyPr wrap="square">
            <a:spAutoFit/>
          </a:bodyPr>
          <a:lstStyle/>
          <a:p>
            <a:r>
              <a:rPr sz="1350" b="1">
                <a:solidFill>
                  <a:srgbClr val="1F2937"/>
                </a:solidFill>
                <a:latin typeface="Arial"/>
              </a:rPr>
              <a:t>Short anneal  </a:t>
            </a:r>
            <a:r>
              <a:rPr sz="1350" b="0">
                <a:solidFill>
                  <a:srgbClr val="374151"/>
                </a:solidFill>
                <a:latin typeface="Arial"/>
              </a:rPr>
              <a:t>does it survive being disturbed?  →  </a:t>
            </a:r>
            <a:r>
              <a:rPr sz="1350" b="1">
                <a:solidFill>
                  <a:srgbClr val="BE123C"/>
                </a:solidFill>
                <a:latin typeface="Arial"/>
              </a:rPr>
              <a:t>not</a:t>
            </a:r>
            <a:r>
              <a:rPr sz="1350" b="0">
                <a:solidFill>
                  <a:srgbClr val="374151"/>
                </a:solidFill>
                <a:latin typeface="Arial"/>
              </a:rPr>
              <a:t> a conductivity</a:t>
            </a:r>
          </a:p>
        </p:txBody>
      </p:sp>
      <p:sp xmlns:a="http://schemas.openxmlformats.org/drawingml/2006/main">
        <p:nvSpPr>
          <p:cNvPr id="27" name="TextBox 26"/>
          <p:cNvSpPr txBox="1"/>
          <p:nvPr/>
        </p:nvSpPr>
        <p:spPr>
          <a:xfrm>
            <a:off x="960120" y="3621024"/>
            <a:ext cx="7223760" cy="530352"/>
          </a:xfrm>
          <a:prstGeom prst="rect">
            <a:avLst/>
          </a:prstGeom>
          <a:noFill/>
        </p:spPr>
        <p:txBody>
          <a:bodyPr wrap="square">
            <a:spAutoFit/>
          </a:bodyPr>
          <a:lstStyle/>
          <a:p>
            <a:r>
              <a:rPr sz="1350" b="1">
                <a:solidFill>
                  <a:srgbClr val="1F2937"/>
                </a:solidFill>
                <a:latin typeface="Arial"/>
              </a:rPr>
              <a:t>Bond-valence map  </a:t>
            </a:r>
            <a:r>
              <a:rPr sz="1350" b="0">
                <a:solidFill>
                  <a:srgbClr val="374151"/>
                </a:solidFill>
                <a:latin typeface="Arial"/>
              </a:rPr>
              <a:t>is there a plausible Li path?  →  </a:t>
            </a:r>
            <a:r>
              <a:rPr sz="1350" b="1">
                <a:solidFill>
                  <a:srgbClr val="BE123C"/>
                </a:solidFill>
                <a:latin typeface="Arial"/>
              </a:rPr>
              <a:t>not</a:t>
            </a:r>
            <a:r>
              <a:rPr sz="1350" b="0">
                <a:solidFill>
                  <a:srgbClr val="374151"/>
                </a:solidFill>
                <a:latin typeface="Arial"/>
              </a:rPr>
              <a:t> a diffusion coefficient</a:t>
            </a:r>
          </a:p>
        </p:txBody>
      </p:sp>
      <p:sp xmlns:a="http://schemas.openxmlformats.org/drawingml/2006/main">
        <p:nvSpPr>
          <p:cNvPr id="28" name="TextBox 27"/>
          <p:cNvSpPr txBox="1"/>
          <p:nvPr/>
        </p:nvSpPr>
        <p:spPr>
          <a:xfrm>
            <a:off x="960120" y="4151375"/>
            <a:ext cx="7223760" cy="530352"/>
          </a:xfrm>
          <a:prstGeom prst="rect">
            <a:avLst/>
          </a:prstGeom>
          <a:noFill/>
        </p:spPr>
        <p:txBody>
          <a:bodyPr wrap="square">
            <a:spAutoFit/>
          </a:bodyPr>
          <a:lstStyle/>
          <a:p>
            <a:r>
              <a:rPr sz="1350" b="1">
                <a:solidFill>
                  <a:srgbClr val="1F2937"/>
                </a:solidFill>
                <a:latin typeface="Arial"/>
              </a:rPr>
              <a:t>Equation of state, strain  </a:t>
            </a:r>
            <a:r>
              <a:rPr sz="1350" b="0">
                <a:solidFill>
                  <a:srgbClr val="374151"/>
                </a:solidFill>
                <a:latin typeface="Arial"/>
              </a:rPr>
              <a:t>is the mechanical response plausible?  →  </a:t>
            </a:r>
            <a:r>
              <a:rPr sz="1350" b="1">
                <a:solidFill>
                  <a:srgbClr val="BE123C"/>
                </a:solidFill>
                <a:latin typeface="Arial"/>
              </a:rPr>
              <a:t>not</a:t>
            </a:r>
            <a:r>
              <a:rPr sz="1350" b="0">
                <a:solidFill>
                  <a:srgbClr val="374151"/>
                </a:solidFill>
                <a:latin typeface="Arial"/>
              </a:rPr>
              <a:t> a measured modulus</a:t>
            </a:r>
          </a:p>
        </p:txBody>
      </p:sp>
      <p:sp xmlns:a="http://schemas.openxmlformats.org/drawingml/2006/main">
        <p:nvSpPr>
          <p:cNvPr id="29" name="TextBox 28"/>
          <p:cNvSpPr txBox="1"/>
          <p:nvPr/>
        </p:nvSpPr>
        <p:spPr>
          <a:xfrm>
            <a:off x="960120" y="4681727"/>
            <a:ext cx="7223760" cy="530352"/>
          </a:xfrm>
          <a:prstGeom prst="rect">
            <a:avLst/>
          </a:prstGeom>
          <a:noFill/>
        </p:spPr>
        <p:txBody>
          <a:bodyPr wrap="square">
            <a:spAutoFit/>
          </a:bodyPr>
          <a:lstStyle/>
          <a:p>
            <a:r>
              <a:rPr sz="1350" b="1">
                <a:solidFill>
                  <a:srgbClr val="1F2937"/>
                </a:solidFill>
                <a:latin typeface="Arial"/>
              </a:rPr>
              <a:t>Grand potential  </a:t>
            </a:r>
            <a:r>
              <a:rPr sz="1350" b="0">
                <a:solidFill>
                  <a:srgbClr val="374151"/>
                </a:solidFill>
                <a:latin typeface="Arial"/>
              </a:rPr>
              <a:t>what can decompose, and into what?  →  </a:t>
            </a:r>
            <a:r>
              <a:rPr sz="1350" b="1">
                <a:solidFill>
                  <a:srgbClr val="BE123C"/>
                </a:solidFill>
                <a:latin typeface="Arial"/>
              </a:rPr>
              <a:t>not</a:t>
            </a:r>
            <a:r>
              <a:rPr sz="1350" b="0">
                <a:solidFill>
                  <a:srgbClr val="374151"/>
                </a:solidFill>
                <a:latin typeface="Arial"/>
              </a:rPr>
              <a:t> a lifetime, and </a:t>
            </a:r>
            <a:r>
              <a:rPr sz="1350" b="1">
                <a:solidFill>
                  <a:srgbClr val="BE123C"/>
                </a:solidFill>
                <a:latin typeface="Arial"/>
              </a:rPr>
              <a:t>not</a:t>
            </a:r>
            <a:r>
              <a:rPr sz="1350" b="0">
                <a:solidFill>
                  <a:srgbClr val="374151"/>
                </a:solidFill>
                <a:latin typeface="Arial"/>
              </a:rPr>
              <a:t> an interface</a:t>
            </a:r>
          </a:p>
        </p:txBody>
      </p:sp>
      <p:sp xmlns:a="http://schemas.openxmlformats.org/drawingml/2006/main">
        <p:nvSpPr>
          <p:cNvPr id="30" name="TextBox 29"/>
          <p:cNvSpPr txBox="1"/>
          <p:nvPr/>
        </p:nvSpPr>
        <p:spPr>
          <a:xfrm>
            <a:off x="960120" y="5303520"/>
            <a:ext cx="7223760" cy="1371600"/>
          </a:xfrm>
          <a:prstGeom prst="rect">
            <a:avLst/>
          </a:prstGeom>
          <a:noFill/>
        </p:spPr>
        <p:txBody>
          <a:bodyPr wrap="square">
            <a:spAutoFit/>
          </a:bodyPr>
          <a:lstStyle/>
          <a:p>
            <a:pPr>
              <a:spcAft>
                <a:spcPts val="600"/>
              </a:spcAft>
            </a:pPr>
            <a:r>
              <a:rPr sz="1700">
                <a:solidFill>
                  <a:srgbClr val="1F2937"/>
                </a:solidFill>
                <a:latin typeface="Arial"/>
              </a:rPr>
              <a:t>A proxy may decide what to compute next.</a:t>
            </a:r>
          </a:p>
          <a:p>
            <a:pPr>
              <a:spcAft>
                <a:spcPts val="600"/>
              </a:spcAft>
            </a:pPr>
            <a:r>
              <a:rPr sz="1700">
                <a:solidFill>
                  <a:srgbClr val="1F2937"/>
                </a:solidFill>
                <a:latin typeface="Arial"/>
              </a:rPr>
              <a:t>It may not stand in for the result.</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