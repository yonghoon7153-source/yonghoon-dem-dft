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66" r:id="Rcd9b255cb4c54f2e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cd9b255cb4c54f2e" Type="http://schemas.openxmlformats.org/officeDocument/2006/relationships/slide" Target="slides/slide11.xml"/><Relationship Id="Rd15051cc896443f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8.xml.rels><?xml version='1.0' encoding='UTF-8' standalone='yes'?>
<Relationships xmlns="http://schemas.openxmlformats.org/package/2006/relationships"><Relationship Id="R2f84311f06ec4b6f" Type="http://schemas.openxmlformats.org/officeDocument/2006/relationships/slide" Target="../slides/slide11.xml"/><Relationship Id="R5abb24fafe4d4561" Type="http://schemas.openxmlformats.org/officeDocument/2006/relationships/notesMaster" Target="../notesMasters/notesMaster1.xml"/></Relationship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 단계에서는 생성된 구조를 UMA 포텐셜로 빠르게 이완합니다. 심하게 무너지거나 수렴하지 않는 구조를 먼저 찾고, 같은 계산 규약 안에서 상대 에너지와 변형 정도를 기록합니다. DFT보다 훨씬 싸서 넓은 구조 공간을 훑는 데 유용하지만, 이 값은 formation energy나 hull stability를 증명하지 않습니다. Li₃N처럼 모델 편향이 확인된 계열은 이 증거에서 분리해야 합니다.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[발표자 메모]</a:t>
            </a:r>
            <a:endParaRPr/>
          </a:p>
          <a:p xmlns:a="http://schemas.openxmlformats.org/drawingml/2006/main">
            <a:r>
              <a:t>초록 상자는 용도, 빨간 상자는 한계다. 두 문장을 모두 말한다.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tools/doping/run_uma_screening.py lineage; project UMA validity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1.xml.rels><?xml version='1.0' encoding='UTF-8' standalone='yes'?>
<Relationships xmlns="http://schemas.openxmlformats.org/package/2006/relationships"><Relationship Id="R9e0230364baa4842" Type="http://schemas.openxmlformats.org/officeDocument/2006/relationships/slideLayout" Target="../slideLayouts/slideLayout1.xml"/><Relationship Id="Rd63d5a2cf0ef48ff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g-8">
            <a:extLst xmlns:a="http://schemas.openxmlformats.org/drawingml/2006/main">
              <a:ext uri="{FF2B5EF4-FFF2-40B4-BE49-F238E27FC236}">
                <a16:creationId xmlns:a16="http://schemas.microsoft.com/office/drawing/2014/main" id="{9C659025-4049-4965-A0DC-5F97C470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ACFF66F3-C828-44B7-A06E-BD3A7DA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14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Low-cost structure relaxation</a:t>
            </a:r>
          </a:p>
        </p:txBody>
      </p:sp>
      <p:sp>
        <p:nvSpPr>
          <p:cNvPr id="3" name="terms-8">
            <a:extLst xmlns:a="http://schemas.openxmlformats.org/drawingml/2006/main">
              <a:ext uri="{FF2B5EF4-FFF2-40B4-BE49-F238E27FC236}">
                <a16:creationId xmlns:a16="http://schemas.microsoft.com/office/drawing/2014/main" id="{4B35C2AA-6235-442E-9E33-3413BCE4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Relaxation: moving atoms until the forces vanish  ·  MLIP: a fast stand-in trained on DFT forces</a:t>
            </a:r>
          </a:p>
        </p:txBody>
      </p:sp>
      <p:sp>
        <p:nvSpPr>
          <p:cNvPr id="4" name="divider-8">
            <a:extLst xmlns:a="http://schemas.openxmlformats.org/drawingml/2006/main">
              <a:ext uri="{FF2B5EF4-FFF2-40B4-BE49-F238E27FC236}">
                <a16:creationId xmlns:a16="http://schemas.microsoft.com/office/drawing/2014/main" id="{A965172E-EC5B-48C2-8B74-D22D2EC3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8">
            <a:extLst xmlns:a="http://schemas.openxmlformats.org/drawingml/2006/main">
              <a:ext uri="{FF2B5EF4-FFF2-40B4-BE49-F238E27FC236}">
                <a16:creationId xmlns:a16="http://schemas.microsoft.com/office/drawing/2014/main" id="{0CC4BAF0-C91D-4A24-87A3-B2BDCA8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8">
            <a:extLst xmlns:a="http://schemas.openxmlformats.org/drawingml/2006/main">
              <a:ext uri="{FF2B5EF4-FFF2-40B4-BE49-F238E27FC236}">
                <a16:creationId xmlns:a16="http://schemas.microsoft.com/office/drawing/2014/main" id="{3594EC4D-313A-4B29-90B2-16FFF0C3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Step 3: Machine-learned potential screening before DFT</a:t>
            </a:r>
          </a:p>
        </p:txBody>
      </p:sp>
      <p:sp>
        <p:nvSpPr>
          <p:cNvPr id="7" name="bullet-dot-8-0">
            <a:extLst xmlns:a="http://schemas.openxmlformats.org/drawingml/2006/main">
              <a:ext uri="{FF2B5EF4-FFF2-40B4-BE49-F238E27FC236}">
                <a16:creationId xmlns:a16="http://schemas.microsoft.com/office/drawing/2014/main" id="{5F2C4AE9-ADF1-4FA4-97DC-64A9FEF4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8-0">
            <a:extLst xmlns:a="http://schemas.openxmlformats.org/drawingml/2006/main">
              <a:ext uri="{FF2B5EF4-FFF2-40B4-BE49-F238E27FC236}">
                <a16:creationId xmlns:a16="http://schemas.microsoft.com/office/drawing/2014/main" id="{185DA0CD-C30F-4B43-A41C-574D54D0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To relax 3,615 structures within budget, a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machine-learned potential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was used.</a:t>
            </a:r>
          </a:p>
        </p:txBody>
      </p:sp>
      <p:sp>
        <p:nvSpPr>
          <p:cNvPr id="9" name="bullet-dot-8-1">
            <a:extLst xmlns:a="http://schemas.openxmlformats.org/drawingml/2006/main">
              <a:ext uri="{FF2B5EF4-FFF2-40B4-BE49-F238E27FC236}">
                <a16:creationId xmlns:a16="http://schemas.microsoft.com/office/drawing/2014/main" id="{17B86401-BE1D-48D3-9A59-F53D9CA2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8-1">
            <a:extLst xmlns:a="http://schemas.openxmlformats.org/drawingml/2006/main">
              <a:ext uri="{FF2B5EF4-FFF2-40B4-BE49-F238E27FC236}">
                <a16:creationId xmlns:a16="http://schemas.microsoft.com/office/drawing/2014/main" id="{DD58248A-31CC-4D85-8B31-03F01826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Structures were removed by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geometry, not by energy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4A188F76-D1EB-4DD3-B474-5E66AB95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8">
            <a:extLst xmlns:a="http://schemas.openxmlformats.org/drawingml/2006/main">
              <a:ext uri="{FF2B5EF4-FFF2-40B4-BE49-F238E27FC236}">
                <a16:creationId xmlns:a16="http://schemas.microsoft.com/office/drawing/2014/main" id="{C342A7D7-8C05-45A2-9727-7866E0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AE5D586F-2405-4755-B629-60492BC7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39" name="Picture 38" descr="step3_survi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0568"/>
            <a:ext cx="3968496" cy="1860366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40" name="Picture 39" descr="step3_screen_a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3" y="2555749"/>
            <a:ext cx="3968496" cy="2350004"/>
          </a:xfrm>
          <a:prstGeom prst="rect">
            <a:avLst/>
          </a:prstGeom>
        </p:spPr>
      </p:pic>
      <p:sp xmlns:a="http://schemas.openxmlformats.org/drawingml/2006/main">
        <p:nvSpPr>
          <p:cNvPr id="41" name="TextBox 40"/>
          <p:cNvSpPr txBox="1"/>
          <p:nvPr/>
        </p:nvSpPr>
        <p:spPr>
          <a:xfrm>
            <a:off x="502920" y="5449824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how far each structure moved  ·  the same structures on both screening axes &gt;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502920" y="5760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E123C"/>
                </a:solidFill>
                <a:latin typeface="Arial"/>
              </a:rPr>
              <a:t>100 of 3,615 changed by more than 25 %</a:t>
            </a:r>
            <a:r>
              <a:rPr sz="1150" b="0">
                <a:solidFill>
                  <a:srgbClr val="4B5563"/>
                </a:solidFill>
                <a:latin typeface="Arial"/>
              </a:rPr>
              <a:t>; their energies look like the rest.</a:t>
            </a:r>
          </a:p>
        </p:txBody>
      </p:sp>
    </p:spTree>
    <p:extLst>
      <p:ext uri="{BB962C8B-B14F-4D97-AF65-F5344CB8AC3E}">
        <p14:creationId xmlns:p14="http://schemas.microsoft.com/office/powerpoint/2010/main" val="6330229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