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334117c5514b65" /><Relationship Type="http://schemas.openxmlformats.org/officeDocument/2006/relationships/extended-properties" Target="/docProps/app.xml" Id="Rcd7563b061c1420c" /><Relationship Type="http://schemas.openxmlformats.org/officeDocument/2006/relationships/officeDocument" Target="/ppt/presentation.xml" Id="R0269442fd8ce4b81" /></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56" r:id="Ra0f5ac940dfa4f56"/>
    <p:sldId xmlns:r="http://schemas.openxmlformats.org/officeDocument/2006/relationships" id="257" r:id="R3ccdefa3e23f4a3b"/>
    <p:sldId xmlns:r="http://schemas.openxmlformats.org/officeDocument/2006/relationships" id="258" r:id="R0b61f05e137348dc"/>
    <p:sldId xmlns:r="http://schemas.openxmlformats.org/officeDocument/2006/relationships" id="259" r:id="Rbfba0b31b08944a9"/>
    <p:sldId xmlns:r="http://schemas.openxmlformats.org/officeDocument/2006/relationships" id="260" r:id="R8e9499b237dd44db"/>
    <p:sldId xmlns:r="http://schemas.openxmlformats.org/officeDocument/2006/relationships" id="261" r:id="R4ba3f48111084143"/>
    <p:sldId xmlns:r="http://schemas.openxmlformats.org/officeDocument/2006/relationships" id="262" r:id="Rb665c5fe9e3347e9"/>
    <p:sldId xmlns:r="http://schemas.openxmlformats.org/officeDocument/2006/relationships" id="263" r:id="Rcd9b255cb4c54f2e"/>
    <p:sldId xmlns:r="http://schemas.openxmlformats.org/officeDocument/2006/relationships" id="264" r:id="Rdc2e3032cd0b46c4"/>
    <p:sldId xmlns:r="http://schemas.openxmlformats.org/officeDocument/2006/relationships" id="265" r:id="R21c89c806d8844aa"/>
    <p:sldId xmlns:r="http://schemas.openxmlformats.org/officeDocument/2006/relationships" id="266" r:id="R4644b85309e14395"/>
    <p:sldId xmlns:r="http://schemas.openxmlformats.org/officeDocument/2006/relationships" id="267" r:id="R59bb6e4a8ecc4c71"/>
    <p:sldId xmlns:r="http://schemas.openxmlformats.org/officeDocument/2006/relationships" id="268" r:id="Rf5fc8157681b488f"/>
    <p:sldId xmlns:r="http://schemas.openxmlformats.org/officeDocument/2006/relationships" id="269" r:id="R585d8b53172a4fb4"/>
    <p:sldId xmlns:r="http://schemas.openxmlformats.org/officeDocument/2006/relationships" id="270" r:id="R582cf44da6534111"/>
    <p:sldId xmlns:r="http://schemas.openxmlformats.org/officeDocument/2006/relationships" id="271" r:id="Ree46da3645da4342"/>
    <p:sldId xmlns:r="http://schemas.openxmlformats.org/officeDocument/2006/relationships" id="272" r:id="Rcb18a1d8bd1d40bb"/>
    <p:sldId xmlns:r="http://schemas.openxmlformats.org/officeDocument/2006/relationships" id="273" r:id="R52754f0ac4c84cf8"/>
    <p:sldId xmlns:r="http://schemas.openxmlformats.org/officeDocument/2006/relationships" id="274" r:id="Rf852efb193f945ab"/>
    <p:sldId xmlns:r="http://schemas.openxmlformats.org/officeDocument/2006/relationships" id="275" r:id="Reb1f0020af2b4833"/>
    <p:sldId xmlns:r="http://schemas.openxmlformats.org/officeDocument/2006/relationships" id="276" r:id="R8409038232d64c49"/>
    <p:sldId xmlns:r="http://schemas.openxmlformats.org/officeDocument/2006/relationships" id="277" r:id="Rcb663844fffc477a"/>
    <p:sldId xmlns:r="http://schemas.openxmlformats.org/officeDocument/2006/relationships" id="278" r:id="R75f40cb2bb314b1c"/>
    <p:sldId xmlns:r="http://schemas.openxmlformats.org/officeDocument/2006/relationships" id="279" r:id="R8e5693ac9e014a39"/>
    <p:sldId xmlns:r="http://schemas.openxmlformats.org/officeDocument/2006/relationships" id="280" r:id="R2763d70795d64571"/>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15051cc896443fc" /><Relationship Type="http://schemas.openxmlformats.org/officeDocument/2006/relationships/slideMaster" Target="/ppt/slideMasters/slideMaster1.xml" Id="R7a9f4c5f7750487f" /><Relationship Type="http://schemas.openxmlformats.org/officeDocument/2006/relationships/notesMaster" Target="/ppt/notesMasters/notesMaster1.xml" Id="R636b2433d8094769" /><Relationship Type="http://schemas.openxmlformats.org/officeDocument/2006/relationships/presProps" Target="/ppt/presProps.xml" Id="R0bedd3fc95014fed" /><Relationship Type="http://schemas.openxmlformats.org/officeDocument/2006/relationships/viewProps" Target="/ppt/viewProps.xml" Id="R3eabe3a8ecf741a2" /><Relationship Type="http://schemas.openxmlformats.org/officeDocument/2006/relationships/tableStyles" Target="/ppt/tableStyles.xml" Id="R245a50a1643649ab" /><Relationship Type="http://schemas.openxmlformats.org/officeDocument/2006/relationships/slide" Target="/ppt/slides/slide1.xml" Id="Ra0f5ac940dfa4f56" /><Relationship Type="http://schemas.openxmlformats.org/officeDocument/2006/relationships/slide" Target="/ppt/slides/slide2.xml" Id="R3ccdefa3e23f4a3b" /><Relationship Type="http://schemas.openxmlformats.org/officeDocument/2006/relationships/slide" Target="/ppt/slides/slide3.xml" Id="R0b61f05e137348dc" /><Relationship Type="http://schemas.openxmlformats.org/officeDocument/2006/relationships/slide" Target="/ppt/slides/slide4.xml" Id="Rbfba0b31b08944a9" /><Relationship Type="http://schemas.openxmlformats.org/officeDocument/2006/relationships/slide" Target="/ppt/slides/slide5.xml" Id="R8e9499b237dd44db" /><Relationship Type="http://schemas.openxmlformats.org/officeDocument/2006/relationships/slide" Target="/ppt/slides/slide6.xml" Id="R4ba3f48111084143" /><Relationship Type="http://schemas.openxmlformats.org/officeDocument/2006/relationships/slide" Target="/ppt/slides/slide7.xml" Id="Rb665c5fe9e3347e9" /><Relationship Type="http://schemas.openxmlformats.org/officeDocument/2006/relationships/slide" Target="/ppt/slides/slide8.xml" Id="Rcd9b255cb4c54f2e" /><Relationship Type="http://schemas.openxmlformats.org/officeDocument/2006/relationships/slide" Target="/ppt/slides/slide9.xml" Id="Rdc2e3032cd0b46c4" /><Relationship Type="http://schemas.openxmlformats.org/officeDocument/2006/relationships/slide" Target="/ppt/slides/slide10.xml" Id="R21c89c806d8844aa" /><Relationship Type="http://schemas.openxmlformats.org/officeDocument/2006/relationships/slide" Target="/ppt/slides/slide11.xml" Id="R4644b85309e14395" /><Relationship Type="http://schemas.openxmlformats.org/officeDocument/2006/relationships/slide" Target="/ppt/slides/slide12.xml" Id="R59bb6e4a8ecc4c71" /><Relationship Type="http://schemas.openxmlformats.org/officeDocument/2006/relationships/slide" Target="/ppt/slides/slide13.xml" Id="Rf5fc8157681b488f" /><Relationship Type="http://schemas.openxmlformats.org/officeDocument/2006/relationships/slide" Target="/ppt/slides/slide14.xml" Id="R585d8b53172a4fb4" /><Relationship Type="http://schemas.openxmlformats.org/officeDocument/2006/relationships/slide" Target="/ppt/slides/slide15.xml" Id="R582cf44da6534111" /><Relationship Type="http://schemas.openxmlformats.org/officeDocument/2006/relationships/slide" Target="/ppt/slides/slide16.xml" Id="Ree46da3645da4342" /><Relationship Type="http://schemas.openxmlformats.org/officeDocument/2006/relationships/slide" Target="/ppt/slides/slide17.xml" Id="Rcb18a1d8bd1d40bb" /><Relationship Type="http://schemas.openxmlformats.org/officeDocument/2006/relationships/slide" Target="/ppt/slides/slide18.xml" Id="R52754f0ac4c84cf8" /><Relationship Type="http://schemas.openxmlformats.org/officeDocument/2006/relationships/slide" Target="/ppt/slides/slide19.xml" Id="Rf852efb193f945ab" /><Relationship Type="http://schemas.openxmlformats.org/officeDocument/2006/relationships/slide" Target="/ppt/slides/slide20.xml" Id="Reb1f0020af2b4833" /><Relationship Type="http://schemas.openxmlformats.org/officeDocument/2006/relationships/slide" Target="/ppt/slides/slide21.xml" Id="R8409038232d64c49" /><Relationship Type="http://schemas.openxmlformats.org/officeDocument/2006/relationships/slide" Target="/ppt/slides/slide22.xml" Id="Rcb663844fffc477a" /><Relationship Type="http://schemas.openxmlformats.org/officeDocument/2006/relationships/slide" Target="/ppt/slides/slide23.xml" Id="R75f40cb2bb314b1c" /><Relationship Type="http://schemas.openxmlformats.org/officeDocument/2006/relationships/slide" Target="/ppt/slides/slide24.xml" Id="R8e5693ac9e014a39" /><Relationship Type="http://schemas.openxmlformats.org/officeDocument/2006/relationships/slide" Target="/ppt/slides/slide25.xml" Id="R2763d70795d645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b1c3d1c61444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6a1b76dbeb4387" /><Relationship Type="http://schemas.openxmlformats.org/officeDocument/2006/relationships/notesMaster" Target="/ppt/notesMasters/notesMaster1.xml" Id="R4ada200f62cf43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edadd90e1c4a6f" /><Relationship Type="http://schemas.openxmlformats.org/officeDocument/2006/relationships/notesMaster" Target="/ppt/notesMasters/notesMaster1.xml" Id="Rf541ceadc01a48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81f5c9eab145fd" /><Relationship Type="http://schemas.openxmlformats.org/officeDocument/2006/relationships/notesMaster" Target="/ppt/notesMasters/notesMaster1.xml" Id="Re2e1404a383044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17f86a64e7454f" /><Relationship Type="http://schemas.openxmlformats.org/officeDocument/2006/relationships/notesMaster" Target="/ppt/notesMasters/notesMaster1.xml" Id="R414c9682839643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734c0e971641e3" /><Relationship Type="http://schemas.openxmlformats.org/officeDocument/2006/relationships/notesMaster" Target="/ppt/notesMasters/notesMaster1.xml" Id="R10fc23a6c03d4d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4a71bc818b445b" /><Relationship Type="http://schemas.openxmlformats.org/officeDocument/2006/relationships/notesMaster" Target="/ppt/notesMasters/notesMaster1.xml" Id="R1c922b19d1a54e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c696a537c9454c" /><Relationship Type="http://schemas.openxmlformats.org/officeDocument/2006/relationships/notesMaster" Target="/ppt/notesMasters/notesMaster1.xml" Id="R620f081ef26f49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84311f06ec4b6f" /><Relationship Type="http://schemas.openxmlformats.org/officeDocument/2006/relationships/notesMaster" Target="/ppt/notesMasters/notesMaster1.xml" Id="R5abb24fafe4d45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9e49a4df5a4318" /><Relationship Type="http://schemas.openxmlformats.org/officeDocument/2006/relationships/notesMaster" Target="/ppt/notesMasters/notesMaster1.xml" Id="Rbe05c8903c7144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5a17bf540e4694" /><Relationship Type="http://schemas.openxmlformats.org/officeDocument/2006/relationships/notesMaster" Target="/ppt/notesMasters/notesMaster1.xml" Id="R25629e1de1274a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72b5bb7b5044ba" /><Relationship Type="http://schemas.openxmlformats.org/officeDocument/2006/relationships/notesMaster" Target="/ppt/notesMasters/notesMaster1.xml" Id="Rdb5e373131034f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e57e40824f4eac" /><Relationship Type="http://schemas.openxmlformats.org/officeDocument/2006/relationships/notesMaster" Target="/ppt/notesMasters/notesMaster1.xml" Id="R830f75de92b041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8f45b69a11478c" /><Relationship Type="http://schemas.openxmlformats.org/officeDocument/2006/relationships/notesMaster" Target="/ppt/notesMasters/notesMaster1.xml" Id="Rb0a6596f291347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9bee61c4e3417d" /><Relationship Type="http://schemas.openxmlformats.org/officeDocument/2006/relationships/notesMaster" Target="/ppt/notesMasters/notesMaster1.xml" Id="R386f305cb90641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9b7279b5314fb8" /><Relationship Type="http://schemas.openxmlformats.org/officeDocument/2006/relationships/notesMaster" Target="/ppt/notesMasters/notesMaster1.xml" Id="R1f76fb8cb7d348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3f03dc79364cc9" /><Relationship Type="http://schemas.openxmlformats.org/officeDocument/2006/relationships/notesMaster" Target="/ppt/notesMasters/notesMaster1.xml" Id="R075c135c27f44d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aaf8df4086463f" /><Relationship Type="http://schemas.openxmlformats.org/officeDocument/2006/relationships/notesMaster" Target="/ppt/notesMasters/notesMaster1.xml" Id="R59faecdc68f243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902cb8513f4efa" /><Relationship Type="http://schemas.openxmlformats.org/officeDocument/2006/relationships/notesMaster" Target="/ppt/notesMasters/notesMaster1.xml" Id="Rdbe3942926fe4a8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bee6464ad146fe" /><Relationship Type="http://schemas.openxmlformats.org/officeDocument/2006/relationships/notesMaster" Target="/ppt/notesMasters/notesMaster1.xml" Id="Rd341e6c91ba24d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a2edc4b0f84161" /><Relationship Type="http://schemas.openxmlformats.org/officeDocument/2006/relationships/notesMaster" Target="/ppt/notesMasters/notesMaster1.xml" Id="R245f08109be8469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50e6213ecc4cb6" /><Relationship Type="http://schemas.openxmlformats.org/officeDocument/2006/relationships/notesMaster" Target="/ppt/notesMasters/notesMaster1.xml" Id="R278502d857144ef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9231a02a2d401b" /><Relationship Type="http://schemas.openxmlformats.org/officeDocument/2006/relationships/notesMaster" Target="/ppt/notesMasters/notesMaster1.xml" Id="R68359804a54e43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ca586f2119442c" /><Relationship Type="http://schemas.openxmlformats.org/officeDocument/2006/relationships/notesMaster" Target="/ppt/notesMasters/notesMaster1.xml" Id="Rb8ac22d8eb5f487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82b404347747ba" /><Relationship Type="http://schemas.openxmlformats.org/officeDocument/2006/relationships/notesMaster" Target="/ppt/notesMasters/notesMaster1.xml" Id="Rcf6e91775612456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15bdcf425ae4aca" /><Relationship Type="http://schemas.openxmlformats.org/officeDocument/2006/relationships/notesMaster" Target="/ppt/notesMasters/notesMaster1.xml" Id="R5159c48bcac44a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이 cascade를 만든 이유는 90종 가운데 1등을 뽑기 위해서가 아닙니다. LPSCl에 첨가제를 넣으면 산화 안정성, Li 이동, 기계적 성질과 계면 반응이 함께 바뀝니다. 이 넓은 공간을 전부 DFT와 장시간 MD로 계산할 수 없기 때문에, 싼 계산으로 먼저 훑고 비싼 검증을 어디에 쓸지 정하는 흐름이 필요했습니다. 오늘은 그 흐름을 아홉 단계로 설명하고, 지금 데이터에서 실제로 배운 것과 아직 남은 질문을 나눠서 보여드리겠습니다.</a:t>
            </a:r>
            <a:endParaRPr/>
          </a:p>
          <a:p xmlns:a="http://schemas.openxmlformats.org/drawingml/2006/main">
            <a:r>
              <a:t/>
            </a:r>
            <a:endParaRPr/>
          </a:p>
          <a:p xmlns:a="http://schemas.openxmlformats.org/drawingml/2006/main">
            <a:r>
              <a:t>[발표자 메모]</a:t>
            </a:r>
            <a:endParaRPr/>
          </a:p>
          <a:p xmlns:a="http://schemas.openxmlformats.org/drawingml/2006/main">
            <a:r>
              <a:t>첫 장에서는 ‘winner search’가 아니라 ‘validation budget allocation’이 목적이라고 분명히 말한다.</a:t>
            </a:r>
            <a:endParaRPr/>
          </a:p>
          <a:p xmlns:a="http://schemas.openxmlformats.org/drawingml/2006/main">
            <a:r>
              <a:t/>
            </a:r>
            <a:endParaRPr/>
          </a:p>
          <a:p xmlns:a="http://schemas.openxmlformats.org/drawingml/2006/main">
            <a:r>
              <a:t>[Sources]</a:t>
            </a:r>
            <a:endParaRPr/>
          </a:p>
          <a:p xmlns:a="http://schemas.openxmlformats.org/drawingml/2006/main">
            <a:r>
              <a:t>Project cascade lineage and current methodology 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황화물 고체전해질은 Li 이온이 잘 움직이는 장점이 있지만, 전극과 만나는 순간 여러 문제가 동시에 생깁니다. 첨가제로 산화 반응을 늦춰도 Li 경로가 나빠질 수 있고, bulk가 안정해 보여도 실제 계면에서는 분해가 진행될 수 있습니다. 그래서 한 개의 종합 점수보다 산화, 이동, 역학, 계면을 서로 다른 질문으로 나눠 봐야 합니다.</a:t>
            </a:r>
            <a:endParaRPr/>
          </a:p>
          <a:p xmlns:a="http://schemas.openxmlformats.org/drawingml/2006/main">
            <a:r>
              <a:t/>
            </a:r>
            <a:endParaRPr/>
          </a:p>
          <a:p xmlns:a="http://schemas.openxmlformats.org/drawingml/2006/main">
            <a:r>
              <a:t>[발표자 메모]</a:t>
            </a:r>
            <a:endParaRPr/>
          </a:p>
          <a:p xmlns:a="http://schemas.openxmlformats.org/drawingml/2006/main">
            <a:r>
              <a:t>네 상자를 차례로 짚고, ‘한 계산이 네 질문을 대신하지 않는다’고 마무리한다.</a:t>
            </a:r>
            <a:endParaRPr/>
          </a:p>
          <a:p xmlns:a="http://schemas.openxmlformats.org/drawingml/2006/main">
            <a:r>
              <a:t/>
            </a:r>
            <a:endParaRPr/>
          </a:p>
          <a:p xmlns:a="http://schemas.openxmlformats.org/drawingml/2006/main">
            <a:r>
              <a:t>[Sources]</a:t>
            </a:r>
            <a:endParaRPr/>
          </a:p>
          <a:p xmlns:a="http://schemas.openxmlformats.org/drawingml/2006/main">
            <a:r>
              <a:t>Banik et al., substitution and oxidative stability of argyrodites; Sundar et al., interface-specific coating screening.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문헌에서도 넓은 후보를 처음부터 가장 비싼 방법으로 계산하지 않습니다. Xiao는 수만 개의 코팅 후보를 상안정성, 전기화학 안정성, 계면 반응처럼 서로 다른 필터로 줄였습니다. Kahle은 구조 정보와 정적 모델에서 시작해 마지막에 first-principles MD로 올라갑니다. 제가 가져온 것은 이들의 문턱값이 아니라, 싼 모델과 비싼 검증의 역할을 분리하는 설계입니다.</a:t>
            </a:r>
            <a:endParaRPr/>
          </a:p>
          <a:p xmlns:a="http://schemas.openxmlformats.org/drawingml/2006/main">
            <a:r>
              <a:t/>
            </a:r>
            <a:endParaRPr/>
          </a:p>
          <a:p xmlns:a="http://schemas.openxmlformats.org/drawingml/2006/main">
            <a:r>
              <a:t>[발표자 메모]</a:t>
            </a:r>
            <a:endParaRPr/>
          </a:p>
          <a:p xmlns:a="http://schemas.openxmlformats.org/drawingml/2006/main">
            <a:r>
              <a:t>왼쪽은 후보 수를 줄이는 구조, 오른쪽은 계산 정밀도를 올리는 구조라고 설명한다.</a:t>
            </a:r>
            <a:endParaRPr/>
          </a:p>
          <a:p xmlns:a="http://schemas.openxmlformats.org/drawingml/2006/main">
            <a:r>
              <a:t/>
            </a:r>
            <a:endParaRPr/>
          </a:p>
          <a:p xmlns:a="http://schemas.openxmlformats.org/drawingml/2006/main">
            <a:r>
              <a:t>[Sources]</a:t>
            </a:r>
            <a:endParaRPr/>
          </a:p>
          <a:p xmlns:a="http://schemas.openxmlformats.org/drawingml/2006/main">
            <a:r>
              <a:t>Xiao et al., Joule 2019, Fig. 1; Kahle et al., Phys. Rev. Materials 2020, Fig.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우리 workflow는 문헌의 결과 숫자를 복사한 것이 아닙니다. 넓은 화학 공간은 빠르게 훑고, 서로 다른 물리 질문은 따로 계산하고, 마지막 판단은 같은 조건의 DFT·MD·실험으로 넘긴다는 원칙을 가져왔습니다. 그래서 싼 모델은 후보를 확정하는 판정기가 아니라, 다음 계산 순서를 바꾸는 도구로 쓰는 게 맞습니다.</a:t>
            </a:r>
            <a:endParaRPr/>
          </a:p>
          <a:p xmlns:a="http://schemas.openxmlformats.org/drawingml/2006/main">
            <a:r>
              <a:t/>
            </a:r>
            <a:endParaRPr/>
          </a:p>
          <a:p xmlns:a="http://schemas.openxmlformats.org/drawingml/2006/main">
            <a:r>
              <a:t>[발표자 메모]</a:t>
            </a:r>
            <a:endParaRPr/>
          </a:p>
          <a:p xmlns:a="http://schemas.openxmlformats.org/drawingml/2006/main">
            <a:r>
              <a:t>네 단계 중 ‘physics-specific checks’와 ‘expensive validation’ 사이를 특히 강조한다.</a:t>
            </a:r>
            <a:endParaRPr/>
          </a:p>
          <a:p xmlns:a="http://schemas.openxmlformats.org/drawingml/2006/main">
            <a:r>
              <a:t/>
            </a:r>
            <a:endParaRPr/>
          </a:p>
          <a:p xmlns:a="http://schemas.openxmlformats.org/drawingml/2006/main">
            <a:r>
              <a:t>[Sources]</a:t>
            </a:r>
            <a:endParaRPr/>
          </a:p>
          <a:p xmlns:a="http://schemas.openxmlformats.org/drawingml/2006/main">
            <a:r>
              <a:t>Xiao 2019; Kahle 2020; Sundar 2025; Sendek 2017.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출발 명단은 산화물, 할라이드, 질화물과 황화물을 합친 91종입니다. 각 화합물에 세 개의 실행 라벨을 붙여 273개 작업을 계획했고, 그중 270개가 활성화된 workflow를 끝냈습니다. 여기서 x002, x005, x010은 실제 2, 5, 10퍼센트 농도가 아닙니다. 작은 셀의 정수 치환 때문에 세 라벨 모두 generator loading x=0.25로 들어갔고, 서로 독립적인 반복 측정도 아닙니다.</a:t>
            </a:r>
            <a:endParaRPr/>
          </a:p>
          <a:p xmlns:a="http://schemas.openxmlformats.org/drawingml/2006/main">
            <a:r>
              <a:t/>
            </a:r>
            <a:endParaRPr/>
          </a:p>
          <a:p xmlns:a="http://schemas.openxmlformats.org/drawingml/2006/main">
            <a:r>
              <a:t>[발표자 메모]</a:t>
            </a:r>
            <a:endParaRPr/>
          </a:p>
          <a:p xmlns:a="http://schemas.openxmlformats.org/drawingml/2006/main">
            <a:r>
              <a:t>273을 후보 수라고 부르지 않고 workload라고 부른다.</a:t>
            </a:r>
            <a:endParaRPr/>
          </a:p>
          <a:p xmlns:a="http://schemas.openxmlformats.org/drawingml/2006/main">
            <a:r>
              <a:t/>
            </a:r>
            <a:endParaRPr/>
          </a:p>
          <a:p xmlns:a="http://schemas.openxmlformats.org/drawingml/2006/main">
            <a:r>
              <a:t>[Sources]</a:t>
            </a:r>
            <a:endParaRPr/>
          </a:p>
          <a:p xmlns:a="http://schemas.openxmlformats.org/drawingml/2006/main">
            <a:r>
              <a:t>master_batch_273.sh; db/properties/cascade_label_scatter_audit.json (corrected exact-formula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단계는 물성을 계산하는 단계가 아닙니다. 어떤 host 구조, 어떤 화학 명단, 어떤 모델과 장비를 썼는지 먼저 고정합니다. 수백 개 구조를 만든 뒤에 모델이나 경로가 잘못됐다는 걸 발견하면 비용을 거의 전부 잃기 때문입니다. 그래서 preflight는 계산 환경과 provenance를 먼저 묶는 단계입니다.</a:t>
            </a:r>
            <a:endParaRPr/>
          </a:p>
          <a:p xmlns:a="http://schemas.openxmlformats.org/drawingml/2006/main">
            <a:r>
              <a:t/>
            </a:r>
            <a:endParaRPr/>
          </a:p>
          <a:p xmlns:a="http://schemas.openxmlformats.org/drawingml/2006/main">
            <a:r>
              <a:t>[발표자 메모]</a:t>
            </a:r>
            <a:endParaRPr/>
          </a:p>
          <a:p xmlns:a="http://schemas.openxmlformats.org/drawingml/2006/main">
            <a:r>
              <a:t>‘재료를 거르는 단계가 아니라 실행을 거르는 단계’라고 설명한다.</a:t>
            </a:r>
            <a:endParaRPr/>
          </a:p>
          <a:p xmlns:a="http://schemas.openxmlformats.org/drawingml/2006/main">
            <a:r>
              <a:t/>
            </a:r>
            <a:endParaRPr/>
          </a:p>
          <a:p xmlns:a="http://schemas.openxmlformats.org/drawingml/2006/main">
            <a:r>
              <a:t>[Sources]</a:t>
            </a:r>
            <a:endParaRPr/>
          </a:p>
          <a:p xmlns:a="http://schemas.openxmlformats.org/drawingml/2006/main">
            <a:r>
              <a:t>Archived tier_cascade.sh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단계에서는 첨가제 이름을 실제 원자 구조로 바꿉니다. 가능한 치환 자리와 전하보상 조합을 만들고, 여러 초기 배치를 준비합니다. 이때부터 같은 도펀트 이름도 exact formula와 자리가 다르면 다른 물질입니다. 실제로 90종 가운데 31종은 세 라벨 사이에서 exact formula가 바뀌었기 때문에, 세 값을 농도 응답이나 반복 측정처럼 평균하면 안 됩니다.</a:t>
            </a:r>
            <a:endParaRPr/>
          </a:p>
          <a:p xmlns:a="http://schemas.openxmlformats.org/drawingml/2006/main">
            <a:r>
              <a:t/>
            </a:r>
            <a:endParaRPr/>
          </a:p>
          <a:p xmlns:a="http://schemas.openxmlformats.org/drawingml/2006/main">
            <a:r>
              <a:t>[발표자 메모]</a:t>
            </a:r>
            <a:endParaRPr/>
          </a:p>
          <a:p xmlns:a="http://schemas.openxmlformats.org/drawingml/2006/main">
            <a:r>
              <a:t>아래 31/90은 결과 순위가 아니라 구조 생성 설계의 진단값이라고 말한다.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단계에서는 생성된 구조를 UMA 포텐셜로 빠르게 이완합니다. 심하게 무너지거나 수렴하지 않는 구조를 먼저 찾고, 같은 계산 규약 안에서 상대 에너지와 변형 정도를 기록합니다. DFT보다 훨씬 싸서 넓은 구조 공간을 훑는 데 유용하지만, 이 값은 formation energy나 hull stability를 증명하지 않습니다. Li₃N처럼 모델 편향이 확인된 계열은 이 증거에서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초록 상자는 용도, 빨간 상자는 한계다. 두 문장을 모두 말한다.</a:t>
            </a:r>
            <a:endParaRPr/>
          </a:p>
          <a:p xmlns:a="http://schemas.openxmlformats.org/drawingml/2006/main">
            <a:r>
              <a:t/>
            </a:r>
            <a:endParaRPr/>
          </a:p>
          <a:p xmlns:a="http://schemas.openxmlformats.org/drawingml/2006/main">
            <a:r>
              <a:t>[Sources]</a:t>
            </a:r>
            <a:endParaRPr/>
          </a:p>
          <a:p xmlns:a="http://schemas.openxmlformats.org/drawingml/2006/main">
            <a:r>
              <a:t>tools/doping/run_uma_screening.py lineage; project UMA validity rules.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이완된 구조 중 다음 단계로 보낼 대표 구조를 고릅니다. 여기서 winner라는 말이 나오지만, 의미는 생성된 메뉴 안에서 상대적으로 나은 배치라는 정도입니다. 후보 수와 seed 수가 화학종마다 다르기 때문에, 이 선택을 곧바로 최고의 도펀트라고 부를 수는 없습니다. 구조 선택과 화학종 순위는 반드시 분리해서 봐야 합니다.</a:t>
            </a:r>
            <a:endParaRPr/>
          </a:p>
          <a:p xmlns:a="http://schemas.openxmlformats.org/drawingml/2006/main">
            <a:r>
              <a:t/>
            </a:r>
            <a:endParaRPr/>
          </a:p>
          <a:p xmlns:a="http://schemas.openxmlformats.org/drawingml/2006/main">
            <a:r>
              <a:t>[발표자 메모]</a:t>
            </a:r>
            <a:endParaRPr/>
          </a:p>
          <a:p xmlns:a="http://schemas.openxmlformats.org/drawingml/2006/main">
            <a:r>
              <a:t>‘winner’라는 단어의 범위를 좁히는 슬라이드다.</a:t>
            </a:r>
            <a:endParaRPr/>
          </a:p>
          <a:p xmlns:a="http://schemas.openxmlformats.org/drawingml/2006/main">
            <a:r>
              <a:t/>
            </a:r>
            <a:endParaRPr/>
          </a:p>
          <a:p xmlns:a="http://schemas.openxmlformats.org/drawingml/2006/main">
            <a:r>
              <a:t>[Sources]</a:t>
            </a:r>
            <a:endParaRPr/>
          </a:p>
          <a:p xmlns:a="http://schemas.openxmlformats.org/drawingml/2006/main">
            <a:r>
              <a:t>tools/doping/select_winners.py lineage; cascade_v23_all.csv.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선택된 구조는 짧게 가열한 뒤 다시 이완합니다. 목적은 처음 잡힌 국소 최소가 조금 흔들렸을 때도 남아 있는지 보는 것입니다. 궤적을 사용하기 때문에 MD처럼 보이지만, 장시간 확산계수나 상온 전도도를 얻는 계산은 아닙니다. 전도도를 말하려면 여러 seed와 충분한 생산 구간을 가진 별도 MD가 필요합니다.</a:t>
            </a:r>
            <a:endParaRPr/>
          </a:p>
          <a:p xmlns:a="http://schemas.openxmlformats.org/drawingml/2006/main">
            <a:r>
              <a:t/>
            </a:r>
            <a:endParaRPr/>
          </a:p>
          <a:p xmlns:a="http://schemas.openxmlformats.org/drawingml/2006/main">
            <a:r>
              <a:t>[발표자 메모]</a:t>
            </a:r>
            <a:endParaRPr/>
          </a:p>
          <a:p xmlns:a="http://schemas.openxmlformats.org/drawingml/2006/main">
            <a:r>
              <a:t>anneal과 conductivity MD를 구분해서 말한다.</a:t>
            </a:r>
            <a:endParaRPr/>
          </a:p>
          <a:p xmlns:a="http://schemas.openxmlformats.org/drawingml/2006/main">
            <a:r>
              <a:t/>
            </a:r>
            <a:endParaRPr/>
          </a:p>
          <a:p xmlns:a="http://schemas.openxmlformats.org/drawingml/2006/main">
            <a:r>
              <a:t>[Sources]</a:t>
            </a:r>
            <a:endParaRPr/>
          </a:p>
          <a:p xmlns:a="http://schemas.openxmlformats.org/drawingml/2006/main">
            <a:r>
              <a:t>tools/doping/anneal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번째 단계는 정적 구조에서 Li 경로가 불리해 보이는지 빠르게 확인합니다. bond-valence 지형은 국소 배위를 보고, 4 Å 지표는 도펀트 주변에 놓인 Li의 기하학적 비율을 셉니다. 둘 다 확산계수나 전도도가 아닙니다. 또 과거 cascade의 파라미터는 현재 프로젝트 표준 softBV와 다르기 때문에, 지금은 과거 구조의 위험 신호로만 사용하고 최종 후보는 표준 규약으로 다시 계산해야 합니다.</a:t>
            </a:r>
            <a:endParaRPr/>
          </a:p>
          <a:p xmlns:a="http://schemas.openxmlformats.org/drawingml/2006/main">
            <a:r>
              <a:t/>
            </a:r>
            <a:endParaRPr/>
          </a:p>
          <a:p xmlns:a="http://schemas.openxmlformats.org/drawingml/2006/main">
            <a:r>
              <a:t>[발표자 메모]</a:t>
            </a:r>
            <a:endParaRPr/>
          </a:p>
          <a:p xmlns:a="http://schemas.openxmlformats.org/drawingml/2006/main">
            <a:r>
              <a:t>그림의 노란 영역을 ‘통로’라고 단정하지 말고 정적 low-energy region이라고 설명한다.</a:t>
            </a:r>
            <a:endParaRPr/>
          </a:p>
          <a:p xmlns:a="http://schemas.openxmlformats.org/drawingml/2006/main">
            <a:r>
              <a:t/>
            </a:r>
            <a:endParaRPr/>
          </a:p>
          <a:p xmlns:a="http://schemas.openxmlformats.org/drawingml/2006/main">
            <a:r>
              <a:t>[Sources]</a:t>
            </a:r>
            <a:endParaRPr/>
          </a:p>
          <a:p xmlns:a="http://schemas.openxmlformats.org/drawingml/2006/main">
            <a:r>
              <a:t>docs/figures/bv_structure_panels_comp1.png; legacy cascade BVS code; canonical softBV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일곱 번째 단계에서는 부피를 조금씩 바꿔 EOS를 맞추고, 작은 변형을 가해 탄성 응답을 계산합니다. 이렇게 하면 지나치게 연하거나 비물리적인 구조를 찾고, 어떤 후보가 DFT 확인이 필요한지 정할 수 있습니다. 다만 화면의 DFT EOS는 한 사례의 검증 예시이고, 90종 전체가 DFT로 검증됐다는 뜻은 아닙니다. screen-wide 탄성값은 같은 MLIP 규약 안의 방향 비교로 보는 게 안전합니다.</a:t>
            </a:r>
          </a:p>
          <a:p xmlns:a="http://schemas.openxmlformats.org/drawingml/2006/main">
            <a:r>
              <a:t/>
            </a:r>
          </a:p>
          <a:p xmlns:a="http://schemas.openxmlformats.org/drawingml/2006/main">
            <a:r>
              <a:t>[발표자 메모]</a:t>
            </a:r>
          </a:p>
          <a:p xmlns:a="http://schemas.openxmlformats.org/drawingml/2006/main">
            <a:r>
              <a:t>오른쪽은 두 계산이 답하는 질문을 나눈다. B0와 VRH B를 같은 값처럼 섞지 않는다.</a:t>
            </a:r>
          </a:p>
          <a:p xmlns:a="http://schemas.openxmlformats.org/drawingml/2006/main">
            <a:r>
              <a:t/>
            </a:r>
          </a:p>
          <a:p xmlns:a="http://schemas.openxmlformats.org/drawingml/2006/main">
            <a:r>
              <a:t>[Sources]</a:t>
            </a:r>
          </a:p>
          <a:p xmlns:a="http://schemas.openxmlformats.org/drawingml/2006/main">
            <a:r>
              <a:t>docs/figures/cascade/b2o3_eos_dft_vs_modelc.png; run_mlip_postproc.py lineage.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여덟 번째 단계에서는 Li 화학퍼텐셜을 전압축으로 바꾸고, 후보 조성이 어떤 상으로 분해될 수 있는지 봅니다. 같은 경쟁상 목록 안에서 host와 후보를 비교하면 bulk 산화 onset과 분해 산물을 얻을 수 있습니다. 하지만 이 계산은 0 K bulk 열역학입니다. 실제 계면 구조, 접착, 반응 속도와 passivation은 별도 계산과 실험이 필요합니다.</a:t>
            </a:r>
            <a:endParaRPr/>
          </a:p>
          <a:p xmlns:a="http://schemas.openxmlformats.org/drawingml/2006/main">
            <a:r>
              <a:t/>
            </a:r>
            <a:endParaRPr/>
          </a:p>
          <a:p xmlns:a="http://schemas.openxmlformats.org/drawingml/2006/main">
            <a:r>
              <a:t>[발표자 메모]</a:t>
            </a:r>
            <a:endParaRPr/>
          </a:p>
          <a:p xmlns:a="http://schemas.openxmlformats.org/drawingml/2006/main">
            <a:r>
              <a:t>convex hull과 grand potential은 ‘분해 가능성’이지 ‘실제 수명’이 아니라고 선을 긋는다.</a:t>
            </a:r>
            <a:endParaRPr/>
          </a:p>
          <a:p xmlns:a="http://schemas.openxmlformats.org/drawingml/2006/main">
            <a:r>
              <a:t/>
            </a:r>
            <a:endParaRPr/>
          </a:p>
          <a:p xmlns:a="http://schemas.openxmlformats.org/drawingml/2006/main">
            <a:r>
              <a:t>[Sources]</a:t>
            </a:r>
            <a:endParaRPr/>
          </a:p>
          <a:p xmlns:a="http://schemas.openxmlformats.org/drawingml/2006/main">
            <a:r>
              <a:t>tools/oxidation/esw_cascade_batch.py; MP grand-potential workflow; same-phase-roster contract.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단계에서는 앞의 기록을 모아 다음 고비용 계산의 순서를 정합니다. 이때 도펀트 이름만 합치는 것이 아니라 exact formula, site, 계산 규약과 불확실성을 함께 넘겨야 합니다. 산출물은 1등 후보가 아니라 DFT, 멀티시드 MD, 계면 계산이나 실험으로 확인할 질문 목록입니다. 새로운 결과가 들어오면 다시 순서를 갱신합니다.</a:t>
            </a:r>
            <a:endParaRPr/>
          </a:p>
          <a:p xmlns:a="http://schemas.openxmlformats.org/drawingml/2006/main">
            <a:r>
              <a:t/>
            </a:r>
            <a:endParaRPr/>
          </a:p>
          <a:p xmlns:a="http://schemas.openxmlformats.org/drawingml/2006/main">
            <a:r>
              <a:t>[발표자 메모]</a:t>
            </a:r>
            <a:endParaRPr/>
          </a:p>
          <a:p xmlns:a="http://schemas.openxmlformats.org/drawingml/2006/main">
            <a:r>
              <a:t>마지막 상자에서 첫 상자로 돌아오는 화살표를 active-learning loop로 설명한다.</a:t>
            </a:r>
            <a:endParaRPr/>
          </a:p>
          <a:p xmlns:a="http://schemas.openxmlformats.org/drawingml/2006/main">
            <a:r>
              <a:t/>
            </a:r>
            <a:endParaRPr/>
          </a:p>
          <a:p xmlns:a="http://schemas.openxmlformats.org/drawingml/2006/main">
            <a:r>
              <a:t>[Sources]</a:t>
            </a:r>
            <a:endParaRPr/>
          </a:p>
          <a:p xmlns:a="http://schemas.openxmlformats.org/drawingml/2006/main">
            <a:r>
              <a:t>stage 10–12b design; acquisition workflow; explicit validation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270개 실행 슬롯에서 구조, 짧은 anneal, 정적 지표, 탄성, bulk 산화 기록은 남았습니다. 반면 장시간 멀티시드 전도도 MD와 명시적 계면 접착 계산은 v23에서 돌지 않았습니다. DFT 입력 폴더가 있다는 사실도 DFT 검증 완료와는 다릅니다. 이 슬라이드는 현재 데이터가 답할 수 있는 질문과 답할 수 없는 질문을 한 번에 나누기 위한 것입니다.</a:t>
            </a:r>
            <a:endParaRPr/>
          </a:p>
          <a:p xmlns:a="http://schemas.openxmlformats.org/drawingml/2006/main">
            <a:r>
              <a:t/>
            </a:r>
            <a:endParaRPr/>
          </a:p>
          <a:p xmlns:a="http://schemas.openxmlformats.org/drawingml/2006/main">
            <a:r>
              <a:t>[발표자 메모]</a:t>
            </a:r>
            <a:endParaRPr/>
          </a:p>
          <a:p xmlns:a="http://schemas.openxmlformats.org/drawingml/2006/main">
            <a:r>
              <a:t>왼쪽과 오른쪽을 같은 속도로 읽지 말고, 오른쪽 세 가지 핵심: real concentration, MD, interface만 강조한다.</a:t>
            </a:r>
            <a:endParaRPr/>
          </a:p>
          <a:p xmlns:a="http://schemas.openxmlformats.org/drawingml/2006/main">
            <a:r>
              <a:t/>
            </a:r>
            <a:endParaRPr/>
          </a:p>
          <a:p xmlns:a="http://schemas.openxmlformats.org/drawingml/2006/main">
            <a:r>
              <a:t>[Sources]</a:t>
            </a:r>
            <a:endParaRPr/>
          </a:p>
          <a:p xmlns:a="http://schemas.openxmlformats.org/drawingml/2006/main">
            <a:r>
              <a:t>Run-tree inventory; cascade pipeline anatomy; v23 enabled-stage configuration.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먼저 배운 것은 도펀트 이름만으로 비교 대상을 정의할 수 없다는 점입니다. 세 실행 라벨을 exact formula 기준으로 다시 묶으면 59종은 조성이 같았지만 31종은 조성 자체가 달라졌습니다. 같은 이름 아래 다른 물질을 평균한 경우가 있었다는 뜻입니다. 다음 계산에서는 formula와 site를 먼저 고정하고, 그 안에서 여러 seed를 돌려 자리 의존성과 수치적 흔들림을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이 슬라이드의 목적은 과거 데이터를 버리는 게 아니라, 어떤 단위로 다시 묶어야 하는지를 설명하는 것이다.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 corrected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 작은 표만 보면 산화 onset 변화가 산화물 계열의 특징처럼 보였습니다. 전체 화학 풀을 다시 보니 일부 황화물 대조군도 같은 산화 반응 가지에 들어갔습니다. 그래서 ‘산화물이라서 좋아진다’는 설명은 충분하지 않습니다. Banik의 그림은 S 상태가 산화 반응을 지배할 수 있다는 배경을 주고, Sundar의 그림은 같은 개질재도 어느 계면에서 보느냐에 따라 반응성이 달라진다는 점을 보여줍니다. 현재 결과는 메커니즘 확정이 아니라, 다음 matched comparison을 정하는 가설입니다.</a:t>
            </a:r>
            <a:endParaRPr/>
          </a:p>
          <a:p xmlns:a="http://schemas.openxmlformats.org/drawingml/2006/main">
            <a:r>
              <a:t/>
            </a:r>
            <a:endParaRPr/>
          </a:p>
          <a:p xmlns:a="http://schemas.openxmlformats.org/drawingml/2006/main">
            <a:r>
              <a:t>[발표자 메모]</a:t>
            </a:r>
            <a:endParaRPr/>
          </a:p>
          <a:p xmlns:a="http://schemas.openxmlformats.org/drawingml/2006/main">
            <a:r>
              <a:t>문헌 그림을 우리 데이터 검증처럼 말하지 않는다. 왼쪽은 bulk 전자구조 배경, 오른쪽은 interface-specific 판단의 필요성이다.</a:t>
            </a:r>
            <a:endParaRPr/>
          </a:p>
          <a:p xmlns:a="http://schemas.openxmlformats.org/drawingml/2006/main">
            <a:r>
              <a:t/>
            </a:r>
            <a:endParaRPr/>
          </a:p>
          <a:p xmlns:a="http://schemas.openxmlformats.org/drawingml/2006/main">
            <a:r>
              <a:t>[Sources]</a:t>
            </a:r>
            <a:endParaRPr/>
          </a:p>
          <a:p xmlns:a="http://schemas.openxmlformats.org/drawingml/2006/main">
            <a:r>
              <a:t>Banik et al., Fig. 4; Sundar et al., Fig. 2; recovered oxide/sulfide family controls.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campaign은 후보 수를 더 늘리기 전에 통제를 먼저 강화해야 합니다. 큰 셀에서 실제 저농도를 만들고, formula와 site를 고정한 뒤 여러 seed를 반복해야 합니다. 정적 Li 경로는 프로젝트 표준 softBV로 다시 계산하고, 경계 후보만 멀티시드 MD로 올립니다. 산화와 계면은 같은 구조 계보와 reference를 사용해 따로 검증하고, 마지막에만 결과를 합치는 게 맞습니다.</a:t>
            </a:r>
            <a:endParaRPr/>
          </a:p>
          <a:p xmlns:a="http://schemas.openxmlformats.org/drawingml/2006/main">
            <a:r>
              <a:t/>
            </a:r>
            <a:endParaRPr/>
          </a:p>
          <a:p xmlns:a="http://schemas.openxmlformats.org/drawingml/2006/main">
            <a:r>
              <a:t>[발표자 메모]</a:t>
            </a:r>
            <a:endParaRPr/>
          </a:p>
          <a:p xmlns:a="http://schemas.openxmlformats.org/drawingml/2006/main">
            <a:r>
              <a:t>구조, 수송, 계면 세 칸을 future work의 세 묶음으로 정리한다.</a:t>
            </a:r>
            <a:endParaRPr/>
          </a:p>
          <a:p xmlns:a="http://schemas.openxmlformats.org/drawingml/2006/main">
            <a:r>
              <a:t/>
            </a:r>
            <a:endParaRPr/>
          </a:p>
          <a:p xmlns:a="http://schemas.openxmlformats.org/drawingml/2006/main">
            <a:r>
              <a:t>[Sources]</a:t>
            </a:r>
            <a:endParaRPr/>
          </a:p>
          <a:p xmlns:a="http://schemas.openxmlformats.org/drawingml/2006/main">
            <a:r>
              <a:t>Canonical softBV and MLIP-MD protocols; cascade design review; interface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ML은 처음 보는 화학의 물성값을 믿을 정도로 검증되지 않았습니다. 대신 이미 물리적으로 허용한 후보 안에서 불확실성과 다양성을 보고 다음 계산 순서를 정하는 데 쓸 수 있습니다. 공동 개질도 마찬가지입니다. 지금 explicit pair property label은 0개이므로 pair 순위를 결과처럼 말하면 안 됩니다. 첫 pair는 같은 cell, site, seed 조건의 단일 개질 대조군과 함께 계산하고, 그 결과를 다시 모델에 넣는 방식이 적절합니다.</a:t>
            </a:r>
            <a:endParaRPr/>
          </a:p>
          <a:p xmlns:a="http://schemas.openxmlformats.org/drawingml/2006/main">
            <a:r>
              <a:t/>
            </a:r>
            <a:endParaRPr/>
          </a:p>
          <a:p xmlns:a="http://schemas.openxmlformats.org/drawingml/2006/main">
            <a:r>
              <a:t>[발표자 메모]</a:t>
            </a:r>
            <a:endParaRPr/>
          </a:p>
          <a:p xmlns:a="http://schemas.openxmlformats.org/drawingml/2006/main">
            <a:r>
              <a:t>Sendek 그림에서는 y축 확률만 보지 말고 x축의 training-domain distance를 함께 보라고 짚는다.</a:t>
            </a:r>
            <a:endParaRPr/>
          </a:p>
          <a:p xmlns:a="http://schemas.openxmlformats.org/drawingml/2006/main">
            <a:r>
              <a:t/>
            </a:r>
            <a:endParaRPr/>
          </a:p>
          <a:p xmlns:a="http://schemas.openxmlformats.org/drawingml/2006/main">
            <a:r>
              <a:t>[Sources]</a:t>
            </a:r>
            <a:endParaRPr/>
          </a:p>
          <a:p xmlns:a="http://schemas.openxmlformats.org/drawingml/2006/main">
            <a:r>
              <a:t>Sendek et al., EES 2017, Fig. 4; codoping ML metadata; explicit pair inventory.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 campaign의 가장 큰 성과는 1등 도펀트를 찾았다는 것이 아니라 비교가 어디서 흔들리는지 알게 됐다는 점입니다. 넓은 화학 풀은 기존 해석을 시험할 대조군을 줬고, 구조 감사는 formula와 site를 먼저 고정해야 한다는 걸 보여줬습니다. 이제 논의할 질문은 세 가지입니다. 저농도 멀티시드 MD와 명시적 계면 중 무엇을 먼저 할지, best-case와 robust candidate 중 어느 정의를 쓸지, 그리고 몇 개의 site와 seed가 충분한지입니다.</a:t>
            </a:r>
            <a:endParaRPr/>
          </a:p>
          <a:p xmlns:a="http://schemas.openxmlformats.org/drawingml/2006/main">
            <a:r>
              <a:t/>
            </a:r>
            <a:endParaRPr/>
          </a:p>
          <a:p xmlns:a="http://schemas.openxmlformats.org/drawingml/2006/main">
            <a:r>
              <a:t>[발표자 메모]</a:t>
            </a:r>
            <a:endParaRPr/>
          </a:p>
          <a:p xmlns:a="http://schemas.openxmlformats.org/drawingml/2006/main">
            <a:r>
              <a:t>세 질문 중 청중에게 실제로 의견을 받을 하나를 미리 고른다.</a:t>
            </a:r>
            <a:endParaRPr/>
          </a:p>
          <a:p xmlns:a="http://schemas.openxmlformats.org/drawingml/2006/main">
            <a:r>
              <a:t/>
            </a:r>
            <a:endParaRPr/>
          </a:p>
          <a:p xmlns:a="http://schemas.openxmlformats.org/drawingml/2006/main">
            <a:r>
              <a:t>[Sources]</a:t>
            </a:r>
            <a:endParaRPr/>
          </a:p>
          <a:p xmlns:a="http://schemas.openxmlformats.org/drawingml/2006/main">
            <a:r>
              <a:t>Seminar synthesis of the current cascade evidence and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전체 분모를 보여주는 부록입니다. 산화물만이 아니라 여러 할라이드, 질화물과 황화물을 포함해 91종을 계획했습니다. 오른쪽 숫자가 우리 roster이고, 왼쪽 주기율표는 LLZO 논문에서 넓은 dopant 명단을 보여준 배치 예시일 뿐 우리 성능 결과가 아닙니다.</a:t>
            </a:r>
            <a:endParaRPr/>
          </a:p>
          <a:p xmlns:a="http://schemas.openxmlformats.org/drawingml/2006/main">
            <a:r>
              <a:t/>
            </a:r>
            <a:endParaRPr/>
          </a:p>
          <a:p xmlns:a="http://schemas.openxmlformats.org/drawingml/2006/main">
            <a:r>
              <a:t>[발표자 메모]</a:t>
            </a:r>
            <a:endParaRPr/>
          </a:p>
          <a:p xmlns:a="http://schemas.openxmlformats.org/drawingml/2006/main">
            <a:r>
              <a:t>질문이 없으면 가족 수만 읽고 넘어간다.</a:t>
            </a:r>
            <a:endParaRPr/>
          </a:p>
          <a:p xmlns:a="http://schemas.openxmlformats.org/drawingml/2006/main">
            <a:r>
              <a:t/>
            </a:r>
            <a:endParaRPr/>
          </a:p>
          <a:p xmlns:a="http://schemas.openxmlformats.org/drawingml/2006/main">
            <a:r>
              <a:t>[Sources]</a:t>
            </a:r>
            <a:endParaRPr/>
          </a:p>
          <a:p xmlns:a="http://schemas.openxmlformats.org/drawingml/2006/main">
            <a:r>
              <a:t>Anderson et al. 2024, Fig. 1; project campaign roster.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들어오면 전체 91종을 보여주는 페이지입니다. 순서는 성능 순위가 아니고, 가족별로 어떤 화학 공간을 처음에 열었는지 보여줍니다. Li₃N은 명단에는 있었지만 프로젝트 규약상 UMA 판단 근거에서는 분리해야 하고, As₂S₃ 세 슬롯은 구조 생성 단계에서 끝났습니다.</a:t>
            </a:r>
            <a:endParaRPr/>
          </a:p>
          <a:p xmlns:a="http://schemas.openxmlformats.org/drawingml/2006/main">
            <a:r>
              <a:t/>
            </a:r>
            <a:endParaRPr/>
          </a:p>
          <a:p xmlns:a="http://schemas.openxmlformats.org/drawingml/2006/main">
            <a:r>
              <a:t>[발표자 메모]</a:t>
            </a:r>
            <a:endParaRPr/>
          </a:p>
          <a:p xmlns:a="http://schemas.openxmlformats.org/drawingml/2006/main">
            <a:r>
              <a:t>발표 본문에서는 열지 않아도 된다.</a:t>
            </a:r>
            <a:endParaRPr/>
          </a:p>
          <a:p xmlns:a="http://schemas.openxmlformats.org/drawingml/2006/main">
            <a:r>
              <a:t/>
            </a:r>
            <a:endParaRPr/>
          </a:p>
          <a:p xmlns:a="http://schemas.openxmlformats.org/drawingml/2006/main">
            <a:r>
              <a:t>[Sources]</a:t>
            </a:r>
            <a:endParaRPr/>
          </a:p>
          <a:p xmlns:a="http://schemas.openxmlformats.org/drawingml/2006/main">
            <a:r>
              <a:t>master_batch_273.sh roster; project UMA exclusion rule for Li3N.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본문에서는 청중이 이해하기 쉬운 아홉 질문으로 묶었지만, 실제 폴더는 00부터 12b까지 더 잘게 나뉩니다. 이 표는 두 표현을 연결합니다. 특히 마지막 thermodynamic context와 validation queue는 여러 후처리 폴더와 외부 grand-potential 계산을 함께 묶은 개념 단계입니다.</a:t>
            </a:r>
            <a:endParaRPr/>
          </a:p>
          <a:p xmlns:a="http://schemas.openxmlformats.org/drawingml/2006/main">
            <a:r>
              <a:t/>
            </a:r>
            <a:endParaRPr/>
          </a:p>
          <a:p xmlns:a="http://schemas.openxmlformats.org/drawingml/2006/main">
            <a:r>
              <a:t>[발표자 메모]</a:t>
            </a:r>
            <a:endParaRPr/>
          </a:p>
          <a:p xmlns:a="http://schemas.openxmlformats.org/drawingml/2006/main">
            <a:r>
              <a:t>구현 질문이 나올 때만 연다.</a:t>
            </a:r>
            <a:endParaRPr/>
          </a:p>
          <a:p xmlns:a="http://schemas.openxmlformats.org/drawingml/2006/main">
            <a:r>
              <a:t/>
            </a:r>
            <a:endParaRPr/>
          </a:p>
          <a:p xmlns:a="http://schemas.openxmlformats.org/drawingml/2006/main">
            <a:r>
              <a:t>[Sources]</a:t>
            </a:r>
            <a:endParaRPr/>
          </a:p>
          <a:p xmlns:a="http://schemas.openxmlformats.org/drawingml/2006/main">
            <a:r>
              <a:t>Archived tier_cascade.sh;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라벨은 2, 5, 10퍼센트 농도축으로 설계됐지만 실제 작은 셀에서는 같은 정수 치환량으로 양자화됐습니다. 동시에 31종에서는 선택된 자리와 조성이 달라져 exact formula도 바뀌었습니다. 따라서 세 값을 농도 경향이나 통제된 반복 측정으로 부르면 안 됩니다. 앞으로는 formula와 site를 고정한 뒤 seed만 바꾸는 반복과, cell 크기를 바꿔 실제 농도를 바꾸는 계산을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수치 질문이 나올 때만 본문 P5보다 자세히 설명한다.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부록은 발표에서 쓴 계산 용어를 한 번에 정리합니다. 왼쪽은 넓은 후보를 싸게 훑는 증거이고, 오른쪽은 최종 재료 주장을 위해 필요한 검증입니다. 정적 지표가 전도도를 대신하지 않고, bulk 열역학이 계면 수명을 대신하지 않는다는 구분이 핵심입니다.</a:t>
            </a:r>
            <a:endParaRPr/>
          </a:p>
          <a:p xmlns:a="http://schemas.openxmlformats.org/drawingml/2006/main">
            <a:r>
              <a:t/>
            </a:r>
            <a:endParaRPr/>
          </a:p>
          <a:p xmlns:a="http://schemas.openxmlformats.org/drawingml/2006/main">
            <a:r>
              <a:t>[발표자 메모]</a:t>
            </a:r>
            <a:endParaRPr/>
          </a:p>
          <a:p xmlns:a="http://schemas.openxmlformats.org/drawingml/2006/main">
            <a:r>
              <a:t>용어 질문이 나왔을 때 사용한다.</a:t>
            </a:r>
            <a:endParaRPr/>
          </a:p>
          <a:p xmlns:a="http://schemas.openxmlformats.org/drawingml/2006/main">
            <a:r>
              <a:t/>
            </a:r>
            <a:endParaRPr/>
          </a:p>
          <a:p xmlns:a="http://schemas.openxmlformats.org/drawingml/2006/main">
            <a:r>
              <a:t>[Sources]</a:t>
            </a:r>
            <a:endParaRPr/>
          </a:p>
          <a:p xmlns:a="http://schemas.openxmlformats.org/drawingml/2006/main">
            <a:r>
              <a:t>Project canonical BVSE, MLIP-MD, DFT, interface, and grand-potential protocols.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67e83c79114d4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280d18f2f3450f" /><Relationship Type="http://schemas.openxmlformats.org/officeDocument/2006/relationships/slideLayout" Target="/ppt/slideLayouts/slideLayout1.xml" Id="Ra667905730bd4f44"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8cbb49eadf4f75" /><Relationship Type="http://schemas.openxmlformats.org/officeDocument/2006/relationships/notesSlide" Target="/ppt/notesSlides/notesSlide1.xml" Id="Ra586bc1e3a8c4e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c3590f50c04caa" /><Relationship Type="http://schemas.openxmlformats.org/officeDocument/2006/relationships/notesSlide" Target="/ppt/notesSlides/notesSlide2.xml" Id="R06cc3b2b82a640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86b66683e74bee" /><Relationship Type="http://schemas.openxmlformats.org/officeDocument/2006/relationships/image" Target="/ppt/media/image.png" Id="R6deca4d840cc4253" /><Relationship Type="http://schemas.openxmlformats.org/officeDocument/2006/relationships/image" Target="/ppt/media/image2.png" Id="R9fca5c5484f246df" /><Relationship Type="http://schemas.openxmlformats.org/officeDocument/2006/relationships/notesSlide" Target="/ppt/notesSlides/notesSlide3.xml" Id="R79dedd7a1a8147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a2ed24502f45cf" /><Relationship Type="http://schemas.openxmlformats.org/officeDocument/2006/relationships/notesSlide" Target="/ppt/notesSlides/notesSlide4.xml" Id="R07fe1e7f0afa4e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8acf923ad445bc" /><Relationship Type="http://schemas.openxmlformats.org/officeDocument/2006/relationships/notesSlide" Target="/ppt/notesSlides/notesSlide5.xml" Id="R0b22e29227af4d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b24b0c6a0f41f6" /><Relationship Type="http://schemas.openxmlformats.org/officeDocument/2006/relationships/notesSlide" Target="/ppt/notesSlides/notesSlide6.xml" Id="Re63c6527db6947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da15701a644d4a" /><Relationship Type="http://schemas.openxmlformats.org/officeDocument/2006/relationships/notesSlide" Target="/ppt/notesSlides/notesSlide7.xml" Id="R75417081aaa641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0230364baa4842" /><Relationship Type="http://schemas.openxmlformats.org/officeDocument/2006/relationships/notesSlide" Target="/ppt/notesSlides/notesSlide8.xml" Id="Rd63d5a2cf0ef48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31a6a4449642b1" /><Relationship Type="http://schemas.openxmlformats.org/officeDocument/2006/relationships/notesSlide" Target="/ppt/notesSlides/notesSlide9.xml" Id="R02df4fce4b614a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8edbf6e701401e" /><Relationship Type="http://schemas.openxmlformats.org/officeDocument/2006/relationships/notesSlide" Target="/ppt/notesSlides/notesSlide10.xml" Id="R092aaa430d0049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55cd2d2108455e" /><Relationship Type="http://schemas.openxmlformats.org/officeDocument/2006/relationships/image" Target="/ppt/media/image3.png" Id="Re915225b4e2744da" /><Relationship Type="http://schemas.openxmlformats.org/officeDocument/2006/relationships/notesSlide" Target="/ppt/notesSlides/notesSlide11.xml" Id="R6b3f270135454d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6c4c07047d4a55" /><Relationship Type="http://schemas.openxmlformats.org/officeDocument/2006/relationships/image" Target="/ppt/media/image4.png" Id="R65d023672e8d410a" /><Relationship Type="http://schemas.openxmlformats.org/officeDocument/2006/relationships/notesSlide" Target="/ppt/notesSlides/notesSlide12.xml" Id="R1021685119a248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e8b2dcde8b4299" /><Relationship Type="http://schemas.openxmlformats.org/officeDocument/2006/relationships/notesSlide" Target="/ppt/notesSlides/notesSlide13.xml" Id="R25903170279949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59da94a46448a8" /><Relationship Type="http://schemas.openxmlformats.org/officeDocument/2006/relationships/notesSlide" Target="/ppt/notesSlides/notesSlide14.xml" Id="Rf20db68f8fad46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dbd413e7a124206" /><Relationship Type="http://schemas.openxmlformats.org/officeDocument/2006/relationships/notesSlide" Target="/ppt/notesSlides/notesSlide15.xml" Id="Rb665912394854af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65a02830b1a434c" /><Relationship Type="http://schemas.openxmlformats.org/officeDocument/2006/relationships/notesSlide" Target="/ppt/notesSlides/notesSlide16.xml" Id="R1cfcb68ced4b41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118e6e80224e5a" /><Relationship Type="http://schemas.openxmlformats.org/officeDocument/2006/relationships/image" Target="/ppt/media/image5.png" Id="R17e897009f404d13" /><Relationship Type="http://schemas.openxmlformats.org/officeDocument/2006/relationships/image" Target="/ppt/media/image6.png" Id="Rb3a9725744bc4a13" /><Relationship Type="http://schemas.openxmlformats.org/officeDocument/2006/relationships/notesSlide" Target="/ppt/notesSlides/notesSlide17.xml" Id="R85b1ab9abc184e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f59e6dfc01c49f1" /><Relationship Type="http://schemas.openxmlformats.org/officeDocument/2006/relationships/notesSlide" Target="/ppt/notesSlides/notesSlide18.xml" Id="R91db3424564c41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7aeb1508b324da7" /><Relationship Type="http://schemas.openxmlformats.org/officeDocument/2006/relationships/image" Target="/ppt/media/image7.png" Id="R921af0ec6a3c4aec" /><Relationship Type="http://schemas.openxmlformats.org/officeDocument/2006/relationships/notesSlide" Target="/ppt/notesSlides/notesSlide19.xml" Id="Rfa26b8530dc54f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6d2b06b66264f18" /><Relationship Type="http://schemas.openxmlformats.org/officeDocument/2006/relationships/notesSlide" Target="/ppt/notesSlides/notesSlide20.xml" Id="R33beb340747244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61fb32876c4485c" /><Relationship Type="http://schemas.openxmlformats.org/officeDocument/2006/relationships/image" Target="/ppt/media/image8.png" Id="R0c779884c4004931" /><Relationship Type="http://schemas.openxmlformats.org/officeDocument/2006/relationships/notesSlide" Target="/ppt/notesSlides/notesSlide21.xml" Id="R685e833d95464a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e175781f8174f78" /><Relationship Type="http://schemas.openxmlformats.org/officeDocument/2006/relationships/notesSlide" Target="/ppt/notesSlides/notesSlide22.xml" Id="Re4d46d810f53416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e1528b53c9e4eef" /><Relationship Type="http://schemas.openxmlformats.org/officeDocument/2006/relationships/notesSlide" Target="/ppt/notesSlides/notesSlide23.xml" Id="R95658c919bdf4d6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25573a49a73402f" /><Relationship Type="http://schemas.openxmlformats.org/officeDocument/2006/relationships/notesSlide" Target="/ppt/notesSlides/notesSlide24.xml" Id="Ra43d242820da4a2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68d903d47d94387" /><Relationship Type="http://schemas.openxmlformats.org/officeDocument/2006/relationships/notesSlide" Target="/ppt/notesSlides/notesSlide25.xml" Id="Rc3edc59d963840f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5" name="cover-bg">
            <a:extLst xmlns:a="http://schemas.openxmlformats.org/drawingml/2006/main">
              <a:ext uri="{FF2B5EF4-FFF2-40B4-BE49-F238E27FC236}">
                <a16:creationId xmlns:a16="http://schemas.microsoft.com/office/drawing/2014/main" id="{D698041D-B912-4E99-B476-666A73179A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cover-kicker">
            <a:extLst xmlns:a="http://schemas.openxmlformats.org/drawingml/2006/main">
              <a:ext uri="{FF2B5EF4-FFF2-40B4-BE49-F238E27FC236}">
                <a16:creationId xmlns:a16="http://schemas.microsoft.com/office/drawing/2014/main" id="{EA05E306-8FA4-41F6-A4BD-2A5FA5EE5FF4}"/>
              </a:ext>
            </a:extLst>
          </p:cNvPr>
          <p:cNvSpPr>
            <a:spLocks xmlns:a="http://schemas.openxmlformats.org/drawingml/2006/main" noGrp="1"/>
          </p:cNvSpPr>
          <p:nvPr/>
        </p:nvSpPr>
        <p:spPr>
          <a:xfrm xmlns:a="http://schemas.openxmlformats.org/drawingml/2006/main">
            <a:off x="619125"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A61B2B"/>
                </a:solidFill>
                <a:latin typeface="Arial"/>
                <a:ea typeface="Arial"/>
                <a:cs typeface="Arial"/>
              </a:defRPr>
            </a:pPr>
            <a:r>
              <a:rPr sz="900" b="1">
                <a:solidFill>
                  <a:srgbClr val="A61B2B"/>
                </a:solidFill>
                <a:latin typeface="Arial"/>
                <a:ea typeface="Arial"/>
                <a:cs typeface="Arial"/>
              </a:rPr>
              <a:t>RESEARCH SEMINAR · AUGUST 2026</a:t>
            </a:r>
          </a:p>
        </p:txBody>
      </p:sp>
      <p:sp>
        <p:nvSpPr>
          <p:cNvPr id="3" name="cover-title">
            <a:extLst xmlns:a="http://schemas.openxmlformats.org/drawingml/2006/main">
              <a:ext uri="{FF2B5EF4-FFF2-40B4-BE49-F238E27FC236}">
                <a16:creationId xmlns:a16="http://schemas.microsoft.com/office/drawing/2014/main" id="{CDE9E00D-BF8F-4CEC-9453-DC65CAEDBD1C}"/>
              </a:ext>
            </a:extLst>
          </p:cNvPr>
          <p:cNvSpPr>
            <a:spLocks xmlns:a="http://schemas.openxmlformats.org/drawingml/2006/main" noGrp="1"/>
          </p:cNvSpPr>
          <p:nvPr/>
        </p:nvSpPr>
        <p:spPr>
          <a:xfrm xmlns:a="http://schemas.openxmlformats.org/drawingml/2006/main">
            <a:off x="619125" y="1000125"/>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Why screen dopants</a:t>
            </a:r>
          </a:p>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for LPSCl?</a:t>
            </a:r>
          </a:p>
        </p:txBody>
      </p:sp>
      <p:sp>
        <p:nvSpPr>
          <p:cNvPr id="4" name="cover-subtitle">
            <a:extLst xmlns:a="http://schemas.openxmlformats.org/drawingml/2006/main">
              <a:ext uri="{FF2B5EF4-FFF2-40B4-BE49-F238E27FC236}">
                <a16:creationId xmlns:a16="http://schemas.microsoft.com/office/drawing/2014/main" id="{75FBE3C5-1000-43C8-B7E0-425E95432123}"/>
              </a:ext>
            </a:extLst>
          </p:cNvPr>
          <p:cNvSpPr>
            <a:spLocks xmlns:a="http://schemas.openxmlformats.org/drawingml/2006/main" noGrp="1"/>
          </p:cNvSpPr>
          <p:nvPr/>
        </p:nvSpPr>
        <p:spPr>
          <a:xfrm xmlns:a="http://schemas.openxmlformats.org/drawingml/2006/main">
            <a:off x="638175" y="2352675"/>
            <a:ext cx="561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A staged, low-cost route from broad chemistry</a:t>
            </a:r>
          </a:p>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to targeted DFT, MD, interface calculations, and experiments</a:t>
            </a:r>
          </a:p>
        </p:txBody>
      </p:sp>
      <p:sp>
        <p:nvSpPr>
          <p:cNvPr id="5" name="cover-process-box-0">
            <a:extLst xmlns:a="http://schemas.openxmlformats.org/drawingml/2006/main">
              <a:ext uri="{FF2B5EF4-FFF2-40B4-BE49-F238E27FC236}">
                <a16:creationId xmlns:a16="http://schemas.microsoft.com/office/drawing/2014/main" id="{E3024F46-9E50-44EB-907A-AD20773B2AB9}"/>
              </a:ext>
            </a:extLst>
          </p:cNvPr>
          <p:cNvSpPr>
            <a:spLocks xmlns:a="http://schemas.openxmlformats.org/drawingml/2006/main" noGrp="1"/>
          </p:cNvSpPr>
          <p:nvPr/>
        </p:nvSpPr>
        <p:spPr>
          <a:xfrm xmlns:a="http://schemas.openxmlformats.org/drawingml/2006/main">
            <a:off x="666750" y="3638550"/>
            <a:ext cx="1652588" cy="1028700"/>
          </a:xfrm>
          <a:prstGeom xmlns:a="http://schemas.openxmlformats.org/drawingml/2006/main" prst="rect">
            <a:avLst/>
          </a:prstGeom>
          <a:solidFill xmlns:a="http://schemas.openxmlformats.org/drawingml/2006/main">
            <a:srgbClr val="FFFFFF"/>
          </a:solidFill>
          <a:ln xmlns:a="http://schemas.openxmlformats.org/drawingml/2006/main" w="19050">
            <a:solidFill>
              <a:srgbClr val="1F4E79"/>
            </a:solidFill>
            <a:prstDash val="solid"/>
          </a:ln>
        </p:spPr>
      </p:sp>
      <p:sp>
        <p:nvSpPr>
          <p:cNvPr id="6" name="cover-process-num-0">
            <a:extLst xmlns:a="http://schemas.openxmlformats.org/drawingml/2006/main">
              <a:ext uri="{FF2B5EF4-FFF2-40B4-BE49-F238E27FC236}">
                <a16:creationId xmlns:a16="http://schemas.microsoft.com/office/drawing/2014/main" id="{5B27D4C0-6D2E-44A0-919B-FE28F0C7AB3D}"/>
              </a:ext>
            </a:extLst>
          </p:cNvPr>
          <p:cNvSpPr>
            <a:spLocks xmlns:a="http://schemas.openxmlformats.org/drawingml/2006/main" noGrp="1"/>
          </p:cNvSpPr>
          <p:nvPr/>
        </p:nvSpPr>
        <p:spPr>
          <a:xfrm xmlns:a="http://schemas.openxmlformats.org/drawingml/2006/main">
            <a:off x="781050" y="37528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F4E79"/>
                </a:solidFill>
                <a:latin typeface="Arial"/>
                <a:ea typeface="Arial"/>
                <a:cs typeface="Arial"/>
              </a:defRPr>
            </a:pPr>
            <a:r>
              <a:rPr sz="900" b="1">
                <a:solidFill>
                  <a:srgbClr val="1F4E79"/>
                </a:solidFill>
                <a:latin typeface="Arial"/>
                <a:ea typeface="Arial"/>
                <a:cs typeface="Arial"/>
              </a:rPr>
              <a:t>01</a:t>
            </a:r>
          </a:p>
        </p:txBody>
      </p:sp>
      <p:sp>
        <p:nvSpPr>
          <p:cNvPr id="7" name="cover-process-text-0">
            <a:extLst xmlns:a="http://schemas.openxmlformats.org/drawingml/2006/main">
              <a:ext uri="{FF2B5EF4-FFF2-40B4-BE49-F238E27FC236}">
                <a16:creationId xmlns:a16="http://schemas.microsoft.com/office/drawing/2014/main" id="{8C64A2FE-6BD9-4116-8F37-6BB841E71E75}"/>
              </a:ext>
            </a:extLst>
          </p:cNvPr>
          <p:cNvSpPr>
            <a:spLocks xmlns:a="http://schemas.openxmlformats.org/drawingml/2006/main" noGrp="1"/>
          </p:cNvSpPr>
          <p:nvPr/>
        </p:nvSpPr>
        <p:spPr>
          <a:xfrm xmlns:a="http://schemas.openxmlformats.org/drawingml/2006/main">
            <a:off x="809625" y="4000500"/>
            <a:ext cx="1366838"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Broad</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chemistry</a:t>
            </a:r>
          </a:p>
        </p:txBody>
      </p:sp>
      <p:sp>
        <p:nvSpPr>
          <p:cNvPr id="8" name="cover-process-arrow-0">
            <a:extLst xmlns:a="http://schemas.openxmlformats.org/drawingml/2006/main">
              <a:ext uri="{FF2B5EF4-FFF2-40B4-BE49-F238E27FC236}">
                <a16:creationId xmlns:a16="http://schemas.microsoft.com/office/drawing/2014/main" id="{85D87876-4EC5-450B-A2A7-D2ABE9B9892E}"/>
              </a:ext>
            </a:extLst>
          </p:cNvPr>
          <p:cNvSpPr>
            <a:spLocks xmlns:a="http://schemas.openxmlformats.org/drawingml/2006/main" noGrp="1"/>
          </p:cNvSpPr>
          <p:nvPr/>
        </p:nvSpPr>
        <p:spPr>
          <a:xfrm xmlns:a="http://schemas.openxmlformats.org/drawingml/2006/main">
            <a:off x="2357438" y="38671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9" name="cover-process-box-1">
            <a:extLst xmlns:a="http://schemas.openxmlformats.org/drawingml/2006/main">
              <a:ext uri="{FF2B5EF4-FFF2-40B4-BE49-F238E27FC236}">
                <a16:creationId xmlns:a16="http://schemas.microsoft.com/office/drawing/2014/main" id="{300F4D37-7F21-4C8B-94B2-E9542544DA12}"/>
              </a:ext>
            </a:extLst>
          </p:cNvPr>
          <p:cNvSpPr>
            <a:spLocks xmlns:a="http://schemas.openxmlformats.org/drawingml/2006/main" noGrp="1"/>
          </p:cNvSpPr>
          <p:nvPr/>
        </p:nvSpPr>
        <p:spPr>
          <a:xfrm xmlns:a="http://schemas.openxmlformats.org/drawingml/2006/main">
            <a:off x="2719388" y="3638550"/>
            <a:ext cx="1652588" cy="1028700"/>
          </a:xfrm>
          <a:prstGeom xmlns:a="http://schemas.openxmlformats.org/drawingml/2006/main" prst="rect">
            <a:avLst/>
          </a:prstGeom>
          <a:solidFill xmlns:a="http://schemas.openxmlformats.org/drawingml/2006/main">
            <a:srgbClr val="FFFFFF"/>
          </a:solidFill>
          <a:ln xmlns:a="http://schemas.openxmlformats.org/drawingml/2006/main" w="19050">
            <a:solidFill>
              <a:srgbClr val="0D9488"/>
            </a:solidFill>
            <a:prstDash val="solid"/>
          </a:ln>
        </p:spPr>
      </p:sp>
      <p:sp>
        <p:nvSpPr>
          <p:cNvPr id="10" name="cover-process-num-1">
            <a:extLst xmlns:a="http://schemas.openxmlformats.org/drawingml/2006/main">
              <a:ext uri="{FF2B5EF4-FFF2-40B4-BE49-F238E27FC236}">
                <a16:creationId xmlns:a16="http://schemas.microsoft.com/office/drawing/2014/main" id="{5E6F69D8-8116-403E-ADFF-BB67F4900903}"/>
              </a:ext>
            </a:extLst>
          </p:cNvPr>
          <p:cNvSpPr>
            <a:spLocks xmlns:a="http://schemas.openxmlformats.org/drawingml/2006/main" noGrp="1"/>
          </p:cNvSpPr>
          <p:nvPr/>
        </p:nvSpPr>
        <p:spPr>
          <a:xfrm xmlns:a="http://schemas.openxmlformats.org/drawingml/2006/main">
            <a:off x="2833688" y="37528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0D9488"/>
                </a:solidFill>
                <a:latin typeface="Arial"/>
                <a:ea typeface="Arial"/>
                <a:cs typeface="Arial"/>
              </a:defRPr>
            </a:pPr>
            <a:r>
              <a:rPr sz="900" b="1">
                <a:solidFill>
                  <a:srgbClr val="0D9488"/>
                </a:solidFill>
                <a:latin typeface="Arial"/>
                <a:ea typeface="Arial"/>
                <a:cs typeface="Arial"/>
              </a:rPr>
              <a:t>02</a:t>
            </a:r>
          </a:p>
        </p:txBody>
      </p:sp>
      <p:sp>
        <p:nvSpPr>
          <p:cNvPr id="11" name="cover-process-text-1">
            <a:extLst xmlns:a="http://schemas.openxmlformats.org/drawingml/2006/main">
              <a:ext uri="{FF2B5EF4-FFF2-40B4-BE49-F238E27FC236}">
                <a16:creationId xmlns:a16="http://schemas.microsoft.com/office/drawing/2014/main" id="{3D4D7E67-AD95-4C06-94B7-4168BA5EDA6E}"/>
              </a:ext>
            </a:extLst>
          </p:cNvPr>
          <p:cNvSpPr>
            <a:spLocks xmlns:a="http://schemas.openxmlformats.org/drawingml/2006/main" noGrp="1"/>
          </p:cNvSpPr>
          <p:nvPr/>
        </p:nvSpPr>
        <p:spPr>
          <a:xfrm xmlns:a="http://schemas.openxmlformats.org/drawingml/2006/main">
            <a:off x="2862263" y="4000500"/>
            <a:ext cx="1366838"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Fast</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structure screen</a:t>
            </a:r>
          </a:p>
        </p:txBody>
      </p:sp>
      <p:sp>
        <p:nvSpPr>
          <p:cNvPr id="12" name="cover-process-arrow-1">
            <a:extLst xmlns:a="http://schemas.openxmlformats.org/drawingml/2006/main">
              <a:ext uri="{FF2B5EF4-FFF2-40B4-BE49-F238E27FC236}">
                <a16:creationId xmlns:a16="http://schemas.microsoft.com/office/drawing/2014/main" id="{E93BE6A4-1B10-4F38-BC3B-DF390C810ADC}"/>
              </a:ext>
            </a:extLst>
          </p:cNvPr>
          <p:cNvSpPr>
            <a:spLocks xmlns:a="http://schemas.openxmlformats.org/drawingml/2006/main" noGrp="1"/>
          </p:cNvSpPr>
          <p:nvPr/>
        </p:nvSpPr>
        <p:spPr>
          <a:xfrm xmlns:a="http://schemas.openxmlformats.org/drawingml/2006/main">
            <a:off x="4410075" y="38671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13" name="cover-process-box-2">
            <a:extLst xmlns:a="http://schemas.openxmlformats.org/drawingml/2006/main">
              <a:ext uri="{FF2B5EF4-FFF2-40B4-BE49-F238E27FC236}">
                <a16:creationId xmlns:a16="http://schemas.microsoft.com/office/drawing/2014/main" id="{438E2A61-7AD2-4683-BDB6-DF05F1198DF6}"/>
              </a:ext>
            </a:extLst>
          </p:cNvPr>
          <p:cNvSpPr>
            <a:spLocks xmlns:a="http://schemas.openxmlformats.org/drawingml/2006/main" noGrp="1"/>
          </p:cNvSpPr>
          <p:nvPr/>
        </p:nvSpPr>
        <p:spPr>
          <a:xfrm xmlns:a="http://schemas.openxmlformats.org/drawingml/2006/main">
            <a:off x="4772025" y="3638550"/>
            <a:ext cx="1652588" cy="1028700"/>
          </a:xfrm>
          <a:prstGeom xmlns:a="http://schemas.openxmlformats.org/drawingml/2006/main" prst="rect">
            <a:avLst/>
          </a:prstGeom>
          <a:solidFill xmlns:a="http://schemas.openxmlformats.org/drawingml/2006/main">
            <a:srgbClr val="FFFFFF"/>
          </a:solidFill>
          <a:ln xmlns:a="http://schemas.openxmlformats.org/drawingml/2006/main" w="19050">
            <a:solidFill>
              <a:srgbClr val="C45A14"/>
            </a:solidFill>
            <a:prstDash val="solid"/>
          </a:ln>
        </p:spPr>
      </p:sp>
      <p:sp>
        <p:nvSpPr>
          <p:cNvPr id="14" name="cover-process-num-2">
            <a:extLst xmlns:a="http://schemas.openxmlformats.org/drawingml/2006/main">
              <a:ext uri="{FF2B5EF4-FFF2-40B4-BE49-F238E27FC236}">
                <a16:creationId xmlns:a16="http://schemas.microsoft.com/office/drawing/2014/main" id="{73FEA7AF-A8BA-4F85-B00C-A8C795EFBA85}"/>
              </a:ext>
            </a:extLst>
          </p:cNvPr>
          <p:cNvSpPr>
            <a:spLocks xmlns:a="http://schemas.openxmlformats.org/drawingml/2006/main" noGrp="1"/>
          </p:cNvSpPr>
          <p:nvPr/>
        </p:nvSpPr>
        <p:spPr>
          <a:xfrm xmlns:a="http://schemas.openxmlformats.org/drawingml/2006/main">
            <a:off x="4886325" y="37528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C45A14"/>
                </a:solidFill>
                <a:latin typeface="Arial"/>
                <a:ea typeface="Arial"/>
                <a:cs typeface="Arial"/>
              </a:defRPr>
            </a:pPr>
            <a:r>
              <a:rPr sz="900" b="1">
                <a:solidFill>
                  <a:srgbClr val="C45A14"/>
                </a:solidFill>
                <a:latin typeface="Arial"/>
                <a:ea typeface="Arial"/>
                <a:cs typeface="Arial"/>
              </a:rPr>
              <a:t>03</a:t>
            </a:r>
          </a:p>
        </p:txBody>
      </p:sp>
      <p:sp>
        <p:nvSpPr>
          <p:cNvPr id="15" name="cover-process-text-2">
            <a:extLst xmlns:a="http://schemas.openxmlformats.org/drawingml/2006/main">
              <a:ext uri="{FF2B5EF4-FFF2-40B4-BE49-F238E27FC236}">
                <a16:creationId xmlns:a16="http://schemas.microsoft.com/office/drawing/2014/main" id="{E7EE4B34-0374-4147-B9D2-83F22006B788}"/>
              </a:ext>
            </a:extLst>
          </p:cNvPr>
          <p:cNvSpPr>
            <a:spLocks xmlns:a="http://schemas.openxmlformats.org/drawingml/2006/main" noGrp="1"/>
          </p:cNvSpPr>
          <p:nvPr/>
        </p:nvSpPr>
        <p:spPr>
          <a:xfrm xmlns:a="http://schemas.openxmlformats.org/drawingml/2006/main">
            <a:off x="4914900" y="4000500"/>
            <a:ext cx="1366838"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Physics-specific</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checks</a:t>
            </a:r>
          </a:p>
        </p:txBody>
      </p:sp>
      <p:sp>
        <p:nvSpPr>
          <p:cNvPr id="16" name="cover-process-arrow-2">
            <a:extLst xmlns:a="http://schemas.openxmlformats.org/drawingml/2006/main">
              <a:ext uri="{FF2B5EF4-FFF2-40B4-BE49-F238E27FC236}">
                <a16:creationId xmlns:a16="http://schemas.microsoft.com/office/drawing/2014/main" id="{93FC1366-9DB1-47AA-9489-66E8F1119796}"/>
              </a:ext>
            </a:extLst>
          </p:cNvPr>
          <p:cNvSpPr>
            <a:spLocks xmlns:a="http://schemas.openxmlformats.org/drawingml/2006/main" noGrp="1"/>
          </p:cNvSpPr>
          <p:nvPr/>
        </p:nvSpPr>
        <p:spPr>
          <a:xfrm xmlns:a="http://schemas.openxmlformats.org/drawingml/2006/main">
            <a:off x="6462713" y="386715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17" name="cover-process-box-3">
            <a:extLst xmlns:a="http://schemas.openxmlformats.org/drawingml/2006/main">
              <a:ext uri="{FF2B5EF4-FFF2-40B4-BE49-F238E27FC236}">
                <a16:creationId xmlns:a16="http://schemas.microsoft.com/office/drawing/2014/main" id="{2138FDBD-F90F-4BA4-8565-5162EF566BEC}"/>
              </a:ext>
            </a:extLst>
          </p:cNvPr>
          <p:cNvSpPr>
            <a:spLocks xmlns:a="http://schemas.openxmlformats.org/drawingml/2006/main" noGrp="1"/>
          </p:cNvSpPr>
          <p:nvPr/>
        </p:nvSpPr>
        <p:spPr>
          <a:xfrm xmlns:a="http://schemas.openxmlformats.org/drawingml/2006/main">
            <a:off x="6824663" y="3638550"/>
            <a:ext cx="1652588" cy="1028700"/>
          </a:xfrm>
          <a:prstGeom xmlns:a="http://schemas.openxmlformats.org/drawingml/2006/main" prst="rect">
            <a:avLst/>
          </a:prstGeom>
          <a:solidFill xmlns:a="http://schemas.openxmlformats.org/drawingml/2006/main">
            <a:srgbClr val="FFFFFF"/>
          </a:solidFill>
          <a:ln xmlns:a="http://schemas.openxmlformats.org/drawingml/2006/main" w="19050">
            <a:solidFill>
              <a:srgbClr val="15803D"/>
            </a:solidFill>
            <a:prstDash val="solid"/>
          </a:ln>
        </p:spPr>
      </p:sp>
      <p:sp>
        <p:nvSpPr>
          <p:cNvPr id="18" name="cover-process-num-3">
            <a:extLst xmlns:a="http://schemas.openxmlformats.org/drawingml/2006/main">
              <a:ext uri="{FF2B5EF4-FFF2-40B4-BE49-F238E27FC236}">
                <a16:creationId xmlns:a16="http://schemas.microsoft.com/office/drawing/2014/main" id="{23B82565-65D6-40AB-BE44-396ECCD49CAA}"/>
              </a:ext>
            </a:extLst>
          </p:cNvPr>
          <p:cNvSpPr>
            <a:spLocks xmlns:a="http://schemas.openxmlformats.org/drawingml/2006/main" noGrp="1"/>
          </p:cNvSpPr>
          <p:nvPr/>
        </p:nvSpPr>
        <p:spPr>
          <a:xfrm xmlns:a="http://schemas.openxmlformats.org/drawingml/2006/main">
            <a:off x="6938963" y="37528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5803D"/>
                </a:solidFill>
                <a:latin typeface="Arial"/>
                <a:ea typeface="Arial"/>
                <a:cs typeface="Arial"/>
              </a:defRPr>
            </a:pPr>
            <a:r>
              <a:rPr sz="900" b="1">
                <a:solidFill>
                  <a:srgbClr val="15803D"/>
                </a:solidFill>
                <a:latin typeface="Arial"/>
                <a:ea typeface="Arial"/>
                <a:cs typeface="Arial"/>
              </a:rPr>
              <a:t>04</a:t>
            </a:r>
          </a:p>
        </p:txBody>
      </p:sp>
      <p:sp>
        <p:nvSpPr>
          <p:cNvPr id="19" name="cover-process-text-3">
            <a:extLst xmlns:a="http://schemas.openxmlformats.org/drawingml/2006/main">
              <a:ext uri="{FF2B5EF4-FFF2-40B4-BE49-F238E27FC236}">
                <a16:creationId xmlns:a16="http://schemas.microsoft.com/office/drawing/2014/main" id="{ED429EA6-924A-47BB-A00D-215F64BCFDEC}"/>
              </a:ext>
            </a:extLst>
          </p:cNvPr>
          <p:cNvSpPr>
            <a:spLocks xmlns:a="http://schemas.openxmlformats.org/drawingml/2006/main" noGrp="1"/>
          </p:cNvSpPr>
          <p:nvPr/>
        </p:nvSpPr>
        <p:spPr>
          <a:xfrm xmlns:a="http://schemas.openxmlformats.org/drawingml/2006/main">
            <a:off x="6967538" y="4000500"/>
            <a:ext cx="1366838"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High-fidelity</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validation</a:t>
            </a:r>
          </a:p>
        </p:txBody>
      </p:sp>
      <p:sp>
        <p:nvSpPr>
          <p:cNvPr id="20" name="cover-message">
            <a:extLst xmlns:a="http://schemas.openxmlformats.org/drawingml/2006/main">
              <a:ext uri="{FF2B5EF4-FFF2-40B4-BE49-F238E27FC236}">
                <a16:creationId xmlns:a16="http://schemas.microsoft.com/office/drawing/2014/main" id="{587A41A1-B110-4E3D-AFD1-8D83648CC34F}"/>
              </a:ext>
            </a:extLst>
          </p:cNvPr>
          <p:cNvSpPr>
            <a:spLocks xmlns:a="http://schemas.openxmlformats.org/drawingml/2006/main" noGrp="1"/>
          </p:cNvSpPr>
          <p:nvPr/>
        </p:nvSpPr>
        <p:spPr>
          <a:xfrm xmlns:a="http://schemas.openxmlformats.org/drawingml/2006/main">
            <a:off x="1809750" y="509587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The purpose is not to announce a universal winner.</a:t>
            </a:r>
          </a:p>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It is to decide what deserves the next expensive calculation.</a:t>
            </a:r>
          </a:p>
        </p:txBody>
      </p:sp>
      <p:sp>
        <p:nvSpPr>
          <p:cNvPr id="21" name="cover-author">
            <a:extLst xmlns:a="http://schemas.openxmlformats.org/drawingml/2006/main">
              <a:ext uri="{FF2B5EF4-FFF2-40B4-BE49-F238E27FC236}">
                <a16:creationId xmlns:a16="http://schemas.microsoft.com/office/drawing/2014/main" id="{01B35D2E-F9CC-4FFB-AE46-A3F037C42275}"/>
              </a:ext>
            </a:extLst>
          </p:cNvPr>
          <p:cNvSpPr>
            <a:spLocks xmlns:a="http://schemas.openxmlformats.org/drawingml/2006/main" noGrp="1"/>
          </p:cNvSpPr>
          <p:nvPr/>
        </p:nvSpPr>
        <p:spPr>
          <a:xfrm xmlns:a="http://schemas.openxmlformats.org/drawingml/2006/main">
            <a:off x="619125" y="60198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75">
                <a:solidFill>
                  <a:srgbClr val="6B7280"/>
                </a:solidFill>
                <a:latin typeface="Arial"/>
                <a:ea typeface="Arial"/>
                <a:cs typeface="Arial"/>
              </a:defRPr>
            </a:pPr>
            <a:r>
              <a:rPr sz="975">
                <a:solidFill>
                  <a:srgbClr val="6B7280"/>
                </a:solidFill>
                <a:latin typeface="Arial"/>
                <a:ea typeface="Arial"/>
                <a:cs typeface="Arial"/>
              </a:rPr>
              <a:t>Yonghoon An · Battery Materials Lab.</a:t>
            </a:r>
          </a:p>
        </p:txBody>
      </p:sp>
      <p:sp>
        <p:nvSpPr>
          <p:cNvPr id="22" name="footer-brand-1">
            <a:extLst xmlns:a="http://schemas.openxmlformats.org/drawingml/2006/main">
              <a:ext uri="{FF2B5EF4-FFF2-40B4-BE49-F238E27FC236}">
                <a16:creationId xmlns:a16="http://schemas.microsoft.com/office/drawing/2014/main" id="{93F26BDD-E39E-4A1C-BCA3-5AFB27E688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23" name="footer-lab-1">
            <a:extLst xmlns:a="http://schemas.openxmlformats.org/drawingml/2006/main">
              <a:ext uri="{FF2B5EF4-FFF2-40B4-BE49-F238E27FC236}">
                <a16:creationId xmlns:a16="http://schemas.microsoft.com/office/drawing/2014/main" id="{6EF5523B-BAC1-461D-8915-F3AE855240D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24" name="footer-page-1">
            <a:extLst xmlns:a="http://schemas.openxmlformats.org/drawingml/2006/main">
              <a:ext uri="{FF2B5EF4-FFF2-40B4-BE49-F238E27FC236}">
                <a16:creationId xmlns:a16="http://schemas.microsoft.com/office/drawing/2014/main" id="{F3A18BCF-CD42-44DC-8FC1-D06C2AABD016}"/>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a:t>
            </a:r>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Motivation</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LPSCl: lithium argyrodite solid electrolyte  ·  Bulk: interior crystal response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Interface: reaction zone between electrolyte and electrode</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One modification can move several failure modes at once</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Oxidation, Li motion, mechanics, and interface reactions answer different questions.</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single score can hide a gain on one axis and a loss—or missing evidence—on another.</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Banik et al. · Sundar et al.</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a:t>
            </a:r>
          </a:p>
        </p:txBody>
      </p:sp>
      <p:sp>
        <p:nvSpPr>
          <p:cNvPr id="15" name="mot-ox-bg">
            <a:extLst xmlns:a="http://schemas.openxmlformats.org/drawingml/2006/main">
              <a:ext uri="{FF2B5EF4-FFF2-40B4-BE49-F238E27FC236}">
                <a16:creationId xmlns:a16="http://schemas.microsoft.com/office/drawing/2014/main" id="{B55ADA69-7221-40FC-9F74-3E888A5F6768}"/>
              </a:ext>
            </a:extLst>
          </p:cNvPr>
          <p:cNvSpPr>
            <a:spLocks xmlns:a="http://schemas.openxmlformats.org/drawingml/2006/main" noGrp="1"/>
          </p:cNvSpPr>
          <p:nvPr/>
        </p:nvSpPr>
        <p:spPr>
          <a:xfrm xmlns:a="http://schemas.openxmlformats.org/drawingml/2006/main">
            <a:off x="714375" y="2428875"/>
            <a:ext cx="1762125" cy="1381125"/>
          </a:xfrm>
          <a:prstGeom xmlns:a="http://schemas.openxmlformats.org/drawingml/2006/main" prst="rect">
            <a:avLst/>
          </a:prstGeom>
          <a:solidFill xmlns:a="http://schemas.openxmlformats.org/drawingml/2006/main">
            <a:srgbClr val="FDECEC"/>
          </a:solidFill>
          <a:ln xmlns:a="http://schemas.openxmlformats.org/drawingml/2006/main" w="9525">
            <a:solidFill>
              <a:srgbClr val="E5E7EB"/>
            </a:solidFill>
            <a:prstDash val="solid"/>
          </a:ln>
        </p:spPr>
      </p:sp>
      <p:sp>
        <p:nvSpPr>
          <p:cNvPr id="16" name="mot-ox-bar">
            <a:extLst xmlns:a="http://schemas.openxmlformats.org/drawingml/2006/main">
              <a:ext uri="{FF2B5EF4-FFF2-40B4-BE49-F238E27FC236}">
                <a16:creationId xmlns:a16="http://schemas.microsoft.com/office/drawing/2014/main" id="{DB456BEF-EC72-4A76-8A8B-FDA5C0495D25}"/>
              </a:ext>
            </a:extLst>
          </p:cNvPr>
          <p:cNvSpPr>
            <a:spLocks xmlns:a="http://schemas.openxmlformats.org/drawingml/2006/main" noGrp="1"/>
          </p:cNvSpPr>
          <p:nvPr/>
        </p:nvSpPr>
        <p:spPr>
          <a:xfrm xmlns:a="http://schemas.openxmlformats.org/drawingml/2006/main">
            <a:off x="714375" y="2428875"/>
            <a:ext cx="76200" cy="138112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7" name="mot-ox-title">
            <a:extLst xmlns:a="http://schemas.openxmlformats.org/drawingml/2006/main">
              <a:ext uri="{FF2B5EF4-FFF2-40B4-BE49-F238E27FC236}">
                <a16:creationId xmlns:a16="http://schemas.microsoft.com/office/drawing/2014/main" id="{6CCF26C3-796F-4F91-AEE4-B4A37A7AA841}"/>
              </a:ext>
            </a:extLst>
          </p:cNvPr>
          <p:cNvSpPr>
            <a:spLocks xmlns:a="http://schemas.openxmlformats.org/drawingml/2006/main" noGrp="1"/>
          </p:cNvSpPr>
          <p:nvPr/>
        </p:nvSpPr>
        <p:spPr>
          <a:xfrm xmlns:a="http://schemas.openxmlformats.org/drawingml/2006/main">
            <a:off x="904875" y="2571750"/>
            <a:ext cx="1438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A61B2B"/>
                </a:solidFill>
                <a:latin typeface="Arial"/>
                <a:ea typeface="Arial"/>
                <a:cs typeface="Arial"/>
              </a:defRPr>
            </a:pPr>
            <a:r>
              <a:rPr sz="1275" b="1">
                <a:solidFill>
                  <a:srgbClr val="A61B2B"/>
                </a:solidFill>
                <a:latin typeface="Arial"/>
                <a:ea typeface="Arial"/>
                <a:cs typeface="Arial"/>
              </a:rPr>
              <a:t>Oxidation</a:t>
            </a:r>
          </a:p>
        </p:txBody>
      </p:sp>
      <p:sp>
        <p:nvSpPr>
          <p:cNvPr id="18" name="mot-ox-body">
            <a:extLst xmlns:a="http://schemas.openxmlformats.org/drawingml/2006/main">
              <a:ext uri="{FF2B5EF4-FFF2-40B4-BE49-F238E27FC236}">
                <a16:creationId xmlns:a16="http://schemas.microsoft.com/office/drawing/2014/main" id="{A029099C-FC5A-4DE6-877E-65AF41EB6C42}"/>
              </a:ext>
            </a:extLst>
          </p:cNvPr>
          <p:cNvSpPr>
            <a:spLocks xmlns:a="http://schemas.openxmlformats.org/drawingml/2006/main" noGrp="1"/>
          </p:cNvSpPr>
          <p:nvPr/>
        </p:nvSpPr>
        <p:spPr>
          <a:xfrm xmlns:a="http://schemas.openxmlformats.org/drawingml/2006/main">
            <a:off x="904875" y="2914650"/>
            <a:ext cx="14382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S-derived states and decomposition reactions can limit the anodic side.</a:t>
            </a:r>
          </a:p>
        </p:txBody>
      </p:sp>
      <p:sp>
        <p:nvSpPr>
          <p:cNvPr id="19" name="mot-li-bg">
            <a:extLst xmlns:a="http://schemas.openxmlformats.org/drawingml/2006/main">
              <a:ext uri="{FF2B5EF4-FFF2-40B4-BE49-F238E27FC236}">
                <a16:creationId xmlns:a16="http://schemas.microsoft.com/office/drawing/2014/main" id="{8A4E78F5-FE93-4D30-B3B1-0BDCF64C027D}"/>
              </a:ext>
            </a:extLst>
          </p:cNvPr>
          <p:cNvSpPr>
            <a:spLocks xmlns:a="http://schemas.openxmlformats.org/drawingml/2006/main" noGrp="1"/>
          </p:cNvSpPr>
          <p:nvPr/>
        </p:nvSpPr>
        <p:spPr>
          <a:xfrm xmlns:a="http://schemas.openxmlformats.org/drawingml/2006/main">
            <a:off x="2667000" y="2428875"/>
            <a:ext cx="1762125" cy="1381125"/>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20" name="mot-li-bar">
            <a:extLst xmlns:a="http://schemas.openxmlformats.org/drawingml/2006/main">
              <a:ext uri="{FF2B5EF4-FFF2-40B4-BE49-F238E27FC236}">
                <a16:creationId xmlns:a16="http://schemas.microsoft.com/office/drawing/2014/main" id="{890CCB7D-6058-488B-AD40-8961D65C26C3}"/>
              </a:ext>
            </a:extLst>
          </p:cNvPr>
          <p:cNvSpPr>
            <a:spLocks xmlns:a="http://schemas.openxmlformats.org/drawingml/2006/main" noGrp="1"/>
          </p:cNvSpPr>
          <p:nvPr/>
        </p:nvSpPr>
        <p:spPr>
          <a:xfrm xmlns:a="http://schemas.openxmlformats.org/drawingml/2006/main">
            <a:off x="2667000" y="2428875"/>
            <a:ext cx="76200" cy="1381125"/>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21" name="mot-li-title">
            <a:extLst xmlns:a="http://schemas.openxmlformats.org/drawingml/2006/main">
              <a:ext uri="{FF2B5EF4-FFF2-40B4-BE49-F238E27FC236}">
                <a16:creationId xmlns:a16="http://schemas.microsoft.com/office/drawing/2014/main" id="{1E0EE06C-D540-4FFD-B185-2D75E79C7D3C}"/>
              </a:ext>
            </a:extLst>
          </p:cNvPr>
          <p:cNvSpPr>
            <a:spLocks xmlns:a="http://schemas.openxmlformats.org/drawingml/2006/main" noGrp="1"/>
          </p:cNvSpPr>
          <p:nvPr/>
        </p:nvSpPr>
        <p:spPr>
          <a:xfrm xmlns:a="http://schemas.openxmlformats.org/drawingml/2006/main">
            <a:off x="2857500" y="2571750"/>
            <a:ext cx="1438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0D9488"/>
                </a:solidFill>
                <a:latin typeface="Arial"/>
                <a:ea typeface="Arial"/>
                <a:cs typeface="Arial"/>
              </a:defRPr>
            </a:pPr>
            <a:r>
              <a:rPr sz="1275" b="1">
                <a:solidFill>
                  <a:srgbClr val="0D9488"/>
                </a:solidFill>
                <a:latin typeface="Arial"/>
                <a:ea typeface="Arial"/>
                <a:cs typeface="Arial"/>
              </a:rPr>
              <a:t>Li motion</a:t>
            </a:r>
          </a:p>
        </p:txBody>
      </p:sp>
      <p:sp>
        <p:nvSpPr>
          <p:cNvPr id="22" name="mot-li-body">
            <a:extLst xmlns:a="http://schemas.openxmlformats.org/drawingml/2006/main">
              <a:ext uri="{FF2B5EF4-FFF2-40B4-BE49-F238E27FC236}">
                <a16:creationId xmlns:a16="http://schemas.microsoft.com/office/drawing/2014/main" id="{78812E9D-DC1D-48E9-B724-0FEE96359A8D}"/>
              </a:ext>
            </a:extLst>
          </p:cNvPr>
          <p:cNvSpPr>
            <a:spLocks xmlns:a="http://schemas.openxmlformats.org/drawingml/2006/main" noGrp="1"/>
          </p:cNvSpPr>
          <p:nvPr/>
        </p:nvSpPr>
        <p:spPr>
          <a:xfrm xmlns:a="http://schemas.openxmlformats.org/drawingml/2006/main">
            <a:off x="2857500" y="2914650"/>
            <a:ext cx="14382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Local coordination may reshape migration paths and trapping risk.</a:t>
            </a:r>
          </a:p>
        </p:txBody>
      </p:sp>
      <p:sp>
        <p:nvSpPr>
          <p:cNvPr id="23" name="mot-mech-bg">
            <a:extLst xmlns:a="http://schemas.openxmlformats.org/drawingml/2006/main">
              <a:ext uri="{FF2B5EF4-FFF2-40B4-BE49-F238E27FC236}">
                <a16:creationId xmlns:a16="http://schemas.microsoft.com/office/drawing/2014/main" id="{6E38F60D-1B76-4126-89A9-48503AE121CA}"/>
              </a:ext>
            </a:extLst>
          </p:cNvPr>
          <p:cNvSpPr>
            <a:spLocks xmlns:a="http://schemas.openxmlformats.org/drawingml/2006/main" noGrp="1"/>
          </p:cNvSpPr>
          <p:nvPr/>
        </p:nvSpPr>
        <p:spPr>
          <a:xfrm xmlns:a="http://schemas.openxmlformats.org/drawingml/2006/main">
            <a:off x="4619625" y="2428875"/>
            <a:ext cx="1762125" cy="1381125"/>
          </a:xfrm>
          <a:prstGeom xmlns:a="http://schemas.openxmlformats.org/drawingml/2006/main" prst="rect">
            <a:avLst/>
          </a:prstGeom>
          <a:solidFill xmlns:a="http://schemas.openxmlformats.org/drawingml/2006/main">
            <a:srgbClr val="FFF7E6"/>
          </a:solidFill>
          <a:ln xmlns:a="http://schemas.openxmlformats.org/drawingml/2006/main" w="9525">
            <a:solidFill>
              <a:srgbClr val="E5E7EB"/>
            </a:solidFill>
            <a:prstDash val="solid"/>
          </a:ln>
        </p:spPr>
      </p:sp>
      <p:sp>
        <p:nvSpPr>
          <p:cNvPr id="24" name="mot-mech-bar">
            <a:extLst xmlns:a="http://schemas.openxmlformats.org/drawingml/2006/main">
              <a:ext uri="{FF2B5EF4-FFF2-40B4-BE49-F238E27FC236}">
                <a16:creationId xmlns:a16="http://schemas.microsoft.com/office/drawing/2014/main" id="{87D7CFC6-53FC-48B0-82E5-15143EBB86F1}"/>
              </a:ext>
            </a:extLst>
          </p:cNvPr>
          <p:cNvSpPr>
            <a:spLocks xmlns:a="http://schemas.openxmlformats.org/drawingml/2006/main" noGrp="1"/>
          </p:cNvSpPr>
          <p:nvPr/>
        </p:nvSpPr>
        <p:spPr>
          <a:xfrm xmlns:a="http://schemas.openxmlformats.org/drawingml/2006/main">
            <a:off x="4619625" y="2428875"/>
            <a:ext cx="76200" cy="1381125"/>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sp>
      <p:sp>
        <p:nvSpPr>
          <p:cNvPr id="25" name="mot-mech-title">
            <a:extLst xmlns:a="http://schemas.openxmlformats.org/drawingml/2006/main">
              <a:ext uri="{FF2B5EF4-FFF2-40B4-BE49-F238E27FC236}">
                <a16:creationId xmlns:a16="http://schemas.microsoft.com/office/drawing/2014/main" id="{09605509-F800-40F7-A60D-D744335570D0}"/>
              </a:ext>
            </a:extLst>
          </p:cNvPr>
          <p:cNvSpPr>
            <a:spLocks xmlns:a="http://schemas.openxmlformats.org/drawingml/2006/main" noGrp="1"/>
          </p:cNvSpPr>
          <p:nvPr/>
        </p:nvSpPr>
        <p:spPr>
          <a:xfrm xmlns:a="http://schemas.openxmlformats.org/drawingml/2006/main">
            <a:off x="4810125" y="2571750"/>
            <a:ext cx="1438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C45A14"/>
                </a:solidFill>
                <a:latin typeface="Arial"/>
                <a:ea typeface="Arial"/>
                <a:cs typeface="Arial"/>
              </a:defRPr>
            </a:pPr>
            <a:r>
              <a:rPr sz="1275" b="1">
                <a:solidFill>
                  <a:srgbClr val="C45A14"/>
                </a:solidFill>
                <a:latin typeface="Arial"/>
                <a:ea typeface="Arial"/>
                <a:cs typeface="Arial"/>
              </a:rPr>
              <a:t>Mechanics</a:t>
            </a:r>
          </a:p>
        </p:txBody>
      </p:sp>
      <p:sp>
        <p:nvSpPr>
          <p:cNvPr id="26" name="mot-mech-body">
            <a:extLst xmlns:a="http://schemas.openxmlformats.org/drawingml/2006/main">
              <a:ext uri="{FF2B5EF4-FFF2-40B4-BE49-F238E27FC236}">
                <a16:creationId xmlns:a16="http://schemas.microsoft.com/office/drawing/2014/main" id="{480E1BDA-572A-4E8B-A7CC-AD5056EF3986}"/>
              </a:ext>
            </a:extLst>
          </p:cNvPr>
          <p:cNvSpPr>
            <a:spLocks xmlns:a="http://schemas.openxmlformats.org/drawingml/2006/main" noGrp="1"/>
          </p:cNvSpPr>
          <p:nvPr/>
        </p:nvSpPr>
        <p:spPr>
          <a:xfrm xmlns:a="http://schemas.openxmlformats.org/drawingml/2006/main">
            <a:off x="4810125" y="2914650"/>
            <a:ext cx="14382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Volume, stiffness, and contact can change after substitution.</a:t>
            </a:r>
          </a:p>
        </p:txBody>
      </p:sp>
      <p:sp>
        <p:nvSpPr>
          <p:cNvPr id="27" name="mot-int-bg">
            <a:extLst xmlns:a="http://schemas.openxmlformats.org/drawingml/2006/main">
              <a:ext uri="{FF2B5EF4-FFF2-40B4-BE49-F238E27FC236}">
                <a16:creationId xmlns:a16="http://schemas.microsoft.com/office/drawing/2014/main" id="{709D2208-9115-4913-8B71-DD53FAC76D90}"/>
              </a:ext>
            </a:extLst>
          </p:cNvPr>
          <p:cNvSpPr>
            <a:spLocks xmlns:a="http://schemas.openxmlformats.org/drawingml/2006/main" noGrp="1"/>
          </p:cNvSpPr>
          <p:nvPr/>
        </p:nvSpPr>
        <p:spPr>
          <a:xfrm xmlns:a="http://schemas.openxmlformats.org/drawingml/2006/main">
            <a:off x="6572250" y="2428875"/>
            <a:ext cx="1762125" cy="1381125"/>
          </a:xfrm>
          <a:prstGeom xmlns:a="http://schemas.openxmlformats.org/drawingml/2006/main" prst="rect">
            <a:avLst/>
          </a:prstGeom>
          <a:solidFill xmlns:a="http://schemas.openxmlformats.org/drawingml/2006/main">
            <a:srgbClr val="EAF2F8"/>
          </a:solidFill>
          <a:ln xmlns:a="http://schemas.openxmlformats.org/drawingml/2006/main" w="9525">
            <a:solidFill>
              <a:srgbClr val="E5E7EB"/>
            </a:solidFill>
            <a:prstDash val="solid"/>
          </a:ln>
        </p:spPr>
      </p:sp>
      <p:sp>
        <p:nvSpPr>
          <p:cNvPr id="28" name="mot-int-bar">
            <a:extLst xmlns:a="http://schemas.openxmlformats.org/drawingml/2006/main">
              <a:ext uri="{FF2B5EF4-FFF2-40B4-BE49-F238E27FC236}">
                <a16:creationId xmlns:a16="http://schemas.microsoft.com/office/drawing/2014/main" id="{7AAE288B-6264-42B1-8F1C-A6BFFE43A195}"/>
              </a:ext>
            </a:extLst>
          </p:cNvPr>
          <p:cNvSpPr>
            <a:spLocks xmlns:a="http://schemas.openxmlformats.org/drawingml/2006/main" noGrp="1"/>
          </p:cNvSpPr>
          <p:nvPr/>
        </p:nvSpPr>
        <p:spPr>
          <a:xfrm xmlns:a="http://schemas.openxmlformats.org/drawingml/2006/main">
            <a:off x="6572250" y="2428875"/>
            <a:ext cx="76200" cy="13811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9" name="mot-int-title">
            <a:extLst xmlns:a="http://schemas.openxmlformats.org/drawingml/2006/main">
              <a:ext uri="{FF2B5EF4-FFF2-40B4-BE49-F238E27FC236}">
                <a16:creationId xmlns:a16="http://schemas.microsoft.com/office/drawing/2014/main" id="{01CB4149-F833-4498-9A84-BFFB9A8FF02F}"/>
              </a:ext>
            </a:extLst>
          </p:cNvPr>
          <p:cNvSpPr>
            <a:spLocks xmlns:a="http://schemas.openxmlformats.org/drawingml/2006/main" noGrp="1"/>
          </p:cNvSpPr>
          <p:nvPr/>
        </p:nvSpPr>
        <p:spPr>
          <a:xfrm xmlns:a="http://schemas.openxmlformats.org/drawingml/2006/main">
            <a:off x="6762750" y="2571750"/>
            <a:ext cx="1438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Interfaces</a:t>
            </a:r>
          </a:p>
        </p:txBody>
      </p:sp>
      <p:sp>
        <p:nvSpPr>
          <p:cNvPr id="30" name="mot-int-body">
            <a:extLst xmlns:a="http://schemas.openxmlformats.org/drawingml/2006/main">
              <a:ext uri="{FF2B5EF4-FFF2-40B4-BE49-F238E27FC236}">
                <a16:creationId xmlns:a16="http://schemas.microsoft.com/office/drawing/2014/main" id="{B3889FDD-88D7-4B3E-9DA0-05DC0DB2E96E}"/>
              </a:ext>
            </a:extLst>
          </p:cNvPr>
          <p:cNvSpPr>
            <a:spLocks xmlns:a="http://schemas.openxmlformats.org/drawingml/2006/main" noGrp="1"/>
          </p:cNvSpPr>
          <p:nvPr/>
        </p:nvSpPr>
        <p:spPr>
          <a:xfrm xmlns:a="http://schemas.openxmlformats.org/drawingml/2006/main">
            <a:off x="6762750" y="2914650"/>
            <a:ext cx="14382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Bulk stability does not guarantee compatibility with cathode or Li metal.</a:t>
            </a:r>
          </a:p>
        </p:txBody>
      </p:sp>
      <p:sp>
        <p:nvSpPr>
          <p:cNvPr id="31" name="mot-center">
            <a:extLst xmlns:a="http://schemas.openxmlformats.org/drawingml/2006/main">
              <a:ext uri="{FF2B5EF4-FFF2-40B4-BE49-F238E27FC236}">
                <a16:creationId xmlns:a16="http://schemas.microsoft.com/office/drawing/2014/main" id="{421F6F96-92EE-407F-A4C4-75E4508B69CA}"/>
              </a:ext>
            </a:extLst>
          </p:cNvPr>
          <p:cNvSpPr>
            <a:spLocks xmlns:a="http://schemas.openxmlformats.org/drawingml/2006/main" noGrp="1"/>
          </p:cNvSpPr>
          <p:nvPr/>
        </p:nvSpPr>
        <p:spPr>
          <a:xfrm xmlns:a="http://schemas.openxmlformats.org/drawingml/2006/main">
            <a:off x="3143250" y="43338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F4E79"/>
                </a:solidFill>
                <a:latin typeface="Arial"/>
                <a:ea typeface="Arial"/>
                <a:cs typeface="Arial"/>
              </a:defRPr>
            </a:pPr>
            <a:r>
              <a:rPr sz="2025" b="1">
                <a:solidFill>
                  <a:srgbClr val="1F4E79"/>
                </a:solidFill>
                <a:latin typeface="Arial"/>
                <a:ea typeface="Arial"/>
                <a:cs typeface="Arial"/>
              </a:rPr>
              <a:t>LPSCl + modifier</a:t>
            </a:r>
          </a:p>
        </p:txBody>
      </p:sp>
      <p:sp>
        <p:nvSpPr>
          <p:cNvPr id="32" name="mot-arrows">
            <a:extLst xmlns:a="http://schemas.openxmlformats.org/drawingml/2006/main">
              <a:ext uri="{FF2B5EF4-FFF2-40B4-BE49-F238E27FC236}">
                <a16:creationId xmlns:a16="http://schemas.microsoft.com/office/drawing/2014/main" id="{54711C5F-CA78-47C4-881D-7DFECAC186A0}"/>
              </a:ext>
            </a:extLst>
          </p:cNvPr>
          <p:cNvSpPr>
            <a:spLocks xmlns:a="http://schemas.openxmlformats.org/drawingml/2006/main" noGrp="1"/>
          </p:cNvSpPr>
          <p:nvPr/>
        </p:nvSpPr>
        <p:spPr>
          <a:xfrm xmlns:a="http://schemas.openxmlformats.org/drawingml/2006/main">
            <a:off x="1762125" y="3952875"/>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a:solidFill>
                  <a:srgbClr val="6B7280"/>
                </a:solidFill>
                <a:latin typeface="Arial"/>
                <a:ea typeface="Arial"/>
                <a:cs typeface="Arial"/>
              </a:defRPr>
            </a:pPr>
            <a:r>
              <a:rPr sz="2250">
                <a:solidFill>
                  <a:srgbClr val="6B7280"/>
                </a:solidFill>
                <a:latin typeface="Arial"/>
                <a:ea typeface="Arial"/>
                <a:cs typeface="Arial"/>
              </a:rPr>
              <a:t>↖            ↑            ↑            ↗</a:t>
            </a:r>
          </a:p>
        </p:txBody>
      </p:sp>
      <p:sp>
        <p:nvSpPr>
          <p:cNvPr id="33" name="mot-rule">
            <a:extLst xmlns:a="http://schemas.openxmlformats.org/drawingml/2006/main">
              <a:ext uri="{FF2B5EF4-FFF2-40B4-BE49-F238E27FC236}">
                <a16:creationId xmlns:a16="http://schemas.microsoft.com/office/drawing/2014/main" id="{D95743F5-A9F6-4CDB-A08A-C30AA7781F54}"/>
              </a:ext>
            </a:extLst>
          </p:cNvPr>
          <p:cNvSpPr>
            <a:spLocks xmlns:a="http://schemas.openxmlformats.org/drawingml/2006/main" noGrp="1"/>
          </p:cNvSpPr>
          <p:nvPr/>
        </p:nvSpPr>
        <p:spPr>
          <a:xfrm xmlns:a="http://schemas.openxmlformats.org/drawingml/2006/main">
            <a:off x="2190750" y="5143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517"/>
          </a:bodyPr>
          <a:lstStyle xmlns:a="http://schemas.openxmlformats.org/drawingml/2006/main"/>
          <a:p xmlns:a="http://schemas.openxmlformats.org/drawingml/2006/main">
            <a:pPr algn="ctr">
              <a:defRPr sz="1500" b="1">
                <a:solidFill>
                  <a:srgbClr val="A61B2B"/>
                </a:solidFill>
                <a:latin typeface="Arial"/>
                <a:ea typeface="Arial"/>
                <a:cs typeface="Arial"/>
              </a:defRPr>
            </a:pPr>
            <a:r>
              <a:rPr sz="1500" b="1">
                <a:solidFill>
                  <a:srgbClr val="A61B2B"/>
                </a:solidFill>
                <a:latin typeface="Arial"/>
                <a:ea typeface="Arial"/>
                <a:cs typeface="Arial"/>
              </a:rPr>
              <a:t>Different failure modes require different calculations.</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9" name="bg-3">
            <a:extLst xmlns:a="http://schemas.openxmlformats.org/drawingml/2006/main">
              <a:ext uri="{FF2B5EF4-FFF2-40B4-BE49-F238E27FC236}">
                <a16:creationId xmlns:a16="http://schemas.microsoft.com/office/drawing/2014/main" id="{DF2F1CF4-C5C5-48F1-A6CD-D9C981AF46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3">
            <a:extLst xmlns:a="http://schemas.openxmlformats.org/drawingml/2006/main">
              <a:ext uri="{FF2B5EF4-FFF2-40B4-BE49-F238E27FC236}">
                <a16:creationId xmlns:a16="http://schemas.microsoft.com/office/drawing/2014/main" id="{CEBC3DC1-69E6-42A3-AAF1-7F24C47FFEEA}"/>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Literature</a:t>
            </a:r>
          </a:p>
        </p:txBody>
      </p:sp>
      <p:sp>
        <p:nvSpPr>
          <p:cNvPr id="3" name="terms-3">
            <a:extLst xmlns:a="http://schemas.openxmlformats.org/drawingml/2006/main">
              <a:ext uri="{FF2B5EF4-FFF2-40B4-BE49-F238E27FC236}">
                <a16:creationId xmlns:a16="http://schemas.microsoft.com/office/drawing/2014/main" id="{57A6B2F4-9144-4415-AA08-888962193C5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Sequential screening: cheap filters first  ·  Fidelity ladder: static model → dynamics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Transferable lesson: workflow architecture, not numerical cutoffs</a:t>
            </a:r>
          </a:p>
        </p:txBody>
      </p:sp>
      <p:sp>
        <p:nvSpPr>
          <p:cNvPr id="4" name="divider-3">
            <a:extLst xmlns:a="http://schemas.openxmlformats.org/drawingml/2006/main">
              <a:ext uri="{FF2B5EF4-FFF2-40B4-BE49-F238E27FC236}">
                <a16:creationId xmlns:a16="http://schemas.microsoft.com/office/drawing/2014/main" id="{474EE9F7-820A-404E-A998-AA354C7B139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3">
            <a:extLst xmlns:a="http://schemas.openxmlformats.org/drawingml/2006/main">
              <a:ext uri="{FF2B5EF4-FFF2-40B4-BE49-F238E27FC236}">
                <a16:creationId xmlns:a16="http://schemas.microsoft.com/office/drawing/2014/main" id="{22CAF046-A033-41C7-B2BB-15710B02A1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3">
            <a:extLst xmlns:a="http://schemas.openxmlformats.org/drawingml/2006/main">
              <a:ext uri="{FF2B5EF4-FFF2-40B4-BE49-F238E27FC236}">
                <a16:creationId xmlns:a16="http://schemas.microsoft.com/office/drawing/2014/main" id="{693F58EA-8A7E-47C4-BDF8-BF2E6F8E1E9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Previous studies separate broad screening from expensive validation</a:t>
            </a:r>
          </a:p>
        </p:txBody>
      </p:sp>
      <p:sp>
        <p:nvSpPr>
          <p:cNvPr id="7" name="bullet-dot-3-0">
            <a:extLst xmlns:a="http://schemas.openxmlformats.org/drawingml/2006/main">
              <a:ext uri="{FF2B5EF4-FFF2-40B4-BE49-F238E27FC236}">
                <a16:creationId xmlns:a16="http://schemas.microsoft.com/office/drawing/2014/main" id="{442A00DD-4A31-4B55-82E9-5E47B066A2F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3-0">
            <a:extLst xmlns:a="http://schemas.openxmlformats.org/drawingml/2006/main">
              <a:ext uri="{FF2B5EF4-FFF2-40B4-BE49-F238E27FC236}">
                <a16:creationId xmlns:a16="http://schemas.microsoft.com/office/drawing/2014/main" id="{05E7B1C3-F832-48C1-AD37-928CECC19D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Xiao narrows a large coating space with sequential physical filters.</a:t>
            </a:r>
          </a:p>
        </p:txBody>
      </p:sp>
      <p:sp>
        <p:nvSpPr>
          <p:cNvPr id="9" name="bullet-dot-3-1">
            <a:extLst xmlns:a="http://schemas.openxmlformats.org/drawingml/2006/main">
              <a:ext uri="{FF2B5EF4-FFF2-40B4-BE49-F238E27FC236}">
                <a16:creationId xmlns:a16="http://schemas.microsoft.com/office/drawing/2014/main" id="{C2DAC255-B3A8-4E25-9B2B-B544E04C425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3-1">
            <a:extLst xmlns:a="http://schemas.openxmlformats.org/drawingml/2006/main">
              <a:ext uri="{FF2B5EF4-FFF2-40B4-BE49-F238E27FC236}">
                <a16:creationId xmlns:a16="http://schemas.microsoft.com/office/drawing/2014/main" id="{9F468294-B5E5-40CB-B35E-4FF4E711D4C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Kahle raises fidelity from structural descriptors to pinball and first-principles MD.</a:t>
            </a:r>
          </a:p>
        </p:txBody>
      </p:sp>
      <p:sp>
        <p:nvSpPr>
          <p:cNvPr id="11" name="citation-3">
            <a:extLst xmlns:a="http://schemas.openxmlformats.org/drawingml/2006/main">
              <a:ext uri="{FF2B5EF4-FFF2-40B4-BE49-F238E27FC236}">
                <a16:creationId xmlns:a16="http://schemas.microsoft.com/office/drawing/2014/main" id="{8A8E8A86-E3CF-4B99-83B7-6F9404291DC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Xiao et al., Joule 2019 · Kahle et al., PR Materials 2020</a:t>
            </a:r>
          </a:p>
        </p:txBody>
      </p:sp>
      <p:sp>
        <p:nvSpPr>
          <p:cNvPr id="12" name="footer-brand-3">
            <a:extLst xmlns:a="http://schemas.openxmlformats.org/drawingml/2006/main">
              <a:ext uri="{FF2B5EF4-FFF2-40B4-BE49-F238E27FC236}">
                <a16:creationId xmlns:a16="http://schemas.microsoft.com/office/drawing/2014/main" id="{1CBBBBE8-B016-49D1-B2E2-F8AE457C7B4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3">
            <a:extLst xmlns:a="http://schemas.openxmlformats.org/drawingml/2006/main">
              <a:ext uri="{FF2B5EF4-FFF2-40B4-BE49-F238E27FC236}">
                <a16:creationId xmlns:a16="http://schemas.microsoft.com/office/drawing/2014/main" id="{0F5D86C1-9B4C-493F-B021-1B43E83405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3">
            <a:extLst xmlns:a="http://schemas.openxmlformats.org/drawingml/2006/main">
              <a:ext uri="{FF2B5EF4-FFF2-40B4-BE49-F238E27FC236}">
                <a16:creationId xmlns:a16="http://schemas.microsoft.com/office/drawing/2014/main" id="{E832C5AE-9CB2-4EFE-8657-BEBDF2D9FFC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3</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deca4d840cc4253"/>
          <a:stretch xmlns:a="http://schemas.openxmlformats.org/drawingml/2006/main"/>
        </p:blipFill>
        <p:spPr>
          <a:xfrm xmlns:a="http://schemas.openxmlformats.org/drawingml/2006/main">
            <a:off x="1140411" y="2286000"/>
            <a:ext cx="2757903" cy="35718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fca5c5484f246df"/>
          <a:stretch xmlns:a="http://schemas.openxmlformats.org/drawingml/2006/main"/>
        </p:blipFill>
        <p:spPr>
          <a:xfrm xmlns:a="http://schemas.openxmlformats.org/drawingml/2006/main">
            <a:off x="5022164" y="2286000"/>
            <a:ext cx="3100172" cy="3571875"/>
          </a:xfrm>
          <a:prstGeom xmlns:a="http://schemas.openxmlformats.org/drawingml/2006/main" prst="rect">
            <a:avLst/>
          </a:prstGeom>
        </p:spPr>
      </p:pic>
      <p:sp>
        <p:nvSpPr>
          <p:cNvPr id="17" name="lit-label-xiao">
            <a:extLst xmlns:a="http://schemas.openxmlformats.org/drawingml/2006/main">
              <a:ext uri="{FF2B5EF4-FFF2-40B4-BE49-F238E27FC236}">
                <a16:creationId xmlns:a16="http://schemas.microsoft.com/office/drawing/2014/main" id="{DC66CF4F-5F06-4B52-AABB-29C786DAD91C}"/>
              </a:ext>
            </a:extLst>
          </p:cNvPr>
          <p:cNvSpPr>
            <a:spLocks xmlns:a="http://schemas.openxmlformats.org/drawingml/2006/main" noGrp="1"/>
          </p:cNvSpPr>
          <p:nvPr/>
        </p:nvSpPr>
        <p:spPr>
          <a:xfrm xmlns:a="http://schemas.openxmlformats.org/drawingml/2006/main">
            <a:off x="1143000" y="5876925"/>
            <a:ext cx="2762250" cy="22860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788" b="1">
                <a:solidFill>
                  <a:srgbClr val="FFFFFF"/>
                </a:solidFill>
                <a:latin typeface="Arial"/>
                <a:ea typeface="Arial"/>
                <a:cs typeface="Arial"/>
              </a:defRPr>
            </a:pPr>
            <a:r>
              <a:rPr sz="788" b="1">
                <a:solidFill>
                  <a:srgbClr val="FFFFFF"/>
                </a:solidFill>
                <a:latin typeface="Arial"/>
                <a:ea typeface="Arial"/>
                <a:cs typeface="Arial"/>
              </a:rPr>
              <a:t>LITERATURE EXAMPLE — NOT OUR RESULT</a:t>
            </a:r>
          </a:p>
        </p:txBody>
      </p:sp>
      <p:sp>
        <p:nvSpPr>
          <p:cNvPr id="18" name="lit-label-kahle">
            <a:extLst xmlns:a="http://schemas.openxmlformats.org/drawingml/2006/main">
              <a:ext uri="{FF2B5EF4-FFF2-40B4-BE49-F238E27FC236}">
                <a16:creationId xmlns:a16="http://schemas.microsoft.com/office/drawing/2014/main" id="{F2B941C4-5B8B-404C-A273-899A07F59322}"/>
              </a:ext>
            </a:extLst>
          </p:cNvPr>
          <p:cNvSpPr>
            <a:spLocks xmlns:a="http://schemas.openxmlformats.org/drawingml/2006/main" noGrp="1"/>
          </p:cNvSpPr>
          <p:nvPr/>
        </p:nvSpPr>
        <p:spPr>
          <a:xfrm xmlns:a="http://schemas.openxmlformats.org/drawingml/2006/main">
            <a:off x="5191125" y="5876925"/>
            <a:ext cx="2762250" cy="22860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788" b="1">
                <a:solidFill>
                  <a:srgbClr val="FFFFFF"/>
                </a:solidFill>
                <a:latin typeface="Arial"/>
                <a:ea typeface="Arial"/>
                <a:cs typeface="Arial"/>
              </a:defRPr>
            </a:pPr>
            <a:r>
              <a:rPr sz="788" b="1">
                <a:solidFill>
                  <a:srgbClr val="FFFFFF"/>
                </a:solidFill>
                <a:latin typeface="Arial"/>
                <a:ea typeface="Arial"/>
                <a:cs typeface="Arial"/>
              </a:rPr>
              <a:t>LITERATURE EXAMPLE — NOT OUR RESULT</a:t>
            </a:r>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7" name="bg-4">
            <a:extLst xmlns:a="http://schemas.openxmlformats.org/drawingml/2006/main">
              <a:ext uri="{FF2B5EF4-FFF2-40B4-BE49-F238E27FC236}">
                <a16:creationId xmlns:a16="http://schemas.microsoft.com/office/drawing/2014/main" id="{4BDB3DB1-F0D2-47F1-9A10-7D81868BBE4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4">
            <a:extLst xmlns:a="http://schemas.openxmlformats.org/drawingml/2006/main">
              <a:ext uri="{FF2B5EF4-FFF2-40B4-BE49-F238E27FC236}">
                <a16:creationId xmlns:a16="http://schemas.microsoft.com/office/drawing/2014/main" id="{49262A36-F761-495D-BC8E-C21FEB43B4B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Design principle</a:t>
            </a:r>
          </a:p>
        </p:txBody>
      </p:sp>
      <p:sp>
        <p:nvSpPr>
          <p:cNvPr id="3" name="terms-4">
            <a:extLst xmlns:a="http://schemas.openxmlformats.org/drawingml/2006/main">
              <a:ext uri="{FF2B5EF4-FFF2-40B4-BE49-F238E27FC236}">
                <a16:creationId xmlns:a16="http://schemas.microsoft.com/office/drawing/2014/main" id="{B3063AEA-D37F-4F88-A11D-D7A58D1AEC5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Screen: reduce a broad search space  ·  Validate: change the method and evidence level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Acquisition: choose the next calculation using uncertainty and diversity</a:t>
            </a:r>
          </a:p>
        </p:txBody>
      </p:sp>
      <p:sp>
        <p:nvSpPr>
          <p:cNvPr id="4" name="divider-4">
            <a:extLst xmlns:a="http://schemas.openxmlformats.org/drawingml/2006/main">
              <a:ext uri="{FF2B5EF4-FFF2-40B4-BE49-F238E27FC236}">
                <a16:creationId xmlns:a16="http://schemas.microsoft.com/office/drawing/2014/main" id="{370504A0-7C97-4C9D-9747-EC6C551DFF9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4">
            <a:extLst xmlns:a="http://schemas.openxmlformats.org/drawingml/2006/main">
              <a:ext uri="{FF2B5EF4-FFF2-40B4-BE49-F238E27FC236}">
                <a16:creationId xmlns:a16="http://schemas.microsoft.com/office/drawing/2014/main" id="{5BFFE75D-89A1-4129-ADCD-529BE0C5424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4">
            <a:extLst xmlns:a="http://schemas.openxmlformats.org/drawingml/2006/main">
              <a:ext uri="{FF2B5EF4-FFF2-40B4-BE49-F238E27FC236}">
                <a16:creationId xmlns:a16="http://schemas.microsoft.com/office/drawing/2014/main" id="{EC7A92B1-D6EB-435E-931B-409A96AB9C9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We borrowed a cost-allocation rule—not a universal scoring rule</a:t>
            </a:r>
          </a:p>
        </p:txBody>
      </p:sp>
      <p:sp>
        <p:nvSpPr>
          <p:cNvPr id="7" name="bullet-dot-4-0">
            <a:extLst xmlns:a="http://schemas.openxmlformats.org/drawingml/2006/main">
              <a:ext uri="{FF2B5EF4-FFF2-40B4-BE49-F238E27FC236}">
                <a16:creationId xmlns:a16="http://schemas.microsoft.com/office/drawing/2014/main" id="{EE64737B-452A-4734-B65A-ECDC511AE5C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4-0">
            <a:extLst xmlns:a="http://schemas.openxmlformats.org/drawingml/2006/main">
              <a:ext uri="{FF2B5EF4-FFF2-40B4-BE49-F238E27FC236}">
                <a16:creationId xmlns:a16="http://schemas.microsoft.com/office/drawing/2014/main" id="{35CA1936-1001-48FD-9EC0-D73181F335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Chemistry, structure, transport, thermodynamics, and interfaces stay as separate evidence streams.</a:t>
            </a:r>
          </a:p>
        </p:txBody>
      </p:sp>
      <p:sp>
        <p:nvSpPr>
          <p:cNvPr id="9" name="bullet-dot-4-1">
            <a:extLst xmlns:a="http://schemas.openxmlformats.org/drawingml/2006/main">
              <a:ext uri="{FF2B5EF4-FFF2-40B4-BE49-F238E27FC236}">
                <a16:creationId xmlns:a16="http://schemas.microsoft.com/office/drawing/2014/main" id="{00E4E1D3-3E6B-429D-A82A-B692228A1623}"/>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4-1">
            <a:extLst xmlns:a="http://schemas.openxmlformats.org/drawingml/2006/main">
              <a:ext uri="{FF2B5EF4-FFF2-40B4-BE49-F238E27FC236}">
                <a16:creationId xmlns:a16="http://schemas.microsoft.com/office/drawing/2014/main" id="{F5A27B81-C7CD-428D-AB85-F87C713106F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cheap result may prioritize the queue; it does not certify the final materials claim.</a:t>
            </a:r>
          </a:p>
        </p:txBody>
      </p:sp>
      <p:sp>
        <p:nvSpPr>
          <p:cNvPr id="11" name="citation-4">
            <a:extLst xmlns:a="http://schemas.openxmlformats.org/drawingml/2006/main">
              <a:ext uri="{FF2B5EF4-FFF2-40B4-BE49-F238E27FC236}">
                <a16:creationId xmlns:a16="http://schemas.microsoft.com/office/drawing/2014/main" id="{BC16564A-0A65-4FEC-9F7C-408C940EA696}"/>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Xiao · Kahle · Sundar · Sendek</a:t>
            </a:r>
          </a:p>
        </p:txBody>
      </p:sp>
      <p:sp>
        <p:nvSpPr>
          <p:cNvPr id="12" name="footer-brand-4">
            <a:extLst xmlns:a="http://schemas.openxmlformats.org/drawingml/2006/main">
              <a:ext uri="{FF2B5EF4-FFF2-40B4-BE49-F238E27FC236}">
                <a16:creationId xmlns:a16="http://schemas.microsoft.com/office/drawing/2014/main" id="{8E8C852F-E377-450C-9EDD-85A21E6A6C6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4">
            <a:extLst xmlns:a="http://schemas.openxmlformats.org/drawingml/2006/main">
              <a:ext uri="{FF2B5EF4-FFF2-40B4-BE49-F238E27FC236}">
                <a16:creationId xmlns:a16="http://schemas.microsoft.com/office/drawing/2014/main" id="{DAACC2F2-22A6-43E5-A4AE-8F2EA8EC690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4">
            <a:extLst xmlns:a="http://schemas.openxmlformats.org/drawingml/2006/main">
              <a:ext uri="{FF2B5EF4-FFF2-40B4-BE49-F238E27FC236}">
                <a16:creationId xmlns:a16="http://schemas.microsoft.com/office/drawing/2014/main" id="{304BC6B6-EC47-4E39-A5AB-77E07465C80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4</a:t>
            </a:r>
          </a:p>
        </p:txBody>
      </p:sp>
      <p:sp>
        <p:nvSpPr>
          <p:cNvPr id="15" name="borrow-box-0">
            <a:extLst xmlns:a="http://schemas.openxmlformats.org/drawingml/2006/main">
              <a:ext uri="{FF2B5EF4-FFF2-40B4-BE49-F238E27FC236}">
                <a16:creationId xmlns:a16="http://schemas.microsoft.com/office/drawing/2014/main" id="{D257640A-8B0F-45B1-B611-F3A684A52C05}"/>
              </a:ext>
            </a:extLst>
          </p:cNvPr>
          <p:cNvSpPr>
            <a:spLocks xmlns:a="http://schemas.openxmlformats.org/drawingml/2006/main" noGrp="1"/>
          </p:cNvSpPr>
          <p:nvPr/>
        </p:nvSpPr>
        <p:spPr>
          <a:xfrm xmlns:a="http://schemas.openxmlformats.org/drawingml/2006/main">
            <a:off x="619125" y="2714625"/>
            <a:ext cx="16764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1F4E79"/>
            </a:solidFill>
            <a:prstDash val="solid"/>
          </a:ln>
        </p:spPr>
      </p:sp>
      <p:sp>
        <p:nvSpPr>
          <p:cNvPr id="16" name="borrow-num-0">
            <a:extLst xmlns:a="http://schemas.openxmlformats.org/drawingml/2006/main">
              <a:ext uri="{FF2B5EF4-FFF2-40B4-BE49-F238E27FC236}">
                <a16:creationId xmlns:a16="http://schemas.microsoft.com/office/drawing/2014/main" id="{A35E973B-42CE-4986-9EB5-8B4AAD28ABB3}"/>
              </a:ext>
            </a:extLst>
          </p:cNvPr>
          <p:cNvSpPr>
            <a:spLocks xmlns:a="http://schemas.openxmlformats.org/drawingml/2006/main" noGrp="1"/>
          </p:cNvSpPr>
          <p:nvPr/>
        </p:nvSpPr>
        <p:spPr>
          <a:xfrm xmlns:a="http://schemas.openxmlformats.org/drawingml/2006/main">
            <a:off x="733425" y="28289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F4E79"/>
                </a:solidFill>
                <a:latin typeface="Arial"/>
                <a:ea typeface="Arial"/>
                <a:cs typeface="Arial"/>
              </a:defRPr>
            </a:pPr>
            <a:r>
              <a:rPr sz="900" b="1">
                <a:solidFill>
                  <a:srgbClr val="1F4E79"/>
                </a:solidFill>
                <a:latin typeface="Arial"/>
                <a:ea typeface="Arial"/>
                <a:cs typeface="Arial"/>
              </a:rPr>
              <a:t>01</a:t>
            </a:r>
          </a:p>
        </p:txBody>
      </p:sp>
      <p:sp>
        <p:nvSpPr>
          <p:cNvPr id="17" name="borrow-text-0">
            <a:extLst xmlns:a="http://schemas.openxmlformats.org/drawingml/2006/main">
              <a:ext uri="{FF2B5EF4-FFF2-40B4-BE49-F238E27FC236}">
                <a16:creationId xmlns:a16="http://schemas.microsoft.com/office/drawing/2014/main" id="{1C00EB69-93B0-4AAF-9F86-09D85FC142AA}"/>
              </a:ext>
            </a:extLst>
          </p:cNvPr>
          <p:cNvSpPr>
            <a:spLocks xmlns:a="http://schemas.openxmlformats.org/drawingml/2006/main" noGrp="1"/>
          </p:cNvSpPr>
          <p:nvPr/>
        </p:nvSpPr>
        <p:spPr>
          <a:xfrm xmlns:a="http://schemas.openxmlformats.org/drawingml/2006/main">
            <a:off x="762000" y="3076575"/>
            <a:ext cx="1390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BROAD</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CHEMISTRY</a:t>
            </a:r>
          </a:p>
        </p:txBody>
      </p:sp>
      <p:sp>
        <p:nvSpPr>
          <p:cNvPr id="18" name="borrow-arrow-0">
            <a:extLst xmlns:a="http://schemas.openxmlformats.org/drawingml/2006/main">
              <a:ext uri="{FF2B5EF4-FFF2-40B4-BE49-F238E27FC236}">
                <a16:creationId xmlns:a16="http://schemas.microsoft.com/office/drawing/2014/main" id="{C498311A-7BBB-49BE-AFEE-19139D1DD584}"/>
              </a:ext>
            </a:extLst>
          </p:cNvPr>
          <p:cNvSpPr>
            <a:spLocks xmlns:a="http://schemas.openxmlformats.org/drawingml/2006/main" noGrp="1"/>
          </p:cNvSpPr>
          <p:nvPr/>
        </p:nvSpPr>
        <p:spPr>
          <a:xfrm xmlns:a="http://schemas.openxmlformats.org/drawingml/2006/main">
            <a:off x="2333625" y="29432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19" name="borrow-box-1">
            <a:extLst xmlns:a="http://schemas.openxmlformats.org/drawingml/2006/main">
              <a:ext uri="{FF2B5EF4-FFF2-40B4-BE49-F238E27FC236}">
                <a16:creationId xmlns:a16="http://schemas.microsoft.com/office/drawing/2014/main" id="{91AC9F95-3BC7-4EBB-8C0E-2363E77059D8}"/>
              </a:ext>
            </a:extLst>
          </p:cNvPr>
          <p:cNvSpPr>
            <a:spLocks xmlns:a="http://schemas.openxmlformats.org/drawingml/2006/main" noGrp="1"/>
          </p:cNvSpPr>
          <p:nvPr/>
        </p:nvSpPr>
        <p:spPr>
          <a:xfrm xmlns:a="http://schemas.openxmlformats.org/drawingml/2006/main">
            <a:off x="2695575" y="2714625"/>
            <a:ext cx="16764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0D9488"/>
            </a:solidFill>
            <a:prstDash val="solid"/>
          </a:ln>
        </p:spPr>
      </p:sp>
      <p:sp>
        <p:nvSpPr>
          <p:cNvPr id="20" name="borrow-num-1">
            <a:extLst xmlns:a="http://schemas.openxmlformats.org/drawingml/2006/main">
              <a:ext uri="{FF2B5EF4-FFF2-40B4-BE49-F238E27FC236}">
                <a16:creationId xmlns:a16="http://schemas.microsoft.com/office/drawing/2014/main" id="{7AB06AA9-063A-4827-AEEC-3C620BD00E0A}"/>
              </a:ext>
            </a:extLst>
          </p:cNvPr>
          <p:cNvSpPr>
            <a:spLocks xmlns:a="http://schemas.openxmlformats.org/drawingml/2006/main" noGrp="1"/>
          </p:cNvSpPr>
          <p:nvPr/>
        </p:nvSpPr>
        <p:spPr>
          <a:xfrm xmlns:a="http://schemas.openxmlformats.org/drawingml/2006/main">
            <a:off x="2809875" y="28289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0D9488"/>
                </a:solidFill>
                <a:latin typeface="Arial"/>
                <a:ea typeface="Arial"/>
                <a:cs typeface="Arial"/>
              </a:defRPr>
            </a:pPr>
            <a:r>
              <a:rPr sz="900" b="1">
                <a:solidFill>
                  <a:srgbClr val="0D9488"/>
                </a:solidFill>
                <a:latin typeface="Arial"/>
                <a:ea typeface="Arial"/>
                <a:cs typeface="Arial"/>
              </a:rPr>
              <a:t>02</a:t>
            </a:r>
          </a:p>
        </p:txBody>
      </p:sp>
      <p:sp>
        <p:nvSpPr>
          <p:cNvPr id="21" name="borrow-text-1">
            <a:extLst xmlns:a="http://schemas.openxmlformats.org/drawingml/2006/main">
              <a:ext uri="{FF2B5EF4-FFF2-40B4-BE49-F238E27FC236}">
                <a16:creationId xmlns:a16="http://schemas.microsoft.com/office/drawing/2014/main" id="{DB1793A4-E9EC-4251-B689-84E0F061A9E1}"/>
              </a:ext>
            </a:extLst>
          </p:cNvPr>
          <p:cNvSpPr>
            <a:spLocks xmlns:a="http://schemas.openxmlformats.org/drawingml/2006/main" noGrp="1"/>
          </p:cNvSpPr>
          <p:nvPr/>
        </p:nvSpPr>
        <p:spPr>
          <a:xfrm xmlns:a="http://schemas.openxmlformats.org/drawingml/2006/main">
            <a:off x="2838450" y="3076575"/>
            <a:ext cx="1390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CHEAP</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STRUCTURES</a:t>
            </a:r>
          </a:p>
        </p:txBody>
      </p:sp>
      <p:sp>
        <p:nvSpPr>
          <p:cNvPr id="22" name="borrow-arrow-1">
            <a:extLst xmlns:a="http://schemas.openxmlformats.org/drawingml/2006/main">
              <a:ext uri="{FF2B5EF4-FFF2-40B4-BE49-F238E27FC236}">
                <a16:creationId xmlns:a16="http://schemas.microsoft.com/office/drawing/2014/main" id="{F313713C-E194-42EA-BAEC-6799B0DB1238}"/>
              </a:ext>
            </a:extLst>
          </p:cNvPr>
          <p:cNvSpPr>
            <a:spLocks xmlns:a="http://schemas.openxmlformats.org/drawingml/2006/main" noGrp="1"/>
          </p:cNvSpPr>
          <p:nvPr/>
        </p:nvSpPr>
        <p:spPr>
          <a:xfrm xmlns:a="http://schemas.openxmlformats.org/drawingml/2006/main">
            <a:off x="4410075" y="29432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3" name="borrow-box-2">
            <a:extLst xmlns:a="http://schemas.openxmlformats.org/drawingml/2006/main">
              <a:ext uri="{FF2B5EF4-FFF2-40B4-BE49-F238E27FC236}">
                <a16:creationId xmlns:a16="http://schemas.microsoft.com/office/drawing/2014/main" id="{A9187957-BBD1-4577-A774-08C3096A18F5}"/>
              </a:ext>
            </a:extLst>
          </p:cNvPr>
          <p:cNvSpPr>
            <a:spLocks xmlns:a="http://schemas.openxmlformats.org/drawingml/2006/main" noGrp="1"/>
          </p:cNvSpPr>
          <p:nvPr/>
        </p:nvSpPr>
        <p:spPr>
          <a:xfrm xmlns:a="http://schemas.openxmlformats.org/drawingml/2006/main">
            <a:off x="4772025" y="2714625"/>
            <a:ext cx="16764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C45A14"/>
            </a:solidFill>
            <a:prstDash val="solid"/>
          </a:ln>
        </p:spPr>
      </p:sp>
      <p:sp>
        <p:nvSpPr>
          <p:cNvPr id="24" name="borrow-num-2">
            <a:extLst xmlns:a="http://schemas.openxmlformats.org/drawingml/2006/main">
              <a:ext uri="{FF2B5EF4-FFF2-40B4-BE49-F238E27FC236}">
                <a16:creationId xmlns:a16="http://schemas.microsoft.com/office/drawing/2014/main" id="{525447F4-59C4-45E0-9CCE-E5AB1F013145}"/>
              </a:ext>
            </a:extLst>
          </p:cNvPr>
          <p:cNvSpPr>
            <a:spLocks xmlns:a="http://schemas.openxmlformats.org/drawingml/2006/main" noGrp="1"/>
          </p:cNvSpPr>
          <p:nvPr/>
        </p:nvSpPr>
        <p:spPr>
          <a:xfrm xmlns:a="http://schemas.openxmlformats.org/drawingml/2006/main">
            <a:off x="4886325" y="28289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C45A14"/>
                </a:solidFill>
                <a:latin typeface="Arial"/>
                <a:ea typeface="Arial"/>
                <a:cs typeface="Arial"/>
              </a:defRPr>
            </a:pPr>
            <a:r>
              <a:rPr sz="900" b="1">
                <a:solidFill>
                  <a:srgbClr val="C45A14"/>
                </a:solidFill>
                <a:latin typeface="Arial"/>
                <a:ea typeface="Arial"/>
                <a:cs typeface="Arial"/>
              </a:rPr>
              <a:t>03</a:t>
            </a:r>
          </a:p>
        </p:txBody>
      </p:sp>
      <p:sp>
        <p:nvSpPr>
          <p:cNvPr id="25" name="borrow-text-2">
            <a:extLst xmlns:a="http://schemas.openxmlformats.org/drawingml/2006/main">
              <a:ext uri="{FF2B5EF4-FFF2-40B4-BE49-F238E27FC236}">
                <a16:creationId xmlns:a16="http://schemas.microsoft.com/office/drawing/2014/main" id="{B3B01F8A-9345-4581-AFD8-ADF846AFB384}"/>
              </a:ext>
            </a:extLst>
          </p:cNvPr>
          <p:cNvSpPr>
            <a:spLocks xmlns:a="http://schemas.openxmlformats.org/drawingml/2006/main" noGrp="1"/>
          </p:cNvSpPr>
          <p:nvPr/>
        </p:nvSpPr>
        <p:spPr>
          <a:xfrm xmlns:a="http://schemas.openxmlformats.org/drawingml/2006/main">
            <a:off x="4914900" y="3076575"/>
            <a:ext cx="1390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PHYSICS-SPECIFIC</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CHECKS</a:t>
            </a:r>
          </a:p>
        </p:txBody>
      </p:sp>
      <p:sp>
        <p:nvSpPr>
          <p:cNvPr id="26" name="borrow-arrow-2">
            <a:extLst xmlns:a="http://schemas.openxmlformats.org/drawingml/2006/main">
              <a:ext uri="{FF2B5EF4-FFF2-40B4-BE49-F238E27FC236}">
                <a16:creationId xmlns:a16="http://schemas.microsoft.com/office/drawing/2014/main" id="{BADC40C1-0BB6-4DF6-BF5A-CEEBC0D687AD}"/>
              </a:ext>
            </a:extLst>
          </p:cNvPr>
          <p:cNvSpPr>
            <a:spLocks xmlns:a="http://schemas.openxmlformats.org/drawingml/2006/main" noGrp="1"/>
          </p:cNvSpPr>
          <p:nvPr/>
        </p:nvSpPr>
        <p:spPr>
          <a:xfrm xmlns:a="http://schemas.openxmlformats.org/drawingml/2006/main">
            <a:off x="6486525" y="29432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7" name="borrow-box-3">
            <a:extLst xmlns:a="http://schemas.openxmlformats.org/drawingml/2006/main">
              <a:ext uri="{FF2B5EF4-FFF2-40B4-BE49-F238E27FC236}">
                <a16:creationId xmlns:a16="http://schemas.microsoft.com/office/drawing/2014/main" id="{85977390-B60B-4289-AAAE-EED276D02E2C}"/>
              </a:ext>
            </a:extLst>
          </p:cNvPr>
          <p:cNvSpPr>
            <a:spLocks xmlns:a="http://schemas.openxmlformats.org/drawingml/2006/main" noGrp="1"/>
          </p:cNvSpPr>
          <p:nvPr/>
        </p:nvSpPr>
        <p:spPr>
          <a:xfrm xmlns:a="http://schemas.openxmlformats.org/drawingml/2006/main">
            <a:off x="6848475" y="2714625"/>
            <a:ext cx="16764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15803D"/>
            </a:solidFill>
            <a:prstDash val="solid"/>
          </a:ln>
        </p:spPr>
      </p:sp>
      <p:sp>
        <p:nvSpPr>
          <p:cNvPr id="28" name="borrow-num-3">
            <a:extLst xmlns:a="http://schemas.openxmlformats.org/drawingml/2006/main">
              <a:ext uri="{FF2B5EF4-FFF2-40B4-BE49-F238E27FC236}">
                <a16:creationId xmlns:a16="http://schemas.microsoft.com/office/drawing/2014/main" id="{F9A01F85-FDFE-40F9-B769-B69B198A9F17}"/>
              </a:ext>
            </a:extLst>
          </p:cNvPr>
          <p:cNvSpPr>
            <a:spLocks xmlns:a="http://schemas.openxmlformats.org/drawingml/2006/main" noGrp="1"/>
          </p:cNvSpPr>
          <p:nvPr/>
        </p:nvSpPr>
        <p:spPr>
          <a:xfrm xmlns:a="http://schemas.openxmlformats.org/drawingml/2006/main">
            <a:off x="6962775" y="28289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5803D"/>
                </a:solidFill>
                <a:latin typeface="Arial"/>
                <a:ea typeface="Arial"/>
                <a:cs typeface="Arial"/>
              </a:defRPr>
            </a:pPr>
            <a:r>
              <a:rPr sz="900" b="1">
                <a:solidFill>
                  <a:srgbClr val="15803D"/>
                </a:solidFill>
                <a:latin typeface="Arial"/>
                <a:ea typeface="Arial"/>
                <a:cs typeface="Arial"/>
              </a:rPr>
              <a:t>04</a:t>
            </a:r>
          </a:p>
        </p:txBody>
      </p:sp>
      <p:sp>
        <p:nvSpPr>
          <p:cNvPr id="29" name="borrow-text-3">
            <a:extLst xmlns:a="http://schemas.openxmlformats.org/drawingml/2006/main">
              <a:ext uri="{FF2B5EF4-FFF2-40B4-BE49-F238E27FC236}">
                <a16:creationId xmlns:a16="http://schemas.microsoft.com/office/drawing/2014/main" id="{9084BC67-2AB9-4A4D-9A8F-5F47E7F2E36E}"/>
              </a:ext>
            </a:extLst>
          </p:cNvPr>
          <p:cNvSpPr>
            <a:spLocks xmlns:a="http://schemas.openxmlformats.org/drawingml/2006/main" noGrp="1"/>
          </p:cNvSpPr>
          <p:nvPr/>
        </p:nvSpPr>
        <p:spPr>
          <a:xfrm xmlns:a="http://schemas.openxmlformats.org/drawingml/2006/main">
            <a:off x="6991350" y="3076575"/>
            <a:ext cx="1390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EXPENSIVE</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VALIDATION</a:t>
            </a:r>
          </a:p>
        </p:txBody>
      </p:sp>
      <p:sp>
        <p:nvSpPr>
          <p:cNvPr id="30" name="borrow-tags">
            <a:extLst xmlns:a="http://schemas.openxmlformats.org/drawingml/2006/main">
              <a:ext uri="{FF2B5EF4-FFF2-40B4-BE49-F238E27FC236}">
                <a16:creationId xmlns:a16="http://schemas.microsoft.com/office/drawing/2014/main" id="{B0DD72D9-8F33-4C1F-95BE-C1A6EAE18CD2}"/>
              </a:ext>
            </a:extLst>
          </p:cNvPr>
          <p:cNvSpPr>
            <a:spLocks xmlns:a="http://schemas.openxmlformats.org/drawingml/2006/main" noGrp="1"/>
          </p:cNvSpPr>
          <p:nvPr/>
        </p:nvSpPr>
        <p:spPr>
          <a:xfrm xmlns:a="http://schemas.openxmlformats.org/drawingml/2006/main">
            <a:off x="857250" y="4048125"/>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38" b="1">
                <a:solidFill>
                  <a:srgbClr val="6B7280"/>
                </a:solidFill>
                <a:latin typeface="Arial"/>
                <a:ea typeface="Arial"/>
                <a:cs typeface="Arial"/>
              </a:defRPr>
            </a:pPr>
            <a:r>
              <a:rPr sz="938" b="1">
                <a:solidFill>
                  <a:srgbClr val="6B7280"/>
                </a:solidFill>
                <a:latin typeface="Arial"/>
                <a:ea typeface="Arial"/>
                <a:cs typeface="Arial"/>
              </a:rPr>
              <a:t>Xiao: staged filters            Kahle: fidelity ladder            Sundar: interface-specific axes            Sendek: applicability domain</a:t>
            </a:r>
          </a:p>
        </p:txBody>
      </p:sp>
      <p:sp>
        <p:nvSpPr>
          <p:cNvPr id="31" name="borrow-line">
            <a:extLst xmlns:a="http://schemas.openxmlformats.org/drawingml/2006/main">
              <a:ext uri="{FF2B5EF4-FFF2-40B4-BE49-F238E27FC236}">
                <a16:creationId xmlns:a16="http://schemas.microsoft.com/office/drawing/2014/main" id="{E28EC556-0ED8-4448-B3CF-8E471175FB38}"/>
              </a:ext>
            </a:extLst>
          </p:cNvPr>
          <p:cNvSpPr>
            <a:spLocks xmlns:a="http://schemas.openxmlformats.org/drawingml/2006/main" noGrp="1"/>
          </p:cNvSpPr>
          <p:nvPr/>
        </p:nvSpPr>
        <p:spPr>
          <a:xfrm xmlns:a="http://schemas.openxmlformats.org/drawingml/2006/main">
            <a:off x="1524000" y="4762500"/>
            <a:ext cx="6096000" cy="1905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2" name="borrow-rule">
            <a:extLst xmlns:a="http://schemas.openxmlformats.org/drawingml/2006/main">
              <a:ext uri="{FF2B5EF4-FFF2-40B4-BE49-F238E27FC236}">
                <a16:creationId xmlns:a16="http://schemas.microsoft.com/office/drawing/2014/main" id="{D9551A62-9C2C-45DF-A2F5-3654D2F1B104}"/>
              </a:ext>
            </a:extLst>
          </p:cNvPr>
          <p:cNvSpPr>
            <a:spLocks xmlns:a="http://schemas.openxmlformats.org/drawingml/2006/main" noGrp="1"/>
          </p:cNvSpPr>
          <p:nvPr/>
        </p:nvSpPr>
        <p:spPr>
          <a:xfrm xmlns:a="http://schemas.openxmlformats.org/drawingml/2006/main">
            <a:off x="1428750" y="50006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a:solidFill>
                  <a:srgbClr val="0D9488"/>
                </a:solidFill>
                <a:latin typeface="Arial"/>
                <a:ea typeface="Arial"/>
                <a:cs typeface="Arial"/>
              </a:defRPr>
            </a:pPr>
            <a:r>
              <a:rPr sz="1125" b="1">
                <a:solidFill>
                  <a:srgbClr val="0D9488"/>
                </a:solidFill>
                <a:latin typeface="Arial"/>
                <a:ea typeface="Arial"/>
                <a:cs typeface="Arial"/>
              </a:rPr>
              <a:t>FAST MODEL</a:t>
            </a:r>
          </a:p>
        </p:txBody>
      </p:sp>
      <p:sp>
        <p:nvSpPr>
          <p:cNvPr id="33" name="borrow-mid">
            <a:extLst xmlns:a="http://schemas.openxmlformats.org/drawingml/2006/main">
              <a:ext uri="{FF2B5EF4-FFF2-40B4-BE49-F238E27FC236}">
                <a16:creationId xmlns:a16="http://schemas.microsoft.com/office/drawing/2014/main" id="{6BD39B83-E740-43F6-82C1-13B07E4CBCD0}"/>
              </a:ext>
            </a:extLst>
          </p:cNvPr>
          <p:cNvSpPr>
            <a:spLocks xmlns:a="http://schemas.openxmlformats.org/drawingml/2006/main" noGrp="1"/>
          </p:cNvSpPr>
          <p:nvPr/>
        </p:nvSpPr>
        <p:spPr>
          <a:xfrm xmlns:a="http://schemas.openxmlformats.org/drawingml/2006/main">
            <a:off x="3238500" y="50006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1F2937"/>
                </a:solidFill>
                <a:latin typeface="Arial"/>
                <a:ea typeface="Arial"/>
                <a:cs typeface="Arial"/>
              </a:defRPr>
            </a:pPr>
            <a:r>
              <a:rPr sz="1125">
                <a:solidFill>
                  <a:srgbClr val="1F2937"/>
                </a:solidFill>
                <a:latin typeface="Arial"/>
                <a:ea typeface="Arial"/>
                <a:cs typeface="Arial"/>
              </a:rPr>
              <a:t>changes queue order</a:t>
            </a:r>
          </a:p>
        </p:txBody>
      </p:sp>
      <p:sp>
        <p:nvSpPr>
          <p:cNvPr id="34" name="borrow-exp">
            <a:extLst xmlns:a="http://schemas.openxmlformats.org/drawingml/2006/main">
              <a:ext uri="{FF2B5EF4-FFF2-40B4-BE49-F238E27FC236}">
                <a16:creationId xmlns:a16="http://schemas.microsoft.com/office/drawing/2014/main" id="{09B1895F-3BF1-4277-B71B-6DE19CB9DDA7}"/>
              </a:ext>
            </a:extLst>
          </p:cNvPr>
          <p:cNvSpPr>
            <a:spLocks xmlns:a="http://schemas.openxmlformats.org/drawingml/2006/main" noGrp="1"/>
          </p:cNvSpPr>
          <p:nvPr/>
        </p:nvSpPr>
        <p:spPr>
          <a:xfrm xmlns:a="http://schemas.openxmlformats.org/drawingml/2006/main">
            <a:off x="6000750" y="5000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23"/>
          </a:bodyPr>
          <a:lstStyle xmlns:a="http://schemas.openxmlformats.org/drawingml/2006/main"/>
          <a:p xmlns:a="http://schemas.openxmlformats.org/drawingml/2006/main">
            <a:pPr algn="ctr">
              <a:defRPr sz="1125" b="1">
                <a:solidFill>
                  <a:srgbClr val="15803D"/>
                </a:solidFill>
                <a:latin typeface="Arial"/>
                <a:ea typeface="Arial"/>
                <a:cs typeface="Arial"/>
              </a:defRPr>
            </a:pPr>
            <a:r>
              <a:rPr sz="1125" b="1">
                <a:solidFill>
                  <a:srgbClr val="15803D"/>
                </a:solidFill>
                <a:latin typeface="Arial"/>
                <a:ea typeface="Arial"/>
                <a:cs typeface="Arial"/>
              </a:rPr>
              <a:t>MATCHED DFT / MD / EXPERIMENT</a:t>
            </a:r>
          </a:p>
        </p:txBody>
      </p:sp>
      <p:sp>
        <p:nvSpPr>
          <p:cNvPr id="35" name="borrow-arrow1">
            <a:extLst xmlns:a="http://schemas.openxmlformats.org/drawingml/2006/main">
              <a:ext uri="{FF2B5EF4-FFF2-40B4-BE49-F238E27FC236}">
                <a16:creationId xmlns:a16="http://schemas.microsoft.com/office/drawing/2014/main" id="{17692169-D9F9-4ECF-A395-836313D8F06B}"/>
              </a:ext>
            </a:extLst>
          </p:cNvPr>
          <p:cNvSpPr>
            <a:spLocks xmlns:a="http://schemas.openxmlformats.org/drawingml/2006/main" noGrp="1"/>
          </p:cNvSpPr>
          <p:nvPr/>
        </p:nvSpPr>
        <p:spPr>
          <a:xfrm xmlns:a="http://schemas.openxmlformats.org/drawingml/2006/main">
            <a:off x="2905125" y="4895850"/>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a:solidFill>
                  <a:srgbClr val="6B7280"/>
                </a:solidFill>
                <a:latin typeface="Arial"/>
                <a:ea typeface="Arial"/>
                <a:cs typeface="Arial"/>
              </a:defRPr>
            </a:pPr>
            <a:r>
              <a:rPr sz="1875">
                <a:solidFill>
                  <a:srgbClr val="6B7280"/>
                </a:solidFill>
                <a:latin typeface="Arial"/>
                <a:ea typeface="Arial"/>
                <a:cs typeface="Arial"/>
              </a:rPr>
              <a:t>→</a:t>
            </a:r>
          </a:p>
        </p:txBody>
      </p:sp>
      <p:sp>
        <p:nvSpPr>
          <p:cNvPr id="36" name="borrow-arrow2">
            <a:extLst xmlns:a="http://schemas.openxmlformats.org/drawingml/2006/main">
              <a:ext uri="{FF2B5EF4-FFF2-40B4-BE49-F238E27FC236}">
                <a16:creationId xmlns:a16="http://schemas.microsoft.com/office/drawing/2014/main" id="{A6B35A71-C67B-4B5D-9521-697963E0D8B3}"/>
              </a:ext>
            </a:extLst>
          </p:cNvPr>
          <p:cNvSpPr>
            <a:spLocks xmlns:a="http://schemas.openxmlformats.org/drawingml/2006/main" noGrp="1"/>
          </p:cNvSpPr>
          <p:nvPr/>
        </p:nvSpPr>
        <p:spPr>
          <a:xfrm xmlns:a="http://schemas.openxmlformats.org/drawingml/2006/main">
            <a:off x="5667375" y="4895850"/>
            <a:ext cx="428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a:solidFill>
                  <a:srgbClr val="6B7280"/>
                </a:solidFill>
                <a:latin typeface="Arial"/>
                <a:ea typeface="Arial"/>
                <a:cs typeface="Arial"/>
              </a:defRPr>
            </a:pPr>
            <a:r>
              <a:rPr sz="1875">
                <a:solidFill>
                  <a:srgbClr val="6B7280"/>
                </a:solidFill>
                <a:latin typeface="Arial"/>
                <a:ea typeface="Arial"/>
                <a:cs typeface="Arial"/>
              </a:rPr>
              <a:t>→</a:t>
            </a:r>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bg-5">
            <a:extLst xmlns:a="http://schemas.openxmlformats.org/drawingml/2006/main">
              <a:ext uri="{FF2B5EF4-FFF2-40B4-BE49-F238E27FC236}">
                <a16:creationId xmlns:a16="http://schemas.microsoft.com/office/drawing/2014/main" id="{F6C65ECC-966A-4434-B5BB-D132BAF1613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5">
            <a:extLst xmlns:a="http://schemas.openxmlformats.org/drawingml/2006/main">
              <a:ext uri="{FF2B5EF4-FFF2-40B4-BE49-F238E27FC236}">
                <a16:creationId xmlns:a16="http://schemas.microsoft.com/office/drawing/2014/main" id="{B055E6A9-098C-432C-98EC-3556E185ACE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Campaign</a:t>
            </a:r>
          </a:p>
        </p:txBody>
      </p:sp>
      <p:sp>
        <p:nvSpPr>
          <p:cNvPr id="3" name="terms-5">
            <a:extLst xmlns:a="http://schemas.openxmlformats.org/drawingml/2006/main">
              <a:ext uri="{FF2B5EF4-FFF2-40B4-BE49-F238E27FC236}">
                <a16:creationId xmlns:a16="http://schemas.microsoft.com/office/drawing/2014/main" id="{9CCEC6A8-8923-4D3A-B681-60539A62F4EA}"/>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Run slot: one planned workflow execution  ·  Chemistry: one compound label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Campaign label: x002 / x005 / x010 directory name; not a verified concentration</a:t>
            </a:r>
          </a:p>
        </p:txBody>
      </p:sp>
      <p:sp>
        <p:nvSpPr>
          <p:cNvPr id="4" name="divider-5">
            <a:extLst xmlns:a="http://schemas.openxmlformats.org/drawingml/2006/main">
              <a:ext uri="{FF2B5EF4-FFF2-40B4-BE49-F238E27FC236}">
                <a16:creationId xmlns:a16="http://schemas.microsoft.com/office/drawing/2014/main" id="{2E281D3E-967F-4D4D-91B7-79A74E8D2D7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5">
            <a:extLst xmlns:a="http://schemas.openxmlformats.org/drawingml/2006/main">
              <a:ext uri="{FF2B5EF4-FFF2-40B4-BE49-F238E27FC236}">
                <a16:creationId xmlns:a16="http://schemas.microsoft.com/office/drawing/2014/main" id="{120FA710-7C58-4098-9834-96495D5EE960}"/>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5">
            <a:extLst xmlns:a="http://schemas.openxmlformats.org/drawingml/2006/main">
              <a:ext uri="{FF2B5EF4-FFF2-40B4-BE49-F238E27FC236}">
                <a16:creationId xmlns:a16="http://schemas.microsoft.com/office/drawing/2014/main" id="{C01476F7-6575-4D3A-92D6-0C616590C07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campaign created workload breadth—not three concentration measurements</a:t>
            </a:r>
          </a:p>
        </p:txBody>
      </p:sp>
      <p:sp>
        <p:nvSpPr>
          <p:cNvPr id="7" name="bullet-dot-5-0">
            <a:extLst xmlns:a="http://schemas.openxmlformats.org/drawingml/2006/main">
              <a:ext uri="{FF2B5EF4-FFF2-40B4-BE49-F238E27FC236}">
                <a16:creationId xmlns:a16="http://schemas.microsoft.com/office/drawing/2014/main" id="{94E5C115-80F6-4C7F-B6E0-7A90B8E1443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5-0">
            <a:extLst xmlns:a="http://schemas.openxmlformats.org/drawingml/2006/main">
              <a:ext uri="{FF2B5EF4-FFF2-40B4-BE49-F238E27FC236}">
                <a16:creationId xmlns:a16="http://schemas.microsoft.com/office/drawing/2014/main" id="{1847B9A6-08D7-4ABB-B47B-BC7FCBDD420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91 planned chemistries × 3 labels produced 273 run slots; 270 reached the enabled workflow endpoint.</a:t>
            </a:r>
          </a:p>
        </p:txBody>
      </p:sp>
      <p:sp>
        <p:nvSpPr>
          <p:cNvPr id="9" name="bullet-dot-5-1">
            <a:extLst xmlns:a="http://schemas.openxmlformats.org/drawingml/2006/main">
              <a:ext uri="{FF2B5EF4-FFF2-40B4-BE49-F238E27FC236}">
                <a16:creationId xmlns:a16="http://schemas.microsoft.com/office/drawing/2014/main" id="{FA32E48E-6825-4945-A51D-30C41D84071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5-1">
            <a:extLst xmlns:a="http://schemas.openxmlformats.org/drawingml/2006/main">
              <a:ext uri="{FF2B5EF4-FFF2-40B4-BE49-F238E27FC236}">
                <a16:creationId xmlns:a16="http://schemas.microsoft.com/office/drawing/2014/main" id="{1C50A290-B17E-4DF0-BA0C-3A4989D33DE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three labels were quantized into the same small-cell loading and are not controlled replicates.</a:t>
            </a:r>
          </a:p>
        </p:txBody>
      </p:sp>
      <p:sp>
        <p:nvSpPr>
          <p:cNvPr id="11" name="citation-5">
            <a:extLst xmlns:a="http://schemas.openxmlformats.org/drawingml/2006/main">
              <a:ext uri="{FF2B5EF4-FFF2-40B4-BE49-F238E27FC236}">
                <a16:creationId xmlns:a16="http://schemas.microsoft.com/office/drawing/2014/main" id="{6E35C789-0B9A-4EEE-BBAB-49ADB96A9816}"/>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master_batch_273.sh · cascade_label_scatter_audit.json</a:t>
            </a:r>
          </a:p>
        </p:txBody>
      </p:sp>
      <p:sp>
        <p:nvSpPr>
          <p:cNvPr id="12" name="footer-brand-5">
            <a:extLst xmlns:a="http://schemas.openxmlformats.org/drawingml/2006/main">
              <a:ext uri="{FF2B5EF4-FFF2-40B4-BE49-F238E27FC236}">
                <a16:creationId xmlns:a16="http://schemas.microsoft.com/office/drawing/2014/main" id="{E8213834-278A-4868-935E-D4FE7EAC3D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5">
            <a:extLst xmlns:a="http://schemas.openxmlformats.org/drawingml/2006/main">
              <a:ext uri="{FF2B5EF4-FFF2-40B4-BE49-F238E27FC236}">
                <a16:creationId xmlns:a16="http://schemas.microsoft.com/office/drawing/2014/main" id="{607ACE82-BDB8-4372-BF66-4DCD744F138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5">
            <a:extLst xmlns:a="http://schemas.openxmlformats.org/drawingml/2006/main">
              <a:ext uri="{FF2B5EF4-FFF2-40B4-BE49-F238E27FC236}">
                <a16:creationId xmlns:a16="http://schemas.microsoft.com/office/drawing/2014/main" id="{51E93E5B-9C8B-4BB0-9417-36D9CDFE27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5</a:t>
            </a:r>
          </a:p>
        </p:txBody>
      </p:sp>
      <p:sp>
        <p:nvSpPr>
          <p:cNvPr id="15" name="scope-91">
            <a:extLst xmlns:a="http://schemas.openxmlformats.org/drawingml/2006/main">
              <a:ext uri="{FF2B5EF4-FFF2-40B4-BE49-F238E27FC236}">
                <a16:creationId xmlns:a16="http://schemas.microsoft.com/office/drawing/2014/main" id="{622E7E6E-F7F9-463E-8082-39127C7EBE9A}"/>
              </a:ext>
            </a:extLst>
          </p:cNvPr>
          <p:cNvSpPr>
            <a:spLocks xmlns:a="http://schemas.openxmlformats.org/drawingml/2006/main" noGrp="1"/>
          </p:cNvSpPr>
          <p:nvPr/>
        </p:nvSpPr>
        <p:spPr>
          <a:xfrm xmlns:a="http://schemas.openxmlformats.org/drawingml/2006/main">
            <a:off x="1381125" y="2714625"/>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750" b="1">
                <a:solidFill>
                  <a:srgbClr val="1F4E79"/>
                </a:solidFill>
                <a:latin typeface="Arial"/>
                <a:ea typeface="Arial"/>
                <a:cs typeface="Arial"/>
              </a:defRPr>
            </a:pPr>
            <a:r>
              <a:rPr sz="3750" b="1">
                <a:solidFill>
                  <a:srgbClr val="1F4E79"/>
                </a:solidFill>
                <a:latin typeface="Arial"/>
                <a:ea typeface="Arial"/>
                <a:cs typeface="Arial"/>
              </a:rPr>
              <a:t>91</a:t>
            </a:r>
          </a:p>
        </p:txBody>
      </p:sp>
      <p:sp>
        <p:nvSpPr>
          <p:cNvPr id="16" name="scope-times">
            <a:extLst xmlns:a="http://schemas.openxmlformats.org/drawingml/2006/main">
              <a:ext uri="{FF2B5EF4-FFF2-40B4-BE49-F238E27FC236}">
                <a16:creationId xmlns:a16="http://schemas.microsoft.com/office/drawing/2014/main" id="{11AD759F-4A7C-468B-94F6-C1A4704C4FA4}"/>
              </a:ext>
            </a:extLst>
          </p:cNvPr>
          <p:cNvSpPr>
            <a:spLocks xmlns:a="http://schemas.openxmlformats.org/drawingml/2006/main" noGrp="1"/>
          </p:cNvSpPr>
          <p:nvPr/>
        </p:nvSpPr>
        <p:spPr>
          <a:xfrm xmlns:a="http://schemas.openxmlformats.org/drawingml/2006/main">
            <a:off x="2905125" y="2809875"/>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a:solidFill>
                  <a:srgbClr val="6B7280"/>
                </a:solidFill>
                <a:latin typeface="Arial"/>
                <a:ea typeface="Arial"/>
                <a:cs typeface="Arial"/>
              </a:defRPr>
            </a:pPr>
            <a:r>
              <a:rPr sz="3000">
                <a:solidFill>
                  <a:srgbClr val="6B7280"/>
                </a:solidFill>
                <a:latin typeface="Arial"/>
                <a:ea typeface="Arial"/>
                <a:cs typeface="Arial"/>
              </a:rPr>
              <a:t>×</a:t>
            </a:r>
          </a:p>
        </p:txBody>
      </p:sp>
      <p:sp>
        <p:nvSpPr>
          <p:cNvPr id="17" name="scope-3">
            <a:extLst xmlns:a="http://schemas.openxmlformats.org/drawingml/2006/main">
              <a:ext uri="{FF2B5EF4-FFF2-40B4-BE49-F238E27FC236}">
                <a16:creationId xmlns:a16="http://schemas.microsoft.com/office/drawing/2014/main" id="{12482CED-4991-4954-BAAD-2623B0A1E6D8}"/>
              </a:ext>
            </a:extLst>
          </p:cNvPr>
          <p:cNvSpPr>
            <a:spLocks xmlns:a="http://schemas.openxmlformats.org/drawingml/2006/main" noGrp="1"/>
          </p:cNvSpPr>
          <p:nvPr/>
        </p:nvSpPr>
        <p:spPr>
          <a:xfrm xmlns:a="http://schemas.openxmlformats.org/drawingml/2006/main">
            <a:off x="3714750" y="27146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750" b="1">
                <a:solidFill>
                  <a:srgbClr val="C45A14"/>
                </a:solidFill>
                <a:latin typeface="Arial"/>
                <a:ea typeface="Arial"/>
                <a:cs typeface="Arial"/>
              </a:defRPr>
            </a:pPr>
            <a:r>
              <a:rPr sz="3750" b="1">
                <a:solidFill>
                  <a:srgbClr val="C45A14"/>
                </a:solidFill>
                <a:latin typeface="Arial"/>
                <a:ea typeface="Arial"/>
                <a:cs typeface="Arial"/>
              </a:rPr>
              <a:t>3</a:t>
            </a:r>
          </a:p>
        </p:txBody>
      </p:sp>
      <p:sp>
        <p:nvSpPr>
          <p:cNvPr id="18" name="scope-eq">
            <a:extLst xmlns:a="http://schemas.openxmlformats.org/drawingml/2006/main">
              <a:ext uri="{FF2B5EF4-FFF2-40B4-BE49-F238E27FC236}">
                <a16:creationId xmlns:a16="http://schemas.microsoft.com/office/drawing/2014/main" id="{F154FB34-3D72-490A-AAD6-45785CB0DD14}"/>
              </a:ext>
            </a:extLst>
          </p:cNvPr>
          <p:cNvSpPr>
            <a:spLocks xmlns:a="http://schemas.openxmlformats.org/drawingml/2006/main" noGrp="1"/>
          </p:cNvSpPr>
          <p:nvPr/>
        </p:nvSpPr>
        <p:spPr>
          <a:xfrm xmlns:a="http://schemas.openxmlformats.org/drawingml/2006/main">
            <a:off x="5000625" y="2809875"/>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a:solidFill>
                  <a:srgbClr val="6B7280"/>
                </a:solidFill>
                <a:latin typeface="Arial"/>
                <a:ea typeface="Arial"/>
                <a:cs typeface="Arial"/>
              </a:defRPr>
            </a:pPr>
            <a:r>
              <a:rPr sz="3000">
                <a:solidFill>
                  <a:srgbClr val="6B7280"/>
                </a:solidFill>
                <a:latin typeface="Arial"/>
                <a:ea typeface="Arial"/>
                <a:cs typeface="Arial"/>
              </a:rPr>
              <a:t>=</a:t>
            </a:r>
          </a:p>
        </p:txBody>
      </p:sp>
      <p:sp>
        <p:nvSpPr>
          <p:cNvPr id="19" name="scope-273">
            <a:extLst xmlns:a="http://schemas.openxmlformats.org/drawingml/2006/main">
              <a:ext uri="{FF2B5EF4-FFF2-40B4-BE49-F238E27FC236}">
                <a16:creationId xmlns:a16="http://schemas.microsoft.com/office/drawing/2014/main" id="{DF0790E1-3C1E-4433-9D61-3B0924E6E3A3}"/>
              </a:ext>
            </a:extLst>
          </p:cNvPr>
          <p:cNvSpPr>
            <a:spLocks xmlns:a="http://schemas.openxmlformats.org/drawingml/2006/main" noGrp="1"/>
          </p:cNvSpPr>
          <p:nvPr/>
        </p:nvSpPr>
        <p:spPr>
          <a:xfrm xmlns:a="http://schemas.openxmlformats.org/drawingml/2006/main">
            <a:off x="5810250" y="271462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750" b="1">
                <a:solidFill>
                  <a:srgbClr val="0D9488"/>
                </a:solidFill>
                <a:latin typeface="Arial"/>
                <a:ea typeface="Arial"/>
                <a:cs typeface="Arial"/>
              </a:defRPr>
            </a:pPr>
            <a:r>
              <a:rPr sz="3750" b="1">
                <a:solidFill>
                  <a:srgbClr val="0D9488"/>
                </a:solidFill>
                <a:latin typeface="Arial"/>
                <a:ea typeface="Arial"/>
                <a:cs typeface="Arial"/>
              </a:rPr>
              <a:t>273</a:t>
            </a:r>
          </a:p>
        </p:txBody>
      </p:sp>
      <p:sp>
        <p:nvSpPr>
          <p:cNvPr id="20" name="scope-labels">
            <a:extLst xmlns:a="http://schemas.openxmlformats.org/drawingml/2006/main">
              <a:ext uri="{FF2B5EF4-FFF2-40B4-BE49-F238E27FC236}">
                <a16:creationId xmlns:a16="http://schemas.microsoft.com/office/drawing/2014/main" id="{5E46D2BE-3E03-4996-A6BD-779BD49B11B8}"/>
              </a:ext>
            </a:extLst>
          </p:cNvPr>
          <p:cNvSpPr>
            <a:spLocks xmlns:a="http://schemas.openxmlformats.org/drawingml/2006/main" noGrp="1"/>
          </p:cNvSpPr>
          <p:nvPr/>
        </p:nvSpPr>
        <p:spPr>
          <a:xfrm xmlns:a="http://schemas.openxmlformats.org/drawingml/2006/main">
            <a:off x="1095375" y="34290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rPr sz="975">
                <a:solidFill>
                  <a:srgbClr val="6B7280"/>
                </a:solidFill>
                <a:latin typeface="Arial"/>
                <a:ea typeface="Arial"/>
                <a:cs typeface="Arial"/>
              </a:rPr>
              <a:t>chemistries                     directory labels                     run slots</a:t>
            </a:r>
          </a:p>
        </p:txBody>
      </p:sp>
      <p:sp>
        <p:nvSpPr>
          <p:cNvPr id="21" name="scope-warning">
            <a:extLst xmlns:a="http://schemas.openxmlformats.org/drawingml/2006/main">
              <a:ext uri="{FF2B5EF4-FFF2-40B4-BE49-F238E27FC236}">
                <a16:creationId xmlns:a16="http://schemas.microsoft.com/office/drawing/2014/main" id="{47957133-F172-48BB-87F3-96F5A428E130}"/>
              </a:ext>
            </a:extLst>
          </p:cNvPr>
          <p:cNvSpPr>
            <a:spLocks xmlns:a="http://schemas.openxmlformats.org/drawingml/2006/main" noGrp="1"/>
          </p:cNvSpPr>
          <p:nvPr/>
        </p:nvSpPr>
        <p:spPr>
          <a:xfrm xmlns:a="http://schemas.openxmlformats.org/drawingml/2006/main">
            <a:off x="1714500" y="4143375"/>
            <a:ext cx="5715000" cy="4000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163" b="1">
                <a:solidFill>
                  <a:srgbClr val="FFFFFF"/>
                </a:solidFill>
                <a:latin typeface="Arial"/>
                <a:ea typeface="Arial"/>
                <a:cs typeface="Arial"/>
              </a:defRPr>
            </a:pPr>
            <a:r>
              <a:rPr sz="1163" b="1">
                <a:solidFill>
                  <a:srgbClr val="FFFFFF"/>
                </a:solidFill>
                <a:latin typeface="Arial"/>
                <a:ea typeface="Arial"/>
                <a:cs typeface="Arial"/>
              </a:rPr>
              <a:t>x002 / x005 / x010  ≠  2% / 5% / 10%  ·  realized x = 0.25</a:t>
            </a:r>
          </a:p>
        </p:txBody>
      </p:sp>
      <p:sp>
        <p:nvSpPr>
          <p:cNvPr id="22" name="scope-done">
            <a:extLst xmlns:a="http://schemas.openxmlformats.org/drawingml/2006/main">
              <a:ext uri="{FF2B5EF4-FFF2-40B4-BE49-F238E27FC236}">
                <a16:creationId xmlns:a16="http://schemas.microsoft.com/office/drawing/2014/main" id="{6D542326-A1AE-439D-93DA-BEBB54F4CF65}"/>
              </a:ext>
            </a:extLst>
          </p:cNvPr>
          <p:cNvSpPr>
            <a:spLocks xmlns:a="http://schemas.openxmlformats.org/drawingml/2006/main" noGrp="1"/>
          </p:cNvSpPr>
          <p:nvPr/>
        </p:nvSpPr>
        <p:spPr>
          <a:xfrm xmlns:a="http://schemas.openxmlformats.org/drawingml/2006/main">
            <a:off x="1238250" y="49530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F2937"/>
                </a:solidFill>
                <a:latin typeface="Arial"/>
                <a:ea typeface="Arial"/>
                <a:cs typeface="Arial"/>
              </a:defRPr>
            </a:pPr>
            <a:r>
              <a:rPr sz="1200" b="1">
                <a:solidFill>
                  <a:srgbClr val="1F2937"/>
                </a:solidFill>
                <a:latin typeface="Arial"/>
                <a:ea typeface="Arial"/>
                <a:cs typeface="Arial"/>
              </a:rPr>
              <a:t>270 completed enabled workflow  ·  90 recovered chemistries  ·  1 chemistry stopped during structure generation</a:t>
            </a:r>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2" name="bg-6">
            <a:extLst xmlns:a="http://schemas.openxmlformats.org/drawingml/2006/main">
              <a:ext uri="{FF2B5EF4-FFF2-40B4-BE49-F238E27FC236}">
                <a16:creationId xmlns:a16="http://schemas.microsoft.com/office/drawing/2014/main" id="{56576768-A713-4E28-A6B6-DFC8105A24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6">
            <a:extLst xmlns:a="http://schemas.openxmlformats.org/drawingml/2006/main">
              <a:ext uri="{FF2B5EF4-FFF2-40B4-BE49-F238E27FC236}">
                <a16:creationId xmlns:a16="http://schemas.microsoft.com/office/drawing/2014/main" id="{448F932F-EE45-494C-8018-F5DCEC353ED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69"/>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1 — Run contract</a:t>
            </a:r>
          </a:p>
        </p:txBody>
      </p:sp>
      <p:sp>
        <p:nvSpPr>
          <p:cNvPr id="3" name="terms-6">
            <a:extLst xmlns:a="http://schemas.openxmlformats.org/drawingml/2006/main">
              <a:ext uri="{FF2B5EF4-FFF2-40B4-BE49-F238E27FC236}">
                <a16:creationId xmlns:a16="http://schemas.microsoft.com/office/drawing/2014/main" id="{A3D41F79-3204-45C2-BF1F-D2746AB55EA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Preflight: check environment before production  ·  Provenance: record how a run was made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Run identity: host + roster + model + output path + version</a:t>
            </a:r>
          </a:p>
        </p:txBody>
      </p:sp>
      <p:sp>
        <p:nvSpPr>
          <p:cNvPr id="4" name="divider-6">
            <a:extLst xmlns:a="http://schemas.openxmlformats.org/drawingml/2006/main">
              <a:ext uri="{FF2B5EF4-FFF2-40B4-BE49-F238E27FC236}">
                <a16:creationId xmlns:a16="http://schemas.microsoft.com/office/drawing/2014/main" id="{79D9B8C3-B25E-471C-9845-2775C2E67E4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6">
            <a:extLst xmlns:a="http://schemas.openxmlformats.org/drawingml/2006/main">
              <a:ext uri="{FF2B5EF4-FFF2-40B4-BE49-F238E27FC236}">
                <a16:creationId xmlns:a16="http://schemas.microsoft.com/office/drawing/2014/main" id="{D5C7520B-28F1-4830-B1FC-19AE6F0E01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6">
            <a:extLst xmlns:a="http://schemas.openxmlformats.org/drawingml/2006/main">
              <a:ext uri="{FF2B5EF4-FFF2-40B4-BE49-F238E27FC236}">
                <a16:creationId xmlns:a16="http://schemas.microsoft.com/office/drawing/2014/main" id="{CA987F87-5C3F-4F04-9FDC-F3EDC3C8A4F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Fix the question and the computational environment before generating structures</a:t>
            </a:r>
          </a:p>
        </p:txBody>
      </p:sp>
      <p:sp>
        <p:nvSpPr>
          <p:cNvPr id="7" name="bullet-dot-6-0">
            <a:extLst xmlns:a="http://schemas.openxmlformats.org/drawingml/2006/main">
              <a:ext uri="{FF2B5EF4-FFF2-40B4-BE49-F238E27FC236}">
                <a16:creationId xmlns:a16="http://schemas.microsoft.com/office/drawing/2014/main" id="{8CF33AF8-5848-4127-9616-9D4BEE127EC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6-0">
            <a:extLst xmlns:a="http://schemas.openxmlformats.org/drawingml/2006/main">
              <a:ext uri="{FF2B5EF4-FFF2-40B4-BE49-F238E27FC236}">
                <a16:creationId xmlns:a16="http://schemas.microsoft.com/office/drawing/2014/main" id="{0664EB91-E4D3-4674-A717-CEBA0E89D44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host, chemistry list, model version, device, and output location are checked once.</a:t>
            </a:r>
          </a:p>
        </p:txBody>
      </p:sp>
      <p:sp>
        <p:nvSpPr>
          <p:cNvPr id="9" name="bullet-dot-6-1">
            <a:extLst xmlns:a="http://schemas.openxmlformats.org/drawingml/2006/main">
              <a:ext uri="{FF2B5EF4-FFF2-40B4-BE49-F238E27FC236}">
                <a16:creationId xmlns:a16="http://schemas.microsoft.com/office/drawing/2014/main" id="{20311F4F-3DF1-4658-8446-15E0753A4C6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6-1">
            <a:extLst xmlns:a="http://schemas.openxmlformats.org/drawingml/2006/main">
              <a:ext uri="{FF2B5EF4-FFF2-40B4-BE49-F238E27FC236}">
                <a16:creationId xmlns:a16="http://schemas.microsoft.com/office/drawing/2014/main" id="{B71D4069-E657-4DE0-A4C4-0D56C48060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This prevents a wrong path or model from propagating into hundreds of downstream jobs.</a:t>
            </a:r>
          </a:p>
        </p:txBody>
      </p:sp>
      <p:sp>
        <p:nvSpPr>
          <p:cNvPr id="11" name="citation-6">
            <a:extLst xmlns:a="http://schemas.openxmlformats.org/drawingml/2006/main">
              <a:ext uri="{FF2B5EF4-FFF2-40B4-BE49-F238E27FC236}">
                <a16:creationId xmlns:a16="http://schemas.microsoft.com/office/drawing/2014/main" id="{267946A7-8A5A-4909-B3D3-376F66D14782}"/>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00 · execution lineage reconstructed from archived code</a:t>
            </a:r>
          </a:p>
        </p:txBody>
      </p:sp>
      <p:sp>
        <p:nvSpPr>
          <p:cNvPr id="12" name="footer-brand-6">
            <a:extLst xmlns:a="http://schemas.openxmlformats.org/drawingml/2006/main">
              <a:ext uri="{FF2B5EF4-FFF2-40B4-BE49-F238E27FC236}">
                <a16:creationId xmlns:a16="http://schemas.microsoft.com/office/drawing/2014/main" id="{A0745599-0DE5-4278-B723-2DA6D65A588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6">
            <a:extLst xmlns:a="http://schemas.openxmlformats.org/drawingml/2006/main">
              <a:ext uri="{FF2B5EF4-FFF2-40B4-BE49-F238E27FC236}">
                <a16:creationId xmlns:a16="http://schemas.microsoft.com/office/drawing/2014/main" id="{43983313-12AC-4AA1-801E-62C108B271A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6">
            <a:extLst xmlns:a="http://schemas.openxmlformats.org/drawingml/2006/main">
              <a:ext uri="{FF2B5EF4-FFF2-40B4-BE49-F238E27FC236}">
                <a16:creationId xmlns:a16="http://schemas.microsoft.com/office/drawing/2014/main" id="{B1D86954-2D4F-4276-9A81-38FAAF9242B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6</a:t>
            </a:r>
          </a:p>
        </p:txBody>
      </p:sp>
      <p:sp>
        <p:nvSpPr>
          <p:cNvPr id="15" name="step1-box-0">
            <a:extLst xmlns:a="http://schemas.openxmlformats.org/drawingml/2006/main">
              <a:ext uri="{FF2B5EF4-FFF2-40B4-BE49-F238E27FC236}">
                <a16:creationId xmlns:a16="http://schemas.microsoft.com/office/drawing/2014/main" id="{04BF0C83-104F-42FE-B18E-2702F5C578B7}"/>
              </a:ext>
            </a:extLst>
          </p:cNvPr>
          <p:cNvSpPr>
            <a:spLocks xmlns:a="http://schemas.openxmlformats.org/drawingml/2006/main" noGrp="1"/>
          </p:cNvSpPr>
          <p:nvPr/>
        </p:nvSpPr>
        <p:spPr>
          <a:xfrm xmlns:a="http://schemas.openxmlformats.org/drawingml/2006/main">
            <a:off x="666750" y="2857500"/>
            <a:ext cx="1652588"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F4E79"/>
            </a:solidFill>
            <a:prstDash val="solid"/>
          </a:ln>
        </p:spPr>
      </p:sp>
      <p:sp>
        <p:nvSpPr>
          <p:cNvPr id="16" name="step1-num-0">
            <a:extLst xmlns:a="http://schemas.openxmlformats.org/drawingml/2006/main">
              <a:ext uri="{FF2B5EF4-FFF2-40B4-BE49-F238E27FC236}">
                <a16:creationId xmlns:a16="http://schemas.microsoft.com/office/drawing/2014/main" id="{4A120A84-A56D-4247-9BDA-C189ADFAE9EC}"/>
              </a:ext>
            </a:extLst>
          </p:cNvPr>
          <p:cNvSpPr>
            <a:spLocks xmlns:a="http://schemas.openxmlformats.org/drawingml/2006/main" noGrp="1"/>
          </p:cNvSpPr>
          <p:nvPr/>
        </p:nvSpPr>
        <p:spPr>
          <a:xfrm xmlns:a="http://schemas.openxmlformats.org/drawingml/2006/main">
            <a:off x="781050"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F4E79"/>
                </a:solidFill>
                <a:latin typeface="Arial"/>
                <a:ea typeface="Arial"/>
                <a:cs typeface="Arial"/>
              </a:defRPr>
            </a:pPr>
            <a:r>
              <a:rPr sz="900" b="1">
                <a:solidFill>
                  <a:srgbClr val="1F4E79"/>
                </a:solidFill>
                <a:latin typeface="Arial"/>
                <a:ea typeface="Arial"/>
                <a:cs typeface="Arial"/>
              </a:rPr>
              <a:t>01</a:t>
            </a:r>
          </a:p>
        </p:txBody>
      </p:sp>
      <p:sp>
        <p:nvSpPr>
          <p:cNvPr id="17" name="step1-text-0">
            <a:extLst xmlns:a="http://schemas.openxmlformats.org/drawingml/2006/main">
              <a:ext uri="{FF2B5EF4-FFF2-40B4-BE49-F238E27FC236}">
                <a16:creationId xmlns:a16="http://schemas.microsoft.com/office/drawing/2014/main" id="{56A831F8-6C9B-4D22-B777-AA7FF04325A6}"/>
              </a:ext>
            </a:extLst>
          </p:cNvPr>
          <p:cNvSpPr>
            <a:spLocks xmlns:a="http://schemas.openxmlformats.org/drawingml/2006/main" noGrp="1"/>
          </p:cNvSpPr>
          <p:nvPr/>
        </p:nvSpPr>
        <p:spPr>
          <a:xfrm xmlns:a="http://schemas.openxmlformats.org/drawingml/2006/main">
            <a:off x="809625" y="3219450"/>
            <a:ext cx="136683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HOST</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STRUCTURE</a:t>
            </a:r>
          </a:p>
        </p:txBody>
      </p:sp>
      <p:sp>
        <p:nvSpPr>
          <p:cNvPr id="18" name="step1-arrow-0">
            <a:extLst xmlns:a="http://schemas.openxmlformats.org/drawingml/2006/main">
              <a:ext uri="{FF2B5EF4-FFF2-40B4-BE49-F238E27FC236}">
                <a16:creationId xmlns:a16="http://schemas.microsoft.com/office/drawing/2014/main" id="{16A1138C-6CE9-45BA-AD36-6E3198ECF226}"/>
              </a:ext>
            </a:extLst>
          </p:cNvPr>
          <p:cNvSpPr>
            <a:spLocks xmlns:a="http://schemas.openxmlformats.org/drawingml/2006/main" noGrp="1"/>
          </p:cNvSpPr>
          <p:nvPr/>
        </p:nvSpPr>
        <p:spPr>
          <a:xfrm xmlns:a="http://schemas.openxmlformats.org/drawingml/2006/main">
            <a:off x="2357438"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19" name="step1-box-1">
            <a:extLst xmlns:a="http://schemas.openxmlformats.org/drawingml/2006/main">
              <a:ext uri="{FF2B5EF4-FFF2-40B4-BE49-F238E27FC236}">
                <a16:creationId xmlns:a16="http://schemas.microsoft.com/office/drawing/2014/main" id="{EC70DC53-9EDA-44A8-AC34-65066AEDD14F}"/>
              </a:ext>
            </a:extLst>
          </p:cNvPr>
          <p:cNvSpPr>
            <a:spLocks xmlns:a="http://schemas.openxmlformats.org/drawingml/2006/main" noGrp="1"/>
          </p:cNvSpPr>
          <p:nvPr/>
        </p:nvSpPr>
        <p:spPr>
          <a:xfrm xmlns:a="http://schemas.openxmlformats.org/drawingml/2006/main">
            <a:off x="2719388" y="2857500"/>
            <a:ext cx="1652588"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C45A14"/>
            </a:solidFill>
            <a:prstDash val="solid"/>
          </a:ln>
        </p:spPr>
      </p:sp>
      <p:sp>
        <p:nvSpPr>
          <p:cNvPr id="20" name="step1-num-1">
            <a:extLst xmlns:a="http://schemas.openxmlformats.org/drawingml/2006/main">
              <a:ext uri="{FF2B5EF4-FFF2-40B4-BE49-F238E27FC236}">
                <a16:creationId xmlns:a16="http://schemas.microsoft.com/office/drawing/2014/main" id="{25AF16F1-7721-447D-B7A2-BEBE2C2F7114}"/>
              </a:ext>
            </a:extLst>
          </p:cNvPr>
          <p:cNvSpPr>
            <a:spLocks xmlns:a="http://schemas.openxmlformats.org/drawingml/2006/main" noGrp="1"/>
          </p:cNvSpPr>
          <p:nvPr/>
        </p:nvSpPr>
        <p:spPr>
          <a:xfrm xmlns:a="http://schemas.openxmlformats.org/drawingml/2006/main">
            <a:off x="2833688"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C45A14"/>
                </a:solidFill>
                <a:latin typeface="Arial"/>
                <a:ea typeface="Arial"/>
                <a:cs typeface="Arial"/>
              </a:defRPr>
            </a:pPr>
            <a:r>
              <a:rPr sz="900" b="1">
                <a:solidFill>
                  <a:srgbClr val="C45A14"/>
                </a:solidFill>
                <a:latin typeface="Arial"/>
                <a:ea typeface="Arial"/>
                <a:cs typeface="Arial"/>
              </a:rPr>
              <a:t>02</a:t>
            </a:r>
          </a:p>
        </p:txBody>
      </p:sp>
      <p:sp>
        <p:nvSpPr>
          <p:cNvPr id="21" name="step1-text-1">
            <a:extLst xmlns:a="http://schemas.openxmlformats.org/drawingml/2006/main">
              <a:ext uri="{FF2B5EF4-FFF2-40B4-BE49-F238E27FC236}">
                <a16:creationId xmlns:a16="http://schemas.microsoft.com/office/drawing/2014/main" id="{97DD3C66-9863-4052-9E5D-D36C09E5B9BB}"/>
              </a:ext>
            </a:extLst>
          </p:cNvPr>
          <p:cNvSpPr>
            <a:spLocks xmlns:a="http://schemas.openxmlformats.org/drawingml/2006/main" noGrp="1"/>
          </p:cNvSpPr>
          <p:nvPr/>
        </p:nvSpPr>
        <p:spPr>
          <a:xfrm xmlns:a="http://schemas.openxmlformats.org/drawingml/2006/main">
            <a:off x="2862263" y="3219450"/>
            <a:ext cx="136683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CHEMISTRY</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ROSTER</a:t>
            </a:r>
          </a:p>
        </p:txBody>
      </p:sp>
      <p:sp>
        <p:nvSpPr>
          <p:cNvPr id="22" name="step1-arrow-1">
            <a:extLst xmlns:a="http://schemas.openxmlformats.org/drawingml/2006/main">
              <a:ext uri="{FF2B5EF4-FFF2-40B4-BE49-F238E27FC236}">
                <a16:creationId xmlns:a16="http://schemas.microsoft.com/office/drawing/2014/main" id="{D32F6432-7A70-4394-BCF8-914F2008CB80}"/>
              </a:ext>
            </a:extLst>
          </p:cNvPr>
          <p:cNvSpPr>
            <a:spLocks xmlns:a="http://schemas.openxmlformats.org/drawingml/2006/main" noGrp="1"/>
          </p:cNvSpPr>
          <p:nvPr/>
        </p:nvSpPr>
        <p:spPr>
          <a:xfrm xmlns:a="http://schemas.openxmlformats.org/drawingml/2006/main">
            <a:off x="4410075"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3" name="step1-box-2">
            <a:extLst xmlns:a="http://schemas.openxmlformats.org/drawingml/2006/main">
              <a:ext uri="{FF2B5EF4-FFF2-40B4-BE49-F238E27FC236}">
                <a16:creationId xmlns:a16="http://schemas.microsoft.com/office/drawing/2014/main" id="{E9D50D7D-0EA3-4C76-B061-2F54DEDA251A}"/>
              </a:ext>
            </a:extLst>
          </p:cNvPr>
          <p:cNvSpPr>
            <a:spLocks xmlns:a="http://schemas.openxmlformats.org/drawingml/2006/main" noGrp="1"/>
          </p:cNvSpPr>
          <p:nvPr/>
        </p:nvSpPr>
        <p:spPr>
          <a:xfrm xmlns:a="http://schemas.openxmlformats.org/drawingml/2006/main">
            <a:off x="4772025" y="2857500"/>
            <a:ext cx="1652588"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D9488"/>
            </a:solidFill>
            <a:prstDash val="solid"/>
          </a:ln>
        </p:spPr>
      </p:sp>
      <p:sp>
        <p:nvSpPr>
          <p:cNvPr id="24" name="step1-num-2">
            <a:extLst xmlns:a="http://schemas.openxmlformats.org/drawingml/2006/main">
              <a:ext uri="{FF2B5EF4-FFF2-40B4-BE49-F238E27FC236}">
                <a16:creationId xmlns:a16="http://schemas.microsoft.com/office/drawing/2014/main" id="{C1EED50C-884F-4DC6-A649-532D5B098D6C}"/>
              </a:ext>
            </a:extLst>
          </p:cNvPr>
          <p:cNvSpPr>
            <a:spLocks xmlns:a="http://schemas.openxmlformats.org/drawingml/2006/main" noGrp="1"/>
          </p:cNvSpPr>
          <p:nvPr/>
        </p:nvSpPr>
        <p:spPr>
          <a:xfrm xmlns:a="http://schemas.openxmlformats.org/drawingml/2006/main">
            <a:off x="4886325"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0D9488"/>
                </a:solidFill>
                <a:latin typeface="Arial"/>
                <a:ea typeface="Arial"/>
                <a:cs typeface="Arial"/>
              </a:defRPr>
            </a:pPr>
            <a:r>
              <a:rPr sz="900" b="1">
                <a:solidFill>
                  <a:srgbClr val="0D9488"/>
                </a:solidFill>
                <a:latin typeface="Arial"/>
                <a:ea typeface="Arial"/>
                <a:cs typeface="Arial"/>
              </a:rPr>
              <a:t>03</a:t>
            </a:r>
          </a:p>
        </p:txBody>
      </p:sp>
      <p:sp>
        <p:nvSpPr>
          <p:cNvPr id="25" name="step1-text-2">
            <a:extLst xmlns:a="http://schemas.openxmlformats.org/drawingml/2006/main">
              <a:ext uri="{FF2B5EF4-FFF2-40B4-BE49-F238E27FC236}">
                <a16:creationId xmlns:a16="http://schemas.microsoft.com/office/drawing/2014/main" id="{7D5E030C-8A4D-45A2-B805-B5CA7D2A1A0A}"/>
              </a:ext>
            </a:extLst>
          </p:cNvPr>
          <p:cNvSpPr>
            <a:spLocks xmlns:a="http://schemas.openxmlformats.org/drawingml/2006/main" noGrp="1"/>
          </p:cNvSpPr>
          <p:nvPr/>
        </p:nvSpPr>
        <p:spPr>
          <a:xfrm xmlns:a="http://schemas.openxmlformats.org/drawingml/2006/main">
            <a:off x="4914900" y="3219450"/>
            <a:ext cx="136683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MODEL &amp;</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DEVICE</a:t>
            </a:r>
          </a:p>
        </p:txBody>
      </p:sp>
      <p:sp>
        <p:nvSpPr>
          <p:cNvPr id="26" name="step1-arrow-2">
            <a:extLst xmlns:a="http://schemas.openxmlformats.org/drawingml/2006/main">
              <a:ext uri="{FF2B5EF4-FFF2-40B4-BE49-F238E27FC236}">
                <a16:creationId xmlns:a16="http://schemas.microsoft.com/office/drawing/2014/main" id="{C52D7C54-FEC8-44E8-9936-BA84934D43F4}"/>
              </a:ext>
            </a:extLst>
          </p:cNvPr>
          <p:cNvSpPr>
            <a:spLocks xmlns:a="http://schemas.openxmlformats.org/drawingml/2006/main" noGrp="1"/>
          </p:cNvSpPr>
          <p:nvPr/>
        </p:nvSpPr>
        <p:spPr>
          <a:xfrm xmlns:a="http://schemas.openxmlformats.org/drawingml/2006/main">
            <a:off x="6462713"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7" name="step1-box-3">
            <a:extLst xmlns:a="http://schemas.openxmlformats.org/drawingml/2006/main">
              <a:ext uri="{FF2B5EF4-FFF2-40B4-BE49-F238E27FC236}">
                <a16:creationId xmlns:a16="http://schemas.microsoft.com/office/drawing/2014/main" id="{3A7E0B08-50FE-4F5E-993D-FA0B757DF5CC}"/>
              </a:ext>
            </a:extLst>
          </p:cNvPr>
          <p:cNvSpPr>
            <a:spLocks xmlns:a="http://schemas.openxmlformats.org/drawingml/2006/main" noGrp="1"/>
          </p:cNvSpPr>
          <p:nvPr/>
        </p:nvSpPr>
        <p:spPr>
          <a:xfrm xmlns:a="http://schemas.openxmlformats.org/drawingml/2006/main">
            <a:off x="6824663" y="2857500"/>
            <a:ext cx="1652588"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5803D"/>
            </a:solidFill>
            <a:prstDash val="solid"/>
          </a:ln>
        </p:spPr>
      </p:sp>
      <p:sp>
        <p:nvSpPr>
          <p:cNvPr id="28" name="step1-num-3">
            <a:extLst xmlns:a="http://schemas.openxmlformats.org/drawingml/2006/main">
              <a:ext uri="{FF2B5EF4-FFF2-40B4-BE49-F238E27FC236}">
                <a16:creationId xmlns:a16="http://schemas.microsoft.com/office/drawing/2014/main" id="{442B20FA-B2B7-4149-8206-9EE0D148B770}"/>
              </a:ext>
            </a:extLst>
          </p:cNvPr>
          <p:cNvSpPr>
            <a:spLocks xmlns:a="http://schemas.openxmlformats.org/drawingml/2006/main" noGrp="1"/>
          </p:cNvSpPr>
          <p:nvPr/>
        </p:nvSpPr>
        <p:spPr>
          <a:xfrm xmlns:a="http://schemas.openxmlformats.org/drawingml/2006/main">
            <a:off x="6938963"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5803D"/>
                </a:solidFill>
                <a:latin typeface="Arial"/>
                <a:ea typeface="Arial"/>
                <a:cs typeface="Arial"/>
              </a:defRPr>
            </a:pPr>
            <a:r>
              <a:rPr sz="900" b="1">
                <a:solidFill>
                  <a:srgbClr val="15803D"/>
                </a:solidFill>
                <a:latin typeface="Arial"/>
                <a:ea typeface="Arial"/>
                <a:cs typeface="Arial"/>
              </a:rPr>
              <a:t>04</a:t>
            </a:r>
          </a:p>
        </p:txBody>
      </p:sp>
      <p:sp>
        <p:nvSpPr>
          <p:cNvPr id="29" name="step1-text-3">
            <a:extLst xmlns:a="http://schemas.openxmlformats.org/drawingml/2006/main">
              <a:ext uri="{FF2B5EF4-FFF2-40B4-BE49-F238E27FC236}">
                <a16:creationId xmlns:a16="http://schemas.microsoft.com/office/drawing/2014/main" id="{6B9EF947-4107-45D7-B7DC-A3797BDB5A2F}"/>
              </a:ext>
            </a:extLst>
          </p:cNvPr>
          <p:cNvSpPr>
            <a:spLocks xmlns:a="http://schemas.openxmlformats.org/drawingml/2006/main" noGrp="1"/>
          </p:cNvSpPr>
          <p:nvPr/>
        </p:nvSpPr>
        <p:spPr>
          <a:xfrm xmlns:a="http://schemas.openxmlformats.org/drawingml/2006/main">
            <a:off x="6967538" y="3219450"/>
            <a:ext cx="136683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VERSIONED</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OUTPUT</a:t>
            </a:r>
          </a:p>
        </p:txBody>
      </p:sp>
      <p:sp>
        <p:nvSpPr>
          <p:cNvPr id="30" name="step1-go">
            <a:extLst xmlns:a="http://schemas.openxmlformats.org/drawingml/2006/main">
              <a:ext uri="{FF2B5EF4-FFF2-40B4-BE49-F238E27FC236}">
                <a16:creationId xmlns:a16="http://schemas.microsoft.com/office/drawing/2014/main" id="{04BCD990-C047-498F-89FD-0CAF6D103D14}"/>
              </a:ext>
            </a:extLst>
          </p:cNvPr>
          <p:cNvSpPr>
            <a:spLocks xmlns:a="http://schemas.openxmlformats.org/drawingml/2006/main" noGrp="1"/>
          </p:cNvSpPr>
          <p:nvPr/>
        </p:nvSpPr>
        <p:spPr>
          <a:xfrm xmlns:a="http://schemas.openxmlformats.org/drawingml/2006/main">
            <a:off x="2000250" y="4619625"/>
            <a:ext cx="5143500" cy="4191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PREFLIGHT PASSED → create one traceable run identity</a:t>
            </a:r>
          </a:p>
        </p:txBody>
      </p:sp>
      <p:sp>
        <p:nvSpPr>
          <p:cNvPr id="31" name="step1-limit">
            <a:extLst xmlns:a="http://schemas.openxmlformats.org/drawingml/2006/main">
              <a:ext uri="{FF2B5EF4-FFF2-40B4-BE49-F238E27FC236}">
                <a16:creationId xmlns:a16="http://schemas.microsoft.com/office/drawing/2014/main" id="{8D1004AA-0C92-4A59-954A-04C1D9207567}"/>
              </a:ext>
            </a:extLst>
          </p:cNvPr>
          <p:cNvSpPr>
            <a:spLocks xmlns:a="http://schemas.openxmlformats.org/drawingml/2006/main" noGrp="1"/>
          </p:cNvSpPr>
          <p:nvPr/>
        </p:nvSpPr>
        <p:spPr>
          <a:xfrm xmlns:a="http://schemas.openxmlformats.org/drawingml/2006/main">
            <a:off x="2333625" y="5286375"/>
            <a:ext cx="447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i="1">
                <a:solidFill>
                  <a:srgbClr val="6B7280"/>
                </a:solidFill>
                <a:latin typeface="Arial"/>
                <a:ea typeface="Arial"/>
                <a:cs typeface="Arial"/>
              </a:defRPr>
            </a:pPr>
            <a:r>
              <a:rPr sz="1050" i="1">
                <a:solidFill>
                  <a:srgbClr val="6B7280"/>
                </a:solidFill>
                <a:latin typeface="Arial"/>
                <a:ea typeface="Arial"/>
                <a:cs typeface="Arial"/>
              </a:rPr>
              <a:t>This step checks reproducibility—not a material property.</a:t>
            </a:r>
          </a:p>
        </p:txBody>
      </p:sp>
    </p:spTree>
    <p:extLst>
      <p:ext uri="{BB962C8B-B14F-4D97-AF65-F5344CB8AC3E}">
        <p14:creationId xmlns:p14="http://schemas.microsoft.com/office/powerpoint/2010/main" val="84752153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 name="bg-7">
            <a:extLst xmlns:a="http://schemas.openxmlformats.org/drawingml/2006/main">
              <a:ext uri="{FF2B5EF4-FFF2-40B4-BE49-F238E27FC236}">
                <a16:creationId xmlns:a16="http://schemas.microsoft.com/office/drawing/2014/main" id="{3F5CAAEB-90CE-4533-80EB-F6B785EF32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7">
            <a:extLst xmlns:a="http://schemas.openxmlformats.org/drawingml/2006/main">
              <a:ext uri="{FF2B5EF4-FFF2-40B4-BE49-F238E27FC236}">
                <a16:creationId xmlns:a16="http://schemas.microsoft.com/office/drawing/2014/main" id="{E40601E1-C519-4CC2-A768-354D58CBFAB0}"/>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098"/>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2 — Site &amp; configuration</a:t>
            </a:r>
          </a:p>
        </p:txBody>
      </p:sp>
      <p:sp>
        <p:nvSpPr>
          <p:cNvPr id="3" name="terms-7">
            <a:extLst xmlns:a="http://schemas.openxmlformats.org/drawingml/2006/main">
              <a:ext uri="{FF2B5EF4-FFF2-40B4-BE49-F238E27FC236}">
                <a16:creationId xmlns:a16="http://schemas.microsoft.com/office/drawing/2014/main" id="{896AB69D-EA41-47E3-B382-867F137A910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Exact formula: atom counts in the simulated cell  ·  Site: substituted sublattice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Charge compensation: Li vacancy/interstitial or anion change used to balance the recipe</a:t>
            </a:r>
          </a:p>
        </p:txBody>
      </p:sp>
      <p:sp>
        <p:nvSpPr>
          <p:cNvPr id="4" name="divider-7">
            <a:extLst xmlns:a="http://schemas.openxmlformats.org/drawingml/2006/main">
              <a:ext uri="{FF2B5EF4-FFF2-40B4-BE49-F238E27FC236}">
                <a16:creationId xmlns:a16="http://schemas.microsoft.com/office/drawing/2014/main" id="{C7F2DE18-B846-4ED1-9B8F-9DD3ABC5413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7">
            <a:extLst xmlns:a="http://schemas.openxmlformats.org/drawingml/2006/main">
              <a:ext uri="{FF2B5EF4-FFF2-40B4-BE49-F238E27FC236}">
                <a16:creationId xmlns:a16="http://schemas.microsoft.com/office/drawing/2014/main" id="{0A22044F-E634-4326-BD8E-11A056C7E6F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7">
            <a:extLst xmlns:a="http://schemas.openxmlformats.org/drawingml/2006/main">
              <a:ext uri="{FF2B5EF4-FFF2-40B4-BE49-F238E27FC236}">
                <a16:creationId xmlns:a16="http://schemas.microsoft.com/office/drawing/2014/main" id="{28D11498-1F7B-46AA-B52A-D9F939DA5FD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2"/>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 dopant name becomes meaningful only after formula, site, and configuration are fixed</a:t>
            </a:r>
          </a:p>
        </p:txBody>
      </p:sp>
      <p:sp>
        <p:nvSpPr>
          <p:cNvPr id="7" name="bullet-dot-7-0">
            <a:extLst xmlns:a="http://schemas.openxmlformats.org/drawingml/2006/main">
              <a:ext uri="{FF2B5EF4-FFF2-40B4-BE49-F238E27FC236}">
                <a16:creationId xmlns:a16="http://schemas.microsoft.com/office/drawing/2014/main" id="{8B729D4D-1370-4A21-B87D-F550CCB31EB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7-0">
            <a:extLst xmlns:a="http://schemas.openxmlformats.org/drawingml/2006/main">
              <a:ext uri="{FF2B5EF4-FFF2-40B4-BE49-F238E27FC236}">
                <a16:creationId xmlns:a16="http://schemas.microsoft.com/office/drawing/2014/main" id="{CD5F8FA1-A024-4B20-A034-58681A1E0F2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Candidate structures are generated across allowed Li/P and S/Cl sublattices with charge compensation.</a:t>
            </a:r>
          </a:p>
        </p:txBody>
      </p:sp>
      <p:sp>
        <p:nvSpPr>
          <p:cNvPr id="9" name="bullet-dot-7-1">
            <a:extLst xmlns:a="http://schemas.openxmlformats.org/drawingml/2006/main">
              <a:ext uri="{FF2B5EF4-FFF2-40B4-BE49-F238E27FC236}">
                <a16:creationId xmlns:a16="http://schemas.microsoft.com/office/drawing/2014/main" id="{8C1A5506-08A1-4B0E-8632-2E6F78D51E3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7-1">
            <a:extLst xmlns:a="http://schemas.openxmlformats.org/drawingml/2006/main">
              <a:ext uri="{FF2B5EF4-FFF2-40B4-BE49-F238E27FC236}">
                <a16:creationId xmlns:a16="http://schemas.microsoft.com/office/drawing/2014/main" id="{617BA323-E5E0-4229-91DB-6D0F0F42900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same dopant label can represent a different exact material when the selected site changes.</a:t>
            </a:r>
          </a:p>
        </p:txBody>
      </p:sp>
      <p:sp>
        <p:nvSpPr>
          <p:cNvPr id="11" name="citation-7">
            <a:extLst xmlns:a="http://schemas.openxmlformats.org/drawingml/2006/main">
              <a:ext uri="{FF2B5EF4-FFF2-40B4-BE49-F238E27FC236}">
                <a16:creationId xmlns:a16="http://schemas.microsoft.com/office/drawing/2014/main" id="{1B5AAFC1-27DD-46B6-B739-F552B41D1A0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01 · substitute_compound.py lineage</a:t>
            </a:r>
          </a:p>
        </p:txBody>
      </p:sp>
      <p:sp>
        <p:nvSpPr>
          <p:cNvPr id="12" name="footer-brand-7">
            <a:extLst xmlns:a="http://schemas.openxmlformats.org/drawingml/2006/main">
              <a:ext uri="{FF2B5EF4-FFF2-40B4-BE49-F238E27FC236}">
                <a16:creationId xmlns:a16="http://schemas.microsoft.com/office/drawing/2014/main" id="{46BC1CC5-3053-4C81-B525-5A06538DED2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7">
            <a:extLst xmlns:a="http://schemas.openxmlformats.org/drawingml/2006/main">
              <a:ext uri="{FF2B5EF4-FFF2-40B4-BE49-F238E27FC236}">
                <a16:creationId xmlns:a16="http://schemas.microsoft.com/office/drawing/2014/main" id="{AF03F0C6-1690-4949-A516-83BE967382B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7">
            <a:extLst xmlns:a="http://schemas.openxmlformats.org/drawingml/2006/main">
              <a:ext uri="{FF2B5EF4-FFF2-40B4-BE49-F238E27FC236}">
                <a16:creationId xmlns:a16="http://schemas.microsoft.com/office/drawing/2014/main" id="{87518756-9244-43BF-AB49-DCB47889BC2A}"/>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7</a:t>
            </a:r>
          </a:p>
        </p:txBody>
      </p:sp>
      <p:sp>
        <p:nvSpPr>
          <p:cNvPr id="15" name="site-input-bg">
            <a:extLst xmlns:a="http://schemas.openxmlformats.org/drawingml/2006/main">
              <a:ext uri="{FF2B5EF4-FFF2-40B4-BE49-F238E27FC236}">
                <a16:creationId xmlns:a16="http://schemas.microsoft.com/office/drawing/2014/main" id="{381A0074-1711-4F6C-A548-D4603B8694A2}"/>
              </a:ext>
            </a:extLst>
          </p:cNvPr>
          <p:cNvSpPr>
            <a:spLocks xmlns:a="http://schemas.openxmlformats.org/drawingml/2006/main" noGrp="1"/>
          </p:cNvSpPr>
          <p:nvPr/>
        </p:nvSpPr>
        <p:spPr>
          <a:xfrm xmlns:a="http://schemas.openxmlformats.org/drawingml/2006/main">
            <a:off x="762000" y="2619375"/>
            <a:ext cx="2095500" cy="1952625"/>
          </a:xfrm>
          <a:prstGeom xmlns:a="http://schemas.openxmlformats.org/drawingml/2006/main" prst="rect">
            <a:avLst/>
          </a:prstGeom>
          <a:solidFill xmlns:a="http://schemas.openxmlformats.org/drawingml/2006/main">
            <a:srgbClr val="EAF2F8"/>
          </a:solidFill>
          <a:ln xmlns:a="http://schemas.openxmlformats.org/drawingml/2006/main" w="9525">
            <a:solidFill>
              <a:srgbClr val="E5E7EB"/>
            </a:solidFill>
            <a:prstDash val="solid"/>
          </a:ln>
        </p:spPr>
      </p:sp>
      <p:sp>
        <p:nvSpPr>
          <p:cNvPr id="16" name="site-input-bar">
            <a:extLst xmlns:a="http://schemas.openxmlformats.org/drawingml/2006/main">
              <a:ext uri="{FF2B5EF4-FFF2-40B4-BE49-F238E27FC236}">
                <a16:creationId xmlns:a16="http://schemas.microsoft.com/office/drawing/2014/main" id="{DDAEF41D-80CB-4A98-BA09-2F987508413F}"/>
              </a:ext>
            </a:extLst>
          </p:cNvPr>
          <p:cNvSpPr>
            <a:spLocks xmlns:a="http://schemas.openxmlformats.org/drawingml/2006/main" noGrp="1"/>
          </p:cNvSpPr>
          <p:nvPr/>
        </p:nvSpPr>
        <p:spPr>
          <a:xfrm xmlns:a="http://schemas.openxmlformats.org/drawingml/2006/main">
            <a:off x="762000" y="2619375"/>
            <a:ext cx="76200" cy="1952625"/>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7" name="site-input-title">
            <a:extLst xmlns:a="http://schemas.openxmlformats.org/drawingml/2006/main">
              <a:ext uri="{FF2B5EF4-FFF2-40B4-BE49-F238E27FC236}">
                <a16:creationId xmlns:a16="http://schemas.microsoft.com/office/drawing/2014/main" id="{2CE16F24-218C-4EBE-9D8E-877B526AAC18}"/>
              </a:ext>
            </a:extLst>
          </p:cNvPr>
          <p:cNvSpPr>
            <a:spLocks xmlns:a="http://schemas.openxmlformats.org/drawingml/2006/main" noGrp="1"/>
          </p:cNvSpPr>
          <p:nvPr/>
        </p:nvSpPr>
        <p:spPr>
          <a:xfrm xmlns:a="http://schemas.openxmlformats.org/drawingml/2006/main">
            <a:off x="952500" y="27622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F4E79"/>
                </a:solidFill>
                <a:latin typeface="Arial"/>
                <a:ea typeface="Arial"/>
                <a:cs typeface="Arial"/>
              </a:defRPr>
            </a:pPr>
            <a:r>
              <a:rPr sz="1275" b="1">
                <a:solidFill>
                  <a:srgbClr val="1F4E79"/>
                </a:solidFill>
                <a:latin typeface="Arial"/>
                <a:ea typeface="Arial"/>
                <a:cs typeface="Arial"/>
              </a:rPr>
              <a:t>Chemical label</a:t>
            </a:r>
          </a:p>
        </p:txBody>
      </p:sp>
      <p:sp>
        <p:nvSpPr>
          <p:cNvPr id="18" name="site-input-body">
            <a:extLst xmlns:a="http://schemas.openxmlformats.org/drawingml/2006/main">
              <a:ext uri="{FF2B5EF4-FFF2-40B4-BE49-F238E27FC236}">
                <a16:creationId xmlns:a16="http://schemas.microsoft.com/office/drawing/2014/main" id="{433E3A31-C53B-420B-B32A-3358E3E08566}"/>
              </a:ext>
            </a:extLst>
          </p:cNvPr>
          <p:cNvSpPr>
            <a:spLocks xmlns:a="http://schemas.openxmlformats.org/drawingml/2006/main" noGrp="1"/>
          </p:cNvSpPr>
          <p:nvPr/>
        </p:nvSpPr>
        <p:spPr>
          <a:xfrm xmlns:a="http://schemas.openxmlformats.org/drawingml/2006/main">
            <a:off x="952500" y="3105150"/>
            <a:ext cx="177165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Example: M₂O₃</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This name alone does not define the simulated structure.</a:t>
            </a:r>
          </a:p>
        </p:txBody>
      </p:sp>
      <p:sp>
        <p:nvSpPr>
          <p:cNvPr id="19" name="site-arrow1">
            <a:extLst xmlns:a="http://schemas.openxmlformats.org/drawingml/2006/main">
              <a:ext uri="{FF2B5EF4-FFF2-40B4-BE49-F238E27FC236}">
                <a16:creationId xmlns:a16="http://schemas.microsoft.com/office/drawing/2014/main" id="{3650B292-8680-4829-876E-021D6B2F26BE}"/>
              </a:ext>
            </a:extLst>
          </p:cNvPr>
          <p:cNvSpPr>
            <a:spLocks xmlns:a="http://schemas.openxmlformats.org/drawingml/2006/main" noGrp="1"/>
          </p:cNvSpPr>
          <p:nvPr/>
        </p:nvSpPr>
        <p:spPr>
          <a:xfrm xmlns:a="http://schemas.openxmlformats.org/drawingml/2006/main">
            <a:off x="3000375" y="3190875"/>
            <a:ext cx="523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a:solidFill>
                  <a:srgbClr val="6B7280"/>
                </a:solidFill>
                <a:latin typeface="Arial"/>
                <a:ea typeface="Arial"/>
                <a:cs typeface="Arial"/>
              </a:defRPr>
            </a:pPr>
            <a:r>
              <a:rPr sz="2550">
                <a:solidFill>
                  <a:srgbClr val="6B7280"/>
                </a:solidFill>
                <a:latin typeface="Arial"/>
                <a:ea typeface="Arial"/>
                <a:cs typeface="Arial"/>
              </a:rPr>
              <a:t>→</a:t>
            </a:r>
          </a:p>
        </p:txBody>
      </p:sp>
      <p:sp>
        <p:nvSpPr>
          <p:cNvPr id="20" name="site-enum-bg">
            <a:extLst xmlns:a="http://schemas.openxmlformats.org/drawingml/2006/main">
              <a:ext uri="{FF2B5EF4-FFF2-40B4-BE49-F238E27FC236}">
                <a16:creationId xmlns:a16="http://schemas.microsoft.com/office/drawing/2014/main" id="{19E6244F-A90B-4A4F-9783-D56E34877139}"/>
              </a:ext>
            </a:extLst>
          </p:cNvPr>
          <p:cNvSpPr>
            <a:spLocks xmlns:a="http://schemas.openxmlformats.org/drawingml/2006/main" noGrp="1"/>
          </p:cNvSpPr>
          <p:nvPr/>
        </p:nvSpPr>
        <p:spPr>
          <a:xfrm xmlns:a="http://schemas.openxmlformats.org/drawingml/2006/main">
            <a:off x="3619500" y="2428875"/>
            <a:ext cx="2190750" cy="2333625"/>
          </a:xfrm>
          <a:prstGeom xmlns:a="http://schemas.openxmlformats.org/drawingml/2006/main" prst="rect">
            <a:avLst/>
          </a:prstGeom>
          <a:solidFill xmlns:a="http://schemas.openxmlformats.org/drawingml/2006/main">
            <a:srgbClr val="FFF7E6"/>
          </a:solidFill>
          <a:ln xmlns:a="http://schemas.openxmlformats.org/drawingml/2006/main" w="9525">
            <a:solidFill>
              <a:srgbClr val="E5E7EB"/>
            </a:solidFill>
            <a:prstDash val="solid"/>
          </a:ln>
        </p:spPr>
      </p:sp>
      <p:sp>
        <p:nvSpPr>
          <p:cNvPr id="21" name="site-enum-bar">
            <a:extLst xmlns:a="http://schemas.openxmlformats.org/drawingml/2006/main">
              <a:ext uri="{FF2B5EF4-FFF2-40B4-BE49-F238E27FC236}">
                <a16:creationId xmlns:a16="http://schemas.microsoft.com/office/drawing/2014/main" id="{E9784F61-91B6-4446-8F89-583ED7B0A3ED}"/>
              </a:ext>
            </a:extLst>
          </p:cNvPr>
          <p:cNvSpPr>
            <a:spLocks xmlns:a="http://schemas.openxmlformats.org/drawingml/2006/main" noGrp="1"/>
          </p:cNvSpPr>
          <p:nvPr/>
        </p:nvSpPr>
        <p:spPr>
          <a:xfrm xmlns:a="http://schemas.openxmlformats.org/drawingml/2006/main">
            <a:off x="3619500" y="2428875"/>
            <a:ext cx="76200" cy="2333625"/>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sp>
      <p:sp>
        <p:nvSpPr>
          <p:cNvPr id="22" name="site-enum-title">
            <a:extLst xmlns:a="http://schemas.openxmlformats.org/drawingml/2006/main">
              <a:ext uri="{FF2B5EF4-FFF2-40B4-BE49-F238E27FC236}">
                <a16:creationId xmlns:a16="http://schemas.microsoft.com/office/drawing/2014/main" id="{7E8F5A1D-C83E-4377-B0BB-826FD489964F}"/>
              </a:ext>
            </a:extLst>
          </p:cNvPr>
          <p:cNvSpPr>
            <a:spLocks xmlns:a="http://schemas.openxmlformats.org/drawingml/2006/main" noGrp="1"/>
          </p:cNvSpPr>
          <p:nvPr/>
        </p:nvSpPr>
        <p:spPr>
          <a:xfrm xmlns:a="http://schemas.openxmlformats.org/drawingml/2006/main">
            <a:off x="3810000" y="257175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C45A14"/>
                </a:solidFill>
                <a:latin typeface="Arial"/>
                <a:ea typeface="Arial"/>
                <a:cs typeface="Arial"/>
              </a:defRPr>
            </a:pPr>
            <a:r>
              <a:rPr sz="1275" b="1">
                <a:solidFill>
                  <a:srgbClr val="C45A14"/>
                </a:solidFill>
                <a:latin typeface="Arial"/>
                <a:ea typeface="Arial"/>
                <a:cs typeface="Arial"/>
              </a:rPr>
              <a:t>Enumerate recipes</a:t>
            </a:r>
          </a:p>
        </p:txBody>
      </p:sp>
      <p:sp>
        <p:nvSpPr>
          <p:cNvPr id="23" name="site-enum-body">
            <a:extLst xmlns:a="http://schemas.openxmlformats.org/drawingml/2006/main">
              <a:ext uri="{FF2B5EF4-FFF2-40B4-BE49-F238E27FC236}">
                <a16:creationId xmlns:a16="http://schemas.microsoft.com/office/drawing/2014/main" id="{6B883015-63FE-4C4E-92EC-0B4BABFB4580}"/>
              </a:ext>
            </a:extLst>
          </p:cNvPr>
          <p:cNvSpPr>
            <a:spLocks xmlns:a="http://schemas.openxmlformats.org/drawingml/2006/main" noGrp="1"/>
          </p:cNvSpPr>
          <p:nvPr/>
        </p:nvSpPr>
        <p:spPr>
          <a:xfrm xmlns:a="http://schemas.openxmlformats.org/drawingml/2006/main">
            <a:off x="3810000" y="2914650"/>
            <a:ext cx="18669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cation sublattice</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anion sublattice</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Li compensation</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initial placement seed</a:t>
            </a:r>
          </a:p>
        </p:txBody>
      </p:sp>
      <p:sp>
        <p:nvSpPr>
          <p:cNvPr id="24" name="site-arrow2">
            <a:extLst xmlns:a="http://schemas.openxmlformats.org/drawingml/2006/main">
              <a:ext uri="{FF2B5EF4-FFF2-40B4-BE49-F238E27FC236}">
                <a16:creationId xmlns:a16="http://schemas.microsoft.com/office/drawing/2014/main" id="{7935D37E-2F50-4BBC-8052-AAC21A8845D7}"/>
              </a:ext>
            </a:extLst>
          </p:cNvPr>
          <p:cNvSpPr>
            <a:spLocks xmlns:a="http://schemas.openxmlformats.org/drawingml/2006/main" noGrp="1"/>
          </p:cNvSpPr>
          <p:nvPr/>
        </p:nvSpPr>
        <p:spPr>
          <a:xfrm xmlns:a="http://schemas.openxmlformats.org/drawingml/2006/main">
            <a:off x="5953125" y="3190875"/>
            <a:ext cx="523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a:solidFill>
                  <a:srgbClr val="6B7280"/>
                </a:solidFill>
                <a:latin typeface="Arial"/>
                <a:ea typeface="Arial"/>
                <a:cs typeface="Arial"/>
              </a:defRPr>
            </a:pPr>
            <a:r>
              <a:rPr sz="2550">
                <a:solidFill>
                  <a:srgbClr val="6B7280"/>
                </a:solidFill>
                <a:latin typeface="Arial"/>
                <a:ea typeface="Arial"/>
                <a:cs typeface="Arial"/>
              </a:rPr>
              <a:t>→</a:t>
            </a:r>
          </a:p>
        </p:txBody>
      </p:sp>
      <p:sp>
        <p:nvSpPr>
          <p:cNvPr id="25" name="site-output-bg">
            <a:extLst xmlns:a="http://schemas.openxmlformats.org/drawingml/2006/main">
              <a:ext uri="{FF2B5EF4-FFF2-40B4-BE49-F238E27FC236}">
                <a16:creationId xmlns:a16="http://schemas.microsoft.com/office/drawing/2014/main" id="{24BD0F00-9D97-45AF-80E0-CB445E934883}"/>
              </a:ext>
            </a:extLst>
          </p:cNvPr>
          <p:cNvSpPr>
            <a:spLocks xmlns:a="http://schemas.openxmlformats.org/drawingml/2006/main" noGrp="1"/>
          </p:cNvSpPr>
          <p:nvPr/>
        </p:nvSpPr>
        <p:spPr>
          <a:xfrm xmlns:a="http://schemas.openxmlformats.org/drawingml/2006/main">
            <a:off x="6572250" y="2619375"/>
            <a:ext cx="1809750" cy="1952625"/>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26" name="site-output-bar">
            <a:extLst xmlns:a="http://schemas.openxmlformats.org/drawingml/2006/main">
              <a:ext uri="{FF2B5EF4-FFF2-40B4-BE49-F238E27FC236}">
                <a16:creationId xmlns:a16="http://schemas.microsoft.com/office/drawing/2014/main" id="{AFD4ACD5-28E3-4927-A2F2-3AD0D66057D1}"/>
              </a:ext>
            </a:extLst>
          </p:cNvPr>
          <p:cNvSpPr>
            <a:spLocks xmlns:a="http://schemas.openxmlformats.org/drawingml/2006/main" noGrp="1"/>
          </p:cNvSpPr>
          <p:nvPr/>
        </p:nvSpPr>
        <p:spPr>
          <a:xfrm xmlns:a="http://schemas.openxmlformats.org/drawingml/2006/main">
            <a:off x="6572250" y="2619375"/>
            <a:ext cx="76200" cy="1952625"/>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27" name="site-output-title">
            <a:extLst xmlns:a="http://schemas.openxmlformats.org/drawingml/2006/main">
              <a:ext uri="{FF2B5EF4-FFF2-40B4-BE49-F238E27FC236}">
                <a16:creationId xmlns:a16="http://schemas.microsoft.com/office/drawing/2014/main" id="{DD6041D0-D454-469A-B58E-7926618574E2}"/>
              </a:ext>
            </a:extLst>
          </p:cNvPr>
          <p:cNvSpPr>
            <a:spLocks xmlns:a="http://schemas.openxmlformats.org/drawingml/2006/main" noGrp="1"/>
          </p:cNvSpPr>
          <p:nvPr/>
        </p:nvSpPr>
        <p:spPr>
          <a:xfrm xmlns:a="http://schemas.openxmlformats.org/drawingml/2006/main">
            <a:off x="6762750" y="27622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0D9488"/>
                </a:solidFill>
                <a:latin typeface="Arial"/>
                <a:ea typeface="Arial"/>
                <a:cs typeface="Arial"/>
              </a:defRPr>
            </a:pPr>
            <a:r>
              <a:rPr sz="1275" b="1">
                <a:solidFill>
                  <a:srgbClr val="0D9488"/>
                </a:solidFill>
                <a:latin typeface="Arial"/>
                <a:ea typeface="Arial"/>
                <a:cs typeface="Arial"/>
              </a:rPr>
              <a:t>Exact candidates</a:t>
            </a:r>
          </a:p>
        </p:txBody>
      </p:sp>
      <p:sp>
        <p:nvSpPr>
          <p:cNvPr id="28" name="site-output-body">
            <a:extLst xmlns:a="http://schemas.openxmlformats.org/drawingml/2006/main">
              <a:ext uri="{FF2B5EF4-FFF2-40B4-BE49-F238E27FC236}">
                <a16:creationId xmlns:a16="http://schemas.microsoft.com/office/drawing/2014/main" id="{EB3DC35D-1F85-455E-A794-0A42E66713B6}"/>
              </a:ext>
            </a:extLst>
          </p:cNvPr>
          <p:cNvSpPr>
            <a:spLocks xmlns:a="http://schemas.openxmlformats.org/drawingml/2006/main" noGrp="1"/>
          </p:cNvSpPr>
          <p:nvPr/>
        </p:nvSpPr>
        <p:spPr>
          <a:xfrm xmlns:a="http://schemas.openxmlformats.org/drawingml/2006/main">
            <a:off x="6762750" y="3105150"/>
            <a:ext cx="14859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formula + site + seed</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Each record is a distinct configuration.</a:t>
            </a:r>
          </a:p>
        </p:txBody>
      </p:sp>
      <p:sp>
        <p:nvSpPr>
          <p:cNvPr id="29" name="site-warning">
            <a:extLst xmlns:a="http://schemas.openxmlformats.org/drawingml/2006/main">
              <a:ext uri="{FF2B5EF4-FFF2-40B4-BE49-F238E27FC236}">
                <a16:creationId xmlns:a16="http://schemas.microsoft.com/office/drawing/2014/main" id="{0AE51BE8-5517-4C16-96A0-C31342CF6873}"/>
              </a:ext>
            </a:extLst>
          </p:cNvPr>
          <p:cNvSpPr>
            <a:spLocks xmlns:a="http://schemas.openxmlformats.org/drawingml/2006/main" noGrp="1"/>
          </p:cNvSpPr>
          <p:nvPr/>
        </p:nvSpPr>
        <p:spPr>
          <a:xfrm xmlns:a="http://schemas.openxmlformats.org/drawingml/2006/main">
            <a:off x="1952625" y="5191125"/>
            <a:ext cx="5238750" cy="38100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088" b="1">
                <a:solidFill>
                  <a:srgbClr val="FFFFFF"/>
                </a:solidFill>
                <a:latin typeface="Arial"/>
                <a:ea typeface="Arial"/>
                <a:cs typeface="Arial"/>
              </a:defRPr>
            </a:pPr>
            <a:r>
              <a:rPr sz="1088" b="1">
                <a:solidFill>
                  <a:srgbClr val="FFFFFF"/>
                </a:solidFill>
                <a:latin typeface="Arial"/>
                <a:ea typeface="Arial"/>
                <a:cs typeface="Arial"/>
              </a:rPr>
              <a:t>31 / 90 chemistries changed exact formula across the three campaign labels</a:t>
            </a:r>
          </a:p>
        </p:txBody>
      </p:sp>
    </p:spTree>
    <p:extLst>
      <p:ext uri="{BB962C8B-B14F-4D97-AF65-F5344CB8AC3E}">
        <p14:creationId xmlns:p14="http://schemas.microsoft.com/office/powerpoint/2010/main" val="12912558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8" name="bg-8">
            <a:extLst xmlns:a="http://schemas.openxmlformats.org/drawingml/2006/main">
              <a:ext uri="{FF2B5EF4-FFF2-40B4-BE49-F238E27FC236}">
                <a16:creationId xmlns:a16="http://schemas.microsoft.com/office/drawing/2014/main" id="{9C659025-4049-4965-A0DC-5F97C470B5C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8">
            <a:extLst xmlns:a="http://schemas.openxmlformats.org/drawingml/2006/main">
              <a:ext uri="{FF2B5EF4-FFF2-40B4-BE49-F238E27FC236}">
                <a16:creationId xmlns:a16="http://schemas.microsoft.com/office/drawing/2014/main" id="{ACFF66F3-C828-44B7-A06E-BD3A7DA00A0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143"/>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3 — Fast relaxation</a:t>
            </a:r>
          </a:p>
        </p:txBody>
      </p:sp>
      <p:sp>
        <p:nvSpPr>
          <p:cNvPr id="3" name="terms-8">
            <a:extLst xmlns:a="http://schemas.openxmlformats.org/drawingml/2006/main">
              <a:ext uri="{FF2B5EF4-FFF2-40B4-BE49-F238E27FC236}">
                <a16:creationId xmlns:a16="http://schemas.microsoft.com/office/drawing/2014/main" id="{4B35C2AA-6235-442E-9E33-3413BCE4021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MLIP: machine-learned interatomic potential  ·  Relaxation: reduce forces and stress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Relative screen energy: comparable only inside the same UMA protocol</a:t>
            </a:r>
          </a:p>
        </p:txBody>
      </p:sp>
      <p:sp>
        <p:nvSpPr>
          <p:cNvPr id="4" name="divider-8">
            <a:extLst xmlns:a="http://schemas.openxmlformats.org/drawingml/2006/main">
              <a:ext uri="{FF2B5EF4-FFF2-40B4-BE49-F238E27FC236}">
                <a16:creationId xmlns:a16="http://schemas.microsoft.com/office/drawing/2014/main" id="{A965172E-EC5B-48C2-8B74-D22D2EC3933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8">
            <a:extLst xmlns:a="http://schemas.openxmlformats.org/drawingml/2006/main">
              <a:ext uri="{FF2B5EF4-FFF2-40B4-BE49-F238E27FC236}">
                <a16:creationId xmlns:a16="http://schemas.microsoft.com/office/drawing/2014/main" id="{0CC4BAF0-C91D-4A24-87A3-B2BDCA8DDCB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8">
            <a:extLst xmlns:a="http://schemas.openxmlformats.org/drawingml/2006/main">
              <a:ext uri="{FF2B5EF4-FFF2-40B4-BE49-F238E27FC236}">
                <a16:creationId xmlns:a16="http://schemas.microsoft.com/office/drawing/2014/main" id="{3594EC4D-313A-4B29-90B2-16FFF0C32D9F}"/>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Use UMA to remove obviously poor structures before expensive calculations</a:t>
            </a:r>
          </a:p>
        </p:txBody>
      </p:sp>
      <p:sp>
        <p:nvSpPr>
          <p:cNvPr id="7" name="bullet-dot-8-0">
            <a:extLst xmlns:a="http://schemas.openxmlformats.org/drawingml/2006/main">
              <a:ext uri="{FF2B5EF4-FFF2-40B4-BE49-F238E27FC236}">
                <a16:creationId xmlns:a16="http://schemas.microsoft.com/office/drawing/2014/main" id="{5F2C4AE9-ADF1-4FA4-97DC-64A9FEF49CB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8-0">
            <a:extLst xmlns:a="http://schemas.openxmlformats.org/drawingml/2006/main">
              <a:ext uri="{FF2B5EF4-FFF2-40B4-BE49-F238E27FC236}">
                <a16:creationId xmlns:a16="http://schemas.microsoft.com/office/drawing/2014/main" id="{185DA0CD-C30F-4B43-A41C-574D54D0CBC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Each generated structure is relaxed and checked for convergence, distortion, and relative energy.</a:t>
            </a:r>
          </a:p>
        </p:txBody>
      </p:sp>
      <p:sp>
        <p:nvSpPr>
          <p:cNvPr id="9" name="bullet-dot-8-1">
            <a:extLst xmlns:a="http://schemas.openxmlformats.org/drawingml/2006/main">
              <a:ext uri="{FF2B5EF4-FFF2-40B4-BE49-F238E27FC236}">
                <a16:creationId xmlns:a16="http://schemas.microsoft.com/office/drawing/2014/main" id="{17B86401-BE1D-48D3-9A59-F53D9CA2BD2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8-1">
            <a:extLst xmlns:a="http://schemas.openxmlformats.org/drawingml/2006/main">
              <a:ext uri="{FF2B5EF4-FFF2-40B4-BE49-F238E27FC236}">
                <a16:creationId xmlns:a16="http://schemas.microsoft.com/office/drawing/2014/main" id="{DD58248A-31CC-4D85-8B31-03F018264B2D}"/>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output is a screening result—not DFT formation energy or convex-hull stability.</a:t>
            </a:r>
          </a:p>
        </p:txBody>
      </p:sp>
      <p:sp>
        <p:nvSpPr>
          <p:cNvPr id="11" name="citation-8">
            <a:extLst xmlns:a="http://schemas.openxmlformats.org/drawingml/2006/main">
              <a:ext uri="{FF2B5EF4-FFF2-40B4-BE49-F238E27FC236}">
                <a16:creationId xmlns:a16="http://schemas.microsoft.com/office/drawing/2014/main" id="{49D07D5D-7D97-43A4-8188-397C3D1E5ADC}"/>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02 · UMA-s-1p1 / omat</a:t>
            </a:r>
          </a:p>
        </p:txBody>
      </p:sp>
      <p:sp>
        <p:nvSpPr>
          <p:cNvPr id="12" name="footer-brand-8">
            <a:extLst xmlns:a="http://schemas.openxmlformats.org/drawingml/2006/main">
              <a:ext uri="{FF2B5EF4-FFF2-40B4-BE49-F238E27FC236}">
                <a16:creationId xmlns:a16="http://schemas.microsoft.com/office/drawing/2014/main" id="{4A188F76-D1EB-4DD3-B474-5E66AB953DA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8">
            <a:extLst xmlns:a="http://schemas.openxmlformats.org/drawingml/2006/main">
              <a:ext uri="{FF2B5EF4-FFF2-40B4-BE49-F238E27FC236}">
                <a16:creationId xmlns:a16="http://schemas.microsoft.com/office/drawing/2014/main" id="{C342A7D7-8C05-45A2-9727-7866E042E16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8">
            <a:extLst xmlns:a="http://schemas.openxmlformats.org/drawingml/2006/main">
              <a:ext uri="{FF2B5EF4-FFF2-40B4-BE49-F238E27FC236}">
                <a16:creationId xmlns:a16="http://schemas.microsoft.com/office/drawing/2014/main" id="{AE5D586F-2405-4755-B629-60492BC7B23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8</a:t>
            </a:r>
          </a:p>
        </p:txBody>
      </p:sp>
      <p:sp>
        <p:nvSpPr>
          <p:cNvPr id="15" name="step3-box-0">
            <a:extLst xmlns:a="http://schemas.openxmlformats.org/drawingml/2006/main">
              <a:ext uri="{FF2B5EF4-FFF2-40B4-BE49-F238E27FC236}">
                <a16:creationId xmlns:a16="http://schemas.microsoft.com/office/drawing/2014/main" id="{EA7FA992-0904-4BD2-8E4B-73BBA467C029}"/>
              </a:ext>
            </a:extLst>
          </p:cNvPr>
          <p:cNvSpPr>
            <a:spLocks xmlns:a="http://schemas.openxmlformats.org/drawingml/2006/main" noGrp="1"/>
          </p:cNvSpPr>
          <p:nvPr/>
        </p:nvSpPr>
        <p:spPr>
          <a:xfrm xmlns:a="http://schemas.openxmlformats.org/drawingml/2006/main">
            <a:off x="666750"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F4E79"/>
            </a:solidFill>
            <a:prstDash val="solid"/>
          </a:ln>
        </p:spPr>
      </p:sp>
      <p:sp>
        <p:nvSpPr>
          <p:cNvPr id="16" name="step3-num-0">
            <a:extLst xmlns:a="http://schemas.openxmlformats.org/drawingml/2006/main">
              <a:ext uri="{FF2B5EF4-FFF2-40B4-BE49-F238E27FC236}">
                <a16:creationId xmlns:a16="http://schemas.microsoft.com/office/drawing/2014/main" id="{F1D0100C-00A7-4AB9-A86C-BE7E7C21F45A}"/>
              </a:ext>
            </a:extLst>
          </p:cNvPr>
          <p:cNvSpPr>
            <a:spLocks xmlns:a="http://schemas.openxmlformats.org/drawingml/2006/main" noGrp="1"/>
          </p:cNvSpPr>
          <p:nvPr/>
        </p:nvSpPr>
        <p:spPr>
          <a:xfrm xmlns:a="http://schemas.openxmlformats.org/drawingml/2006/main">
            <a:off x="781050"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F4E79"/>
                </a:solidFill>
                <a:latin typeface="Arial"/>
                <a:ea typeface="Arial"/>
                <a:cs typeface="Arial"/>
              </a:defRPr>
            </a:pPr>
            <a:r>
              <a:rPr sz="900" b="1">
                <a:solidFill>
                  <a:srgbClr val="1F4E79"/>
                </a:solidFill>
                <a:latin typeface="Arial"/>
                <a:ea typeface="Arial"/>
                <a:cs typeface="Arial"/>
              </a:rPr>
              <a:t>01</a:t>
            </a:r>
          </a:p>
        </p:txBody>
      </p:sp>
      <p:sp>
        <p:nvSpPr>
          <p:cNvPr id="17" name="step3-text-0">
            <a:extLst xmlns:a="http://schemas.openxmlformats.org/drawingml/2006/main">
              <a:ext uri="{FF2B5EF4-FFF2-40B4-BE49-F238E27FC236}">
                <a16:creationId xmlns:a16="http://schemas.microsoft.com/office/drawing/2014/main" id="{777E763A-73D8-4FC4-9831-C094F42DB381}"/>
              </a:ext>
            </a:extLst>
          </p:cNvPr>
          <p:cNvSpPr>
            <a:spLocks xmlns:a="http://schemas.openxmlformats.org/drawingml/2006/main" noGrp="1"/>
          </p:cNvSpPr>
          <p:nvPr/>
        </p:nvSpPr>
        <p:spPr>
          <a:xfrm xmlns:a="http://schemas.openxmlformats.org/drawingml/2006/main">
            <a:off x="809625"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GENERATED</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STRUCTURES</a:t>
            </a:r>
          </a:p>
        </p:txBody>
      </p:sp>
      <p:sp>
        <p:nvSpPr>
          <p:cNvPr id="18" name="step3-arrow-0">
            <a:extLst xmlns:a="http://schemas.openxmlformats.org/drawingml/2006/main">
              <a:ext uri="{FF2B5EF4-FFF2-40B4-BE49-F238E27FC236}">
                <a16:creationId xmlns:a16="http://schemas.microsoft.com/office/drawing/2014/main" id="{D7A0D90E-892C-4788-B9F9-EE64798DCE18}"/>
              </a:ext>
            </a:extLst>
          </p:cNvPr>
          <p:cNvSpPr>
            <a:spLocks xmlns:a="http://schemas.openxmlformats.org/drawingml/2006/main" noGrp="1"/>
          </p:cNvSpPr>
          <p:nvPr/>
        </p:nvSpPr>
        <p:spPr>
          <a:xfrm xmlns:a="http://schemas.openxmlformats.org/drawingml/2006/main">
            <a:off x="2357438"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19" name="step3-box-1">
            <a:extLst xmlns:a="http://schemas.openxmlformats.org/drawingml/2006/main">
              <a:ext uri="{FF2B5EF4-FFF2-40B4-BE49-F238E27FC236}">
                <a16:creationId xmlns:a16="http://schemas.microsoft.com/office/drawing/2014/main" id="{EB57E198-9B7D-4781-B33C-642D78EF5BE5}"/>
              </a:ext>
            </a:extLst>
          </p:cNvPr>
          <p:cNvSpPr>
            <a:spLocks xmlns:a="http://schemas.openxmlformats.org/drawingml/2006/main" noGrp="1"/>
          </p:cNvSpPr>
          <p:nvPr/>
        </p:nvSpPr>
        <p:spPr>
          <a:xfrm xmlns:a="http://schemas.openxmlformats.org/drawingml/2006/main">
            <a:off x="2719388"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D9488"/>
            </a:solidFill>
            <a:prstDash val="solid"/>
          </a:ln>
        </p:spPr>
      </p:sp>
      <p:sp>
        <p:nvSpPr>
          <p:cNvPr id="20" name="step3-num-1">
            <a:extLst xmlns:a="http://schemas.openxmlformats.org/drawingml/2006/main">
              <a:ext uri="{FF2B5EF4-FFF2-40B4-BE49-F238E27FC236}">
                <a16:creationId xmlns:a16="http://schemas.microsoft.com/office/drawing/2014/main" id="{7FAB6F8D-F599-447C-8BAD-76D2458C5D95}"/>
              </a:ext>
            </a:extLst>
          </p:cNvPr>
          <p:cNvSpPr>
            <a:spLocks xmlns:a="http://schemas.openxmlformats.org/drawingml/2006/main" noGrp="1"/>
          </p:cNvSpPr>
          <p:nvPr/>
        </p:nvSpPr>
        <p:spPr>
          <a:xfrm xmlns:a="http://schemas.openxmlformats.org/drawingml/2006/main">
            <a:off x="2833688"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0D9488"/>
                </a:solidFill>
                <a:latin typeface="Arial"/>
                <a:ea typeface="Arial"/>
                <a:cs typeface="Arial"/>
              </a:defRPr>
            </a:pPr>
            <a:r>
              <a:rPr sz="900" b="1">
                <a:solidFill>
                  <a:srgbClr val="0D9488"/>
                </a:solidFill>
                <a:latin typeface="Arial"/>
                <a:ea typeface="Arial"/>
                <a:cs typeface="Arial"/>
              </a:rPr>
              <a:t>02</a:t>
            </a:r>
          </a:p>
        </p:txBody>
      </p:sp>
      <p:sp>
        <p:nvSpPr>
          <p:cNvPr id="21" name="step3-text-1">
            <a:extLst xmlns:a="http://schemas.openxmlformats.org/drawingml/2006/main">
              <a:ext uri="{FF2B5EF4-FFF2-40B4-BE49-F238E27FC236}">
                <a16:creationId xmlns:a16="http://schemas.microsoft.com/office/drawing/2014/main" id="{3B5013F1-F540-4316-A4E9-6C21F2FDD760}"/>
              </a:ext>
            </a:extLst>
          </p:cNvPr>
          <p:cNvSpPr>
            <a:spLocks xmlns:a="http://schemas.openxmlformats.org/drawingml/2006/main" noGrp="1"/>
          </p:cNvSpPr>
          <p:nvPr/>
        </p:nvSpPr>
        <p:spPr>
          <a:xfrm xmlns:a="http://schemas.openxmlformats.org/drawingml/2006/main">
            <a:off x="2862263"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UMA</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RELAXATION</a:t>
            </a:r>
          </a:p>
        </p:txBody>
      </p:sp>
      <p:sp>
        <p:nvSpPr>
          <p:cNvPr id="22" name="step3-arrow-1">
            <a:extLst xmlns:a="http://schemas.openxmlformats.org/drawingml/2006/main">
              <a:ext uri="{FF2B5EF4-FFF2-40B4-BE49-F238E27FC236}">
                <a16:creationId xmlns:a16="http://schemas.microsoft.com/office/drawing/2014/main" id="{E015D966-6775-4213-8DED-985290987848}"/>
              </a:ext>
            </a:extLst>
          </p:cNvPr>
          <p:cNvSpPr>
            <a:spLocks xmlns:a="http://schemas.openxmlformats.org/drawingml/2006/main" noGrp="1"/>
          </p:cNvSpPr>
          <p:nvPr/>
        </p:nvSpPr>
        <p:spPr>
          <a:xfrm xmlns:a="http://schemas.openxmlformats.org/drawingml/2006/main">
            <a:off x="4410075"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3" name="step3-box-2">
            <a:extLst xmlns:a="http://schemas.openxmlformats.org/drawingml/2006/main">
              <a:ext uri="{FF2B5EF4-FFF2-40B4-BE49-F238E27FC236}">
                <a16:creationId xmlns:a16="http://schemas.microsoft.com/office/drawing/2014/main" id="{18C5EE56-0B1E-430E-B19A-54AE4C87DACD}"/>
              </a:ext>
            </a:extLst>
          </p:cNvPr>
          <p:cNvSpPr>
            <a:spLocks xmlns:a="http://schemas.openxmlformats.org/drawingml/2006/main" noGrp="1"/>
          </p:cNvSpPr>
          <p:nvPr/>
        </p:nvSpPr>
        <p:spPr>
          <a:xfrm xmlns:a="http://schemas.openxmlformats.org/drawingml/2006/main">
            <a:off x="4772025"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C45A14"/>
            </a:solidFill>
            <a:prstDash val="solid"/>
          </a:ln>
        </p:spPr>
      </p:sp>
      <p:sp>
        <p:nvSpPr>
          <p:cNvPr id="24" name="step3-num-2">
            <a:extLst xmlns:a="http://schemas.openxmlformats.org/drawingml/2006/main">
              <a:ext uri="{FF2B5EF4-FFF2-40B4-BE49-F238E27FC236}">
                <a16:creationId xmlns:a16="http://schemas.microsoft.com/office/drawing/2014/main" id="{37884075-AFB8-409B-B2BF-4FE86090760D}"/>
              </a:ext>
            </a:extLst>
          </p:cNvPr>
          <p:cNvSpPr>
            <a:spLocks xmlns:a="http://schemas.openxmlformats.org/drawingml/2006/main" noGrp="1"/>
          </p:cNvSpPr>
          <p:nvPr/>
        </p:nvSpPr>
        <p:spPr>
          <a:xfrm xmlns:a="http://schemas.openxmlformats.org/drawingml/2006/main">
            <a:off x="4886325"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C45A14"/>
                </a:solidFill>
                <a:latin typeface="Arial"/>
                <a:ea typeface="Arial"/>
                <a:cs typeface="Arial"/>
              </a:defRPr>
            </a:pPr>
            <a:r>
              <a:rPr sz="900" b="1">
                <a:solidFill>
                  <a:srgbClr val="C45A14"/>
                </a:solidFill>
                <a:latin typeface="Arial"/>
                <a:ea typeface="Arial"/>
                <a:cs typeface="Arial"/>
              </a:rPr>
              <a:t>03</a:t>
            </a:r>
          </a:p>
        </p:txBody>
      </p:sp>
      <p:sp>
        <p:nvSpPr>
          <p:cNvPr id="25" name="step3-text-2">
            <a:extLst xmlns:a="http://schemas.openxmlformats.org/drawingml/2006/main">
              <a:ext uri="{FF2B5EF4-FFF2-40B4-BE49-F238E27FC236}">
                <a16:creationId xmlns:a16="http://schemas.microsoft.com/office/drawing/2014/main" id="{44257505-4C47-4605-8594-0568D82AD625}"/>
              </a:ext>
            </a:extLst>
          </p:cNvPr>
          <p:cNvSpPr>
            <a:spLocks xmlns:a="http://schemas.openxmlformats.org/drawingml/2006/main" noGrp="1"/>
          </p:cNvSpPr>
          <p:nvPr/>
        </p:nvSpPr>
        <p:spPr>
          <a:xfrm xmlns:a="http://schemas.openxmlformats.org/drawingml/2006/main">
            <a:off x="4914900"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CONVERGENCE &amp;</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DISTORTION CHECK</a:t>
            </a:r>
          </a:p>
        </p:txBody>
      </p:sp>
      <p:sp>
        <p:nvSpPr>
          <p:cNvPr id="26" name="step3-arrow-2">
            <a:extLst xmlns:a="http://schemas.openxmlformats.org/drawingml/2006/main">
              <a:ext uri="{FF2B5EF4-FFF2-40B4-BE49-F238E27FC236}">
                <a16:creationId xmlns:a16="http://schemas.microsoft.com/office/drawing/2014/main" id="{D082A20D-8979-47C0-81D5-896A99F36945}"/>
              </a:ext>
            </a:extLst>
          </p:cNvPr>
          <p:cNvSpPr>
            <a:spLocks xmlns:a="http://schemas.openxmlformats.org/drawingml/2006/main" noGrp="1"/>
          </p:cNvSpPr>
          <p:nvPr/>
        </p:nvSpPr>
        <p:spPr>
          <a:xfrm xmlns:a="http://schemas.openxmlformats.org/drawingml/2006/main">
            <a:off x="6462713"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7" name="step3-box-3">
            <a:extLst xmlns:a="http://schemas.openxmlformats.org/drawingml/2006/main">
              <a:ext uri="{FF2B5EF4-FFF2-40B4-BE49-F238E27FC236}">
                <a16:creationId xmlns:a16="http://schemas.microsoft.com/office/drawing/2014/main" id="{3B9E1329-8E8A-4429-94BA-567700BEC488}"/>
              </a:ext>
            </a:extLst>
          </p:cNvPr>
          <p:cNvSpPr>
            <a:spLocks xmlns:a="http://schemas.openxmlformats.org/drawingml/2006/main" noGrp="1"/>
          </p:cNvSpPr>
          <p:nvPr/>
        </p:nvSpPr>
        <p:spPr>
          <a:xfrm xmlns:a="http://schemas.openxmlformats.org/drawingml/2006/main">
            <a:off x="6824663"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5803D"/>
            </a:solidFill>
            <a:prstDash val="solid"/>
          </a:ln>
        </p:spPr>
      </p:sp>
      <p:sp>
        <p:nvSpPr>
          <p:cNvPr id="28" name="step3-num-3">
            <a:extLst xmlns:a="http://schemas.openxmlformats.org/drawingml/2006/main">
              <a:ext uri="{FF2B5EF4-FFF2-40B4-BE49-F238E27FC236}">
                <a16:creationId xmlns:a16="http://schemas.microsoft.com/office/drawing/2014/main" id="{A4495B17-9C03-4F7E-8812-0AE56BAADF88}"/>
              </a:ext>
            </a:extLst>
          </p:cNvPr>
          <p:cNvSpPr>
            <a:spLocks xmlns:a="http://schemas.openxmlformats.org/drawingml/2006/main" noGrp="1"/>
          </p:cNvSpPr>
          <p:nvPr/>
        </p:nvSpPr>
        <p:spPr>
          <a:xfrm xmlns:a="http://schemas.openxmlformats.org/drawingml/2006/main">
            <a:off x="6938963"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5803D"/>
                </a:solidFill>
                <a:latin typeface="Arial"/>
                <a:ea typeface="Arial"/>
                <a:cs typeface="Arial"/>
              </a:defRPr>
            </a:pPr>
            <a:r>
              <a:rPr sz="900" b="1">
                <a:solidFill>
                  <a:srgbClr val="15803D"/>
                </a:solidFill>
                <a:latin typeface="Arial"/>
                <a:ea typeface="Arial"/>
                <a:cs typeface="Arial"/>
              </a:rPr>
              <a:t>04</a:t>
            </a:r>
          </a:p>
        </p:txBody>
      </p:sp>
      <p:sp>
        <p:nvSpPr>
          <p:cNvPr id="29" name="step3-text-3">
            <a:extLst xmlns:a="http://schemas.openxmlformats.org/drawingml/2006/main">
              <a:ext uri="{FF2B5EF4-FFF2-40B4-BE49-F238E27FC236}">
                <a16:creationId xmlns:a16="http://schemas.microsoft.com/office/drawing/2014/main" id="{094D8885-681D-4050-8B28-96C81172C75E}"/>
              </a:ext>
            </a:extLst>
          </p:cNvPr>
          <p:cNvSpPr>
            <a:spLocks xmlns:a="http://schemas.openxmlformats.org/drawingml/2006/main" noGrp="1"/>
          </p:cNvSpPr>
          <p:nvPr/>
        </p:nvSpPr>
        <p:spPr>
          <a:xfrm xmlns:a="http://schemas.openxmlformats.org/drawingml/2006/main">
            <a:off x="6967538"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SCREENING</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RECORDS</a:t>
            </a:r>
          </a:p>
        </p:txBody>
      </p:sp>
      <p:sp>
        <p:nvSpPr>
          <p:cNvPr id="30" name="step3-keep-bg">
            <a:extLst xmlns:a="http://schemas.openxmlformats.org/drawingml/2006/main">
              <a:ext uri="{FF2B5EF4-FFF2-40B4-BE49-F238E27FC236}">
                <a16:creationId xmlns:a16="http://schemas.microsoft.com/office/drawing/2014/main" id="{D9F499F0-B971-46BA-9118-875225768024}"/>
              </a:ext>
            </a:extLst>
          </p:cNvPr>
          <p:cNvSpPr>
            <a:spLocks xmlns:a="http://schemas.openxmlformats.org/drawingml/2006/main" noGrp="1"/>
          </p:cNvSpPr>
          <p:nvPr/>
        </p:nvSpPr>
        <p:spPr>
          <a:xfrm xmlns:a="http://schemas.openxmlformats.org/drawingml/2006/main">
            <a:off x="1143000" y="4524375"/>
            <a:ext cx="2857500" cy="1095375"/>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31" name="step3-keep-bar">
            <a:extLst xmlns:a="http://schemas.openxmlformats.org/drawingml/2006/main">
              <a:ext uri="{FF2B5EF4-FFF2-40B4-BE49-F238E27FC236}">
                <a16:creationId xmlns:a16="http://schemas.microsoft.com/office/drawing/2014/main" id="{9474DAA6-473C-4700-B524-3F0A8A3850CC}"/>
              </a:ext>
            </a:extLst>
          </p:cNvPr>
          <p:cNvSpPr>
            <a:spLocks xmlns:a="http://schemas.openxmlformats.org/drawingml/2006/main" noGrp="1"/>
          </p:cNvSpPr>
          <p:nvPr/>
        </p:nvSpPr>
        <p:spPr>
          <a:xfrm xmlns:a="http://schemas.openxmlformats.org/drawingml/2006/main">
            <a:off x="1143000" y="4524375"/>
            <a:ext cx="76200" cy="1095375"/>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2" name="step3-keep-title">
            <a:extLst xmlns:a="http://schemas.openxmlformats.org/drawingml/2006/main">
              <a:ext uri="{FF2B5EF4-FFF2-40B4-BE49-F238E27FC236}">
                <a16:creationId xmlns:a16="http://schemas.microsoft.com/office/drawing/2014/main" id="{9C058836-AC1E-4EE1-8B4D-54C1E5C9E898}"/>
              </a:ext>
            </a:extLst>
          </p:cNvPr>
          <p:cNvSpPr>
            <a:spLocks xmlns:a="http://schemas.openxmlformats.org/drawingml/2006/main" noGrp="1"/>
          </p:cNvSpPr>
          <p:nvPr/>
        </p:nvSpPr>
        <p:spPr>
          <a:xfrm xmlns:a="http://schemas.openxmlformats.org/drawingml/2006/main">
            <a:off x="1333500" y="4667250"/>
            <a:ext cx="253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5803D"/>
                </a:solidFill>
                <a:latin typeface="Arial"/>
                <a:ea typeface="Arial"/>
                <a:cs typeface="Arial"/>
              </a:defRPr>
            </a:pPr>
            <a:r>
              <a:rPr sz="1275" b="1">
                <a:solidFill>
                  <a:srgbClr val="15803D"/>
                </a:solidFill>
                <a:latin typeface="Arial"/>
                <a:ea typeface="Arial"/>
                <a:cs typeface="Arial"/>
              </a:rPr>
              <a:t>What it is good for</a:t>
            </a:r>
          </a:p>
        </p:txBody>
      </p:sp>
      <p:sp>
        <p:nvSpPr>
          <p:cNvPr id="33" name="step3-keep-body">
            <a:extLst xmlns:a="http://schemas.openxmlformats.org/drawingml/2006/main">
              <a:ext uri="{FF2B5EF4-FFF2-40B4-BE49-F238E27FC236}">
                <a16:creationId xmlns:a16="http://schemas.microsoft.com/office/drawing/2014/main" id="{A7B44302-ABD0-4F8D-81C7-58D076081BAB}"/>
              </a:ext>
            </a:extLst>
          </p:cNvPr>
          <p:cNvSpPr>
            <a:spLocks xmlns:a="http://schemas.openxmlformats.org/drawingml/2006/main" noGrp="1"/>
          </p:cNvSpPr>
          <p:nvPr/>
        </p:nvSpPr>
        <p:spPr>
          <a:xfrm xmlns:a="http://schemas.openxmlformats.org/drawingml/2006/main">
            <a:off x="1333500" y="5010150"/>
            <a:ext cx="2533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Broad, inexpensive structure triage within one model lineage.</a:t>
            </a:r>
          </a:p>
        </p:txBody>
      </p:sp>
      <p:sp>
        <p:nvSpPr>
          <p:cNvPr id="34" name="step3-stop-bg">
            <a:extLst xmlns:a="http://schemas.openxmlformats.org/drawingml/2006/main">
              <a:ext uri="{FF2B5EF4-FFF2-40B4-BE49-F238E27FC236}">
                <a16:creationId xmlns:a16="http://schemas.microsoft.com/office/drawing/2014/main" id="{6AB9019F-5562-4C7C-A0C6-B71BA0A7EE11}"/>
              </a:ext>
            </a:extLst>
          </p:cNvPr>
          <p:cNvSpPr>
            <a:spLocks xmlns:a="http://schemas.openxmlformats.org/drawingml/2006/main" noGrp="1"/>
          </p:cNvSpPr>
          <p:nvPr/>
        </p:nvSpPr>
        <p:spPr>
          <a:xfrm xmlns:a="http://schemas.openxmlformats.org/drawingml/2006/main">
            <a:off x="5143500" y="4524375"/>
            <a:ext cx="2857500" cy="1095375"/>
          </a:xfrm>
          <a:prstGeom xmlns:a="http://schemas.openxmlformats.org/drawingml/2006/main" prst="rect">
            <a:avLst/>
          </a:prstGeom>
          <a:solidFill xmlns:a="http://schemas.openxmlformats.org/drawingml/2006/main">
            <a:srgbClr val="FDECEC"/>
          </a:solidFill>
          <a:ln xmlns:a="http://schemas.openxmlformats.org/drawingml/2006/main" w="9525">
            <a:solidFill>
              <a:srgbClr val="E5E7EB"/>
            </a:solidFill>
            <a:prstDash val="solid"/>
          </a:ln>
        </p:spPr>
      </p:sp>
      <p:sp>
        <p:nvSpPr>
          <p:cNvPr id="35" name="step3-stop-bar">
            <a:extLst xmlns:a="http://schemas.openxmlformats.org/drawingml/2006/main">
              <a:ext uri="{FF2B5EF4-FFF2-40B4-BE49-F238E27FC236}">
                <a16:creationId xmlns:a16="http://schemas.microsoft.com/office/drawing/2014/main" id="{13E0F0A8-A94D-4433-86BF-12A6B64B2781}"/>
              </a:ext>
            </a:extLst>
          </p:cNvPr>
          <p:cNvSpPr>
            <a:spLocks xmlns:a="http://schemas.openxmlformats.org/drawingml/2006/main" noGrp="1"/>
          </p:cNvSpPr>
          <p:nvPr/>
        </p:nvSpPr>
        <p:spPr>
          <a:xfrm xmlns:a="http://schemas.openxmlformats.org/drawingml/2006/main">
            <a:off x="5143500" y="4524375"/>
            <a:ext cx="76200" cy="10953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6" name="step3-stop-title">
            <a:extLst xmlns:a="http://schemas.openxmlformats.org/drawingml/2006/main">
              <a:ext uri="{FF2B5EF4-FFF2-40B4-BE49-F238E27FC236}">
                <a16:creationId xmlns:a16="http://schemas.microsoft.com/office/drawing/2014/main" id="{A11CEABB-64B1-4718-8ECF-C0AB3F7745FB}"/>
              </a:ext>
            </a:extLst>
          </p:cNvPr>
          <p:cNvSpPr>
            <a:spLocks xmlns:a="http://schemas.openxmlformats.org/drawingml/2006/main" noGrp="1"/>
          </p:cNvSpPr>
          <p:nvPr/>
        </p:nvSpPr>
        <p:spPr>
          <a:xfrm xmlns:a="http://schemas.openxmlformats.org/drawingml/2006/main">
            <a:off x="5334000" y="4667250"/>
            <a:ext cx="253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A61B2B"/>
                </a:solidFill>
                <a:latin typeface="Arial"/>
                <a:ea typeface="Arial"/>
                <a:cs typeface="Arial"/>
              </a:defRPr>
            </a:pPr>
            <a:r>
              <a:rPr sz="1275" b="1">
                <a:solidFill>
                  <a:srgbClr val="A61B2B"/>
                </a:solidFill>
                <a:latin typeface="Arial"/>
                <a:ea typeface="Arial"/>
                <a:cs typeface="Arial"/>
              </a:rPr>
              <a:t>What it cannot prove</a:t>
            </a:r>
          </a:p>
        </p:txBody>
      </p:sp>
      <p:sp>
        <p:nvSpPr>
          <p:cNvPr id="37" name="step3-stop-body">
            <a:extLst xmlns:a="http://schemas.openxmlformats.org/drawingml/2006/main">
              <a:ext uri="{FF2B5EF4-FFF2-40B4-BE49-F238E27FC236}">
                <a16:creationId xmlns:a16="http://schemas.microsoft.com/office/drawing/2014/main" id="{4CAE7A0F-3B82-47BA-9D3C-CE8453B4CC61}"/>
              </a:ext>
            </a:extLst>
          </p:cNvPr>
          <p:cNvSpPr>
            <a:spLocks xmlns:a="http://schemas.openxmlformats.org/drawingml/2006/main" noGrp="1"/>
          </p:cNvSpPr>
          <p:nvPr/>
        </p:nvSpPr>
        <p:spPr>
          <a:xfrm xmlns:a="http://schemas.openxmlformats.org/drawingml/2006/main">
            <a:off x="5334000" y="5010150"/>
            <a:ext cx="2533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DFT stability, oxidation chemistry, or an absolute formation energy.</a:t>
            </a:r>
          </a:p>
        </p:txBody>
      </p:sp>
    </p:spTree>
    <p:extLst>
      <p:ext uri="{BB962C8B-B14F-4D97-AF65-F5344CB8AC3E}">
        <p14:creationId xmlns:p14="http://schemas.microsoft.com/office/powerpoint/2010/main" val="6330229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9" name="bg-9">
            <a:extLst xmlns:a="http://schemas.openxmlformats.org/drawingml/2006/main">
              <a:ext uri="{FF2B5EF4-FFF2-40B4-BE49-F238E27FC236}">
                <a16:creationId xmlns:a16="http://schemas.microsoft.com/office/drawing/2014/main" id="{435E53D0-CEAA-46C2-BB49-53B6455897B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9">
            <a:extLst xmlns:a="http://schemas.openxmlformats.org/drawingml/2006/main">
              <a:ext uri="{FF2B5EF4-FFF2-40B4-BE49-F238E27FC236}">
                <a16:creationId xmlns:a16="http://schemas.microsoft.com/office/drawing/2014/main" id="{C81C8D5A-4935-46EC-8322-BF08C9A5DC8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0424"/>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4 — Representative structure</a:t>
            </a:r>
          </a:p>
        </p:txBody>
      </p:sp>
      <p:sp>
        <p:nvSpPr>
          <p:cNvPr id="3" name="terms-9">
            <a:extLst xmlns:a="http://schemas.openxmlformats.org/drawingml/2006/main">
              <a:ext uri="{FF2B5EF4-FFF2-40B4-BE49-F238E27FC236}">
                <a16:creationId xmlns:a16="http://schemas.microsoft.com/office/drawing/2014/main" id="{7ED23FC5-965C-470E-83D6-2B28B501876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Representative: one structure carried to the next stage  ·  Group: same recipe/site class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Selection pressure: advantage caused by having more generated candidates</a:t>
            </a:r>
          </a:p>
        </p:txBody>
      </p:sp>
      <p:sp>
        <p:nvSpPr>
          <p:cNvPr id="4" name="divider-9">
            <a:extLst xmlns:a="http://schemas.openxmlformats.org/drawingml/2006/main">
              <a:ext uri="{FF2B5EF4-FFF2-40B4-BE49-F238E27FC236}">
                <a16:creationId xmlns:a16="http://schemas.microsoft.com/office/drawing/2014/main" id="{94480B59-D522-450C-A078-7CCFF97C635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9">
            <a:extLst xmlns:a="http://schemas.openxmlformats.org/drawingml/2006/main">
              <a:ext uri="{FF2B5EF4-FFF2-40B4-BE49-F238E27FC236}">
                <a16:creationId xmlns:a16="http://schemas.microsoft.com/office/drawing/2014/main" id="{DFE43A8F-2800-4FD5-9D8C-70C0F926AA8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9">
            <a:extLst xmlns:a="http://schemas.openxmlformats.org/drawingml/2006/main">
              <a:ext uri="{FF2B5EF4-FFF2-40B4-BE49-F238E27FC236}">
                <a16:creationId xmlns:a16="http://schemas.microsoft.com/office/drawing/2014/main" id="{91B269EA-4BE7-4FDF-99EB-D4B987BA8238}"/>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Select a representative configuration—not the best dopant</a:t>
            </a:r>
          </a:p>
        </p:txBody>
      </p:sp>
      <p:sp>
        <p:nvSpPr>
          <p:cNvPr id="7" name="bullet-dot-9-0">
            <a:extLst xmlns:a="http://schemas.openxmlformats.org/drawingml/2006/main">
              <a:ext uri="{FF2B5EF4-FFF2-40B4-BE49-F238E27FC236}">
                <a16:creationId xmlns:a16="http://schemas.microsoft.com/office/drawing/2014/main" id="{B05F1B8D-DB8F-4785-B727-975BF771C2EA}"/>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9-0">
            <a:extLst xmlns:a="http://schemas.openxmlformats.org/drawingml/2006/main">
              <a:ext uri="{FF2B5EF4-FFF2-40B4-BE49-F238E27FC236}">
                <a16:creationId xmlns:a16="http://schemas.microsoft.com/office/drawing/2014/main" id="{097DF6AB-08A8-499E-BD2A-D6A037DC272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Converged structures are grouped by recipe and site before a low-energy representative is chosen.</a:t>
            </a:r>
          </a:p>
        </p:txBody>
      </p:sp>
      <p:sp>
        <p:nvSpPr>
          <p:cNvPr id="9" name="bullet-dot-9-1">
            <a:extLst xmlns:a="http://schemas.openxmlformats.org/drawingml/2006/main">
              <a:ext uri="{FF2B5EF4-FFF2-40B4-BE49-F238E27FC236}">
                <a16:creationId xmlns:a16="http://schemas.microsoft.com/office/drawing/2014/main" id="{317F55AD-BD44-4DD2-B51A-BBB5D38F7E2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9-1">
            <a:extLst xmlns:a="http://schemas.openxmlformats.org/drawingml/2006/main">
              <a:ext uri="{FF2B5EF4-FFF2-40B4-BE49-F238E27FC236}">
                <a16:creationId xmlns:a16="http://schemas.microsoft.com/office/drawing/2014/main" id="{B0F4EE59-F92C-4E5E-9E16-6DBBD9977EA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Different candidate counts and seeds mean this selection is not a chemistry-wide ranking.</a:t>
            </a:r>
          </a:p>
        </p:txBody>
      </p:sp>
      <p:sp>
        <p:nvSpPr>
          <p:cNvPr id="11" name="citation-9">
            <a:extLst xmlns:a="http://schemas.openxmlformats.org/drawingml/2006/main">
              <a:ext uri="{FF2B5EF4-FFF2-40B4-BE49-F238E27FC236}">
                <a16:creationId xmlns:a16="http://schemas.microsoft.com/office/drawing/2014/main" id="{25B9E05E-DC04-4A5D-8569-13F31ACF028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03 · select_winners.py lineage</a:t>
            </a:r>
          </a:p>
        </p:txBody>
      </p:sp>
      <p:sp>
        <p:nvSpPr>
          <p:cNvPr id="12" name="footer-brand-9">
            <a:extLst xmlns:a="http://schemas.openxmlformats.org/drawingml/2006/main">
              <a:ext uri="{FF2B5EF4-FFF2-40B4-BE49-F238E27FC236}">
                <a16:creationId xmlns:a16="http://schemas.microsoft.com/office/drawing/2014/main" id="{DACB3A1B-7A3B-4DBD-B207-7A59F3E80B5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9">
            <a:extLst xmlns:a="http://schemas.openxmlformats.org/drawingml/2006/main">
              <a:ext uri="{FF2B5EF4-FFF2-40B4-BE49-F238E27FC236}">
                <a16:creationId xmlns:a16="http://schemas.microsoft.com/office/drawing/2014/main" id="{F7ABA427-5C5A-4CBA-86C3-074010FBC4AB}"/>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9">
            <a:extLst xmlns:a="http://schemas.openxmlformats.org/drawingml/2006/main">
              <a:ext uri="{FF2B5EF4-FFF2-40B4-BE49-F238E27FC236}">
                <a16:creationId xmlns:a16="http://schemas.microsoft.com/office/drawing/2014/main" id="{13129437-2C2C-4E12-B0FB-B0263BC9619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9</a:t>
            </a:r>
          </a:p>
        </p:txBody>
      </p:sp>
      <p:sp>
        <p:nvSpPr>
          <p:cNvPr id="15" name="rep-cand-0">
            <a:extLst xmlns:a="http://schemas.openxmlformats.org/drawingml/2006/main">
              <a:ext uri="{FF2B5EF4-FFF2-40B4-BE49-F238E27FC236}">
                <a16:creationId xmlns:a16="http://schemas.microsoft.com/office/drawing/2014/main" id="{C656E49B-B2E6-439B-A0B7-277905B86E47}"/>
              </a:ext>
            </a:extLst>
          </p:cNvPr>
          <p:cNvSpPr>
            <a:spLocks xmlns:a="http://schemas.openxmlformats.org/drawingml/2006/main" noGrp="1"/>
          </p:cNvSpPr>
          <p:nvPr/>
        </p:nvSpPr>
        <p:spPr>
          <a:xfrm xmlns:a="http://schemas.openxmlformats.org/drawingml/2006/main">
            <a:off x="952500" y="2857500"/>
            <a:ext cx="8763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6" name="rep-seed-0">
            <a:extLst xmlns:a="http://schemas.openxmlformats.org/drawingml/2006/main">
              <a:ext uri="{FF2B5EF4-FFF2-40B4-BE49-F238E27FC236}">
                <a16:creationId xmlns:a16="http://schemas.microsoft.com/office/drawing/2014/main" id="{AEA75153-7387-4444-AB49-69BB7BCE4DD9}"/>
              </a:ext>
            </a:extLst>
          </p:cNvPr>
          <p:cNvSpPr>
            <a:spLocks xmlns:a="http://schemas.openxmlformats.org/drawingml/2006/main" noGrp="1"/>
          </p:cNvSpPr>
          <p:nvPr/>
        </p:nvSpPr>
        <p:spPr>
          <a:xfrm xmlns:a="http://schemas.openxmlformats.org/drawingml/2006/main">
            <a:off x="952500" y="30289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0">
                <a:solidFill>
                  <a:srgbClr val="6B7280"/>
                </a:solidFill>
                <a:latin typeface="Arial"/>
                <a:ea typeface="Arial"/>
                <a:cs typeface="Arial"/>
              </a:defRPr>
            </a:pPr>
            <a:r>
              <a:rPr sz="975" b="0">
                <a:solidFill>
                  <a:srgbClr val="6B7280"/>
                </a:solidFill>
                <a:latin typeface="Arial"/>
                <a:ea typeface="Arial"/>
                <a:cs typeface="Arial"/>
              </a:rPr>
              <a:t>seed 1</a:t>
            </a:r>
          </a:p>
        </p:txBody>
      </p:sp>
      <p:sp>
        <p:nvSpPr>
          <p:cNvPr id="17" name="rep-cand-1">
            <a:extLst xmlns:a="http://schemas.openxmlformats.org/drawingml/2006/main">
              <a:ext uri="{FF2B5EF4-FFF2-40B4-BE49-F238E27FC236}">
                <a16:creationId xmlns:a16="http://schemas.microsoft.com/office/drawing/2014/main" id="{288CEFA2-CDA4-4E7C-AC51-19409FF567B4}"/>
              </a:ext>
            </a:extLst>
          </p:cNvPr>
          <p:cNvSpPr>
            <a:spLocks xmlns:a="http://schemas.openxmlformats.org/drawingml/2006/main" noGrp="1"/>
          </p:cNvSpPr>
          <p:nvPr/>
        </p:nvSpPr>
        <p:spPr>
          <a:xfrm xmlns:a="http://schemas.openxmlformats.org/drawingml/2006/main">
            <a:off x="2095500" y="3381375"/>
            <a:ext cx="8763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8" name="rep-seed-1">
            <a:extLst xmlns:a="http://schemas.openxmlformats.org/drawingml/2006/main">
              <a:ext uri="{FF2B5EF4-FFF2-40B4-BE49-F238E27FC236}">
                <a16:creationId xmlns:a16="http://schemas.microsoft.com/office/drawing/2014/main" id="{861D4E61-3E91-4BB9-87D4-48D224FAD0D4}"/>
              </a:ext>
            </a:extLst>
          </p:cNvPr>
          <p:cNvSpPr>
            <a:spLocks xmlns:a="http://schemas.openxmlformats.org/drawingml/2006/main" noGrp="1"/>
          </p:cNvSpPr>
          <p:nvPr/>
        </p:nvSpPr>
        <p:spPr>
          <a:xfrm xmlns:a="http://schemas.openxmlformats.org/drawingml/2006/main">
            <a:off x="2095500" y="3552825"/>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0">
                <a:solidFill>
                  <a:srgbClr val="6B7280"/>
                </a:solidFill>
                <a:latin typeface="Arial"/>
                <a:ea typeface="Arial"/>
                <a:cs typeface="Arial"/>
              </a:defRPr>
            </a:pPr>
            <a:r>
              <a:rPr sz="975" b="0">
                <a:solidFill>
                  <a:srgbClr val="6B7280"/>
                </a:solidFill>
                <a:latin typeface="Arial"/>
                <a:ea typeface="Arial"/>
                <a:cs typeface="Arial"/>
              </a:rPr>
              <a:t>seed 2</a:t>
            </a:r>
          </a:p>
        </p:txBody>
      </p:sp>
      <p:sp>
        <p:nvSpPr>
          <p:cNvPr id="19" name="rep-cand-2">
            <a:extLst xmlns:a="http://schemas.openxmlformats.org/drawingml/2006/main">
              <a:ext uri="{FF2B5EF4-FFF2-40B4-BE49-F238E27FC236}">
                <a16:creationId xmlns:a16="http://schemas.microsoft.com/office/drawing/2014/main" id="{D267D7D2-A444-40C0-8E95-F54E792EF1A0}"/>
              </a:ext>
            </a:extLst>
          </p:cNvPr>
          <p:cNvSpPr>
            <a:spLocks xmlns:a="http://schemas.openxmlformats.org/drawingml/2006/main" noGrp="1"/>
          </p:cNvSpPr>
          <p:nvPr/>
        </p:nvSpPr>
        <p:spPr>
          <a:xfrm xmlns:a="http://schemas.openxmlformats.org/drawingml/2006/main">
            <a:off x="3238500" y="2857500"/>
            <a:ext cx="8763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20" name="rep-seed-2">
            <a:extLst xmlns:a="http://schemas.openxmlformats.org/drawingml/2006/main">
              <a:ext uri="{FF2B5EF4-FFF2-40B4-BE49-F238E27FC236}">
                <a16:creationId xmlns:a16="http://schemas.microsoft.com/office/drawing/2014/main" id="{7C64E52F-4C57-4069-9E57-170D5CD88E05}"/>
              </a:ext>
            </a:extLst>
          </p:cNvPr>
          <p:cNvSpPr>
            <a:spLocks xmlns:a="http://schemas.openxmlformats.org/drawingml/2006/main" noGrp="1"/>
          </p:cNvSpPr>
          <p:nvPr/>
        </p:nvSpPr>
        <p:spPr>
          <a:xfrm xmlns:a="http://schemas.openxmlformats.org/drawingml/2006/main">
            <a:off x="3238500" y="30289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0">
                <a:solidFill>
                  <a:srgbClr val="6B7280"/>
                </a:solidFill>
                <a:latin typeface="Arial"/>
                <a:ea typeface="Arial"/>
                <a:cs typeface="Arial"/>
              </a:defRPr>
            </a:pPr>
            <a:r>
              <a:rPr sz="975" b="0">
                <a:solidFill>
                  <a:srgbClr val="6B7280"/>
                </a:solidFill>
                <a:latin typeface="Arial"/>
                <a:ea typeface="Arial"/>
                <a:cs typeface="Arial"/>
              </a:rPr>
              <a:t>seed 3</a:t>
            </a:r>
          </a:p>
        </p:txBody>
      </p:sp>
      <p:sp>
        <p:nvSpPr>
          <p:cNvPr id="21" name="rep-cand-3">
            <a:extLst xmlns:a="http://schemas.openxmlformats.org/drawingml/2006/main">
              <a:ext uri="{FF2B5EF4-FFF2-40B4-BE49-F238E27FC236}">
                <a16:creationId xmlns:a16="http://schemas.microsoft.com/office/drawing/2014/main" id="{DEBFBA4B-AC73-4A16-980C-D61DE7168D9E}"/>
              </a:ext>
            </a:extLst>
          </p:cNvPr>
          <p:cNvSpPr>
            <a:spLocks xmlns:a="http://schemas.openxmlformats.org/drawingml/2006/main" noGrp="1"/>
          </p:cNvSpPr>
          <p:nvPr/>
        </p:nvSpPr>
        <p:spPr>
          <a:xfrm xmlns:a="http://schemas.openxmlformats.org/drawingml/2006/main">
            <a:off x="4381500" y="3381375"/>
            <a:ext cx="876300" cy="552450"/>
          </a:xfrm>
          <a:prstGeom xmlns:a="http://schemas.openxmlformats.org/drawingml/2006/main" prst="rect">
            <a:avLst/>
          </a:prstGeom>
          <a:solidFill xmlns:a="http://schemas.openxmlformats.org/drawingml/2006/main">
            <a:srgbClr val="EAF7EF"/>
          </a:solidFill>
          <a:ln xmlns:a="http://schemas.openxmlformats.org/drawingml/2006/main" w="19050">
            <a:solidFill>
              <a:srgbClr val="15803D"/>
            </a:solidFill>
            <a:prstDash val="solid"/>
          </a:ln>
        </p:spPr>
      </p:sp>
      <p:sp>
        <p:nvSpPr>
          <p:cNvPr id="22" name="rep-seed-3">
            <a:extLst xmlns:a="http://schemas.openxmlformats.org/drawingml/2006/main">
              <a:ext uri="{FF2B5EF4-FFF2-40B4-BE49-F238E27FC236}">
                <a16:creationId xmlns:a16="http://schemas.microsoft.com/office/drawing/2014/main" id="{B14C382D-1B15-4EF7-BC7F-6420A6755C59}"/>
              </a:ext>
            </a:extLst>
          </p:cNvPr>
          <p:cNvSpPr>
            <a:spLocks xmlns:a="http://schemas.openxmlformats.org/drawingml/2006/main" noGrp="1"/>
          </p:cNvSpPr>
          <p:nvPr/>
        </p:nvSpPr>
        <p:spPr>
          <a:xfrm xmlns:a="http://schemas.openxmlformats.org/drawingml/2006/main">
            <a:off x="4381500" y="3552825"/>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5803D"/>
                </a:solidFill>
                <a:latin typeface="Arial"/>
                <a:ea typeface="Arial"/>
                <a:cs typeface="Arial"/>
              </a:defRPr>
            </a:pPr>
            <a:r>
              <a:rPr sz="975" b="1">
                <a:solidFill>
                  <a:srgbClr val="15803D"/>
                </a:solidFill>
                <a:latin typeface="Arial"/>
                <a:ea typeface="Arial"/>
                <a:cs typeface="Arial"/>
              </a:rPr>
              <a:t>seed 4</a:t>
            </a:r>
          </a:p>
        </p:txBody>
      </p:sp>
      <p:sp>
        <p:nvSpPr>
          <p:cNvPr id="23" name="rep-cand-4">
            <a:extLst xmlns:a="http://schemas.openxmlformats.org/drawingml/2006/main">
              <a:ext uri="{FF2B5EF4-FFF2-40B4-BE49-F238E27FC236}">
                <a16:creationId xmlns:a16="http://schemas.microsoft.com/office/drawing/2014/main" id="{6F575951-67EB-4128-A46E-341AAA226E1F}"/>
              </a:ext>
            </a:extLst>
          </p:cNvPr>
          <p:cNvSpPr>
            <a:spLocks xmlns:a="http://schemas.openxmlformats.org/drawingml/2006/main" noGrp="1"/>
          </p:cNvSpPr>
          <p:nvPr/>
        </p:nvSpPr>
        <p:spPr>
          <a:xfrm xmlns:a="http://schemas.openxmlformats.org/drawingml/2006/main">
            <a:off x="5524500" y="2857500"/>
            <a:ext cx="8763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24" name="rep-seed-4">
            <a:extLst xmlns:a="http://schemas.openxmlformats.org/drawingml/2006/main">
              <a:ext uri="{FF2B5EF4-FFF2-40B4-BE49-F238E27FC236}">
                <a16:creationId xmlns:a16="http://schemas.microsoft.com/office/drawing/2014/main" id="{4B8CD126-6223-42DE-8743-CC2984FA9C49}"/>
              </a:ext>
            </a:extLst>
          </p:cNvPr>
          <p:cNvSpPr>
            <a:spLocks xmlns:a="http://schemas.openxmlformats.org/drawingml/2006/main" noGrp="1"/>
          </p:cNvSpPr>
          <p:nvPr/>
        </p:nvSpPr>
        <p:spPr>
          <a:xfrm xmlns:a="http://schemas.openxmlformats.org/drawingml/2006/main">
            <a:off x="5524500" y="30289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0">
                <a:solidFill>
                  <a:srgbClr val="6B7280"/>
                </a:solidFill>
                <a:latin typeface="Arial"/>
                <a:ea typeface="Arial"/>
                <a:cs typeface="Arial"/>
              </a:defRPr>
            </a:pPr>
            <a:r>
              <a:rPr sz="975" b="0">
                <a:solidFill>
                  <a:srgbClr val="6B7280"/>
                </a:solidFill>
                <a:latin typeface="Arial"/>
                <a:ea typeface="Arial"/>
                <a:cs typeface="Arial"/>
              </a:rPr>
              <a:t>seed 5</a:t>
            </a:r>
          </a:p>
        </p:txBody>
      </p:sp>
      <p:sp>
        <p:nvSpPr>
          <p:cNvPr id="25" name="rep-arrow">
            <a:extLst xmlns:a="http://schemas.openxmlformats.org/drawingml/2006/main">
              <a:ext uri="{FF2B5EF4-FFF2-40B4-BE49-F238E27FC236}">
                <a16:creationId xmlns:a16="http://schemas.microsoft.com/office/drawing/2014/main" id="{89EF18E9-341B-4D0C-B4A9-ABA2B02A3CED}"/>
              </a:ext>
            </a:extLst>
          </p:cNvPr>
          <p:cNvSpPr>
            <a:spLocks xmlns:a="http://schemas.openxmlformats.org/drawingml/2006/main" noGrp="1"/>
          </p:cNvSpPr>
          <p:nvPr/>
        </p:nvSpPr>
        <p:spPr>
          <a:xfrm xmlns:a="http://schemas.openxmlformats.org/drawingml/2006/main">
            <a:off x="6572250" y="304800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a:solidFill>
                  <a:srgbClr val="6B7280"/>
                </a:solidFill>
                <a:latin typeface="Arial"/>
                <a:ea typeface="Arial"/>
                <a:cs typeface="Arial"/>
              </a:defRPr>
            </a:pPr>
            <a:r>
              <a:rPr sz="2550">
                <a:solidFill>
                  <a:srgbClr val="6B7280"/>
                </a:solidFill>
                <a:latin typeface="Arial"/>
                <a:ea typeface="Arial"/>
                <a:cs typeface="Arial"/>
              </a:rPr>
              <a:t>→</a:t>
            </a:r>
          </a:p>
        </p:txBody>
      </p:sp>
      <p:sp>
        <p:nvSpPr>
          <p:cNvPr id="26" name="rep-out">
            <a:extLst xmlns:a="http://schemas.openxmlformats.org/drawingml/2006/main">
              <a:ext uri="{FF2B5EF4-FFF2-40B4-BE49-F238E27FC236}">
                <a16:creationId xmlns:a16="http://schemas.microsoft.com/office/drawing/2014/main" id="{4F6E7C9A-045C-4628-99F6-B4AA3D54332E}"/>
              </a:ext>
            </a:extLst>
          </p:cNvPr>
          <p:cNvSpPr>
            <a:spLocks xmlns:a="http://schemas.openxmlformats.org/drawingml/2006/main" noGrp="1"/>
          </p:cNvSpPr>
          <p:nvPr/>
        </p:nvSpPr>
        <p:spPr>
          <a:xfrm xmlns:a="http://schemas.openxmlformats.org/drawingml/2006/main">
            <a:off x="7124700" y="2724150"/>
            <a:ext cx="1285875" cy="952500"/>
          </a:xfrm>
          <a:prstGeom xmlns:a="http://schemas.openxmlformats.org/drawingml/2006/main" prst="rect">
            <a:avLst/>
          </a:prstGeom>
          <a:solidFill xmlns:a="http://schemas.openxmlformats.org/drawingml/2006/main">
            <a:srgbClr val="EAF7EF"/>
          </a:solidFill>
          <a:ln xmlns:a="http://schemas.openxmlformats.org/drawingml/2006/main" w="19050">
            <a:solidFill>
              <a:srgbClr val="15803D"/>
            </a:solidFill>
            <a:prstDash val="solid"/>
          </a:ln>
        </p:spPr>
      </p:sp>
      <p:sp>
        <p:nvSpPr>
          <p:cNvPr id="27" name="rep-out-text">
            <a:extLst xmlns:a="http://schemas.openxmlformats.org/drawingml/2006/main">
              <a:ext uri="{FF2B5EF4-FFF2-40B4-BE49-F238E27FC236}">
                <a16:creationId xmlns:a16="http://schemas.microsoft.com/office/drawing/2014/main" id="{0CB8CDFA-9241-49F4-A342-8569C2562499}"/>
              </a:ext>
            </a:extLst>
          </p:cNvPr>
          <p:cNvSpPr>
            <a:spLocks xmlns:a="http://schemas.openxmlformats.org/drawingml/2006/main" noGrp="1"/>
          </p:cNvSpPr>
          <p:nvPr/>
        </p:nvSpPr>
        <p:spPr>
          <a:xfrm xmlns:a="http://schemas.openxmlformats.org/drawingml/2006/main">
            <a:off x="7200900" y="2990850"/>
            <a:ext cx="11334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63" b="1">
                <a:solidFill>
                  <a:srgbClr val="15803D"/>
                </a:solidFill>
                <a:latin typeface="Arial"/>
                <a:ea typeface="Arial"/>
                <a:cs typeface="Arial"/>
              </a:defRPr>
            </a:pPr>
            <a:r>
              <a:rPr sz="863" b="1">
                <a:solidFill>
                  <a:srgbClr val="15803D"/>
                </a:solidFill>
                <a:latin typeface="Arial"/>
                <a:ea typeface="Arial"/>
                <a:cs typeface="Arial"/>
              </a:rPr>
              <a:t>REPRESENTATIVE</a:t>
            </a:r>
          </a:p>
          <a:p xmlns:a="http://schemas.openxmlformats.org/drawingml/2006/main">
            <a:pPr algn="ctr">
              <a:defRPr sz="863" b="1">
                <a:solidFill>
                  <a:srgbClr val="15803D"/>
                </a:solidFill>
                <a:latin typeface="Arial"/>
                <a:ea typeface="Arial"/>
                <a:cs typeface="Arial"/>
              </a:defRPr>
            </a:pPr>
            <a:r>
              <a:rPr sz="863" b="1">
                <a:solidFill>
                  <a:srgbClr val="15803D"/>
                </a:solidFill>
                <a:latin typeface="Arial"/>
                <a:ea typeface="Arial"/>
                <a:cs typeface="Arial"/>
              </a:rPr>
              <a:t>CONFIGURATION</a:t>
            </a:r>
          </a:p>
        </p:txBody>
      </p:sp>
      <p:sp>
        <p:nvSpPr>
          <p:cNvPr id="28" name="rep-rule">
            <a:extLst xmlns:a="http://schemas.openxmlformats.org/drawingml/2006/main">
              <a:ext uri="{FF2B5EF4-FFF2-40B4-BE49-F238E27FC236}">
                <a16:creationId xmlns:a16="http://schemas.microsoft.com/office/drawing/2014/main" id="{7354E780-F213-4109-B79C-C32527CF4AD7}"/>
              </a:ext>
            </a:extLst>
          </p:cNvPr>
          <p:cNvSpPr>
            <a:spLocks xmlns:a="http://schemas.openxmlformats.org/drawingml/2006/main" noGrp="1"/>
          </p:cNvSpPr>
          <p:nvPr/>
        </p:nvSpPr>
        <p:spPr>
          <a:xfrm xmlns:a="http://schemas.openxmlformats.org/drawingml/2006/main">
            <a:off x="1666875" y="4762500"/>
            <a:ext cx="5810250" cy="4000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088" b="1">
                <a:solidFill>
                  <a:srgbClr val="FFFFFF"/>
                </a:solidFill>
                <a:latin typeface="Arial"/>
                <a:ea typeface="Arial"/>
                <a:cs typeface="Arial"/>
              </a:defRPr>
            </a:pPr>
            <a:r>
              <a:rPr sz="1088" b="1">
                <a:solidFill>
                  <a:srgbClr val="FFFFFF"/>
                </a:solidFill>
                <a:latin typeface="Arial"/>
                <a:ea typeface="Arial"/>
                <a:cs typeface="Arial"/>
              </a:rPr>
              <a:t>“winner” here means winner within a generated menu—not winner across dopants</a:t>
            </a:r>
          </a:p>
        </p:txBody>
      </p:sp>
    </p:spTree>
    <p:extLst>
      <p:ext uri="{BB962C8B-B14F-4D97-AF65-F5344CB8AC3E}">
        <p14:creationId xmlns:p14="http://schemas.microsoft.com/office/powerpoint/2010/main" val="6330229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8" name="bg-10">
            <a:extLst xmlns:a="http://schemas.openxmlformats.org/drawingml/2006/main">
              <a:ext uri="{FF2B5EF4-FFF2-40B4-BE49-F238E27FC236}">
                <a16:creationId xmlns:a16="http://schemas.microsoft.com/office/drawing/2014/main" id="{2EB630F4-43B9-4330-A73C-7FDABEE3BB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0">
            <a:extLst xmlns:a="http://schemas.openxmlformats.org/drawingml/2006/main">
              <a:ext uri="{FF2B5EF4-FFF2-40B4-BE49-F238E27FC236}">
                <a16:creationId xmlns:a16="http://schemas.microsoft.com/office/drawing/2014/main" id="{D040B401-5AB7-4650-A366-D2B67D2E129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2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5 — Thermal basin</a:t>
            </a:r>
          </a:p>
        </p:txBody>
      </p:sp>
      <p:sp>
        <p:nvSpPr>
          <p:cNvPr id="3" name="terms-10">
            <a:extLst xmlns:a="http://schemas.openxmlformats.org/drawingml/2006/main">
              <a:ext uri="{FF2B5EF4-FFF2-40B4-BE49-F238E27FC236}">
                <a16:creationId xmlns:a16="http://schemas.microsoft.com/office/drawing/2014/main" id="{52B82C7C-1661-47F5-A640-9217254AAE7B}"/>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Anneal: short finite-temperature perturbation  ·  Local basin: nearby energy minimum</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Post-relax: relax again after the thermal trajectory</a:t>
            </a:r>
          </a:p>
        </p:txBody>
      </p:sp>
      <p:sp>
        <p:nvSpPr>
          <p:cNvPr id="4" name="divider-10">
            <a:extLst xmlns:a="http://schemas.openxmlformats.org/drawingml/2006/main">
              <a:ext uri="{FF2B5EF4-FFF2-40B4-BE49-F238E27FC236}">
                <a16:creationId xmlns:a16="http://schemas.microsoft.com/office/drawing/2014/main" id="{7D90B29B-A327-4A12-A4B3-D4993D02793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0">
            <a:extLst xmlns:a="http://schemas.openxmlformats.org/drawingml/2006/main">
              <a:ext uri="{FF2B5EF4-FFF2-40B4-BE49-F238E27FC236}">
                <a16:creationId xmlns:a16="http://schemas.microsoft.com/office/drawing/2014/main" id="{431E7742-5169-412A-94C8-F3CE1D49A02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0">
            <a:extLst xmlns:a="http://schemas.openxmlformats.org/drawingml/2006/main">
              <a:ext uri="{FF2B5EF4-FFF2-40B4-BE49-F238E27FC236}">
                <a16:creationId xmlns:a16="http://schemas.microsoft.com/office/drawing/2014/main" id="{DE778ADA-B1FE-4FE9-8217-77B17EA3820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Check whether a selected structure survives a short thermal perturbation</a:t>
            </a:r>
          </a:p>
        </p:txBody>
      </p:sp>
      <p:sp>
        <p:nvSpPr>
          <p:cNvPr id="7" name="bullet-dot-10-0">
            <a:extLst xmlns:a="http://schemas.openxmlformats.org/drawingml/2006/main">
              <a:ext uri="{FF2B5EF4-FFF2-40B4-BE49-F238E27FC236}">
                <a16:creationId xmlns:a16="http://schemas.microsoft.com/office/drawing/2014/main" id="{97DEEB77-5B2F-4B24-B6B9-402FA694F5F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0-0">
            <a:extLst xmlns:a="http://schemas.openxmlformats.org/drawingml/2006/main">
              <a:ext uri="{FF2B5EF4-FFF2-40B4-BE49-F238E27FC236}">
                <a16:creationId xmlns:a16="http://schemas.microsoft.com/office/drawing/2014/main" id="{629ADE05-6B38-48CC-9E84-269E04156C9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representative structure is briefly heated and then relaxed again.</a:t>
            </a:r>
          </a:p>
        </p:txBody>
      </p:sp>
      <p:sp>
        <p:nvSpPr>
          <p:cNvPr id="9" name="bullet-dot-10-1">
            <a:extLst xmlns:a="http://schemas.openxmlformats.org/drawingml/2006/main">
              <a:ext uri="{FF2B5EF4-FFF2-40B4-BE49-F238E27FC236}">
                <a16:creationId xmlns:a16="http://schemas.microsoft.com/office/drawing/2014/main" id="{CD5E783F-B8CC-4C67-A8C6-B4F3F5E821E9}"/>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0-1">
            <a:extLst xmlns:a="http://schemas.openxmlformats.org/drawingml/2006/main">
              <a:ext uri="{FF2B5EF4-FFF2-40B4-BE49-F238E27FC236}">
                <a16:creationId xmlns:a16="http://schemas.microsoft.com/office/drawing/2014/main" id="{30F58E80-15CC-4B1D-A10C-F0DF9D69CCE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This tests local structural robustness; it is not a conductivity calculation.</a:t>
            </a:r>
          </a:p>
        </p:txBody>
      </p:sp>
      <p:sp>
        <p:nvSpPr>
          <p:cNvPr id="11" name="citation-10">
            <a:extLst xmlns:a="http://schemas.openxmlformats.org/drawingml/2006/main">
              <a:ext uri="{FF2B5EF4-FFF2-40B4-BE49-F238E27FC236}">
                <a16:creationId xmlns:a16="http://schemas.microsoft.com/office/drawing/2014/main" id="{CF335250-6E0A-4747-A397-F139386F77A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 04 · short UMA-Langevin anneal</a:t>
            </a:r>
          </a:p>
        </p:txBody>
      </p:sp>
      <p:sp>
        <p:nvSpPr>
          <p:cNvPr id="12" name="footer-brand-10">
            <a:extLst xmlns:a="http://schemas.openxmlformats.org/drawingml/2006/main">
              <a:ext uri="{FF2B5EF4-FFF2-40B4-BE49-F238E27FC236}">
                <a16:creationId xmlns:a16="http://schemas.microsoft.com/office/drawing/2014/main" id="{5A0AE661-7824-40E3-A3B8-AE0620E55AAD}"/>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0">
            <a:extLst xmlns:a="http://schemas.openxmlformats.org/drawingml/2006/main">
              <a:ext uri="{FF2B5EF4-FFF2-40B4-BE49-F238E27FC236}">
                <a16:creationId xmlns:a16="http://schemas.microsoft.com/office/drawing/2014/main" id="{1323845D-FBE7-44B7-B9A3-6D5AF4C7423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0">
            <a:extLst xmlns:a="http://schemas.openxmlformats.org/drawingml/2006/main">
              <a:ext uri="{FF2B5EF4-FFF2-40B4-BE49-F238E27FC236}">
                <a16:creationId xmlns:a16="http://schemas.microsoft.com/office/drawing/2014/main" id="{DA8660D3-A4F3-4AEC-8FB7-8FF736EEA12D}"/>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10</a:t>
            </a:r>
          </a:p>
        </p:txBody>
      </p:sp>
      <p:sp>
        <p:nvSpPr>
          <p:cNvPr id="15" name="step5-box-0">
            <a:extLst xmlns:a="http://schemas.openxmlformats.org/drawingml/2006/main">
              <a:ext uri="{FF2B5EF4-FFF2-40B4-BE49-F238E27FC236}">
                <a16:creationId xmlns:a16="http://schemas.microsoft.com/office/drawing/2014/main" id="{75AB12C2-34AC-41A5-AB94-F1746EC3131B}"/>
              </a:ext>
            </a:extLst>
          </p:cNvPr>
          <p:cNvSpPr>
            <a:spLocks xmlns:a="http://schemas.openxmlformats.org/drawingml/2006/main" noGrp="1"/>
          </p:cNvSpPr>
          <p:nvPr/>
        </p:nvSpPr>
        <p:spPr>
          <a:xfrm xmlns:a="http://schemas.openxmlformats.org/drawingml/2006/main">
            <a:off x="666750"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F4E79"/>
            </a:solidFill>
            <a:prstDash val="solid"/>
          </a:ln>
        </p:spPr>
      </p:sp>
      <p:sp>
        <p:nvSpPr>
          <p:cNvPr id="16" name="step5-num-0">
            <a:extLst xmlns:a="http://schemas.openxmlformats.org/drawingml/2006/main">
              <a:ext uri="{FF2B5EF4-FFF2-40B4-BE49-F238E27FC236}">
                <a16:creationId xmlns:a16="http://schemas.microsoft.com/office/drawing/2014/main" id="{DF8EAE02-462D-4FDF-9ED1-DF2CF05E7463}"/>
              </a:ext>
            </a:extLst>
          </p:cNvPr>
          <p:cNvSpPr>
            <a:spLocks xmlns:a="http://schemas.openxmlformats.org/drawingml/2006/main" noGrp="1"/>
          </p:cNvSpPr>
          <p:nvPr/>
        </p:nvSpPr>
        <p:spPr>
          <a:xfrm xmlns:a="http://schemas.openxmlformats.org/drawingml/2006/main">
            <a:off x="781050"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F4E79"/>
                </a:solidFill>
                <a:latin typeface="Arial"/>
                <a:ea typeface="Arial"/>
                <a:cs typeface="Arial"/>
              </a:defRPr>
            </a:pPr>
            <a:r>
              <a:rPr sz="900" b="1">
                <a:solidFill>
                  <a:srgbClr val="1F4E79"/>
                </a:solidFill>
                <a:latin typeface="Arial"/>
                <a:ea typeface="Arial"/>
                <a:cs typeface="Arial"/>
              </a:rPr>
              <a:t>01</a:t>
            </a:r>
          </a:p>
        </p:txBody>
      </p:sp>
      <p:sp>
        <p:nvSpPr>
          <p:cNvPr id="17" name="step5-text-0">
            <a:extLst xmlns:a="http://schemas.openxmlformats.org/drawingml/2006/main">
              <a:ext uri="{FF2B5EF4-FFF2-40B4-BE49-F238E27FC236}">
                <a16:creationId xmlns:a16="http://schemas.microsoft.com/office/drawing/2014/main" id="{EEFEAE74-5B6C-4C6A-B006-01F540B301FF}"/>
              </a:ext>
            </a:extLst>
          </p:cNvPr>
          <p:cNvSpPr>
            <a:spLocks xmlns:a="http://schemas.openxmlformats.org/drawingml/2006/main" noGrp="1"/>
          </p:cNvSpPr>
          <p:nvPr/>
        </p:nvSpPr>
        <p:spPr>
          <a:xfrm xmlns:a="http://schemas.openxmlformats.org/drawingml/2006/main">
            <a:off x="809625"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SELECTED</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STRUCTURE</a:t>
            </a:r>
          </a:p>
        </p:txBody>
      </p:sp>
      <p:sp>
        <p:nvSpPr>
          <p:cNvPr id="18" name="step5-arrow-0">
            <a:extLst xmlns:a="http://schemas.openxmlformats.org/drawingml/2006/main">
              <a:ext uri="{FF2B5EF4-FFF2-40B4-BE49-F238E27FC236}">
                <a16:creationId xmlns:a16="http://schemas.microsoft.com/office/drawing/2014/main" id="{9CEBD6D8-BAAC-4A74-AA2A-0A1873F01670}"/>
              </a:ext>
            </a:extLst>
          </p:cNvPr>
          <p:cNvSpPr>
            <a:spLocks xmlns:a="http://schemas.openxmlformats.org/drawingml/2006/main" noGrp="1"/>
          </p:cNvSpPr>
          <p:nvPr/>
        </p:nvSpPr>
        <p:spPr>
          <a:xfrm xmlns:a="http://schemas.openxmlformats.org/drawingml/2006/main">
            <a:off x="2357438"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19" name="step5-box-1">
            <a:extLst xmlns:a="http://schemas.openxmlformats.org/drawingml/2006/main">
              <a:ext uri="{FF2B5EF4-FFF2-40B4-BE49-F238E27FC236}">
                <a16:creationId xmlns:a16="http://schemas.microsoft.com/office/drawing/2014/main" id="{AD378233-F146-4677-BD40-7D86325FF484}"/>
              </a:ext>
            </a:extLst>
          </p:cNvPr>
          <p:cNvSpPr>
            <a:spLocks xmlns:a="http://schemas.openxmlformats.org/drawingml/2006/main" noGrp="1"/>
          </p:cNvSpPr>
          <p:nvPr/>
        </p:nvSpPr>
        <p:spPr>
          <a:xfrm xmlns:a="http://schemas.openxmlformats.org/drawingml/2006/main">
            <a:off x="2719388"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C45A14"/>
            </a:solidFill>
            <a:prstDash val="solid"/>
          </a:ln>
        </p:spPr>
      </p:sp>
      <p:sp>
        <p:nvSpPr>
          <p:cNvPr id="20" name="step5-num-1">
            <a:extLst xmlns:a="http://schemas.openxmlformats.org/drawingml/2006/main">
              <a:ext uri="{FF2B5EF4-FFF2-40B4-BE49-F238E27FC236}">
                <a16:creationId xmlns:a16="http://schemas.microsoft.com/office/drawing/2014/main" id="{A1EC3277-3B57-4CAF-BF94-EF43E117D4CB}"/>
              </a:ext>
            </a:extLst>
          </p:cNvPr>
          <p:cNvSpPr>
            <a:spLocks xmlns:a="http://schemas.openxmlformats.org/drawingml/2006/main" noGrp="1"/>
          </p:cNvSpPr>
          <p:nvPr/>
        </p:nvSpPr>
        <p:spPr>
          <a:xfrm xmlns:a="http://schemas.openxmlformats.org/drawingml/2006/main">
            <a:off x="2833688"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C45A14"/>
                </a:solidFill>
                <a:latin typeface="Arial"/>
                <a:ea typeface="Arial"/>
                <a:cs typeface="Arial"/>
              </a:defRPr>
            </a:pPr>
            <a:r>
              <a:rPr sz="900" b="1">
                <a:solidFill>
                  <a:srgbClr val="C45A14"/>
                </a:solidFill>
                <a:latin typeface="Arial"/>
                <a:ea typeface="Arial"/>
                <a:cs typeface="Arial"/>
              </a:rPr>
              <a:t>02</a:t>
            </a:r>
          </a:p>
        </p:txBody>
      </p:sp>
      <p:sp>
        <p:nvSpPr>
          <p:cNvPr id="21" name="step5-text-1">
            <a:extLst xmlns:a="http://schemas.openxmlformats.org/drawingml/2006/main">
              <a:ext uri="{FF2B5EF4-FFF2-40B4-BE49-F238E27FC236}">
                <a16:creationId xmlns:a16="http://schemas.microsoft.com/office/drawing/2014/main" id="{2B92B36D-BD9F-4D97-994A-5E6D48D5500C}"/>
              </a:ext>
            </a:extLst>
          </p:cNvPr>
          <p:cNvSpPr>
            <a:spLocks xmlns:a="http://schemas.openxmlformats.org/drawingml/2006/main" noGrp="1"/>
          </p:cNvSpPr>
          <p:nvPr/>
        </p:nvSpPr>
        <p:spPr>
          <a:xfrm xmlns:a="http://schemas.openxmlformats.org/drawingml/2006/main">
            <a:off x="2862263"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SHORT</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ANNEAL</a:t>
            </a:r>
          </a:p>
        </p:txBody>
      </p:sp>
      <p:sp>
        <p:nvSpPr>
          <p:cNvPr id="22" name="step5-arrow-1">
            <a:extLst xmlns:a="http://schemas.openxmlformats.org/drawingml/2006/main">
              <a:ext uri="{FF2B5EF4-FFF2-40B4-BE49-F238E27FC236}">
                <a16:creationId xmlns:a16="http://schemas.microsoft.com/office/drawing/2014/main" id="{3E21C6E4-ECC5-46B7-860B-015BC2C6838F}"/>
              </a:ext>
            </a:extLst>
          </p:cNvPr>
          <p:cNvSpPr>
            <a:spLocks xmlns:a="http://schemas.openxmlformats.org/drawingml/2006/main" noGrp="1"/>
          </p:cNvSpPr>
          <p:nvPr/>
        </p:nvSpPr>
        <p:spPr>
          <a:xfrm xmlns:a="http://schemas.openxmlformats.org/drawingml/2006/main">
            <a:off x="4410075"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3" name="step5-box-2">
            <a:extLst xmlns:a="http://schemas.openxmlformats.org/drawingml/2006/main">
              <a:ext uri="{FF2B5EF4-FFF2-40B4-BE49-F238E27FC236}">
                <a16:creationId xmlns:a16="http://schemas.microsoft.com/office/drawing/2014/main" id="{619BAF36-1D31-4832-9C84-269206102189}"/>
              </a:ext>
            </a:extLst>
          </p:cNvPr>
          <p:cNvSpPr>
            <a:spLocks xmlns:a="http://schemas.openxmlformats.org/drawingml/2006/main" noGrp="1"/>
          </p:cNvSpPr>
          <p:nvPr/>
        </p:nvSpPr>
        <p:spPr>
          <a:xfrm xmlns:a="http://schemas.openxmlformats.org/drawingml/2006/main">
            <a:off x="4772025"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D9488"/>
            </a:solidFill>
            <a:prstDash val="solid"/>
          </a:ln>
        </p:spPr>
      </p:sp>
      <p:sp>
        <p:nvSpPr>
          <p:cNvPr id="24" name="step5-num-2">
            <a:extLst xmlns:a="http://schemas.openxmlformats.org/drawingml/2006/main">
              <a:ext uri="{FF2B5EF4-FFF2-40B4-BE49-F238E27FC236}">
                <a16:creationId xmlns:a16="http://schemas.microsoft.com/office/drawing/2014/main" id="{5B456BAE-5F8A-48CB-BDA6-E5BB6985D213}"/>
              </a:ext>
            </a:extLst>
          </p:cNvPr>
          <p:cNvSpPr>
            <a:spLocks xmlns:a="http://schemas.openxmlformats.org/drawingml/2006/main" noGrp="1"/>
          </p:cNvSpPr>
          <p:nvPr/>
        </p:nvSpPr>
        <p:spPr>
          <a:xfrm xmlns:a="http://schemas.openxmlformats.org/drawingml/2006/main">
            <a:off x="4886325"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0D9488"/>
                </a:solidFill>
                <a:latin typeface="Arial"/>
                <a:ea typeface="Arial"/>
                <a:cs typeface="Arial"/>
              </a:defRPr>
            </a:pPr>
            <a:r>
              <a:rPr sz="900" b="1">
                <a:solidFill>
                  <a:srgbClr val="0D9488"/>
                </a:solidFill>
                <a:latin typeface="Arial"/>
                <a:ea typeface="Arial"/>
                <a:cs typeface="Arial"/>
              </a:rPr>
              <a:t>03</a:t>
            </a:r>
          </a:p>
        </p:txBody>
      </p:sp>
      <p:sp>
        <p:nvSpPr>
          <p:cNvPr id="25" name="step5-text-2">
            <a:extLst xmlns:a="http://schemas.openxmlformats.org/drawingml/2006/main">
              <a:ext uri="{FF2B5EF4-FFF2-40B4-BE49-F238E27FC236}">
                <a16:creationId xmlns:a16="http://schemas.microsoft.com/office/drawing/2014/main" id="{C57CDAF0-2E51-4BB2-89B9-264065C6FE50}"/>
              </a:ext>
            </a:extLst>
          </p:cNvPr>
          <p:cNvSpPr>
            <a:spLocks xmlns:a="http://schemas.openxmlformats.org/drawingml/2006/main" noGrp="1"/>
          </p:cNvSpPr>
          <p:nvPr/>
        </p:nvSpPr>
        <p:spPr>
          <a:xfrm xmlns:a="http://schemas.openxmlformats.org/drawingml/2006/main">
            <a:off x="4914900"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POST-ANNEAL</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RELAXATION</a:t>
            </a:r>
          </a:p>
        </p:txBody>
      </p:sp>
      <p:sp>
        <p:nvSpPr>
          <p:cNvPr id="26" name="step5-arrow-2">
            <a:extLst xmlns:a="http://schemas.openxmlformats.org/drawingml/2006/main">
              <a:ext uri="{FF2B5EF4-FFF2-40B4-BE49-F238E27FC236}">
                <a16:creationId xmlns:a16="http://schemas.microsoft.com/office/drawing/2014/main" id="{6222F3A8-A278-4CAD-A0CD-56E0DA5714E7}"/>
              </a:ext>
            </a:extLst>
          </p:cNvPr>
          <p:cNvSpPr>
            <a:spLocks xmlns:a="http://schemas.openxmlformats.org/drawingml/2006/main" noGrp="1"/>
          </p:cNvSpPr>
          <p:nvPr/>
        </p:nvSpPr>
        <p:spPr>
          <a:xfrm xmlns:a="http://schemas.openxmlformats.org/drawingml/2006/main">
            <a:off x="6462713"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7" name="step5-box-3">
            <a:extLst xmlns:a="http://schemas.openxmlformats.org/drawingml/2006/main">
              <a:ext uri="{FF2B5EF4-FFF2-40B4-BE49-F238E27FC236}">
                <a16:creationId xmlns:a16="http://schemas.microsoft.com/office/drawing/2014/main" id="{98FE2419-F2A0-4F1F-B3C8-266710CFA9AF}"/>
              </a:ext>
            </a:extLst>
          </p:cNvPr>
          <p:cNvSpPr>
            <a:spLocks xmlns:a="http://schemas.openxmlformats.org/drawingml/2006/main" noGrp="1"/>
          </p:cNvSpPr>
          <p:nvPr/>
        </p:nvSpPr>
        <p:spPr>
          <a:xfrm xmlns:a="http://schemas.openxmlformats.org/drawingml/2006/main">
            <a:off x="6824663"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5803D"/>
            </a:solidFill>
            <a:prstDash val="solid"/>
          </a:ln>
        </p:spPr>
      </p:sp>
      <p:sp>
        <p:nvSpPr>
          <p:cNvPr id="28" name="step5-num-3">
            <a:extLst xmlns:a="http://schemas.openxmlformats.org/drawingml/2006/main">
              <a:ext uri="{FF2B5EF4-FFF2-40B4-BE49-F238E27FC236}">
                <a16:creationId xmlns:a16="http://schemas.microsoft.com/office/drawing/2014/main" id="{B0ABFA32-6A72-4A89-B5F1-9F4B3A92CB40}"/>
              </a:ext>
            </a:extLst>
          </p:cNvPr>
          <p:cNvSpPr>
            <a:spLocks xmlns:a="http://schemas.openxmlformats.org/drawingml/2006/main" noGrp="1"/>
          </p:cNvSpPr>
          <p:nvPr/>
        </p:nvSpPr>
        <p:spPr>
          <a:xfrm xmlns:a="http://schemas.openxmlformats.org/drawingml/2006/main">
            <a:off x="6938963"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5803D"/>
                </a:solidFill>
                <a:latin typeface="Arial"/>
                <a:ea typeface="Arial"/>
                <a:cs typeface="Arial"/>
              </a:defRPr>
            </a:pPr>
            <a:r>
              <a:rPr sz="900" b="1">
                <a:solidFill>
                  <a:srgbClr val="15803D"/>
                </a:solidFill>
                <a:latin typeface="Arial"/>
                <a:ea typeface="Arial"/>
                <a:cs typeface="Arial"/>
              </a:rPr>
              <a:t>04</a:t>
            </a:r>
          </a:p>
        </p:txBody>
      </p:sp>
      <p:sp>
        <p:nvSpPr>
          <p:cNvPr id="29" name="step5-text-3">
            <a:extLst xmlns:a="http://schemas.openxmlformats.org/drawingml/2006/main">
              <a:ext uri="{FF2B5EF4-FFF2-40B4-BE49-F238E27FC236}">
                <a16:creationId xmlns:a16="http://schemas.microsoft.com/office/drawing/2014/main" id="{302AF627-FD30-4CC4-A02E-1EB9EC1B77E3}"/>
              </a:ext>
            </a:extLst>
          </p:cNvPr>
          <p:cNvSpPr>
            <a:spLocks xmlns:a="http://schemas.openxmlformats.org/drawingml/2006/main" noGrp="1"/>
          </p:cNvSpPr>
          <p:nvPr/>
        </p:nvSpPr>
        <p:spPr>
          <a:xfrm xmlns:a="http://schemas.openxmlformats.org/drawingml/2006/main">
            <a:off x="6967538"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UPDATED</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STRUCTURE</a:t>
            </a:r>
          </a:p>
        </p:txBody>
      </p:sp>
      <p:sp>
        <p:nvSpPr>
          <p:cNvPr id="30" name="step5-question-bg">
            <a:extLst xmlns:a="http://schemas.openxmlformats.org/drawingml/2006/main">
              <a:ext uri="{FF2B5EF4-FFF2-40B4-BE49-F238E27FC236}">
                <a16:creationId xmlns:a16="http://schemas.microsoft.com/office/drawing/2014/main" id="{5BA27B2D-528E-425C-84EF-702DAF0953DF}"/>
              </a:ext>
            </a:extLst>
          </p:cNvPr>
          <p:cNvSpPr>
            <a:spLocks xmlns:a="http://schemas.openxmlformats.org/drawingml/2006/main" noGrp="1"/>
          </p:cNvSpPr>
          <p:nvPr/>
        </p:nvSpPr>
        <p:spPr>
          <a:xfrm xmlns:a="http://schemas.openxmlformats.org/drawingml/2006/main">
            <a:off x="1238250" y="4524375"/>
            <a:ext cx="2952750" cy="1047750"/>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31" name="step5-question-bar">
            <a:extLst xmlns:a="http://schemas.openxmlformats.org/drawingml/2006/main">
              <a:ext uri="{FF2B5EF4-FFF2-40B4-BE49-F238E27FC236}">
                <a16:creationId xmlns:a16="http://schemas.microsoft.com/office/drawing/2014/main" id="{FEECB7B7-29D4-4D70-ADE0-952EC0D3EC98}"/>
              </a:ext>
            </a:extLst>
          </p:cNvPr>
          <p:cNvSpPr>
            <a:spLocks xmlns:a="http://schemas.openxmlformats.org/drawingml/2006/main" noGrp="1"/>
          </p:cNvSpPr>
          <p:nvPr/>
        </p:nvSpPr>
        <p:spPr>
          <a:xfrm xmlns:a="http://schemas.openxmlformats.org/drawingml/2006/main">
            <a:off x="1238250" y="4524375"/>
            <a:ext cx="76200" cy="10477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2" name="step5-question-title">
            <a:extLst xmlns:a="http://schemas.openxmlformats.org/drawingml/2006/main">
              <a:ext uri="{FF2B5EF4-FFF2-40B4-BE49-F238E27FC236}">
                <a16:creationId xmlns:a16="http://schemas.microsoft.com/office/drawing/2014/main" id="{F22C5CA3-8778-49C6-AA25-1BCA4AC98F20}"/>
              </a:ext>
            </a:extLst>
          </p:cNvPr>
          <p:cNvSpPr>
            <a:spLocks xmlns:a="http://schemas.openxmlformats.org/drawingml/2006/main" noGrp="1"/>
          </p:cNvSpPr>
          <p:nvPr/>
        </p:nvSpPr>
        <p:spPr>
          <a:xfrm xmlns:a="http://schemas.openxmlformats.org/drawingml/2006/main">
            <a:off x="1428750" y="46672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5803D"/>
                </a:solidFill>
                <a:latin typeface="Arial"/>
                <a:ea typeface="Arial"/>
                <a:cs typeface="Arial"/>
              </a:defRPr>
            </a:pPr>
            <a:r>
              <a:rPr sz="1275" b="1">
                <a:solidFill>
                  <a:srgbClr val="15803D"/>
                </a:solidFill>
                <a:latin typeface="Arial"/>
                <a:ea typeface="Arial"/>
                <a:cs typeface="Arial"/>
              </a:rPr>
              <a:t>Question answered</a:t>
            </a:r>
          </a:p>
        </p:txBody>
      </p:sp>
      <p:sp>
        <p:nvSpPr>
          <p:cNvPr id="33" name="step5-question-body">
            <a:extLst xmlns:a="http://schemas.openxmlformats.org/drawingml/2006/main">
              <a:ext uri="{FF2B5EF4-FFF2-40B4-BE49-F238E27FC236}">
                <a16:creationId xmlns:a16="http://schemas.microsoft.com/office/drawing/2014/main" id="{0C87CF79-2C00-46BD-9288-BC20DD04169E}"/>
              </a:ext>
            </a:extLst>
          </p:cNvPr>
          <p:cNvSpPr>
            <a:spLocks xmlns:a="http://schemas.openxmlformats.org/drawingml/2006/main" noGrp="1"/>
          </p:cNvSpPr>
          <p:nvPr/>
        </p:nvSpPr>
        <p:spPr>
          <a:xfrm xmlns:a="http://schemas.openxmlformats.org/drawingml/2006/main">
            <a:off x="1428750" y="5010150"/>
            <a:ext cx="2628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73"/>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Does this nearby configuration remain structurally plausible after a short thermal history?</a:t>
            </a:r>
          </a:p>
        </p:txBody>
      </p:sp>
      <p:sp>
        <p:nvSpPr>
          <p:cNvPr id="34" name="step5-not-bg">
            <a:extLst xmlns:a="http://schemas.openxmlformats.org/drawingml/2006/main">
              <a:ext uri="{FF2B5EF4-FFF2-40B4-BE49-F238E27FC236}">
                <a16:creationId xmlns:a16="http://schemas.microsoft.com/office/drawing/2014/main" id="{0832DD66-00AE-43F6-8F50-36A3A7771EF3}"/>
              </a:ext>
            </a:extLst>
          </p:cNvPr>
          <p:cNvSpPr>
            <a:spLocks xmlns:a="http://schemas.openxmlformats.org/drawingml/2006/main" noGrp="1"/>
          </p:cNvSpPr>
          <p:nvPr/>
        </p:nvSpPr>
        <p:spPr>
          <a:xfrm xmlns:a="http://schemas.openxmlformats.org/drawingml/2006/main">
            <a:off x="4953000" y="4524375"/>
            <a:ext cx="2952750" cy="1047750"/>
          </a:xfrm>
          <a:prstGeom xmlns:a="http://schemas.openxmlformats.org/drawingml/2006/main" prst="rect">
            <a:avLst/>
          </a:prstGeom>
          <a:solidFill xmlns:a="http://schemas.openxmlformats.org/drawingml/2006/main">
            <a:srgbClr val="FDECEC"/>
          </a:solidFill>
          <a:ln xmlns:a="http://schemas.openxmlformats.org/drawingml/2006/main" w="9525">
            <a:solidFill>
              <a:srgbClr val="E5E7EB"/>
            </a:solidFill>
            <a:prstDash val="solid"/>
          </a:ln>
        </p:spPr>
      </p:sp>
      <p:sp>
        <p:nvSpPr>
          <p:cNvPr id="35" name="step5-not-bar">
            <a:extLst xmlns:a="http://schemas.openxmlformats.org/drawingml/2006/main">
              <a:ext uri="{FF2B5EF4-FFF2-40B4-BE49-F238E27FC236}">
                <a16:creationId xmlns:a16="http://schemas.microsoft.com/office/drawing/2014/main" id="{4B126405-66C2-4714-B221-4E10E0A4C3EB}"/>
              </a:ext>
            </a:extLst>
          </p:cNvPr>
          <p:cNvSpPr>
            <a:spLocks xmlns:a="http://schemas.openxmlformats.org/drawingml/2006/main" noGrp="1"/>
          </p:cNvSpPr>
          <p:nvPr/>
        </p:nvSpPr>
        <p:spPr>
          <a:xfrm xmlns:a="http://schemas.openxmlformats.org/drawingml/2006/main">
            <a:off x="4953000" y="4524375"/>
            <a:ext cx="76200" cy="10477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6" name="step5-not-title">
            <a:extLst xmlns:a="http://schemas.openxmlformats.org/drawingml/2006/main">
              <a:ext uri="{FF2B5EF4-FFF2-40B4-BE49-F238E27FC236}">
                <a16:creationId xmlns:a16="http://schemas.microsoft.com/office/drawing/2014/main" id="{6BE25936-C9EC-4E4F-A1E9-AC963A9B674B}"/>
              </a:ext>
            </a:extLst>
          </p:cNvPr>
          <p:cNvSpPr>
            <a:spLocks xmlns:a="http://schemas.openxmlformats.org/drawingml/2006/main" noGrp="1"/>
          </p:cNvSpPr>
          <p:nvPr/>
        </p:nvSpPr>
        <p:spPr>
          <a:xfrm xmlns:a="http://schemas.openxmlformats.org/drawingml/2006/main">
            <a:off x="5143500" y="46672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A61B2B"/>
                </a:solidFill>
                <a:latin typeface="Arial"/>
                <a:ea typeface="Arial"/>
                <a:cs typeface="Arial"/>
              </a:defRPr>
            </a:pPr>
            <a:r>
              <a:rPr sz="1275" b="1">
                <a:solidFill>
                  <a:srgbClr val="A61B2B"/>
                </a:solidFill>
                <a:latin typeface="Arial"/>
                <a:ea typeface="Arial"/>
                <a:cs typeface="Arial"/>
              </a:rPr>
              <a:t>Question not answered</a:t>
            </a:r>
          </a:p>
        </p:txBody>
      </p:sp>
      <p:sp>
        <p:nvSpPr>
          <p:cNvPr id="37" name="step5-not-body">
            <a:extLst xmlns:a="http://schemas.openxmlformats.org/drawingml/2006/main">
              <a:ext uri="{FF2B5EF4-FFF2-40B4-BE49-F238E27FC236}">
                <a16:creationId xmlns:a16="http://schemas.microsoft.com/office/drawing/2014/main" id="{A12C3FE4-5A7B-4576-9DDF-E5D27B9EA45F}"/>
              </a:ext>
            </a:extLst>
          </p:cNvPr>
          <p:cNvSpPr>
            <a:spLocks xmlns:a="http://schemas.openxmlformats.org/drawingml/2006/main" noGrp="1"/>
          </p:cNvSpPr>
          <p:nvPr/>
        </p:nvSpPr>
        <p:spPr>
          <a:xfrm xmlns:a="http://schemas.openxmlformats.org/drawingml/2006/main">
            <a:off x="5143500" y="5010150"/>
            <a:ext cx="2628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What are D, σ, or a converged migration barrier?</a:t>
            </a:r>
          </a:p>
        </p:txBody>
      </p:sp>
    </p:spTree>
    <p:extLst>
      <p:ext uri="{BB962C8B-B14F-4D97-AF65-F5344CB8AC3E}">
        <p14:creationId xmlns:p14="http://schemas.microsoft.com/office/powerpoint/2010/main" val="4189459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8" name="bg-11">
            <a:extLst xmlns:a="http://schemas.openxmlformats.org/drawingml/2006/main">
              <a:ext uri="{FF2B5EF4-FFF2-40B4-BE49-F238E27FC236}">
                <a16:creationId xmlns:a16="http://schemas.microsoft.com/office/drawing/2014/main" id="{42BCE85D-7FF1-4A39-81FC-4F57336820D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1">
            <a:extLst xmlns:a="http://schemas.openxmlformats.org/drawingml/2006/main">
              <a:ext uri="{FF2B5EF4-FFF2-40B4-BE49-F238E27FC236}">
                <a16:creationId xmlns:a16="http://schemas.microsoft.com/office/drawing/2014/main" id="{6BD01FA7-AB46-428E-86BD-81D025FFFF3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08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6 — Static Li-path risk</a:t>
            </a:r>
          </a:p>
        </p:txBody>
      </p:sp>
      <p:sp>
        <p:nvSpPr>
          <p:cNvPr id="3" name="terms-11">
            <a:extLst xmlns:a="http://schemas.openxmlformats.org/drawingml/2006/main">
              <a:ext uri="{FF2B5EF4-FFF2-40B4-BE49-F238E27FC236}">
                <a16:creationId xmlns:a16="http://schemas.microsoft.com/office/drawing/2014/main" id="{1576C10E-4D2B-4CF8-B1BF-7D59CE711D8B}"/>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Bond-valence proxy: static coordination-based landscape  ·  4 Å fraction: nearby-Li geometry count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Static proxy ≠ diffusion coefficient, conductivity, or migration barrier</a:t>
            </a:r>
          </a:p>
        </p:txBody>
      </p:sp>
      <p:sp>
        <p:nvSpPr>
          <p:cNvPr id="4" name="divider-11">
            <a:extLst xmlns:a="http://schemas.openxmlformats.org/drawingml/2006/main">
              <a:ext uri="{FF2B5EF4-FFF2-40B4-BE49-F238E27FC236}">
                <a16:creationId xmlns:a16="http://schemas.microsoft.com/office/drawing/2014/main" id="{A562BBF3-1F41-4961-9084-83E274E8EDC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1">
            <a:extLst xmlns:a="http://schemas.openxmlformats.org/drawingml/2006/main">
              <a:ext uri="{FF2B5EF4-FFF2-40B4-BE49-F238E27FC236}">
                <a16:creationId xmlns:a16="http://schemas.microsoft.com/office/drawing/2014/main" id="{625E0C1A-217D-4BB4-A278-B712AB04E2E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1">
            <a:extLst xmlns:a="http://schemas.openxmlformats.org/drawingml/2006/main">
              <a:ext uri="{FF2B5EF4-FFF2-40B4-BE49-F238E27FC236}">
                <a16:creationId xmlns:a16="http://schemas.microsoft.com/office/drawing/2014/main" id="{1800E3FB-DDE3-4845-BC77-13FB348163C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Use static geometry to flag obvious pathway risks before MD</a:t>
            </a:r>
          </a:p>
        </p:txBody>
      </p:sp>
      <p:sp>
        <p:nvSpPr>
          <p:cNvPr id="7" name="bullet-dot-11-0">
            <a:extLst xmlns:a="http://schemas.openxmlformats.org/drawingml/2006/main">
              <a:ext uri="{FF2B5EF4-FFF2-40B4-BE49-F238E27FC236}">
                <a16:creationId xmlns:a16="http://schemas.microsoft.com/office/drawing/2014/main" id="{575266FD-784D-4D5D-8973-706488C1DF1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1-0">
            <a:extLst xmlns:a="http://schemas.openxmlformats.org/drawingml/2006/main">
              <a:ext uri="{FF2B5EF4-FFF2-40B4-BE49-F238E27FC236}">
                <a16:creationId xmlns:a16="http://schemas.microsoft.com/office/drawing/2014/main" id="{FBF502C3-1E31-458F-BCDB-B44C85856F4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annealed geometry is mapped onto a bond-valence landscape and a local 4 Å proximity metric.</a:t>
            </a:r>
          </a:p>
        </p:txBody>
      </p:sp>
      <p:sp>
        <p:nvSpPr>
          <p:cNvPr id="9" name="bullet-dot-11-1">
            <a:extLst xmlns:a="http://schemas.openxmlformats.org/drawingml/2006/main">
              <a:ext uri="{FF2B5EF4-FFF2-40B4-BE49-F238E27FC236}">
                <a16:creationId xmlns:a16="http://schemas.microsoft.com/office/drawing/2014/main" id="{94A13DB2-4EC0-4A18-B733-353E5E29950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1-1">
            <a:extLst xmlns:a="http://schemas.openxmlformats.org/drawingml/2006/main">
              <a:ext uri="{FF2B5EF4-FFF2-40B4-BE49-F238E27FC236}">
                <a16:creationId xmlns:a16="http://schemas.microsoft.com/office/drawing/2014/main" id="{F889828F-7509-4F0E-8D36-88ECFCBB1B3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Both are inexpensive risk indicators; neither is a transport measurement.</a:t>
            </a:r>
          </a:p>
        </p:txBody>
      </p:sp>
      <p:sp>
        <p:nvSpPr>
          <p:cNvPr id="11" name="citation-11">
            <a:extLst xmlns:a="http://schemas.openxmlformats.org/drawingml/2006/main">
              <a:ext uri="{FF2B5EF4-FFF2-40B4-BE49-F238E27FC236}">
                <a16:creationId xmlns:a16="http://schemas.microsoft.com/office/drawing/2014/main" id="{1AB8F407-3106-4DC6-BE8D-3AA13BF69CD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stages 05–06 · legacy BVS implementation</a:t>
            </a:r>
          </a:p>
        </p:txBody>
      </p:sp>
      <p:sp>
        <p:nvSpPr>
          <p:cNvPr id="12" name="footer-brand-11">
            <a:extLst xmlns:a="http://schemas.openxmlformats.org/drawingml/2006/main">
              <a:ext uri="{FF2B5EF4-FFF2-40B4-BE49-F238E27FC236}">
                <a16:creationId xmlns:a16="http://schemas.microsoft.com/office/drawing/2014/main" id="{72094AD0-9D08-44F8-8D2C-641CACA8704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1">
            <a:extLst xmlns:a="http://schemas.openxmlformats.org/drawingml/2006/main">
              <a:ext uri="{FF2B5EF4-FFF2-40B4-BE49-F238E27FC236}">
                <a16:creationId xmlns:a16="http://schemas.microsoft.com/office/drawing/2014/main" id="{77073424-3802-4A2B-A036-E49628422C16}"/>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1">
            <a:extLst xmlns:a="http://schemas.openxmlformats.org/drawingml/2006/main">
              <a:ext uri="{FF2B5EF4-FFF2-40B4-BE49-F238E27FC236}">
                <a16:creationId xmlns:a16="http://schemas.microsoft.com/office/drawing/2014/main" id="{A5893C2A-6074-4180-8227-B9C0731E1499}"/>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11</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915225b4e2744da"/>
          <a:stretch xmlns:a="http://schemas.openxmlformats.org/drawingml/2006/main"/>
        </p:blipFill>
        <p:spPr>
          <a:xfrm xmlns:a="http://schemas.openxmlformats.org/drawingml/2006/main">
            <a:off x="714375" y="2472837"/>
            <a:ext cx="7715250" cy="2769577"/>
          </a:xfrm>
          <a:prstGeom xmlns:a="http://schemas.openxmlformats.org/drawingml/2006/main" prst="rect">
            <a:avLst/>
          </a:prstGeom>
        </p:spPr>
      </p:pic>
      <p:sp>
        <p:nvSpPr>
          <p:cNvPr id="16" name="bv-label">
            <a:extLst xmlns:a="http://schemas.openxmlformats.org/drawingml/2006/main">
              <a:ext uri="{FF2B5EF4-FFF2-40B4-BE49-F238E27FC236}">
                <a16:creationId xmlns:a16="http://schemas.microsoft.com/office/drawing/2014/main" id="{1DA5F23E-FC4A-4149-B216-BB149EC58911}"/>
              </a:ext>
            </a:extLst>
          </p:cNvPr>
          <p:cNvSpPr>
            <a:spLocks xmlns:a="http://schemas.openxmlformats.org/drawingml/2006/main" noGrp="1"/>
          </p:cNvSpPr>
          <p:nvPr/>
        </p:nvSpPr>
        <p:spPr>
          <a:xfrm xmlns:a="http://schemas.openxmlformats.org/drawingml/2006/main">
            <a:off x="2428875" y="5524500"/>
            <a:ext cx="4286250" cy="2857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STATIC PATHWAY ILLUSTRATION — NOT CONDUCTIVITY</a:t>
            </a:r>
          </a:p>
        </p:txBody>
      </p:sp>
      <p:sp>
        <p:nvSpPr>
          <p:cNvPr id="17" name="bv-caption">
            <a:extLst xmlns:a="http://schemas.openxmlformats.org/drawingml/2006/main">
              <a:ext uri="{FF2B5EF4-FFF2-40B4-BE49-F238E27FC236}">
                <a16:creationId xmlns:a16="http://schemas.microsoft.com/office/drawing/2014/main" id="{8741E677-B616-47D5-90AC-43D67F96B373}"/>
              </a:ext>
            </a:extLst>
          </p:cNvPr>
          <p:cNvSpPr>
            <a:spLocks xmlns:a="http://schemas.openxmlformats.org/drawingml/2006/main" noGrp="1"/>
          </p:cNvSpPr>
          <p:nvPr/>
        </p:nvSpPr>
        <p:spPr>
          <a:xfrm xmlns:a="http://schemas.openxmlformats.org/drawingml/2006/main">
            <a:off x="1333500" y="5905500"/>
            <a:ext cx="647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13" i="1">
                <a:solidFill>
                  <a:srgbClr val="6B7280"/>
                </a:solidFill>
                <a:latin typeface="Arial"/>
                <a:ea typeface="Arial"/>
                <a:cs typeface="Arial"/>
              </a:defRPr>
            </a:pPr>
            <a:r>
              <a:rPr sz="713" i="1">
                <a:solidFill>
                  <a:srgbClr val="6B7280"/>
                </a:solidFill>
                <a:latin typeface="Arial"/>
                <a:ea typeface="Arial"/>
                <a:cs typeface="Arial"/>
              </a:rPr>
              <a:t>Current project standard uses canonical softBV; the historical cascade used a different legacy parameter set.</a:t>
            </a:r>
          </a:p>
        </p:txBody>
      </p:sp>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5" name="bg-12">
            <a:extLst xmlns:a="http://schemas.openxmlformats.org/drawingml/2006/main">
              <a:ext uri="{FF2B5EF4-FFF2-40B4-BE49-F238E27FC236}">
                <a16:creationId xmlns:a16="http://schemas.microsoft.com/office/drawing/2014/main" id="{0DDCCF3C-C54E-4F96-A357-F033D01360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2">
            <a:extLst xmlns:a="http://schemas.openxmlformats.org/drawingml/2006/main">
              <a:ext uri="{FF2B5EF4-FFF2-40B4-BE49-F238E27FC236}">
                <a16:creationId xmlns:a16="http://schemas.microsoft.com/office/drawing/2014/main" id="{5EB8DF65-AF0A-4A39-982E-F6A43166B45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21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7 — Mechanical response</a:t>
            </a:r>
          </a:p>
        </p:txBody>
      </p:sp>
      <p:sp>
        <p:nvSpPr>
          <p:cNvPr id="3" name="terms-12">
            <a:extLst xmlns:a="http://schemas.openxmlformats.org/drawingml/2006/main">
              <a:ext uri="{FF2B5EF4-FFF2-40B4-BE49-F238E27FC236}">
                <a16:creationId xmlns:a16="http://schemas.microsoft.com/office/drawing/2014/main" id="{AEFA0D98-A834-4992-937F-DC9C8D606053}"/>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EOS: energy as cell volume changes  ·  Finite strain: stress response to small deformation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VRH: polycrystalline average of elastic moduli</a:t>
            </a:r>
          </a:p>
        </p:txBody>
      </p:sp>
      <p:sp>
        <p:nvSpPr>
          <p:cNvPr id="4" name="divider-12">
            <a:extLst xmlns:a="http://schemas.openxmlformats.org/drawingml/2006/main">
              <a:ext uri="{FF2B5EF4-FFF2-40B4-BE49-F238E27FC236}">
                <a16:creationId xmlns:a16="http://schemas.microsoft.com/office/drawing/2014/main" id="{E7AF1E31-4644-4D10-A129-B0CBA47AFB8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2">
            <a:extLst xmlns:a="http://schemas.openxmlformats.org/drawingml/2006/main">
              <a:ext uri="{FF2B5EF4-FFF2-40B4-BE49-F238E27FC236}">
                <a16:creationId xmlns:a16="http://schemas.microsoft.com/office/drawing/2014/main" id="{FA489BE3-9B9A-4D45-90B0-2BF1632C753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2">
            <a:extLst xmlns:a="http://schemas.openxmlformats.org/drawingml/2006/main">
              <a:ext uri="{FF2B5EF4-FFF2-40B4-BE49-F238E27FC236}">
                <a16:creationId xmlns:a16="http://schemas.microsoft.com/office/drawing/2014/main" id="{498261F2-FC40-45CF-B75F-DA344BCC85B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Estimate whether a relaxed structure has a plausible mechanical response</a:t>
            </a:r>
          </a:p>
        </p:txBody>
      </p:sp>
      <p:sp>
        <p:nvSpPr>
          <p:cNvPr id="7" name="bullet-dot-12-0">
            <a:extLst xmlns:a="http://schemas.openxmlformats.org/drawingml/2006/main">
              <a:ext uri="{FF2B5EF4-FFF2-40B4-BE49-F238E27FC236}">
                <a16:creationId xmlns:a16="http://schemas.microsoft.com/office/drawing/2014/main" id="{6F5090DF-65A6-4C95-84D1-E859AC2EC16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2-0">
            <a:extLst xmlns:a="http://schemas.openxmlformats.org/drawingml/2006/main">
              <a:ext uri="{FF2B5EF4-FFF2-40B4-BE49-F238E27FC236}">
                <a16:creationId xmlns:a16="http://schemas.microsoft.com/office/drawing/2014/main" id="{04F63963-5C87-4ADF-A30B-A5D87369B10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Volume scans provide an EOS; small relaxed-ion strains provide elastic moduli.</a:t>
            </a:r>
          </a:p>
        </p:txBody>
      </p:sp>
      <p:sp>
        <p:nvSpPr>
          <p:cNvPr id="9" name="bullet-dot-12-1">
            <a:extLst xmlns:a="http://schemas.openxmlformats.org/drawingml/2006/main">
              <a:ext uri="{FF2B5EF4-FFF2-40B4-BE49-F238E27FC236}">
                <a16:creationId xmlns:a16="http://schemas.microsoft.com/office/drawing/2014/main" id="{24482457-D12D-4DAD-A142-8484D4982BB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2-1">
            <a:extLst xmlns:a="http://schemas.openxmlformats.org/drawingml/2006/main">
              <a:ext uri="{FF2B5EF4-FFF2-40B4-BE49-F238E27FC236}">
                <a16:creationId xmlns:a16="http://schemas.microsoft.com/office/drawing/2014/main" id="{8C2F66E6-F1E8-4CBA-A7A2-31D4F4A65D9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These MLIP values guide validation and should not be treated as final DFT measurements.</a:t>
            </a:r>
          </a:p>
        </p:txBody>
      </p:sp>
      <p:sp>
        <p:nvSpPr>
          <p:cNvPr id="11" name="citation-12">
            <a:extLst xmlns:a="http://schemas.openxmlformats.org/drawingml/2006/main">
              <a:ext uri="{FF2B5EF4-FFF2-40B4-BE49-F238E27FC236}">
                <a16:creationId xmlns:a16="http://schemas.microsoft.com/office/drawing/2014/main" id="{A8BC88BF-7D00-4A26-8FB0-830F6E1D0CD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stages 07–08 · relaxed-ion finite strain</a:t>
            </a:r>
          </a:p>
        </p:txBody>
      </p:sp>
      <p:sp>
        <p:nvSpPr>
          <p:cNvPr id="12" name="footer-brand-12">
            <a:extLst xmlns:a="http://schemas.openxmlformats.org/drawingml/2006/main">
              <a:ext uri="{FF2B5EF4-FFF2-40B4-BE49-F238E27FC236}">
                <a16:creationId xmlns:a16="http://schemas.microsoft.com/office/drawing/2014/main" id="{729EBB29-B7C6-40D1-8797-EEF3DDF9AAFE}"/>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2">
            <a:extLst xmlns:a="http://schemas.openxmlformats.org/drawingml/2006/main">
              <a:ext uri="{FF2B5EF4-FFF2-40B4-BE49-F238E27FC236}">
                <a16:creationId xmlns:a16="http://schemas.microsoft.com/office/drawing/2014/main" id="{61955381-FBB0-4423-B157-5C11BFBF3CF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2">
            <a:extLst xmlns:a="http://schemas.openxmlformats.org/drawingml/2006/main">
              <a:ext uri="{FF2B5EF4-FFF2-40B4-BE49-F238E27FC236}">
                <a16:creationId xmlns:a16="http://schemas.microsoft.com/office/drawing/2014/main" id="{F925C58A-4236-459E-A796-A94F4CFE3A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12</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5d023672e8d410a"/>
          <a:stretch xmlns:a="http://schemas.openxmlformats.org/drawingml/2006/main"/>
        </p:blipFill>
        <p:spPr>
          <a:xfrm xmlns:a="http://schemas.openxmlformats.org/drawingml/2006/main">
            <a:off x="857250" y="2327359"/>
            <a:ext cx="4953000" cy="3584408"/>
          </a:xfrm>
          <a:prstGeom xmlns:a="http://schemas.openxmlformats.org/drawingml/2006/main" prst="rect">
            <a:avLst/>
          </a:prstGeom>
        </p:spPr>
      </p:pic>
      <p:sp>
        <p:nvSpPr>
          <p:cNvPr id="16" name="mech-eos-bg">
            <a:extLst xmlns:a="http://schemas.openxmlformats.org/drawingml/2006/main">
              <a:ext uri="{FF2B5EF4-FFF2-40B4-BE49-F238E27FC236}">
                <a16:creationId xmlns:a16="http://schemas.microsoft.com/office/drawing/2014/main" id="{C897FCFD-341B-46A2-9728-CA2263C8982D}"/>
              </a:ext>
            </a:extLst>
          </p:cNvPr>
          <p:cNvSpPr>
            <a:spLocks xmlns:a="http://schemas.openxmlformats.org/drawingml/2006/main" noGrp="1"/>
          </p:cNvSpPr>
          <p:nvPr/>
        </p:nvSpPr>
        <p:spPr>
          <a:xfrm xmlns:a="http://schemas.openxmlformats.org/drawingml/2006/main">
            <a:off x="6191250" y="2571750"/>
            <a:ext cx="2190750" cy="1095375"/>
          </a:xfrm>
          <a:prstGeom xmlns:a="http://schemas.openxmlformats.org/drawingml/2006/main" prst="rect">
            <a:avLst/>
          </a:prstGeom>
          <a:solidFill xmlns:a="http://schemas.openxmlformats.org/drawingml/2006/main">
            <a:srgbClr val="EAF2F8"/>
          </a:solidFill>
          <a:ln xmlns:a="http://schemas.openxmlformats.org/drawingml/2006/main" w="9525">
            <a:solidFill>
              <a:srgbClr val="E5E7EB"/>
            </a:solidFill>
            <a:prstDash val="solid"/>
          </a:ln>
        </p:spPr>
      </p:sp>
      <p:sp>
        <p:nvSpPr>
          <p:cNvPr id="17" name="mech-eos-bar">
            <a:extLst xmlns:a="http://schemas.openxmlformats.org/drawingml/2006/main">
              <a:ext uri="{FF2B5EF4-FFF2-40B4-BE49-F238E27FC236}">
                <a16:creationId xmlns:a16="http://schemas.microsoft.com/office/drawing/2014/main" id="{476EE2B0-A781-4E00-9404-88D229F3FD76}"/>
              </a:ext>
            </a:extLst>
          </p:cNvPr>
          <p:cNvSpPr>
            <a:spLocks xmlns:a="http://schemas.openxmlformats.org/drawingml/2006/main" noGrp="1"/>
          </p:cNvSpPr>
          <p:nvPr/>
        </p:nvSpPr>
        <p:spPr>
          <a:xfrm xmlns:a="http://schemas.openxmlformats.org/drawingml/2006/main">
            <a:off x="6191250" y="2571750"/>
            <a:ext cx="76200" cy="1095375"/>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8" name="mech-eos-title">
            <a:extLst xmlns:a="http://schemas.openxmlformats.org/drawingml/2006/main">
              <a:ext uri="{FF2B5EF4-FFF2-40B4-BE49-F238E27FC236}">
                <a16:creationId xmlns:a16="http://schemas.microsoft.com/office/drawing/2014/main" id="{C8804B68-85A6-4E5B-A9AA-FF8CE63B3678}"/>
              </a:ext>
            </a:extLst>
          </p:cNvPr>
          <p:cNvSpPr>
            <a:spLocks xmlns:a="http://schemas.openxmlformats.org/drawingml/2006/main" noGrp="1"/>
          </p:cNvSpPr>
          <p:nvPr/>
        </p:nvSpPr>
        <p:spPr>
          <a:xfrm xmlns:a="http://schemas.openxmlformats.org/drawingml/2006/main">
            <a:off x="6381750" y="271462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F4E79"/>
                </a:solidFill>
                <a:latin typeface="Arial"/>
                <a:ea typeface="Arial"/>
                <a:cs typeface="Arial"/>
              </a:defRPr>
            </a:pPr>
            <a:r>
              <a:rPr sz="1275" b="1">
                <a:solidFill>
                  <a:srgbClr val="1F4E79"/>
                </a:solidFill>
                <a:latin typeface="Arial"/>
                <a:ea typeface="Arial"/>
                <a:cs typeface="Arial"/>
              </a:rPr>
              <a:t>EOS</a:t>
            </a:r>
          </a:p>
        </p:txBody>
      </p:sp>
      <p:sp>
        <p:nvSpPr>
          <p:cNvPr id="19" name="mech-eos-body">
            <a:extLst xmlns:a="http://schemas.openxmlformats.org/drawingml/2006/main">
              <a:ext uri="{FF2B5EF4-FFF2-40B4-BE49-F238E27FC236}">
                <a16:creationId xmlns:a16="http://schemas.microsoft.com/office/drawing/2014/main" id="{2C8A6202-A123-4EEF-A943-C0CE0F6DC0BD}"/>
              </a:ext>
            </a:extLst>
          </p:cNvPr>
          <p:cNvSpPr>
            <a:spLocks xmlns:a="http://schemas.openxmlformats.org/drawingml/2006/main" noGrp="1"/>
          </p:cNvSpPr>
          <p:nvPr/>
        </p:nvSpPr>
        <p:spPr>
          <a:xfrm xmlns:a="http://schemas.openxmlformats.org/drawingml/2006/main">
            <a:off x="6381750" y="3057525"/>
            <a:ext cx="18669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Cell-volume response</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bulk modulus scale</a:t>
            </a:r>
          </a:p>
        </p:txBody>
      </p:sp>
      <p:sp>
        <p:nvSpPr>
          <p:cNvPr id="20" name="mech-elastic-bg">
            <a:extLst xmlns:a="http://schemas.openxmlformats.org/drawingml/2006/main">
              <a:ext uri="{FF2B5EF4-FFF2-40B4-BE49-F238E27FC236}">
                <a16:creationId xmlns:a16="http://schemas.microsoft.com/office/drawing/2014/main" id="{0BABCF1D-725F-48D7-B981-5700179153C4}"/>
              </a:ext>
            </a:extLst>
          </p:cNvPr>
          <p:cNvSpPr>
            <a:spLocks xmlns:a="http://schemas.openxmlformats.org/drawingml/2006/main" noGrp="1"/>
          </p:cNvSpPr>
          <p:nvPr/>
        </p:nvSpPr>
        <p:spPr>
          <a:xfrm xmlns:a="http://schemas.openxmlformats.org/drawingml/2006/main">
            <a:off x="6191250" y="4000500"/>
            <a:ext cx="2190750" cy="1095375"/>
          </a:xfrm>
          <a:prstGeom xmlns:a="http://schemas.openxmlformats.org/drawingml/2006/main" prst="rect">
            <a:avLst/>
          </a:prstGeom>
          <a:solidFill xmlns:a="http://schemas.openxmlformats.org/drawingml/2006/main">
            <a:srgbClr val="FFF7E6"/>
          </a:solidFill>
          <a:ln xmlns:a="http://schemas.openxmlformats.org/drawingml/2006/main" w="9525">
            <a:solidFill>
              <a:srgbClr val="E5E7EB"/>
            </a:solidFill>
            <a:prstDash val="solid"/>
          </a:ln>
        </p:spPr>
      </p:sp>
      <p:sp>
        <p:nvSpPr>
          <p:cNvPr id="21" name="mech-elastic-bar">
            <a:extLst xmlns:a="http://schemas.openxmlformats.org/drawingml/2006/main">
              <a:ext uri="{FF2B5EF4-FFF2-40B4-BE49-F238E27FC236}">
                <a16:creationId xmlns:a16="http://schemas.microsoft.com/office/drawing/2014/main" id="{52E337C6-3B4E-412C-859B-9D215B847BEC}"/>
              </a:ext>
            </a:extLst>
          </p:cNvPr>
          <p:cNvSpPr>
            <a:spLocks xmlns:a="http://schemas.openxmlformats.org/drawingml/2006/main" noGrp="1"/>
          </p:cNvSpPr>
          <p:nvPr/>
        </p:nvSpPr>
        <p:spPr>
          <a:xfrm xmlns:a="http://schemas.openxmlformats.org/drawingml/2006/main">
            <a:off x="6191250" y="4000500"/>
            <a:ext cx="76200" cy="1095375"/>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sp>
      <p:sp>
        <p:nvSpPr>
          <p:cNvPr id="22" name="mech-elastic-title">
            <a:extLst xmlns:a="http://schemas.openxmlformats.org/drawingml/2006/main">
              <a:ext uri="{FF2B5EF4-FFF2-40B4-BE49-F238E27FC236}">
                <a16:creationId xmlns:a16="http://schemas.microsoft.com/office/drawing/2014/main" id="{B8790FD5-26DF-42EE-A323-286B50362127}"/>
              </a:ext>
            </a:extLst>
          </p:cNvPr>
          <p:cNvSpPr>
            <a:spLocks xmlns:a="http://schemas.openxmlformats.org/drawingml/2006/main" noGrp="1"/>
          </p:cNvSpPr>
          <p:nvPr/>
        </p:nvSpPr>
        <p:spPr>
          <a:xfrm xmlns:a="http://schemas.openxmlformats.org/drawingml/2006/main">
            <a:off x="6381750" y="414337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C45A14"/>
                </a:solidFill>
                <a:latin typeface="Arial"/>
                <a:ea typeface="Arial"/>
                <a:cs typeface="Arial"/>
              </a:defRPr>
            </a:pPr>
            <a:r>
              <a:rPr sz="1275" b="1">
                <a:solidFill>
                  <a:srgbClr val="C45A14"/>
                </a:solidFill>
                <a:latin typeface="Arial"/>
                <a:ea typeface="Arial"/>
                <a:cs typeface="Arial"/>
              </a:rPr>
              <a:t>Elastic tensor</a:t>
            </a:r>
          </a:p>
        </p:txBody>
      </p:sp>
      <p:sp>
        <p:nvSpPr>
          <p:cNvPr id="23" name="mech-elastic-body">
            <a:extLst xmlns:a="http://schemas.openxmlformats.org/drawingml/2006/main">
              <a:ext uri="{FF2B5EF4-FFF2-40B4-BE49-F238E27FC236}">
                <a16:creationId xmlns:a16="http://schemas.microsoft.com/office/drawing/2014/main" id="{8153FCA4-D929-4EA0-8B36-5C0EF228B7B3}"/>
              </a:ext>
            </a:extLst>
          </p:cNvPr>
          <p:cNvSpPr>
            <a:spLocks xmlns:a="http://schemas.openxmlformats.org/drawingml/2006/main" noGrp="1"/>
          </p:cNvSpPr>
          <p:nvPr/>
        </p:nvSpPr>
        <p:spPr>
          <a:xfrm xmlns:a="http://schemas.openxmlformats.org/drawingml/2006/main">
            <a:off x="6381750" y="4486275"/>
            <a:ext cx="18669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Small relaxed-ion strains</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E, G, B, and ratios</a:t>
            </a:r>
          </a:p>
        </p:txBody>
      </p:sp>
      <p:sp>
        <p:nvSpPr>
          <p:cNvPr id="24" name="mech-caption">
            <a:extLst xmlns:a="http://schemas.openxmlformats.org/drawingml/2006/main">
              <a:ext uri="{FF2B5EF4-FFF2-40B4-BE49-F238E27FC236}">
                <a16:creationId xmlns:a16="http://schemas.microsoft.com/office/drawing/2014/main" id="{87CF2D52-A0C0-4BB6-A2A6-7F79769E34F8}"/>
              </a:ext>
            </a:extLst>
          </p:cNvPr>
          <p:cNvSpPr>
            <a:spLocks xmlns:a="http://schemas.openxmlformats.org/drawingml/2006/main" noGrp="1"/>
          </p:cNvSpPr>
          <p:nvPr/>
        </p:nvSpPr>
        <p:spPr>
          <a:xfrm xmlns:a="http://schemas.openxmlformats.org/drawingml/2006/main">
            <a:off x="1143000" y="600075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13" i="1">
                <a:solidFill>
                  <a:srgbClr val="6B7280"/>
                </a:solidFill>
                <a:latin typeface="Arial"/>
                <a:ea typeface="Arial"/>
                <a:cs typeface="Arial"/>
              </a:defRPr>
            </a:pPr>
            <a:r>
              <a:rPr sz="713" i="1">
                <a:solidFill>
                  <a:srgbClr val="6B7280"/>
                </a:solidFill>
                <a:latin typeface="Arial"/>
                <a:ea typeface="Arial"/>
                <a:cs typeface="Arial"/>
              </a:rPr>
              <a:t>Example high-fidelity validation — not a screen-wide result.</a:t>
            </a:r>
          </a:p>
        </p:txBody>
      </p:sp>
    </p:spTree>
    <p:extLst>
      <p:ext uri="{BB962C8B-B14F-4D97-AF65-F5344CB8AC3E}">
        <p14:creationId xmlns:p14="http://schemas.microsoft.com/office/powerpoint/2010/main" val="18183679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1" name="bg-13">
            <a:extLst xmlns:a="http://schemas.openxmlformats.org/drawingml/2006/main">
              <a:ext uri="{FF2B5EF4-FFF2-40B4-BE49-F238E27FC236}">
                <a16:creationId xmlns:a16="http://schemas.microsoft.com/office/drawing/2014/main" id="{3D5609ED-E38A-449C-B02D-E290DCD3F07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3">
            <a:extLst xmlns:a="http://schemas.openxmlformats.org/drawingml/2006/main">
              <a:ext uri="{FF2B5EF4-FFF2-40B4-BE49-F238E27FC236}">
                <a16:creationId xmlns:a16="http://schemas.microsoft.com/office/drawing/2014/main" id="{2EC70312-3194-4AFC-9A3A-FDE2660C6D9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366"/>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8 — Thermodynamic context</a:t>
            </a:r>
          </a:p>
        </p:txBody>
      </p:sp>
      <p:sp>
        <p:nvSpPr>
          <p:cNvPr id="3" name="terms-13">
            <a:extLst xmlns:a="http://schemas.openxmlformats.org/drawingml/2006/main">
              <a:ext uri="{FF2B5EF4-FFF2-40B4-BE49-F238E27FC236}">
                <a16:creationId xmlns:a16="http://schemas.microsoft.com/office/drawing/2014/main" id="{A4228897-517C-407B-BA46-F66243AE0A88}"/>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Convex hull: equilibrium reference at fixed composition  ·  Grand potential: stability under Li chemical potential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Phase roster: allowed competing phases used in the comparison</a:t>
            </a:r>
          </a:p>
        </p:txBody>
      </p:sp>
      <p:sp>
        <p:nvSpPr>
          <p:cNvPr id="4" name="divider-13">
            <a:extLst xmlns:a="http://schemas.openxmlformats.org/drawingml/2006/main">
              <a:ext uri="{FF2B5EF4-FFF2-40B4-BE49-F238E27FC236}">
                <a16:creationId xmlns:a16="http://schemas.microsoft.com/office/drawing/2014/main" id="{A716BF5D-C236-4FAB-86C8-5AC8CAA5A49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3">
            <a:extLst xmlns:a="http://schemas.openxmlformats.org/drawingml/2006/main">
              <a:ext uri="{FF2B5EF4-FFF2-40B4-BE49-F238E27FC236}">
                <a16:creationId xmlns:a16="http://schemas.microsoft.com/office/drawing/2014/main" id="{6E558DBF-8E89-4CF5-8086-9601E2F40C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3">
            <a:extLst xmlns:a="http://schemas.openxmlformats.org/drawingml/2006/main">
              <a:ext uri="{FF2B5EF4-FFF2-40B4-BE49-F238E27FC236}">
                <a16:creationId xmlns:a16="http://schemas.microsoft.com/office/drawing/2014/main" id="{3CFCD0E2-136E-4770-AC8F-862FE17576E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Separate bulk decomposition questions from interface and kinetic questions</a:t>
            </a:r>
          </a:p>
        </p:txBody>
      </p:sp>
      <p:sp>
        <p:nvSpPr>
          <p:cNvPr id="7" name="bullet-dot-13-0">
            <a:extLst xmlns:a="http://schemas.openxmlformats.org/drawingml/2006/main">
              <a:ext uri="{FF2B5EF4-FFF2-40B4-BE49-F238E27FC236}">
                <a16:creationId xmlns:a16="http://schemas.microsoft.com/office/drawing/2014/main" id="{AA64C761-0CEE-4C64-B777-F0B9C1F6C3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3-0">
            <a:extLst xmlns:a="http://schemas.openxmlformats.org/drawingml/2006/main">
              <a:ext uri="{FF2B5EF4-FFF2-40B4-BE49-F238E27FC236}">
                <a16:creationId xmlns:a16="http://schemas.microsoft.com/office/drawing/2014/main" id="{9949F69E-0086-4EF5-83F0-40FC2B34FF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Grand-potential calculations estimate oxidation onset and likely decomposition products.</a:t>
            </a:r>
          </a:p>
        </p:txBody>
      </p:sp>
      <p:sp>
        <p:nvSpPr>
          <p:cNvPr id="9" name="bullet-dot-13-1">
            <a:extLst xmlns:a="http://schemas.openxmlformats.org/drawingml/2006/main">
              <a:ext uri="{FF2B5EF4-FFF2-40B4-BE49-F238E27FC236}">
                <a16:creationId xmlns:a16="http://schemas.microsoft.com/office/drawing/2014/main" id="{A4F70014-7C5E-4F50-B767-7CE3878BFAE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3-1">
            <a:extLst xmlns:a="http://schemas.openxmlformats.org/drawingml/2006/main">
              <a:ext uri="{FF2B5EF4-FFF2-40B4-BE49-F238E27FC236}">
                <a16:creationId xmlns:a16="http://schemas.microsoft.com/office/drawing/2014/main" id="{89938A81-117B-4351-9897-A02C11D402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same-roster bulk comparison still does not predict passivation, adhesion, or reaction kinetics.</a:t>
            </a:r>
          </a:p>
        </p:txBody>
      </p:sp>
      <p:sp>
        <p:nvSpPr>
          <p:cNvPr id="11" name="citation-13">
            <a:extLst xmlns:a="http://schemas.openxmlformats.org/drawingml/2006/main">
              <a:ext uri="{FF2B5EF4-FFF2-40B4-BE49-F238E27FC236}">
                <a16:creationId xmlns:a16="http://schemas.microsoft.com/office/drawing/2014/main" id="{F36358EF-D7A9-4C67-A2CB-2163000E2B8C}"/>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stages 09a–09f + external grand-potential batch</a:t>
            </a:r>
          </a:p>
        </p:txBody>
      </p:sp>
      <p:sp>
        <p:nvSpPr>
          <p:cNvPr id="12" name="footer-brand-13">
            <a:extLst xmlns:a="http://schemas.openxmlformats.org/drawingml/2006/main">
              <a:ext uri="{FF2B5EF4-FFF2-40B4-BE49-F238E27FC236}">
                <a16:creationId xmlns:a16="http://schemas.microsoft.com/office/drawing/2014/main" id="{75694E06-3312-4145-8CA4-D260F2EE8C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3">
            <a:extLst xmlns:a="http://schemas.openxmlformats.org/drawingml/2006/main">
              <a:ext uri="{FF2B5EF4-FFF2-40B4-BE49-F238E27FC236}">
                <a16:creationId xmlns:a16="http://schemas.microsoft.com/office/drawing/2014/main" id="{17BD0498-EB0C-4EE4-A844-A974FB550634}"/>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3">
            <a:extLst xmlns:a="http://schemas.openxmlformats.org/drawingml/2006/main">
              <a:ext uri="{FF2B5EF4-FFF2-40B4-BE49-F238E27FC236}">
                <a16:creationId xmlns:a16="http://schemas.microsoft.com/office/drawing/2014/main" id="{9ADCA14B-0B8F-469D-BBD5-9D665B4950F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13</a:t>
            </a:r>
          </a:p>
        </p:txBody>
      </p:sp>
      <p:sp>
        <p:nvSpPr>
          <p:cNvPr id="15" name="thermo-v">
            <a:extLst xmlns:a="http://schemas.openxmlformats.org/drawingml/2006/main">
              <a:ext uri="{FF2B5EF4-FFF2-40B4-BE49-F238E27FC236}">
                <a16:creationId xmlns:a16="http://schemas.microsoft.com/office/drawing/2014/main" id="{319A8FA5-F079-4F84-891B-3A502B902802}"/>
              </a:ext>
            </a:extLst>
          </p:cNvPr>
          <p:cNvSpPr>
            <a:spLocks xmlns:a="http://schemas.openxmlformats.org/drawingml/2006/main" noGrp="1"/>
          </p:cNvSpPr>
          <p:nvPr/>
        </p:nvSpPr>
        <p:spPr>
          <a:xfrm xmlns:a="http://schemas.openxmlformats.org/drawingml/2006/main">
            <a:off x="1524000" y="26860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F4E79"/>
                </a:solidFill>
                <a:latin typeface="Arial"/>
                <a:ea typeface="Arial"/>
                <a:cs typeface="Arial"/>
              </a:defRPr>
            </a:pPr>
            <a:r>
              <a:rPr sz="1200" b="1">
                <a:solidFill>
                  <a:srgbClr val="1F4E79"/>
                </a:solidFill>
                <a:latin typeface="Arial"/>
                <a:ea typeface="Arial"/>
                <a:cs typeface="Arial"/>
              </a:rPr>
              <a:t>Voltage / Li chemical potential</a:t>
            </a:r>
          </a:p>
        </p:txBody>
      </p:sp>
      <p:sp>
        <p:nvSpPr>
          <p:cNvPr id="16" name="thermo-axis">
            <a:extLst xmlns:a="http://schemas.openxmlformats.org/drawingml/2006/main">
              <a:ext uri="{FF2B5EF4-FFF2-40B4-BE49-F238E27FC236}">
                <a16:creationId xmlns:a16="http://schemas.microsoft.com/office/drawing/2014/main" id="{0A970979-8C95-4AD5-82EE-E9FC518FF007}"/>
              </a:ext>
            </a:extLst>
          </p:cNvPr>
          <p:cNvSpPr>
            <a:spLocks xmlns:a="http://schemas.openxmlformats.org/drawingml/2006/main" noGrp="1"/>
          </p:cNvSpPr>
          <p:nvPr/>
        </p:nvSpPr>
        <p:spPr>
          <a:xfrm xmlns:a="http://schemas.openxmlformats.org/drawingml/2006/main">
            <a:off x="1619250" y="3476625"/>
            <a:ext cx="5905500" cy="38100"/>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17" name="thermo-left">
            <a:extLst xmlns:a="http://schemas.openxmlformats.org/drawingml/2006/main">
              <a:ext uri="{FF2B5EF4-FFF2-40B4-BE49-F238E27FC236}">
                <a16:creationId xmlns:a16="http://schemas.microsoft.com/office/drawing/2014/main" id="{74AF159B-7A39-4193-8E9C-78FA29550DD4}"/>
              </a:ext>
            </a:extLst>
          </p:cNvPr>
          <p:cNvSpPr>
            <a:spLocks xmlns:a="http://schemas.openxmlformats.org/drawingml/2006/main" noGrp="1"/>
          </p:cNvSpPr>
          <p:nvPr/>
        </p:nvSpPr>
        <p:spPr>
          <a:xfrm xmlns:a="http://schemas.openxmlformats.org/drawingml/2006/main">
            <a:off x="1285875" y="3733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2563EB"/>
                </a:solidFill>
                <a:latin typeface="Arial"/>
                <a:ea typeface="Arial"/>
                <a:cs typeface="Arial"/>
              </a:defRPr>
            </a:pPr>
            <a:r>
              <a:rPr sz="1050">
                <a:solidFill>
                  <a:srgbClr val="2563EB"/>
                </a:solidFill>
                <a:latin typeface="Arial"/>
                <a:ea typeface="Arial"/>
                <a:cs typeface="Arial"/>
              </a:rPr>
              <a:t>Li-rich</a:t>
            </a:r>
          </a:p>
        </p:txBody>
      </p:sp>
      <p:sp>
        <p:nvSpPr>
          <p:cNvPr id="18" name="thermo-mid">
            <a:extLst xmlns:a="http://schemas.openxmlformats.org/drawingml/2006/main">
              <a:ext uri="{FF2B5EF4-FFF2-40B4-BE49-F238E27FC236}">
                <a16:creationId xmlns:a16="http://schemas.microsoft.com/office/drawing/2014/main" id="{A9007E72-FF6C-43AD-A013-9710412C10E5}"/>
              </a:ext>
            </a:extLst>
          </p:cNvPr>
          <p:cNvSpPr>
            <a:spLocks xmlns:a="http://schemas.openxmlformats.org/drawingml/2006/main" noGrp="1"/>
          </p:cNvSpPr>
          <p:nvPr/>
        </p:nvSpPr>
        <p:spPr>
          <a:xfrm xmlns:a="http://schemas.openxmlformats.org/drawingml/2006/main">
            <a:off x="3333750" y="3733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a:solidFill>
                  <a:srgbClr val="15803D"/>
                </a:solidFill>
                <a:latin typeface="Arial"/>
                <a:ea typeface="Arial"/>
                <a:cs typeface="Arial"/>
              </a:defRPr>
            </a:pPr>
            <a:r>
              <a:rPr sz="1125" b="1">
                <a:solidFill>
                  <a:srgbClr val="15803D"/>
                </a:solidFill>
                <a:latin typeface="Arial"/>
                <a:ea typeface="Arial"/>
                <a:cs typeface="Arial"/>
              </a:rPr>
              <a:t>stable bulk interval</a:t>
            </a:r>
          </a:p>
        </p:txBody>
      </p:sp>
      <p:sp>
        <p:nvSpPr>
          <p:cNvPr id="19" name="thermo-right">
            <a:extLst xmlns:a="http://schemas.openxmlformats.org/drawingml/2006/main">
              <a:ext uri="{FF2B5EF4-FFF2-40B4-BE49-F238E27FC236}">
                <a16:creationId xmlns:a16="http://schemas.microsoft.com/office/drawing/2014/main" id="{84E928BD-1EB7-4AD0-82AE-93C89B3D2940}"/>
              </a:ext>
            </a:extLst>
          </p:cNvPr>
          <p:cNvSpPr>
            <a:spLocks xmlns:a="http://schemas.openxmlformats.org/drawingml/2006/main" noGrp="1"/>
          </p:cNvSpPr>
          <p:nvPr/>
        </p:nvSpPr>
        <p:spPr>
          <a:xfrm xmlns:a="http://schemas.openxmlformats.org/drawingml/2006/main">
            <a:off x="6762750" y="3733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A61B2B"/>
                </a:solidFill>
                <a:latin typeface="Arial"/>
                <a:ea typeface="Arial"/>
                <a:cs typeface="Arial"/>
              </a:defRPr>
            </a:pPr>
            <a:r>
              <a:rPr sz="1050">
                <a:solidFill>
                  <a:srgbClr val="A61B2B"/>
                </a:solidFill>
                <a:latin typeface="Arial"/>
                <a:ea typeface="Arial"/>
                <a:cs typeface="Arial"/>
              </a:rPr>
              <a:t>oxidizing</a:t>
            </a:r>
          </a:p>
        </p:txBody>
      </p:sp>
      <p:sp>
        <p:nvSpPr>
          <p:cNvPr id="20" name="thermo-a">
            <a:extLst xmlns:a="http://schemas.openxmlformats.org/drawingml/2006/main">
              <a:ext uri="{FF2B5EF4-FFF2-40B4-BE49-F238E27FC236}">
                <a16:creationId xmlns:a16="http://schemas.microsoft.com/office/drawing/2014/main" id="{9E4D8EC5-BB19-4C01-9A66-E61CB73F5A37}"/>
              </a:ext>
            </a:extLst>
          </p:cNvPr>
          <p:cNvSpPr>
            <a:spLocks xmlns:a="http://schemas.openxmlformats.org/drawingml/2006/main" noGrp="1"/>
          </p:cNvSpPr>
          <p:nvPr/>
        </p:nvSpPr>
        <p:spPr>
          <a:xfrm xmlns:a="http://schemas.openxmlformats.org/drawingml/2006/main">
            <a:off x="1619250" y="3295650"/>
            <a:ext cx="1952625" cy="361950"/>
          </a:xfrm>
          <a:prstGeom xmlns:a="http://schemas.openxmlformats.org/drawingml/2006/main" prst="rect">
            <a:avLst/>
          </a:prstGeom>
          <a:solidFill xmlns:a="http://schemas.openxmlformats.org/drawingml/2006/main">
            <a:srgbClr val="EAF2F8"/>
          </a:solidFill>
          <a:ln xmlns:a="http://schemas.openxmlformats.org/drawingml/2006/main" w="9525">
            <a:solidFill>
              <a:srgbClr val="2563EB"/>
            </a:solidFill>
            <a:prstDash val="solid"/>
          </a:ln>
        </p:spPr>
      </p:sp>
      <p:sp>
        <p:nvSpPr>
          <p:cNvPr id="21" name="thermo-b">
            <a:extLst xmlns:a="http://schemas.openxmlformats.org/drawingml/2006/main">
              <a:ext uri="{FF2B5EF4-FFF2-40B4-BE49-F238E27FC236}">
                <a16:creationId xmlns:a16="http://schemas.microsoft.com/office/drawing/2014/main" id="{4B8EA43C-E863-4C86-95DC-DD5E4C8F1B87}"/>
              </a:ext>
            </a:extLst>
          </p:cNvPr>
          <p:cNvSpPr>
            <a:spLocks xmlns:a="http://schemas.openxmlformats.org/drawingml/2006/main" noGrp="1"/>
          </p:cNvSpPr>
          <p:nvPr/>
        </p:nvSpPr>
        <p:spPr>
          <a:xfrm xmlns:a="http://schemas.openxmlformats.org/drawingml/2006/main">
            <a:off x="3571875" y="3295650"/>
            <a:ext cx="2381250" cy="361950"/>
          </a:xfrm>
          <a:prstGeom xmlns:a="http://schemas.openxmlformats.org/drawingml/2006/main" prst="rect">
            <a:avLst/>
          </a:prstGeom>
          <a:solidFill xmlns:a="http://schemas.openxmlformats.org/drawingml/2006/main">
            <a:srgbClr val="EAF7EF"/>
          </a:solidFill>
          <a:ln xmlns:a="http://schemas.openxmlformats.org/drawingml/2006/main" w="9525">
            <a:solidFill>
              <a:srgbClr val="15803D"/>
            </a:solidFill>
            <a:prstDash val="solid"/>
          </a:ln>
        </p:spPr>
      </p:sp>
      <p:sp>
        <p:nvSpPr>
          <p:cNvPr id="22" name="thermo-c">
            <a:extLst xmlns:a="http://schemas.openxmlformats.org/drawingml/2006/main">
              <a:ext uri="{FF2B5EF4-FFF2-40B4-BE49-F238E27FC236}">
                <a16:creationId xmlns:a16="http://schemas.microsoft.com/office/drawing/2014/main" id="{C5D4736C-3346-427D-9465-43EA0F93B451}"/>
              </a:ext>
            </a:extLst>
          </p:cNvPr>
          <p:cNvSpPr>
            <a:spLocks xmlns:a="http://schemas.openxmlformats.org/drawingml/2006/main" noGrp="1"/>
          </p:cNvSpPr>
          <p:nvPr/>
        </p:nvSpPr>
        <p:spPr>
          <a:xfrm xmlns:a="http://schemas.openxmlformats.org/drawingml/2006/main">
            <a:off x="5953125" y="3295650"/>
            <a:ext cx="1571625" cy="361950"/>
          </a:xfrm>
          <a:prstGeom xmlns:a="http://schemas.openxmlformats.org/drawingml/2006/main" prst="rect">
            <a:avLst/>
          </a:prstGeom>
          <a:solidFill xmlns:a="http://schemas.openxmlformats.org/drawingml/2006/main">
            <a:srgbClr val="FDECEC"/>
          </a:solidFill>
          <a:ln xmlns:a="http://schemas.openxmlformats.org/drawingml/2006/main" w="9525">
            <a:solidFill>
              <a:srgbClr val="A61B2B"/>
            </a:solidFill>
            <a:prstDash val="solid"/>
          </a:ln>
        </p:spPr>
      </p:sp>
      <p:sp>
        <p:nvSpPr>
          <p:cNvPr id="23" name="thermo-bulk-bg">
            <a:extLst xmlns:a="http://schemas.openxmlformats.org/drawingml/2006/main">
              <a:ext uri="{FF2B5EF4-FFF2-40B4-BE49-F238E27FC236}">
                <a16:creationId xmlns:a16="http://schemas.microsoft.com/office/drawing/2014/main" id="{BD8EF319-5ECB-409D-8F08-C219573A2F64}"/>
              </a:ext>
            </a:extLst>
          </p:cNvPr>
          <p:cNvSpPr>
            <a:spLocks xmlns:a="http://schemas.openxmlformats.org/drawingml/2006/main" noGrp="1"/>
          </p:cNvSpPr>
          <p:nvPr/>
        </p:nvSpPr>
        <p:spPr>
          <a:xfrm xmlns:a="http://schemas.openxmlformats.org/drawingml/2006/main">
            <a:off x="1000125" y="4572000"/>
            <a:ext cx="3143250" cy="1000125"/>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24" name="thermo-bulk-bar">
            <a:extLst xmlns:a="http://schemas.openxmlformats.org/drawingml/2006/main">
              <a:ext uri="{FF2B5EF4-FFF2-40B4-BE49-F238E27FC236}">
                <a16:creationId xmlns:a16="http://schemas.microsoft.com/office/drawing/2014/main" id="{3BF20482-36FB-44A7-8C6A-F8B1BBDA50DA}"/>
              </a:ext>
            </a:extLst>
          </p:cNvPr>
          <p:cNvSpPr>
            <a:spLocks xmlns:a="http://schemas.openxmlformats.org/drawingml/2006/main" noGrp="1"/>
          </p:cNvSpPr>
          <p:nvPr/>
        </p:nvSpPr>
        <p:spPr>
          <a:xfrm xmlns:a="http://schemas.openxmlformats.org/drawingml/2006/main">
            <a:off x="1000125" y="4572000"/>
            <a:ext cx="76200" cy="1000125"/>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25" name="thermo-bulk-title">
            <a:extLst xmlns:a="http://schemas.openxmlformats.org/drawingml/2006/main">
              <a:ext uri="{FF2B5EF4-FFF2-40B4-BE49-F238E27FC236}">
                <a16:creationId xmlns:a16="http://schemas.microsoft.com/office/drawing/2014/main" id="{08BB14FB-2C91-4D8B-97FB-AD9E01A84E27}"/>
              </a:ext>
            </a:extLst>
          </p:cNvPr>
          <p:cNvSpPr>
            <a:spLocks xmlns:a="http://schemas.openxmlformats.org/drawingml/2006/main" noGrp="1"/>
          </p:cNvSpPr>
          <p:nvPr/>
        </p:nvSpPr>
        <p:spPr>
          <a:xfrm xmlns:a="http://schemas.openxmlformats.org/drawingml/2006/main">
            <a:off x="1190625" y="47148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5803D"/>
                </a:solidFill>
                <a:latin typeface="Arial"/>
                <a:ea typeface="Arial"/>
                <a:cs typeface="Arial"/>
              </a:defRPr>
            </a:pPr>
            <a:r>
              <a:rPr sz="1275" b="1">
                <a:solidFill>
                  <a:srgbClr val="15803D"/>
                </a:solidFill>
                <a:latin typeface="Arial"/>
                <a:ea typeface="Arial"/>
                <a:cs typeface="Arial"/>
              </a:rPr>
              <a:t>What this estimates</a:t>
            </a:r>
          </a:p>
        </p:txBody>
      </p:sp>
      <p:sp>
        <p:nvSpPr>
          <p:cNvPr id="26" name="thermo-bulk-body">
            <a:extLst xmlns:a="http://schemas.openxmlformats.org/drawingml/2006/main">
              <a:ext uri="{FF2B5EF4-FFF2-40B4-BE49-F238E27FC236}">
                <a16:creationId xmlns:a16="http://schemas.microsoft.com/office/drawing/2014/main" id="{27FA925D-3C16-42D5-91AB-965181E36715}"/>
              </a:ext>
            </a:extLst>
          </p:cNvPr>
          <p:cNvSpPr>
            <a:spLocks xmlns:a="http://schemas.openxmlformats.org/drawingml/2006/main" noGrp="1"/>
          </p:cNvSpPr>
          <p:nvPr/>
        </p:nvSpPr>
        <p:spPr>
          <a:xfrm xmlns:a="http://schemas.openxmlformats.org/drawingml/2006/main">
            <a:off x="1190625" y="5057775"/>
            <a:ext cx="2819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0 K bulk reaction onset and decomposition products within a fixed phase roster.</a:t>
            </a:r>
          </a:p>
        </p:txBody>
      </p:sp>
      <p:sp>
        <p:nvSpPr>
          <p:cNvPr id="27" name="thermo-miss-bg">
            <a:extLst xmlns:a="http://schemas.openxmlformats.org/drawingml/2006/main">
              <a:ext uri="{FF2B5EF4-FFF2-40B4-BE49-F238E27FC236}">
                <a16:creationId xmlns:a16="http://schemas.microsoft.com/office/drawing/2014/main" id="{EFA2CA7B-7996-4889-8C7A-E5B49ABC12CD}"/>
              </a:ext>
            </a:extLst>
          </p:cNvPr>
          <p:cNvSpPr>
            <a:spLocks xmlns:a="http://schemas.openxmlformats.org/drawingml/2006/main" noGrp="1"/>
          </p:cNvSpPr>
          <p:nvPr/>
        </p:nvSpPr>
        <p:spPr>
          <a:xfrm xmlns:a="http://schemas.openxmlformats.org/drawingml/2006/main">
            <a:off x="5000625" y="4572000"/>
            <a:ext cx="3143250" cy="1000125"/>
          </a:xfrm>
          <a:prstGeom xmlns:a="http://schemas.openxmlformats.org/drawingml/2006/main" prst="rect">
            <a:avLst/>
          </a:prstGeom>
          <a:solidFill xmlns:a="http://schemas.openxmlformats.org/drawingml/2006/main">
            <a:srgbClr val="FDECEC"/>
          </a:solidFill>
          <a:ln xmlns:a="http://schemas.openxmlformats.org/drawingml/2006/main" w="9525">
            <a:solidFill>
              <a:srgbClr val="E5E7EB"/>
            </a:solidFill>
            <a:prstDash val="solid"/>
          </a:ln>
        </p:spPr>
      </p:sp>
      <p:sp>
        <p:nvSpPr>
          <p:cNvPr id="28" name="thermo-miss-bar">
            <a:extLst xmlns:a="http://schemas.openxmlformats.org/drawingml/2006/main">
              <a:ext uri="{FF2B5EF4-FFF2-40B4-BE49-F238E27FC236}">
                <a16:creationId xmlns:a16="http://schemas.microsoft.com/office/drawing/2014/main" id="{E9185F6B-AB73-4D80-9F61-BF39AB4E2026}"/>
              </a:ext>
            </a:extLst>
          </p:cNvPr>
          <p:cNvSpPr>
            <a:spLocks xmlns:a="http://schemas.openxmlformats.org/drawingml/2006/main" noGrp="1"/>
          </p:cNvSpPr>
          <p:nvPr/>
        </p:nvSpPr>
        <p:spPr>
          <a:xfrm xmlns:a="http://schemas.openxmlformats.org/drawingml/2006/main">
            <a:off x="5000625" y="4572000"/>
            <a:ext cx="76200" cy="100012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9" name="thermo-miss-title">
            <a:extLst xmlns:a="http://schemas.openxmlformats.org/drawingml/2006/main">
              <a:ext uri="{FF2B5EF4-FFF2-40B4-BE49-F238E27FC236}">
                <a16:creationId xmlns:a16="http://schemas.microsoft.com/office/drawing/2014/main" id="{670C28E5-DDF9-4853-A16A-0CCA8992DD3C}"/>
              </a:ext>
            </a:extLst>
          </p:cNvPr>
          <p:cNvSpPr>
            <a:spLocks xmlns:a="http://schemas.openxmlformats.org/drawingml/2006/main" noGrp="1"/>
          </p:cNvSpPr>
          <p:nvPr/>
        </p:nvSpPr>
        <p:spPr>
          <a:xfrm xmlns:a="http://schemas.openxmlformats.org/drawingml/2006/main">
            <a:off x="5191125" y="47148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A61B2B"/>
                </a:solidFill>
                <a:latin typeface="Arial"/>
                <a:ea typeface="Arial"/>
                <a:cs typeface="Arial"/>
              </a:defRPr>
            </a:pPr>
            <a:r>
              <a:rPr sz="1275" b="1">
                <a:solidFill>
                  <a:srgbClr val="A61B2B"/>
                </a:solidFill>
                <a:latin typeface="Arial"/>
                <a:ea typeface="Arial"/>
                <a:cs typeface="Arial"/>
              </a:rPr>
              <a:t>What remains</a:t>
            </a:r>
          </a:p>
        </p:txBody>
      </p:sp>
      <p:sp>
        <p:nvSpPr>
          <p:cNvPr id="30" name="thermo-miss-body">
            <a:extLst xmlns:a="http://schemas.openxmlformats.org/drawingml/2006/main">
              <a:ext uri="{FF2B5EF4-FFF2-40B4-BE49-F238E27FC236}">
                <a16:creationId xmlns:a16="http://schemas.microsoft.com/office/drawing/2014/main" id="{307FFE14-E862-44C9-A53D-F3F1C9104398}"/>
              </a:ext>
            </a:extLst>
          </p:cNvPr>
          <p:cNvSpPr>
            <a:spLocks xmlns:a="http://schemas.openxmlformats.org/drawingml/2006/main" noGrp="1"/>
          </p:cNvSpPr>
          <p:nvPr/>
        </p:nvSpPr>
        <p:spPr>
          <a:xfrm xmlns:a="http://schemas.openxmlformats.org/drawingml/2006/main">
            <a:off x="5191125" y="5057775"/>
            <a:ext cx="2819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Explicit interface structure, W_ad, kinetics, passivation thickness, and cell lifetime.</a:t>
            </a:r>
          </a:p>
        </p:txBody>
      </p:sp>
    </p:spTree>
    <p:extLst>
      <p:ext uri="{BB962C8B-B14F-4D97-AF65-F5344CB8AC3E}">
        <p14:creationId xmlns:p14="http://schemas.microsoft.com/office/powerpoint/2010/main" val="58220651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2" name="bg-14">
            <a:extLst xmlns:a="http://schemas.openxmlformats.org/drawingml/2006/main">
              <a:ext uri="{FF2B5EF4-FFF2-40B4-BE49-F238E27FC236}">
                <a16:creationId xmlns:a16="http://schemas.microsoft.com/office/drawing/2014/main" id="{F4D6ADAB-3FAC-480B-9E80-92522F3221D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4">
            <a:extLst xmlns:a="http://schemas.openxmlformats.org/drawingml/2006/main">
              <a:ext uri="{FF2B5EF4-FFF2-40B4-BE49-F238E27FC236}">
                <a16:creationId xmlns:a16="http://schemas.microsoft.com/office/drawing/2014/main" id="{EBB81441-240B-43DE-8988-26A38E686C03}"/>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547"/>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9 — Validation queue</a:t>
            </a:r>
          </a:p>
        </p:txBody>
      </p:sp>
      <p:sp>
        <p:nvSpPr>
          <p:cNvPr id="3" name="terms-14">
            <a:extLst xmlns:a="http://schemas.openxmlformats.org/drawingml/2006/main">
              <a:ext uri="{FF2B5EF4-FFF2-40B4-BE49-F238E27FC236}">
                <a16:creationId xmlns:a16="http://schemas.microsoft.com/office/drawing/2014/main" id="{1F808798-5278-4EF3-B10D-6F41CB13E04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Validation queue: ordered list of the next expensive checks  ·  Acquisition: choose the next label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Promotion: move a question to a higher-fidelity method</a:t>
            </a:r>
          </a:p>
        </p:txBody>
      </p:sp>
      <p:sp>
        <p:nvSpPr>
          <p:cNvPr id="4" name="divider-14">
            <a:extLst xmlns:a="http://schemas.openxmlformats.org/drawingml/2006/main">
              <a:ext uri="{FF2B5EF4-FFF2-40B4-BE49-F238E27FC236}">
                <a16:creationId xmlns:a16="http://schemas.microsoft.com/office/drawing/2014/main" id="{B374AE6F-956C-4BF7-ADBF-C9699F5B07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4">
            <a:extLst xmlns:a="http://schemas.openxmlformats.org/drawingml/2006/main">
              <a:ext uri="{FF2B5EF4-FFF2-40B4-BE49-F238E27FC236}">
                <a16:creationId xmlns:a16="http://schemas.microsoft.com/office/drawing/2014/main" id="{02A3B435-66DC-4456-9D32-AC2C1D47FDC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4">
            <a:extLst xmlns:a="http://schemas.openxmlformats.org/drawingml/2006/main">
              <a:ext uri="{FF2B5EF4-FFF2-40B4-BE49-F238E27FC236}">
                <a16:creationId xmlns:a16="http://schemas.microsoft.com/office/drawing/2014/main" id="{F2E40C6A-4A39-4FAD-9221-9240345B80FC}"/>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final product of screening is a validation queue—not an automatic winner</a:t>
            </a:r>
          </a:p>
        </p:txBody>
      </p:sp>
      <p:sp>
        <p:nvSpPr>
          <p:cNvPr id="7" name="bullet-dot-14-0">
            <a:extLst xmlns:a="http://schemas.openxmlformats.org/drawingml/2006/main">
              <a:ext uri="{FF2B5EF4-FFF2-40B4-BE49-F238E27FC236}">
                <a16:creationId xmlns:a16="http://schemas.microsoft.com/office/drawing/2014/main" id="{1362EA0F-E169-416C-998F-2E75E89D92C8}"/>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4-0">
            <a:extLst xmlns:a="http://schemas.openxmlformats.org/drawingml/2006/main">
              <a:ext uri="{FF2B5EF4-FFF2-40B4-BE49-F238E27FC236}">
                <a16:creationId xmlns:a16="http://schemas.microsoft.com/office/drawing/2014/main" id="{F106D4E4-3B2D-4C02-B20E-4F52B1E6348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Exact formula, site, method, and uncertainty travel with every promoted structure.</a:t>
            </a:r>
          </a:p>
        </p:txBody>
      </p:sp>
      <p:sp>
        <p:nvSpPr>
          <p:cNvPr id="9" name="bullet-dot-14-1">
            <a:extLst xmlns:a="http://schemas.openxmlformats.org/drawingml/2006/main">
              <a:ext uri="{FF2B5EF4-FFF2-40B4-BE49-F238E27FC236}">
                <a16:creationId xmlns:a16="http://schemas.microsoft.com/office/drawing/2014/main" id="{E6D09F13-161C-4D17-9F32-195E56CF8A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4-1">
            <a:extLst xmlns:a="http://schemas.openxmlformats.org/drawingml/2006/main">
              <a:ext uri="{FF2B5EF4-FFF2-40B4-BE49-F238E27FC236}">
                <a16:creationId xmlns:a16="http://schemas.microsoft.com/office/drawing/2014/main" id="{45FD67AA-B183-40EA-AD77-1A6DAA00ECF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Matched DFT, multiseed MD, interface calculations, and experiments decide the claim.</a:t>
            </a:r>
          </a:p>
        </p:txBody>
      </p:sp>
      <p:sp>
        <p:nvSpPr>
          <p:cNvPr id="11" name="citation-14">
            <a:extLst xmlns:a="http://schemas.openxmlformats.org/drawingml/2006/main">
              <a:ext uri="{FF2B5EF4-FFF2-40B4-BE49-F238E27FC236}">
                <a16:creationId xmlns:a16="http://schemas.microsoft.com/office/drawing/2014/main" id="{83E37C3B-ACDC-438F-8A24-0A30AA05B2DB}"/>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Actual stages 10–12b + planned high-fidelity loop</a:t>
            </a:r>
          </a:p>
        </p:txBody>
      </p:sp>
      <p:sp>
        <p:nvSpPr>
          <p:cNvPr id="12" name="footer-brand-14">
            <a:extLst xmlns:a="http://schemas.openxmlformats.org/drawingml/2006/main">
              <a:ext uri="{FF2B5EF4-FFF2-40B4-BE49-F238E27FC236}">
                <a16:creationId xmlns:a16="http://schemas.microsoft.com/office/drawing/2014/main" id="{FD0267FA-62FC-4A8E-835C-48F4AEF0517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4">
            <a:extLst xmlns:a="http://schemas.openxmlformats.org/drawingml/2006/main">
              <a:ext uri="{FF2B5EF4-FFF2-40B4-BE49-F238E27FC236}">
                <a16:creationId xmlns:a16="http://schemas.microsoft.com/office/drawing/2014/main" id="{F5D662E9-2255-4309-8802-D448A8DA55A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4">
            <a:extLst xmlns:a="http://schemas.openxmlformats.org/drawingml/2006/main">
              <a:ext uri="{FF2B5EF4-FFF2-40B4-BE49-F238E27FC236}">
                <a16:creationId xmlns:a16="http://schemas.microsoft.com/office/drawing/2014/main" id="{6516A74B-721B-4F26-B054-E814FDF75E8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14</a:t>
            </a:r>
          </a:p>
        </p:txBody>
      </p:sp>
      <p:sp>
        <p:nvSpPr>
          <p:cNvPr id="15" name="step9-box-0">
            <a:extLst xmlns:a="http://schemas.openxmlformats.org/drawingml/2006/main">
              <a:ext uri="{FF2B5EF4-FFF2-40B4-BE49-F238E27FC236}">
                <a16:creationId xmlns:a16="http://schemas.microsoft.com/office/drawing/2014/main" id="{EAD96D58-4365-4895-8D1F-FB30AA94A1BE}"/>
              </a:ext>
            </a:extLst>
          </p:cNvPr>
          <p:cNvSpPr>
            <a:spLocks xmlns:a="http://schemas.openxmlformats.org/drawingml/2006/main" noGrp="1"/>
          </p:cNvSpPr>
          <p:nvPr/>
        </p:nvSpPr>
        <p:spPr>
          <a:xfrm xmlns:a="http://schemas.openxmlformats.org/drawingml/2006/main">
            <a:off x="666750"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F4E79"/>
            </a:solidFill>
            <a:prstDash val="solid"/>
          </a:ln>
        </p:spPr>
      </p:sp>
      <p:sp>
        <p:nvSpPr>
          <p:cNvPr id="16" name="step9-num-0">
            <a:extLst xmlns:a="http://schemas.openxmlformats.org/drawingml/2006/main">
              <a:ext uri="{FF2B5EF4-FFF2-40B4-BE49-F238E27FC236}">
                <a16:creationId xmlns:a16="http://schemas.microsoft.com/office/drawing/2014/main" id="{A7010097-5FA8-4E93-971C-6EA52E5595DA}"/>
              </a:ext>
            </a:extLst>
          </p:cNvPr>
          <p:cNvSpPr>
            <a:spLocks xmlns:a="http://schemas.openxmlformats.org/drawingml/2006/main" noGrp="1"/>
          </p:cNvSpPr>
          <p:nvPr/>
        </p:nvSpPr>
        <p:spPr>
          <a:xfrm xmlns:a="http://schemas.openxmlformats.org/drawingml/2006/main">
            <a:off x="781050"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F4E79"/>
                </a:solidFill>
                <a:latin typeface="Arial"/>
                <a:ea typeface="Arial"/>
                <a:cs typeface="Arial"/>
              </a:defRPr>
            </a:pPr>
            <a:r>
              <a:rPr sz="900" b="1">
                <a:solidFill>
                  <a:srgbClr val="1F4E79"/>
                </a:solidFill>
                <a:latin typeface="Arial"/>
                <a:ea typeface="Arial"/>
                <a:cs typeface="Arial"/>
              </a:rPr>
              <a:t>01</a:t>
            </a:r>
          </a:p>
        </p:txBody>
      </p:sp>
      <p:sp>
        <p:nvSpPr>
          <p:cNvPr id="17" name="step9-text-0">
            <a:extLst xmlns:a="http://schemas.openxmlformats.org/drawingml/2006/main">
              <a:ext uri="{FF2B5EF4-FFF2-40B4-BE49-F238E27FC236}">
                <a16:creationId xmlns:a16="http://schemas.microsoft.com/office/drawing/2014/main" id="{478CA0C6-61AA-48B4-BC74-07E2961F9D14}"/>
              </a:ext>
            </a:extLst>
          </p:cNvPr>
          <p:cNvSpPr>
            <a:spLocks xmlns:a="http://schemas.openxmlformats.org/drawingml/2006/main" noGrp="1"/>
          </p:cNvSpPr>
          <p:nvPr/>
        </p:nvSpPr>
        <p:spPr>
          <a:xfrm xmlns:a="http://schemas.openxmlformats.org/drawingml/2006/main">
            <a:off x="809625"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SCREENING</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RECORD</a:t>
            </a:r>
          </a:p>
        </p:txBody>
      </p:sp>
      <p:sp>
        <p:nvSpPr>
          <p:cNvPr id="18" name="step9-arrow-0">
            <a:extLst xmlns:a="http://schemas.openxmlformats.org/drawingml/2006/main">
              <a:ext uri="{FF2B5EF4-FFF2-40B4-BE49-F238E27FC236}">
                <a16:creationId xmlns:a16="http://schemas.microsoft.com/office/drawing/2014/main" id="{EEE119D4-9EB6-4F49-9606-402E18D6302C}"/>
              </a:ext>
            </a:extLst>
          </p:cNvPr>
          <p:cNvSpPr>
            <a:spLocks xmlns:a="http://schemas.openxmlformats.org/drawingml/2006/main" noGrp="1"/>
          </p:cNvSpPr>
          <p:nvPr/>
        </p:nvSpPr>
        <p:spPr>
          <a:xfrm xmlns:a="http://schemas.openxmlformats.org/drawingml/2006/main">
            <a:off x="2357438"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19" name="step9-box-1">
            <a:extLst xmlns:a="http://schemas.openxmlformats.org/drawingml/2006/main">
              <a:ext uri="{FF2B5EF4-FFF2-40B4-BE49-F238E27FC236}">
                <a16:creationId xmlns:a16="http://schemas.microsoft.com/office/drawing/2014/main" id="{1A25C6A3-372C-49EE-8A03-C470B60FE0DC}"/>
              </a:ext>
            </a:extLst>
          </p:cNvPr>
          <p:cNvSpPr>
            <a:spLocks xmlns:a="http://schemas.openxmlformats.org/drawingml/2006/main" noGrp="1"/>
          </p:cNvSpPr>
          <p:nvPr/>
        </p:nvSpPr>
        <p:spPr>
          <a:xfrm xmlns:a="http://schemas.openxmlformats.org/drawingml/2006/main">
            <a:off x="2719388"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C45A14"/>
            </a:solidFill>
            <a:prstDash val="solid"/>
          </a:ln>
        </p:spPr>
      </p:sp>
      <p:sp>
        <p:nvSpPr>
          <p:cNvPr id="20" name="step9-num-1">
            <a:extLst xmlns:a="http://schemas.openxmlformats.org/drawingml/2006/main">
              <a:ext uri="{FF2B5EF4-FFF2-40B4-BE49-F238E27FC236}">
                <a16:creationId xmlns:a16="http://schemas.microsoft.com/office/drawing/2014/main" id="{BF563B61-9961-476F-8899-DF8CFF2F72E7}"/>
              </a:ext>
            </a:extLst>
          </p:cNvPr>
          <p:cNvSpPr>
            <a:spLocks xmlns:a="http://schemas.openxmlformats.org/drawingml/2006/main" noGrp="1"/>
          </p:cNvSpPr>
          <p:nvPr/>
        </p:nvSpPr>
        <p:spPr>
          <a:xfrm xmlns:a="http://schemas.openxmlformats.org/drawingml/2006/main">
            <a:off x="2833688"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C45A14"/>
                </a:solidFill>
                <a:latin typeface="Arial"/>
                <a:ea typeface="Arial"/>
                <a:cs typeface="Arial"/>
              </a:defRPr>
            </a:pPr>
            <a:r>
              <a:rPr sz="900" b="1">
                <a:solidFill>
                  <a:srgbClr val="C45A14"/>
                </a:solidFill>
                <a:latin typeface="Arial"/>
                <a:ea typeface="Arial"/>
                <a:cs typeface="Arial"/>
              </a:rPr>
              <a:t>02</a:t>
            </a:r>
          </a:p>
        </p:txBody>
      </p:sp>
      <p:sp>
        <p:nvSpPr>
          <p:cNvPr id="21" name="step9-text-1">
            <a:extLst xmlns:a="http://schemas.openxmlformats.org/drawingml/2006/main">
              <a:ext uri="{FF2B5EF4-FFF2-40B4-BE49-F238E27FC236}">
                <a16:creationId xmlns:a16="http://schemas.microsoft.com/office/drawing/2014/main" id="{43A8BD2A-208A-44C1-8AA0-6CE31F4525A0}"/>
              </a:ext>
            </a:extLst>
          </p:cNvPr>
          <p:cNvSpPr>
            <a:spLocks xmlns:a="http://schemas.openxmlformats.org/drawingml/2006/main" noGrp="1"/>
          </p:cNvSpPr>
          <p:nvPr/>
        </p:nvSpPr>
        <p:spPr>
          <a:xfrm xmlns:a="http://schemas.openxmlformats.org/drawingml/2006/main">
            <a:off x="2862263"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UNCERTAINTY &amp;</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BOUNDARY</a:t>
            </a:r>
          </a:p>
        </p:txBody>
      </p:sp>
      <p:sp>
        <p:nvSpPr>
          <p:cNvPr id="22" name="step9-arrow-1">
            <a:extLst xmlns:a="http://schemas.openxmlformats.org/drawingml/2006/main">
              <a:ext uri="{FF2B5EF4-FFF2-40B4-BE49-F238E27FC236}">
                <a16:creationId xmlns:a16="http://schemas.microsoft.com/office/drawing/2014/main" id="{CAAC3A3C-3C7A-49E9-B983-2F1BAF1407F5}"/>
              </a:ext>
            </a:extLst>
          </p:cNvPr>
          <p:cNvSpPr>
            <a:spLocks xmlns:a="http://schemas.openxmlformats.org/drawingml/2006/main" noGrp="1"/>
          </p:cNvSpPr>
          <p:nvPr/>
        </p:nvSpPr>
        <p:spPr>
          <a:xfrm xmlns:a="http://schemas.openxmlformats.org/drawingml/2006/main">
            <a:off x="4410075"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3" name="step9-box-2">
            <a:extLst xmlns:a="http://schemas.openxmlformats.org/drawingml/2006/main">
              <a:ext uri="{FF2B5EF4-FFF2-40B4-BE49-F238E27FC236}">
                <a16:creationId xmlns:a16="http://schemas.microsoft.com/office/drawing/2014/main" id="{A4AFA6AE-C832-4861-A8AD-9C6EF1E3F6A8}"/>
              </a:ext>
            </a:extLst>
          </p:cNvPr>
          <p:cNvSpPr>
            <a:spLocks xmlns:a="http://schemas.openxmlformats.org/drawingml/2006/main" noGrp="1"/>
          </p:cNvSpPr>
          <p:nvPr/>
        </p:nvSpPr>
        <p:spPr>
          <a:xfrm xmlns:a="http://schemas.openxmlformats.org/drawingml/2006/main">
            <a:off x="4772025"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5803D"/>
            </a:solidFill>
            <a:prstDash val="solid"/>
          </a:ln>
        </p:spPr>
      </p:sp>
      <p:sp>
        <p:nvSpPr>
          <p:cNvPr id="24" name="step9-num-2">
            <a:extLst xmlns:a="http://schemas.openxmlformats.org/drawingml/2006/main">
              <a:ext uri="{FF2B5EF4-FFF2-40B4-BE49-F238E27FC236}">
                <a16:creationId xmlns:a16="http://schemas.microsoft.com/office/drawing/2014/main" id="{90F1E9A2-F418-489B-9139-F8C08846ED79}"/>
              </a:ext>
            </a:extLst>
          </p:cNvPr>
          <p:cNvSpPr>
            <a:spLocks xmlns:a="http://schemas.openxmlformats.org/drawingml/2006/main" noGrp="1"/>
          </p:cNvSpPr>
          <p:nvPr/>
        </p:nvSpPr>
        <p:spPr>
          <a:xfrm xmlns:a="http://schemas.openxmlformats.org/drawingml/2006/main">
            <a:off x="4886325"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5803D"/>
                </a:solidFill>
                <a:latin typeface="Arial"/>
                <a:ea typeface="Arial"/>
                <a:cs typeface="Arial"/>
              </a:defRPr>
            </a:pPr>
            <a:r>
              <a:rPr sz="900" b="1">
                <a:solidFill>
                  <a:srgbClr val="15803D"/>
                </a:solidFill>
                <a:latin typeface="Arial"/>
                <a:ea typeface="Arial"/>
                <a:cs typeface="Arial"/>
              </a:rPr>
              <a:t>03</a:t>
            </a:r>
          </a:p>
        </p:txBody>
      </p:sp>
      <p:sp>
        <p:nvSpPr>
          <p:cNvPr id="25" name="step9-text-2">
            <a:extLst xmlns:a="http://schemas.openxmlformats.org/drawingml/2006/main">
              <a:ext uri="{FF2B5EF4-FFF2-40B4-BE49-F238E27FC236}">
                <a16:creationId xmlns:a16="http://schemas.microsoft.com/office/drawing/2014/main" id="{DF82FCCA-B10A-4E73-A7CF-353284BF5D67}"/>
              </a:ext>
            </a:extLst>
          </p:cNvPr>
          <p:cNvSpPr>
            <a:spLocks xmlns:a="http://schemas.openxmlformats.org/drawingml/2006/main" noGrp="1"/>
          </p:cNvSpPr>
          <p:nvPr/>
        </p:nvSpPr>
        <p:spPr>
          <a:xfrm xmlns:a="http://schemas.openxmlformats.org/drawingml/2006/main">
            <a:off x="4914900"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MATCHED</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HIGH-FIDELITY</a:t>
            </a:r>
          </a:p>
        </p:txBody>
      </p:sp>
      <p:sp>
        <p:nvSpPr>
          <p:cNvPr id="26" name="step9-arrow-2">
            <a:extLst xmlns:a="http://schemas.openxmlformats.org/drawingml/2006/main">
              <a:ext uri="{FF2B5EF4-FFF2-40B4-BE49-F238E27FC236}">
                <a16:creationId xmlns:a16="http://schemas.microsoft.com/office/drawing/2014/main" id="{96AE65C1-4422-4884-8F80-2A919BE8AC91}"/>
              </a:ext>
            </a:extLst>
          </p:cNvPr>
          <p:cNvSpPr>
            <a:spLocks xmlns:a="http://schemas.openxmlformats.org/drawingml/2006/main" noGrp="1"/>
          </p:cNvSpPr>
          <p:nvPr/>
        </p:nvSpPr>
        <p:spPr>
          <a:xfrm xmlns:a="http://schemas.openxmlformats.org/drawingml/2006/main">
            <a:off x="6462713" y="30861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7" name="step9-box-3">
            <a:extLst xmlns:a="http://schemas.openxmlformats.org/drawingml/2006/main">
              <a:ext uri="{FF2B5EF4-FFF2-40B4-BE49-F238E27FC236}">
                <a16:creationId xmlns:a16="http://schemas.microsoft.com/office/drawing/2014/main" id="{C71F56E2-CF90-4AA1-BB5C-6725C00267C5}"/>
              </a:ext>
            </a:extLst>
          </p:cNvPr>
          <p:cNvSpPr>
            <a:spLocks xmlns:a="http://schemas.openxmlformats.org/drawingml/2006/main" noGrp="1"/>
          </p:cNvSpPr>
          <p:nvPr/>
        </p:nvSpPr>
        <p:spPr>
          <a:xfrm xmlns:a="http://schemas.openxmlformats.org/drawingml/2006/main">
            <a:off x="6824663" y="2857500"/>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D9488"/>
            </a:solidFill>
            <a:prstDash val="solid"/>
          </a:ln>
        </p:spPr>
      </p:sp>
      <p:sp>
        <p:nvSpPr>
          <p:cNvPr id="28" name="step9-num-3">
            <a:extLst xmlns:a="http://schemas.openxmlformats.org/drawingml/2006/main">
              <a:ext uri="{FF2B5EF4-FFF2-40B4-BE49-F238E27FC236}">
                <a16:creationId xmlns:a16="http://schemas.microsoft.com/office/drawing/2014/main" id="{F17D7DCE-1F52-43F8-B18C-79F6EBEC346B}"/>
              </a:ext>
            </a:extLst>
          </p:cNvPr>
          <p:cNvSpPr>
            <a:spLocks xmlns:a="http://schemas.openxmlformats.org/drawingml/2006/main" noGrp="1"/>
          </p:cNvSpPr>
          <p:nvPr/>
        </p:nvSpPr>
        <p:spPr>
          <a:xfrm xmlns:a="http://schemas.openxmlformats.org/drawingml/2006/main">
            <a:off x="6938963" y="29718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0D9488"/>
                </a:solidFill>
                <a:latin typeface="Arial"/>
                <a:ea typeface="Arial"/>
                <a:cs typeface="Arial"/>
              </a:defRPr>
            </a:pPr>
            <a:r>
              <a:rPr sz="900" b="1">
                <a:solidFill>
                  <a:srgbClr val="0D9488"/>
                </a:solidFill>
                <a:latin typeface="Arial"/>
                <a:ea typeface="Arial"/>
                <a:cs typeface="Arial"/>
              </a:rPr>
              <a:t>04</a:t>
            </a:r>
          </a:p>
        </p:txBody>
      </p:sp>
      <p:sp>
        <p:nvSpPr>
          <p:cNvPr id="29" name="step9-text-3">
            <a:extLst xmlns:a="http://schemas.openxmlformats.org/drawingml/2006/main">
              <a:ext uri="{FF2B5EF4-FFF2-40B4-BE49-F238E27FC236}">
                <a16:creationId xmlns:a16="http://schemas.microsoft.com/office/drawing/2014/main" id="{E2E489AE-1A5F-464B-AD78-60C8A0A308E4}"/>
              </a:ext>
            </a:extLst>
          </p:cNvPr>
          <p:cNvSpPr>
            <a:spLocks xmlns:a="http://schemas.openxmlformats.org/drawingml/2006/main" noGrp="1"/>
          </p:cNvSpPr>
          <p:nvPr/>
        </p:nvSpPr>
        <p:spPr>
          <a:xfrm xmlns:a="http://schemas.openxmlformats.org/drawingml/2006/main">
            <a:off x="6967538" y="3219450"/>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NEW</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EVIDENCE</a:t>
            </a:r>
          </a:p>
        </p:txBody>
      </p:sp>
      <p:sp>
        <p:nvSpPr>
          <p:cNvPr id="30" name="step9-loop">
            <a:extLst xmlns:a="http://schemas.openxmlformats.org/drawingml/2006/main">
              <a:ext uri="{FF2B5EF4-FFF2-40B4-BE49-F238E27FC236}">
                <a16:creationId xmlns:a16="http://schemas.microsoft.com/office/drawing/2014/main" id="{204A5715-0D2A-4BF9-8F4F-0EBC78FB734B}"/>
              </a:ext>
            </a:extLst>
          </p:cNvPr>
          <p:cNvSpPr>
            <a:spLocks xmlns:a="http://schemas.openxmlformats.org/drawingml/2006/main" noGrp="1"/>
          </p:cNvSpPr>
          <p:nvPr/>
        </p:nvSpPr>
        <p:spPr>
          <a:xfrm xmlns:a="http://schemas.openxmlformats.org/drawingml/2006/main">
            <a:off x="1238250" y="4095750"/>
            <a:ext cx="666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348"/>
          </a:bodyPr>
          <a:lstStyle xmlns:a="http://schemas.openxmlformats.org/drawingml/2006/main"/>
          <a:p xmlns:a="http://schemas.openxmlformats.org/drawingml/2006/main">
            <a:pPr algn="ctr">
              <a:defRPr sz="2100">
                <a:solidFill>
                  <a:srgbClr val="6B7280"/>
                </a:solidFill>
                <a:latin typeface="Arial"/>
                <a:ea typeface="Arial"/>
                <a:cs typeface="Arial"/>
              </a:defRPr>
            </a:pPr>
            <a:r>
              <a:rPr sz="2100">
                <a:solidFill>
                  <a:srgbClr val="6B7280"/>
                </a:solidFill>
                <a:latin typeface="Arial"/>
                <a:ea typeface="Arial"/>
                <a:cs typeface="Arial"/>
              </a:rPr>
              <a:t>↖                                                                                         ↙</a:t>
            </a:r>
          </a:p>
        </p:txBody>
      </p:sp>
      <p:sp>
        <p:nvSpPr>
          <p:cNvPr id="31" name="step9-rule">
            <a:extLst xmlns:a="http://schemas.openxmlformats.org/drawingml/2006/main">
              <a:ext uri="{FF2B5EF4-FFF2-40B4-BE49-F238E27FC236}">
                <a16:creationId xmlns:a16="http://schemas.microsoft.com/office/drawing/2014/main" id="{EE9BD70D-09BD-4DFB-9B37-C998C7F3A152}"/>
              </a:ext>
            </a:extLst>
          </p:cNvPr>
          <p:cNvSpPr>
            <a:spLocks xmlns:a="http://schemas.openxmlformats.org/drawingml/2006/main" noGrp="1"/>
          </p:cNvSpPr>
          <p:nvPr/>
        </p:nvSpPr>
        <p:spPr>
          <a:xfrm xmlns:a="http://schemas.openxmlformats.org/drawingml/2006/main">
            <a:off x="1571625" y="4762500"/>
            <a:ext cx="6000750" cy="41910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088" b="1">
                <a:solidFill>
                  <a:srgbClr val="FFFFFF"/>
                </a:solidFill>
                <a:latin typeface="Arial"/>
                <a:ea typeface="Arial"/>
                <a:cs typeface="Arial"/>
              </a:defRPr>
            </a:pPr>
            <a:r>
              <a:rPr sz="1088" b="1">
                <a:solidFill>
                  <a:srgbClr val="FFFFFF"/>
                </a:solidFill>
                <a:latin typeface="Arial"/>
                <a:ea typeface="Arial"/>
                <a:cs typeface="Arial"/>
              </a:rPr>
              <a:t>The model may reorder the queue. It may not replace the validating calculation.</a:t>
            </a:r>
          </a:p>
        </p:txBody>
      </p:sp>
    </p:spTree>
    <p:extLst>
      <p:ext uri="{BB962C8B-B14F-4D97-AF65-F5344CB8AC3E}">
        <p14:creationId xmlns:p14="http://schemas.microsoft.com/office/powerpoint/2010/main" val="63302296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4" name="bg-15">
            <a:extLst xmlns:a="http://schemas.openxmlformats.org/drawingml/2006/main">
              <a:ext uri="{FF2B5EF4-FFF2-40B4-BE49-F238E27FC236}">
                <a16:creationId xmlns:a16="http://schemas.microsoft.com/office/drawing/2014/main" id="{9B518387-3606-4DEB-B243-56401402C1B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5">
            <a:extLst xmlns:a="http://schemas.openxmlformats.org/drawingml/2006/main">
              <a:ext uri="{FF2B5EF4-FFF2-40B4-BE49-F238E27FC236}">
                <a16:creationId xmlns:a16="http://schemas.microsoft.com/office/drawing/2014/main" id="{460050E1-305B-4C9F-A799-6159F9EBFBF1}"/>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Evidence map</a:t>
            </a:r>
          </a:p>
        </p:txBody>
      </p:sp>
      <p:sp>
        <p:nvSpPr>
          <p:cNvPr id="3" name="terms-15">
            <a:extLst xmlns:a="http://schemas.openxmlformats.org/drawingml/2006/main">
              <a:ext uri="{FF2B5EF4-FFF2-40B4-BE49-F238E27FC236}">
                <a16:creationId xmlns:a16="http://schemas.microsoft.com/office/drawing/2014/main" id="{4651653C-1672-4E6F-A4F6-B0123BD9597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Computed: file-backed output exists  ·  Not computed: no enabled production result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Prepared input ≠ completed calculation</a:t>
            </a:r>
          </a:p>
        </p:txBody>
      </p:sp>
      <p:sp>
        <p:nvSpPr>
          <p:cNvPr id="4" name="divider-15">
            <a:extLst xmlns:a="http://schemas.openxmlformats.org/drawingml/2006/main">
              <a:ext uri="{FF2B5EF4-FFF2-40B4-BE49-F238E27FC236}">
                <a16:creationId xmlns:a16="http://schemas.microsoft.com/office/drawing/2014/main" id="{C2DDE2E8-B9A1-42AC-A3C2-4E5B0E5B9F7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5">
            <a:extLst xmlns:a="http://schemas.openxmlformats.org/drawingml/2006/main">
              <a:ext uri="{FF2B5EF4-FFF2-40B4-BE49-F238E27FC236}">
                <a16:creationId xmlns:a16="http://schemas.microsoft.com/office/drawing/2014/main" id="{99E5A78D-85AC-42A9-B1F8-5A71B762C1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5">
            <a:extLst xmlns:a="http://schemas.openxmlformats.org/drawingml/2006/main">
              <a:ext uri="{FF2B5EF4-FFF2-40B4-BE49-F238E27FC236}">
                <a16:creationId xmlns:a16="http://schemas.microsoft.com/office/drawing/2014/main" id="{FBCB6D7C-C50B-4E03-A9B2-0AB23372BAB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00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screen is broad in structures—but narrow in high-fidelity transport and interface evidence</a:t>
            </a:r>
          </a:p>
        </p:txBody>
      </p:sp>
      <p:sp>
        <p:nvSpPr>
          <p:cNvPr id="7" name="bullet-dot-15-0">
            <a:extLst xmlns:a="http://schemas.openxmlformats.org/drawingml/2006/main">
              <a:ext uri="{FF2B5EF4-FFF2-40B4-BE49-F238E27FC236}">
                <a16:creationId xmlns:a16="http://schemas.microsoft.com/office/drawing/2014/main" id="{DEBB883F-F9B6-464E-A894-22816033814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5-0">
            <a:extLst xmlns:a="http://schemas.openxmlformats.org/drawingml/2006/main">
              <a:ext uri="{FF2B5EF4-FFF2-40B4-BE49-F238E27FC236}">
                <a16:creationId xmlns:a16="http://schemas.microsoft.com/office/drawing/2014/main" id="{DEFF5C0A-A46D-43F8-9689-337089AD93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 relaxation, short anneal, static proxies, mechanics, and bulk oxidation records exist.</a:t>
            </a:r>
          </a:p>
        </p:txBody>
      </p:sp>
      <p:sp>
        <p:nvSpPr>
          <p:cNvPr id="9" name="bullet-dot-15-1">
            <a:extLst xmlns:a="http://schemas.openxmlformats.org/drawingml/2006/main">
              <a:ext uri="{FF2B5EF4-FFF2-40B4-BE49-F238E27FC236}">
                <a16:creationId xmlns:a16="http://schemas.microsoft.com/office/drawing/2014/main" id="{C5DB3774-8067-406F-82A8-BAE3C209D28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5-1">
            <a:extLst xmlns:a="http://schemas.openxmlformats.org/drawingml/2006/main">
              <a:ext uri="{FF2B5EF4-FFF2-40B4-BE49-F238E27FC236}">
                <a16:creationId xmlns:a16="http://schemas.microsoft.com/office/drawing/2014/main" id="{C8CBC129-3D46-456E-BC8C-92A28F7D939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5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Long multiseed conductivity MD, explicit W_ad, and matched full-pool DFT were not completed in v23.</a:t>
            </a:r>
          </a:p>
        </p:txBody>
      </p:sp>
      <p:sp>
        <p:nvSpPr>
          <p:cNvPr id="11" name="citation-15">
            <a:extLst xmlns:a="http://schemas.openxmlformats.org/drawingml/2006/main">
              <a:ext uri="{FF2B5EF4-FFF2-40B4-BE49-F238E27FC236}">
                <a16:creationId xmlns:a16="http://schemas.microsoft.com/office/drawing/2014/main" id="{F8331B71-8EE4-4337-B147-193B7B990C6A}"/>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cascade pipeline anatomy · recovered run inventory</a:t>
            </a:r>
          </a:p>
        </p:txBody>
      </p:sp>
      <p:sp>
        <p:nvSpPr>
          <p:cNvPr id="12" name="footer-brand-15">
            <a:extLst xmlns:a="http://schemas.openxmlformats.org/drawingml/2006/main">
              <a:ext uri="{FF2B5EF4-FFF2-40B4-BE49-F238E27FC236}">
                <a16:creationId xmlns:a16="http://schemas.microsoft.com/office/drawing/2014/main" id="{BB483178-1F73-4CCB-A2E7-F2C150CBA04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5">
            <a:extLst xmlns:a="http://schemas.openxmlformats.org/drawingml/2006/main">
              <a:ext uri="{FF2B5EF4-FFF2-40B4-BE49-F238E27FC236}">
                <a16:creationId xmlns:a16="http://schemas.microsoft.com/office/drawing/2014/main" id="{A82673B2-B550-4C90-85F2-7F940C31EB78}"/>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5">
            <a:extLst xmlns:a="http://schemas.openxmlformats.org/drawingml/2006/main">
              <a:ext uri="{FF2B5EF4-FFF2-40B4-BE49-F238E27FC236}">
                <a16:creationId xmlns:a16="http://schemas.microsoft.com/office/drawing/2014/main" id="{F108C6CC-D214-431A-A345-3FAE5DF5E58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15</a:t>
            </a:r>
          </a:p>
        </p:txBody>
      </p:sp>
      <p:sp>
        <p:nvSpPr>
          <p:cNvPr id="15" name="done-bg">
            <a:extLst xmlns:a="http://schemas.openxmlformats.org/drawingml/2006/main">
              <a:ext uri="{FF2B5EF4-FFF2-40B4-BE49-F238E27FC236}">
                <a16:creationId xmlns:a16="http://schemas.microsoft.com/office/drawing/2014/main" id="{F3A18CE7-BBEF-44F6-9846-1DB564D44D18}"/>
              </a:ext>
            </a:extLst>
          </p:cNvPr>
          <p:cNvSpPr>
            <a:spLocks xmlns:a="http://schemas.openxmlformats.org/drawingml/2006/main" noGrp="1"/>
          </p:cNvSpPr>
          <p:nvPr/>
        </p:nvSpPr>
        <p:spPr>
          <a:xfrm xmlns:a="http://schemas.openxmlformats.org/drawingml/2006/main">
            <a:off x="809625" y="2428875"/>
            <a:ext cx="3429000" cy="3048000"/>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16" name="done-bar">
            <a:extLst xmlns:a="http://schemas.openxmlformats.org/drawingml/2006/main">
              <a:ext uri="{FF2B5EF4-FFF2-40B4-BE49-F238E27FC236}">
                <a16:creationId xmlns:a16="http://schemas.microsoft.com/office/drawing/2014/main" id="{E1C9FF1F-F234-41D5-BCC9-942B911E2AD8}"/>
              </a:ext>
            </a:extLst>
          </p:cNvPr>
          <p:cNvSpPr>
            <a:spLocks xmlns:a="http://schemas.openxmlformats.org/drawingml/2006/main" noGrp="1"/>
          </p:cNvSpPr>
          <p:nvPr/>
        </p:nvSpPr>
        <p:spPr>
          <a:xfrm xmlns:a="http://schemas.openxmlformats.org/drawingml/2006/main">
            <a:off x="809625" y="2428875"/>
            <a:ext cx="76200" cy="304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7" name="done-title">
            <a:extLst xmlns:a="http://schemas.openxmlformats.org/drawingml/2006/main">
              <a:ext uri="{FF2B5EF4-FFF2-40B4-BE49-F238E27FC236}">
                <a16:creationId xmlns:a16="http://schemas.microsoft.com/office/drawing/2014/main" id="{502ABA6B-E7FC-4785-BCEF-23F29ED14518}"/>
              </a:ext>
            </a:extLst>
          </p:cNvPr>
          <p:cNvSpPr>
            <a:spLocks xmlns:a="http://schemas.openxmlformats.org/drawingml/2006/main" noGrp="1"/>
          </p:cNvSpPr>
          <p:nvPr/>
        </p:nvSpPr>
        <p:spPr>
          <a:xfrm xmlns:a="http://schemas.openxmlformats.org/drawingml/2006/main">
            <a:off x="1000125" y="2571750"/>
            <a:ext cx="3105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5803D"/>
                </a:solidFill>
                <a:latin typeface="Arial"/>
                <a:ea typeface="Arial"/>
                <a:cs typeface="Arial"/>
              </a:defRPr>
            </a:pPr>
            <a:r>
              <a:rPr sz="1275" b="1">
                <a:solidFill>
                  <a:srgbClr val="15803D"/>
                </a:solidFill>
                <a:latin typeface="Arial"/>
                <a:ea typeface="Arial"/>
                <a:cs typeface="Arial"/>
              </a:rPr>
              <a:t>COMPUTED</a:t>
            </a:r>
          </a:p>
        </p:txBody>
      </p:sp>
      <p:sp>
        <p:nvSpPr>
          <p:cNvPr id="18" name="done-body">
            <a:extLst xmlns:a="http://schemas.openxmlformats.org/drawingml/2006/main">
              <a:ext uri="{FF2B5EF4-FFF2-40B4-BE49-F238E27FC236}">
                <a16:creationId xmlns:a16="http://schemas.microsoft.com/office/drawing/2014/main" id="{ED88CFEA-9714-453A-B327-7FBA765EC5D4}"/>
              </a:ext>
            </a:extLst>
          </p:cNvPr>
          <p:cNvSpPr>
            <a:spLocks xmlns:a="http://schemas.openxmlformats.org/drawingml/2006/main" noGrp="1"/>
          </p:cNvSpPr>
          <p:nvPr/>
        </p:nvSpPr>
        <p:spPr>
          <a:xfrm xmlns:a="http://schemas.openxmlformats.org/drawingml/2006/main">
            <a:off x="1000125" y="2914650"/>
            <a:ext cx="310515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generated structures</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UMA relaxation</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representative configurations</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short anneal + post-relax</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static Li-path proxies</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MLIP EOS / elastic</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bulk grand-potential records</a:t>
            </a:r>
          </a:p>
        </p:txBody>
      </p:sp>
      <p:sp>
        <p:nvSpPr>
          <p:cNvPr id="19" name="notdone-bg">
            <a:extLst xmlns:a="http://schemas.openxmlformats.org/drawingml/2006/main">
              <a:ext uri="{FF2B5EF4-FFF2-40B4-BE49-F238E27FC236}">
                <a16:creationId xmlns:a16="http://schemas.microsoft.com/office/drawing/2014/main" id="{8C8D817F-C0A2-4DA7-ABD8-81D875E1D96C}"/>
              </a:ext>
            </a:extLst>
          </p:cNvPr>
          <p:cNvSpPr>
            <a:spLocks xmlns:a="http://schemas.openxmlformats.org/drawingml/2006/main" noGrp="1"/>
          </p:cNvSpPr>
          <p:nvPr/>
        </p:nvSpPr>
        <p:spPr>
          <a:xfrm xmlns:a="http://schemas.openxmlformats.org/drawingml/2006/main">
            <a:off x="4905375" y="2428875"/>
            <a:ext cx="3429000" cy="3048000"/>
          </a:xfrm>
          <a:prstGeom xmlns:a="http://schemas.openxmlformats.org/drawingml/2006/main" prst="rect">
            <a:avLst/>
          </a:prstGeom>
          <a:solidFill xmlns:a="http://schemas.openxmlformats.org/drawingml/2006/main">
            <a:srgbClr val="FDECEC"/>
          </a:solidFill>
          <a:ln xmlns:a="http://schemas.openxmlformats.org/drawingml/2006/main" w="9525">
            <a:solidFill>
              <a:srgbClr val="E5E7EB"/>
            </a:solidFill>
            <a:prstDash val="solid"/>
          </a:ln>
        </p:spPr>
      </p:sp>
      <p:sp>
        <p:nvSpPr>
          <p:cNvPr id="20" name="notdone-bar">
            <a:extLst xmlns:a="http://schemas.openxmlformats.org/drawingml/2006/main">
              <a:ext uri="{FF2B5EF4-FFF2-40B4-BE49-F238E27FC236}">
                <a16:creationId xmlns:a16="http://schemas.microsoft.com/office/drawing/2014/main" id="{611E42A9-084C-4B5B-ABB6-FD7F9053B1F2}"/>
              </a:ext>
            </a:extLst>
          </p:cNvPr>
          <p:cNvSpPr>
            <a:spLocks xmlns:a="http://schemas.openxmlformats.org/drawingml/2006/main" noGrp="1"/>
          </p:cNvSpPr>
          <p:nvPr/>
        </p:nvSpPr>
        <p:spPr>
          <a:xfrm xmlns:a="http://schemas.openxmlformats.org/drawingml/2006/main">
            <a:off x="4905375" y="2428875"/>
            <a:ext cx="76200" cy="304800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1" name="notdone-title">
            <a:extLst xmlns:a="http://schemas.openxmlformats.org/drawingml/2006/main">
              <a:ext uri="{FF2B5EF4-FFF2-40B4-BE49-F238E27FC236}">
                <a16:creationId xmlns:a16="http://schemas.microsoft.com/office/drawing/2014/main" id="{30162E26-CAC0-44E0-8532-D6CF1C9A2313}"/>
              </a:ext>
            </a:extLst>
          </p:cNvPr>
          <p:cNvSpPr>
            <a:spLocks xmlns:a="http://schemas.openxmlformats.org/drawingml/2006/main" noGrp="1"/>
          </p:cNvSpPr>
          <p:nvPr/>
        </p:nvSpPr>
        <p:spPr>
          <a:xfrm xmlns:a="http://schemas.openxmlformats.org/drawingml/2006/main">
            <a:off x="5095875" y="2571750"/>
            <a:ext cx="3105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A61B2B"/>
                </a:solidFill>
                <a:latin typeface="Arial"/>
                <a:ea typeface="Arial"/>
                <a:cs typeface="Arial"/>
              </a:defRPr>
            </a:pPr>
            <a:r>
              <a:rPr sz="1275" b="1">
                <a:solidFill>
                  <a:srgbClr val="A61B2B"/>
                </a:solidFill>
                <a:latin typeface="Arial"/>
                <a:ea typeface="Arial"/>
                <a:cs typeface="Arial"/>
              </a:rPr>
              <a:t>NOT COMPLETED IN v23</a:t>
            </a:r>
          </a:p>
        </p:txBody>
      </p:sp>
      <p:sp>
        <p:nvSpPr>
          <p:cNvPr id="22" name="notdone-body">
            <a:extLst xmlns:a="http://schemas.openxmlformats.org/drawingml/2006/main">
              <a:ext uri="{FF2B5EF4-FFF2-40B4-BE49-F238E27FC236}">
                <a16:creationId xmlns:a16="http://schemas.microsoft.com/office/drawing/2014/main" id="{F9F6F638-B5AE-49B3-986C-3030291EFFBA}"/>
              </a:ext>
            </a:extLst>
          </p:cNvPr>
          <p:cNvSpPr>
            <a:spLocks xmlns:a="http://schemas.openxmlformats.org/drawingml/2006/main" noGrp="1"/>
          </p:cNvSpPr>
          <p:nvPr/>
        </p:nvSpPr>
        <p:spPr>
          <a:xfrm xmlns:a="http://schemas.openxmlformats.org/drawingml/2006/main">
            <a:off x="5095875" y="2914650"/>
            <a:ext cx="310515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real concentration series</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same-site multiseed ensemble</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canonical softBV for all</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long multiseed conductivity MD</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explicit relaxed interfaces / W_ad</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full-pool matched DFT</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explicit co-doped property labels</a:t>
            </a:r>
          </a:p>
        </p:txBody>
      </p:sp>
      <p:sp>
        <p:nvSpPr>
          <p:cNvPr id="23" name="evidence-rule">
            <a:extLst xmlns:a="http://schemas.openxmlformats.org/drawingml/2006/main">
              <a:ext uri="{FF2B5EF4-FFF2-40B4-BE49-F238E27FC236}">
                <a16:creationId xmlns:a16="http://schemas.microsoft.com/office/drawing/2014/main" id="{BF2248B2-A0FD-484D-B71C-80C2B6DF83F3}"/>
              </a:ext>
            </a:extLst>
          </p:cNvPr>
          <p:cNvSpPr>
            <a:spLocks xmlns:a="http://schemas.openxmlformats.org/drawingml/2006/main" noGrp="1"/>
          </p:cNvSpPr>
          <p:nvPr/>
        </p:nvSpPr>
        <p:spPr>
          <a:xfrm xmlns:a="http://schemas.openxmlformats.org/drawingml/2006/main">
            <a:off x="2000250" y="58102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A61B2B"/>
                </a:solidFill>
                <a:latin typeface="Arial"/>
                <a:ea typeface="Arial"/>
                <a:cs typeface="Arial"/>
              </a:defRPr>
            </a:pPr>
            <a:r>
              <a:rPr sz="1275" b="1">
                <a:solidFill>
                  <a:srgbClr val="A61B2B"/>
                </a:solidFill>
                <a:latin typeface="Arial"/>
                <a:ea typeface="Arial"/>
                <a:cs typeface="Arial"/>
              </a:rPr>
              <a:t>A missing calculation stays missing; a proxy does not fill its place.</a:t>
            </a:r>
          </a:p>
        </p:txBody>
      </p:sp>
    </p:spTree>
    <p:extLst>
      <p:ext uri="{BB962C8B-B14F-4D97-AF65-F5344CB8AC3E}">
        <p14:creationId xmlns:p14="http://schemas.microsoft.com/office/powerpoint/2010/main" val="59665616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5" name="bg-16">
            <a:extLst xmlns:a="http://schemas.openxmlformats.org/drawingml/2006/main">
              <a:ext uri="{FF2B5EF4-FFF2-40B4-BE49-F238E27FC236}">
                <a16:creationId xmlns:a16="http://schemas.microsoft.com/office/drawing/2014/main" id="{36768FCF-F1E4-4F16-B3F6-DD449F6246B9}"/>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6">
            <a:extLst xmlns:a="http://schemas.openxmlformats.org/drawingml/2006/main">
              <a:ext uri="{FF2B5EF4-FFF2-40B4-BE49-F238E27FC236}">
                <a16:creationId xmlns:a16="http://schemas.microsoft.com/office/drawing/2014/main" id="{DD92164E-E852-4F32-ACBF-522D00AC1788}"/>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93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1 — Structure identity</a:t>
            </a:r>
          </a:p>
        </p:txBody>
      </p:sp>
      <p:sp>
        <p:nvSpPr>
          <p:cNvPr id="3" name="terms-16">
            <a:extLst xmlns:a="http://schemas.openxmlformats.org/drawingml/2006/main">
              <a:ext uri="{FF2B5EF4-FFF2-40B4-BE49-F238E27FC236}">
                <a16:creationId xmlns:a16="http://schemas.microsoft.com/office/drawing/2014/main" id="{354E58A3-48F7-47A3-B4E8-571E05451EFE}"/>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Exact composition: atom counts in one simulated cell  ·  Configuration: site + arrangement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Replicate: same estimand repeated under controlled conditions</a:t>
            </a:r>
          </a:p>
        </p:txBody>
      </p:sp>
      <p:sp>
        <p:nvSpPr>
          <p:cNvPr id="4" name="divider-16">
            <a:extLst xmlns:a="http://schemas.openxmlformats.org/drawingml/2006/main">
              <a:ext uri="{FF2B5EF4-FFF2-40B4-BE49-F238E27FC236}">
                <a16:creationId xmlns:a16="http://schemas.microsoft.com/office/drawing/2014/main" id="{FAE58257-4D6E-4959-AFCA-F30B3B98DAB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6">
            <a:extLst xmlns:a="http://schemas.openxmlformats.org/drawingml/2006/main">
              <a:ext uri="{FF2B5EF4-FFF2-40B4-BE49-F238E27FC236}">
                <a16:creationId xmlns:a16="http://schemas.microsoft.com/office/drawing/2014/main" id="{D2DA4C3F-E9F8-40F8-8191-1D2578FACEA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6">
            <a:extLst xmlns:a="http://schemas.openxmlformats.org/drawingml/2006/main">
              <a:ext uri="{FF2B5EF4-FFF2-40B4-BE49-F238E27FC236}">
                <a16:creationId xmlns:a16="http://schemas.microsoft.com/office/drawing/2014/main" id="{0039DF47-636F-4DFC-AD51-8EF4A76FC10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dopant name alone did not define a controlled comparison</a:t>
            </a:r>
          </a:p>
        </p:txBody>
      </p:sp>
      <p:sp>
        <p:nvSpPr>
          <p:cNvPr id="7" name="bullet-dot-16-0">
            <a:extLst xmlns:a="http://schemas.openxmlformats.org/drawingml/2006/main">
              <a:ext uri="{FF2B5EF4-FFF2-40B4-BE49-F238E27FC236}">
                <a16:creationId xmlns:a16="http://schemas.microsoft.com/office/drawing/2014/main" id="{893A925A-2323-471C-A790-A386E73F8EA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6-0">
            <a:extLst xmlns:a="http://schemas.openxmlformats.org/drawingml/2006/main">
              <a:ext uri="{FF2B5EF4-FFF2-40B4-BE49-F238E27FC236}">
                <a16:creationId xmlns:a16="http://schemas.microsoft.com/office/drawing/2014/main" id="{E80EB770-92D2-47CF-B8FF-F78C1DE023F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Across the three campaign labels, 59 / 90 chemistries kept the same exact formula and 31 / 90 changed it.</a:t>
            </a:r>
          </a:p>
        </p:txBody>
      </p:sp>
      <p:sp>
        <p:nvSpPr>
          <p:cNvPr id="9" name="bullet-dot-16-1">
            <a:extLst xmlns:a="http://schemas.openxmlformats.org/drawingml/2006/main">
              <a:ext uri="{FF2B5EF4-FFF2-40B4-BE49-F238E27FC236}">
                <a16:creationId xmlns:a16="http://schemas.microsoft.com/office/drawing/2014/main" id="{05A01BDF-1972-4C80-82C7-34385D6D8110}"/>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6-1">
            <a:extLst xmlns:a="http://schemas.openxmlformats.org/drawingml/2006/main">
              <a:ext uri="{FF2B5EF4-FFF2-40B4-BE49-F238E27FC236}">
                <a16:creationId xmlns:a16="http://schemas.microsoft.com/office/drawing/2014/main" id="{9601755B-EEB6-4EBE-AC05-1F3DE331290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82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label-to-label spread therefore mixes site physics, different formulas, and numerical/local-minimum effects.</a:t>
            </a:r>
          </a:p>
        </p:txBody>
      </p:sp>
      <p:sp>
        <p:nvSpPr>
          <p:cNvPr id="11" name="citation-16">
            <a:extLst xmlns:a="http://schemas.openxmlformats.org/drawingml/2006/main">
              <a:ext uri="{FF2B5EF4-FFF2-40B4-BE49-F238E27FC236}">
                <a16:creationId xmlns:a16="http://schemas.microsoft.com/office/drawing/2014/main" id="{A5E37E2E-10BB-47FA-B8D1-7600B1D46D9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cascade_label_scatter_audit.json · audit_label_scatter.py</a:t>
            </a:r>
          </a:p>
        </p:txBody>
      </p:sp>
      <p:sp>
        <p:nvSpPr>
          <p:cNvPr id="12" name="footer-brand-16">
            <a:extLst xmlns:a="http://schemas.openxmlformats.org/drawingml/2006/main">
              <a:ext uri="{FF2B5EF4-FFF2-40B4-BE49-F238E27FC236}">
                <a16:creationId xmlns:a16="http://schemas.microsoft.com/office/drawing/2014/main" id="{F0216672-7A44-430A-AD08-AA0ACA0DE08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6">
            <a:extLst xmlns:a="http://schemas.openxmlformats.org/drawingml/2006/main">
              <a:ext uri="{FF2B5EF4-FFF2-40B4-BE49-F238E27FC236}">
                <a16:creationId xmlns:a16="http://schemas.microsoft.com/office/drawing/2014/main" id="{91C369CA-DFF1-4CDB-8D75-5C8B96264D6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6">
            <a:extLst xmlns:a="http://schemas.openxmlformats.org/drawingml/2006/main">
              <a:ext uri="{FF2B5EF4-FFF2-40B4-BE49-F238E27FC236}">
                <a16:creationId xmlns:a16="http://schemas.microsoft.com/office/drawing/2014/main" id="{46380CE6-AAAB-4B73-AAFB-AC2B4D5CDE0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16</a:t>
            </a:r>
          </a:p>
        </p:txBody>
      </p:sp>
      <p:sp>
        <p:nvSpPr>
          <p:cNvPr id="15" name="res1-same-bg">
            <a:extLst xmlns:a="http://schemas.openxmlformats.org/drawingml/2006/main">
              <a:ext uri="{FF2B5EF4-FFF2-40B4-BE49-F238E27FC236}">
                <a16:creationId xmlns:a16="http://schemas.microsoft.com/office/drawing/2014/main" id="{D458A4B5-8427-4A59-9DD1-7CA09B7E2A3D}"/>
              </a:ext>
            </a:extLst>
          </p:cNvPr>
          <p:cNvSpPr>
            <a:spLocks xmlns:a="http://schemas.openxmlformats.org/drawingml/2006/main" noGrp="1"/>
          </p:cNvSpPr>
          <p:nvPr/>
        </p:nvSpPr>
        <p:spPr>
          <a:xfrm xmlns:a="http://schemas.openxmlformats.org/drawingml/2006/main">
            <a:off x="904875" y="2619375"/>
            <a:ext cx="3048000" cy="1762125"/>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16" name="res1-same-bar">
            <a:extLst xmlns:a="http://schemas.openxmlformats.org/drawingml/2006/main">
              <a:ext uri="{FF2B5EF4-FFF2-40B4-BE49-F238E27FC236}">
                <a16:creationId xmlns:a16="http://schemas.microsoft.com/office/drawing/2014/main" id="{877B816E-F2CF-4D0C-A11D-B641E5D47E2F}"/>
              </a:ext>
            </a:extLst>
          </p:cNvPr>
          <p:cNvSpPr>
            <a:spLocks xmlns:a="http://schemas.openxmlformats.org/drawingml/2006/main" noGrp="1"/>
          </p:cNvSpPr>
          <p:nvPr/>
        </p:nvSpPr>
        <p:spPr>
          <a:xfrm xmlns:a="http://schemas.openxmlformats.org/drawingml/2006/main">
            <a:off x="904875" y="2619375"/>
            <a:ext cx="76200" cy="1762125"/>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7" name="res1-same-title">
            <a:extLst xmlns:a="http://schemas.openxmlformats.org/drawingml/2006/main">
              <a:ext uri="{FF2B5EF4-FFF2-40B4-BE49-F238E27FC236}">
                <a16:creationId xmlns:a16="http://schemas.microsoft.com/office/drawing/2014/main" id="{72622707-8B31-4A5A-B7BA-8EB062A1A845}"/>
              </a:ext>
            </a:extLst>
          </p:cNvPr>
          <p:cNvSpPr>
            <a:spLocks xmlns:a="http://schemas.openxmlformats.org/drawingml/2006/main" noGrp="1"/>
          </p:cNvSpPr>
          <p:nvPr/>
        </p:nvSpPr>
        <p:spPr>
          <a:xfrm xmlns:a="http://schemas.openxmlformats.org/drawingml/2006/main">
            <a:off x="1095375" y="27622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5803D"/>
                </a:solidFill>
                <a:latin typeface="Arial"/>
                <a:ea typeface="Arial"/>
                <a:cs typeface="Arial"/>
              </a:defRPr>
            </a:pPr>
            <a:r>
              <a:rPr sz="1275" b="1">
                <a:solidFill>
                  <a:srgbClr val="15803D"/>
                </a:solidFill>
                <a:latin typeface="Arial"/>
                <a:ea typeface="Arial"/>
                <a:cs typeface="Arial"/>
              </a:rPr>
              <a:t>59 / 90</a:t>
            </a:r>
          </a:p>
        </p:txBody>
      </p:sp>
      <p:sp>
        <p:nvSpPr>
          <p:cNvPr id="18" name="res1-same-body">
            <a:extLst xmlns:a="http://schemas.openxmlformats.org/drawingml/2006/main">
              <a:ext uri="{FF2B5EF4-FFF2-40B4-BE49-F238E27FC236}">
                <a16:creationId xmlns:a16="http://schemas.microsoft.com/office/drawing/2014/main" id="{6D36B537-5996-457D-A475-058E799E6CD1}"/>
              </a:ext>
            </a:extLst>
          </p:cNvPr>
          <p:cNvSpPr>
            <a:spLocks xmlns:a="http://schemas.openxmlformats.org/drawingml/2006/main" noGrp="1"/>
          </p:cNvSpPr>
          <p:nvPr/>
        </p:nvSpPr>
        <p:spPr>
          <a:xfrm xmlns:a="http://schemas.openxmlformats.org/drawingml/2006/main">
            <a:off x="1095375" y="3105150"/>
            <a:ext cx="27241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same exact formula</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across the three labels</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Still not controlled replicates: site and initial structure identity were not fully frozen.</a:t>
            </a:r>
          </a:p>
        </p:txBody>
      </p:sp>
      <p:sp>
        <p:nvSpPr>
          <p:cNvPr id="19" name="res1-diff-bg">
            <a:extLst xmlns:a="http://schemas.openxmlformats.org/drawingml/2006/main">
              <a:ext uri="{FF2B5EF4-FFF2-40B4-BE49-F238E27FC236}">
                <a16:creationId xmlns:a16="http://schemas.microsoft.com/office/drawing/2014/main" id="{E662315B-FFD6-49FA-B5D3-5EA73A10C349}"/>
              </a:ext>
            </a:extLst>
          </p:cNvPr>
          <p:cNvSpPr>
            <a:spLocks xmlns:a="http://schemas.openxmlformats.org/drawingml/2006/main" noGrp="1"/>
          </p:cNvSpPr>
          <p:nvPr/>
        </p:nvSpPr>
        <p:spPr>
          <a:xfrm xmlns:a="http://schemas.openxmlformats.org/drawingml/2006/main">
            <a:off x="5191125" y="2619375"/>
            <a:ext cx="3048000" cy="1762125"/>
          </a:xfrm>
          <a:prstGeom xmlns:a="http://schemas.openxmlformats.org/drawingml/2006/main" prst="rect">
            <a:avLst/>
          </a:prstGeom>
          <a:solidFill xmlns:a="http://schemas.openxmlformats.org/drawingml/2006/main">
            <a:srgbClr val="FDECEC"/>
          </a:solidFill>
          <a:ln xmlns:a="http://schemas.openxmlformats.org/drawingml/2006/main" w="9525">
            <a:solidFill>
              <a:srgbClr val="E5E7EB"/>
            </a:solidFill>
            <a:prstDash val="solid"/>
          </a:ln>
        </p:spPr>
      </p:sp>
      <p:sp>
        <p:nvSpPr>
          <p:cNvPr id="20" name="res1-diff-bar">
            <a:extLst xmlns:a="http://schemas.openxmlformats.org/drawingml/2006/main">
              <a:ext uri="{FF2B5EF4-FFF2-40B4-BE49-F238E27FC236}">
                <a16:creationId xmlns:a16="http://schemas.microsoft.com/office/drawing/2014/main" id="{7B7BB7AF-B84F-4867-BA12-C513522726FA}"/>
              </a:ext>
            </a:extLst>
          </p:cNvPr>
          <p:cNvSpPr>
            <a:spLocks xmlns:a="http://schemas.openxmlformats.org/drawingml/2006/main" noGrp="1"/>
          </p:cNvSpPr>
          <p:nvPr/>
        </p:nvSpPr>
        <p:spPr>
          <a:xfrm xmlns:a="http://schemas.openxmlformats.org/drawingml/2006/main">
            <a:off x="5191125" y="2619375"/>
            <a:ext cx="76200" cy="176212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1" name="res1-diff-title">
            <a:extLst xmlns:a="http://schemas.openxmlformats.org/drawingml/2006/main">
              <a:ext uri="{FF2B5EF4-FFF2-40B4-BE49-F238E27FC236}">
                <a16:creationId xmlns:a16="http://schemas.microsoft.com/office/drawing/2014/main" id="{12C3DCA7-2225-413C-9C77-D3D86048DB4A}"/>
              </a:ext>
            </a:extLst>
          </p:cNvPr>
          <p:cNvSpPr>
            <a:spLocks xmlns:a="http://schemas.openxmlformats.org/drawingml/2006/main" noGrp="1"/>
          </p:cNvSpPr>
          <p:nvPr/>
        </p:nvSpPr>
        <p:spPr>
          <a:xfrm xmlns:a="http://schemas.openxmlformats.org/drawingml/2006/main">
            <a:off x="5381625" y="27622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A61B2B"/>
                </a:solidFill>
                <a:latin typeface="Arial"/>
                <a:ea typeface="Arial"/>
                <a:cs typeface="Arial"/>
              </a:defRPr>
            </a:pPr>
            <a:r>
              <a:rPr sz="1275" b="1">
                <a:solidFill>
                  <a:srgbClr val="A61B2B"/>
                </a:solidFill>
                <a:latin typeface="Arial"/>
                <a:ea typeface="Arial"/>
                <a:cs typeface="Arial"/>
              </a:rPr>
              <a:t>31 / 90</a:t>
            </a:r>
          </a:p>
        </p:txBody>
      </p:sp>
      <p:sp>
        <p:nvSpPr>
          <p:cNvPr id="22" name="res1-diff-body">
            <a:extLst xmlns:a="http://schemas.openxmlformats.org/drawingml/2006/main">
              <a:ext uri="{FF2B5EF4-FFF2-40B4-BE49-F238E27FC236}">
                <a16:creationId xmlns:a16="http://schemas.microsoft.com/office/drawing/2014/main" id="{D7B0A080-7270-41C8-9D70-26542FAE0F5B}"/>
              </a:ext>
            </a:extLst>
          </p:cNvPr>
          <p:cNvSpPr>
            <a:spLocks xmlns:a="http://schemas.openxmlformats.org/drawingml/2006/main" noGrp="1"/>
          </p:cNvSpPr>
          <p:nvPr/>
        </p:nvSpPr>
        <p:spPr>
          <a:xfrm xmlns:a="http://schemas.openxmlformats.org/drawingml/2006/main">
            <a:off x="5381625" y="3105150"/>
            <a:ext cx="27241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different exact formulas</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across the three labels</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These records describe different simulated materials and should not be averaged as one concentration series.</a:t>
            </a:r>
          </a:p>
        </p:txBody>
      </p:sp>
      <p:sp>
        <p:nvSpPr>
          <p:cNvPr id="23" name="res1-arrow">
            <a:extLst xmlns:a="http://schemas.openxmlformats.org/drawingml/2006/main">
              <a:ext uri="{FF2B5EF4-FFF2-40B4-BE49-F238E27FC236}">
                <a16:creationId xmlns:a16="http://schemas.microsoft.com/office/drawing/2014/main" id="{074A8D07-0FCC-4460-9596-0C17AEC4FDE8}"/>
              </a:ext>
            </a:extLst>
          </p:cNvPr>
          <p:cNvSpPr>
            <a:spLocks xmlns:a="http://schemas.openxmlformats.org/drawingml/2006/main" noGrp="1"/>
          </p:cNvSpPr>
          <p:nvPr/>
        </p:nvSpPr>
        <p:spPr>
          <a:xfrm xmlns:a="http://schemas.openxmlformats.org/drawingml/2006/main">
            <a:off x="2571750" y="4810125"/>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F4E79"/>
                </a:solidFill>
                <a:latin typeface="Arial"/>
                <a:ea typeface="Arial"/>
                <a:cs typeface="Arial"/>
              </a:defRPr>
            </a:pPr>
            <a:r>
              <a:rPr sz="1650" b="1">
                <a:solidFill>
                  <a:srgbClr val="1F4E79"/>
                </a:solidFill>
                <a:latin typeface="Arial"/>
                <a:ea typeface="Arial"/>
                <a:cs typeface="Arial"/>
              </a:rPr>
              <a:t>same dopant label  ≠  same material</a:t>
            </a:r>
          </a:p>
        </p:txBody>
      </p:sp>
      <p:sp>
        <p:nvSpPr>
          <p:cNvPr id="24" name="res1-next">
            <a:extLst xmlns:a="http://schemas.openxmlformats.org/drawingml/2006/main">
              <a:ext uri="{FF2B5EF4-FFF2-40B4-BE49-F238E27FC236}">
                <a16:creationId xmlns:a16="http://schemas.microsoft.com/office/drawing/2014/main" id="{613B78C2-0FF6-4D2B-9717-F3353BD94D84}"/>
              </a:ext>
            </a:extLst>
          </p:cNvPr>
          <p:cNvSpPr>
            <a:spLocks xmlns:a="http://schemas.openxmlformats.org/drawingml/2006/main" noGrp="1"/>
          </p:cNvSpPr>
          <p:nvPr/>
        </p:nvSpPr>
        <p:spPr>
          <a:xfrm xmlns:a="http://schemas.openxmlformats.org/drawingml/2006/main">
            <a:off x="1666875" y="5429250"/>
            <a:ext cx="5810250" cy="3810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088" b="1">
                <a:solidFill>
                  <a:srgbClr val="FFFFFF"/>
                </a:solidFill>
                <a:latin typeface="Arial"/>
                <a:ea typeface="Arial"/>
                <a:cs typeface="Arial"/>
              </a:defRPr>
            </a:pPr>
            <a:r>
              <a:rPr sz="1088" b="1">
                <a:solidFill>
                  <a:srgbClr val="FFFFFF"/>
                </a:solidFill>
                <a:latin typeface="Arial"/>
                <a:ea typeface="Arial"/>
                <a:cs typeface="Arial"/>
              </a:rPr>
              <a:t>NEXT: freeze formula + site, then repeat multiple seeds within that exact design</a:t>
            </a:r>
          </a:p>
        </p:txBody>
      </p:sp>
    </p:spTree>
    <p:extLst>
      <p:ext uri="{BB962C8B-B14F-4D97-AF65-F5344CB8AC3E}">
        <p14:creationId xmlns:p14="http://schemas.microsoft.com/office/powerpoint/2010/main" val="192440589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0" name="bg-17">
            <a:extLst xmlns:a="http://schemas.openxmlformats.org/drawingml/2006/main">
              <a:ext uri="{FF2B5EF4-FFF2-40B4-BE49-F238E27FC236}">
                <a16:creationId xmlns:a16="http://schemas.microsoft.com/office/drawing/2014/main" id="{F99F08B9-CA52-4B50-B0A6-C576DA2B63A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7">
            <a:extLst xmlns:a="http://schemas.openxmlformats.org/drawingml/2006/main">
              <a:ext uri="{FF2B5EF4-FFF2-40B4-BE49-F238E27FC236}">
                <a16:creationId xmlns:a16="http://schemas.microsoft.com/office/drawing/2014/main" id="{494B2734-F8A8-4699-93F1-DE87B053F76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5645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2 — What the broader pool changed</a:t>
            </a:r>
          </a:p>
        </p:txBody>
      </p:sp>
      <p:sp>
        <p:nvSpPr>
          <p:cNvPr id="3" name="terms-17">
            <a:extLst xmlns:a="http://schemas.openxmlformats.org/drawingml/2006/main">
              <a:ext uri="{FF2B5EF4-FFF2-40B4-BE49-F238E27FC236}">
                <a16:creationId xmlns:a16="http://schemas.microsoft.com/office/drawing/2014/main" id="{AF736175-C018-431B-80CF-1C0892D2B3C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S-pinned oxidation: valence-edge / reaction branch dominated by sulfur chemistry</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Interface-specific: the same modifier can react differently at different contacts</a:t>
            </a:r>
          </a:p>
        </p:txBody>
      </p:sp>
      <p:sp>
        <p:nvSpPr>
          <p:cNvPr id="4" name="divider-17">
            <a:extLst xmlns:a="http://schemas.openxmlformats.org/drawingml/2006/main">
              <a:ext uri="{FF2B5EF4-FFF2-40B4-BE49-F238E27FC236}">
                <a16:creationId xmlns:a16="http://schemas.microsoft.com/office/drawing/2014/main" id="{10944AF5-9D73-4A85-B4A1-6950241F1A0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7">
            <a:extLst xmlns:a="http://schemas.openxmlformats.org/drawingml/2006/main">
              <a:ext uri="{FF2B5EF4-FFF2-40B4-BE49-F238E27FC236}">
                <a16:creationId xmlns:a16="http://schemas.microsoft.com/office/drawing/2014/main" id="{BEE25AEF-1068-4B71-A54E-52466A269C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7">
            <a:extLst xmlns:a="http://schemas.openxmlformats.org/drawingml/2006/main">
              <a:ext uri="{FF2B5EF4-FFF2-40B4-BE49-F238E27FC236}">
                <a16:creationId xmlns:a16="http://schemas.microsoft.com/office/drawing/2014/main" id="{71C4CEB1-CA86-4346-BE71-3668BB1FC0C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163"/>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wider chemistry pool weakened an oxide-only explanation and exposed the need for interface checks</a:t>
            </a:r>
          </a:p>
        </p:txBody>
      </p:sp>
      <p:sp>
        <p:nvSpPr>
          <p:cNvPr id="7" name="bullet-dot-17-0">
            <a:extLst xmlns:a="http://schemas.openxmlformats.org/drawingml/2006/main">
              <a:ext uri="{FF2B5EF4-FFF2-40B4-BE49-F238E27FC236}">
                <a16:creationId xmlns:a16="http://schemas.microsoft.com/office/drawing/2014/main" id="{78A65BF3-5CA1-443B-9527-D6FCE6380D5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7-0">
            <a:extLst xmlns:a="http://schemas.openxmlformats.org/drawingml/2006/main">
              <a:ext uri="{FF2B5EF4-FFF2-40B4-BE49-F238E27FC236}">
                <a16:creationId xmlns:a16="http://schemas.microsoft.com/office/drawing/2014/main" id="{7C26C5C6-649B-4456-8AF1-54FCF88AF95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Recovered sulfide controls can reach the same oxidation branch as some oxide records, so the anion family is not a unique explanation.</a:t>
            </a:r>
          </a:p>
        </p:txBody>
      </p:sp>
      <p:sp>
        <p:nvSpPr>
          <p:cNvPr id="9" name="bullet-dot-17-1">
            <a:extLst xmlns:a="http://schemas.openxmlformats.org/drawingml/2006/main">
              <a:ext uri="{FF2B5EF4-FFF2-40B4-BE49-F238E27FC236}">
                <a16:creationId xmlns:a16="http://schemas.microsoft.com/office/drawing/2014/main" id="{DBD47D45-CD3B-4444-962D-12544CDE9ED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7-1">
            <a:extLst xmlns:a="http://schemas.openxmlformats.org/drawingml/2006/main">
              <a:ext uri="{FF2B5EF4-FFF2-40B4-BE49-F238E27FC236}">
                <a16:creationId xmlns:a16="http://schemas.microsoft.com/office/drawing/2014/main" id="{2774817A-DAB3-4861-943C-7F8FF182CA4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9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Bulk onset and interface reaction energy remain separate questions; neither alone identifies a universal dopant mechanism.</a:t>
            </a:r>
          </a:p>
        </p:txBody>
      </p:sp>
      <p:sp>
        <p:nvSpPr>
          <p:cNvPr id="11" name="citation-17">
            <a:extLst xmlns:a="http://schemas.openxmlformats.org/drawingml/2006/main">
              <a:ext uri="{FF2B5EF4-FFF2-40B4-BE49-F238E27FC236}">
                <a16:creationId xmlns:a16="http://schemas.microsoft.com/office/drawing/2014/main" id="{99E12C0B-DF19-459E-9E38-C0D3D2438657}"/>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Banik et al., Fig. 4 · Sundar et al., Fig. 2</a:t>
            </a:r>
          </a:p>
        </p:txBody>
      </p:sp>
      <p:sp>
        <p:nvSpPr>
          <p:cNvPr id="12" name="footer-brand-17">
            <a:extLst xmlns:a="http://schemas.openxmlformats.org/drawingml/2006/main">
              <a:ext uri="{FF2B5EF4-FFF2-40B4-BE49-F238E27FC236}">
                <a16:creationId xmlns:a16="http://schemas.microsoft.com/office/drawing/2014/main" id="{ECDF19C8-141B-4F74-94CE-1C4F7757873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7">
            <a:extLst xmlns:a="http://schemas.openxmlformats.org/drawingml/2006/main">
              <a:ext uri="{FF2B5EF4-FFF2-40B4-BE49-F238E27FC236}">
                <a16:creationId xmlns:a16="http://schemas.microsoft.com/office/drawing/2014/main" id="{83CCB482-BC03-4D84-94A8-A5253B4B918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7">
            <a:extLst xmlns:a="http://schemas.openxmlformats.org/drawingml/2006/main">
              <a:ext uri="{FF2B5EF4-FFF2-40B4-BE49-F238E27FC236}">
                <a16:creationId xmlns:a16="http://schemas.microsoft.com/office/drawing/2014/main" id="{7E11B285-7068-4980-BBF8-7B84FD0FF42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17</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7e897009f404d13"/>
          <a:stretch xmlns:a="http://schemas.openxmlformats.org/drawingml/2006/main"/>
        </p:blipFill>
        <p:spPr>
          <a:xfrm xmlns:a="http://schemas.openxmlformats.org/drawingml/2006/main">
            <a:off x="666750" y="2592870"/>
            <a:ext cx="3714750" cy="2624759"/>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3a9725744bc4a13"/>
          <a:stretch xmlns:a="http://schemas.openxmlformats.org/drawingml/2006/main"/>
        </p:blipFill>
        <p:spPr>
          <a:xfrm xmlns:a="http://schemas.openxmlformats.org/drawingml/2006/main">
            <a:off x="4762500" y="3199307"/>
            <a:ext cx="3714750" cy="1411886"/>
          </a:xfrm>
          <a:prstGeom xmlns:a="http://schemas.openxmlformats.org/drawingml/2006/main" prst="rect">
            <a:avLst/>
          </a:prstGeom>
        </p:spPr>
      </p:pic>
      <p:sp>
        <p:nvSpPr>
          <p:cNvPr id="17" name="res2-lit">
            <a:extLst xmlns:a="http://schemas.openxmlformats.org/drawingml/2006/main">
              <a:ext uri="{FF2B5EF4-FFF2-40B4-BE49-F238E27FC236}">
                <a16:creationId xmlns:a16="http://schemas.microsoft.com/office/drawing/2014/main" id="{DF555941-4A83-465F-B299-B947DAD0F44F}"/>
              </a:ext>
            </a:extLst>
          </p:cNvPr>
          <p:cNvSpPr>
            <a:spLocks xmlns:a="http://schemas.openxmlformats.org/drawingml/2006/main" noGrp="1"/>
          </p:cNvSpPr>
          <p:nvPr/>
        </p:nvSpPr>
        <p:spPr>
          <a:xfrm xmlns:a="http://schemas.openxmlformats.org/drawingml/2006/main">
            <a:off x="2476500" y="5619750"/>
            <a:ext cx="4191000" cy="26670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863" b="1">
                <a:solidFill>
                  <a:srgbClr val="FFFFFF"/>
                </a:solidFill>
                <a:latin typeface="Arial"/>
                <a:ea typeface="Arial"/>
                <a:cs typeface="Arial"/>
              </a:defRPr>
            </a:pPr>
            <a:r>
              <a:rPr sz="863" b="1">
                <a:solidFill>
                  <a:srgbClr val="FFFFFF"/>
                </a:solidFill>
                <a:latin typeface="Arial"/>
                <a:ea typeface="Arial"/>
                <a:cs typeface="Arial"/>
              </a:rPr>
              <a:t>LITERATURE CONTEXT — NOT OUR SCREENING RESULT</a:t>
            </a:r>
          </a:p>
        </p:txBody>
      </p:sp>
      <p:sp>
        <p:nvSpPr>
          <p:cNvPr id="18" name="res2-cap-left">
            <a:extLst xmlns:a="http://schemas.openxmlformats.org/drawingml/2006/main">
              <a:ext uri="{FF2B5EF4-FFF2-40B4-BE49-F238E27FC236}">
                <a16:creationId xmlns:a16="http://schemas.microsoft.com/office/drawing/2014/main" id="{C76B975F-7675-44F0-87F1-F7EE7C736CA3}"/>
              </a:ext>
            </a:extLst>
          </p:cNvPr>
          <p:cNvSpPr>
            <a:spLocks xmlns:a="http://schemas.openxmlformats.org/drawingml/2006/main" noGrp="1"/>
          </p:cNvSpPr>
          <p:nvPr/>
        </p:nvSpPr>
        <p:spPr>
          <a:xfrm xmlns:a="http://schemas.openxmlformats.org/drawingml/2006/main">
            <a:off x="857250" y="5953125"/>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13" i="1">
                <a:solidFill>
                  <a:srgbClr val="6B7280"/>
                </a:solidFill>
                <a:latin typeface="Arial"/>
                <a:ea typeface="Arial"/>
                <a:cs typeface="Arial"/>
              </a:defRPr>
            </a:pPr>
            <a:r>
              <a:rPr sz="713" i="1">
                <a:solidFill>
                  <a:srgbClr val="6B7280"/>
                </a:solidFill>
                <a:latin typeface="Arial"/>
                <a:ea typeface="Arial"/>
                <a:cs typeface="Arial"/>
              </a:rPr>
              <a:t>S-derived states can pin oxidation behavior.</a:t>
            </a:r>
          </a:p>
        </p:txBody>
      </p:sp>
      <p:sp>
        <p:nvSpPr>
          <p:cNvPr id="19" name="res2-cap-right">
            <a:extLst xmlns:a="http://schemas.openxmlformats.org/drawingml/2006/main">
              <a:ext uri="{FF2B5EF4-FFF2-40B4-BE49-F238E27FC236}">
                <a16:creationId xmlns:a16="http://schemas.microsoft.com/office/drawing/2014/main" id="{5C897232-B345-416B-86DC-EDB90075FE85}"/>
              </a:ext>
            </a:extLst>
          </p:cNvPr>
          <p:cNvSpPr>
            <a:spLocks xmlns:a="http://schemas.openxmlformats.org/drawingml/2006/main" noGrp="1"/>
          </p:cNvSpPr>
          <p:nvPr/>
        </p:nvSpPr>
        <p:spPr>
          <a:xfrm xmlns:a="http://schemas.openxmlformats.org/drawingml/2006/main">
            <a:off x="4953000" y="5953125"/>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13" i="1">
                <a:solidFill>
                  <a:srgbClr val="6B7280"/>
                </a:solidFill>
                <a:latin typeface="Arial"/>
                <a:ea typeface="Arial"/>
                <a:cs typeface="Arial"/>
              </a:defRPr>
            </a:pPr>
            <a:r>
              <a:rPr sz="713" i="1">
                <a:solidFill>
                  <a:srgbClr val="6B7280"/>
                </a:solidFill>
                <a:latin typeface="Arial"/>
                <a:ea typeface="Arial"/>
                <a:cs typeface="Arial"/>
              </a:rPr>
              <a:t>The relevant reaction depends on the interface.</a:t>
            </a:r>
          </a:p>
        </p:txBody>
      </p:sp>
    </p:spTree>
    <p:extLst>
      <p:ext uri="{BB962C8B-B14F-4D97-AF65-F5344CB8AC3E}">
        <p14:creationId xmlns:p14="http://schemas.microsoft.com/office/powerpoint/2010/main" val="8475215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2" name="bg-18">
            <a:extLst xmlns:a="http://schemas.openxmlformats.org/drawingml/2006/main">
              <a:ext uri="{FF2B5EF4-FFF2-40B4-BE49-F238E27FC236}">
                <a16:creationId xmlns:a16="http://schemas.microsoft.com/office/drawing/2014/main" id="{EABA8A47-C655-46FB-AED7-152E2A0383F6}"/>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8">
            <a:extLst xmlns:a="http://schemas.openxmlformats.org/drawingml/2006/main">
              <a:ext uri="{FF2B5EF4-FFF2-40B4-BE49-F238E27FC236}">
                <a16:creationId xmlns:a16="http://schemas.microsoft.com/office/drawing/2014/main" id="{DB8B9514-92B5-40D3-94B0-2871FEE91C3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Next model</a:t>
            </a:r>
          </a:p>
        </p:txBody>
      </p:sp>
      <p:sp>
        <p:nvSpPr>
          <p:cNvPr id="3" name="terms-18">
            <a:extLst xmlns:a="http://schemas.openxmlformats.org/drawingml/2006/main">
              <a:ext uri="{FF2B5EF4-FFF2-40B4-BE49-F238E27FC236}">
                <a16:creationId xmlns:a16="http://schemas.microsoft.com/office/drawing/2014/main" id="{537B7FD0-3501-46EA-B103-35A6EB755C53}"/>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Nested design: formula → site → seed  ·  Boundary case: near a decision threshold</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High fidelity: matched DFT / multiseed MD / explicit interface</a:t>
            </a:r>
          </a:p>
        </p:txBody>
      </p:sp>
      <p:sp>
        <p:nvSpPr>
          <p:cNvPr id="4" name="divider-18">
            <a:extLst xmlns:a="http://schemas.openxmlformats.org/drawingml/2006/main">
              <a:ext uri="{FF2B5EF4-FFF2-40B4-BE49-F238E27FC236}">
                <a16:creationId xmlns:a16="http://schemas.microsoft.com/office/drawing/2014/main" id="{B7977071-B736-4EBA-A3D3-29FB6555755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8">
            <a:extLst xmlns:a="http://schemas.openxmlformats.org/drawingml/2006/main">
              <a:ext uri="{FF2B5EF4-FFF2-40B4-BE49-F238E27FC236}">
                <a16:creationId xmlns:a16="http://schemas.microsoft.com/office/drawing/2014/main" id="{9CF9BDE0-C2FD-4B1E-99E6-D1099BB3505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8">
            <a:extLst xmlns:a="http://schemas.openxmlformats.org/drawingml/2006/main">
              <a:ext uri="{FF2B5EF4-FFF2-40B4-BE49-F238E27FC236}">
                <a16:creationId xmlns:a16="http://schemas.microsoft.com/office/drawing/2014/main" id="{E824BBC8-8AAE-43E4-8836-8E1B38C5CC2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next campaign should improve control before it increases scale</a:t>
            </a:r>
          </a:p>
        </p:txBody>
      </p:sp>
      <p:sp>
        <p:nvSpPr>
          <p:cNvPr id="7" name="bullet-dot-18-0">
            <a:extLst xmlns:a="http://schemas.openxmlformats.org/drawingml/2006/main">
              <a:ext uri="{FF2B5EF4-FFF2-40B4-BE49-F238E27FC236}">
                <a16:creationId xmlns:a16="http://schemas.microsoft.com/office/drawing/2014/main" id="{DC7C9AF8-CBF1-4916-9B59-096A9587AF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8-0">
            <a:extLst xmlns:a="http://schemas.openxmlformats.org/drawingml/2006/main">
              <a:ext uri="{FF2B5EF4-FFF2-40B4-BE49-F238E27FC236}">
                <a16:creationId xmlns:a16="http://schemas.microsoft.com/office/drawing/2014/main" id="{8DEBD1A6-D331-4DBB-8E5A-326C41A9737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Build realistic low-loading structures in larger cells, with exact formula and site identity frozen.</a:t>
            </a:r>
          </a:p>
        </p:txBody>
      </p:sp>
      <p:sp>
        <p:nvSpPr>
          <p:cNvPr id="9" name="bullet-dot-18-1">
            <a:extLst xmlns:a="http://schemas.openxmlformats.org/drawingml/2006/main">
              <a:ext uri="{FF2B5EF4-FFF2-40B4-BE49-F238E27FC236}">
                <a16:creationId xmlns:a16="http://schemas.microsoft.com/office/drawing/2014/main" id="{4AB07E0A-E36A-4E95-AABD-94421157DC9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8-1">
            <a:extLst xmlns:a="http://schemas.openxmlformats.org/drawingml/2006/main">
              <a:ext uri="{FF2B5EF4-FFF2-40B4-BE49-F238E27FC236}">
                <a16:creationId xmlns:a16="http://schemas.microsoft.com/office/drawing/2014/main" id="{52A58528-F5BA-4674-8261-DB2648E2806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Keep physical axes separate; send only uncertain or boundary cases to expensive validation.</a:t>
            </a:r>
          </a:p>
        </p:txBody>
      </p:sp>
      <p:sp>
        <p:nvSpPr>
          <p:cNvPr id="11" name="citation-18">
            <a:extLst xmlns:a="http://schemas.openxmlformats.org/drawingml/2006/main">
              <a:ext uri="{FF2B5EF4-FFF2-40B4-BE49-F238E27FC236}">
                <a16:creationId xmlns:a16="http://schemas.microsoft.com/office/drawing/2014/main" id="{10908271-717E-4DDF-A5D4-3F1D2A7ACCD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Design-audit recommendations · project canonical protocols</a:t>
            </a:r>
          </a:p>
        </p:txBody>
      </p:sp>
      <p:sp>
        <p:nvSpPr>
          <p:cNvPr id="12" name="footer-brand-18">
            <a:extLst xmlns:a="http://schemas.openxmlformats.org/drawingml/2006/main">
              <a:ext uri="{FF2B5EF4-FFF2-40B4-BE49-F238E27FC236}">
                <a16:creationId xmlns:a16="http://schemas.microsoft.com/office/drawing/2014/main" id="{2E6BBCA6-B5BC-49EC-AD5F-AD8B702B930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8">
            <a:extLst xmlns:a="http://schemas.openxmlformats.org/drawingml/2006/main">
              <a:ext uri="{FF2B5EF4-FFF2-40B4-BE49-F238E27FC236}">
                <a16:creationId xmlns:a16="http://schemas.microsoft.com/office/drawing/2014/main" id="{2CFC4BDB-3781-4023-AFE5-BBE06CA20AC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8">
            <a:extLst xmlns:a="http://schemas.openxmlformats.org/drawingml/2006/main">
              <a:ext uri="{FF2B5EF4-FFF2-40B4-BE49-F238E27FC236}">
                <a16:creationId xmlns:a16="http://schemas.microsoft.com/office/drawing/2014/main" id="{19F91DED-6695-4604-BA74-E765DD935DE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18</a:t>
            </a:r>
          </a:p>
        </p:txBody>
      </p:sp>
      <p:sp>
        <p:nvSpPr>
          <p:cNvPr id="15" name="future-box-0">
            <a:extLst xmlns:a="http://schemas.openxmlformats.org/drawingml/2006/main">
              <a:ext uri="{FF2B5EF4-FFF2-40B4-BE49-F238E27FC236}">
                <a16:creationId xmlns:a16="http://schemas.microsoft.com/office/drawing/2014/main" id="{6A59C483-6FE0-4C64-A472-F20361516AEF}"/>
              </a:ext>
            </a:extLst>
          </p:cNvPr>
          <p:cNvSpPr>
            <a:spLocks xmlns:a="http://schemas.openxmlformats.org/drawingml/2006/main" noGrp="1"/>
          </p:cNvSpPr>
          <p:nvPr/>
        </p:nvSpPr>
        <p:spPr>
          <a:xfrm xmlns:a="http://schemas.openxmlformats.org/drawingml/2006/main">
            <a:off x="666750" y="2714625"/>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F4E79"/>
            </a:solidFill>
            <a:prstDash val="solid"/>
          </a:ln>
        </p:spPr>
      </p:sp>
      <p:sp>
        <p:nvSpPr>
          <p:cNvPr id="16" name="future-num-0">
            <a:extLst xmlns:a="http://schemas.openxmlformats.org/drawingml/2006/main">
              <a:ext uri="{FF2B5EF4-FFF2-40B4-BE49-F238E27FC236}">
                <a16:creationId xmlns:a16="http://schemas.microsoft.com/office/drawing/2014/main" id="{655E2C9E-BA89-4E95-852D-149B12114D39}"/>
              </a:ext>
            </a:extLst>
          </p:cNvPr>
          <p:cNvSpPr>
            <a:spLocks xmlns:a="http://schemas.openxmlformats.org/drawingml/2006/main" noGrp="1"/>
          </p:cNvSpPr>
          <p:nvPr/>
        </p:nvSpPr>
        <p:spPr>
          <a:xfrm xmlns:a="http://schemas.openxmlformats.org/drawingml/2006/main">
            <a:off x="781050" y="28289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F4E79"/>
                </a:solidFill>
                <a:latin typeface="Arial"/>
                <a:ea typeface="Arial"/>
                <a:cs typeface="Arial"/>
              </a:defRPr>
            </a:pPr>
            <a:r>
              <a:rPr sz="900" b="1">
                <a:solidFill>
                  <a:srgbClr val="1F4E79"/>
                </a:solidFill>
                <a:latin typeface="Arial"/>
                <a:ea typeface="Arial"/>
                <a:cs typeface="Arial"/>
              </a:rPr>
              <a:t>01</a:t>
            </a:r>
          </a:p>
        </p:txBody>
      </p:sp>
      <p:sp>
        <p:nvSpPr>
          <p:cNvPr id="17" name="future-text-0">
            <a:extLst xmlns:a="http://schemas.openxmlformats.org/drawingml/2006/main">
              <a:ext uri="{FF2B5EF4-FFF2-40B4-BE49-F238E27FC236}">
                <a16:creationId xmlns:a16="http://schemas.microsoft.com/office/drawing/2014/main" id="{27DEEAF9-FE0B-4131-AC07-8E0BC4F5908A}"/>
              </a:ext>
            </a:extLst>
          </p:cNvPr>
          <p:cNvSpPr>
            <a:spLocks xmlns:a="http://schemas.openxmlformats.org/drawingml/2006/main" noGrp="1"/>
          </p:cNvSpPr>
          <p:nvPr/>
        </p:nvSpPr>
        <p:spPr>
          <a:xfrm xmlns:a="http://schemas.openxmlformats.org/drawingml/2006/main">
            <a:off x="809625" y="3076575"/>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FREEZE</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FORMULA</a:t>
            </a:r>
          </a:p>
        </p:txBody>
      </p:sp>
      <p:sp>
        <p:nvSpPr>
          <p:cNvPr id="18" name="future-arrow-0">
            <a:extLst xmlns:a="http://schemas.openxmlformats.org/drawingml/2006/main">
              <a:ext uri="{FF2B5EF4-FFF2-40B4-BE49-F238E27FC236}">
                <a16:creationId xmlns:a16="http://schemas.microsoft.com/office/drawing/2014/main" id="{0519BFAE-5CE4-41D7-95F3-88D181E3290A}"/>
              </a:ext>
            </a:extLst>
          </p:cNvPr>
          <p:cNvSpPr>
            <a:spLocks xmlns:a="http://schemas.openxmlformats.org/drawingml/2006/main" noGrp="1"/>
          </p:cNvSpPr>
          <p:nvPr/>
        </p:nvSpPr>
        <p:spPr>
          <a:xfrm xmlns:a="http://schemas.openxmlformats.org/drawingml/2006/main">
            <a:off x="2357438" y="29432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19" name="future-box-1">
            <a:extLst xmlns:a="http://schemas.openxmlformats.org/drawingml/2006/main">
              <a:ext uri="{FF2B5EF4-FFF2-40B4-BE49-F238E27FC236}">
                <a16:creationId xmlns:a16="http://schemas.microsoft.com/office/drawing/2014/main" id="{FBC99E7D-8427-42B3-B8A0-F5879CF4FDC0}"/>
              </a:ext>
            </a:extLst>
          </p:cNvPr>
          <p:cNvSpPr>
            <a:spLocks xmlns:a="http://schemas.openxmlformats.org/drawingml/2006/main" noGrp="1"/>
          </p:cNvSpPr>
          <p:nvPr/>
        </p:nvSpPr>
        <p:spPr>
          <a:xfrm xmlns:a="http://schemas.openxmlformats.org/drawingml/2006/main">
            <a:off x="2719388" y="2714625"/>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C45A14"/>
            </a:solidFill>
            <a:prstDash val="solid"/>
          </a:ln>
        </p:spPr>
      </p:sp>
      <p:sp>
        <p:nvSpPr>
          <p:cNvPr id="20" name="future-num-1">
            <a:extLst xmlns:a="http://schemas.openxmlformats.org/drawingml/2006/main">
              <a:ext uri="{FF2B5EF4-FFF2-40B4-BE49-F238E27FC236}">
                <a16:creationId xmlns:a16="http://schemas.microsoft.com/office/drawing/2014/main" id="{0033704C-EE55-4A3C-86A3-787B62878762}"/>
              </a:ext>
            </a:extLst>
          </p:cNvPr>
          <p:cNvSpPr>
            <a:spLocks xmlns:a="http://schemas.openxmlformats.org/drawingml/2006/main" noGrp="1"/>
          </p:cNvSpPr>
          <p:nvPr/>
        </p:nvSpPr>
        <p:spPr>
          <a:xfrm xmlns:a="http://schemas.openxmlformats.org/drawingml/2006/main">
            <a:off x="2833688" y="28289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C45A14"/>
                </a:solidFill>
                <a:latin typeface="Arial"/>
                <a:ea typeface="Arial"/>
                <a:cs typeface="Arial"/>
              </a:defRPr>
            </a:pPr>
            <a:r>
              <a:rPr sz="900" b="1">
                <a:solidFill>
                  <a:srgbClr val="C45A14"/>
                </a:solidFill>
                <a:latin typeface="Arial"/>
                <a:ea typeface="Arial"/>
                <a:cs typeface="Arial"/>
              </a:rPr>
              <a:t>02</a:t>
            </a:r>
          </a:p>
        </p:txBody>
      </p:sp>
      <p:sp>
        <p:nvSpPr>
          <p:cNvPr id="21" name="future-text-1">
            <a:extLst xmlns:a="http://schemas.openxmlformats.org/drawingml/2006/main">
              <a:ext uri="{FF2B5EF4-FFF2-40B4-BE49-F238E27FC236}">
                <a16:creationId xmlns:a16="http://schemas.microsoft.com/office/drawing/2014/main" id="{B22800B9-98E3-420D-BDD2-60883F6E02C3}"/>
              </a:ext>
            </a:extLst>
          </p:cNvPr>
          <p:cNvSpPr>
            <a:spLocks xmlns:a="http://schemas.openxmlformats.org/drawingml/2006/main" noGrp="1"/>
          </p:cNvSpPr>
          <p:nvPr/>
        </p:nvSpPr>
        <p:spPr>
          <a:xfrm xmlns:a="http://schemas.openxmlformats.org/drawingml/2006/main">
            <a:off x="2862263" y="3076575"/>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SAMPLE</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SITES &amp; SEEDS</a:t>
            </a:r>
          </a:p>
        </p:txBody>
      </p:sp>
      <p:sp>
        <p:nvSpPr>
          <p:cNvPr id="22" name="future-arrow-1">
            <a:extLst xmlns:a="http://schemas.openxmlformats.org/drawingml/2006/main">
              <a:ext uri="{FF2B5EF4-FFF2-40B4-BE49-F238E27FC236}">
                <a16:creationId xmlns:a16="http://schemas.microsoft.com/office/drawing/2014/main" id="{ACD3676B-8F04-4562-85BF-25E2F1819B66}"/>
              </a:ext>
            </a:extLst>
          </p:cNvPr>
          <p:cNvSpPr>
            <a:spLocks xmlns:a="http://schemas.openxmlformats.org/drawingml/2006/main" noGrp="1"/>
          </p:cNvSpPr>
          <p:nvPr/>
        </p:nvSpPr>
        <p:spPr>
          <a:xfrm xmlns:a="http://schemas.openxmlformats.org/drawingml/2006/main">
            <a:off x="4410075" y="29432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3" name="future-box-2">
            <a:extLst xmlns:a="http://schemas.openxmlformats.org/drawingml/2006/main">
              <a:ext uri="{FF2B5EF4-FFF2-40B4-BE49-F238E27FC236}">
                <a16:creationId xmlns:a16="http://schemas.microsoft.com/office/drawing/2014/main" id="{A357BD8B-C53A-4C1F-83AE-366DF05A1BDA}"/>
              </a:ext>
            </a:extLst>
          </p:cNvPr>
          <p:cNvSpPr>
            <a:spLocks xmlns:a="http://schemas.openxmlformats.org/drawingml/2006/main" noGrp="1"/>
          </p:cNvSpPr>
          <p:nvPr/>
        </p:nvSpPr>
        <p:spPr>
          <a:xfrm xmlns:a="http://schemas.openxmlformats.org/drawingml/2006/main">
            <a:off x="4772025" y="2714625"/>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0D9488"/>
            </a:solidFill>
            <a:prstDash val="solid"/>
          </a:ln>
        </p:spPr>
      </p:sp>
      <p:sp>
        <p:nvSpPr>
          <p:cNvPr id="24" name="future-num-2">
            <a:extLst xmlns:a="http://schemas.openxmlformats.org/drawingml/2006/main">
              <a:ext uri="{FF2B5EF4-FFF2-40B4-BE49-F238E27FC236}">
                <a16:creationId xmlns:a16="http://schemas.microsoft.com/office/drawing/2014/main" id="{9520F732-3AC6-4BD0-99B0-378828DB950D}"/>
              </a:ext>
            </a:extLst>
          </p:cNvPr>
          <p:cNvSpPr>
            <a:spLocks xmlns:a="http://schemas.openxmlformats.org/drawingml/2006/main" noGrp="1"/>
          </p:cNvSpPr>
          <p:nvPr/>
        </p:nvSpPr>
        <p:spPr>
          <a:xfrm xmlns:a="http://schemas.openxmlformats.org/drawingml/2006/main">
            <a:off x="4886325" y="28289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0D9488"/>
                </a:solidFill>
                <a:latin typeface="Arial"/>
                <a:ea typeface="Arial"/>
                <a:cs typeface="Arial"/>
              </a:defRPr>
            </a:pPr>
            <a:r>
              <a:rPr sz="900" b="1">
                <a:solidFill>
                  <a:srgbClr val="0D9488"/>
                </a:solidFill>
                <a:latin typeface="Arial"/>
                <a:ea typeface="Arial"/>
                <a:cs typeface="Arial"/>
              </a:rPr>
              <a:t>03</a:t>
            </a:r>
          </a:p>
        </p:txBody>
      </p:sp>
      <p:sp>
        <p:nvSpPr>
          <p:cNvPr id="25" name="future-text-2">
            <a:extLst xmlns:a="http://schemas.openxmlformats.org/drawingml/2006/main">
              <a:ext uri="{FF2B5EF4-FFF2-40B4-BE49-F238E27FC236}">
                <a16:creationId xmlns:a16="http://schemas.microsoft.com/office/drawing/2014/main" id="{CC76423E-0F60-4FB7-868F-C858CD3DE3A9}"/>
              </a:ext>
            </a:extLst>
          </p:cNvPr>
          <p:cNvSpPr>
            <a:spLocks xmlns:a="http://schemas.openxmlformats.org/drawingml/2006/main" noGrp="1"/>
          </p:cNvSpPr>
          <p:nvPr/>
        </p:nvSpPr>
        <p:spPr>
          <a:xfrm xmlns:a="http://schemas.openxmlformats.org/drawingml/2006/main">
            <a:off x="4914900" y="3076575"/>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RECOMPUTE</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PHYSICAL AXES</a:t>
            </a:r>
          </a:p>
        </p:txBody>
      </p:sp>
      <p:sp>
        <p:nvSpPr>
          <p:cNvPr id="26" name="future-arrow-2">
            <a:extLst xmlns:a="http://schemas.openxmlformats.org/drawingml/2006/main">
              <a:ext uri="{FF2B5EF4-FFF2-40B4-BE49-F238E27FC236}">
                <a16:creationId xmlns:a16="http://schemas.microsoft.com/office/drawing/2014/main" id="{9436D3EA-AFF9-41A1-9042-341A021EAE14}"/>
              </a:ext>
            </a:extLst>
          </p:cNvPr>
          <p:cNvSpPr>
            <a:spLocks xmlns:a="http://schemas.openxmlformats.org/drawingml/2006/main" noGrp="1"/>
          </p:cNvSpPr>
          <p:nvPr/>
        </p:nvSpPr>
        <p:spPr>
          <a:xfrm xmlns:a="http://schemas.openxmlformats.org/drawingml/2006/main">
            <a:off x="6462713" y="29432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7" name="future-box-3">
            <a:extLst xmlns:a="http://schemas.openxmlformats.org/drawingml/2006/main">
              <a:ext uri="{FF2B5EF4-FFF2-40B4-BE49-F238E27FC236}">
                <a16:creationId xmlns:a16="http://schemas.microsoft.com/office/drawing/2014/main" id="{72890F0B-024C-486E-B074-219B867164F1}"/>
              </a:ext>
            </a:extLst>
          </p:cNvPr>
          <p:cNvSpPr>
            <a:spLocks xmlns:a="http://schemas.openxmlformats.org/drawingml/2006/main" noGrp="1"/>
          </p:cNvSpPr>
          <p:nvPr/>
        </p:nvSpPr>
        <p:spPr>
          <a:xfrm xmlns:a="http://schemas.openxmlformats.org/drawingml/2006/main">
            <a:off x="6824663" y="2714625"/>
            <a:ext cx="1652588"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5803D"/>
            </a:solidFill>
            <a:prstDash val="solid"/>
          </a:ln>
        </p:spPr>
      </p:sp>
      <p:sp>
        <p:nvSpPr>
          <p:cNvPr id="28" name="future-num-3">
            <a:extLst xmlns:a="http://schemas.openxmlformats.org/drawingml/2006/main">
              <a:ext uri="{FF2B5EF4-FFF2-40B4-BE49-F238E27FC236}">
                <a16:creationId xmlns:a16="http://schemas.microsoft.com/office/drawing/2014/main" id="{DE33FA59-61CC-4C07-9083-CDAC4935937F}"/>
              </a:ext>
            </a:extLst>
          </p:cNvPr>
          <p:cNvSpPr>
            <a:spLocks xmlns:a="http://schemas.openxmlformats.org/drawingml/2006/main" noGrp="1"/>
          </p:cNvSpPr>
          <p:nvPr/>
        </p:nvSpPr>
        <p:spPr>
          <a:xfrm xmlns:a="http://schemas.openxmlformats.org/drawingml/2006/main">
            <a:off x="6938963" y="28289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5803D"/>
                </a:solidFill>
                <a:latin typeface="Arial"/>
                <a:ea typeface="Arial"/>
                <a:cs typeface="Arial"/>
              </a:defRPr>
            </a:pPr>
            <a:r>
              <a:rPr sz="900" b="1">
                <a:solidFill>
                  <a:srgbClr val="15803D"/>
                </a:solidFill>
                <a:latin typeface="Arial"/>
                <a:ea typeface="Arial"/>
                <a:cs typeface="Arial"/>
              </a:rPr>
              <a:t>04</a:t>
            </a:r>
          </a:p>
        </p:txBody>
      </p:sp>
      <p:sp>
        <p:nvSpPr>
          <p:cNvPr id="29" name="future-text-3">
            <a:extLst xmlns:a="http://schemas.openxmlformats.org/drawingml/2006/main">
              <a:ext uri="{FF2B5EF4-FFF2-40B4-BE49-F238E27FC236}">
                <a16:creationId xmlns:a16="http://schemas.microsoft.com/office/drawing/2014/main" id="{BC89B333-857B-4C71-B857-77356AC9ABD3}"/>
              </a:ext>
            </a:extLst>
          </p:cNvPr>
          <p:cNvSpPr>
            <a:spLocks xmlns:a="http://schemas.openxmlformats.org/drawingml/2006/main" noGrp="1"/>
          </p:cNvSpPr>
          <p:nvPr/>
        </p:nvSpPr>
        <p:spPr>
          <a:xfrm xmlns:a="http://schemas.openxmlformats.org/drawingml/2006/main">
            <a:off x="6967538" y="3076575"/>
            <a:ext cx="1366838"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VALIDATE</a:t>
            </a:r>
          </a:p>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BOUNDARIES</a:t>
            </a:r>
          </a:p>
        </p:txBody>
      </p:sp>
      <p:sp>
        <p:nvSpPr>
          <p:cNvPr id="30" name="future-lowx-bg">
            <a:extLst xmlns:a="http://schemas.openxmlformats.org/drawingml/2006/main">
              <a:ext uri="{FF2B5EF4-FFF2-40B4-BE49-F238E27FC236}">
                <a16:creationId xmlns:a16="http://schemas.microsoft.com/office/drawing/2014/main" id="{B13C8ECC-BBBF-424A-820B-71E72A0A49A1}"/>
              </a:ext>
            </a:extLst>
          </p:cNvPr>
          <p:cNvSpPr>
            <a:spLocks xmlns:a="http://schemas.openxmlformats.org/drawingml/2006/main" noGrp="1"/>
          </p:cNvSpPr>
          <p:nvPr/>
        </p:nvSpPr>
        <p:spPr>
          <a:xfrm xmlns:a="http://schemas.openxmlformats.org/drawingml/2006/main">
            <a:off x="952500" y="4333875"/>
            <a:ext cx="2095500" cy="1190625"/>
          </a:xfrm>
          <a:prstGeom xmlns:a="http://schemas.openxmlformats.org/drawingml/2006/main" prst="rect">
            <a:avLst/>
          </a:prstGeom>
          <a:solidFill xmlns:a="http://schemas.openxmlformats.org/drawingml/2006/main">
            <a:srgbClr val="EAF2F8"/>
          </a:solidFill>
          <a:ln xmlns:a="http://schemas.openxmlformats.org/drawingml/2006/main" w="9525">
            <a:solidFill>
              <a:srgbClr val="E5E7EB"/>
            </a:solidFill>
            <a:prstDash val="solid"/>
          </a:ln>
        </p:spPr>
      </p:sp>
      <p:sp>
        <p:nvSpPr>
          <p:cNvPr id="31" name="future-lowx-bar">
            <a:extLst xmlns:a="http://schemas.openxmlformats.org/drawingml/2006/main">
              <a:ext uri="{FF2B5EF4-FFF2-40B4-BE49-F238E27FC236}">
                <a16:creationId xmlns:a16="http://schemas.microsoft.com/office/drawing/2014/main" id="{664F3E5A-4015-4787-BE45-8B0B660DF46C}"/>
              </a:ext>
            </a:extLst>
          </p:cNvPr>
          <p:cNvSpPr>
            <a:spLocks xmlns:a="http://schemas.openxmlformats.org/drawingml/2006/main" noGrp="1"/>
          </p:cNvSpPr>
          <p:nvPr/>
        </p:nvSpPr>
        <p:spPr>
          <a:xfrm xmlns:a="http://schemas.openxmlformats.org/drawingml/2006/main">
            <a:off x="952500" y="4333875"/>
            <a:ext cx="76200" cy="1190625"/>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32" name="future-lowx-title">
            <a:extLst xmlns:a="http://schemas.openxmlformats.org/drawingml/2006/main">
              <a:ext uri="{FF2B5EF4-FFF2-40B4-BE49-F238E27FC236}">
                <a16:creationId xmlns:a16="http://schemas.microsoft.com/office/drawing/2014/main" id="{ECD00F20-3949-49B4-A750-207927290C6C}"/>
              </a:ext>
            </a:extLst>
          </p:cNvPr>
          <p:cNvSpPr>
            <a:spLocks xmlns:a="http://schemas.openxmlformats.org/drawingml/2006/main" noGrp="1"/>
          </p:cNvSpPr>
          <p:nvPr/>
        </p:nvSpPr>
        <p:spPr>
          <a:xfrm xmlns:a="http://schemas.openxmlformats.org/drawingml/2006/main">
            <a:off x="1143000" y="44767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F4E79"/>
                </a:solidFill>
                <a:latin typeface="Arial"/>
                <a:ea typeface="Arial"/>
                <a:cs typeface="Arial"/>
              </a:defRPr>
            </a:pPr>
            <a:r>
              <a:rPr sz="1275" b="1">
                <a:solidFill>
                  <a:srgbClr val="1F4E79"/>
                </a:solidFill>
                <a:latin typeface="Arial"/>
                <a:ea typeface="Arial"/>
                <a:cs typeface="Arial"/>
              </a:rPr>
              <a:t>Structure</a:t>
            </a:r>
          </a:p>
        </p:txBody>
      </p:sp>
      <p:sp>
        <p:nvSpPr>
          <p:cNvPr id="33" name="future-lowx-body">
            <a:extLst xmlns:a="http://schemas.openxmlformats.org/drawingml/2006/main">
              <a:ext uri="{FF2B5EF4-FFF2-40B4-BE49-F238E27FC236}">
                <a16:creationId xmlns:a16="http://schemas.microsoft.com/office/drawing/2014/main" id="{210207B6-6794-4AB0-B42C-B7AAE0B81119}"/>
              </a:ext>
            </a:extLst>
          </p:cNvPr>
          <p:cNvSpPr>
            <a:spLocks xmlns:a="http://schemas.openxmlformats.org/drawingml/2006/main" noGrp="1"/>
          </p:cNvSpPr>
          <p:nvPr/>
        </p:nvSpPr>
        <p:spPr>
          <a:xfrm xmlns:a="http://schemas.openxmlformats.org/drawingml/2006/main">
            <a:off x="1143000" y="4819650"/>
            <a:ext cx="17716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larger cells</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real low loading</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exact composition ID</a:t>
            </a:r>
          </a:p>
        </p:txBody>
      </p:sp>
      <p:sp>
        <p:nvSpPr>
          <p:cNvPr id="34" name="future-path-bg">
            <a:extLst xmlns:a="http://schemas.openxmlformats.org/drawingml/2006/main">
              <a:ext uri="{FF2B5EF4-FFF2-40B4-BE49-F238E27FC236}">
                <a16:creationId xmlns:a16="http://schemas.microsoft.com/office/drawing/2014/main" id="{A138F3A1-CE22-47D6-8C9D-4777F270F463}"/>
              </a:ext>
            </a:extLst>
          </p:cNvPr>
          <p:cNvSpPr>
            <a:spLocks xmlns:a="http://schemas.openxmlformats.org/drawingml/2006/main" noGrp="1"/>
          </p:cNvSpPr>
          <p:nvPr/>
        </p:nvSpPr>
        <p:spPr>
          <a:xfrm xmlns:a="http://schemas.openxmlformats.org/drawingml/2006/main">
            <a:off x="3524250" y="4333875"/>
            <a:ext cx="2095500" cy="1190625"/>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35" name="future-path-bar">
            <a:extLst xmlns:a="http://schemas.openxmlformats.org/drawingml/2006/main">
              <a:ext uri="{FF2B5EF4-FFF2-40B4-BE49-F238E27FC236}">
                <a16:creationId xmlns:a16="http://schemas.microsoft.com/office/drawing/2014/main" id="{63A202D8-ACE0-4BE2-B1C4-DD7ED9D8886C}"/>
              </a:ext>
            </a:extLst>
          </p:cNvPr>
          <p:cNvSpPr>
            <a:spLocks xmlns:a="http://schemas.openxmlformats.org/drawingml/2006/main" noGrp="1"/>
          </p:cNvSpPr>
          <p:nvPr/>
        </p:nvSpPr>
        <p:spPr>
          <a:xfrm xmlns:a="http://schemas.openxmlformats.org/drawingml/2006/main">
            <a:off x="3524250" y="4333875"/>
            <a:ext cx="76200" cy="1190625"/>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6" name="future-path-title">
            <a:extLst xmlns:a="http://schemas.openxmlformats.org/drawingml/2006/main">
              <a:ext uri="{FF2B5EF4-FFF2-40B4-BE49-F238E27FC236}">
                <a16:creationId xmlns:a16="http://schemas.microsoft.com/office/drawing/2014/main" id="{8E400DF5-BC8B-471F-AF19-4B7BDE57682B}"/>
              </a:ext>
            </a:extLst>
          </p:cNvPr>
          <p:cNvSpPr>
            <a:spLocks xmlns:a="http://schemas.openxmlformats.org/drawingml/2006/main" noGrp="1"/>
          </p:cNvSpPr>
          <p:nvPr/>
        </p:nvSpPr>
        <p:spPr>
          <a:xfrm xmlns:a="http://schemas.openxmlformats.org/drawingml/2006/main">
            <a:off x="3714750" y="44767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0D9488"/>
                </a:solidFill>
                <a:latin typeface="Arial"/>
                <a:ea typeface="Arial"/>
                <a:cs typeface="Arial"/>
              </a:defRPr>
            </a:pPr>
            <a:r>
              <a:rPr sz="1275" b="1">
                <a:solidFill>
                  <a:srgbClr val="0D9488"/>
                </a:solidFill>
                <a:latin typeface="Arial"/>
                <a:ea typeface="Arial"/>
                <a:cs typeface="Arial"/>
              </a:rPr>
              <a:t>Transport</a:t>
            </a:r>
          </a:p>
        </p:txBody>
      </p:sp>
      <p:sp>
        <p:nvSpPr>
          <p:cNvPr id="37" name="future-path-body">
            <a:extLst xmlns:a="http://schemas.openxmlformats.org/drawingml/2006/main">
              <a:ext uri="{FF2B5EF4-FFF2-40B4-BE49-F238E27FC236}">
                <a16:creationId xmlns:a16="http://schemas.microsoft.com/office/drawing/2014/main" id="{957FC6EA-8B50-42BD-A40C-49D757230392}"/>
              </a:ext>
            </a:extLst>
          </p:cNvPr>
          <p:cNvSpPr>
            <a:spLocks xmlns:a="http://schemas.openxmlformats.org/drawingml/2006/main" noGrp="1"/>
          </p:cNvSpPr>
          <p:nvPr/>
        </p:nvSpPr>
        <p:spPr>
          <a:xfrm xmlns:a="http://schemas.openxmlformats.org/drawingml/2006/main">
            <a:off x="3714750" y="4819650"/>
            <a:ext cx="17716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canonical softBV</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multiseed long MD</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no forced composite</a:t>
            </a:r>
          </a:p>
        </p:txBody>
      </p:sp>
      <p:sp>
        <p:nvSpPr>
          <p:cNvPr id="38" name="future-int-bg">
            <a:extLst xmlns:a="http://schemas.openxmlformats.org/drawingml/2006/main">
              <a:ext uri="{FF2B5EF4-FFF2-40B4-BE49-F238E27FC236}">
                <a16:creationId xmlns:a16="http://schemas.microsoft.com/office/drawing/2014/main" id="{3544CC1F-F601-40AE-AD16-BD7205AD6BD3}"/>
              </a:ext>
            </a:extLst>
          </p:cNvPr>
          <p:cNvSpPr>
            <a:spLocks xmlns:a="http://schemas.openxmlformats.org/drawingml/2006/main" noGrp="1"/>
          </p:cNvSpPr>
          <p:nvPr/>
        </p:nvSpPr>
        <p:spPr>
          <a:xfrm xmlns:a="http://schemas.openxmlformats.org/drawingml/2006/main">
            <a:off x="6096000" y="4333875"/>
            <a:ext cx="2095500" cy="1190625"/>
          </a:xfrm>
          <a:prstGeom xmlns:a="http://schemas.openxmlformats.org/drawingml/2006/main" prst="rect">
            <a:avLst/>
          </a:prstGeom>
          <a:solidFill xmlns:a="http://schemas.openxmlformats.org/drawingml/2006/main">
            <a:srgbClr val="FFF7E6"/>
          </a:solidFill>
          <a:ln xmlns:a="http://schemas.openxmlformats.org/drawingml/2006/main" w="9525">
            <a:solidFill>
              <a:srgbClr val="E5E7EB"/>
            </a:solidFill>
            <a:prstDash val="solid"/>
          </a:ln>
        </p:spPr>
      </p:sp>
      <p:sp>
        <p:nvSpPr>
          <p:cNvPr id="39" name="future-int-bar">
            <a:extLst xmlns:a="http://schemas.openxmlformats.org/drawingml/2006/main">
              <a:ext uri="{FF2B5EF4-FFF2-40B4-BE49-F238E27FC236}">
                <a16:creationId xmlns:a16="http://schemas.microsoft.com/office/drawing/2014/main" id="{C1F6C0FF-5E47-4736-9F30-ECE32150C953}"/>
              </a:ext>
            </a:extLst>
          </p:cNvPr>
          <p:cNvSpPr>
            <a:spLocks xmlns:a="http://schemas.openxmlformats.org/drawingml/2006/main" noGrp="1"/>
          </p:cNvSpPr>
          <p:nvPr/>
        </p:nvSpPr>
        <p:spPr>
          <a:xfrm xmlns:a="http://schemas.openxmlformats.org/drawingml/2006/main">
            <a:off x="6096000" y="4333875"/>
            <a:ext cx="76200" cy="1190625"/>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sp>
      <p:sp>
        <p:nvSpPr>
          <p:cNvPr id="40" name="future-int-title">
            <a:extLst xmlns:a="http://schemas.openxmlformats.org/drawingml/2006/main">
              <a:ext uri="{FF2B5EF4-FFF2-40B4-BE49-F238E27FC236}">
                <a16:creationId xmlns:a16="http://schemas.microsoft.com/office/drawing/2014/main" id="{E115B286-E406-4078-A626-EBDC3B9A2448}"/>
              </a:ext>
            </a:extLst>
          </p:cNvPr>
          <p:cNvSpPr>
            <a:spLocks xmlns:a="http://schemas.openxmlformats.org/drawingml/2006/main" noGrp="1"/>
          </p:cNvSpPr>
          <p:nvPr/>
        </p:nvSpPr>
        <p:spPr>
          <a:xfrm xmlns:a="http://schemas.openxmlformats.org/drawingml/2006/main">
            <a:off x="6286500" y="44767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C45A14"/>
                </a:solidFill>
                <a:latin typeface="Arial"/>
                <a:ea typeface="Arial"/>
                <a:cs typeface="Arial"/>
              </a:defRPr>
            </a:pPr>
            <a:r>
              <a:rPr sz="1275" b="1">
                <a:solidFill>
                  <a:srgbClr val="C45A14"/>
                </a:solidFill>
                <a:latin typeface="Arial"/>
                <a:ea typeface="Arial"/>
                <a:cs typeface="Arial"/>
              </a:rPr>
              <a:t>Interfaces</a:t>
            </a:r>
          </a:p>
        </p:txBody>
      </p:sp>
      <p:sp>
        <p:nvSpPr>
          <p:cNvPr id="41" name="future-int-body">
            <a:extLst xmlns:a="http://schemas.openxmlformats.org/drawingml/2006/main">
              <a:ext uri="{FF2B5EF4-FFF2-40B4-BE49-F238E27FC236}">
                <a16:creationId xmlns:a16="http://schemas.microsoft.com/office/drawing/2014/main" id="{A5CD1391-DE09-4E5D-9811-589E75B706E7}"/>
              </a:ext>
            </a:extLst>
          </p:cNvPr>
          <p:cNvSpPr>
            <a:spLocks xmlns:a="http://schemas.openxmlformats.org/drawingml/2006/main" noGrp="1"/>
          </p:cNvSpPr>
          <p:nvPr/>
        </p:nvSpPr>
        <p:spPr>
          <a:xfrm xmlns:a="http://schemas.openxmlformats.org/drawingml/2006/main">
            <a:off x="6286500" y="4819650"/>
            <a:ext cx="17716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same phase roster</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relaxed interface</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W_ad / reactions</a:t>
            </a:r>
          </a:p>
        </p:txBody>
      </p:sp>
    </p:spTree>
    <p:extLst>
      <p:ext uri="{BB962C8B-B14F-4D97-AF65-F5344CB8AC3E}">
        <p14:creationId xmlns:p14="http://schemas.microsoft.com/office/powerpoint/2010/main" val="176524132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2" name="bg-19">
            <a:extLst xmlns:a="http://schemas.openxmlformats.org/drawingml/2006/main">
              <a:ext uri="{FF2B5EF4-FFF2-40B4-BE49-F238E27FC236}">
                <a16:creationId xmlns:a16="http://schemas.microsoft.com/office/drawing/2014/main" id="{1A7045C9-3AA1-4FF0-82F0-C1FA5F41846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9">
            <a:extLst xmlns:a="http://schemas.openxmlformats.org/drawingml/2006/main">
              <a:ext uri="{FF2B5EF4-FFF2-40B4-BE49-F238E27FC236}">
                <a16:creationId xmlns:a16="http://schemas.microsoft.com/office/drawing/2014/main" id="{CC45A2D8-F193-4ECB-BC74-0C761E5AA16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ML &amp; co-doping</a:t>
            </a:r>
          </a:p>
        </p:txBody>
      </p:sp>
      <p:sp>
        <p:nvSpPr>
          <p:cNvPr id="3" name="terms-19">
            <a:extLst xmlns:a="http://schemas.openxmlformats.org/drawingml/2006/main">
              <a:ext uri="{FF2B5EF4-FFF2-40B4-BE49-F238E27FC236}">
                <a16:creationId xmlns:a16="http://schemas.microsoft.com/office/drawing/2014/main" id="{DC404B88-0C05-489C-B757-E60D852464F9}"/>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domain: region supported by training data  ·  Acquisition: select the next calculation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Explicit pair label: property computed for an actual co-modified structure</a:t>
            </a:r>
          </a:p>
        </p:txBody>
      </p:sp>
      <p:sp>
        <p:nvSpPr>
          <p:cNvPr id="4" name="divider-19">
            <a:extLst xmlns:a="http://schemas.openxmlformats.org/drawingml/2006/main">
              <a:ext uri="{FF2B5EF4-FFF2-40B4-BE49-F238E27FC236}">
                <a16:creationId xmlns:a16="http://schemas.microsoft.com/office/drawing/2014/main" id="{CCA609FD-25EE-409B-8562-96D804B5ED4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9">
            <a:extLst xmlns:a="http://schemas.openxmlformats.org/drawingml/2006/main">
              <a:ext uri="{FF2B5EF4-FFF2-40B4-BE49-F238E27FC236}">
                <a16:creationId xmlns:a16="http://schemas.microsoft.com/office/drawing/2014/main" id="{D7DA8F0A-AB8C-477D-9358-CEBD727D146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9">
            <a:extLst xmlns:a="http://schemas.openxmlformats.org/drawingml/2006/main">
              <a:ext uri="{FF2B5EF4-FFF2-40B4-BE49-F238E27FC236}">
                <a16:creationId xmlns:a16="http://schemas.microsoft.com/office/drawing/2014/main" id="{ACF2560A-F4F2-4C25-AD3B-D436B0AD6DE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Use ML to schedule evidence—not to manufacture a winner</a:t>
            </a:r>
          </a:p>
        </p:txBody>
      </p:sp>
      <p:sp>
        <p:nvSpPr>
          <p:cNvPr id="7" name="bullet-dot-19-0">
            <a:extLst xmlns:a="http://schemas.openxmlformats.org/drawingml/2006/main">
              <a:ext uri="{FF2B5EF4-FFF2-40B4-BE49-F238E27FC236}">
                <a16:creationId xmlns:a16="http://schemas.microsoft.com/office/drawing/2014/main" id="{C6B20BCA-A05E-4EBB-9AEB-4B4E3F10E83C}"/>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4CE55677-D9DD-4CF6-8F6C-F2F990E8B47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7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Current data can rank questions inside a predefined list, but it does not validate new-chemistry property prediction.</a:t>
            </a:r>
          </a:p>
        </p:txBody>
      </p:sp>
      <p:sp>
        <p:nvSpPr>
          <p:cNvPr id="9" name="bullet-dot-19-1">
            <a:extLst xmlns:a="http://schemas.openxmlformats.org/drawingml/2006/main">
              <a:ext uri="{FF2B5EF4-FFF2-40B4-BE49-F238E27FC236}">
                <a16:creationId xmlns:a16="http://schemas.microsoft.com/office/drawing/2014/main" id="{B75A0010-32D1-4B3D-9654-D7FBB062F67C}"/>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B3694F6E-1097-4C16-B8FE-58D0095D949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68"/>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first co-modified labels must use matched single-modifier controls in the same cell, site, and seed design.</a:t>
            </a:r>
          </a:p>
        </p:txBody>
      </p:sp>
      <p:sp>
        <p:nvSpPr>
          <p:cNvPr id="11" name="citation-19">
            <a:extLst xmlns:a="http://schemas.openxmlformats.org/drawingml/2006/main">
              <a:ext uri="{FF2B5EF4-FFF2-40B4-BE49-F238E27FC236}">
                <a16:creationId xmlns:a16="http://schemas.microsoft.com/office/drawing/2014/main" id="{778738B2-0BCA-4F83-BE19-254F04418C6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et al., Fig. 4 · current pair-label inventory</a:t>
            </a:r>
          </a:p>
        </p:txBody>
      </p:sp>
      <p:sp>
        <p:nvSpPr>
          <p:cNvPr id="12" name="footer-brand-19">
            <a:extLst xmlns:a="http://schemas.openxmlformats.org/drawingml/2006/main">
              <a:ext uri="{FF2B5EF4-FFF2-40B4-BE49-F238E27FC236}">
                <a16:creationId xmlns:a16="http://schemas.microsoft.com/office/drawing/2014/main" id="{424B9FA3-4596-4606-8102-AE3129E70F4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6F9C2129-2913-470D-9D4D-D8C0765FC4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5F38BBBF-D41A-43B8-A24F-C1CA277ADA8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19</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21af0ec6a3c4aec"/>
          <a:stretch xmlns:a="http://schemas.openxmlformats.org/drawingml/2006/main"/>
        </p:blipFill>
        <p:spPr>
          <a:xfrm xmlns:a="http://schemas.openxmlformats.org/drawingml/2006/main">
            <a:off x="714375" y="2673248"/>
            <a:ext cx="3714750" cy="2464004"/>
          </a:xfrm>
          <a:prstGeom xmlns:a="http://schemas.openxmlformats.org/drawingml/2006/main" prst="rect">
            <a:avLst/>
          </a:prstGeom>
        </p:spPr>
      </p:pic>
      <p:sp>
        <p:nvSpPr>
          <p:cNvPr id="16" name="ml-loop-bg">
            <a:extLst xmlns:a="http://schemas.openxmlformats.org/drawingml/2006/main">
              <a:ext uri="{FF2B5EF4-FFF2-40B4-BE49-F238E27FC236}">
                <a16:creationId xmlns:a16="http://schemas.microsoft.com/office/drawing/2014/main" id="{7B7ED0A4-8760-4A61-90E1-0F1277377FA4}"/>
              </a:ext>
            </a:extLst>
          </p:cNvPr>
          <p:cNvSpPr>
            <a:spLocks xmlns:a="http://schemas.openxmlformats.org/drawingml/2006/main" noGrp="1"/>
          </p:cNvSpPr>
          <p:nvPr/>
        </p:nvSpPr>
        <p:spPr>
          <a:xfrm xmlns:a="http://schemas.openxmlformats.org/drawingml/2006/main">
            <a:off x="5095875" y="2381250"/>
            <a:ext cx="3143250" cy="2809875"/>
          </a:xfrm>
          <a:prstGeom xmlns:a="http://schemas.openxmlformats.org/drawingml/2006/main" prst="rect">
            <a:avLst/>
          </a:prstGeom>
          <a:solidFill xmlns:a="http://schemas.openxmlformats.org/drawingml/2006/main">
            <a:srgbClr val="EAF2F8"/>
          </a:solidFill>
          <a:ln xmlns:a="http://schemas.openxmlformats.org/drawingml/2006/main" w="9525">
            <a:solidFill>
              <a:srgbClr val="E5E7EB"/>
            </a:solidFill>
            <a:prstDash val="solid"/>
          </a:ln>
        </p:spPr>
      </p:sp>
      <p:sp>
        <p:nvSpPr>
          <p:cNvPr id="17" name="ml-loop-bar">
            <a:extLst xmlns:a="http://schemas.openxmlformats.org/drawingml/2006/main">
              <a:ext uri="{FF2B5EF4-FFF2-40B4-BE49-F238E27FC236}">
                <a16:creationId xmlns:a16="http://schemas.microsoft.com/office/drawing/2014/main" id="{3C286D39-5862-4D65-BB50-75D866E000EC}"/>
              </a:ext>
            </a:extLst>
          </p:cNvPr>
          <p:cNvSpPr>
            <a:spLocks xmlns:a="http://schemas.openxmlformats.org/drawingml/2006/main" noGrp="1"/>
          </p:cNvSpPr>
          <p:nvPr/>
        </p:nvSpPr>
        <p:spPr>
          <a:xfrm xmlns:a="http://schemas.openxmlformats.org/drawingml/2006/main">
            <a:off x="5095875" y="2381250"/>
            <a:ext cx="76200" cy="2809875"/>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8" name="ml-loop-title">
            <a:extLst xmlns:a="http://schemas.openxmlformats.org/drawingml/2006/main">
              <a:ext uri="{FF2B5EF4-FFF2-40B4-BE49-F238E27FC236}">
                <a16:creationId xmlns:a16="http://schemas.microsoft.com/office/drawing/2014/main" id="{669B369A-22B4-43DF-A763-E20E41941207}"/>
              </a:ext>
            </a:extLst>
          </p:cNvPr>
          <p:cNvSpPr>
            <a:spLocks xmlns:a="http://schemas.openxmlformats.org/drawingml/2006/main" noGrp="1"/>
          </p:cNvSpPr>
          <p:nvPr/>
        </p:nvSpPr>
        <p:spPr>
          <a:xfrm xmlns:a="http://schemas.openxmlformats.org/drawingml/2006/main">
            <a:off x="5286375" y="252412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F4E79"/>
                </a:solidFill>
                <a:latin typeface="Arial"/>
                <a:ea typeface="Arial"/>
                <a:cs typeface="Arial"/>
              </a:defRPr>
            </a:pPr>
            <a:r>
              <a:rPr sz="1275" b="1">
                <a:solidFill>
                  <a:srgbClr val="1F4E79"/>
                </a:solidFill>
                <a:latin typeface="Arial"/>
                <a:ea typeface="Arial"/>
                <a:cs typeface="Arial"/>
              </a:rPr>
              <a:t>ACTIVE LEARNING LOOP</a:t>
            </a:r>
          </a:p>
        </p:txBody>
      </p:sp>
      <p:sp>
        <p:nvSpPr>
          <p:cNvPr id="19" name="ml-loop-body">
            <a:extLst xmlns:a="http://schemas.openxmlformats.org/drawingml/2006/main">
              <a:ext uri="{FF2B5EF4-FFF2-40B4-BE49-F238E27FC236}">
                <a16:creationId xmlns:a16="http://schemas.microsoft.com/office/drawing/2014/main" id="{D0E7F4EB-8481-4EEC-9766-DF8290EF0FAC}"/>
              </a:ext>
            </a:extLst>
          </p:cNvPr>
          <p:cNvSpPr>
            <a:spLocks xmlns:a="http://schemas.openxmlformats.org/drawingml/2006/main" noGrp="1"/>
          </p:cNvSpPr>
          <p:nvPr/>
        </p:nvSpPr>
        <p:spPr>
          <a:xfrm xmlns:a="http://schemas.openxmlformats.org/drawingml/2006/main">
            <a:off x="5286375" y="2867025"/>
            <a:ext cx="28194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1. Physics defines allowed candidates</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2. Model ranks uncertainty + diversity</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3. Compute explicit pair structures</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4. Add new labels and retrain</a:t>
            </a:r>
          </a:p>
        </p:txBody>
      </p:sp>
      <p:sp>
        <p:nvSpPr>
          <p:cNvPr id="20" name="ml-zero">
            <a:extLst xmlns:a="http://schemas.openxmlformats.org/drawingml/2006/main">
              <a:ext uri="{FF2B5EF4-FFF2-40B4-BE49-F238E27FC236}">
                <a16:creationId xmlns:a16="http://schemas.microsoft.com/office/drawing/2014/main" id="{98F465A4-49E7-4BA3-B821-90C47B0E9C2C}"/>
              </a:ext>
            </a:extLst>
          </p:cNvPr>
          <p:cNvSpPr>
            <a:spLocks xmlns:a="http://schemas.openxmlformats.org/drawingml/2006/main" noGrp="1"/>
          </p:cNvSpPr>
          <p:nvPr/>
        </p:nvSpPr>
        <p:spPr>
          <a:xfrm xmlns:a="http://schemas.openxmlformats.org/drawingml/2006/main">
            <a:off x="5238750" y="5381625"/>
            <a:ext cx="2857500" cy="3619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47625" tIns="28575" rIns="47625" bIns="28575" anchor="ctr">
            <a:normAutofit fontScale="98717"/>
          </a:bodyPr>
          <a:lstStyle xmlns:a="http://schemas.openxmlformats.org/drawingml/2006/main"/>
          <a:p xmlns:a="http://schemas.openxmlformats.org/drawingml/2006/main">
            <a:pPr algn="ctr">
              <a:defRPr sz="1013" b="1">
                <a:solidFill>
                  <a:srgbClr val="FFFFFF"/>
                </a:solidFill>
                <a:latin typeface="Arial"/>
                <a:ea typeface="Arial"/>
                <a:cs typeface="Arial"/>
              </a:defRPr>
            </a:pPr>
            <a:r>
              <a:rPr sz="1013" b="1">
                <a:solidFill>
                  <a:srgbClr val="FFFFFF"/>
                </a:solidFill>
                <a:latin typeface="Arial"/>
                <a:ea typeface="Arial"/>
                <a:cs typeface="Arial"/>
              </a:rPr>
              <a:t>EXPLICIT PAIR PROPERTY LABELS TODAY: 0</a:t>
            </a:r>
          </a:p>
        </p:txBody>
      </p:sp>
      <p:sp>
        <p:nvSpPr>
          <p:cNvPr id="21" name="ml-cap">
            <a:extLst xmlns:a="http://schemas.openxmlformats.org/drawingml/2006/main">
              <a:ext uri="{FF2B5EF4-FFF2-40B4-BE49-F238E27FC236}">
                <a16:creationId xmlns:a16="http://schemas.microsoft.com/office/drawing/2014/main" id="{EE4369C2-FA3C-477C-8353-94DABDA45A14}"/>
              </a:ext>
            </a:extLst>
          </p:cNvPr>
          <p:cNvSpPr>
            <a:spLocks xmlns:a="http://schemas.openxmlformats.org/drawingml/2006/main" noGrp="1"/>
          </p:cNvSpPr>
          <p:nvPr/>
        </p:nvSpPr>
        <p:spPr>
          <a:xfrm xmlns:a="http://schemas.openxmlformats.org/drawingml/2006/main">
            <a:off x="809625" y="5905500"/>
            <a:ext cx="3524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13" i="1">
                <a:solidFill>
                  <a:srgbClr val="6B7280"/>
                </a:solidFill>
                <a:latin typeface="Arial"/>
                <a:ea typeface="Arial"/>
                <a:cs typeface="Arial"/>
              </a:defRPr>
            </a:pPr>
            <a:r>
              <a:rPr sz="713" i="1">
                <a:solidFill>
                  <a:srgbClr val="6B7280"/>
                </a:solidFill>
                <a:latin typeface="Arial"/>
                <a:ea typeface="Arial"/>
                <a:cs typeface="Arial"/>
              </a:rPr>
              <a:t>Literature example — probability must be read with distance from the training domain.</a:t>
            </a:r>
          </a:p>
        </p:txBody>
      </p:sp>
    </p:spTree>
    <p:extLst>
      <p:ext uri="{BB962C8B-B14F-4D97-AF65-F5344CB8AC3E}">
        <p14:creationId xmlns:p14="http://schemas.microsoft.com/office/powerpoint/2010/main" val="192440589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8" name="bg-20">
            <a:extLst xmlns:a="http://schemas.openxmlformats.org/drawingml/2006/main">
              <a:ext uri="{FF2B5EF4-FFF2-40B4-BE49-F238E27FC236}">
                <a16:creationId xmlns:a16="http://schemas.microsoft.com/office/drawing/2014/main" id="{C7163743-19C8-400E-8491-FE2CBD9515D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0">
            <a:extLst xmlns:a="http://schemas.openxmlformats.org/drawingml/2006/main">
              <a:ext uri="{FF2B5EF4-FFF2-40B4-BE49-F238E27FC236}">
                <a16:creationId xmlns:a16="http://schemas.microsoft.com/office/drawing/2014/main" id="{E8776989-0370-4843-9F9C-E6767BFAB413}"/>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Discussion</a:t>
            </a:r>
          </a:p>
        </p:txBody>
      </p:sp>
      <p:sp>
        <p:nvSpPr>
          <p:cNvPr id="3" name="terms-20">
            <a:extLst xmlns:a="http://schemas.openxmlformats.org/drawingml/2006/main">
              <a:ext uri="{FF2B5EF4-FFF2-40B4-BE49-F238E27FC236}">
                <a16:creationId xmlns:a16="http://schemas.microsoft.com/office/drawing/2014/main" id="{E8D4395B-143E-4B62-92F6-F512EC8D4B6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Robust candidate: performance survives configuration uncertainty  ·  Validation budget: limited expensive calculations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Screening success: the next experiment becomes clearer</a:t>
            </a:r>
          </a:p>
        </p:txBody>
      </p:sp>
      <p:sp>
        <p:nvSpPr>
          <p:cNvPr id="4" name="divider-20">
            <a:extLst xmlns:a="http://schemas.openxmlformats.org/drawingml/2006/main">
              <a:ext uri="{FF2B5EF4-FFF2-40B4-BE49-F238E27FC236}">
                <a16:creationId xmlns:a16="http://schemas.microsoft.com/office/drawing/2014/main" id="{EBFC1F24-82CE-49BB-AD86-AED86FEB914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0">
            <a:extLst xmlns:a="http://schemas.openxmlformats.org/drawingml/2006/main">
              <a:ext uri="{FF2B5EF4-FFF2-40B4-BE49-F238E27FC236}">
                <a16:creationId xmlns:a16="http://schemas.microsoft.com/office/drawing/2014/main" id="{61AEF378-9903-4218-A94D-20732ECF5C8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0">
            <a:extLst xmlns:a="http://schemas.openxmlformats.org/drawingml/2006/main">
              <a:ext uri="{FF2B5EF4-FFF2-40B4-BE49-F238E27FC236}">
                <a16:creationId xmlns:a16="http://schemas.microsoft.com/office/drawing/2014/main" id="{D2CB399A-A7DC-455C-AE34-EF20AD50DF5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7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 good screen does not merely remove candidates—it makes the next validation decision explicit</a:t>
            </a:r>
          </a:p>
        </p:txBody>
      </p:sp>
      <p:sp>
        <p:nvSpPr>
          <p:cNvPr id="7" name="bullet-dot-20-0">
            <a:extLst xmlns:a="http://schemas.openxmlformats.org/drawingml/2006/main">
              <a:ext uri="{FF2B5EF4-FFF2-40B4-BE49-F238E27FC236}">
                <a16:creationId xmlns:a16="http://schemas.microsoft.com/office/drawing/2014/main" id="{DADC7549-F2BE-4AB9-B138-CAC352D8FEE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E02240D2-C09B-4646-AE33-EC00FDE2F75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5"/>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campaign recovered broad chemical and structural information, but configuration control remains the main limitation.</a:t>
            </a:r>
          </a:p>
        </p:txBody>
      </p:sp>
      <p:sp>
        <p:nvSpPr>
          <p:cNvPr id="9" name="bullet-dot-20-1">
            <a:extLst xmlns:a="http://schemas.openxmlformats.org/drawingml/2006/main">
              <a:ext uri="{FF2B5EF4-FFF2-40B4-BE49-F238E27FC236}">
                <a16:creationId xmlns:a16="http://schemas.microsoft.com/office/drawing/2014/main" id="{1573A6DB-F81B-421C-B6FF-9DE9DA0D1CD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DFEF2EB8-0A6D-4E20-90BF-6C29A8C0875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next decision is which matched, expensive calculation will reduce uncertainty the most.</a:t>
            </a:r>
          </a:p>
        </p:txBody>
      </p:sp>
      <p:sp>
        <p:nvSpPr>
          <p:cNvPr id="11" name="citation-20">
            <a:extLst xmlns:a="http://schemas.openxmlformats.org/drawingml/2006/main">
              <a:ext uri="{FF2B5EF4-FFF2-40B4-BE49-F238E27FC236}">
                <a16:creationId xmlns:a16="http://schemas.microsoft.com/office/drawing/2014/main" id="{68E4F095-E601-4AA6-B27C-590470A1F8D1}"/>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Take-home discussion</a:t>
            </a:r>
          </a:p>
        </p:txBody>
      </p:sp>
      <p:sp>
        <p:nvSpPr>
          <p:cNvPr id="12" name="footer-brand-20">
            <a:extLst xmlns:a="http://schemas.openxmlformats.org/drawingml/2006/main">
              <a:ext uri="{FF2B5EF4-FFF2-40B4-BE49-F238E27FC236}">
                <a16:creationId xmlns:a16="http://schemas.microsoft.com/office/drawing/2014/main" id="{2B9C6505-B207-4B75-A508-FDEAE8F8C0E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C53472CC-79AC-47A5-BE50-82887263A94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E8EC0694-3580-4980-987F-70FC5D7C58D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20</a:t>
            </a:r>
          </a:p>
        </p:txBody>
      </p:sp>
      <p:sp>
        <p:nvSpPr>
          <p:cNvPr id="15" name="q1-bg">
            <a:extLst xmlns:a="http://schemas.openxmlformats.org/drawingml/2006/main">
              <a:ext uri="{FF2B5EF4-FFF2-40B4-BE49-F238E27FC236}">
                <a16:creationId xmlns:a16="http://schemas.microsoft.com/office/drawing/2014/main" id="{423C99E9-4275-4811-9C1F-46BF2D5ABB56}"/>
              </a:ext>
            </a:extLst>
          </p:cNvPr>
          <p:cNvSpPr>
            <a:spLocks xmlns:a="http://schemas.openxmlformats.org/drawingml/2006/main" noGrp="1"/>
          </p:cNvSpPr>
          <p:nvPr/>
        </p:nvSpPr>
        <p:spPr>
          <a:xfrm xmlns:a="http://schemas.openxmlformats.org/drawingml/2006/main">
            <a:off x="857250" y="2476500"/>
            <a:ext cx="7429500" cy="857250"/>
          </a:xfrm>
          <a:prstGeom xmlns:a="http://schemas.openxmlformats.org/drawingml/2006/main" prst="rect">
            <a:avLst/>
          </a:prstGeom>
          <a:solidFill xmlns:a="http://schemas.openxmlformats.org/drawingml/2006/main">
            <a:srgbClr val="EAF2F8"/>
          </a:solidFill>
          <a:ln xmlns:a="http://schemas.openxmlformats.org/drawingml/2006/main" w="9525">
            <a:solidFill>
              <a:srgbClr val="E5E7EB"/>
            </a:solidFill>
            <a:prstDash val="solid"/>
          </a:ln>
        </p:spPr>
      </p:sp>
      <p:sp>
        <p:nvSpPr>
          <p:cNvPr id="16" name="q1-bar">
            <a:extLst xmlns:a="http://schemas.openxmlformats.org/drawingml/2006/main">
              <a:ext uri="{FF2B5EF4-FFF2-40B4-BE49-F238E27FC236}">
                <a16:creationId xmlns:a16="http://schemas.microsoft.com/office/drawing/2014/main" id="{930ACD4E-1118-4069-931E-F51BFF692CF9}"/>
              </a:ext>
            </a:extLst>
          </p:cNvPr>
          <p:cNvSpPr>
            <a:spLocks xmlns:a="http://schemas.openxmlformats.org/drawingml/2006/main" noGrp="1"/>
          </p:cNvSpPr>
          <p:nvPr/>
        </p:nvSpPr>
        <p:spPr>
          <a:xfrm xmlns:a="http://schemas.openxmlformats.org/drawingml/2006/main">
            <a:off x="857250" y="2476500"/>
            <a:ext cx="76200" cy="8572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7" name="q1-title">
            <a:extLst xmlns:a="http://schemas.openxmlformats.org/drawingml/2006/main">
              <a:ext uri="{FF2B5EF4-FFF2-40B4-BE49-F238E27FC236}">
                <a16:creationId xmlns:a16="http://schemas.microsoft.com/office/drawing/2014/main" id="{A3F5ADF3-2AC0-460B-8BE3-F464AEE13588}"/>
              </a:ext>
            </a:extLst>
          </p:cNvPr>
          <p:cNvSpPr>
            <a:spLocks xmlns:a="http://schemas.openxmlformats.org/drawingml/2006/main" noGrp="1"/>
          </p:cNvSpPr>
          <p:nvPr/>
        </p:nvSpPr>
        <p:spPr>
          <a:xfrm xmlns:a="http://schemas.openxmlformats.org/drawingml/2006/main">
            <a:off x="1047750" y="2619375"/>
            <a:ext cx="710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F4E79"/>
                </a:solidFill>
                <a:latin typeface="Arial"/>
                <a:ea typeface="Arial"/>
                <a:cs typeface="Arial"/>
              </a:defRPr>
            </a:pPr>
            <a:r>
              <a:rPr sz="1275" b="1">
                <a:solidFill>
                  <a:srgbClr val="1F4E79"/>
                </a:solidFill>
                <a:latin typeface="Arial"/>
                <a:ea typeface="Arial"/>
                <a:cs typeface="Arial"/>
              </a:rPr>
              <a:t>1. What should be calculated first?</a:t>
            </a:r>
          </a:p>
        </p:txBody>
      </p:sp>
      <p:sp>
        <p:nvSpPr>
          <p:cNvPr id="18" name="q1-body">
            <a:extLst xmlns:a="http://schemas.openxmlformats.org/drawingml/2006/main">
              <a:ext uri="{FF2B5EF4-FFF2-40B4-BE49-F238E27FC236}">
                <a16:creationId xmlns:a16="http://schemas.microsoft.com/office/drawing/2014/main" id="{02521F2D-C423-4257-AF4D-BB772D5A2578}"/>
              </a:ext>
            </a:extLst>
          </p:cNvPr>
          <p:cNvSpPr>
            <a:spLocks xmlns:a="http://schemas.openxmlformats.org/drawingml/2006/main" noGrp="1"/>
          </p:cNvSpPr>
          <p:nvPr/>
        </p:nvSpPr>
        <p:spPr>
          <a:xfrm xmlns:a="http://schemas.openxmlformats.org/drawingml/2006/main">
            <a:off x="1047750" y="2962275"/>
            <a:ext cx="710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Realistic low-loading multiseed MD, or an explicit cathode / electrolyte interface?</a:t>
            </a:r>
          </a:p>
        </p:txBody>
      </p:sp>
      <p:sp>
        <p:nvSpPr>
          <p:cNvPr id="19" name="q2-bg">
            <a:extLst xmlns:a="http://schemas.openxmlformats.org/drawingml/2006/main">
              <a:ext uri="{FF2B5EF4-FFF2-40B4-BE49-F238E27FC236}">
                <a16:creationId xmlns:a16="http://schemas.microsoft.com/office/drawing/2014/main" id="{D30CB731-0D64-450D-BDE6-22375FBA0F31}"/>
              </a:ext>
            </a:extLst>
          </p:cNvPr>
          <p:cNvSpPr>
            <a:spLocks xmlns:a="http://schemas.openxmlformats.org/drawingml/2006/main" noGrp="1"/>
          </p:cNvSpPr>
          <p:nvPr/>
        </p:nvSpPr>
        <p:spPr>
          <a:xfrm xmlns:a="http://schemas.openxmlformats.org/drawingml/2006/main">
            <a:off x="857250" y="3619500"/>
            <a:ext cx="7429500" cy="857250"/>
          </a:xfrm>
          <a:prstGeom xmlns:a="http://schemas.openxmlformats.org/drawingml/2006/main" prst="rect">
            <a:avLst/>
          </a:prstGeom>
          <a:solidFill xmlns:a="http://schemas.openxmlformats.org/drawingml/2006/main">
            <a:srgbClr val="FFF7E6"/>
          </a:solidFill>
          <a:ln xmlns:a="http://schemas.openxmlformats.org/drawingml/2006/main" w="9525">
            <a:solidFill>
              <a:srgbClr val="E5E7EB"/>
            </a:solidFill>
            <a:prstDash val="solid"/>
          </a:ln>
        </p:spPr>
      </p:sp>
      <p:sp>
        <p:nvSpPr>
          <p:cNvPr id="20" name="q2-bar">
            <a:extLst xmlns:a="http://schemas.openxmlformats.org/drawingml/2006/main">
              <a:ext uri="{FF2B5EF4-FFF2-40B4-BE49-F238E27FC236}">
                <a16:creationId xmlns:a16="http://schemas.microsoft.com/office/drawing/2014/main" id="{69A4229A-FC7E-4C56-A116-147C825F6ACD}"/>
              </a:ext>
            </a:extLst>
          </p:cNvPr>
          <p:cNvSpPr>
            <a:spLocks xmlns:a="http://schemas.openxmlformats.org/drawingml/2006/main" noGrp="1"/>
          </p:cNvSpPr>
          <p:nvPr/>
        </p:nvSpPr>
        <p:spPr>
          <a:xfrm xmlns:a="http://schemas.openxmlformats.org/drawingml/2006/main">
            <a:off x="857250" y="3619500"/>
            <a:ext cx="76200" cy="8572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sp>
      <p:sp>
        <p:nvSpPr>
          <p:cNvPr id="21" name="q2-title">
            <a:extLst xmlns:a="http://schemas.openxmlformats.org/drawingml/2006/main">
              <a:ext uri="{FF2B5EF4-FFF2-40B4-BE49-F238E27FC236}">
                <a16:creationId xmlns:a16="http://schemas.microsoft.com/office/drawing/2014/main" id="{29263DED-1221-4448-B479-2B66A7A164E7}"/>
              </a:ext>
            </a:extLst>
          </p:cNvPr>
          <p:cNvSpPr>
            <a:spLocks xmlns:a="http://schemas.openxmlformats.org/drawingml/2006/main" noGrp="1"/>
          </p:cNvSpPr>
          <p:nvPr/>
        </p:nvSpPr>
        <p:spPr>
          <a:xfrm xmlns:a="http://schemas.openxmlformats.org/drawingml/2006/main">
            <a:off x="1047750" y="3762375"/>
            <a:ext cx="710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C45A14"/>
                </a:solidFill>
                <a:latin typeface="Arial"/>
                <a:ea typeface="Arial"/>
                <a:cs typeface="Arial"/>
              </a:defRPr>
            </a:pPr>
            <a:r>
              <a:rPr sz="1275" b="1">
                <a:solidFill>
                  <a:srgbClr val="C45A14"/>
                </a:solidFill>
                <a:latin typeface="Arial"/>
                <a:ea typeface="Arial"/>
                <a:cs typeface="Arial"/>
              </a:rPr>
              <a:t>2. What does “best” mean?</a:t>
            </a:r>
          </a:p>
        </p:txBody>
      </p:sp>
      <p:sp>
        <p:nvSpPr>
          <p:cNvPr id="22" name="q2-body">
            <a:extLst xmlns:a="http://schemas.openxmlformats.org/drawingml/2006/main">
              <a:ext uri="{FF2B5EF4-FFF2-40B4-BE49-F238E27FC236}">
                <a16:creationId xmlns:a16="http://schemas.microsoft.com/office/drawing/2014/main" id="{65B6076B-5102-4056-BD37-DB66FAA2C63E}"/>
              </a:ext>
            </a:extLst>
          </p:cNvPr>
          <p:cNvSpPr>
            <a:spLocks xmlns:a="http://schemas.openxmlformats.org/drawingml/2006/main" noGrp="1"/>
          </p:cNvSpPr>
          <p:nvPr/>
        </p:nvSpPr>
        <p:spPr>
          <a:xfrm xmlns:a="http://schemas.openxmlformats.org/drawingml/2006/main">
            <a:off x="1047750" y="4105275"/>
            <a:ext cx="710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Best-case configuration, or robust performance across site and seed ensembles?</a:t>
            </a:r>
          </a:p>
        </p:txBody>
      </p:sp>
      <p:sp>
        <p:nvSpPr>
          <p:cNvPr id="23" name="q3-bg">
            <a:extLst xmlns:a="http://schemas.openxmlformats.org/drawingml/2006/main">
              <a:ext uri="{FF2B5EF4-FFF2-40B4-BE49-F238E27FC236}">
                <a16:creationId xmlns:a16="http://schemas.microsoft.com/office/drawing/2014/main" id="{0779BE9D-1B77-4A0E-954F-7D9B31F607D4}"/>
              </a:ext>
            </a:extLst>
          </p:cNvPr>
          <p:cNvSpPr>
            <a:spLocks xmlns:a="http://schemas.openxmlformats.org/drawingml/2006/main" noGrp="1"/>
          </p:cNvSpPr>
          <p:nvPr/>
        </p:nvSpPr>
        <p:spPr>
          <a:xfrm xmlns:a="http://schemas.openxmlformats.org/drawingml/2006/main">
            <a:off x="857250" y="4762500"/>
            <a:ext cx="7429500" cy="857250"/>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24" name="q3-bar">
            <a:extLst xmlns:a="http://schemas.openxmlformats.org/drawingml/2006/main">
              <a:ext uri="{FF2B5EF4-FFF2-40B4-BE49-F238E27FC236}">
                <a16:creationId xmlns:a16="http://schemas.microsoft.com/office/drawing/2014/main" id="{0595F613-4377-42A0-B6C0-6D6815C5EEA1}"/>
              </a:ext>
            </a:extLst>
          </p:cNvPr>
          <p:cNvSpPr>
            <a:spLocks xmlns:a="http://schemas.openxmlformats.org/drawingml/2006/main" noGrp="1"/>
          </p:cNvSpPr>
          <p:nvPr/>
        </p:nvSpPr>
        <p:spPr>
          <a:xfrm xmlns:a="http://schemas.openxmlformats.org/drawingml/2006/main">
            <a:off x="857250" y="4762500"/>
            <a:ext cx="76200" cy="8572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25" name="q3-title">
            <a:extLst xmlns:a="http://schemas.openxmlformats.org/drawingml/2006/main">
              <a:ext uri="{FF2B5EF4-FFF2-40B4-BE49-F238E27FC236}">
                <a16:creationId xmlns:a16="http://schemas.microsoft.com/office/drawing/2014/main" id="{2B9A7486-1F15-4684-A5F1-94A941213CEB}"/>
              </a:ext>
            </a:extLst>
          </p:cNvPr>
          <p:cNvSpPr>
            <a:spLocks xmlns:a="http://schemas.openxmlformats.org/drawingml/2006/main" noGrp="1"/>
          </p:cNvSpPr>
          <p:nvPr/>
        </p:nvSpPr>
        <p:spPr>
          <a:xfrm xmlns:a="http://schemas.openxmlformats.org/drawingml/2006/main">
            <a:off x="1047750" y="4905375"/>
            <a:ext cx="710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0D9488"/>
                </a:solidFill>
                <a:latin typeface="Arial"/>
                <a:ea typeface="Arial"/>
                <a:cs typeface="Arial"/>
              </a:defRPr>
            </a:pPr>
            <a:r>
              <a:rPr sz="1275" b="1">
                <a:solidFill>
                  <a:srgbClr val="0D9488"/>
                </a:solidFill>
                <a:latin typeface="Arial"/>
                <a:ea typeface="Arial"/>
                <a:cs typeface="Arial"/>
              </a:rPr>
              <a:t>3. How much repetition is enough?</a:t>
            </a:r>
          </a:p>
        </p:txBody>
      </p:sp>
      <p:sp>
        <p:nvSpPr>
          <p:cNvPr id="26" name="q3-body">
            <a:extLst xmlns:a="http://schemas.openxmlformats.org/drawingml/2006/main">
              <a:ext uri="{FF2B5EF4-FFF2-40B4-BE49-F238E27FC236}">
                <a16:creationId xmlns:a16="http://schemas.microsoft.com/office/drawing/2014/main" id="{3D5B49C0-AC54-4562-9F47-DBDCA8294A16}"/>
              </a:ext>
            </a:extLst>
          </p:cNvPr>
          <p:cNvSpPr>
            <a:spLocks xmlns:a="http://schemas.openxmlformats.org/drawingml/2006/main" noGrp="1"/>
          </p:cNvSpPr>
          <p:nvPr/>
        </p:nvSpPr>
        <p:spPr>
          <a:xfrm xmlns:a="http://schemas.openxmlformats.org/drawingml/2006/main">
            <a:off x="1047750" y="5248275"/>
            <a:ext cx="710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How many seeds and sites are needed before a chemistry is promoted?</a:t>
            </a:r>
          </a:p>
        </p:txBody>
      </p:sp>
      <p:sp>
        <p:nvSpPr>
          <p:cNvPr id="27" name="discussion-end">
            <a:extLst xmlns:a="http://schemas.openxmlformats.org/drawingml/2006/main">
              <a:ext uri="{FF2B5EF4-FFF2-40B4-BE49-F238E27FC236}">
                <a16:creationId xmlns:a16="http://schemas.microsoft.com/office/drawing/2014/main" id="{99B76599-1E91-4BC7-854A-A2E1BB45E7B2}"/>
              </a:ext>
            </a:extLst>
          </p:cNvPr>
          <p:cNvSpPr>
            <a:spLocks xmlns:a="http://schemas.openxmlformats.org/drawingml/2006/main" noGrp="1"/>
          </p:cNvSpPr>
          <p:nvPr/>
        </p:nvSpPr>
        <p:spPr>
          <a:xfrm xmlns:a="http://schemas.openxmlformats.org/drawingml/2006/main">
            <a:off x="2238375" y="59055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053"/>
          </a:bodyPr>
          <a:lstStyle xmlns:a="http://schemas.openxmlformats.org/drawingml/2006/main"/>
          <a:p xmlns:a="http://schemas.openxmlformats.org/drawingml/2006/main">
            <a:pPr algn="ctr">
              <a:defRPr sz="1350" b="1">
                <a:solidFill>
                  <a:srgbClr val="A61B2B"/>
                </a:solidFill>
                <a:latin typeface="Arial"/>
                <a:ea typeface="Arial"/>
                <a:cs typeface="Arial"/>
              </a:defRPr>
            </a:pPr>
            <a:r>
              <a:rPr sz="1350" b="1">
                <a:solidFill>
                  <a:srgbClr val="A61B2B"/>
                </a:solidFill>
                <a:latin typeface="Arial"/>
                <a:ea typeface="Arial"/>
                <a:cs typeface="Arial"/>
              </a:rPr>
              <a:t>Screen broadly → control the comparison → validate selectively</a:t>
            </a:r>
          </a:p>
        </p:txBody>
      </p:sp>
    </p:spTree>
    <p:extLst>
      <p:ext uri="{BB962C8B-B14F-4D97-AF65-F5344CB8AC3E}">
        <p14:creationId xmlns:p14="http://schemas.microsoft.com/office/powerpoint/2010/main" val="192440589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 name="bg-21">
            <a:extLst xmlns:a="http://schemas.openxmlformats.org/drawingml/2006/main">
              <a:ext uri="{FF2B5EF4-FFF2-40B4-BE49-F238E27FC236}">
                <a16:creationId xmlns:a16="http://schemas.microsoft.com/office/drawing/2014/main" id="{5064A353-4541-4114-A499-14970DA785C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1">
            <a:extLst xmlns:a="http://schemas.openxmlformats.org/drawingml/2006/main">
              <a:ext uri="{FF2B5EF4-FFF2-40B4-BE49-F238E27FC236}">
                <a16:creationId xmlns:a16="http://schemas.microsoft.com/office/drawing/2014/main" id="{B9B576D3-3892-47CC-A5AC-6D3151B8308C}"/>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A1</a:t>
            </a:r>
          </a:p>
        </p:txBody>
      </p:sp>
      <p:sp>
        <p:nvSpPr>
          <p:cNvPr id="3" name="terms-21">
            <a:extLst xmlns:a="http://schemas.openxmlformats.org/drawingml/2006/main">
              <a:ext uri="{FF2B5EF4-FFF2-40B4-BE49-F238E27FC236}">
                <a16:creationId xmlns:a16="http://schemas.microsoft.com/office/drawing/2014/main" id="{B50087BE-7F60-4DB5-AA4D-D07DB8C2287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Roster: planned input denominator  ·  Family: compound class by dominant anion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The roster is not a shortlist or ranking</a:t>
            </a:r>
          </a:p>
        </p:txBody>
      </p:sp>
      <p:sp>
        <p:nvSpPr>
          <p:cNvPr id="4" name="divider-21">
            <a:extLst xmlns:a="http://schemas.openxmlformats.org/drawingml/2006/main">
              <a:ext uri="{FF2B5EF4-FFF2-40B4-BE49-F238E27FC236}">
                <a16:creationId xmlns:a16="http://schemas.microsoft.com/office/drawing/2014/main" id="{1A714DEC-FED9-43BA-A308-B99CE7F5C4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1">
            <a:extLst xmlns:a="http://schemas.openxmlformats.org/drawingml/2006/main">
              <a:ext uri="{FF2B5EF4-FFF2-40B4-BE49-F238E27FC236}">
                <a16:creationId xmlns:a16="http://schemas.microsoft.com/office/drawing/2014/main" id="{F8E740CD-D1DA-415B-8B85-5352AE7E66E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1">
            <a:extLst xmlns:a="http://schemas.openxmlformats.org/drawingml/2006/main">
              <a:ext uri="{FF2B5EF4-FFF2-40B4-BE49-F238E27FC236}">
                <a16:creationId xmlns:a16="http://schemas.microsoft.com/office/drawing/2014/main" id="{8A5243D0-D85E-4010-A393-A6C8AC76847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planned chemistry space spans seven compound families</a:t>
            </a:r>
          </a:p>
        </p:txBody>
      </p:sp>
      <p:sp>
        <p:nvSpPr>
          <p:cNvPr id="7" name="bullet-dot-21-0">
            <a:extLst xmlns:a="http://schemas.openxmlformats.org/drawingml/2006/main">
              <a:ext uri="{FF2B5EF4-FFF2-40B4-BE49-F238E27FC236}">
                <a16:creationId xmlns:a16="http://schemas.microsoft.com/office/drawing/2014/main" id="{ED512B5D-D247-4D8B-BBC7-A4D68C6447E6}"/>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E65058ED-D274-4C49-BA3D-8E73B646C3B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91 planned chemistries: oxides, fluorides, chlorides, bromides, iodides, nitrides, and sulfides.</a:t>
            </a:r>
          </a:p>
        </p:txBody>
      </p:sp>
      <p:sp>
        <p:nvSpPr>
          <p:cNvPr id="9" name="bullet-dot-21-1">
            <a:extLst xmlns:a="http://schemas.openxmlformats.org/drawingml/2006/main">
              <a:ext uri="{FF2B5EF4-FFF2-40B4-BE49-F238E27FC236}">
                <a16:creationId xmlns:a16="http://schemas.microsoft.com/office/drawing/2014/main" id="{936B74AC-FFDE-46B9-B210-8178F4CD06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34DE1D15-67D8-4C16-A1F8-22ACD77EE83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periodic-table image is a literature layout precedent; it does not encode our LPSCl results.</a:t>
            </a:r>
          </a:p>
        </p:txBody>
      </p:sp>
      <p:sp>
        <p:nvSpPr>
          <p:cNvPr id="11" name="citation-21">
            <a:extLst xmlns:a="http://schemas.openxmlformats.org/drawingml/2006/main">
              <a:ext uri="{FF2B5EF4-FFF2-40B4-BE49-F238E27FC236}">
                <a16:creationId xmlns:a16="http://schemas.microsoft.com/office/drawing/2014/main" id="{CC214A43-4B77-4B41-B1A6-F27B108C9A5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Anderson et al., 2024, Fig. 1 · project master roster</a:t>
            </a:r>
          </a:p>
        </p:txBody>
      </p:sp>
      <p:sp>
        <p:nvSpPr>
          <p:cNvPr id="12" name="footer-brand-21">
            <a:extLst xmlns:a="http://schemas.openxmlformats.org/drawingml/2006/main">
              <a:ext uri="{FF2B5EF4-FFF2-40B4-BE49-F238E27FC236}">
                <a16:creationId xmlns:a16="http://schemas.microsoft.com/office/drawing/2014/main" id="{24C21DDA-2E21-4919-B551-A65A8720C4C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AB9CB0ED-6036-4C3A-895E-A1E2C99B45E5}"/>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BBDDCA6C-1499-4A49-ACEC-03CBBC713F8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21</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c779884c4004931"/>
          <a:stretch xmlns:a="http://schemas.openxmlformats.org/drawingml/2006/main"/>
        </p:blipFill>
        <p:spPr>
          <a:xfrm xmlns:a="http://schemas.openxmlformats.org/drawingml/2006/main">
            <a:off x="666750" y="2908408"/>
            <a:ext cx="4762500" cy="2088934"/>
          </a:xfrm>
          <a:prstGeom xmlns:a="http://schemas.openxmlformats.org/drawingml/2006/main" prst="rect">
            <a:avLst/>
          </a:prstGeom>
        </p:spPr>
      </p:pic>
      <p:sp>
        <p:nvSpPr>
          <p:cNvPr id="16" name="family-counts-bg">
            <a:extLst xmlns:a="http://schemas.openxmlformats.org/drawingml/2006/main">
              <a:ext uri="{FF2B5EF4-FFF2-40B4-BE49-F238E27FC236}">
                <a16:creationId xmlns:a16="http://schemas.microsoft.com/office/drawing/2014/main" id="{6C46FD26-E7FF-4EBD-98D6-0E0FC0B3F778}"/>
              </a:ext>
            </a:extLst>
          </p:cNvPr>
          <p:cNvSpPr>
            <a:spLocks xmlns:a="http://schemas.openxmlformats.org/drawingml/2006/main" noGrp="1"/>
          </p:cNvSpPr>
          <p:nvPr/>
        </p:nvSpPr>
        <p:spPr>
          <a:xfrm xmlns:a="http://schemas.openxmlformats.org/drawingml/2006/main">
            <a:off x="5857875" y="2381250"/>
            <a:ext cx="2333625" cy="2952750"/>
          </a:xfrm>
          <a:prstGeom xmlns:a="http://schemas.openxmlformats.org/drawingml/2006/main" prst="rect">
            <a:avLst/>
          </a:prstGeom>
          <a:solidFill xmlns:a="http://schemas.openxmlformats.org/drawingml/2006/main">
            <a:srgbClr val="EAF2F8"/>
          </a:solidFill>
          <a:ln xmlns:a="http://schemas.openxmlformats.org/drawingml/2006/main" w="9525">
            <a:solidFill>
              <a:srgbClr val="E5E7EB"/>
            </a:solidFill>
            <a:prstDash val="solid"/>
          </a:ln>
        </p:spPr>
      </p:sp>
      <p:sp>
        <p:nvSpPr>
          <p:cNvPr id="17" name="family-counts-bar">
            <a:extLst xmlns:a="http://schemas.openxmlformats.org/drawingml/2006/main">
              <a:ext uri="{FF2B5EF4-FFF2-40B4-BE49-F238E27FC236}">
                <a16:creationId xmlns:a16="http://schemas.microsoft.com/office/drawing/2014/main" id="{61A0D7EF-30E4-4780-AAF2-B88E44696FCB}"/>
              </a:ext>
            </a:extLst>
          </p:cNvPr>
          <p:cNvSpPr>
            <a:spLocks xmlns:a="http://schemas.openxmlformats.org/drawingml/2006/main" noGrp="1"/>
          </p:cNvSpPr>
          <p:nvPr/>
        </p:nvSpPr>
        <p:spPr>
          <a:xfrm xmlns:a="http://schemas.openxmlformats.org/drawingml/2006/main">
            <a:off x="5857875" y="2381250"/>
            <a:ext cx="76200" cy="29527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8" name="family-counts-title">
            <a:extLst xmlns:a="http://schemas.openxmlformats.org/drawingml/2006/main">
              <a:ext uri="{FF2B5EF4-FFF2-40B4-BE49-F238E27FC236}">
                <a16:creationId xmlns:a16="http://schemas.microsoft.com/office/drawing/2014/main" id="{37EE2E5E-2861-445D-9FC2-945FC09B3C7A}"/>
              </a:ext>
            </a:extLst>
          </p:cNvPr>
          <p:cNvSpPr>
            <a:spLocks xmlns:a="http://schemas.openxmlformats.org/drawingml/2006/main" noGrp="1"/>
          </p:cNvSpPr>
          <p:nvPr/>
        </p:nvSpPr>
        <p:spPr>
          <a:xfrm xmlns:a="http://schemas.openxmlformats.org/drawingml/2006/main">
            <a:off x="6048375" y="2524125"/>
            <a:ext cx="2009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F4E79"/>
                </a:solidFill>
                <a:latin typeface="Arial"/>
                <a:ea typeface="Arial"/>
                <a:cs typeface="Arial"/>
              </a:defRPr>
            </a:pPr>
            <a:r>
              <a:rPr sz="1275" b="1">
                <a:solidFill>
                  <a:srgbClr val="1F4E79"/>
                </a:solidFill>
                <a:latin typeface="Arial"/>
                <a:ea typeface="Arial"/>
                <a:cs typeface="Arial"/>
              </a:rPr>
              <a:t>PROJECT ROSTER</a:t>
            </a:r>
          </a:p>
        </p:txBody>
      </p:sp>
      <p:sp>
        <p:nvSpPr>
          <p:cNvPr id="19" name="family-counts-body">
            <a:extLst xmlns:a="http://schemas.openxmlformats.org/drawingml/2006/main">
              <a:ext uri="{FF2B5EF4-FFF2-40B4-BE49-F238E27FC236}">
                <a16:creationId xmlns:a16="http://schemas.microsoft.com/office/drawing/2014/main" id="{F354AB57-0358-4F6A-999F-96A78852F2C6}"/>
              </a:ext>
            </a:extLst>
          </p:cNvPr>
          <p:cNvSpPr>
            <a:spLocks xmlns:a="http://schemas.openxmlformats.org/drawingml/2006/main" noGrp="1"/>
          </p:cNvSpPr>
          <p:nvPr/>
        </p:nvSpPr>
        <p:spPr>
          <a:xfrm xmlns:a="http://schemas.openxmlformats.org/drawingml/2006/main">
            <a:off x="6048375" y="2867025"/>
            <a:ext cx="2009775"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Oxides        37</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Fluorides     10</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Chlorides     19</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Bromides       5</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Iodides         4</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Nitrides        5</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Sulfides       11</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Total          91</a:t>
            </a:r>
          </a:p>
        </p:txBody>
      </p:sp>
      <p:sp>
        <p:nvSpPr>
          <p:cNvPr id="20" name="a1-lit">
            <a:extLst xmlns:a="http://schemas.openxmlformats.org/drawingml/2006/main">
              <a:ext uri="{FF2B5EF4-FFF2-40B4-BE49-F238E27FC236}">
                <a16:creationId xmlns:a16="http://schemas.microsoft.com/office/drawing/2014/main" id="{6FF85B0B-FD06-4243-B3F3-51BF627110E0}"/>
              </a:ext>
            </a:extLst>
          </p:cNvPr>
          <p:cNvSpPr>
            <a:spLocks xmlns:a="http://schemas.openxmlformats.org/drawingml/2006/main" noGrp="1"/>
          </p:cNvSpPr>
          <p:nvPr/>
        </p:nvSpPr>
        <p:spPr>
          <a:xfrm xmlns:a="http://schemas.openxmlformats.org/drawingml/2006/main">
            <a:off x="1619250" y="5715000"/>
            <a:ext cx="2857500" cy="26670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LITERATURE LAYOUT EXAMPLE</a:t>
            </a:r>
          </a:p>
        </p:txBody>
      </p:sp>
    </p:spTree>
    <p:extLst>
      <p:ext uri="{BB962C8B-B14F-4D97-AF65-F5344CB8AC3E}">
        <p14:creationId xmlns:p14="http://schemas.microsoft.com/office/powerpoint/2010/main" val="19244058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1" name="bg-22">
            <a:extLst xmlns:a="http://schemas.openxmlformats.org/drawingml/2006/main">
              <a:ext uri="{FF2B5EF4-FFF2-40B4-BE49-F238E27FC236}">
                <a16:creationId xmlns:a16="http://schemas.microsoft.com/office/drawing/2014/main" id="{4F72F056-415F-43AF-AFEA-1DED65A49E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2">
            <a:extLst xmlns:a="http://schemas.openxmlformats.org/drawingml/2006/main">
              <a:ext uri="{FF2B5EF4-FFF2-40B4-BE49-F238E27FC236}">
                <a16:creationId xmlns:a16="http://schemas.microsoft.com/office/drawing/2014/main" id="{EAE697CF-2A36-4A97-872B-0D9EB4CF002B}"/>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A2</a:t>
            </a:r>
          </a:p>
        </p:txBody>
      </p:sp>
      <p:sp>
        <p:nvSpPr>
          <p:cNvPr id="3" name="terms-22">
            <a:extLst xmlns:a="http://schemas.openxmlformats.org/drawingml/2006/main">
              <a:ext uri="{FF2B5EF4-FFF2-40B4-BE49-F238E27FC236}">
                <a16:creationId xmlns:a16="http://schemas.microsoft.com/office/drawing/2014/main" id="{A035B498-4C2D-40D6-B934-4DD8B160110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Planned input roster — not a shortlist  ·  Names are chemistry labels, not approved candidates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As₂S₃ was planned but its three run slots did not reach the active workflow endpoint</a:t>
            </a:r>
          </a:p>
        </p:txBody>
      </p:sp>
      <p:sp>
        <p:nvSpPr>
          <p:cNvPr id="4" name="divider-22">
            <a:extLst xmlns:a="http://schemas.openxmlformats.org/drawingml/2006/main">
              <a:ext uri="{FF2B5EF4-FFF2-40B4-BE49-F238E27FC236}">
                <a16:creationId xmlns:a16="http://schemas.microsoft.com/office/drawing/2014/main" id="{72FF47E2-5483-4CCF-B52E-3DF1E3CFE11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2">
            <a:extLst xmlns:a="http://schemas.openxmlformats.org/drawingml/2006/main">
              <a:ext uri="{FF2B5EF4-FFF2-40B4-BE49-F238E27FC236}">
                <a16:creationId xmlns:a16="http://schemas.microsoft.com/office/drawing/2014/main" id="{5BC284FD-AA9A-487D-82E1-1FAF6F51F70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2">
            <a:extLst xmlns:a="http://schemas.openxmlformats.org/drawingml/2006/main">
              <a:ext uri="{FF2B5EF4-FFF2-40B4-BE49-F238E27FC236}">
                <a16:creationId xmlns:a16="http://schemas.microsoft.com/office/drawing/2014/main" id="{7F5DD33D-4747-4EB0-8129-BA372D612A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Full 91-chemistry roster</a:t>
            </a:r>
          </a:p>
        </p:txBody>
      </p:sp>
      <p:sp>
        <p:nvSpPr>
          <p:cNvPr id="7" name="bullet-dot-22-0">
            <a:extLst xmlns:a="http://schemas.openxmlformats.org/drawingml/2006/main">
              <a:ext uri="{FF2B5EF4-FFF2-40B4-BE49-F238E27FC236}">
                <a16:creationId xmlns:a16="http://schemas.microsoft.com/office/drawing/2014/main" id="{FB55D7A1-9BA5-416E-8D28-153A46B8DE7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B843B54B-155A-40AC-AEEA-F40AF2328AC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Compound names are grouped by family for denominator transparency.</a:t>
            </a:r>
          </a:p>
        </p:txBody>
      </p:sp>
      <p:sp>
        <p:nvSpPr>
          <p:cNvPr id="9" name="bullet-dot-22-1">
            <a:extLst xmlns:a="http://schemas.openxmlformats.org/drawingml/2006/main">
              <a:ext uri="{FF2B5EF4-FFF2-40B4-BE49-F238E27FC236}">
                <a16:creationId xmlns:a16="http://schemas.microsoft.com/office/drawing/2014/main" id="{B6F1FB03-3FCA-43E5-84B7-BA2D15A5288F}"/>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D80FF8D8-8C62-4E68-A2E0-DD53D87E69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No order within a family represents performance.</a:t>
            </a:r>
          </a:p>
        </p:txBody>
      </p:sp>
      <p:sp>
        <p:nvSpPr>
          <p:cNvPr id="11" name="citation-22">
            <a:extLst xmlns:a="http://schemas.openxmlformats.org/drawingml/2006/main">
              <a:ext uri="{FF2B5EF4-FFF2-40B4-BE49-F238E27FC236}">
                <a16:creationId xmlns:a16="http://schemas.microsoft.com/office/drawing/2014/main" id="{3190A366-02BE-4DFC-9799-0F9345A9169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master_batch_273.sh roster</a:t>
            </a:r>
          </a:p>
        </p:txBody>
      </p:sp>
      <p:sp>
        <p:nvSpPr>
          <p:cNvPr id="12" name="footer-brand-22">
            <a:extLst xmlns:a="http://schemas.openxmlformats.org/drawingml/2006/main">
              <a:ext uri="{FF2B5EF4-FFF2-40B4-BE49-F238E27FC236}">
                <a16:creationId xmlns:a16="http://schemas.microsoft.com/office/drawing/2014/main" id="{5AE3638C-C758-4D3E-AD43-68962E044FA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C03000F9-4F40-4C8C-BBE3-A9B46BC09E4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8E1C8697-5C18-488A-A0BE-45AAE76DBBF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22</a:t>
            </a:r>
          </a:p>
        </p:txBody>
      </p:sp>
      <p:sp>
        <p:nvSpPr>
          <p:cNvPr id="15" name="a2-title-cover">
            <a:extLst xmlns:a="http://schemas.openxmlformats.org/drawingml/2006/main">
              <a:ext uri="{FF2B5EF4-FFF2-40B4-BE49-F238E27FC236}">
                <a16:creationId xmlns:a16="http://schemas.microsoft.com/office/drawing/2014/main" id="{4255A7B0-E464-47E8-B81C-30838D48B413}"/>
              </a:ext>
            </a:extLst>
          </p:cNvPr>
          <p:cNvSpPr>
            <a:spLocks xmlns:a="http://schemas.openxmlformats.org/drawingml/2006/main" noGrp="1"/>
          </p:cNvSpPr>
          <p:nvPr/>
        </p:nvSpPr>
        <p:spPr>
          <a:xfrm xmlns:a="http://schemas.openxmlformats.org/drawingml/2006/main">
            <a:off x="457200" y="152400"/>
            <a:ext cx="314325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a2-title-repair">
            <a:extLst xmlns:a="http://schemas.openxmlformats.org/drawingml/2006/main">
              <a:ext uri="{FF2B5EF4-FFF2-40B4-BE49-F238E27FC236}">
                <a16:creationId xmlns:a16="http://schemas.microsoft.com/office/drawing/2014/main" id="{252C0E6E-C801-4ED2-A162-D6CBFFEEC641}"/>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A2</a:t>
            </a:r>
          </a:p>
        </p:txBody>
      </p:sp>
      <p:sp>
        <p:nvSpPr>
          <p:cNvPr id="17" name="a2-OXIDES · 37-h">
            <a:extLst xmlns:a="http://schemas.openxmlformats.org/drawingml/2006/main">
              <a:ext uri="{FF2B5EF4-FFF2-40B4-BE49-F238E27FC236}">
                <a16:creationId xmlns:a16="http://schemas.microsoft.com/office/drawing/2014/main" id="{4416274F-E41E-45F4-9224-E0512F2C075D}"/>
              </a:ext>
            </a:extLst>
          </p:cNvPr>
          <p:cNvSpPr>
            <a:spLocks xmlns:a="http://schemas.openxmlformats.org/drawingml/2006/main" noGrp="1"/>
          </p:cNvSpPr>
          <p:nvPr/>
        </p:nvSpPr>
        <p:spPr>
          <a:xfrm xmlns:a="http://schemas.openxmlformats.org/drawingml/2006/main">
            <a:off x="742950" y="238125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A61B2B"/>
                </a:solidFill>
                <a:latin typeface="Arial"/>
                <a:ea typeface="Arial"/>
                <a:cs typeface="Arial"/>
              </a:defRPr>
            </a:pPr>
            <a:r>
              <a:rPr sz="1050" b="1">
                <a:solidFill>
                  <a:srgbClr val="A61B2B"/>
                </a:solidFill>
                <a:latin typeface="Arial"/>
                <a:ea typeface="Arial"/>
                <a:cs typeface="Arial"/>
              </a:rPr>
              <a:t>OXIDES · 37</a:t>
            </a:r>
          </a:p>
        </p:txBody>
      </p:sp>
      <p:sp>
        <p:nvSpPr>
          <p:cNvPr id="18" name="a2-OXIDES · 37-b">
            <a:extLst xmlns:a="http://schemas.openxmlformats.org/drawingml/2006/main">
              <a:ext uri="{FF2B5EF4-FFF2-40B4-BE49-F238E27FC236}">
                <a16:creationId xmlns:a16="http://schemas.microsoft.com/office/drawing/2014/main" id="{170554D1-DE6E-4911-A84B-D87ABE8CD568}"/>
              </a:ext>
            </a:extLst>
          </p:cNvPr>
          <p:cNvSpPr>
            <a:spLocks xmlns:a="http://schemas.openxmlformats.org/drawingml/2006/main" noGrp="1"/>
          </p:cNvSpPr>
          <p:nvPr/>
        </p:nvSpPr>
        <p:spPr>
          <a:xfrm xmlns:a="http://schemas.openxmlformats.org/drawingml/2006/main">
            <a:off x="742950" y="2647950"/>
            <a:ext cx="3905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Ag₂O  Al₂O₃  B₂O₃  BaO  CaO  CoO  Cr₂O₃  CrO₃  Cu₂O  Fe₂O₃</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Ga₂O₃  Gd₂O₃  GeO₂  HfO₂  In₂O₃  La₂O₃  Li₂O  MgO  MnO  MoO₃</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Na₂O  Nb₂O₅  Nd₂O₃  NiO  Sb₂O₅  Sc₂O₃  SiO₂  Sm₂O₃  SnO₂  SrO</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Ta₂O₅  TiO₂  V₂O₅  WO₃  Y₂O₃  ZnO  ZrO₂</a:t>
            </a:r>
          </a:p>
        </p:txBody>
      </p:sp>
      <p:sp>
        <p:nvSpPr>
          <p:cNvPr id="19" name="a2-FLUORIDES · 10-h">
            <a:extLst xmlns:a="http://schemas.openxmlformats.org/drawingml/2006/main">
              <a:ext uri="{FF2B5EF4-FFF2-40B4-BE49-F238E27FC236}">
                <a16:creationId xmlns:a16="http://schemas.microsoft.com/office/drawing/2014/main" id="{2E3BBEAC-A1EC-44B7-A32B-15A75CE84180}"/>
              </a:ext>
            </a:extLst>
          </p:cNvPr>
          <p:cNvSpPr>
            <a:spLocks xmlns:a="http://schemas.openxmlformats.org/drawingml/2006/main" noGrp="1"/>
          </p:cNvSpPr>
          <p:nvPr/>
        </p:nvSpPr>
        <p:spPr>
          <a:xfrm xmlns:a="http://schemas.openxmlformats.org/drawingml/2006/main">
            <a:off x="742950" y="423862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2563EB"/>
                </a:solidFill>
                <a:latin typeface="Arial"/>
                <a:ea typeface="Arial"/>
                <a:cs typeface="Arial"/>
              </a:defRPr>
            </a:pPr>
            <a:r>
              <a:rPr sz="1050" b="1">
                <a:solidFill>
                  <a:srgbClr val="2563EB"/>
                </a:solidFill>
                <a:latin typeface="Arial"/>
                <a:ea typeface="Arial"/>
                <a:cs typeface="Arial"/>
              </a:rPr>
              <a:t>FLUORIDES · 10</a:t>
            </a:r>
          </a:p>
        </p:txBody>
      </p:sp>
      <p:sp>
        <p:nvSpPr>
          <p:cNvPr id="20" name="a2-FLUORIDES · 10-b">
            <a:extLst xmlns:a="http://schemas.openxmlformats.org/drawingml/2006/main">
              <a:ext uri="{FF2B5EF4-FFF2-40B4-BE49-F238E27FC236}">
                <a16:creationId xmlns:a16="http://schemas.microsoft.com/office/drawing/2014/main" id="{1507ADD8-4091-4397-A102-5B6F36F83B46}"/>
              </a:ext>
            </a:extLst>
          </p:cNvPr>
          <p:cNvSpPr>
            <a:spLocks xmlns:a="http://schemas.openxmlformats.org/drawingml/2006/main" noGrp="1"/>
          </p:cNvSpPr>
          <p:nvPr/>
        </p:nvSpPr>
        <p:spPr>
          <a:xfrm xmlns:a="http://schemas.openxmlformats.org/drawingml/2006/main">
            <a:off x="742950" y="4505325"/>
            <a:ext cx="3905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AlF₃  CaF₂  LaF₃  LiF  MgF₂  NdF₃  ScF₃  TiF₄  YF₃  ZrF₄</a:t>
            </a:r>
          </a:p>
        </p:txBody>
      </p:sp>
      <p:sp>
        <p:nvSpPr>
          <p:cNvPr id="21" name="a2-CHLORIDES · 19-h">
            <a:extLst xmlns:a="http://schemas.openxmlformats.org/drawingml/2006/main">
              <a:ext uri="{FF2B5EF4-FFF2-40B4-BE49-F238E27FC236}">
                <a16:creationId xmlns:a16="http://schemas.microsoft.com/office/drawing/2014/main" id="{54E9F026-D14F-44CF-8761-C0735A312F73}"/>
              </a:ext>
            </a:extLst>
          </p:cNvPr>
          <p:cNvSpPr>
            <a:spLocks xmlns:a="http://schemas.openxmlformats.org/drawingml/2006/main" noGrp="1"/>
          </p:cNvSpPr>
          <p:nvPr/>
        </p:nvSpPr>
        <p:spPr>
          <a:xfrm xmlns:a="http://schemas.openxmlformats.org/drawingml/2006/main">
            <a:off x="742950" y="519112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15803D"/>
                </a:solidFill>
                <a:latin typeface="Arial"/>
                <a:ea typeface="Arial"/>
                <a:cs typeface="Arial"/>
              </a:defRPr>
            </a:pPr>
            <a:r>
              <a:rPr sz="1050" b="1">
                <a:solidFill>
                  <a:srgbClr val="15803D"/>
                </a:solidFill>
                <a:latin typeface="Arial"/>
                <a:ea typeface="Arial"/>
                <a:cs typeface="Arial"/>
              </a:rPr>
              <a:t>CHLORIDES · 19</a:t>
            </a:r>
          </a:p>
        </p:txBody>
      </p:sp>
      <p:sp>
        <p:nvSpPr>
          <p:cNvPr id="22" name="a2-CHLORIDES · 19-b">
            <a:extLst xmlns:a="http://schemas.openxmlformats.org/drawingml/2006/main">
              <a:ext uri="{FF2B5EF4-FFF2-40B4-BE49-F238E27FC236}">
                <a16:creationId xmlns:a16="http://schemas.microsoft.com/office/drawing/2014/main" id="{0553AE67-3A8D-46E1-AE7B-875097EE1ACE}"/>
              </a:ext>
            </a:extLst>
          </p:cNvPr>
          <p:cNvSpPr>
            <a:spLocks xmlns:a="http://schemas.openxmlformats.org/drawingml/2006/main" noGrp="1"/>
          </p:cNvSpPr>
          <p:nvPr/>
        </p:nvSpPr>
        <p:spPr>
          <a:xfrm xmlns:a="http://schemas.openxmlformats.org/drawingml/2006/main">
            <a:off x="742950" y="5457825"/>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AlCl₃  BaCl₂  CaCl₂  CrCl₃  FeCl₃  GaCl₃  HfCl₄  LaCl₃  LiCl  MgCl₂</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NbCl₅  NdCl₃  ScCl₃  SmCl₃  SrCl₂  TaCl₅  TiCl₄  YCl₃  ZrCl₄</a:t>
            </a:r>
          </a:p>
        </p:txBody>
      </p:sp>
      <p:sp>
        <p:nvSpPr>
          <p:cNvPr id="23" name="a2-BROMIDES · 5-h">
            <a:extLst xmlns:a="http://schemas.openxmlformats.org/drawingml/2006/main">
              <a:ext uri="{FF2B5EF4-FFF2-40B4-BE49-F238E27FC236}">
                <a16:creationId xmlns:a16="http://schemas.microsoft.com/office/drawing/2014/main" id="{F2EF9677-099F-44BB-A289-BF3A9DAC9784}"/>
              </a:ext>
            </a:extLst>
          </p:cNvPr>
          <p:cNvSpPr>
            <a:spLocks xmlns:a="http://schemas.openxmlformats.org/drawingml/2006/main" noGrp="1"/>
          </p:cNvSpPr>
          <p:nvPr/>
        </p:nvSpPr>
        <p:spPr>
          <a:xfrm xmlns:a="http://schemas.openxmlformats.org/drawingml/2006/main">
            <a:off x="5000625" y="23812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C45A14"/>
                </a:solidFill>
                <a:latin typeface="Arial"/>
                <a:ea typeface="Arial"/>
                <a:cs typeface="Arial"/>
              </a:defRPr>
            </a:pPr>
            <a:r>
              <a:rPr sz="1050" b="1">
                <a:solidFill>
                  <a:srgbClr val="C45A14"/>
                </a:solidFill>
                <a:latin typeface="Arial"/>
                <a:ea typeface="Arial"/>
                <a:cs typeface="Arial"/>
              </a:rPr>
              <a:t>BROMIDES · 5</a:t>
            </a:r>
          </a:p>
        </p:txBody>
      </p:sp>
      <p:sp>
        <p:nvSpPr>
          <p:cNvPr id="24" name="a2-BROMIDES · 5-b">
            <a:extLst xmlns:a="http://schemas.openxmlformats.org/drawingml/2006/main">
              <a:ext uri="{FF2B5EF4-FFF2-40B4-BE49-F238E27FC236}">
                <a16:creationId xmlns:a16="http://schemas.microsoft.com/office/drawing/2014/main" id="{BE2E2EC8-39A5-4739-9388-391808DF15E3}"/>
              </a:ext>
            </a:extLst>
          </p:cNvPr>
          <p:cNvSpPr>
            <a:spLocks xmlns:a="http://schemas.openxmlformats.org/drawingml/2006/main" noGrp="1"/>
          </p:cNvSpPr>
          <p:nvPr/>
        </p:nvSpPr>
        <p:spPr>
          <a:xfrm xmlns:a="http://schemas.openxmlformats.org/drawingml/2006/main">
            <a:off x="5000625" y="26479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AlBr₃  CaBr₂  LiBr  MgBr₂  ZrBr₄</a:t>
            </a:r>
          </a:p>
        </p:txBody>
      </p:sp>
      <p:sp>
        <p:nvSpPr>
          <p:cNvPr id="25" name="a2-IODIDES · 4-h">
            <a:extLst xmlns:a="http://schemas.openxmlformats.org/drawingml/2006/main">
              <a:ext uri="{FF2B5EF4-FFF2-40B4-BE49-F238E27FC236}">
                <a16:creationId xmlns:a16="http://schemas.microsoft.com/office/drawing/2014/main" id="{F04A058B-B6F7-4C40-903D-D5EC3C823F98}"/>
              </a:ext>
            </a:extLst>
          </p:cNvPr>
          <p:cNvSpPr>
            <a:spLocks xmlns:a="http://schemas.openxmlformats.org/drawingml/2006/main" noGrp="1"/>
          </p:cNvSpPr>
          <p:nvPr/>
        </p:nvSpPr>
        <p:spPr>
          <a:xfrm xmlns:a="http://schemas.openxmlformats.org/drawingml/2006/main">
            <a:off x="5000625" y="328612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D97706"/>
                </a:solidFill>
                <a:latin typeface="Arial"/>
                <a:ea typeface="Arial"/>
                <a:cs typeface="Arial"/>
              </a:defRPr>
            </a:pPr>
            <a:r>
              <a:rPr sz="1050" b="1">
                <a:solidFill>
                  <a:srgbClr val="D97706"/>
                </a:solidFill>
                <a:latin typeface="Arial"/>
                <a:ea typeface="Arial"/>
                <a:cs typeface="Arial"/>
              </a:rPr>
              <a:t>IODIDES · 4</a:t>
            </a:r>
          </a:p>
        </p:txBody>
      </p:sp>
      <p:sp>
        <p:nvSpPr>
          <p:cNvPr id="26" name="a2-IODIDES · 4-b">
            <a:extLst xmlns:a="http://schemas.openxmlformats.org/drawingml/2006/main">
              <a:ext uri="{FF2B5EF4-FFF2-40B4-BE49-F238E27FC236}">
                <a16:creationId xmlns:a16="http://schemas.microsoft.com/office/drawing/2014/main" id="{CE6968EA-1A4C-4E59-B50F-4971C15DB471}"/>
              </a:ext>
            </a:extLst>
          </p:cNvPr>
          <p:cNvSpPr>
            <a:spLocks xmlns:a="http://schemas.openxmlformats.org/drawingml/2006/main" noGrp="1"/>
          </p:cNvSpPr>
          <p:nvPr/>
        </p:nvSpPr>
        <p:spPr>
          <a:xfrm xmlns:a="http://schemas.openxmlformats.org/drawingml/2006/main">
            <a:off x="5000625" y="355282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AlI₃  LiI  MgI₂  NaI</a:t>
            </a:r>
          </a:p>
        </p:txBody>
      </p:sp>
      <p:sp>
        <p:nvSpPr>
          <p:cNvPr id="27" name="a2-NITRIDES · 5-h">
            <a:extLst xmlns:a="http://schemas.openxmlformats.org/drawingml/2006/main">
              <a:ext uri="{FF2B5EF4-FFF2-40B4-BE49-F238E27FC236}">
                <a16:creationId xmlns:a16="http://schemas.microsoft.com/office/drawing/2014/main" id="{EDE3B70E-B320-44C1-8406-A4BCBA2942A4}"/>
              </a:ext>
            </a:extLst>
          </p:cNvPr>
          <p:cNvSpPr>
            <a:spLocks xmlns:a="http://schemas.openxmlformats.org/drawingml/2006/main" noGrp="1"/>
          </p:cNvSpPr>
          <p:nvPr/>
        </p:nvSpPr>
        <p:spPr>
          <a:xfrm xmlns:a="http://schemas.openxmlformats.org/drawingml/2006/main">
            <a:off x="5000625" y="419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1F4E79"/>
                </a:solidFill>
                <a:latin typeface="Arial"/>
                <a:ea typeface="Arial"/>
                <a:cs typeface="Arial"/>
              </a:defRPr>
            </a:pPr>
            <a:r>
              <a:rPr sz="1050" b="1">
                <a:solidFill>
                  <a:srgbClr val="1F4E79"/>
                </a:solidFill>
                <a:latin typeface="Arial"/>
                <a:ea typeface="Arial"/>
                <a:cs typeface="Arial"/>
              </a:rPr>
              <a:t>NITRIDES · 5</a:t>
            </a:r>
          </a:p>
        </p:txBody>
      </p:sp>
      <p:sp>
        <p:nvSpPr>
          <p:cNvPr id="28" name="a2-NITRIDES · 5-b">
            <a:extLst xmlns:a="http://schemas.openxmlformats.org/drawingml/2006/main">
              <a:ext uri="{FF2B5EF4-FFF2-40B4-BE49-F238E27FC236}">
                <a16:creationId xmlns:a16="http://schemas.microsoft.com/office/drawing/2014/main" id="{6AE554FC-2895-458E-8E59-BCAEDC6C7DD5}"/>
              </a:ext>
            </a:extLst>
          </p:cNvPr>
          <p:cNvSpPr>
            <a:spLocks xmlns:a="http://schemas.openxmlformats.org/drawingml/2006/main" noGrp="1"/>
          </p:cNvSpPr>
          <p:nvPr/>
        </p:nvSpPr>
        <p:spPr>
          <a:xfrm xmlns:a="http://schemas.openxmlformats.org/drawingml/2006/main">
            <a:off x="5000625" y="44577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AlN  Ca₃N₂  GaN  Li₃N  Mg₃N₂</a:t>
            </a:r>
          </a:p>
        </p:txBody>
      </p:sp>
      <p:sp>
        <p:nvSpPr>
          <p:cNvPr id="29" name="a2-SULFIDES · 11-h">
            <a:extLst xmlns:a="http://schemas.openxmlformats.org/drawingml/2006/main">
              <a:ext uri="{FF2B5EF4-FFF2-40B4-BE49-F238E27FC236}">
                <a16:creationId xmlns:a16="http://schemas.microsoft.com/office/drawing/2014/main" id="{CE2807FD-BF72-4BB6-A0FD-C77948F9FA63}"/>
              </a:ext>
            </a:extLst>
          </p:cNvPr>
          <p:cNvSpPr>
            <a:spLocks xmlns:a="http://schemas.openxmlformats.org/drawingml/2006/main" noGrp="1"/>
          </p:cNvSpPr>
          <p:nvPr/>
        </p:nvSpPr>
        <p:spPr>
          <a:xfrm xmlns:a="http://schemas.openxmlformats.org/drawingml/2006/main">
            <a:off x="5000625" y="509587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0D9488"/>
                </a:solidFill>
                <a:latin typeface="Arial"/>
                <a:ea typeface="Arial"/>
                <a:cs typeface="Arial"/>
              </a:defRPr>
            </a:pPr>
            <a:r>
              <a:rPr sz="1050" b="1">
                <a:solidFill>
                  <a:srgbClr val="0D9488"/>
                </a:solidFill>
                <a:latin typeface="Arial"/>
                <a:ea typeface="Arial"/>
                <a:cs typeface="Arial"/>
              </a:rPr>
              <a:t>SULFIDES · 11</a:t>
            </a:r>
          </a:p>
        </p:txBody>
      </p:sp>
      <p:sp>
        <p:nvSpPr>
          <p:cNvPr id="30" name="a2-SULFIDES · 11-b">
            <a:extLst xmlns:a="http://schemas.openxmlformats.org/drawingml/2006/main">
              <a:ext uri="{FF2B5EF4-FFF2-40B4-BE49-F238E27FC236}">
                <a16:creationId xmlns:a16="http://schemas.microsoft.com/office/drawing/2014/main" id="{F740BBA7-FD74-47E4-9C78-D97F1B22164A}"/>
              </a:ext>
            </a:extLst>
          </p:cNvPr>
          <p:cNvSpPr>
            <a:spLocks xmlns:a="http://schemas.openxmlformats.org/drawingml/2006/main" noGrp="1"/>
          </p:cNvSpPr>
          <p:nvPr/>
        </p:nvSpPr>
        <p:spPr>
          <a:xfrm xmlns:a="http://schemas.openxmlformats.org/drawingml/2006/main">
            <a:off x="5000625" y="5362575"/>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Al₂S₃  As₂S₃  CaS  Ga₂S₃  GeS₂  Li₂S</a:t>
            </a:r>
          </a:p>
          <a:p xmlns:a="http://schemas.openxmlformats.org/drawingml/2006/main">
            <a:pPr>
              <a:lnSpc>
                <a:spcPct val="112000"/>
              </a:lnSpc>
              <a:buNone/>
              <a:defRPr sz="840">
                <a:solidFill>
                  <a:srgbClr val="1F2937"/>
                </a:solidFill>
                <a:latin typeface="Arial"/>
                <a:ea typeface="Arial"/>
                <a:cs typeface="Arial"/>
              </a:defRPr>
            </a:pPr>
            <a:r>
              <a:rPr sz="840">
                <a:solidFill>
                  <a:srgbClr val="1F2937"/>
                </a:solidFill>
                <a:latin typeface="Arial"/>
                <a:ea typeface="Arial"/>
                <a:cs typeface="Arial"/>
              </a:rPr>
              <a:t>MgS  Na₂S  Sb₂S₃  SiS₂  SnS₂</a:t>
            </a:r>
          </a:p>
        </p:txBody>
      </p:sp>
    </p:spTree>
    <p:extLst>
      <p:ext uri="{BB962C8B-B14F-4D97-AF65-F5344CB8AC3E}">
        <p14:creationId xmlns:p14="http://schemas.microsoft.com/office/powerpoint/2010/main" val="19244058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2" name="bg-23">
            <a:extLst xmlns:a="http://schemas.openxmlformats.org/drawingml/2006/main">
              <a:ext uri="{FF2B5EF4-FFF2-40B4-BE49-F238E27FC236}">
                <a16:creationId xmlns:a16="http://schemas.microsoft.com/office/drawing/2014/main" id="{F8AEA1F3-62BC-464C-B519-647506F4AB4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3">
            <a:extLst xmlns:a="http://schemas.openxmlformats.org/drawingml/2006/main">
              <a:ext uri="{FF2B5EF4-FFF2-40B4-BE49-F238E27FC236}">
                <a16:creationId xmlns:a16="http://schemas.microsoft.com/office/drawing/2014/main" id="{102EBA2A-2956-4934-AE57-6BFE835FC23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A3</a:t>
            </a:r>
          </a:p>
        </p:txBody>
      </p:sp>
      <p:sp>
        <p:nvSpPr>
          <p:cNvPr id="3" name="terms-23">
            <a:extLst xmlns:a="http://schemas.openxmlformats.org/drawingml/2006/main">
              <a:ext uri="{FF2B5EF4-FFF2-40B4-BE49-F238E27FC236}">
                <a16:creationId xmlns:a16="http://schemas.microsoft.com/office/drawing/2014/main" id="{E4A4C947-E205-45D4-A447-BAE685AA633C}"/>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Seminar step: beginner-facing scientific question  ·  Folder stage: actual workflow implementation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Several folder stages are grouped into one conceptual step</a:t>
            </a:r>
          </a:p>
        </p:txBody>
      </p:sp>
      <p:sp>
        <p:nvSpPr>
          <p:cNvPr id="4" name="divider-23">
            <a:extLst xmlns:a="http://schemas.openxmlformats.org/drawingml/2006/main">
              <a:ext uri="{FF2B5EF4-FFF2-40B4-BE49-F238E27FC236}">
                <a16:creationId xmlns:a16="http://schemas.microsoft.com/office/drawing/2014/main" id="{7C7E602F-7291-4347-BD3E-4CEDB391AA6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3">
            <a:extLst xmlns:a="http://schemas.openxmlformats.org/drawingml/2006/main">
              <a:ext uri="{FF2B5EF4-FFF2-40B4-BE49-F238E27FC236}">
                <a16:creationId xmlns:a16="http://schemas.microsoft.com/office/drawing/2014/main" id="{7A1BBE2C-AEEA-4332-8FFC-4B6F167BCC1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3">
            <a:extLst xmlns:a="http://schemas.openxmlformats.org/drawingml/2006/main">
              <a:ext uri="{FF2B5EF4-FFF2-40B4-BE49-F238E27FC236}">
                <a16:creationId xmlns:a16="http://schemas.microsoft.com/office/drawing/2014/main" id="{93C5E338-C559-4FF3-AD8F-45ADFCD3B50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Nine seminar steps map onto the full executed workflow</a:t>
            </a:r>
          </a:p>
        </p:txBody>
      </p:sp>
      <p:sp>
        <p:nvSpPr>
          <p:cNvPr id="7" name="bullet-dot-23-0">
            <a:extLst xmlns:a="http://schemas.openxmlformats.org/drawingml/2006/main">
              <a:ext uri="{FF2B5EF4-FFF2-40B4-BE49-F238E27FC236}">
                <a16:creationId xmlns:a16="http://schemas.microsoft.com/office/drawing/2014/main" id="{8E919BF2-0594-421D-BA05-013ED4FA8F15}"/>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BB070E40-B2AA-4829-9103-1E60D30E74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mapping keeps the physical question visible while preserving implementation lineage.</a:t>
            </a:r>
          </a:p>
        </p:txBody>
      </p:sp>
      <p:sp>
        <p:nvSpPr>
          <p:cNvPr id="9" name="bullet-dot-23-1">
            <a:extLst xmlns:a="http://schemas.openxmlformats.org/drawingml/2006/main">
              <a:ext uri="{FF2B5EF4-FFF2-40B4-BE49-F238E27FC236}">
                <a16:creationId xmlns:a16="http://schemas.microsoft.com/office/drawing/2014/main" id="{7BCD3ECC-6942-485B-90F7-8BFF68DF273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0EF98CCA-AE71-4F79-A812-61CD9B9BDB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Optional MD and interface folders existed in the design but were not active production evidence in v23.</a:t>
            </a:r>
          </a:p>
        </p:txBody>
      </p:sp>
      <p:sp>
        <p:nvSpPr>
          <p:cNvPr id="11" name="citation-23">
            <a:extLst xmlns:a="http://schemas.openxmlformats.org/drawingml/2006/main">
              <a:ext uri="{FF2B5EF4-FFF2-40B4-BE49-F238E27FC236}">
                <a16:creationId xmlns:a16="http://schemas.microsoft.com/office/drawing/2014/main" id="{E91BCB6B-49B1-4826-A897-F95A7BBB5EE7}"/>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archived tier_cascade.sh · cascade pipeline anatomy</a:t>
            </a:r>
          </a:p>
        </p:txBody>
      </p:sp>
      <p:sp>
        <p:nvSpPr>
          <p:cNvPr id="12" name="footer-brand-23">
            <a:extLst xmlns:a="http://schemas.openxmlformats.org/drawingml/2006/main">
              <a:ext uri="{FF2B5EF4-FFF2-40B4-BE49-F238E27FC236}">
                <a16:creationId xmlns:a16="http://schemas.microsoft.com/office/drawing/2014/main" id="{3DBAA3D8-C834-472C-9579-1A2A9DBC16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5DA90FE6-587E-477F-AA31-BFE24F8A5ED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CB0823F-6207-4BF8-9803-A2392C3D6013}"/>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23</a:t>
            </a:r>
          </a:p>
        </p:txBody>
      </p:sp>
      <p:sp>
        <p:nvSpPr>
          <p:cNvPr id="15" name="a3-num-0">
            <a:extLst xmlns:a="http://schemas.openxmlformats.org/drawingml/2006/main">
              <a:ext uri="{FF2B5EF4-FFF2-40B4-BE49-F238E27FC236}">
                <a16:creationId xmlns:a16="http://schemas.microsoft.com/office/drawing/2014/main" id="{77A582AD-642D-4125-BE1B-D00C0B339C5C}"/>
              </a:ext>
            </a:extLst>
          </p:cNvPr>
          <p:cNvSpPr>
            <a:spLocks xmlns:a="http://schemas.openxmlformats.org/drawingml/2006/main" noGrp="1"/>
          </p:cNvSpPr>
          <p:nvPr/>
        </p:nvSpPr>
        <p:spPr>
          <a:xfrm xmlns:a="http://schemas.openxmlformats.org/drawingml/2006/main">
            <a:off x="762000" y="2381250"/>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16" name="a3-name-0">
            <a:extLst xmlns:a="http://schemas.openxmlformats.org/drawingml/2006/main">
              <a:ext uri="{FF2B5EF4-FFF2-40B4-BE49-F238E27FC236}">
                <a16:creationId xmlns:a16="http://schemas.microsoft.com/office/drawing/2014/main" id="{216267A0-D713-4A1E-8F8E-3C578655CD10}"/>
              </a:ext>
            </a:extLst>
          </p:cNvPr>
          <p:cNvSpPr>
            <a:spLocks xmlns:a="http://schemas.openxmlformats.org/drawingml/2006/main" noGrp="1"/>
          </p:cNvSpPr>
          <p:nvPr/>
        </p:nvSpPr>
        <p:spPr>
          <a:xfrm xmlns:a="http://schemas.openxmlformats.org/drawingml/2006/main">
            <a:off x="1333500" y="2381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Run contract</a:t>
            </a:r>
          </a:p>
        </p:txBody>
      </p:sp>
      <p:sp>
        <p:nvSpPr>
          <p:cNvPr id="17" name="a3-stage-0">
            <a:extLst xmlns:a="http://schemas.openxmlformats.org/drawingml/2006/main">
              <a:ext uri="{FF2B5EF4-FFF2-40B4-BE49-F238E27FC236}">
                <a16:creationId xmlns:a16="http://schemas.microsoft.com/office/drawing/2014/main" id="{FBF64DA6-8D51-4E23-B48A-9950FF4527C5}"/>
              </a:ext>
            </a:extLst>
          </p:cNvPr>
          <p:cNvSpPr>
            <a:spLocks xmlns:a="http://schemas.openxmlformats.org/drawingml/2006/main" noGrp="1"/>
          </p:cNvSpPr>
          <p:nvPr/>
        </p:nvSpPr>
        <p:spPr>
          <a:xfrm xmlns:a="http://schemas.openxmlformats.org/drawingml/2006/main">
            <a:off x="1333500" y="26384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00</a:t>
            </a:r>
          </a:p>
        </p:txBody>
      </p:sp>
      <p:sp>
        <p:nvSpPr>
          <p:cNvPr id="18" name="a3-num-1">
            <a:extLst xmlns:a="http://schemas.openxmlformats.org/drawingml/2006/main">
              <a:ext uri="{FF2B5EF4-FFF2-40B4-BE49-F238E27FC236}">
                <a16:creationId xmlns:a16="http://schemas.microsoft.com/office/drawing/2014/main" id="{902B58D4-EB96-4D65-B4B9-83E588732992}"/>
              </a:ext>
            </a:extLst>
          </p:cNvPr>
          <p:cNvSpPr>
            <a:spLocks xmlns:a="http://schemas.openxmlformats.org/drawingml/2006/main" noGrp="1"/>
          </p:cNvSpPr>
          <p:nvPr/>
        </p:nvSpPr>
        <p:spPr>
          <a:xfrm xmlns:a="http://schemas.openxmlformats.org/drawingml/2006/main">
            <a:off x="762000" y="3076575"/>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9" name="a3-name-1">
            <a:extLst xmlns:a="http://schemas.openxmlformats.org/drawingml/2006/main">
              <a:ext uri="{FF2B5EF4-FFF2-40B4-BE49-F238E27FC236}">
                <a16:creationId xmlns:a16="http://schemas.microsoft.com/office/drawing/2014/main" id="{318796AB-4C94-40EF-AFFF-DFD0D3CDB343}"/>
              </a:ext>
            </a:extLst>
          </p:cNvPr>
          <p:cNvSpPr>
            <a:spLocks xmlns:a="http://schemas.openxmlformats.org/drawingml/2006/main" noGrp="1"/>
          </p:cNvSpPr>
          <p:nvPr/>
        </p:nvSpPr>
        <p:spPr>
          <a:xfrm xmlns:a="http://schemas.openxmlformats.org/drawingml/2006/main">
            <a:off x="1333500" y="3076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Site &amp; configuration</a:t>
            </a:r>
          </a:p>
        </p:txBody>
      </p:sp>
      <p:sp>
        <p:nvSpPr>
          <p:cNvPr id="20" name="a3-stage-1">
            <a:extLst xmlns:a="http://schemas.openxmlformats.org/drawingml/2006/main">
              <a:ext uri="{FF2B5EF4-FFF2-40B4-BE49-F238E27FC236}">
                <a16:creationId xmlns:a16="http://schemas.microsoft.com/office/drawing/2014/main" id="{65A86F92-9757-4A62-9F51-00293E30A3F7}"/>
              </a:ext>
            </a:extLst>
          </p:cNvPr>
          <p:cNvSpPr>
            <a:spLocks xmlns:a="http://schemas.openxmlformats.org/drawingml/2006/main" noGrp="1"/>
          </p:cNvSpPr>
          <p:nvPr/>
        </p:nvSpPr>
        <p:spPr>
          <a:xfrm xmlns:a="http://schemas.openxmlformats.org/drawingml/2006/main">
            <a:off x="1333500" y="3333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01</a:t>
            </a:r>
          </a:p>
        </p:txBody>
      </p:sp>
      <p:sp>
        <p:nvSpPr>
          <p:cNvPr id="21" name="a3-num-2">
            <a:extLst xmlns:a="http://schemas.openxmlformats.org/drawingml/2006/main">
              <a:ext uri="{FF2B5EF4-FFF2-40B4-BE49-F238E27FC236}">
                <a16:creationId xmlns:a16="http://schemas.microsoft.com/office/drawing/2014/main" id="{61B521E6-CF0B-4EC4-8219-4758AF71F941}"/>
              </a:ext>
            </a:extLst>
          </p:cNvPr>
          <p:cNvSpPr>
            <a:spLocks xmlns:a="http://schemas.openxmlformats.org/drawingml/2006/main" noGrp="1"/>
          </p:cNvSpPr>
          <p:nvPr/>
        </p:nvSpPr>
        <p:spPr>
          <a:xfrm xmlns:a="http://schemas.openxmlformats.org/drawingml/2006/main">
            <a:off x="762000" y="3771900"/>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2" name="a3-name-2">
            <a:extLst xmlns:a="http://schemas.openxmlformats.org/drawingml/2006/main">
              <a:ext uri="{FF2B5EF4-FFF2-40B4-BE49-F238E27FC236}">
                <a16:creationId xmlns:a16="http://schemas.microsoft.com/office/drawing/2014/main" id="{2A959DF7-A1FA-4788-A4A1-C1F21B07E073}"/>
              </a:ext>
            </a:extLst>
          </p:cNvPr>
          <p:cNvSpPr>
            <a:spLocks xmlns:a="http://schemas.openxmlformats.org/drawingml/2006/main" noGrp="1"/>
          </p:cNvSpPr>
          <p:nvPr/>
        </p:nvSpPr>
        <p:spPr>
          <a:xfrm xmlns:a="http://schemas.openxmlformats.org/drawingml/2006/main">
            <a:off x="1333500" y="3771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Fast relaxation</a:t>
            </a:r>
          </a:p>
        </p:txBody>
      </p:sp>
      <p:sp>
        <p:nvSpPr>
          <p:cNvPr id="23" name="a3-stage-2">
            <a:extLst xmlns:a="http://schemas.openxmlformats.org/drawingml/2006/main">
              <a:ext uri="{FF2B5EF4-FFF2-40B4-BE49-F238E27FC236}">
                <a16:creationId xmlns:a16="http://schemas.microsoft.com/office/drawing/2014/main" id="{7C031F12-A086-48E8-99C1-A36F4A2662DA}"/>
              </a:ext>
            </a:extLst>
          </p:cNvPr>
          <p:cNvSpPr>
            <a:spLocks xmlns:a="http://schemas.openxmlformats.org/drawingml/2006/main" noGrp="1"/>
          </p:cNvSpPr>
          <p:nvPr/>
        </p:nvSpPr>
        <p:spPr>
          <a:xfrm xmlns:a="http://schemas.openxmlformats.org/drawingml/2006/main">
            <a:off x="1333500" y="402907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02</a:t>
            </a:r>
          </a:p>
        </p:txBody>
      </p:sp>
      <p:sp>
        <p:nvSpPr>
          <p:cNvPr id="24" name="a3-num-3">
            <a:extLst xmlns:a="http://schemas.openxmlformats.org/drawingml/2006/main">
              <a:ext uri="{FF2B5EF4-FFF2-40B4-BE49-F238E27FC236}">
                <a16:creationId xmlns:a16="http://schemas.microsoft.com/office/drawing/2014/main" id="{A497694E-95FD-4FCB-ABE0-6E78F1472418}"/>
              </a:ext>
            </a:extLst>
          </p:cNvPr>
          <p:cNvSpPr>
            <a:spLocks xmlns:a="http://schemas.openxmlformats.org/drawingml/2006/main" noGrp="1"/>
          </p:cNvSpPr>
          <p:nvPr/>
        </p:nvSpPr>
        <p:spPr>
          <a:xfrm xmlns:a="http://schemas.openxmlformats.org/drawingml/2006/main">
            <a:off x="762000" y="4467225"/>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5" name="a3-name-3">
            <a:extLst xmlns:a="http://schemas.openxmlformats.org/drawingml/2006/main">
              <a:ext uri="{FF2B5EF4-FFF2-40B4-BE49-F238E27FC236}">
                <a16:creationId xmlns:a16="http://schemas.microsoft.com/office/drawing/2014/main" id="{3219B70B-03A7-49DB-9D99-75D8D5D7C742}"/>
              </a:ext>
            </a:extLst>
          </p:cNvPr>
          <p:cNvSpPr>
            <a:spLocks xmlns:a="http://schemas.openxmlformats.org/drawingml/2006/main" noGrp="1"/>
          </p:cNvSpPr>
          <p:nvPr/>
        </p:nvSpPr>
        <p:spPr>
          <a:xfrm xmlns:a="http://schemas.openxmlformats.org/drawingml/2006/main">
            <a:off x="1333500" y="4467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Representative structure</a:t>
            </a:r>
          </a:p>
        </p:txBody>
      </p:sp>
      <p:sp>
        <p:nvSpPr>
          <p:cNvPr id="26" name="a3-stage-3">
            <a:extLst xmlns:a="http://schemas.openxmlformats.org/drawingml/2006/main">
              <a:ext uri="{FF2B5EF4-FFF2-40B4-BE49-F238E27FC236}">
                <a16:creationId xmlns:a16="http://schemas.microsoft.com/office/drawing/2014/main" id="{B9593B05-6DC6-4FEA-B7B2-DF5DBC9D5BB3}"/>
              </a:ext>
            </a:extLst>
          </p:cNvPr>
          <p:cNvSpPr>
            <a:spLocks xmlns:a="http://schemas.openxmlformats.org/drawingml/2006/main" noGrp="1"/>
          </p:cNvSpPr>
          <p:nvPr/>
        </p:nvSpPr>
        <p:spPr>
          <a:xfrm xmlns:a="http://schemas.openxmlformats.org/drawingml/2006/main">
            <a:off x="1333500" y="47244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03</a:t>
            </a:r>
          </a:p>
        </p:txBody>
      </p:sp>
      <p:sp>
        <p:nvSpPr>
          <p:cNvPr id="27" name="a3-num-4">
            <a:extLst xmlns:a="http://schemas.openxmlformats.org/drawingml/2006/main">
              <a:ext uri="{FF2B5EF4-FFF2-40B4-BE49-F238E27FC236}">
                <a16:creationId xmlns:a16="http://schemas.microsoft.com/office/drawing/2014/main" id="{CCB1BACC-0F97-42EA-AC89-80C8C3BE01A6}"/>
              </a:ext>
            </a:extLst>
          </p:cNvPr>
          <p:cNvSpPr>
            <a:spLocks xmlns:a="http://schemas.openxmlformats.org/drawingml/2006/main" noGrp="1"/>
          </p:cNvSpPr>
          <p:nvPr/>
        </p:nvSpPr>
        <p:spPr>
          <a:xfrm xmlns:a="http://schemas.openxmlformats.org/drawingml/2006/main">
            <a:off x="762000" y="5162550"/>
            <a:ext cx="400050" cy="4000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28" name="a3-name-4">
            <a:extLst xmlns:a="http://schemas.openxmlformats.org/drawingml/2006/main">
              <a:ext uri="{FF2B5EF4-FFF2-40B4-BE49-F238E27FC236}">
                <a16:creationId xmlns:a16="http://schemas.microsoft.com/office/drawing/2014/main" id="{26F99291-3390-4FA0-B8EC-02AD6F761592}"/>
              </a:ext>
            </a:extLst>
          </p:cNvPr>
          <p:cNvSpPr>
            <a:spLocks xmlns:a="http://schemas.openxmlformats.org/drawingml/2006/main" noGrp="1"/>
          </p:cNvSpPr>
          <p:nvPr/>
        </p:nvSpPr>
        <p:spPr>
          <a:xfrm xmlns:a="http://schemas.openxmlformats.org/drawingml/2006/main">
            <a:off x="1333500" y="5162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Thermal basin</a:t>
            </a:r>
          </a:p>
        </p:txBody>
      </p:sp>
      <p:sp>
        <p:nvSpPr>
          <p:cNvPr id="29" name="a3-stage-4">
            <a:extLst xmlns:a="http://schemas.openxmlformats.org/drawingml/2006/main">
              <a:ext uri="{FF2B5EF4-FFF2-40B4-BE49-F238E27FC236}">
                <a16:creationId xmlns:a16="http://schemas.microsoft.com/office/drawing/2014/main" id="{1805CCF7-3187-4816-829B-CD701138512A}"/>
              </a:ext>
            </a:extLst>
          </p:cNvPr>
          <p:cNvSpPr>
            <a:spLocks xmlns:a="http://schemas.openxmlformats.org/drawingml/2006/main" noGrp="1"/>
          </p:cNvSpPr>
          <p:nvPr/>
        </p:nvSpPr>
        <p:spPr>
          <a:xfrm xmlns:a="http://schemas.openxmlformats.org/drawingml/2006/main">
            <a:off x="1333500" y="54197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04</a:t>
            </a:r>
          </a:p>
        </p:txBody>
      </p:sp>
      <p:sp>
        <p:nvSpPr>
          <p:cNvPr id="30" name="a3-num-5">
            <a:extLst xmlns:a="http://schemas.openxmlformats.org/drawingml/2006/main">
              <a:ext uri="{FF2B5EF4-FFF2-40B4-BE49-F238E27FC236}">
                <a16:creationId xmlns:a16="http://schemas.microsoft.com/office/drawing/2014/main" id="{51C2E4F5-1823-4E42-A962-3E474E3A239D}"/>
              </a:ext>
            </a:extLst>
          </p:cNvPr>
          <p:cNvSpPr>
            <a:spLocks xmlns:a="http://schemas.openxmlformats.org/drawingml/2006/main" noGrp="1"/>
          </p:cNvSpPr>
          <p:nvPr/>
        </p:nvSpPr>
        <p:spPr>
          <a:xfrm xmlns:a="http://schemas.openxmlformats.org/drawingml/2006/main">
            <a:off x="4762500" y="2381250"/>
            <a:ext cx="400050" cy="4000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6</a:t>
            </a:r>
          </a:p>
        </p:txBody>
      </p:sp>
      <p:sp>
        <p:nvSpPr>
          <p:cNvPr id="31" name="a3-name-5">
            <a:extLst xmlns:a="http://schemas.openxmlformats.org/drawingml/2006/main">
              <a:ext uri="{FF2B5EF4-FFF2-40B4-BE49-F238E27FC236}">
                <a16:creationId xmlns:a16="http://schemas.microsoft.com/office/drawing/2014/main" id="{F408AC26-B6C7-4BFF-964B-D7EF9E751CF2}"/>
              </a:ext>
            </a:extLst>
          </p:cNvPr>
          <p:cNvSpPr>
            <a:spLocks xmlns:a="http://schemas.openxmlformats.org/drawingml/2006/main" noGrp="1"/>
          </p:cNvSpPr>
          <p:nvPr/>
        </p:nvSpPr>
        <p:spPr>
          <a:xfrm xmlns:a="http://schemas.openxmlformats.org/drawingml/2006/main">
            <a:off x="5334000" y="2381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Static Li-path risk</a:t>
            </a:r>
          </a:p>
        </p:txBody>
      </p:sp>
      <p:sp>
        <p:nvSpPr>
          <p:cNvPr id="32" name="a3-stage-5">
            <a:extLst xmlns:a="http://schemas.openxmlformats.org/drawingml/2006/main">
              <a:ext uri="{FF2B5EF4-FFF2-40B4-BE49-F238E27FC236}">
                <a16:creationId xmlns:a16="http://schemas.microsoft.com/office/drawing/2014/main" id="{B2B87AD4-7781-4347-B779-E39E42CF2AED}"/>
              </a:ext>
            </a:extLst>
          </p:cNvPr>
          <p:cNvSpPr>
            <a:spLocks xmlns:a="http://schemas.openxmlformats.org/drawingml/2006/main" noGrp="1"/>
          </p:cNvSpPr>
          <p:nvPr/>
        </p:nvSpPr>
        <p:spPr>
          <a:xfrm xmlns:a="http://schemas.openxmlformats.org/drawingml/2006/main">
            <a:off x="5334000" y="263842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05–06</a:t>
            </a:r>
          </a:p>
        </p:txBody>
      </p:sp>
      <p:sp>
        <p:nvSpPr>
          <p:cNvPr id="33" name="a3-num-6">
            <a:extLst xmlns:a="http://schemas.openxmlformats.org/drawingml/2006/main">
              <a:ext uri="{FF2B5EF4-FFF2-40B4-BE49-F238E27FC236}">
                <a16:creationId xmlns:a16="http://schemas.microsoft.com/office/drawing/2014/main" id="{78A53F75-16F3-458C-A4D3-2211C5953B35}"/>
              </a:ext>
            </a:extLst>
          </p:cNvPr>
          <p:cNvSpPr>
            <a:spLocks xmlns:a="http://schemas.openxmlformats.org/drawingml/2006/main" noGrp="1"/>
          </p:cNvSpPr>
          <p:nvPr/>
        </p:nvSpPr>
        <p:spPr>
          <a:xfrm xmlns:a="http://schemas.openxmlformats.org/drawingml/2006/main">
            <a:off x="4762500" y="3076575"/>
            <a:ext cx="400050" cy="4000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7</a:t>
            </a:r>
          </a:p>
        </p:txBody>
      </p:sp>
      <p:sp>
        <p:nvSpPr>
          <p:cNvPr id="34" name="a3-name-6">
            <a:extLst xmlns:a="http://schemas.openxmlformats.org/drawingml/2006/main">
              <a:ext uri="{FF2B5EF4-FFF2-40B4-BE49-F238E27FC236}">
                <a16:creationId xmlns:a16="http://schemas.microsoft.com/office/drawing/2014/main" id="{E5AD4896-BC7E-4006-8B19-B09437A8E944}"/>
              </a:ext>
            </a:extLst>
          </p:cNvPr>
          <p:cNvSpPr>
            <a:spLocks xmlns:a="http://schemas.openxmlformats.org/drawingml/2006/main" noGrp="1"/>
          </p:cNvSpPr>
          <p:nvPr/>
        </p:nvSpPr>
        <p:spPr>
          <a:xfrm xmlns:a="http://schemas.openxmlformats.org/drawingml/2006/main">
            <a:off x="5334000" y="3076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Mechanical response</a:t>
            </a:r>
          </a:p>
        </p:txBody>
      </p:sp>
      <p:sp>
        <p:nvSpPr>
          <p:cNvPr id="35" name="a3-stage-6">
            <a:extLst xmlns:a="http://schemas.openxmlformats.org/drawingml/2006/main">
              <a:ext uri="{FF2B5EF4-FFF2-40B4-BE49-F238E27FC236}">
                <a16:creationId xmlns:a16="http://schemas.microsoft.com/office/drawing/2014/main" id="{C21729A5-4F77-4B51-931D-07C350F5DBB9}"/>
              </a:ext>
            </a:extLst>
          </p:cNvPr>
          <p:cNvSpPr>
            <a:spLocks xmlns:a="http://schemas.openxmlformats.org/drawingml/2006/main" noGrp="1"/>
          </p:cNvSpPr>
          <p:nvPr/>
        </p:nvSpPr>
        <p:spPr>
          <a:xfrm xmlns:a="http://schemas.openxmlformats.org/drawingml/2006/main">
            <a:off x="5334000" y="3333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07–08</a:t>
            </a:r>
          </a:p>
        </p:txBody>
      </p:sp>
      <p:sp>
        <p:nvSpPr>
          <p:cNvPr id="36" name="a3-num-7">
            <a:extLst xmlns:a="http://schemas.openxmlformats.org/drawingml/2006/main">
              <a:ext uri="{FF2B5EF4-FFF2-40B4-BE49-F238E27FC236}">
                <a16:creationId xmlns:a16="http://schemas.microsoft.com/office/drawing/2014/main" id="{2B04BA17-644B-46AF-99FE-2823FF41ADAF}"/>
              </a:ext>
            </a:extLst>
          </p:cNvPr>
          <p:cNvSpPr>
            <a:spLocks xmlns:a="http://schemas.openxmlformats.org/drawingml/2006/main" noGrp="1"/>
          </p:cNvSpPr>
          <p:nvPr/>
        </p:nvSpPr>
        <p:spPr>
          <a:xfrm xmlns:a="http://schemas.openxmlformats.org/drawingml/2006/main">
            <a:off x="4762500" y="3771900"/>
            <a:ext cx="400050" cy="4000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8</a:t>
            </a:r>
          </a:p>
        </p:txBody>
      </p:sp>
      <p:sp>
        <p:nvSpPr>
          <p:cNvPr id="37" name="a3-name-7">
            <a:extLst xmlns:a="http://schemas.openxmlformats.org/drawingml/2006/main">
              <a:ext uri="{FF2B5EF4-FFF2-40B4-BE49-F238E27FC236}">
                <a16:creationId xmlns:a16="http://schemas.microsoft.com/office/drawing/2014/main" id="{1AC3C13E-1A8E-4CF6-8061-472166CB943B}"/>
              </a:ext>
            </a:extLst>
          </p:cNvPr>
          <p:cNvSpPr>
            <a:spLocks xmlns:a="http://schemas.openxmlformats.org/drawingml/2006/main" noGrp="1"/>
          </p:cNvSpPr>
          <p:nvPr/>
        </p:nvSpPr>
        <p:spPr>
          <a:xfrm xmlns:a="http://schemas.openxmlformats.org/drawingml/2006/main">
            <a:off x="5334000" y="3771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Thermodynamic context</a:t>
            </a:r>
          </a:p>
        </p:txBody>
      </p:sp>
      <p:sp>
        <p:nvSpPr>
          <p:cNvPr id="38" name="a3-stage-7">
            <a:extLst xmlns:a="http://schemas.openxmlformats.org/drawingml/2006/main">
              <a:ext uri="{FF2B5EF4-FFF2-40B4-BE49-F238E27FC236}">
                <a16:creationId xmlns:a16="http://schemas.microsoft.com/office/drawing/2014/main" id="{B36FC637-4B5F-4CA7-85D4-EBEFE8B4A023}"/>
              </a:ext>
            </a:extLst>
          </p:cNvPr>
          <p:cNvSpPr>
            <a:spLocks xmlns:a="http://schemas.openxmlformats.org/drawingml/2006/main" noGrp="1"/>
          </p:cNvSpPr>
          <p:nvPr/>
        </p:nvSpPr>
        <p:spPr>
          <a:xfrm xmlns:a="http://schemas.openxmlformats.org/drawingml/2006/main">
            <a:off x="5334000" y="4029075"/>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09a–09f + external GP</a:t>
            </a:r>
          </a:p>
        </p:txBody>
      </p:sp>
      <p:sp>
        <p:nvSpPr>
          <p:cNvPr id="39" name="a3-num-8">
            <a:extLst xmlns:a="http://schemas.openxmlformats.org/drawingml/2006/main">
              <a:ext uri="{FF2B5EF4-FFF2-40B4-BE49-F238E27FC236}">
                <a16:creationId xmlns:a16="http://schemas.microsoft.com/office/drawing/2014/main" id="{A23E97B6-1307-43D4-8A80-70BD3F362A3E}"/>
              </a:ext>
            </a:extLst>
          </p:cNvPr>
          <p:cNvSpPr>
            <a:spLocks xmlns:a="http://schemas.openxmlformats.org/drawingml/2006/main" noGrp="1"/>
          </p:cNvSpPr>
          <p:nvPr/>
        </p:nvSpPr>
        <p:spPr>
          <a:xfrm xmlns:a="http://schemas.openxmlformats.org/drawingml/2006/main">
            <a:off x="4762500" y="4467225"/>
            <a:ext cx="400050" cy="4000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9</a:t>
            </a:r>
          </a:p>
        </p:txBody>
      </p:sp>
      <p:sp>
        <p:nvSpPr>
          <p:cNvPr id="40" name="a3-name-8">
            <a:extLst xmlns:a="http://schemas.openxmlformats.org/drawingml/2006/main">
              <a:ext uri="{FF2B5EF4-FFF2-40B4-BE49-F238E27FC236}">
                <a16:creationId xmlns:a16="http://schemas.microsoft.com/office/drawing/2014/main" id="{9C1F67FB-FF99-4185-95BB-E2AE2AEC60FC}"/>
              </a:ext>
            </a:extLst>
          </p:cNvPr>
          <p:cNvSpPr>
            <a:spLocks xmlns:a="http://schemas.openxmlformats.org/drawingml/2006/main" noGrp="1"/>
          </p:cNvSpPr>
          <p:nvPr/>
        </p:nvSpPr>
        <p:spPr>
          <a:xfrm xmlns:a="http://schemas.openxmlformats.org/drawingml/2006/main">
            <a:off x="5334000" y="4467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2937"/>
                </a:solidFill>
                <a:latin typeface="Arial"/>
                <a:ea typeface="Arial"/>
                <a:cs typeface="Arial"/>
              </a:defRPr>
            </a:pPr>
            <a:r>
              <a:rPr sz="1088" b="1">
                <a:solidFill>
                  <a:srgbClr val="1F2937"/>
                </a:solidFill>
                <a:latin typeface="Arial"/>
                <a:ea typeface="Arial"/>
                <a:cs typeface="Arial"/>
              </a:rPr>
              <a:t>Validation queue</a:t>
            </a:r>
          </a:p>
        </p:txBody>
      </p:sp>
      <p:sp>
        <p:nvSpPr>
          <p:cNvPr id="41" name="a3-stage-8">
            <a:extLst xmlns:a="http://schemas.openxmlformats.org/drawingml/2006/main">
              <a:ext uri="{FF2B5EF4-FFF2-40B4-BE49-F238E27FC236}">
                <a16:creationId xmlns:a16="http://schemas.microsoft.com/office/drawing/2014/main" id="{E5C049D5-65C9-4122-BD24-FC3951475852}"/>
              </a:ext>
            </a:extLst>
          </p:cNvPr>
          <p:cNvSpPr>
            <a:spLocks xmlns:a="http://schemas.openxmlformats.org/drawingml/2006/main" noGrp="1"/>
          </p:cNvSpPr>
          <p:nvPr/>
        </p:nvSpPr>
        <p:spPr>
          <a:xfrm xmlns:a="http://schemas.openxmlformats.org/drawingml/2006/main">
            <a:off x="5334000" y="47244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a:solidFill>
                  <a:srgbClr val="6B7280"/>
                </a:solidFill>
                <a:latin typeface="Arial"/>
                <a:ea typeface="Arial"/>
                <a:cs typeface="Arial"/>
              </a:defRPr>
            </a:pPr>
            <a:r>
              <a:rPr sz="863">
                <a:solidFill>
                  <a:srgbClr val="6B7280"/>
                </a:solidFill>
                <a:latin typeface="Arial"/>
                <a:ea typeface="Arial"/>
                <a:cs typeface="Arial"/>
              </a:rPr>
              <a:t>folder stage 10–12b + planned loop</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8" name="bg-24">
            <a:extLst xmlns:a="http://schemas.openxmlformats.org/drawingml/2006/main">
              <a:ext uri="{FF2B5EF4-FFF2-40B4-BE49-F238E27FC236}">
                <a16:creationId xmlns:a16="http://schemas.microsoft.com/office/drawing/2014/main" id="{9B6A9AEF-8FAC-48BD-BFAA-442567A6518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02D52619-0D96-4E7A-969F-A3A55752B895}"/>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A4</a:t>
            </a:r>
          </a:p>
        </p:txBody>
      </p:sp>
      <p:sp>
        <p:nvSpPr>
          <p:cNvPr id="3" name="terms-24">
            <a:extLst xmlns:a="http://schemas.openxmlformats.org/drawingml/2006/main">
              <a:ext uri="{FF2B5EF4-FFF2-40B4-BE49-F238E27FC236}">
                <a16:creationId xmlns:a16="http://schemas.microsoft.com/office/drawing/2014/main" id="{966C8049-33FA-4C1E-800D-04C73AEA3D57}"/>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Campaign label: directory name  ·  Realized loading: integer substitution in the generated cell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Controlled replicate: same formula, site, protocol, and estimand repeated independently</a:t>
            </a:r>
          </a:p>
        </p:txBody>
      </p:sp>
      <p:sp>
        <p:nvSpPr>
          <p:cNvPr id="4" name="divider-24">
            <a:extLst xmlns:a="http://schemas.openxmlformats.org/drawingml/2006/main">
              <a:ext uri="{FF2B5EF4-FFF2-40B4-BE49-F238E27FC236}">
                <a16:creationId xmlns:a16="http://schemas.microsoft.com/office/drawing/2014/main" id="{EC345498-7ADC-4254-9F2E-877CA2E5CF2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B41357B3-2BA4-428F-8D65-F0EED812ACB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8D1F8E85-14F9-4C4D-9CAC-35FBEC64AD7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Why the three labels are neither a concentration series nor clean replicates</a:t>
            </a:r>
          </a:p>
        </p:txBody>
      </p:sp>
      <p:sp>
        <p:nvSpPr>
          <p:cNvPr id="7" name="bullet-dot-24-0">
            <a:extLst xmlns:a="http://schemas.openxmlformats.org/drawingml/2006/main">
              <a:ext uri="{FF2B5EF4-FFF2-40B4-BE49-F238E27FC236}">
                <a16:creationId xmlns:a16="http://schemas.microsoft.com/office/drawing/2014/main" id="{7E9EBA98-8256-4FD1-AB21-461AB0911BA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AD56FC6B-BB69-459D-A7CD-4F8E361BEC1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All three labels were quantized to the same generator loading in the small cell.</a:t>
            </a:r>
          </a:p>
        </p:txBody>
      </p:sp>
      <p:sp>
        <p:nvSpPr>
          <p:cNvPr id="9" name="bullet-dot-24-1">
            <a:extLst xmlns:a="http://schemas.openxmlformats.org/drawingml/2006/main">
              <a:ext uri="{FF2B5EF4-FFF2-40B4-BE49-F238E27FC236}">
                <a16:creationId xmlns:a16="http://schemas.microsoft.com/office/drawing/2014/main" id="{0DC16FF1-EEB0-48B1-8B0C-01B5AAE4FE7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B7480898-814A-4ED4-BE88-D8B1FD00590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Exact-formula regrouping found 59 same-formula and 31 changed-formula chemistries.</a:t>
            </a:r>
          </a:p>
        </p:txBody>
      </p:sp>
      <p:sp>
        <p:nvSpPr>
          <p:cNvPr id="11" name="citation-24">
            <a:extLst xmlns:a="http://schemas.openxmlformats.org/drawingml/2006/main">
              <a:ext uri="{FF2B5EF4-FFF2-40B4-BE49-F238E27FC236}">
                <a16:creationId xmlns:a16="http://schemas.microsoft.com/office/drawing/2014/main" id="{1D804E7A-2493-49AA-909B-F95E583079FA}"/>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cascade_label_scatter_audit.json · audit_label_scatter.py</a:t>
            </a:r>
          </a:p>
        </p:txBody>
      </p:sp>
      <p:sp>
        <p:nvSpPr>
          <p:cNvPr id="12" name="footer-brand-24">
            <a:extLst xmlns:a="http://schemas.openxmlformats.org/drawingml/2006/main">
              <a:ext uri="{FF2B5EF4-FFF2-40B4-BE49-F238E27FC236}">
                <a16:creationId xmlns:a16="http://schemas.microsoft.com/office/drawing/2014/main" id="{D7232256-28F3-4AF1-860E-41BD49751FC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6F8411AF-2029-41D4-87FC-414567B277B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ACD71AF9-88DA-4C0B-AB96-AF60D26D0994}"/>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24</a:t>
            </a:r>
          </a:p>
        </p:txBody>
      </p:sp>
      <p:sp>
        <p:nvSpPr>
          <p:cNvPr id="15" name="a4-title-cover">
            <a:extLst xmlns:a="http://schemas.openxmlformats.org/drawingml/2006/main">
              <a:ext uri="{FF2B5EF4-FFF2-40B4-BE49-F238E27FC236}">
                <a16:creationId xmlns:a16="http://schemas.microsoft.com/office/drawing/2014/main" id="{53EC0CCF-A511-4CF8-94BF-2F03B0EE2DAA}"/>
              </a:ext>
            </a:extLst>
          </p:cNvPr>
          <p:cNvSpPr>
            <a:spLocks xmlns:a="http://schemas.openxmlformats.org/drawingml/2006/main" noGrp="1"/>
          </p:cNvSpPr>
          <p:nvPr/>
        </p:nvSpPr>
        <p:spPr>
          <a:xfrm xmlns:a="http://schemas.openxmlformats.org/drawingml/2006/main">
            <a:off x="457200" y="152400"/>
            <a:ext cx="314325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a4-title-repair">
            <a:extLst xmlns:a="http://schemas.openxmlformats.org/drawingml/2006/main">
              <a:ext uri="{FF2B5EF4-FFF2-40B4-BE49-F238E27FC236}">
                <a16:creationId xmlns:a16="http://schemas.microsoft.com/office/drawing/2014/main" id="{6553D33D-60AB-4C94-B74A-5D155A2FA062}"/>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A4</a:t>
            </a:r>
          </a:p>
        </p:txBody>
      </p:sp>
      <p:sp>
        <p:nvSpPr>
          <p:cNvPr id="17" name="a4-labels-box-0">
            <a:extLst xmlns:a="http://schemas.openxmlformats.org/drawingml/2006/main">
              <a:ext uri="{FF2B5EF4-FFF2-40B4-BE49-F238E27FC236}">
                <a16:creationId xmlns:a16="http://schemas.microsoft.com/office/drawing/2014/main" id="{8F005C8D-CCCA-43FF-BF94-B87113C51246}"/>
              </a:ext>
            </a:extLst>
          </p:cNvPr>
          <p:cNvSpPr>
            <a:spLocks xmlns:a="http://schemas.openxmlformats.org/drawingml/2006/main" noGrp="1"/>
          </p:cNvSpPr>
          <p:nvPr/>
        </p:nvSpPr>
        <p:spPr>
          <a:xfrm xmlns:a="http://schemas.openxmlformats.org/drawingml/2006/main">
            <a:off x="1809750" y="2667000"/>
            <a:ext cx="15748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F4E79"/>
            </a:solidFill>
            <a:prstDash val="solid"/>
          </a:ln>
        </p:spPr>
      </p:sp>
      <p:sp>
        <p:nvSpPr>
          <p:cNvPr id="18" name="a4-labels-num-0">
            <a:extLst xmlns:a="http://schemas.openxmlformats.org/drawingml/2006/main">
              <a:ext uri="{FF2B5EF4-FFF2-40B4-BE49-F238E27FC236}">
                <a16:creationId xmlns:a16="http://schemas.microsoft.com/office/drawing/2014/main" id="{16AFB2C1-2BD4-4655-8388-350FBB2A47FE}"/>
              </a:ext>
            </a:extLst>
          </p:cNvPr>
          <p:cNvSpPr>
            <a:spLocks xmlns:a="http://schemas.openxmlformats.org/drawingml/2006/main" noGrp="1"/>
          </p:cNvSpPr>
          <p:nvPr/>
        </p:nvSpPr>
        <p:spPr>
          <a:xfrm xmlns:a="http://schemas.openxmlformats.org/drawingml/2006/main">
            <a:off x="1924050" y="27813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1F4E79"/>
                </a:solidFill>
                <a:latin typeface="Arial"/>
                <a:ea typeface="Arial"/>
                <a:cs typeface="Arial"/>
              </a:defRPr>
            </a:pPr>
            <a:r>
              <a:rPr sz="900" b="1">
                <a:solidFill>
                  <a:srgbClr val="1F4E79"/>
                </a:solidFill>
                <a:latin typeface="Arial"/>
                <a:ea typeface="Arial"/>
                <a:cs typeface="Arial"/>
              </a:rPr>
              <a:t>01</a:t>
            </a:r>
          </a:p>
        </p:txBody>
      </p:sp>
      <p:sp>
        <p:nvSpPr>
          <p:cNvPr id="19" name="a4-labels-text-0">
            <a:extLst xmlns:a="http://schemas.openxmlformats.org/drawingml/2006/main">
              <a:ext uri="{FF2B5EF4-FFF2-40B4-BE49-F238E27FC236}">
                <a16:creationId xmlns:a16="http://schemas.microsoft.com/office/drawing/2014/main" id="{9EC589E6-5801-4C14-9A73-286919E9AADE}"/>
              </a:ext>
            </a:extLst>
          </p:cNvPr>
          <p:cNvSpPr>
            <a:spLocks xmlns:a="http://schemas.openxmlformats.org/drawingml/2006/main" noGrp="1"/>
          </p:cNvSpPr>
          <p:nvPr/>
        </p:nvSpPr>
        <p:spPr>
          <a:xfrm xmlns:a="http://schemas.openxmlformats.org/drawingml/2006/main">
            <a:off x="1952625" y="3028950"/>
            <a:ext cx="128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x002</a:t>
            </a:r>
          </a:p>
        </p:txBody>
      </p:sp>
      <p:sp>
        <p:nvSpPr>
          <p:cNvPr id="20" name="a4-labels-arrow-0">
            <a:extLst xmlns:a="http://schemas.openxmlformats.org/drawingml/2006/main">
              <a:ext uri="{FF2B5EF4-FFF2-40B4-BE49-F238E27FC236}">
                <a16:creationId xmlns:a16="http://schemas.microsoft.com/office/drawing/2014/main" id="{E4B67B6C-17A6-4405-9DEA-74F5B3D5B2B3}"/>
              </a:ext>
            </a:extLst>
          </p:cNvPr>
          <p:cNvSpPr>
            <a:spLocks xmlns:a="http://schemas.openxmlformats.org/drawingml/2006/main" noGrp="1"/>
          </p:cNvSpPr>
          <p:nvPr/>
        </p:nvSpPr>
        <p:spPr>
          <a:xfrm xmlns:a="http://schemas.openxmlformats.org/drawingml/2006/main">
            <a:off x="3422650" y="28956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1" name="a4-labels-box-1">
            <a:extLst xmlns:a="http://schemas.openxmlformats.org/drawingml/2006/main">
              <a:ext uri="{FF2B5EF4-FFF2-40B4-BE49-F238E27FC236}">
                <a16:creationId xmlns:a16="http://schemas.microsoft.com/office/drawing/2014/main" id="{30A0FC0D-FE77-4FAD-9C54-B403169DF5BF}"/>
              </a:ext>
            </a:extLst>
          </p:cNvPr>
          <p:cNvSpPr>
            <a:spLocks xmlns:a="http://schemas.openxmlformats.org/drawingml/2006/main" noGrp="1"/>
          </p:cNvSpPr>
          <p:nvPr/>
        </p:nvSpPr>
        <p:spPr>
          <a:xfrm xmlns:a="http://schemas.openxmlformats.org/drawingml/2006/main">
            <a:off x="3784600" y="2667000"/>
            <a:ext cx="15748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C45A14"/>
            </a:solidFill>
            <a:prstDash val="solid"/>
          </a:ln>
        </p:spPr>
      </p:sp>
      <p:sp>
        <p:nvSpPr>
          <p:cNvPr id="22" name="a4-labels-num-1">
            <a:extLst xmlns:a="http://schemas.openxmlformats.org/drawingml/2006/main">
              <a:ext uri="{FF2B5EF4-FFF2-40B4-BE49-F238E27FC236}">
                <a16:creationId xmlns:a16="http://schemas.microsoft.com/office/drawing/2014/main" id="{42004EC0-D174-46CF-A1E0-99D6C4250199}"/>
              </a:ext>
            </a:extLst>
          </p:cNvPr>
          <p:cNvSpPr>
            <a:spLocks xmlns:a="http://schemas.openxmlformats.org/drawingml/2006/main" noGrp="1"/>
          </p:cNvSpPr>
          <p:nvPr/>
        </p:nvSpPr>
        <p:spPr>
          <a:xfrm xmlns:a="http://schemas.openxmlformats.org/drawingml/2006/main">
            <a:off x="3898900" y="27813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C45A14"/>
                </a:solidFill>
                <a:latin typeface="Arial"/>
                <a:ea typeface="Arial"/>
                <a:cs typeface="Arial"/>
              </a:defRPr>
            </a:pPr>
            <a:r>
              <a:rPr sz="900" b="1">
                <a:solidFill>
                  <a:srgbClr val="C45A14"/>
                </a:solidFill>
                <a:latin typeface="Arial"/>
                <a:ea typeface="Arial"/>
                <a:cs typeface="Arial"/>
              </a:rPr>
              <a:t>02</a:t>
            </a:r>
          </a:p>
        </p:txBody>
      </p:sp>
      <p:sp>
        <p:nvSpPr>
          <p:cNvPr id="23" name="a4-labels-text-1">
            <a:extLst xmlns:a="http://schemas.openxmlformats.org/drawingml/2006/main">
              <a:ext uri="{FF2B5EF4-FFF2-40B4-BE49-F238E27FC236}">
                <a16:creationId xmlns:a16="http://schemas.microsoft.com/office/drawing/2014/main" id="{A15CB5B8-1700-4D5C-A466-8436D19A7AC0}"/>
              </a:ext>
            </a:extLst>
          </p:cNvPr>
          <p:cNvSpPr>
            <a:spLocks xmlns:a="http://schemas.openxmlformats.org/drawingml/2006/main" noGrp="1"/>
          </p:cNvSpPr>
          <p:nvPr/>
        </p:nvSpPr>
        <p:spPr>
          <a:xfrm xmlns:a="http://schemas.openxmlformats.org/drawingml/2006/main">
            <a:off x="3927475" y="3028950"/>
            <a:ext cx="128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x005</a:t>
            </a:r>
          </a:p>
        </p:txBody>
      </p:sp>
      <p:sp>
        <p:nvSpPr>
          <p:cNvPr id="24" name="a4-labels-arrow-1">
            <a:extLst xmlns:a="http://schemas.openxmlformats.org/drawingml/2006/main">
              <a:ext uri="{FF2B5EF4-FFF2-40B4-BE49-F238E27FC236}">
                <a16:creationId xmlns:a16="http://schemas.microsoft.com/office/drawing/2014/main" id="{CE82EF84-1B04-48E7-8B34-F8FF833E8687}"/>
              </a:ext>
            </a:extLst>
          </p:cNvPr>
          <p:cNvSpPr>
            <a:spLocks xmlns:a="http://schemas.openxmlformats.org/drawingml/2006/main" noGrp="1"/>
          </p:cNvSpPr>
          <p:nvPr/>
        </p:nvSpPr>
        <p:spPr>
          <a:xfrm xmlns:a="http://schemas.openxmlformats.org/drawingml/2006/main">
            <a:off x="5397500" y="28956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6B7280"/>
                </a:solidFill>
                <a:latin typeface="Arial"/>
                <a:ea typeface="Arial"/>
                <a:cs typeface="Arial"/>
              </a:defRPr>
            </a:pPr>
            <a:r>
              <a:rPr sz="1950" b="1">
                <a:solidFill>
                  <a:srgbClr val="6B7280"/>
                </a:solidFill>
                <a:latin typeface="Arial"/>
                <a:ea typeface="Arial"/>
                <a:cs typeface="Arial"/>
              </a:rPr>
              <a:t>→</a:t>
            </a:r>
          </a:p>
        </p:txBody>
      </p:sp>
      <p:sp>
        <p:nvSpPr>
          <p:cNvPr id="25" name="a4-labels-box-2">
            <a:extLst xmlns:a="http://schemas.openxmlformats.org/drawingml/2006/main">
              <a:ext uri="{FF2B5EF4-FFF2-40B4-BE49-F238E27FC236}">
                <a16:creationId xmlns:a16="http://schemas.microsoft.com/office/drawing/2014/main" id="{BA1859E5-67BA-402F-8DC2-B107CF23393B}"/>
              </a:ext>
            </a:extLst>
          </p:cNvPr>
          <p:cNvSpPr>
            <a:spLocks xmlns:a="http://schemas.openxmlformats.org/drawingml/2006/main" noGrp="1"/>
          </p:cNvSpPr>
          <p:nvPr/>
        </p:nvSpPr>
        <p:spPr>
          <a:xfrm xmlns:a="http://schemas.openxmlformats.org/drawingml/2006/main">
            <a:off x="5759450" y="2667000"/>
            <a:ext cx="15748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D9488"/>
            </a:solidFill>
            <a:prstDash val="solid"/>
          </a:ln>
        </p:spPr>
      </p:sp>
      <p:sp>
        <p:nvSpPr>
          <p:cNvPr id="26" name="a4-labels-num-2">
            <a:extLst xmlns:a="http://schemas.openxmlformats.org/drawingml/2006/main">
              <a:ext uri="{FF2B5EF4-FFF2-40B4-BE49-F238E27FC236}">
                <a16:creationId xmlns:a16="http://schemas.microsoft.com/office/drawing/2014/main" id="{E871AA23-F5E0-428A-9184-AF98732EDB12}"/>
              </a:ext>
            </a:extLst>
          </p:cNvPr>
          <p:cNvSpPr>
            <a:spLocks xmlns:a="http://schemas.openxmlformats.org/drawingml/2006/main" noGrp="1"/>
          </p:cNvSpPr>
          <p:nvPr/>
        </p:nvSpPr>
        <p:spPr>
          <a:xfrm xmlns:a="http://schemas.openxmlformats.org/drawingml/2006/main">
            <a:off x="5873750" y="27813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0D9488"/>
                </a:solidFill>
                <a:latin typeface="Arial"/>
                <a:ea typeface="Arial"/>
                <a:cs typeface="Arial"/>
              </a:defRPr>
            </a:pPr>
            <a:r>
              <a:rPr sz="900" b="1">
                <a:solidFill>
                  <a:srgbClr val="0D9488"/>
                </a:solidFill>
                <a:latin typeface="Arial"/>
                <a:ea typeface="Arial"/>
                <a:cs typeface="Arial"/>
              </a:rPr>
              <a:t>03</a:t>
            </a:r>
          </a:p>
        </p:txBody>
      </p:sp>
      <p:sp>
        <p:nvSpPr>
          <p:cNvPr id="27" name="a4-labels-text-2">
            <a:extLst xmlns:a="http://schemas.openxmlformats.org/drawingml/2006/main">
              <a:ext uri="{FF2B5EF4-FFF2-40B4-BE49-F238E27FC236}">
                <a16:creationId xmlns:a16="http://schemas.microsoft.com/office/drawing/2014/main" id="{7D272B8F-852F-4E68-A8CD-9F42EA1C692C}"/>
              </a:ext>
            </a:extLst>
          </p:cNvPr>
          <p:cNvSpPr>
            <a:spLocks xmlns:a="http://schemas.openxmlformats.org/drawingml/2006/main" noGrp="1"/>
          </p:cNvSpPr>
          <p:nvPr/>
        </p:nvSpPr>
        <p:spPr>
          <a:xfrm xmlns:a="http://schemas.openxmlformats.org/drawingml/2006/main">
            <a:off x="5902325" y="3028950"/>
            <a:ext cx="128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63" b="1">
                <a:solidFill>
                  <a:srgbClr val="1F2937"/>
                </a:solidFill>
                <a:latin typeface="Arial"/>
                <a:ea typeface="Arial"/>
                <a:cs typeface="Arial"/>
              </a:defRPr>
            </a:pPr>
            <a:r>
              <a:rPr sz="1163" b="1">
                <a:solidFill>
                  <a:srgbClr val="1F2937"/>
                </a:solidFill>
                <a:latin typeface="Arial"/>
                <a:ea typeface="Arial"/>
                <a:cs typeface="Arial"/>
              </a:rPr>
              <a:t>x010</a:t>
            </a:r>
          </a:p>
        </p:txBody>
      </p:sp>
      <p:sp>
        <p:nvSpPr>
          <p:cNvPr id="28" name="a4-down">
            <a:extLst xmlns:a="http://schemas.openxmlformats.org/drawingml/2006/main">
              <a:ext uri="{FF2B5EF4-FFF2-40B4-BE49-F238E27FC236}">
                <a16:creationId xmlns:a16="http://schemas.microsoft.com/office/drawing/2014/main" id="{DC2EA142-36F5-4555-B0DE-BE0D8C6920A7}"/>
              </a:ext>
            </a:extLst>
          </p:cNvPr>
          <p:cNvSpPr>
            <a:spLocks xmlns:a="http://schemas.openxmlformats.org/drawingml/2006/main" noGrp="1"/>
          </p:cNvSpPr>
          <p:nvPr/>
        </p:nvSpPr>
        <p:spPr>
          <a:xfrm xmlns:a="http://schemas.openxmlformats.org/drawingml/2006/main">
            <a:off x="1952625" y="35433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a:solidFill>
                  <a:srgbClr val="6B7280"/>
                </a:solidFill>
                <a:latin typeface="Arial"/>
                <a:ea typeface="Arial"/>
                <a:cs typeface="Arial"/>
              </a:defRPr>
            </a:pPr>
            <a:r>
              <a:rPr sz="1950">
                <a:solidFill>
                  <a:srgbClr val="6B7280"/>
                </a:solidFill>
                <a:latin typeface="Arial"/>
                <a:ea typeface="Arial"/>
                <a:cs typeface="Arial"/>
              </a:rPr>
              <a:t>↓                         ↓                         ↓</a:t>
            </a:r>
          </a:p>
        </p:txBody>
      </p:sp>
      <p:sp>
        <p:nvSpPr>
          <p:cNvPr id="29" name="a4-load">
            <a:extLst xmlns:a="http://schemas.openxmlformats.org/drawingml/2006/main">
              <a:ext uri="{FF2B5EF4-FFF2-40B4-BE49-F238E27FC236}">
                <a16:creationId xmlns:a16="http://schemas.microsoft.com/office/drawing/2014/main" id="{39AF320F-5188-411C-A803-D1AC2D6E3865}"/>
              </a:ext>
            </a:extLst>
          </p:cNvPr>
          <p:cNvSpPr>
            <a:spLocks xmlns:a="http://schemas.openxmlformats.org/drawingml/2006/main" noGrp="1"/>
          </p:cNvSpPr>
          <p:nvPr/>
        </p:nvSpPr>
        <p:spPr>
          <a:xfrm xmlns:a="http://schemas.openxmlformats.org/drawingml/2006/main">
            <a:off x="2667000" y="4000500"/>
            <a:ext cx="3810000" cy="38100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47625" tIns="28575" rIns="47625" bIns="28575" anchor="ctr">
            <a:normAutofit fontScale="100000"/>
          </a:bodyPr>
          <a:lstStyle xmlns:a="http://schemas.openxmlformats.org/drawingml/2006/main"/>
          <a:p xmlns:a="http://schemas.openxmlformats.org/drawingml/2006/main">
            <a:pPr algn="ctr">
              <a:defRPr sz="1088" b="1">
                <a:solidFill>
                  <a:srgbClr val="FFFFFF"/>
                </a:solidFill>
                <a:latin typeface="Arial"/>
                <a:ea typeface="Arial"/>
                <a:cs typeface="Arial"/>
              </a:defRPr>
            </a:pPr>
            <a:r>
              <a:rPr sz="1088" b="1">
                <a:solidFill>
                  <a:srgbClr val="FFFFFF"/>
                </a:solidFill>
                <a:latin typeface="Arial"/>
                <a:ea typeface="Arial"/>
                <a:cs typeface="Arial"/>
              </a:rPr>
              <a:t>same small-cell generator loading  ·  x = 0.25</a:t>
            </a:r>
          </a:p>
        </p:txBody>
      </p:sp>
      <p:sp>
        <p:nvSpPr>
          <p:cNvPr id="30" name="a4-same-bg">
            <a:extLst xmlns:a="http://schemas.openxmlformats.org/drawingml/2006/main">
              <a:ext uri="{FF2B5EF4-FFF2-40B4-BE49-F238E27FC236}">
                <a16:creationId xmlns:a16="http://schemas.microsoft.com/office/drawing/2014/main" id="{02B7339C-A43B-4867-BBAA-1FA1051008D5}"/>
              </a:ext>
            </a:extLst>
          </p:cNvPr>
          <p:cNvSpPr>
            <a:spLocks xmlns:a="http://schemas.openxmlformats.org/drawingml/2006/main" noGrp="1"/>
          </p:cNvSpPr>
          <p:nvPr/>
        </p:nvSpPr>
        <p:spPr>
          <a:xfrm xmlns:a="http://schemas.openxmlformats.org/drawingml/2006/main">
            <a:off x="1524000" y="4857750"/>
            <a:ext cx="2667000" cy="904875"/>
          </a:xfrm>
          <a:prstGeom xmlns:a="http://schemas.openxmlformats.org/drawingml/2006/main" prst="rect">
            <a:avLst/>
          </a:prstGeom>
          <a:solidFill xmlns:a="http://schemas.openxmlformats.org/drawingml/2006/main">
            <a:srgbClr val="EAF7EF"/>
          </a:solidFill>
          <a:ln xmlns:a="http://schemas.openxmlformats.org/drawingml/2006/main" w="9525">
            <a:solidFill>
              <a:srgbClr val="E5E7EB"/>
            </a:solidFill>
            <a:prstDash val="solid"/>
          </a:ln>
        </p:spPr>
      </p:sp>
      <p:sp>
        <p:nvSpPr>
          <p:cNvPr id="31" name="a4-same-bar">
            <a:extLst xmlns:a="http://schemas.openxmlformats.org/drawingml/2006/main">
              <a:ext uri="{FF2B5EF4-FFF2-40B4-BE49-F238E27FC236}">
                <a16:creationId xmlns:a16="http://schemas.microsoft.com/office/drawing/2014/main" id="{176734D0-E290-4902-818D-EA4DAC7929F7}"/>
              </a:ext>
            </a:extLst>
          </p:cNvPr>
          <p:cNvSpPr>
            <a:spLocks xmlns:a="http://schemas.openxmlformats.org/drawingml/2006/main" noGrp="1"/>
          </p:cNvSpPr>
          <p:nvPr/>
        </p:nvSpPr>
        <p:spPr>
          <a:xfrm xmlns:a="http://schemas.openxmlformats.org/drawingml/2006/main">
            <a:off x="1524000" y="4857750"/>
            <a:ext cx="76200" cy="904875"/>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2" name="a4-same-title">
            <a:extLst xmlns:a="http://schemas.openxmlformats.org/drawingml/2006/main">
              <a:ext uri="{FF2B5EF4-FFF2-40B4-BE49-F238E27FC236}">
                <a16:creationId xmlns:a16="http://schemas.microsoft.com/office/drawing/2014/main" id="{3FF077DF-7BA3-46AC-BB71-6251224511E7}"/>
              </a:ext>
            </a:extLst>
          </p:cNvPr>
          <p:cNvSpPr>
            <a:spLocks xmlns:a="http://schemas.openxmlformats.org/drawingml/2006/main" noGrp="1"/>
          </p:cNvSpPr>
          <p:nvPr/>
        </p:nvSpPr>
        <p:spPr>
          <a:xfrm xmlns:a="http://schemas.openxmlformats.org/drawingml/2006/main">
            <a:off x="1714500" y="5000625"/>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5803D"/>
                </a:solidFill>
                <a:latin typeface="Arial"/>
                <a:ea typeface="Arial"/>
                <a:cs typeface="Arial"/>
              </a:defRPr>
            </a:pPr>
            <a:r>
              <a:rPr sz="1275" b="1">
                <a:solidFill>
                  <a:srgbClr val="15803D"/>
                </a:solidFill>
                <a:latin typeface="Arial"/>
                <a:ea typeface="Arial"/>
                <a:cs typeface="Arial"/>
              </a:rPr>
              <a:t>59 / 90</a:t>
            </a:r>
          </a:p>
        </p:txBody>
      </p:sp>
      <p:sp>
        <p:nvSpPr>
          <p:cNvPr id="33" name="a4-same-body">
            <a:extLst xmlns:a="http://schemas.openxmlformats.org/drawingml/2006/main">
              <a:ext uri="{FF2B5EF4-FFF2-40B4-BE49-F238E27FC236}">
                <a16:creationId xmlns:a16="http://schemas.microsoft.com/office/drawing/2014/main" id="{F11F7E1C-8744-492A-92A4-AC47DF3C1CB3}"/>
              </a:ext>
            </a:extLst>
          </p:cNvPr>
          <p:cNvSpPr>
            <a:spLocks xmlns:a="http://schemas.openxmlformats.org/drawingml/2006/main" noGrp="1"/>
          </p:cNvSpPr>
          <p:nvPr/>
        </p:nvSpPr>
        <p:spPr>
          <a:xfrm xmlns:a="http://schemas.openxmlformats.org/drawingml/2006/main">
            <a:off x="1714500" y="5343525"/>
            <a:ext cx="2343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same exact formula across labels</a:t>
            </a:r>
          </a:p>
        </p:txBody>
      </p:sp>
      <p:sp>
        <p:nvSpPr>
          <p:cNvPr id="34" name="a4-diff-bg">
            <a:extLst xmlns:a="http://schemas.openxmlformats.org/drawingml/2006/main">
              <a:ext uri="{FF2B5EF4-FFF2-40B4-BE49-F238E27FC236}">
                <a16:creationId xmlns:a16="http://schemas.microsoft.com/office/drawing/2014/main" id="{0DACE6B5-9BB3-4FFD-AF7B-E12D46054F11}"/>
              </a:ext>
            </a:extLst>
          </p:cNvPr>
          <p:cNvSpPr>
            <a:spLocks xmlns:a="http://schemas.openxmlformats.org/drawingml/2006/main" noGrp="1"/>
          </p:cNvSpPr>
          <p:nvPr/>
        </p:nvSpPr>
        <p:spPr>
          <a:xfrm xmlns:a="http://schemas.openxmlformats.org/drawingml/2006/main">
            <a:off x="4953000" y="4857750"/>
            <a:ext cx="2667000" cy="904875"/>
          </a:xfrm>
          <a:prstGeom xmlns:a="http://schemas.openxmlformats.org/drawingml/2006/main" prst="rect">
            <a:avLst/>
          </a:prstGeom>
          <a:solidFill xmlns:a="http://schemas.openxmlformats.org/drawingml/2006/main">
            <a:srgbClr val="FDECEC"/>
          </a:solidFill>
          <a:ln xmlns:a="http://schemas.openxmlformats.org/drawingml/2006/main" w="9525">
            <a:solidFill>
              <a:srgbClr val="E5E7EB"/>
            </a:solidFill>
            <a:prstDash val="solid"/>
          </a:ln>
        </p:spPr>
      </p:sp>
      <p:sp>
        <p:nvSpPr>
          <p:cNvPr id="35" name="a4-diff-bar">
            <a:extLst xmlns:a="http://schemas.openxmlformats.org/drawingml/2006/main">
              <a:ext uri="{FF2B5EF4-FFF2-40B4-BE49-F238E27FC236}">
                <a16:creationId xmlns:a16="http://schemas.microsoft.com/office/drawing/2014/main" id="{5D7F585D-B5E1-48FD-B60E-F6DC0E8CC49B}"/>
              </a:ext>
            </a:extLst>
          </p:cNvPr>
          <p:cNvSpPr>
            <a:spLocks xmlns:a="http://schemas.openxmlformats.org/drawingml/2006/main" noGrp="1"/>
          </p:cNvSpPr>
          <p:nvPr/>
        </p:nvSpPr>
        <p:spPr>
          <a:xfrm xmlns:a="http://schemas.openxmlformats.org/drawingml/2006/main">
            <a:off x="4953000" y="4857750"/>
            <a:ext cx="76200" cy="9048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6" name="a4-diff-title">
            <a:extLst xmlns:a="http://schemas.openxmlformats.org/drawingml/2006/main">
              <a:ext uri="{FF2B5EF4-FFF2-40B4-BE49-F238E27FC236}">
                <a16:creationId xmlns:a16="http://schemas.microsoft.com/office/drawing/2014/main" id="{EFD22A7E-BD1E-420A-A4BE-3F17571D2E1E}"/>
              </a:ext>
            </a:extLst>
          </p:cNvPr>
          <p:cNvSpPr>
            <a:spLocks xmlns:a="http://schemas.openxmlformats.org/drawingml/2006/main" noGrp="1"/>
          </p:cNvSpPr>
          <p:nvPr/>
        </p:nvSpPr>
        <p:spPr>
          <a:xfrm xmlns:a="http://schemas.openxmlformats.org/drawingml/2006/main">
            <a:off x="5143500" y="5000625"/>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A61B2B"/>
                </a:solidFill>
                <a:latin typeface="Arial"/>
                <a:ea typeface="Arial"/>
                <a:cs typeface="Arial"/>
              </a:defRPr>
            </a:pPr>
            <a:r>
              <a:rPr sz="1275" b="1">
                <a:solidFill>
                  <a:srgbClr val="A61B2B"/>
                </a:solidFill>
                <a:latin typeface="Arial"/>
                <a:ea typeface="Arial"/>
                <a:cs typeface="Arial"/>
              </a:rPr>
              <a:t>31 / 90</a:t>
            </a:r>
          </a:p>
        </p:txBody>
      </p:sp>
      <p:sp>
        <p:nvSpPr>
          <p:cNvPr id="37" name="a4-diff-body">
            <a:extLst xmlns:a="http://schemas.openxmlformats.org/drawingml/2006/main">
              <a:ext uri="{FF2B5EF4-FFF2-40B4-BE49-F238E27FC236}">
                <a16:creationId xmlns:a16="http://schemas.microsoft.com/office/drawing/2014/main" id="{876E66D2-4BC4-4BEA-916D-50913BBCD8ED}"/>
              </a:ext>
            </a:extLst>
          </p:cNvPr>
          <p:cNvSpPr>
            <a:spLocks xmlns:a="http://schemas.openxmlformats.org/drawingml/2006/main" noGrp="1"/>
          </p:cNvSpPr>
          <p:nvPr/>
        </p:nvSpPr>
        <p:spPr>
          <a:xfrm xmlns:a="http://schemas.openxmlformats.org/drawingml/2006/main">
            <a:off x="5143500" y="5343525"/>
            <a:ext cx="23431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different exact formulas across labels</a:t>
            </a:r>
          </a:p>
        </p:txBody>
      </p:sp>
    </p:spTree>
    <p:extLst>
      <p:ext uri="{BB962C8B-B14F-4D97-AF65-F5344CB8AC3E}">
        <p14:creationId xmlns:p14="http://schemas.microsoft.com/office/powerpoint/2010/main" val="19244058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4" name="bg-25">
            <a:extLst xmlns:a="http://schemas.openxmlformats.org/drawingml/2006/main">
              <a:ext uri="{FF2B5EF4-FFF2-40B4-BE49-F238E27FC236}">
                <a16:creationId xmlns:a16="http://schemas.microsoft.com/office/drawing/2014/main" id="{B7D91817-4976-48A5-B96F-ED8D58EE71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5">
            <a:extLst xmlns:a="http://schemas.openxmlformats.org/drawingml/2006/main">
              <a:ext uri="{FF2B5EF4-FFF2-40B4-BE49-F238E27FC236}">
                <a16:creationId xmlns:a16="http://schemas.microsoft.com/office/drawing/2014/main" id="{0E775C21-FF5B-4965-A51C-A049041AB848}"/>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A5</a:t>
            </a:r>
          </a:p>
        </p:txBody>
      </p:sp>
      <p:sp>
        <p:nvSpPr>
          <p:cNvPr id="3" name="terms-25">
            <a:extLst xmlns:a="http://schemas.openxmlformats.org/drawingml/2006/main">
              <a:ext uri="{FF2B5EF4-FFF2-40B4-BE49-F238E27FC236}">
                <a16:creationId xmlns:a16="http://schemas.microsoft.com/office/drawing/2014/main" id="{29DBDC0F-C7D6-4320-AF45-95C6E3BBBF76}"/>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inexpensive observable correlated with a target  ·  Validation: higher-fidelity matched evidence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Missing: no usable result exists; it must not be imputed by another method</a:t>
            </a:r>
          </a:p>
        </p:txBody>
      </p:sp>
      <p:sp>
        <p:nvSpPr>
          <p:cNvPr id="4" name="divider-25">
            <a:extLst xmlns:a="http://schemas.openxmlformats.org/drawingml/2006/main">
              <a:ext uri="{FF2B5EF4-FFF2-40B4-BE49-F238E27FC236}">
                <a16:creationId xmlns:a16="http://schemas.microsoft.com/office/drawing/2014/main" id="{FA58136B-78B6-45D3-AAB2-DAF8BF0780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5">
            <a:extLst xmlns:a="http://schemas.openxmlformats.org/drawingml/2006/main">
              <a:ext uri="{FF2B5EF4-FFF2-40B4-BE49-F238E27FC236}">
                <a16:creationId xmlns:a16="http://schemas.microsoft.com/office/drawing/2014/main" id="{FC87F59A-33F4-4EB3-97FB-0726BA4A68B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5">
            <a:extLst xmlns:a="http://schemas.openxmlformats.org/drawingml/2006/main">
              <a:ext uri="{FF2B5EF4-FFF2-40B4-BE49-F238E27FC236}">
                <a16:creationId xmlns:a16="http://schemas.microsoft.com/office/drawing/2014/main" id="{8BCFFF03-3DEF-4690-A1D9-C26A1CC8A12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Method boundaries used in this seminar</a:t>
            </a:r>
          </a:p>
        </p:txBody>
      </p:sp>
      <p:sp>
        <p:nvSpPr>
          <p:cNvPr id="7" name="bullet-dot-25-0">
            <a:extLst xmlns:a="http://schemas.openxmlformats.org/drawingml/2006/main">
              <a:ext uri="{FF2B5EF4-FFF2-40B4-BE49-F238E27FC236}">
                <a16:creationId xmlns:a16="http://schemas.microsoft.com/office/drawing/2014/main" id="{BF928B87-E377-4391-B4A3-0EC49F5D3DD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5-0">
            <a:extLst xmlns:a="http://schemas.openxmlformats.org/drawingml/2006/main">
              <a:ext uri="{FF2B5EF4-FFF2-40B4-BE49-F238E27FC236}">
                <a16:creationId xmlns:a16="http://schemas.microsoft.com/office/drawing/2014/main" id="{265AAB48-C963-42DE-9E2D-EC1A4504F14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Each method is named by the question it actually answers.</a:t>
            </a:r>
          </a:p>
        </p:txBody>
      </p:sp>
      <p:sp>
        <p:nvSpPr>
          <p:cNvPr id="9" name="bullet-dot-25-1">
            <a:extLst xmlns:a="http://schemas.openxmlformats.org/drawingml/2006/main">
              <a:ext uri="{FF2B5EF4-FFF2-40B4-BE49-F238E27FC236}">
                <a16:creationId xmlns:a16="http://schemas.microsoft.com/office/drawing/2014/main" id="{0B0658F5-D16B-45C0-864D-7042557F1DA5}"/>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5-1">
            <a:extLst xmlns:a="http://schemas.openxmlformats.org/drawingml/2006/main">
              <a:ext uri="{FF2B5EF4-FFF2-40B4-BE49-F238E27FC236}">
                <a16:creationId xmlns:a16="http://schemas.microsoft.com/office/drawing/2014/main" id="{EAB52A63-4B25-46F3-AA3F-BF213CA0D4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right-hand column lists the evidence still needed before a materials recommendation.</a:t>
            </a:r>
          </a:p>
        </p:txBody>
      </p:sp>
      <p:sp>
        <p:nvSpPr>
          <p:cNvPr id="11" name="citation-25">
            <a:extLst xmlns:a="http://schemas.openxmlformats.org/drawingml/2006/main">
              <a:ext uri="{FF2B5EF4-FFF2-40B4-BE49-F238E27FC236}">
                <a16:creationId xmlns:a16="http://schemas.microsoft.com/office/drawing/2014/main" id="{195A867C-6820-411D-96FB-F1E2B3D21EAB}"/>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Project method conventions</a:t>
            </a:r>
          </a:p>
        </p:txBody>
      </p:sp>
      <p:sp>
        <p:nvSpPr>
          <p:cNvPr id="12" name="footer-brand-25">
            <a:extLst xmlns:a="http://schemas.openxmlformats.org/drawingml/2006/main">
              <a:ext uri="{FF2B5EF4-FFF2-40B4-BE49-F238E27FC236}">
                <a16:creationId xmlns:a16="http://schemas.microsoft.com/office/drawing/2014/main" id="{AE0F7B6D-9D9D-423C-87E8-A9B6197F1C8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5">
            <a:extLst xmlns:a="http://schemas.openxmlformats.org/drawingml/2006/main">
              <a:ext uri="{FF2B5EF4-FFF2-40B4-BE49-F238E27FC236}">
                <a16:creationId xmlns:a16="http://schemas.microsoft.com/office/drawing/2014/main" id="{DD8700DD-2681-4D5E-9A5B-75F06345B08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5">
            <a:extLst xmlns:a="http://schemas.openxmlformats.org/drawingml/2006/main">
              <a:ext uri="{FF2B5EF4-FFF2-40B4-BE49-F238E27FC236}">
                <a16:creationId xmlns:a16="http://schemas.microsoft.com/office/drawing/2014/main" id="{5D885CDF-83EB-499A-9E57-09DCC250FE5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25</a:t>
            </a:r>
          </a:p>
        </p:txBody>
      </p:sp>
      <p:sp>
        <p:nvSpPr>
          <p:cNvPr id="15" name="a5-have-bg">
            <a:extLst xmlns:a="http://schemas.openxmlformats.org/drawingml/2006/main">
              <a:ext uri="{FF2B5EF4-FFF2-40B4-BE49-F238E27FC236}">
                <a16:creationId xmlns:a16="http://schemas.microsoft.com/office/drawing/2014/main" id="{9A340074-4F41-4993-9FCA-2E2F57E4FD76}"/>
              </a:ext>
            </a:extLst>
          </p:cNvPr>
          <p:cNvSpPr>
            <a:spLocks xmlns:a="http://schemas.openxmlformats.org/drawingml/2006/main" noGrp="1"/>
          </p:cNvSpPr>
          <p:nvPr/>
        </p:nvSpPr>
        <p:spPr>
          <a:xfrm xmlns:a="http://schemas.openxmlformats.org/drawingml/2006/main">
            <a:off x="809625" y="2381250"/>
            <a:ext cx="3524250" cy="3238500"/>
          </a:xfrm>
          <a:prstGeom xmlns:a="http://schemas.openxmlformats.org/drawingml/2006/main" prst="rect">
            <a:avLst/>
          </a:prstGeom>
          <a:solidFill xmlns:a="http://schemas.openxmlformats.org/drawingml/2006/main">
            <a:srgbClr val="EAF2F8"/>
          </a:solidFill>
          <a:ln xmlns:a="http://schemas.openxmlformats.org/drawingml/2006/main" w="9525">
            <a:solidFill>
              <a:srgbClr val="E5E7EB"/>
            </a:solidFill>
            <a:prstDash val="solid"/>
          </a:ln>
        </p:spPr>
      </p:sp>
      <p:sp>
        <p:nvSpPr>
          <p:cNvPr id="16" name="a5-have-bar">
            <a:extLst xmlns:a="http://schemas.openxmlformats.org/drawingml/2006/main">
              <a:ext uri="{FF2B5EF4-FFF2-40B4-BE49-F238E27FC236}">
                <a16:creationId xmlns:a16="http://schemas.microsoft.com/office/drawing/2014/main" id="{B6704604-CAA7-4E19-AD2A-9C12411BD24B}"/>
              </a:ext>
            </a:extLst>
          </p:cNvPr>
          <p:cNvSpPr>
            <a:spLocks xmlns:a="http://schemas.openxmlformats.org/drawingml/2006/main" noGrp="1"/>
          </p:cNvSpPr>
          <p:nvPr/>
        </p:nvSpPr>
        <p:spPr>
          <a:xfrm xmlns:a="http://schemas.openxmlformats.org/drawingml/2006/main">
            <a:off x="809625" y="2381250"/>
            <a:ext cx="76200" cy="32385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7" name="a5-have-title">
            <a:extLst xmlns:a="http://schemas.openxmlformats.org/drawingml/2006/main">
              <a:ext uri="{FF2B5EF4-FFF2-40B4-BE49-F238E27FC236}">
                <a16:creationId xmlns:a16="http://schemas.microsoft.com/office/drawing/2014/main" id="{2C4D47C1-0E15-465C-86D2-01886688D474}"/>
              </a:ext>
            </a:extLst>
          </p:cNvPr>
          <p:cNvSpPr>
            <a:spLocks xmlns:a="http://schemas.openxmlformats.org/drawingml/2006/main" noGrp="1"/>
          </p:cNvSpPr>
          <p:nvPr/>
        </p:nvSpPr>
        <p:spPr>
          <a:xfrm xmlns:a="http://schemas.openxmlformats.org/drawingml/2006/main">
            <a:off x="1000125" y="252412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1F4E79"/>
                </a:solidFill>
                <a:latin typeface="Arial"/>
                <a:ea typeface="Arial"/>
                <a:cs typeface="Arial"/>
              </a:defRPr>
            </a:pPr>
            <a:r>
              <a:rPr sz="1275" b="1">
                <a:solidFill>
                  <a:srgbClr val="1F4E79"/>
                </a:solidFill>
                <a:latin typeface="Arial"/>
                <a:ea typeface="Arial"/>
                <a:cs typeface="Arial"/>
              </a:rPr>
              <a:t>SCREENING EVIDENCE</a:t>
            </a:r>
          </a:p>
        </p:txBody>
      </p:sp>
      <p:sp>
        <p:nvSpPr>
          <p:cNvPr id="18" name="a5-have-body">
            <a:extLst xmlns:a="http://schemas.openxmlformats.org/drawingml/2006/main">
              <a:ext uri="{FF2B5EF4-FFF2-40B4-BE49-F238E27FC236}">
                <a16:creationId xmlns:a16="http://schemas.microsoft.com/office/drawing/2014/main" id="{10FE35BA-9A9E-4AED-8426-BBA8E01E98D8}"/>
              </a:ext>
            </a:extLst>
          </p:cNvPr>
          <p:cNvSpPr>
            <a:spLocks xmlns:a="http://schemas.openxmlformats.org/drawingml/2006/main" noGrp="1"/>
          </p:cNvSpPr>
          <p:nvPr/>
        </p:nvSpPr>
        <p:spPr>
          <a:xfrm xmlns:a="http://schemas.openxmlformats.org/drawingml/2006/main">
            <a:off x="1000125" y="2867025"/>
            <a:ext cx="320040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UMA relaxation</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structure triage</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Short anneal</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local-basin robustness</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Static bond-valence / 4 Å geometry</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pathway risk proxy</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EOS / elastic</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mechanical plausibility</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Grand potential</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 0 K bulk decomposition</a:t>
            </a:r>
          </a:p>
        </p:txBody>
      </p:sp>
      <p:sp>
        <p:nvSpPr>
          <p:cNvPr id="19" name="a5-need-bg">
            <a:extLst xmlns:a="http://schemas.openxmlformats.org/drawingml/2006/main">
              <a:ext uri="{FF2B5EF4-FFF2-40B4-BE49-F238E27FC236}">
                <a16:creationId xmlns:a16="http://schemas.microsoft.com/office/drawing/2014/main" id="{92EDED80-05DB-4696-9249-48D96A6A32E2}"/>
              </a:ext>
            </a:extLst>
          </p:cNvPr>
          <p:cNvSpPr>
            <a:spLocks xmlns:a="http://schemas.openxmlformats.org/drawingml/2006/main" noGrp="1"/>
          </p:cNvSpPr>
          <p:nvPr/>
        </p:nvSpPr>
        <p:spPr>
          <a:xfrm xmlns:a="http://schemas.openxmlformats.org/drawingml/2006/main">
            <a:off x="4810125" y="2381250"/>
            <a:ext cx="3524250" cy="3238500"/>
          </a:xfrm>
          <a:prstGeom xmlns:a="http://schemas.openxmlformats.org/drawingml/2006/main" prst="rect">
            <a:avLst/>
          </a:prstGeom>
          <a:solidFill xmlns:a="http://schemas.openxmlformats.org/drawingml/2006/main">
            <a:srgbClr val="FDECEC"/>
          </a:solidFill>
          <a:ln xmlns:a="http://schemas.openxmlformats.org/drawingml/2006/main" w="9525">
            <a:solidFill>
              <a:srgbClr val="E5E7EB"/>
            </a:solidFill>
            <a:prstDash val="solid"/>
          </a:ln>
        </p:spPr>
      </p:sp>
      <p:sp>
        <p:nvSpPr>
          <p:cNvPr id="20" name="a5-need-bar">
            <a:extLst xmlns:a="http://schemas.openxmlformats.org/drawingml/2006/main">
              <a:ext uri="{FF2B5EF4-FFF2-40B4-BE49-F238E27FC236}">
                <a16:creationId xmlns:a16="http://schemas.microsoft.com/office/drawing/2014/main" id="{227492E4-8AF5-4A1F-A9C9-2993150F3981}"/>
              </a:ext>
            </a:extLst>
          </p:cNvPr>
          <p:cNvSpPr>
            <a:spLocks xmlns:a="http://schemas.openxmlformats.org/drawingml/2006/main" noGrp="1"/>
          </p:cNvSpPr>
          <p:nvPr/>
        </p:nvSpPr>
        <p:spPr>
          <a:xfrm xmlns:a="http://schemas.openxmlformats.org/drawingml/2006/main">
            <a:off x="4810125" y="2381250"/>
            <a:ext cx="76200" cy="323850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1" name="a5-need-title">
            <a:extLst xmlns:a="http://schemas.openxmlformats.org/drawingml/2006/main">
              <a:ext uri="{FF2B5EF4-FFF2-40B4-BE49-F238E27FC236}">
                <a16:creationId xmlns:a16="http://schemas.microsoft.com/office/drawing/2014/main" id="{41415CB8-BCC5-4FD5-815E-D13E8B92AD15}"/>
              </a:ext>
            </a:extLst>
          </p:cNvPr>
          <p:cNvSpPr>
            <a:spLocks xmlns:a="http://schemas.openxmlformats.org/drawingml/2006/main" noGrp="1"/>
          </p:cNvSpPr>
          <p:nvPr/>
        </p:nvSpPr>
        <p:spPr>
          <a:xfrm xmlns:a="http://schemas.openxmlformats.org/drawingml/2006/main">
            <a:off x="5000625" y="252412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A61B2B"/>
                </a:solidFill>
                <a:latin typeface="Arial"/>
                <a:ea typeface="Arial"/>
                <a:cs typeface="Arial"/>
              </a:defRPr>
            </a:pPr>
            <a:r>
              <a:rPr sz="1275" b="1">
                <a:solidFill>
                  <a:srgbClr val="A61B2B"/>
                </a:solidFill>
                <a:latin typeface="Arial"/>
                <a:ea typeface="Arial"/>
                <a:cs typeface="Arial"/>
              </a:rPr>
              <a:t>VALIDATION EVIDENCE</a:t>
            </a:r>
          </a:p>
        </p:txBody>
      </p:sp>
      <p:sp>
        <p:nvSpPr>
          <p:cNvPr id="22" name="a5-need-body">
            <a:extLst xmlns:a="http://schemas.openxmlformats.org/drawingml/2006/main">
              <a:ext uri="{FF2B5EF4-FFF2-40B4-BE49-F238E27FC236}">
                <a16:creationId xmlns:a16="http://schemas.microsoft.com/office/drawing/2014/main" id="{47819DFD-16AE-463C-BD89-83DD17B7484C}"/>
              </a:ext>
            </a:extLst>
          </p:cNvPr>
          <p:cNvSpPr>
            <a:spLocks xmlns:a="http://schemas.openxmlformats.org/drawingml/2006/main" noGrp="1"/>
          </p:cNvSpPr>
          <p:nvPr/>
        </p:nvSpPr>
        <p:spPr>
          <a:xfrm xmlns:a="http://schemas.openxmlformats.org/drawingml/2006/main">
            <a:off x="5000625" y="2867025"/>
            <a:ext cx="320040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Matched DFT relaxation and energies</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Canonical softBV at real low loading</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Multiseed long MLIP-MD for D and σ</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Explicit relaxed interfaces and W_ad</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Same-cell single / pair controls</a:t>
            </a:r>
          </a:p>
          <a:p xmlns:a="http://schemas.openxmlformats.org/drawingml/2006/main">
            <a:r>
              <a:t/>
            </a:r>
          </a:p>
          <a:p xmlns:a="http://schemas.openxmlformats.org/drawingml/2006/main">
            <a:pPr>
              <a:lnSpc>
                <a:spcPct val="112000"/>
              </a:lnSpc>
              <a:buNone/>
              <a:defRPr sz="975">
                <a:solidFill>
                  <a:srgbClr val="1F2937"/>
                </a:solidFill>
                <a:latin typeface="Arial"/>
                <a:ea typeface="Arial"/>
                <a:cs typeface="Arial"/>
              </a:defRPr>
            </a:pPr>
            <a:r>
              <a:rPr sz="975">
                <a:solidFill>
                  <a:srgbClr val="1F2937"/>
                </a:solidFill>
                <a:latin typeface="Arial"/>
                <a:ea typeface="Arial"/>
                <a:cs typeface="Arial"/>
              </a:rPr>
              <a:t>Experiment at the final boundary</a:t>
            </a:r>
          </a:p>
        </p:txBody>
      </p:sp>
      <p:sp>
        <p:nvSpPr>
          <p:cNvPr id="23" name="a5-rule">
            <a:extLst xmlns:a="http://schemas.openxmlformats.org/drawingml/2006/main">
              <a:ext uri="{FF2B5EF4-FFF2-40B4-BE49-F238E27FC236}">
                <a16:creationId xmlns:a16="http://schemas.microsoft.com/office/drawing/2014/main" id="{92785413-BB56-49AA-8126-2EB1786C5150}"/>
              </a:ext>
            </a:extLst>
          </p:cNvPr>
          <p:cNvSpPr>
            <a:spLocks xmlns:a="http://schemas.openxmlformats.org/drawingml/2006/main" noGrp="1"/>
          </p:cNvSpPr>
          <p:nvPr/>
        </p:nvSpPr>
        <p:spPr>
          <a:xfrm xmlns:a="http://schemas.openxmlformats.org/drawingml/2006/main">
            <a:off x="2381250" y="59055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A61B2B"/>
                </a:solidFill>
                <a:latin typeface="Arial"/>
                <a:ea typeface="Arial"/>
                <a:cs typeface="Arial"/>
              </a:defRPr>
            </a:pPr>
            <a:r>
              <a:rPr sz="1275" b="1">
                <a:solidFill>
                  <a:srgbClr val="A61B2B"/>
                </a:solidFill>
                <a:latin typeface="Arial"/>
                <a:ea typeface="Arial"/>
                <a:cs typeface="Arial"/>
              </a:rPr>
              <a:t>A proxy may prioritize validation; it may not replace it.</a:t>
            </a:r>
          </a:p>
        </p:txBody>
      </p:sp>
    </p:spTree>
    <p:extLst>
      <p:ext uri="{BB962C8B-B14F-4D97-AF65-F5344CB8AC3E}">
        <p14:creationId xmlns:p14="http://schemas.microsoft.com/office/powerpoint/2010/main" val="19244058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