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12"/>
    <p:sldId id="257" r:id="rId13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1AFF1A"/>
    <a:srgbClr val="8080FF"/>
    <a:srgbClr val="FF8080"/>
    <a:srgbClr val="64C5FF"/>
    <a:srgbClr val="FDAAAA"/>
    <a:srgbClr val="0000FF"/>
    <a:srgbClr val="41B541"/>
    <a:srgbClr val="6AE76A"/>
    <a:srgbClr val="FBE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19F00-B1F4-48DC-B11E-F9F0ACB154A1}" v="110" dt="2026-03-03T06:11:15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9" autoAdjust="0"/>
    <p:restoredTop sz="95260" autoAdjust="0"/>
  </p:normalViewPr>
  <p:slideViewPr>
    <p:cSldViewPr showGuides="1">
      <p:cViewPr varScale="1">
        <p:scale>
          <a:sx n="80" d="100"/>
          <a:sy n="80" d="100"/>
        </p:scale>
        <p:origin x="1068" y="78"/>
      </p:cViewPr>
      <p:guideLst>
        <p:guide orient="horz" pos="89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8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r">
              <a:defRPr sz="1100"/>
            </a:lvl1pPr>
          </a:lstStyle>
          <a:p>
            <a:fld id="{785B0769-355D-4F7A-9BBB-FB4B4242278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8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r">
              <a:defRPr sz="1100"/>
            </a:lvl1pPr>
          </a:lstStyle>
          <a:p>
            <a:fld id="{6F53F785-4121-48C3-9976-6CF0E478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54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r">
              <a:defRPr sz="1100"/>
            </a:lvl1pPr>
          </a:lstStyle>
          <a:p>
            <a:fld id="{3C888668-3DAB-4CC6-8B29-40D6FCB1E1B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8" tIns="45501" rIns="90998" bIns="455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52"/>
            <a:ext cx="5438140" cy="3908860"/>
          </a:xfrm>
          <a:prstGeom prst="rect">
            <a:avLst/>
          </a:prstGeom>
        </p:spPr>
        <p:txBody>
          <a:bodyPr vert="horz" lIns="90998" tIns="45501" rIns="90998" bIns="455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r">
              <a:defRPr sz="1100"/>
            </a:lvl1pPr>
          </a:lstStyle>
          <a:p>
            <a:fld id="{C0D08264-4636-41C1-92C7-DB593C887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8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4E79-B82E-470C-9377-0AC7F4542FB2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/>
          <p:cNvSpPr txBox="1">
            <a:spLocks/>
          </p:cNvSpPr>
          <p:nvPr userDrawn="1"/>
        </p:nvSpPr>
        <p:spPr>
          <a:xfrm>
            <a:off x="8604448" y="6571815"/>
            <a:ext cx="432048" cy="19174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85439E-65BC-4904-94CE-9CE86FCE3B8A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바른돋움 1" pitchFamily="18" charset="-127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바른돋움 1" pitchFamily="18" charset="-127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FB8FCC-2F2C-42E2-A25B-47C1D550EB32}"/>
              </a:ext>
            </a:extLst>
          </p:cNvPr>
          <p:cNvCxnSpPr/>
          <p:nvPr userDrawn="1"/>
        </p:nvCxnSpPr>
        <p:spPr>
          <a:xfrm>
            <a:off x="386910" y="836712"/>
            <a:ext cx="8351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CBE823-65F2-459A-8192-8848CACE68B6}"/>
              </a:ext>
            </a:extLst>
          </p:cNvPr>
          <p:cNvSpPr/>
          <p:nvPr userDrawn="1"/>
        </p:nvSpPr>
        <p:spPr>
          <a:xfrm>
            <a:off x="1835696" y="6465849"/>
            <a:ext cx="146899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latinLnBrk="0"/>
            <a:r>
              <a:rPr lang="en-US" altLang="ko-KR" sz="1100" i="0" kern="0" spc="-3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Materials Lab.</a:t>
            </a:r>
            <a:endParaRPr kumimoji="0" lang="ko-KR" altLang="en-US" sz="1400" i="0" u="none" strike="noStrike" kern="0" cap="none" spc="-30" normalizeH="0" baseline="0" noProof="0" dirty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DFA539-8737-C042-478D-D3B5D9943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106678" y="6372426"/>
            <a:ext cx="1683211" cy="4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44E79-B82E-470C-9377-0AC7F4542FB2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6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2400" b="1">
                <a:solidFill>
                  <a:srgbClr val="1F4E9C"/>
                </a:solidFill>
                <a:latin typeface="Arial"/>
                <a:ea typeface="맑은 고딕"/>
              </a:rPr>
              <a:t>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457200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Calibri"/>
                <a:ea typeface="맑은 고딕"/>
              </a:rPr>
              <a:t>BVS: 가상 Li 위치 결합가 (이상≈1, 편차=환경 차이)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321040" cy="45720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  <a:ea typeface="맑은 고딕"/>
              </a:rPr>
              <a:t>■ </a:t>
            </a:r>
            <a:r>
              <a:rPr sz="1700" b="1">
                <a:solidFill>
                  <a:srgbClr val="202020"/>
                </a:solidFill>
                <a:latin typeface="Calibri"/>
                <a:ea typeface="맑은 고딕"/>
              </a:rPr>
              <a:t>BVSE — anti-site Cl이 Li 환경을 둘로 쪼갬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150" b="0">
                <a:solidFill>
                  <a:srgbClr val="202020"/>
                </a:solidFill>
                <a:latin typeface="Calibri"/>
                <a:ea typeface="맑은 고딕"/>
              </a:rPr>
              <a:t>LPSCl은 단일 분포 · </a:t>
            </a:r>
            <a:r>
              <a:rPr sz="1150" b="1">
                <a:solidFill>
                  <a:srgbClr val="1F6FC4"/>
                </a:solidFill>
                <a:latin typeface="Calibri"/>
                <a:ea typeface="맑은 고딕"/>
              </a:rPr>
              <a:t>LPSCl1.6은 bimodal</a:t>
            </a:r>
            <a:r>
              <a:rPr sz="1150" b="0">
                <a:solidFill>
                  <a:srgbClr val="202020"/>
                </a:solidFill>
                <a:latin typeface="Calibri"/>
                <a:ea typeface="맑은 고딕"/>
              </a:rPr>
              <a:t> — anti-site Cl 인접 Li가 BVS +15% shift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65960"/>
          <a:ext cx="4343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731520"/>
                <a:gridCol w="105156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System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share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BVS peak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environment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LPSCl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100%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Calibri"/>
                          <a:ea typeface="맑은 고딕"/>
                        </a:rPr>
                        <a:t>1.60–1.64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ordered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LPSCl1.6 (A)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39.8%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Calibri"/>
                          <a:ea typeface="맑은 고딕"/>
                        </a:rPr>
                        <a:t>1.60–1.64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LPSCl-like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LPSCl1.6 (B)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60.2%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6FC4"/>
                          </a:solidFill>
                          <a:latin typeface="Calibri"/>
                          <a:ea typeface="맑은 고딕"/>
                        </a:rPr>
                        <a:t>1.83–1.89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anti-site 인접 +15%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92040" y="1965960"/>
            <a:ext cx="3931920" cy="182880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• bimodal: 60.2%가 anti-site Cl 인접 (+15%)</a:t>
            </a:r>
          </a:p>
          <a:p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• 5.4 Li / anti-site = Li–Cl 배위수 일치 (closure)</a:t>
            </a:r>
          </a:p>
          <a:p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• BVSE +15% ↔ ICOHP +40% — 2 probe 교차검증</a:t>
            </a:r>
          </a:p>
        </p:txBody>
      </p:sp>
      <p:pic>
        <p:nvPicPr>
          <p:cNvPr id="8" name="Picture 7" descr="bvse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96512"/>
            <a:ext cx="3840480" cy="1948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533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ctr"/>
            <a:r>
              <a:rPr sz="850" b="0">
                <a:solidFill>
                  <a:srgbClr val="707070"/>
                </a:solidFill>
                <a:latin typeface="Calibri"/>
                <a:ea typeface="맑은 고딕"/>
              </a:rPr>
              <a:t>Li channels (BVSE≤0.30): 8.75% → 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160520"/>
            <a:ext cx="4069080" cy="1691640"/>
          </a:xfrm>
          <a:prstGeom prst="rect">
            <a:avLst/>
          </a:prstGeom>
          <a:solidFill>
            <a:srgbClr val="FFF6EC"/>
          </a:solidFill>
          <a:ln w="9525">
            <a:solidFill>
              <a:srgbClr val="E0B080"/>
            </a:solidFill>
          </a:ln>
        </p:spPr>
        <p:txBody>
          <a:bodyPr wrap="square" lIns="36576" rIns="36576" tIns="18288" bIns="0">
            <a:spAutoFit/>
          </a:bodyPr>
          <a:lstStyle/>
          <a:p>
            <a:r>
              <a:rPr sz="1000" b="1">
                <a:solidFill>
                  <a:srgbClr val="202020"/>
                </a:solidFill>
                <a:latin typeface="Calibri"/>
                <a:ea typeface="맑은 고딕"/>
              </a:rPr>
              <a:t>※ 정적 BVSE는 Li </a:t>
            </a:r>
            <a:r>
              <a:rPr sz="1000" b="1">
                <a:solidFill>
                  <a:srgbClr val="C00000"/>
                </a:solidFill>
                <a:latin typeface="Calibri"/>
                <a:ea typeface="맑은 고딕"/>
              </a:rPr>
              <a:t>공공(carrier) 무시</a:t>
            </a:r>
          </a:p>
          <a:p>
            <a:r>
              <a:rPr sz="1000" b="0">
                <a:solidFill>
                  <a:srgbClr val="202020"/>
                </a:solidFill>
                <a:latin typeface="Calibri"/>
                <a:ea typeface="맑은 고딕"/>
              </a:rPr>
              <a:t>→ 채널 −15%는 정적 한계, σ(×4)와 모순 아님.</a:t>
            </a:r>
          </a:p>
          <a:p>
            <a:r>
              <a:rPr sz="1000" b="0">
                <a:solidFill>
                  <a:srgbClr val="202020"/>
                </a:solidFill>
                <a:latin typeface="Calibri"/>
                <a:ea typeface="맑은 고딕"/>
              </a:rPr>
              <a:t>그 공공이 </a:t>
            </a:r>
            <a:r>
              <a:rPr sz="1000" b="1">
                <a:solidFill>
                  <a:srgbClr val="1F6FC4"/>
                </a:solidFill>
                <a:latin typeface="Calibri"/>
                <a:ea typeface="맑은 고딕"/>
              </a:rPr>
              <a:t>AIMD ×4 가속(D₀↑)</a:t>
            </a:r>
            <a:r>
              <a:rPr sz="1000" b="0">
                <a:solidFill>
                  <a:srgbClr val="202020"/>
                </a:solidFill>
                <a:latin typeface="Calibri"/>
                <a:ea typeface="맑은 고딕"/>
              </a:rPr>
              <a:t>의 동력.</a:t>
            </a:r>
          </a:p>
          <a:p>
            <a:r>
              <a:rPr sz="950" b="0">
                <a:solidFill>
                  <a:srgbClr val="707070"/>
                </a:solidFill>
                <a:latin typeface="Calibri"/>
                <a:ea typeface="맑은 고딕"/>
              </a:rPr>
              <a:t>핵심 = </a:t>
            </a:r>
            <a:r>
              <a:rPr sz="950" b="1">
                <a:solidFill>
                  <a:srgbClr val="1A5C1A"/>
                </a:solidFill>
                <a:latin typeface="Calibri"/>
                <a:ea typeface="맑은 고딕"/>
              </a:rPr>
              <a:t>anti-site 구조의 다중 probe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2400" b="1">
                <a:solidFill>
                  <a:srgbClr val="1F4E9C"/>
                </a:solidFill>
                <a:latin typeface="Arial"/>
                <a:ea typeface="맑은 고딕"/>
              </a:rPr>
              <a:t>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457200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Calibri"/>
                <a:ea typeface="맑은 고딕"/>
              </a:rPr>
              <a:t>ELF: 0=자유전자, 1=국재 (&gt;0.7 공유결합, &lt;0.1 이온결핍)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321040" cy="45720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  <a:ea typeface="맑은 고딕"/>
              </a:rPr>
              <a:t>■ </a:t>
            </a:r>
            <a:r>
              <a:rPr sz="1700" b="1">
                <a:solidFill>
                  <a:srgbClr val="202020"/>
                </a:solidFill>
                <a:latin typeface="Calibri"/>
                <a:ea typeface="맑은 고딕"/>
              </a:rPr>
              <a:t>ELF — 공유 백본 불변 + 이온 접착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150" b="0">
                <a:solidFill>
                  <a:srgbClr val="202020"/>
                </a:solidFill>
                <a:latin typeface="Calibri"/>
                <a:ea typeface="맑은 고딕"/>
              </a:rPr>
              <a:t>PS₄ 공유 백본 </a:t>
            </a:r>
            <a:r>
              <a:rPr sz="1150" b="1">
                <a:solidFill>
                  <a:srgbClr val="1F6FC4"/>
                </a:solidFill>
                <a:latin typeface="Calibri"/>
                <a:ea typeface="맑은 고딕"/>
              </a:rPr>
              <a:t>불변(0.946/0.944)</a:t>
            </a:r>
            <a:r>
              <a:rPr sz="1150" b="0">
                <a:solidFill>
                  <a:srgbClr val="202020"/>
                </a:solidFill>
                <a:latin typeface="Calibri"/>
                <a:ea typeface="맑은 고딕"/>
              </a:rPr>
              <a:t> · Li는 이온(basin&lt;0.1), LPSCl1.6이 약간 더 이온성</a:t>
            </a:r>
          </a:p>
        </p:txBody>
      </p:sp>
      <p:pic>
        <p:nvPicPr>
          <p:cNvPr id="6" name="Picture 5" descr="elf_com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0"/>
            <a:ext cx="2148840" cy="1910893"/>
          </a:xfrm>
          <a:prstGeom prst="rect">
            <a:avLst/>
          </a:prstGeom>
        </p:spPr>
      </p:pic>
      <p:pic>
        <p:nvPicPr>
          <p:cNvPr id="7" name="Picture 6" descr="elf_mode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057400"/>
            <a:ext cx="2148840" cy="19108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97763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  <a:ea typeface="맑은 고딕"/>
              </a:rPr>
              <a:t>LPSCl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97763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  <a:ea typeface="맑은 고딕"/>
              </a:rPr>
              <a:t>LPSCl1.6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42816"/>
            <a:ext cx="4389120" cy="27432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pPr algn="ctr"/>
            <a:r>
              <a:rPr sz="900" b="0">
                <a:solidFill>
                  <a:srgbClr val="707070"/>
                </a:solidFill>
                <a:latin typeface="Calibri"/>
                <a:ea typeface="맑은 고딕"/>
              </a:rPr>
              <a:t>ELF slice through a PS₄ plane (0–1)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46320" y="2103120"/>
          <a:ext cx="39776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22960"/>
                <a:gridCol w="86868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probe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LPSCl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LPSCl1.6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의미</a:t>
                      </a:r>
                    </a:p>
                  </a:txBody>
                  <a:tcPr marL="45720" marT="0" marB="0" anchor="ctr">
                    <a:solidFill>
                      <a:srgbClr val="D6E4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P–S 중점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0.946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0.944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공유 동일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Li basin 바닥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0.072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0.065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이온결핍</a:t>
                      </a:r>
                    </a:p>
                  </a:txBody>
                  <a:tcPr marL="4572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Li→음이온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0.07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6FC4"/>
                          </a:solidFill>
                          <a:latin typeface="Calibri"/>
                          <a:ea typeface="맑은 고딕"/>
                        </a:rPr>
                        <a:t>0.04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  <a:ea typeface="맑은 고딕"/>
                        </a:rPr>
                        <a:t>더 이온성</a:t>
                      </a:r>
                    </a:p>
                  </a:txBody>
                  <a:tcPr marL="45720" marT="0" marB="0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46320" y="3657600"/>
            <a:ext cx="3977639" cy="118872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→ 공유 PS₄ 백본은 </a:t>
            </a:r>
            <a:r>
              <a:rPr sz="1100" b="1">
                <a:solidFill>
                  <a:srgbClr val="202020"/>
                </a:solidFill>
                <a:latin typeface="Calibri"/>
                <a:ea typeface="맑은 고딕"/>
              </a:rPr>
              <a:t>손대지 않고</a:t>
            </a:r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 이온측(Li–음이온)만 약간 강화.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= 기계적성질(stiffness)의 </a:t>
            </a:r>
            <a:r>
              <a:rPr sz="1100" b="1">
                <a:solidFill>
                  <a:srgbClr val="1A5C1A"/>
                </a:solidFill>
                <a:latin typeface="Calibri"/>
                <a:ea typeface="맑은 고딕"/>
              </a:rPr>
              <a:t>미시 근거</a:t>
            </a:r>
            <a:r>
              <a:rPr sz="1100" b="0">
                <a:solidFill>
                  <a:srgbClr val="202020"/>
                </a:solidFill>
                <a:latin typeface="Calibri"/>
                <a:ea typeface="맑은 고딕"/>
              </a:rPr>
              <a:t> (ICOHP와 일치).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8229600" cy="457200"/>
          </a:xfrm>
          <a:prstGeom prst="rect">
            <a:avLst/>
          </a:prstGeom>
          <a:noFill/>
        </p:spPr>
        <p:txBody>
          <a:bodyPr wrap="square" lIns="36576" rIns="36576" tIns="18288" bIns="0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Calibri"/>
                <a:ea typeface="맑은 고딕"/>
              </a:rPr>
              <a:t>5개 독립 probe(ELF·ICOHP·Bader·결합길이·BVSE)가 한 그림: </a:t>
            </a:r>
            <a:r>
              <a:rPr sz="1000" b="1">
                <a:solidFill>
                  <a:srgbClr val="202020"/>
                </a:solidFill>
                <a:latin typeface="Calibri"/>
                <a:ea typeface="맑은 고딕"/>
              </a:rPr>
              <a:t>PS₄ 불변 + 이온결합 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AFE5361305704485C7D500A4632ABE" ma:contentTypeVersion="11" ma:contentTypeDescription="새 문서를 만듭니다." ma:contentTypeScope="" ma:versionID="ee2f9e464ea0d9b90a4fba868166d8d5">
  <xsd:schema xmlns:xsd="http://www.w3.org/2001/XMLSchema" xmlns:xs="http://www.w3.org/2001/XMLSchema" xmlns:p="http://schemas.microsoft.com/office/2006/metadata/properties" xmlns:ns3="8618cbce-88c9-49f3-9f20-59c1fddbfdd1" targetNamespace="http://schemas.microsoft.com/office/2006/metadata/properties" ma:root="true" ma:fieldsID="d2e4f78982f91351a718f3a14bdce4a6" ns3:_="">
    <xsd:import namespace="8618cbce-88c9-49f3-9f20-59c1fddbf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8cbce-88c9-49f3-9f20-59c1fddbf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2DA5A3-25CB-4F0F-8A4E-1A578D020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8cbce-88c9-49f3-9f20-59c1fddbf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A4CB31-0D99-4B37-8F6C-83B70069D72B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8618cbce-88c9-49f3-9f20-59c1fddbfdd1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F27F94D-CF2A-433F-BFD9-BDAC2A5C0A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46816</TotalTime>
  <Words>2822</Words>
  <Application>Microsoft Office PowerPoint</Application>
  <PresentationFormat>화면 슬라이드 쇼(4:3)</PresentationFormat>
  <Paragraphs>532</Paragraphs>
  <Slides>17</Slides>
  <Notes>16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callibri</vt:lpstr>
      <vt:lpstr>Arial</vt:lpstr>
      <vt:lpstr>Calibri</vt:lpstr>
      <vt:lpstr>Cambria Math</vt:lpstr>
      <vt:lpstr>Wingdings</vt:lpstr>
      <vt:lpstr>맑은 고딕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안용훈</cp:lastModifiedBy>
  <cp:revision>3191</cp:revision>
  <cp:lastPrinted>2026-06-12T05:34:39Z</cp:lastPrinted>
  <dcterms:created xsi:type="dcterms:W3CDTF">2013-09-11T08:33:43Z</dcterms:created>
  <dcterms:modified xsi:type="dcterms:W3CDTF">2026-06-18T03:14:23Z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0x010100A6AFE5361305704485C7D500A4632ABE</vt:lpwstr>
  </property>
</Properties>
</file>