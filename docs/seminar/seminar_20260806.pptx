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4E79"/>
                </a:solidFill>
                <a:latin typeface="Arial"/>
              </a:rPr>
              <a:t>Porosity vs large:small AM ratio (AM:SE = 80:20)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  (SE D1)</c:v>
                </c:pt>
              </c:strCache>
            </c:strRef>
          </c:tx>
          <c:spPr>
            <a:solidFill>
              <a:srgbClr val="1F4E79"/>
            </a:solidFill>
            <a:ln w="25400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 only</c:v>
                  </c:pt>
                  <c:pt idx="1">
                    <c:v>3:7</c:v>
                  </c:pt>
                  <c:pt idx="2">
                    <c:v>5:5</c:v>
                  </c:pt>
                  <c:pt idx="3">
                    <c:v>7:3</c:v>
                  </c:pt>
                  <c:pt idx="4">
                    <c:v>P only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18.9</c:v>
                </c:pt>
                <c:pt idx="1">
                  <c:v>15.8</c:v>
                </c:pt>
                <c:pt idx="2">
                  <c:v>15</c:v>
                </c:pt>
                <c:pt idx="3">
                  <c:v>14.3</c:v>
                </c:pt>
                <c:pt idx="4">
                  <c:v>16.2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DEM  (SE D3)</c:v>
                </c:pt>
              </c:strCache>
            </c:strRef>
          </c:tx>
          <c:spPr>
            <a:solidFill>
              <a:srgbClr val="2E74B5"/>
            </a:solidFill>
            <a:ln w="25400" cap="flat">
              <a:solidFill>
                <a:srgbClr val="2E74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4B5"/>
              </a:solidFill>
              <a:ln w="9525" cap="flat">
                <a:solidFill>
                  <a:srgbClr val="2E74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 only</c:v>
                  </c:pt>
                  <c:pt idx="1">
                    <c:v>3:7</c:v>
                  </c:pt>
                  <c:pt idx="2">
                    <c:v>5:5</c:v>
                  </c:pt>
                  <c:pt idx="3">
                    <c:v>7:3</c:v>
                  </c:pt>
                  <c:pt idx="4">
                    <c:v>P only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20.9</c:v>
                </c:pt>
                <c:pt idx="1">
                  <c:v>17.2</c:v>
                </c:pt>
                <c:pt idx="2">
                  <c:v>15.9</c:v>
                </c:pt>
                <c:pt idx="3">
                  <c:v>14.4</c:v>
                </c:pt>
                <c:pt idx="4">
                  <c:v>16.2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Experiment</c:v>
                </c:pt>
              </c:strCache>
            </c:strRef>
          </c:tx>
          <c:spPr>
            <a:solidFill>
              <a:srgbClr val="C00000"/>
            </a:solidFill>
            <a:ln w="25400" cap="flat">
              <a:solidFill>
                <a:srgbClr val="C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0000"/>
              </a:solidFill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 only</c:v>
                  </c:pt>
                  <c:pt idx="1">
                    <c:v>3:7</c:v>
                  </c:pt>
                  <c:pt idx="2">
                    <c:v>5:5</c:v>
                  </c:pt>
                  <c:pt idx="3">
                    <c:v>7:3</c:v>
                  </c:pt>
                  <c:pt idx="4">
                    <c:v>P only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23.9</c:v>
                </c:pt>
                <c:pt idx="1">
                  <c:v>21.3</c:v>
                </c:pt>
                <c:pt idx="2">
                  <c:v>20.3</c:v>
                </c:pt>
                <c:pt idx="3">
                  <c:v>19.8</c:v>
                </c:pt>
                <c:pt idx="4">
                  <c:v>25.4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Porosity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4E79"/>
                </a:solidFill>
                <a:latin typeface="Arial"/>
              </a:rPr>
              <a:t>Which functional form can represent κ?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LOOCV</c:v>
                </c:pt>
              </c:strCache>
            </c:strRef>
          </c:tx>
          <c:spPr>
            <a:solidFill>
              <a:srgbClr val="2E74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A. pure power law</c:v>
                  </c:pt>
                  <c:pt idx="1">
                    <c:v>B. Bruggeman EMT</c:v>
                  </c:pt>
                  <c:pt idx="2">
                    <c:v>C. Ridge (14 features)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0.59</c:v>
                </c:pt>
                <c:pt idx="1">
                  <c:v>0</c:v>
                </c:pt>
                <c:pt idx="2">
                  <c:v>0.9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4E79"/>
                </a:solidFill>
                <a:latin typeface="Arial"/>
              </a:rPr>
              <a:t>Decomposition of the 4.7 mV polarization gap (mV)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to the 4.7 mV gap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reaction area +18%</c:v>
                  </c:pt>
                  <c:pt idx="1">
                    <c:v>ionic σ +5.6%</c:v>
                  </c:pt>
                  <c:pt idx="2">
                    <c:v>electronic σ +52%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3.6</c:v>
                </c:pt>
                <c:pt idx="1">
                  <c:v>1</c:v>
                </c:pt>
                <c:pt idx="2">
                  <c:v>0.002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050" b="0" i="0" u="none" strike="noStrike">
                <a:solidFill>
                  <a:srgbClr val="1F4E79"/>
                </a:solidFill>
                <a:latin typeface="Arial"/>
              </a:rPr>
              <a:t>Gain rises while the additive’s share of dissipation falls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σ_e gain vs SBE (%)</c:v>
                </c:pt>
              </c:strCache>
            </c:strRef>
          </c:tx>
          <c:spPr>
            <a:solidFill>
              <a:srgbClr val="1F4E79"/>
            </a:solidFill>
            <a:ln w="31750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15</c:v>
                  </c:pt>
                  <c:pt idx="1">
                    <c:v>50</c:v>
                  </c:pt>
                  <c:pt idx="2">
                    <c:v>150</c:v>
                  </c:pt>
                  <c:pt idx="3">
                    <c:v>250</c:v>
                  </c:pt>
                  <c:pt idx="4">
                    <c:v>1500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</c:v>
                </c:pt>
                <c:pt idx="1">
                  <c:v>25.8</c:v>
                </c:pt>
                <c:pt idx="2">
                  <c:v>45.5</c:v>
                </c:pt>
                <c:pt idx="3">
                  <c:v>52</c:v>
                </c:pt>
                <c:pt idx="4">
                  <c:v>63.4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SDCP dissipation share (%)</c:v>
                </c:pt>
              </c:strCache>
            </c:strRef>
          </c:tx>
          <c:spPr>
            <a:solidFill>
              <a:srgbClr val="C00000"/>
            </a:solidFill>
            <a:ln w="31750" cap="flat">
              <a:solidFill>
                <a:srgbClr val="C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00000"/>
              </a:solidFill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15</c:v>
                  </c:pt>
                  <c:pt idx="1">
                    <c:v>50</c:v>
                  </c:pt>
                  <c:pt idx="2">
                    <c:v>150</c:v>
                  </c:pt>
                  <c:pt idx="3">
                    <c:v>250</c:v>
                  </c:pt>
                  <c:pt idx="4">
                    <c:v>1500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19.6</c:v>
                </c:pt>
                <c:pt idx="1">
                  <c:v>16.3</c:v>
                </c:pt>
                <c:pt idx="2">
                  <c:v>10</c:v>
                </c:pt>
                <c:pt idx="3">
                  <c:v>7.3</c:v>
                </c:pt>
                <c:pt idx="4">
                  <c:v>1.7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assumed σ_SDCP (S/cm)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050" b="0" i="0" u="none" strike="noStrike">
                <a:solidFill>
                  <a:srgbClr val="1F4E79"/>
                </a:solidFill>
                <a:latin typeface="Arial"/>
              </a:rPr>
              <a:t>One geometric descriptor collapses the composition effect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sigma at phi = 0.72</c:v>
                </c:pt>
              </c:strCache>
            </c:strRef>
          </c:tx>
          <c:spPr>
            <a:solidFill>
              <a:srgbClr val="1F4E79"/>
            </a:solidFill>
            <a:ln w="31750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501</c:v>
                  </c:pt>
                  <c:pt idx="1">
                    <c:v>620</c:v>
                  </c:pt>
                  <c:pt idx="2">
                    <c:v>745</c:v>
                  </c:pt>
                  <c:pt idx="3">
                    <c:v>916</c:v>
                  </c:pt>
                  <c:pt idx="4">
                    <c:v>1458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0.7001</c:v>
                </c:pt>
                <c:pt idx="1">
                  <c:v>0.5457</c:v>
                </c:pt>
                <c:pt idx="2">
                  <c:v>0.4921</c:v>
                </c:pt>
                <c:pt idx="3">
                  <c:v>0.4671</c:v>
                </c:pt>
                <c:pt idx="4">
                  <c:v>0.3743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62626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channel width  d_h = V_free / S_AM  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sigma (GPa)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직전 발표(2026-04)는 DEM + DFT 에서 끝났습니다. 오늘은 그 뒤 4개월에 붙은 것 — 소성 압밀, 3D 전도, 전기화학, 사이클 열화, ML — 을 결과 중심으로 보고합니다.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청중이 잡아야 할 것 하나: 고체에서는 눌러 붙인 자리만 이온이 지나간다. 그래서 미세구조가 전부입니다.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EIS 는 저항을 하나의 숫자로 줍니다. 그 숫자가 어느 접촉에서 왔는지는 못 줍니다. 그걸 나누는 게 이 파이프라인이 하는 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 과 MPM 을 처음 듣는 분을 위한 슬라이드입니다. 핵심은 "둘 중 뭐가 낫냐"가 아니라 "둘이 서로 다른 절반을 담당한다"입니다.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1순위가 "결국 실험에 맞춘 거 아니냐"입니다. 답: 보정점은 딱 하나이고, 그 뒤는 전부 예측입니다. 그리고 두 모델은 서로를 절대 안 맞춥니다.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"반쪽셀인데 왜?"라는 질문에 대한 선제 답입니다. 단일이온 전도체에서는 농도 분극 항이 물리적으로 존재하지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이 발표의 신뢰 기반입니다. 서로 본 적 없는 두 모델이 만났고, 격자를 조여도 안 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"MPM 에 dip 이 없으면 MPM 이 틀린 것 아니냐"는 질문이 옵니다. 답: 표현 범위 밖이라는 뜻입니다. 연속체에는 "공"이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COMSOL 로 하면 되지 않냐는 질문의 답이 여기 있습니다. 저항망 ≈ FEM ≈ 실험이 남의 논문으로 입증됐고, 우리는 32-98배 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강조할 것: 5개 지수를 우리가 맞춘 게 아니라 문헌에서 가져와 고정했고, 코퍼스가 그 값을 독립적으로 골라냈다는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"왜 열만 회귀냐, 일관성이 없다"는 질문이 옵니다. 답: 그게 결과입니다. 단일 골격이 아니라서 원리적으로 스케일링이 안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"σ_e 를 52% 올렸는데 0.002 mV 라고?"라는 질문이 반드시 옵니다. 답: 직렬 저항에서는 작은 쪽이 지배합니다. 전자망은 이미 병목이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σ_SDCP 250 은 측정값이 아니라 assumed 입니다. 그래서 값 하나로 결론을 내지 않고 5점을 스윕했고, 결론 두 가지가 모두 값에 안 걸립니다.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열화의 98 % 가 화학이라는 것이 결론입니다. 접촉 2 % 는 반드시 "하한"이라고 말해야 합니다 — OTHER 가 모델 밖에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Q: "전이가 기각됐으면 지금까지 결과가 다 틀린 것 아니냐" — 아닙니다. 기각된 것은 곡선을 다른 전극에 옮기는 것이고, 각 전극에서 직접 계산한 값은 무관합니다.
4번은 제 사전 예상이 부호부터 틀렸던 경우입니다 — 미해상이면 뻣뻣해질 줄 알았는데 실제로는 협착이 격자에서 사라져 오히려 무릅니다.
Q: "그럼 지수 −0.66 이 참값이냐" — 아닙니다. 세 격자의 증분이 +0.170, +0.163 로 거의 안 줄어 겉보기 수렴차수가 0.10 입니다. 즉 아직 수렴 전이고, 하한으로만 보고합니다. 완전 해상하려면 n_grid ~900 이 필요한데 384 조차 35 GB 로 V100 을 넘습니다.
Q: "그럼 기준곡선도 못 믿는 것 아니냐" — 아닙니다. 민감도는 채널당 셀 수의 함수이고, 기준곡선은 3.56~5.41 셀에서 쟀습니다. 그 밴드에서는 2.25배 정밀화에 4 % 만 움직입니다.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문장이 이 발표의 결론입니다.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0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Seminar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3619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Particle-Resolved Simulation of All-Solid-State Cathodes: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Powder Packing to Cycle Life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24871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Yonghoon 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2880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of Materials Science &amp; Engineering, Hanyang University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(E-mail : yonghoon71@hanyang.ac.kr)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" y="3794760"/>
            <a:ext cx="292608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HANYANG UNIVERSITY  ·  Battery Materials Lab.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8375904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0" y="76809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Electrochem. Soc. 168 (2021) 040537 · Sci. Rep. 3 (2013) 2261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4048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all-solid-state cathode, performance is decided by microstructure</a:t>
            </a:r>
            <a:endParaRPr lang="en-US" sz="14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liquid cell the electrolyte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soaks every particle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In a solid cell, Li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passes only where powders were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pressed into contact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Cathode = active material (AM, NCM811) + solid electrolyte (SE, Li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Cl) powders, cold-pressed at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MPa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What decides performance is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chemical formula but the microstructure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porosity, where particles touch, and how ions/electrons flow through those contacts.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886200" cy="1874520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21792" y="2194560"/>
            <a:ext cx="373989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[Fig] liquid cell (fully wetted) vs solid cell (contact points only)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이 덱에서 가장 중요한 그림 — 새로 그려야 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2194560"/>
            <a:ext cx="3886200" cy="1874520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782312" y="2194560"/>
            <a:ext cx="373989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[Fig] cold-pressed composite cathode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 (SEM)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4224528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EAF1F8"/>
          </a:solidFill>
          <a:ln w="9525">
            <a:solidFill>
              <a:srgbClr val="2E74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composition, different pressing → different performance.  To see "how", we must look inside.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8375904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0" y="76809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Minnmann et al., J. Electrochem. Soc. 168 (2021) 040537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4048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cannot see inside — so we rebuild the electrode in a computer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8138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gives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CANNOT give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/ EDS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 of one cut cross-section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3-D connectivity; where current actually flows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EIS (impedance)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number for total cell resistance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contact that resistance comes from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Charge–discharge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sum of capacity and polarization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particles are left out, and why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306324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=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numbers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(composition · particle size · pressure · thickness · additive wt%).</a:t>
            </a:r>
            <a:endParaRPr lang="en-US" sz="13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what experiments cannot give: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network · conduction paths · reaction distribution · stress field · cycle degradation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talk reports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pipeline found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is not a tool introduction.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8375904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0" y="76809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Cundall &amp; Strack, Géotechnique 29 (1979) 47 · Sulsky et al., CMAME 118 (1994) 179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4048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simulation methods, because compaction is two things at once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81381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51760"/>
                <a:gridCol w="1554480"/>
                <a:gridCol w="34747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 physically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One-line definition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particles roll and settle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(rearrangement · stacking · contact)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(discrete element)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 each particle as a rigid sphere;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 Newton’s equations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particles are squashed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(plastic deformation · void filling)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(material point)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 the material as a continuum;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 the deformation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3154680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DEM cannot do: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sphere never deforms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no shape change.</a:t>
            </a:r>
            <a:endParaRPr lang="en-US" sz="13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MPM cannot do: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continuum has no "particles"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cannot express "they touched at a point".</a:t>
            </a:r>
            <a:endParaRPr lang="en-US" sz="13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required. Either one alone is half the physics.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8375904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0" y="76809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Minnmann et al., JES 168 (2021) 040537 (calibration anchor)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4048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makes it science: never fit one model to the other</a:t>
            </a:r>
            <a:endParaRPr lang="en-US" sz="14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A to B and then reporting "A and B agree" is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reasoning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each model is calibrated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to experiment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compared on the quantities they share.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3886200" cy="960120"/>
          </a:xfrm>
          <a:prstGeom prst="roundRect">
            <a:avLst>
              <a:gd name="adj" fmla="val 5714"/>
            </a:avLst>
          </a:prstGeom>
          <a:solidFill>
            <a:srgbClr val="FDEBEB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7452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Cross-fitting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 ⇄ MPM tuned to each other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agreement proves nothing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874520"/>
            <a:ext cx="3886200" cy="960120"/>
          </a:xfrm>
          <a:prstGeom prst="roundRect">
            <a:avLst>
              <a:gd name="adj" fmla="val 5714"/>
            </a:avLst>
          </a:prstGeom>
          <a:solidFill>
            <a:srgbClr val="EAF7EE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87452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Independent calibration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→ experiment, then compare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= cross-validation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exactly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calibration point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porosity of pure SE pressed at 300 MPa ≈ 10 % (measured).</a:t>
            </a:r>
            <a:endParaRPr lang="en-US" sz="13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after that is a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composite porosity, thickness, coverage, Heckel yield pressure, absolute σ.</a:t>
            </a:r>
            <a:endParaRPr lang="en-US" sz="13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= cross-validation.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= a quantified model limit — information, not failure.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8375904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one cathode layer resolved; the rest are exact boundary conditions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81381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217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is treated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Cathode composite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 — every particle, every voxel (9 phases: AM_S · AM_P · SE · VGCF · SuperP · SDCP · SWCNT · PTFE · pore)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 condition (surface supplying Li⁺)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collector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series resistance (bare-Al 46 · C-SUS 30 Ω·cm²)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 metal anode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electrode only → vs-Li half-cell convention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24612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Why this is not an approximation: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liquid cell you must solve concentration polarization in the electrolyte.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single-ion conductor (t⁺ ≈ 1) the anions do not move at all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that term does not exist. It is not omitted; it is absent.</a:t>
            </a:r>
            <a:endParaRPr lang="en-US" sz="13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(DEM) → compaction (MPM) → transport (voxel network) → electrochemistry → degradation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and discussion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8375904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0" y="76809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Minnmann et al., JES 168 (2021) 040537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4048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that never saw each other agree within 1.1 %p — that gap IS the error bar</a:t>
            </a:r>
            <a:endParaRPr lang="en-US" sz="14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 (rigid spheres, E_eff 1.35 GPa) and MPM (continuum J2, E 1.53 GPa · ν 0.49 · σ_y 0.30 GPa) were each calibrated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to the same single experiment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45720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960120"/>
                <a:gridCol w="1234440"/>
                <a:gridCol w="685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 (LIGGGHTS)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Porosity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15.93 %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+0.33 %p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Thickness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29.95 µm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30.28 µm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−0.33 µm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AM_P / AM_S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49.6 / 48.2 %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48.3 / 51.8 %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2 %p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349240" y="1828800"/>
            <a:ext cx="3246120" cy="137160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 w="9525">
            <a:solidFill>
              <a:srgbClr val="2E74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0" y="18288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convergence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 → 512:  porosity 16.7 → 16.80 %
jamming position wall_z 0.616 at BOTH
</a:t>
            </a:r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the remaining gap is a converged constitutive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difference, not a numerical artifact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310128"/>
            <a:ext cx="4023360" cy="822960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621792" y="3310128"/>
            <a:ext cx="3877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[Fig] MPM x–z section (AM + SE + void)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09160" y="3310128"/>
            <a:ext cx="3886200" cy="822960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4782312" y="3310128"/>
            <a:ext cx="3739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[Fig] porosity vs grid (384 / 512)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2920" y="4224528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EAF1F8"/>
          </a:solidFill>
          <a:ln w="9525">
            <a:solidFill>
              <a:srgbClr val="2E74B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4224528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"how much do you trust this simulation?" we can answer with a number: ± 1 %p.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and discussion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8375904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0" y="76809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Furnas, Ind. Eng. Chem. 23 (1931) · experiment: this lab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4048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owns which observable — proven by a material sweep, not assumed</a:t>
            </a:r>
            <a:endParaRPr lang="en-US" sz="14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packing dip = mixing large and small particles has a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porosity minimum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(small particles fill the gaps between large ones).  DEM reproduces it — and matches experiment.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1783080"/>
          <a:ext cx="41605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800600" y="1783080"/>
            <a:ext cx="3886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MPM gives a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curve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(AM 60→95 wt%: 11.7 → 24.5 %) — no dip at all.</a:t>
            </a:r>
            <a:endParaRPr lang="en-US" sz="11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Swept the whole SE material space: soft → monotonic and denser; rigid (E = 24 GPa) → a shallow, mislocated dip but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2–3× too porous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(32–48 % vs DEM ~16 %).</a:t>
            </a:r>
            <a:endParaRPr lang="en-US" sz="11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material setting reproduces both the dip shape and the absolute value.</a:t>
            </a:r>
            <a:endParaRPr lang="en-US" sz="11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dip lives in the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rigid-sphere packing geometry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continuum cannot have it, regardless of material.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4224528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EAF1F8"/>
          </a:solidFill>
          <a:ln w="9525">
            <a:solidFill>
              <a:srgbClr val="2E74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4224528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division is a measured conclusion, not an assumption: DEM owns packing, MPM owns plastic shape.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and discussion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8375904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0" y="76809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Bazzoun et al., J. Power Sources 661 (2026) 238682 · Holm, Electric Contacts (1967)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4048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8138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 a resistor network on voxels — validated by an independent paper</a:t>
            </a:r>
            <a:endParaRPr lang="en-US" sz="14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Microstructure →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µm voxels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(2.5 voxels across an SE particle); neighbouring same-phase voxels become resistors; solve ∇·(σ∇φ) = 0.</a:t>
            </a:r>
            <a:endParaRPr lang="en-US" sz="14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contact neck carries a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constriction resistance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 = 1/(2σ·r_c)  (Holm 1967); plastic contact area from Tabor.</a:t>
            </a:r>
            <a:endParaRPr lang="en-US" sz="14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conductivities at once —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(SE) · electronic (AM + carbon) · thermal (three parallel paths)</a:t>
            </a:r>
            <a:endParaRPr lang="en-US" sz="14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of AM by SE, verified against a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model-independent geometric ground truth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direct contact 16 % / including plastic spreading 52 %.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8046720" cy="1298448"/>
          </a:xfrm>
          <a:prstGeom prst="roundRect">
            <a:avLst>
              <a:gd name="adj" fmla="val 4225"/>
            </a:avLst>
          </a:prstGeom>
          <a:solidFill>
            <a:srgbClr val="EAF1F8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761488"/>
            <a:ext cx="77175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External validation — the strongest evidence we have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Bazzoun 2026 applied the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material (LPSCl + NCM811), the same DEM code, and the same resistor-network method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validated it against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EIS and COMSOL FEM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network ≈ FEM ≈ experiment, and 32–98× faster.
</a:t>
            </a:r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our methodology was validated by someone else, not by us.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and discussion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8375904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0" y="76809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Bruggeman, Ann. Phys. 416 (1935) · Holm (1967) · Trevisanello, AEM 11 (2021) 2003400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4048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transport laws — and the data independently picks the textbook exponents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207008"/>
            <a:ext cx="8046720" cy="713232"/>
          </a:xfrm>
          <a:prstGeom prst="rect">
            <a:avLst/>
          </a:prstGeom>
          <a:solidFill>
            <a:srgbClr val="F7F7F7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207008"/>
            <a:ext cx="7717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σ_ion  =  σ_grain · Cronau(r_SE) · (ε_eff)^½ · CN² · coverage^½ · f_p³ · C(τ)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σ_e    =  (σ_S·NCM_S)^(1−p) (σ_P·NCM_P)^p · ε_AM⁴ · √A · (T/d)^β · …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84832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920240"/>
                <a:gridCol w="292608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 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Corpus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ε_AM^a  (backbone)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Stauffer–Bruggeman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exactly 4 out of {2 … 8}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√A  (constriction)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Holm 1967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exactly 0.5 (symmetric loss)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NCM(r)^β  (grain size)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 = 1.5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Trevisanello 2021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1.5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(p(1−p))^a  (bimodal)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symmetric mixing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noise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356616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LOOCV  σ_ion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0.975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 free parameters) · σ_e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0.953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LOOCV = hide one case, learn from the rest, predict it; memorising cannot score.</a:t>
            </a:r>
            <a:endParaRPr lang="en-US" sz="11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The exponents were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from the literature and held fixed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scan below costs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degrees of freedom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this is validation, not fitting.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and discussion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8375904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0" y="76809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Bruggeman, Ann. Phys. 416 (1935) 636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4048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transport has NO scaling law — and that is the result</a:t>
            </a:r>
            <a:endParaRPr lang="en-US" sz="14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σ_ion rides one backbone (SE) and σ_e rides one backbone (AM).  Heat instead travels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paths at once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AM-AM, AM-SE, SE-SE.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1737360"/>
          <a:ext cx="416052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800600" y="1737360"/>
            <a:ext cx="3886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(effective-medium theory) gives a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baseline R²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(−0.15 … −1.53) — shown as 0 in the chart.</a:t>
            </a:r>
            <a:endParaRPr lang="en-US" sz="11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LOOCV gap between A and C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quantitative proof that composite thermal transport is not a single-backbone scaling law.</a:t>
            </a:r>
            <a:endParaRPr lang="en-US" sz="11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lever was exhausted — α sweep, cross terms, greedy over all 246 features, target transforms: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+0.017 = noise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Ridge is the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irreducible representation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this corpus size — a finding about the physics, not a modelling preference.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and discussion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8375904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0" y="76809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Bard &amp; Faulkner, Electrochemical Methods (2001) — Butler–Volmer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4048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mixed-conducting additive helps — decomposed for the first time</a:t>
            </a:r>
            <a:endParaRPr lang="en-US" sz="14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skeleton, same property table, same boundary conditions; only the additive differs (3.18 mAh/cm², 72.5 µm).</a:t>
            </a:r>
            <a:endParaRPr lang="en-US" sz="14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σ_e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+52.0 %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σ_ion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+5.6 %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reaction interface area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+18 %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total polarization at 1C:  46 → 41 mV.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1938528"/>
          <a:ext cx="42976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937760" y="1938528"/>
            <a:ext cx="3749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area  →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mV (78 %)</a:t>
            </a:r>
            <a:endParaRPr lang="en-US" sz="105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σ  →  1.0 mV (22 %)</a:t>
            </a:r>
            <a:endParaRPr lang="en-US" sz="105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σ  →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 mV (≈ 0 %)</a:t>
            </a:r>
            <a:endParaRPr lang="en-US" sz="105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At low rate the voltage gap is governed by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area, not by σ_e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σ_e is already 10⁴× better than σ_ion, so it is not the bottleneck.</a:t>
            </a:r>
            <a:endParaRPr lang="en-US" sz="105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σ_e matters where the current is large: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rate and thick electrodes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split is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experimentally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EIS and the discharge curve give only the sum.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and discussion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8375904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0" y="76809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σ_SDCP value is ASSUMED — swept, not asserted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4048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additive relieves series resistance — it does not carry the current</a:t>
            </a:r>
            <a:endParaRPr lang="en-US" sz="14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Swept the additive conductivity 15 → 1500 S/cm with the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microstructure and ionic network held fixed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1737360"/>
          <a:ext cx="44348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074920" y="1737360"/>
            <a:ext cx="3611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The gain grows (+0.8 → +63.4 %) while the additive’s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dissipation falls (19.6 → 1.7 %)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 that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current would show a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share.  The inversion is the signature of a phase that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relieves a series resistance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Practical consequence: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conclusion does not depend on knowing σ_SDCP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Even at the worst value (15 S/cm) the additive costs nothing (+0.8 %).</a:t>
            </a:r>
            <a:endParaRPr lang="en-US" sz="105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conductivity and reaction area are unchanged across the sweep — the effect is isolated to the electronic channel.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4224528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EAF1F8"/>
          </a:solidFill>
          <a:ln w="9525">
            <a:solidFill>
              <a:srgbClr val="2E74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4224528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claim HOW the additive helps — a mechanism — not HOW MUCH.  The mechanism survives the whole sweep.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and discussion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8375904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0" y="76809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Bucci et al., J. Mater. Chem. A (2017) · Yun et al., Energy Storage Mater. (2023)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4048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NOT know yet — two limits, quantified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1155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Cycle degradation is dominated by chemistry — contact loss is a lower bound of ~2 %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08176"/>
          <a:ext cx="80467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743200"/>
                <a:gridCol w="1508760"/>
                <a:gridCol w="21945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fade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contact–mechanical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shrinkage → contact opening (CZM)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~2 % (lower bound)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 1.05× vs bimodal 1.51×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chemical CEI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diffusion-limited √N growth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~98 %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Yun 2023 (this lab) R_ct 2.87× @100 cyc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skeleton rearrangement · SE decomposition · Li side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 in coated cells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awaiting experiment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25786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is anchored to an experimental endpoint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(√N) is labelled ASSUMED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endpoint cannot distinguish √N from linear.  A tool decides it once ≥ 4 experimental points exist.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3035808"/>
            <a:ext cx="8046720" cy="1078992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621792" y="3035808"/>
            <a:ext cx="79004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[Fig] contact-mechanical ~2 % vs chemical CEI ~98 % — three-way split of the fade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02920" y="4224528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EAF1F8"/>
          </a:solidFill>
          <a:ln w="9525">
            <a:solidFill>
              <a:srgbClr val="2E74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4224528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magnitude is anchored to experiment; the shape stays labelled ASSUMED until four cycle points exist.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and discussion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8375904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0" y="76809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work, Aug 2026 — rejection → mechanism → descriptor → grid check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4048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rejected assumption, traced to its cause — and then to a one-number fix</a:t>
            </a:r>
            <a:endParaRPr lang="en-US" sz="14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indexed the SE stress response by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= V_SE /(A*h - V_AM)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("how full is the SE’s own space") and assumed one curve would serve every electrode.  Measured at matched loading rate,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not: 2.96 - 3.83x at the same phi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1783080"/>
          <a:ext cx="39319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572000" y="178308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von Mises caps only the shape-changing stress,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pressure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One bed stops at 0.278 GPa (below the 0.30 yield) = still flowing into voids; the other reaches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1.012 GPa (3.4x yield)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pressurised, unable to reach the remaining voids.</a:t>
            </a:r>
            <a:endParaRPr lang="en-US" sz="10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cause is composition, not thickness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five beds matched to +/-1.4 % in thickness, only the particle-size ratio varied, give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1.87x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monotonic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that ratio (by chance about 7e-5).</a:t>
            </a:r>
            <a:endParaRPr lang="en-US" sz="10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index by channel width instead: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 proportional to d_h^-0.54,  R2 = 0.935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A new electrode then needs only its d_h, not a new five-point curve.</a:t>
            </a:r>
            <a:endParaRPr lang="en-US" sz="100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grid artefact — refining makes it stronger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Three grids (1.18 / 1.77 / 2.65 cells across the narrowest channel) give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1.70 -&gt; 1.87 -&gt; 2.03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monotonic.  An unresolved constriction simply vanishes and lets material through, so coarse grids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under-report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effect.  Reported as a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bound: |slope| &gt;= 0.66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4224528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EAF1F8"/>
          </a:solidFill>
          <a:ln w="9525">
            <a:solidFill>
              <a:srgbClr val="2E74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4224528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scales with cells-per-channel: &gt;= 3.5 cells moves only 4 % under a 2.25x refinement, 1.2 cells moves 24 % — a pre-run check we now apply to every bed.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plan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8375904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last verification loop, then scaling to design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Ready to run (code complete)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35024"/>
          <a:ext cx="39776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960120"/>
                <a:gridCol w="13258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PyBaMM matched-condition parity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GPU day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defensible → bullet-proof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σ(φ, d_h) exponent at finer grid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n_grid 288 (~4 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converged value (now bounded: |slope| ≥ 0.54)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COMSOL hybrid export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 geometry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results in COMSOL users’ language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709160" y="10789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Awaiting anchors — we do not pretend to know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63440" y="1335024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LPSCl decomposition activation energy —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absent from the literature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⇒ we do NOT multiply heat into degradation by Arrhenius.</a:t>
            </a:r>
            <a:endParaRPr lang="en-US" sz="105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 √N shape confirmation (≥ 4 experimental points)</a:t>
            </a:r>
            <a:endParaRPr lang="en-US" sz="105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σ_e of the additive · binding energy from DFT · i₀ split for single- vs poly-crystal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27432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Machine learning — the differentiator is physics-derived features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2999232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design → σ triad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(LOOCV 0.975 / 0.953 / 0.90) — seconds instead of hours.</a:t>
            </a:r>
            <a:endParaRPr lang="en-US" sz="105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cycle-life surrogate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13 design +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physics features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(σ triad · coverage · CN · τ · current focusing · reaction area) + cycle → R_int(N), retention.</a:t>
            </a:r>
            <a:endParaRPr lang="en-US" sz="105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design loop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(symbolic regression + Bayesian optimisation → recommend the next composition to make).</a:t>
            </a:r>
            <a:endParaRPr lang="en-US" sz="105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side: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MLIP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(MACE / UMA) to resolve LPSCl disorder and produce DFT anchors — continuing from the April talk.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2920" y="4279392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EAF1F8"/>
          </a:solidFill>
          <a:ln w="9525">
            <a:solidFill>
              <a:srgbClr val="2E74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4279392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say "this composition is better".  This pipeline says why, at which contact, and by how much.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48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technical backup   ·   B. glossary &amp; symbol conventions   ·   C. anticipated questions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 · Material parameters live on three levels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8375904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0" y="76809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Sakuda et al., Sci. Rep. 3 (2013) 2261 · Cronau et al., ACS Energy Lett. 6 (2021) 3072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4048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18× softening is a proxy for missing mechanisms — never claimed as a material property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920240"/>
                <a:gridCol w="45720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bulk LPSCl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= 24 GPa (Young)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 = 26.2 GPa (bulk, our DFT)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from literature; the bulk modulus B0 is the quantity to compare against K, and comes from our own equation-of-state calculation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 effective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E_eff = 1.35 GPa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lumps rearrangement + grain-boundary sliding + micro-fracture that rigid spheres cannot 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MPM champion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= 1.53 GPa, ν = 0.49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(K = 25.5, µ = 0.51 GPa)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softening confined to SHEAR.  Bulk: our K 25.5 vs our DFT EOS B0 = 26.2 GPa (−2.8 %).  Shear: µ 0.51 vs the real 8.1 GPa = ~16x softer.  (Compare K to B0, never to E — different quantities.)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324612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not a free fit —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routes demand the same value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pure-SE contact overlap 11–12 % is reproduced (Cronau)  ② an entirely different code and physics (MPM continuum) independently requires the same 18×  ③ experimental porosity.</a:t>
            </a:r>
            <a:endParaRPr lang="en-US" sz="1050" dirty="0"/>
          </a:p>
          <a:p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Heckel compaction: R² 0.965 · yield pressure P_y = 138 MPa · σ_y,eff 46 MPa — 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6.5× softer than the single crystal</a:t>
            </a:r>
            <a:pPr indent="0" marL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quantifies the granular softening.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 · Glossary — terms as used in the field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8375904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0" y="76809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with references: docs/seminar_20260806_glossary.md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4048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78992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931920"/>
                <a:gridCol w="192024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one 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 (discrete element method)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particle is a rigid sphere; solve Newton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Cundall &amp; Strack 1979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MPM (material point method)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continuum, carried on material points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Sulsky et al. 1994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Constriction resistance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resistance of a narrow contact neck  R = 1/(2σa)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Holm 1967 · Maxwell 1873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Plastic contact 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F/H — larger than the elastic Hertz 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Tabor 1948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Percolation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there a connected path end to end?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Stauffer &amp; Aharony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Tortuosity 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far ions detour;  σ_eff = σ_bulk·ε/τ  (linear convention)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state the convention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Coordination number CN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neighbours a particle touches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packing 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 of AM surface covered by 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Hertz 16 % / Tabor 52 %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Overpotential 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extra voltage needed to drive the reaction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Bard &amp; Faulkner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resistive interphase that grows every 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Yun et al. 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0416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Symbol collisions to state explicitly: 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potential (V) vs volume fraction — use ε for fractions  ·  σ = conductivity vs stress — always give units  ·  τ convention (linear vs squared) differs between papers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C · Anticipated questions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4048" y="731520"/>
            <a:ext cx="8375904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0" y="76809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set (40 Q&amp;A): docs/seminar_20260806_script.md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4048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78992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3035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sentence of the answer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Isn’t this just fitted to experiment?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is exactly one calibration point; everything after it is a prediction — and the two models never see each other.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Isn’t the 18× softening a free fit?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it were free, three independent routes would not demand the same value.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σ_e up 52 % but only 0.002 mV?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in a series resistance the smaller one dominates, and σ_e was already 10⁴× better.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does σ_SDCP = 250 S/cm come from?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assumed, not measured — which is why we swept 15–1500 and claim only the mechanism.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the transfer was rejected, is everything wrong?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what was rejected is moving one curve to another bed; quantities computed per bed are unaffected.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not just use COMSOL?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σ and microstructure fields we can replace it — and an independent paper proved that; for liquid systems and full cells we cannot.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this help an experimentalist?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decomposes why something works, points at what to fix, and screens candidates before they are made.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your weakest link?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Three: the external numerical parity run, the measured additive conductivity, and the experimental confirmation of the √N shape.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Particle-Resolved Simulation of All-Solid-State Cathodes</dc:title>
  <dc:subject>PptxGenJS Presentation</dc:subject>
  <dc:creator>Yonghoon An</dc:creator>
  <cp:lastModifiedBy>Yonghoon An</cp:lastModifiedBy>
  <cp:revision>1</cp:revision>
  <dcterms:created xsi:type="dcterms:W3CDTF">2026-08-07T04:39:24Z</dcterms:created>
  <dcterms:modified xsi:type="dcterms:W3CDTF">2026-08-07T04:39:24Z</dcterms:modified>
</cp:coreProperties>
</file>