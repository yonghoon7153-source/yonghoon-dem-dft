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269442fd8ce4b81" Type="http://schemas.openxmlformats.org/officeDocument/2006/relationships/officeDocument" Target="ppt/presentation.xml"/><Relationship Id="R69334117c5514b65" Type="http://schemas.openxmlformats.org/package/2006/relationships/metadata/core-properties" Target="docProps/core.xml"/><Relationship Id="Rcd7563b061c142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72" r:id="R585d8b53172a4fb4"/>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edd3fc95014fed" Type="http://schemas.openxmlformats.org/officeDocument/2006/relationships/presProps" Target="presProps.xml"/><Relationship Id="R245a50a1643649ab" Type="http://schemas.openxmlformats.org/officeDocument/2006/relationships/tableStyles" Target="tableStyles.xml"/><Relationship Id="R3eabe3a8ecf741a2" Type="http://schemas.openxmlformats.org/officeDocument/2006/relationships/viewProps" Target="viewProps.xml"/><Relationship Id="R585d8b53172a4fb4" Type="http://schemas.openxmlformats.org/officeDocument/2006/relationships/slide" Target="slides/slide17.xml"/><Relationship Id="R636b2433d8094769" Type="http://schemas.openxmlformats.org/officeDocument/2006/relationships/notesMaster" Target="notesMasters/notesMaster1.xml"/><Relationship Id="R7a9f4c5f7750487f" Type="http://schemas.openxmlformats.org/officeDocument/2006/relationships/slideMaster" Target="slideMasters/slideMaster1.xml"/><Relationship Id="Rd15051cc896443fc"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32b1c3d1c61444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4.xml.rels><?xml version='1.0' encoding='UTF-8' standalone='yes'?>
<Relationships xmlns="http://schemas.openxmlformats.org/package/2006/relationships"><Relationship Id="R219bee61c4e3417d" Type="http://schemas.openxmlformats.org/officeDocument/2006/relationships/slide" Target="../slides/slide17.xml"/><Relationship Id="R386f305cb90641db" Type="http://schemas.openxmlformats.org/officeDocument/2006/relationships/notesMaster" Target="../notesMasters/notesMaster1.xml"/></Relationship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단계에서는 앞의 기록을 모아 다음 고비용 계산의 순서를 정합니다. 이때 도펀트 이름만 합치는 것이 아니라 exact formula, site, 계산 규약과 불확실성을 함께 넘겨야 합니다. 산출물은 1등 후보가 아니라 DFT, 멀티시드 MD, 계면 계산이나 실험으로 확인할 질문 목록입니다. 새로운 결과가 들어오면 다시 순서를 갱신합니다.</a:t>
            </a:r>
            <a:endParaRPr/>
          </a:p>
          <a:p xmlns:a="http://schemas.openxmlformats.org/drawingml/2006/main">
            <a:r>
              <a:t/>
            </a:r>
            <a:endParaRPr/>
          </a:p>
          <a:p xmlns:a="http://schemas.openxmlformats.org/drawingml/2006/main">
            <a:r>
              <a:t>[발표자 메모]</a:t>
            </a:r>
            <a:endParaRPr/>
          </a:p>
          <a:p xmlns:a="http://schemas.openxmlformats.org/drawingml/2006/main">
            <a:r>
              <a:t>마지막 상자에서 첫 상자로 돌아오는 화살표를 active-learning loop로 설명한다.</a:t>
            </a:r>
            <a:endParaRPr/>
          </a:p>
          <a:p xmlns:a="http://schemas.openxmlformats.org/drawingml/2006/main">
            <a:r>
              <a:t/>
            </a:r>
            <a:endParaRPr/>
          </a:p>
          <a:p xmlns:a="http://schemas.openxmlformats.org/drawingml/2006/main">
            <a:r>
              <a:t>[Sources]</a:t>
            </a:r>
            <a:endParaRPr/>
          </a:p>
          <a:p xmlns:a="http://schemas.openxmlformats.org/drawingml/2006/main">
            <a:r>
              <a:t>stage 10–12b design; acquisition workflow; explicit validation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567e83c79114d43"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3280d18f2f3450f" Type="http://schemas.openxmlformats.org/officeDocument/2006/relationships/theme" Target="theme/theme2.xml"/><Relationship Id="Ra667905730bd4f44"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7.xml.rels><?xml version='1.0' encoding='UTF-8' standalone='yes'?>
<Relationships xmlns="http://schemas.openxmlformats.org/package/2006/relationships"><Relationship Id="R8359da94a46448a8" Type="http://schemas.openxmlformats.org/officeDocument/2006/relationships/slideLayout" Target="../slideLayouts/slideLayout1.xml"/><Relationship Id="Rf20db68f8fad4626" Type="http://schemas.openxmlformats.org/officeDocument/2006/relationships/notesSlide" Target="../notesSlides/notesSlide14.xml"/><Relationship Id="rId3" Type="http://schemas.openxmlformats.org/officeDocument/2006/relationships/image" Target="../media/image6.png"/></Relationships>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2" name="bg-14">
            <a:extLst xmlns:a="http://schemas.openxmlformats.org/drawingml/2006/main">
              <a:ext uri="{FF2B5EF4-FFF2-40B4-BE49-F238E27FC236}">
                <a16:creationId xmlns:a16="http://schemas.microsoft.com/office/drawing/2014/main" id="{F4D6ADAB-3FAC-480B-9E80-92522F3221D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4">
            <a:extLst xmlns:a="http://schemas.openxmlformats.org/drawingml/2006/main">
              <a:ext uri="{FF2B5EF4-FFF2-40B4-BE49-F238E27FC236}">
                <a16:creationId xmlns:a16="http://schemas.microsoft.com/office/drawing/2014/main" id="{EBB81441-240B-43DE-8988-26A38E686C03}"/>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547"/>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Calculations that were not performed</a:t>
            </a:r>
          </a:p>
        </p:txBody>
      </p:sp>
      <p:sp>
        <p:nvSpPr>
          <p:cNvPr id="3" name="terms-14">
            <a:extLst xmlns:a="http://schemas.openxmlformats.org/drawingml/2006/main">
              <a:ext uri="{FF2B5EF4-FFF2-40B4-BE49-F238E27FC236}">
                <a16:creationId xmlns:a16="http://schemas.microsoft.com/office/drawing/2014/main" id="{1F808798-5278-4EF3-B10D-6F41CB13E04D}"/>
              </a:ext>
            </a:extLst>
          </p:cNvPr>
          <p:cNvSpPr>
            <a:spLocks xmlns:a="http://schemas.openxmlformats.org/drawingml/2006/main" noGrp="1"/>
          </p:cNvSpPr>
          <p:nvPr/>
        </p:nvSpPr>
        <p:spPr>
          <a:xfrm xmlns:a="http://schemas.openxmlformats.org/drawingml/2006/main">
            <a:off x="521207" y="6272784"/>
            <a:ext cx="8101583"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something cheap that correlates with what you want  ·  Interface energy: how much energy is released when two materials touch</a:t>
            </a:r>
          </a:p>
        </p:txBody>
      </p:sp>
      <p:sp>
        <p:nvSpPr>
          <p:cNvPr id="4" name="divider-14">
            <a:extLst xmlns:a="http://schemas.openxmlformats.org/drawingml/2006/main">
              <a:ext uri="{FF2B5EF4-FFF2-40B4-BE49-F238E27FC236}">
                <a16:creationId xmlns:a16="http://schemas.microsoft.com/office/drawing/2014/main" id="{B374AE6F-956C-4BF7-ADBF-C9699F5B07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4">
            <a:extLst xmlns:a="http://schemas.openxmlformats.org/drawingml/2006/main">
              <a:ext uri="{FF2B5EF4-FFF2-40B4-BE49-F238E27FC236}">
                <a16:creationId xmlns:a16="http://schemas.microsoft.com/office/drawing/2014/main" id="{02A3B435-66DC-4456-9D32-AC2C1D47FDC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4">
            <a:extLst xmlns:a="http://schemas.openxmlformats.org/drawingml/2006/main">
              <a:ext uri="{FF2B5EF4-FFF2-40B4-BE49-F238E27FC236}">
                <a16:creationId xmlns:a16="http://schemas.microsoft.com/office/drawing/2014/main" id="{F2E40C6A-4A39-4FAD-9221-9240345B80FC}"/>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9: Two designed stages produced no evidence</a:t>
            </a:r>
          </a:p>
        </p:txBody>
      </p:sp>
      <p:sp>
        <p:nvSpPr>
          <p:cNvPr id="7" name="bullet-dot-14-0">
            <a:extLst xmlns:a="http://schemas.openxmlformats.org/drawingml/2006/main">
              <a:ext uri="{FF2B5EF4-FFF2-40B4-BE49-F238E27FC236}">
                <a16:creationId xmlns:a16="http://schemas.microsoft.com/office/drawing/2014/main" id="{1362EA0F-E169-416C-998F-2E75E89D92C8}"/>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4-0">
            <a:extLst xmlns:a="http://schemas.openxmlformats.org/drawingml/2006/main">
              <a:ext uri="{FF2B5EF4-FFF2-40B4-BE49-F238E27FC236}">
                <a16:creationId xmlns:a16="http://schemas.microsoft.com/office/drawing/2014/main" id="{F106D4E4-3B2D-4C02-B20E-4F52B1E6348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Conductivity from dynamics</a:t>
            </a:r>
            <a:r>
              <a:rPr sz="1275" b="0">
                <a:solidFill>
                  <a:srgbClr val="374151"/>
                </a:solidFill>
                <a:latin typeface="Arial"/>
                <a:ea typeface="Arial"/>
                <a:cs typeface="Arial"/>
              </a:rPr>
              <a:t> was not run; Step 6 stands in as a structural proxy.</a:t>
            </a:r>
          </a:p>
        </p:txBody>
      </p:sp>
      <p:sp>
        <p:nvSpPr>
          <p:cNvPr id="9" name="bullet-dot-14-1">
            <a:extLst xmlns:a="http://schemas.openxmlformats.org/drawingml/2006/main">
              <a:ext uri="{FF2B5EF4-FFF2-40B4-BE49-F238E27FC236}">
                <a16:creationId xmlns:a16="http://schemas.microsoft.com/office/drawing/2014/main" id="{E6D09F13-161C-4D17-9F32-195E56CF8A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4-1">
            <a:extLst xmlns:a="http://schemas.openxmlformats.org/drawingml/2006/main">
              <a:ext uri="{FF2B5EF4-FFF2-40B4-BE49-F238E27FC236}">
                <a16:creationId xmlns:a16="http://schemas.microsoft.com/office/drawing/2014/main" id="{45FD67AA-B183-40EA-AD77-1A6DAA00ECF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The cathode interface</a:t>
            </a:r>
            <a:r>
              <a:rPr sz="1275" b="0">
                <a:solidFill>
                  <a:srgbClr val="374151"/>
                </a:solidFill>
                <a:latin typeface="Arial"/>
                <a:ea typeface="Arial"/>
                <a:cs typeface="Arial"/>
              </a:rPr>
              <a:t> was not attempted; the figure shows what such a screen looks like.</a:t>
            </a:r>
          </a:p>
        </p:txBody>
      </p:sp>
      <p:sp>
        <p:nvSpPr>
          <p:cNvPr id="12" name="footer-brand-14">
            <a:extLst xmlns:a="http://schemas.openxmlformats.org/drawingml/2006/main">
              <a:ext uri="{FF2B5EF4-FFF2-40B4-BE49-F238E27FC236}">
                <a16:creationId xmlns:a16="http://schemas.microsoft.com/office/drawing/2014/main" id="{FD0267FA-62FC-4A8E-835C-48F4AEF0517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4">
            <a:extLst xmlns:a="http://schemas.openxmlformats.org/drawingml/2006/main">
              <a:ext uri="{FF2B5EF4-FFF2-40B4-BE49-F238E27FC236}">
                <a16:creationId xmlns:a16="http://schemas.microsoft.com/office/drawing/2014/main" id="{F5D662E9-2255-4309-8802-D448A8DA55A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4">
            <a:extLst xmlns:a="http://schemas.openxmlformats.org/drawingml/2006/main">
              <a:ext uri="{FF2B5EF4-FFF2-40B4-BE49-F238E27FC236}">
                <a16:creationId xmlns:a16="http://schemas.microsoft.com/office/drawing/2014/main" id="{6516A74B-721B-4F26-B054-E814FDF75E8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17</a:t>
            </a:r>
          </a:p>
        </p:txBody>
      </p:sp>
      <p:pic xmlns:a="http://schemas.openxmlformats.org/drawingml/2006/main" xmlns:r="http://schemas.openxmlformats.org/officeDocument/2006/relationships">
        <p:nvPicPr>
          <p:cNvPr id="33" name="Picture 32" descr="image.png"/>
          <p:cNvPicPr>
            <a:picLocks noChangeAspect="1"/>
          </p:cNvPicPr>
          <p:nvPr/>
        </p:nvPicPr>
        <p:blipFill>
          <a:blip r:embed="rId3"/>
          <a:stretch>
            <a:fillRect/>
          </a:stretch>
        </p:blipFill>
        <p:spPr>
          <a:xfrm>
            <a:off x="626426" y="2231136"/>
            <a:ext cx="7891147" cy="2999232"/>
          </a:xfrm>
          <a:prstGeom prst="rect">
            <a:avLst/>
          </a:prstGeom>
        </p:spPr>
      </p:pic>
      <p:sp xmlns:a="http://schemas.openxmlformats.org/drawingml/2006/main">
        <p:nvSpPr>
          <p:cNvPr id="34" name="TextBox 33"/>
          <p:cNvSpPr txBox="1"/>
          <p:nvPr/>
        </p:nvSpPr>
        <p:spPr>
          <a:xfrm>
            <a:off x="502920" y="5449824"/>
            <a:ext cx="8138160" cy="256032"/>
          </a:xfrm>
          <a:prstGeom prst="rect">
            <a:avLst/>
          </a:prstGeom>
          <a:noFill/>
        </p:spPr>
        <p:txBody>
          <a:bodyPr wrap="none">
            <a:spAutoFit/>
          </a:bodyPr>
          <a:lstStyle/>
          <a:p>
            <a:pPr algn="ctr"/>
            <a:r>
              <a:rPr sz="1300" b="0">
                <a:solidFill>
                  <a:srgbClr val="1F2937"/>
                </a:solidFill>
                <a:latin typeface="Arial"/>
              </a:rPr>
              <a:t>&lt; Sundar et al., Adv. Sci. 2025, Fig. 2  ·  one coating scored at four different interfaces &gt;</a:t>
            </a:r>
          </a:p>
        </p:txBody>
      </p:sp>
      <p:sp xmlns:a="http://schemas.openxmlformats.org/drawingml/2006/main">
        <p:nvSpPr>
          <p:cNvPr id="35" name="TextBox 34"/>
          <p:cNvSpPr txBox="1"/>
          <p:nvPr/>
        </p:nvSpPr>
        <p:spPr>
          <a:xfrm>
            <a:off x="502920" y="5760720"/>
            <a:ext cx="8138160" cy="274320"/>
          </a:xfrm>
          <a:prstGeom prst="rect">
            <a:avLst/>
          </a:prstGeom>
          <a:noFill/>
        </p:spPr>
        <p:txBody>
          <a:bodyPr wrap="square">
            <a:spAutoFit/>
          </a:bodyPr>
          <a:lstStyle/>
          <a:p>
            <a:pPr algn="ctr"/>
            <a:r>
              <a:rPr sz="1150" b="1">
                <a:solidFill>
                  <a:srgbClr val="BE123C"/>
                </a:solidFill>
                <a:latin typeface="Arial"/>
              </a:rPr>
              <a:t>we computed none of these four maps</a:t>
            </a:r>
            <a:r>
              <a:rPr sz="1150" b="0">
                <a:solidFill>
                  <a:srgbClr val="4B5563"/>
                </a:solidFill>
                <a:latin typeface="Arial"/>
              </a:rPr>
              <a:t>; an oxide that looks safe against the electrolyte can still react with Li</a:t>
            </a:r>
          </a:p>
        </p:txBody>
      </p:sp>
    </p:spTree>
    <p:extLst>
      <p:ext uri="{BB962C8B-B14F-4D97-AF65-F5344CB8AC3E}">
        <p14:creationId xmlns:p14="http://schemas.microsoft.com/office/powerpoint/2010/main" val="63302296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