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269442fd8ce4b81" Type="http://schemas.openxmlformats.org/officeDocument/2006/relationships/officeDocument" Target="ppt/presentation.xml"/><Relationship Id="R69334117c5514b65" Type="http://schemas.openxmlformats.org/package/2006/relationships/metadata/core-properties" Target="docProps/core.xml"/><Relationship Id="Rcd7563b061c1420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7a9f4c5f7750487f"/>
  </p:sldMasterIdLst>
  <p:notesMasterIdLst>
    <p:notesMasterId xmlns:r="http://schemas.openxmlformats.org/officeDocument/2006/relationships" r:id="R636b2433d8094769"/>
  </p:notesMasterIdLst>
  <p:sldIdLst>
    <p:sldId xmlns:r="http://schemas.openxmlformats.org/officeDocument/2006/relationships" id="256" r:id="Ra0f5ac940dfa4f56"/>
    <p:sldId xmlns:r="http://schemas.openxmlformats.org/officeDocument/2006/relationships" id="257" r:id="R3ccdefa3e23f4a3b"/>
    <p:sldId xmlns:r="http://schemas.openxmlformats.org/officeDocument/2006/relationships" id="258" r:id="rId1"/>
    <p:sldId xmlns:r="http://schemas.openxmlformats.org/officeDocument/2006/relationships" id="259" r:id="R0b61f05e137348dc"/>
    <p:sldId xmlns:r="http://schemas.openxmlformats.org/officeDocument/2006/relationships" id="260" r:id="Rbfba0b31b08944a9"/>
    <p:sldId xmlns:r="http://schemas.openxmlformats.org/officeDocument/2006/relationships" id="261" r:id="Rcb663844fffc477a"/>
    <p:sldId xmlns:r="http://schemas.openxmlformats.org/officeDocument/2006/relationships" id="262" r:id="R8e9499b237dd44db"/>
    <p:sldId xmlns:r="http://schemas.openxmlformats.org/officeDocument/2006/relationships" id="263" r:id="R4ba3f48111084143"/>
    <p:sldId xmlns:r="http://schemas.openxmlformats.org/officeDocument/2006/relationships" id="264" r:id="Rb665c5fe9e3347e9"/>
    <p:sldId xmlns:r="http://schemas.openxmlformats.org/officeDocument/2006/relationships" id="265" r:id="Rcd9b255cb4c54f2e"/>
    <p:sldId xmlns:r="http://schemas.openxmlformats.org/officeDocument/2006/relationships" id="266" r:id="Rdc2e3032cd0b46c4"/>
    <p:sldId xmlns:r="http://schemas.openxmlformats.org/officeDocument/2006/relationships" id="267" r:id="R21c89c806d8844aa"/>
    <p:sldId xmlns:r="http://schemas.openxmlformats.org/officeDocument/2006/relationships" id="268" r:id="R4644b85309e14395"/>
    <p:sldId xmlns:r="http://schemas.openxmlformats.org/officeDocument/2006/relationships" id="269" r:id="R59bb6e4a8ecc4c71"/>
    <p:sldId xmlns:r="http://schemas.openxmlformats.org/officeDocument/2006/relationships" id="270" r:id="Rf5fc8157681b488f"/>
    <p:sldId xmlns:r="http://schemas.openxmlformats.org/officeDocument/2006/relationships" id="271" r:id="R585d8b53172a4fb4"/>
    <p:sldId xmlns:r="http://schemas.openxmlformats.org/officeDocument/2006/relationships" id="272" r:id="R582cf44da6534111"/>
    <p:sldId xmlns:r="http://schemas.openxmlformats.org/officeDocument/2006/relationships" id="273" r:id="Ree46da3645da4342"/>
    <p:sldId xmlns:r="http://schemas.openxmlformats.org/officeDocument/2006/relationships" id="274" r:id="Rcb18a1d8bd1d40bb"/>
    <p:sldId xmlns:r="http://schemas.openxmlformats.org/officeDocument/2006/relationships" id="275" r:id="rId2"/>
    <p:sldId xmlns:r="http://schemas.openxmlformats.org/officeDocument/2006/relationships" id="276" r:id="R52754f0ac4c84cf8"/>
    <p:sldId xmlns:r="http://schemas.openxmlformats.org/officeDocument/2006/relationships" id="277" r:id="Rf852efb193f945ab"/>
    <p:sldId xmlns:r="http://schemas.openxmlformats.org/officeDocument/2006/relationships" id="278" r:id="Reb1f0020af2b4833"/>
    <p:sldId xmlns:r="http://schemas.openxmlformats.org/officeDocument/2006/relationships" id="279" r:id="R8409038232d64c49"/>
    <p:sldId xmlns:r="http://schemas.openxmlformats.org/officeDocument/2006/relationships" id="280" r:id="R75f40cb2bb314b1c"/>
    <p:sldId xmlns:r="http://schemas.openxmlformats.org/officeDocument/2006/relationships" id="281" r:id="R8e5693ac9e014a39"/>
    <p:sldId xmlns:r="http://schemas.openxmlformats.org/officeDocument/2006/relationships" id="282" r:id="R2763d70795d64571"/>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b61f05e137348dc" Type="http://schemas.openxmlformats.org/officeDocument/2006/relationships/slide" Target="slides/slide4.xml"/><Relationship Id="R0bedd3fc95014fed" Type="http://schemas.openxmlformats.org/officeDocument/2006/relationships/presProps" Target="presProps.xml"/><Relationship Id="R21c89c806d8844aa" Type="http://schemas.openxmlformats.org/officeDocument/2006/relationships/slide" Target="slides/slide12.xml"/><Relationship Id="R245a50a1643649ab" Type="http://schemas.openxmlformats.org/officeDocument/2006/relationships/tableStyles" Target="tableStyles.xml"/><Relationship Id="R2763d70795d64571" Type="http://schemas.openxmlformats.org/officeDocument/2006/relationships/slide" Target="slides/slide27.xml"/><Relationship Id="R3ccdefa3e23f4a3b" Type="http://schemas.openxmlformats.org/officeDocument/2006/relationships/slide" Target="slides/slide2.xml"/><Relationship Id="R3eabe3a8ecf741a2" Type="http://schemas.openxmlformats.org/officeDocument/2006/relationships/viewProps" Target="viewProps.xml"/><Relationship Id="R4644b85309e14395" Type="http://schemas.openxmlformats.org/officeDocument/2006/relationships/slide" Target="slides/slide13.xml"/><Relationship Id="R4ba3f48111084143" Type="http://schemas.openxmlformats.org/officeDocument/2006/relationships/slide" Target="slides/slide8.xml"/><Relationship Id="R52754f0ac4c84cf8" Type="http://schemas.openxmlformats.org/officeDocument/2006/relationships/slide" Target="slides/slide21.xml"/><Relationship Id="R582cf44da6534111" Type="http://schemas.openxmlformats.org/officeDocument/2006/relationships/slide" Target="slides/slide17.xml"/><Relationship Id="R585d8b53172a4fb4" Type="http://schemas.openxmlformats.org/officeDocument/2006/relationships/slide" Target="slides/slide16.xml"/><Relationship Id="R59bb6e4a8ecc4c71" Type="http://schemas.openxmlformats.org/officeDocument/2006/relationships/slide" Target="slides/slide14.xml"/><Relationship Id="R636b2433d8094769" Type="http://schemas.openxmlformats.org/officeDocument/2006/relationships/notesMaster" Target="notesMasters/notesMaster1.xml"/><Relationship Id="R75f40cb2bb314b1c" Type="http://schemas.openxmlformats.org/officeDocument/2006/relationships/slide" Target="slides/slide25.xml"/><Relationship Id="R7a9f4c5f7750487f" Type="http://schemas.openxmlformats.org/officeDocument/2006/relationships/slideMaster" Target="slideMasters/slideMaster1.xml"/><Relationship Id="R8409038232d64c49" Type="http://schemas.openxmlformats.org/officeDocument/2006/relationships/slide" Target="slides/slide24.xml"/><Relationship Id="R8e5693ac9e014a39" Type="http://schemas.openxmlformats.org/officeDocument/2006/relationships/slide" Target="slides/slide26.xml"/><Relationship Id="R8e9499b237dd44db" Type="http://schemas.openxmlformats.org/officeDocument/2006/relationships/slide" Target="slides/slide7.xml"/><Relationship Id="Ra0f5ac940dfa4f56" Type="http://schemas.openxmlformats.org/officeDocument/2006/relationships/slide" Target="slides/slide1.xml"/><Relationship Id="Rb665c5fe9e3347e9" Type="http://schemas.openxmlformats.org/officeDocument/2006/relationships/slide" Target="slides/slide9.xml"/><Relationship Id="Rbfba0b31b08944a9" Type="http://schemas.openxmlformats.org/officeDocument/2006/relationships/slide" Target="slides/slide5.xml"/><Relationship Id="Rcb18a1d8bd1d40bb" Type="http://schemas.openxmlformats.org/officeDocument/2006/relationships/slide" Target="slides/slide19.xml"/><Relationship Id="Rcb663844fffc477a" Type="http://schemas.openxmlformats.org/officeDocument/2006/relationships/slide" Target="slides/slide6.xml"/><Relationship Id="Rcd9b255cb4c54f2e" Type="http://schemas.openxmlformats.org/officeDocument/2006/relationships/slide" Target="slides/slide10.xml"/><Relationship Id="Rd15051cc896443fc" Type="http://schemas.openxmlformats.org/officeDocument/2006/relationships/theme" Target="theme/theme1.xml"/><Relationship Id="Rdc2e3032cd0b46c4" Type="http://schemas.openxmlformats.org/officeDocument/2006/relationships/slide" Target="slides/slide11.xml"/><Relationship Id="Reb1f0020af2b4833" Type="http://schemas.openxmlformats.org/officeDocument/2006/relationships/slide" Target="slides/slide23.xml"/><Relationship Id="Ree46da3645da4342" Type="http://schemas.openxmlformats.org/officeDocument/2006/relationships/slide" Target="slides/slide18.xml"/><Relationship Id="Rf5fc8157681b488f" Type="http://schemas.openxmlformats.org/officeDocument/2006/relationships/slide" Target="slides/slide15.xml"/><Relationship Id="Rf852efb193f945ab" Type="http://schemas.openxmlformats.org/officeDocument/2006/relationships/slide" Target="slides/slide22.xml"/><Relationship Id="rId1" Type="http://schemas.openxmlformats.org/officeDocument/2006/relationships/slide" Target="slides/slide3.xml"/><Relationship Id="rId2"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32b1c3d1c614449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6a1b76dbeb4387" Type="http://schemas.openxmlformats.org/officeDocument/2006/relationships/slide" Target="../slides/slide1.xml"/><Relationship Id="R4ada200f62cf43b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ededadd90e1c4a6f" Type="http://schemas.openxmlformats.org/officeDocument/2006/relationships/slide" Target="../slides/slide2.xml"/><Relationship Id="Rf541ceadc01a486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281f5c9eab145fd" Type="http://schemas.openxmlformats.org/officeDocument/2006/relationships/slide" Target="../slides/slide4.xml"/><Relationship Id="Re2e1404a383044a6"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14c9682839643be" Type="http://schemas.openxmlformats.org/officeDocument/2006/relationships/notesMaster" Target="../notesMasters/notesMaster1.xml"/><Relationship Id="R6217f86a64e7454f"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10fc23a6c03d4d8a" Type="http://schemas.openxmlformats.org/officeDocument/2006/relationships/notesMaster" Target="../notesMasters/notesMaster1.xml"/><Relationship Id="Ref734c0e971641e3"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1c922b19d1a54e9e" Type="http://schemas.openxmlformats.org/officeDocument/2006/relationships/notesMaster" Target="../notesMasters/notesMaster1.xml"/><Relationship Id="Rbc4a71bc818b445b"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620f081ef26f4981" Type="http://schemas.openxmlformats.org/officeDocument/2006/relationships/notesMaster" Target="../notesMasters/notesMaster1.xml"/><Relationship Id="Rb0c696a537c9454c"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2f84311f06ec4b6f" Type="http://schemas.openxmlformats.org/officeDocument/2006/relationships/slide" Target="../slides/slide10.xml"/><Relationship Id="R5abb24fafe4d456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e05c8903c7144c0" Type="http://schemas.openxmlformats.org/officeDocument/2006/relationships/notesMaster" Target="../notesMasters/notesMaster1.xml"/><Relationship Id="Rec9e49a4df5a4318"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25629e1de1274abc" Type="http://schemas.openxmlformats.org/officeDocument/2006/relationships/notesMaster" Target="../notesMasters/notesMaster1.xml"/><Relationship Id="Rb45a17bf540e4694"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db5e373131034f68" Type="http://schemas.openxmlformats.org/officeDocument/2006/relationships/notesMaster" Target="../notesMasters/notesMaster1.xml"/><Relationship Id="Rf772b5bb7b5044ba"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830f75de92b04141" Type="http://schemas.openxmlformats.org/officeDocument/2006/relationships/notesMaster" Target="../notesMasters/notesMaster1.xml"/><Relationship Id="Re4e57e40824f4eac"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8f8f45b69a11478c" Type="http://schemas.openxmlformats.org/officeDocument/2006/relationships/slide" Target="../slides/slide15.xml"/><Relationship Id="Rb0a6596f291347d9"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19bee61c4e3417d" Type="http://schemas.openxmlformats.org/officeDocument/2006/relationships/slide" Target="../slides/slide16.xml"/><Relationship Id="R386f305cb90641db"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f76fb8cb7d34880" Type="http://schemas.openxmlformats.org/officeDocument/2006/relationships/notesMaster" Target="../notesMasters/notesMaster1.xml"/><Relationship Id="Rcc9b7279b5314fb8"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075c135c27f44d24" Type="http://schemas.openxmlformats.org/officeDocument/2006/relationships/notesMaster" Target="../notesMasters/notesMaster1.xml"/><Relationship Id="R6e3f03dc79364cc9"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59faecdc68f243fe" Type="http://schemas.openxmlformats.org/officeDocument/2006/relationships/notesMaster" Target="../notesMasters/notesMaster1.xml"/><Relationship Id="Ra6aaf8df4086463f"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91902cb8513f4efa" Type="http://schemas.openxmlformats.org/officeDocument/2006/relationships/slide" Target="../slides/slide21.xml"/><Relationship Id="Rdbe3942926fe4a8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dbee6464ad146fe" Type="http://schemas.openxmlformats.org/officeDocument/2006/relationships/slide" Target="../slides/slide22.xml"/><Relationship Id="Rd341e6c91ba24d6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45f08109be84699" Type="http://schemas.openxmlformats.org/officeDocument/2006/relationships/notesMaster" Target="../notesMasters/notesMaster1.xml"/><Relationship Id="Rd9a2edc4b0f8416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278502d857144efd" Type="http://schemas.openxmlformats.org/officeDocument/2006/relationships/notesMaster" Target="../notesMasters/notesMaster1.xml"/><Relationship Id="R6450e6213ecc4cb6"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68359804a54e4372" Type="http://schemas.openxmlformats.org/officeDocument/2006/relationships/notesMaster" Target="../notesMasters/notesMaster1.xml"/><Relationship Id="R979231a02a2d401b" Type="http://schemas.openxmlformats.org/officeDocument/2006/relationships/slide" Target="../slides/slide6.xml"/></Relationships>
</file>

<file path=ppt/notesSlides/_rels/notesSlide23.xml.rels><?xml version='1.0' encoding='UTF-8' standalone='yes'?>
<Relationships xmlns="http://schemas.openxmlformats.org/package/2006/relationships"><Relationship Id="R10ca586f2119442c" Type="http://schemas.openxmlformats.org/officeDocument/2006/relationships/slide" Target="../slides/slide25.xml"/><Relationship Id="Rb8ac22d8eb5f487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cf6e917756124564" Type="http://schemas.openxmlformats.org/officeDocument/2006/relationships/notesMaster" Target="../notesMasters/notesMaster1.xml"/><Relationship Id="Rd782b404347747ba"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5159c48bcac44ab6" Type="http://schemas.openxmlformats.org/officeDocument/2006/relationships/notesMaster" Target="../notesMasters/notesMaster1.xml"/><Relationship Id="Rc15bdcf425ae4aca" Type="http://schemas.openxmlformats.org/officeDocument/2006/relationships/slide" Target="../slides/slide2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제가 이 cascade를 만든 이유는 90종 가운데 1등을 뽑기 위해서가 아닙니다. LPSCl에 첨가제를 넣으면 산화 안정성, Li 이동, 기계적 성질과 계면 반응이 함께 바뀝니다. 이 넓은 공간을 전부 DFT와 장시간 MD로 계산할 수 없기 때문에, 싼 계산으로 먼저 훑고 비싼 검증을 어디에 쓸지 정하는 흐름이 필요했습니다. 오늘은 그 흐름을 아홉 단계로 설명하고, 지금 데이터에서 실제로 배운 것과 아직 남은 질문을 나눠서 보여드리겠습니다.</a:t>
            </a:r>
            <a:endParaRPr/>
          </a:p>
          <a:p xmlns:a="http://schemas.openxmlformats.org/drawingml/2006/main">
            <a:r>
              <a:t/>
            </a:r>
            <a:endParaRPr/>
          </a:p>
          <a:p xmlns:a="http://schemas.openxmlformats.org/drawingml/2006/main">
            <a:r>
              <a:t>[발표자 메모]</a:t>
            </a:r>
            <a:endParaRPr/>
          </a:p>
          <a:p xmlns:a="http://schemas.openxmlformats.org/drawingml/2006/main">
            <a:r>
              <a:t>첫 장에서는 ‘winner search’가 아니라 ‘validation budget allocation’이 목적이라고 분명히 말한다.</a:t>
            </a:r>
            <a:endParaRPr/>
          </a:p>
          <a:p xmlns:a="http://schemas.openxmlformats.org/drawingml/2006/main">
            <a:r>
              <a:t/>
            </a:r>
            <a:endParaRPr/>
          </a:p>
          <a:p xmlns:a="http://schemas.openxmlformats.org/drawingml/2006/main">
            <a:r>
              <a:t>[Sources]</a:t>
            </a:r>
            <a:endParaRPr/>
          </a:p>
          <a:p xmlns:a="http://schemas.openxmlformats.org/drawingml/2006/main">
            <a:r>
              <a:t>Project cascade lineage and current methodology review.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황화물 고체전해질은 Li 이온이 잘 움직이는 장점이 있지만, 전극과 만나는 순간 여러 문제가 동시에 생깁니다. 첨가제로 산화 반응을 늦춰도 Li 경로가 나빠질 수 있고, bulk가 안정해 보여도 실제 계면에서는 분해가 진행될 수 있습니다. 그래서 한 개의 종합 점수보다 산화, 이동, 역학, 계면을 서로 다른 질문으로 나눠 봐야 합니다.</a:t>
            </a:r>
            <a:endParaRPr/>
          </a:p>
          <a:p xmlns:a="http://schemas.openxmlformats.org/drawingml/2006/main">
            <a:r>
              <a:t/>
            </a:r>
            <a:endParaRPr/>
          </a:p>
          <a:p xmlns:a="http://schemas.openxmlformats.org/drawingml/2006/main">
            <a:r>
              <a:t>[발표자 메모]</a:t>
            </a:r>
            <a:endParaRPr/>
          </a:p>
          <a:p xmlns:a="http://schemas.openxmlformats.org/drawingml/2006/main">
            <a:r>
              <a:t>네 상자를 차례로 짚고, ‘한 계산이 네 질문을 대신하지 않는다’고 마무리한다.</a:t>
            </a:r>
            <a:endParaRPr/>
          </a:p>
          <a:p xmlns:a="http://schemas.openxmlformats.org/drawingml/2006/main">
            <a:r>
              <a:t/>
            </a:r>
            <a:endParaRPr/>
          </a:p>
          <a:p xmlns:a="http://schemas.openxmlformats.org/drawingml/2006/main">
            <a:r>
              <a:t>[Sources]</a:t>
            </a:r>
            <a:endParaRPr/>
          </a:p>
          <a:p xmlns:a="http://schemas.openxmlformats.org/drawingml/2006/main">
            <a:r>
              <a:t>Banik et al., substitution and oxidative stability of argyrodites; Sundar et al., interface-specific coating screening.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문헌에서도 넓은 후보를 처음부터 가장 비싼 방법으로 계산하지 않습니다. Xiao는 수만 개의 코팅 후보를 상안정성, 전기화학 안정성, 계면 반응처럼 서로 다른 필터로 줄였습니다. Kahle은 구조 정보와 정적 모델에서 시작해 마지막에 first-principles MD로 올라갑니다. 제가 가져온 것은 이들의 문턱값이 아니라, 싼 모델과 비싼 검증의 역할을 분리하는 설계입니다.</a:t>
            </a:r>
            <a:endParaRPr/>
          </a:p>
          <a:p xmlns:a="http://schemas.openxmlformats.org/drawingml/2006/main">
            <a:r>
              <a:t/>
            </a:r>
            <a:endParaRPr/>
          </a:p>
          <a:p xmlns:a="http://schemas.openxmlformats.org/drawingml/2006/main">
            <a:r>
              <a:t>[발표자 메모]</a:t>
            </a:r>
            <a:endParaRPr/>
          </a:p>
          <a:p xmlns:a="http://schemas.openxmlformats.org/drawingml/2006/main">
            <a:r>
              <a:t>왼쪽은 후보 수를 줄이는 구조, 오른쪽은 계산 정밀도를 올리는 구조라고 설명한다.</a:t>
            </a:r>
            <a:endParaRPr/>
          </a:p>
          <a:p xmlns:a="http://schemas.openxmlformats.org/drawingml/2006/main">
            <a:r>
              <a:t/>
            </a:r>
            <a:endParaRPr/>
          </a:p>
          <a:p xmlns:a="http://schemas.openxmlformats.org/drawingml/2006/main">
            <a:r>
              <a:t>[Sources]</a:t>
            </a:r>
            <a:endParaRPr/>
          </a:p>
          <a:p xmlns:a="http://schemas.openxmlformats.org/drawingml/2006/main">
            <a:r>
              <a:t>Xiao et al., Joule 2019, Fig. 1; Kahle et al., Phys. Rev. Materials 2020, Fig.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우리 workflow는 문헌의 결과 숫자를 복사한 것이 아닙니다. 넓은 화학 공간은 빠르게 훑고, 서로 다른 물리 질문은 따로 계산하고, 마지막 판단은 같은 조건의 DFT·MD·실험으로 넘긴다는 원칙을 가져왔습니다. 그래서 싼 모델은 후보를 확정하는 판정기가 아니라, 다음 계산 순서를 바꾸는 도구로 쓰는 게 맞습니다.</a:t>
            </a:r>
            <a:endParaRPr/>
          </a:p>
          <a:p xmlns:a="http://schemas.openxmlformats.org/drawingml/2006/main">
            <a:r>
              <a:t/>
            </a:r>
            <a:endParaRPr/>
          </a:p>
          <a:p xmlns:a="http://schemas.openxmlformats.org/drawingml/2006/main">
            <a:r>
              <a:t>[발표자 메모]</a:t>
            </a:r>
            <a:endParaRPr/>
          </a:p>
          <a:p xmlns:a="http://schemas.openxmlformats.org/drawingml/2006/main">
            <a:r>
              <a:t>네 단계 중 ‘physics-specific checks’와 ‘expensive validation’ 사이를 특히 강조한다.</a:t>
            </a:r>
            <a:endParaRPr/>
          </a:p>
          <a:p xmlns:a="http://schemas.openxmlformats.org/drawingml/2006/main">
            <a:r>
              <a:t/>
            </a:r>
            <a:endParaRPr/>
          </a:p>
          <a:p xmlns:a="http://schemas.openxmlformats.org/drawingml/2006/main">
            <a:r>
              <a:t>[Sources]</a:t>
            </a:r>
            <a:endParaRPr/>
          </a:p>
          <a:p xmlns:a="http://schemas.openxmlformats.org/drawingml/2006/main">
            <a:r>
              <a:t>Xiao 2019; Kahle 2020; Sundar 2025; Sendek 2017.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출발 명단은 산화물, 할라이드, 질화물과 황화물을 합친 91종입니다. 각 화합물에 세 개의 실행 라벨을 붙여 273개 작업을 계획했고, 그중 270개가 활성화된 workflow를 끝냈습니다. 여기서 x002, x005, x010은 실제 2, 5, 10퍼센트 농도가 아닙니다. 작은 셀의 정수 치환 때문에 세 라벨 모두 generator loading x=0.25로 들어갔고, 서로 독립적인 반복 측정도 아닙니다.</a:t>
            </a:r>
            <a:endParaRPr/>
          </a:p>
          <a:p xmlns:a="http://schemas.openxmlformats.org/drawingml/2006/main">
            <a:r>
              <a:t/>
            </a:r>
            <a:endParaRPr/>
          </a:p>
          <a:p xmlns:a="http://schemas.openxmlformats.org/drawingml/2006/main">
            <a:r>
              <a:t>[발표자 메모]</a:t>
            </a:r>
            <a:endParaRPr/>
          </a:p>
          <a:p xmlns:a="http://schemas.openxmlformats.org/drawingml/2006/main">
            <a:r>
              <a:t>273을 후보 수라고 부르지 않고 workload라고 부른다.</a:t>
            </a:r>
            <a:endParaRPr/>
          </a:p>
          <a:p xmlns:a="http://schemas.openxmlformats.org/drawingml/2006/main">
            <a:r>
              <a:t/>
            </a:r>
            <a:endParaRPr/>
          </a:p>
          <a:p xmlns:a="http://schemas.openxmlformats.org/drawingml/2006/main">
            <a:r>
              <a:t>[Sources]</a:t>
            </a:r>
            <a:endParaRPr/>
          </a:p>
          <a:p xmlns:a="http://schemas.openxmlformats.org/drawingml/2006/main">
            <a:r>
              <a:t>master_batch_273.sh; db/properties/cascade_label_scatter_audit.json (corrected exact-formula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단계는 물성을 계산하는 단계가 아닙니다. 어떤 host 구조, 어떤 화학 명단, 어떤 모델과 장비를 썼는지 먼저 고정합니다. 수백 개 구조를 만든 뒤에 모델이나 경로가 잘못됐다는 걸 발견하면 비용을 거의 전부 잃기 때문입니다. 그래서 preflight는 계산 환경과 provenance를 먼저 묶는 단계입니다.</a:t>
            </a:r>
            <a:endParaRPr/>
          </a:p>
          <a:p xmlns:a="http://schemas.openxmlformats.org/drawingml/2006/main">
            <a:r>
              <a:t/>
            </a:r>
            <a:endParaRPr/>
          </a:p>
          <a:p xmlns:a="http://schemas.openxmlformats.org/drawingml/2006/main">
            <a:r>
              <a:t>[발표자 메모]</a:t>
            </a:r>
            <a:endParaRPr/>
          </a:p>
          <a:p xmlns:a="http://schemas.openxmlformats.org/drawingml/2006/main">
            <a:r>
              <a:t>‘재료를 거르는 단계가 아니라 실행을 거르는 단계’라고 설명한다.</a:t>
            </a:r>
            <a:endParaRPr/>
          </a:p>
          <a:p xmlns:a="http://schemas.openxmlformats.org/drawingml/2006/main">
            <a:r>
              <a:t/>
            </a:r>
            <a:endParaRPr/>
          </a:p>
          <a:p xmlns:a="http://schemas.openxmlformats.org/drawingml/2006/main">
            <a:r>
              <a:t>[Sources]</a:t>
            </a:r>
            <a:endParaRPr/>
          </a:p>
          <a:p xmlns:a="http://schemas.openxmlformats.org/drawingml/2006/main">
            <a:r>
              <a:t>Archived tier_cascade.sh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단계에서는 첨가제 이름을 실제 원자 구조로 바꿉니다. 가능한 치환 자리와 전하보상 조합을 만들고, 여러 초기 배치를 준비합니다. 이때부터 같은 도펀트 이름도 exact formula와 자리가 다르면 다른 물질입니다. 실제로 90종 가운데 31종은 세 라벨 사이에서 exact formula가 바뀌었기 때문에, 세 값을 농도 응답이나 반복 측정처럼 평균하면 안 됩니다.</a:t>
            </a:r>
            <a:endParaRPr/>
          </a:p>
          <a:p xmlns:a="http://schemas.openxmlformats.org/drawingml/2006/main">
            <a:r>
              <a:t/>
            </a:r>
            <a:endParaRPr/>
          </a:p>
          <a:p xmlns:a="http://schemas.openxmlformats.org/drawingml/2006/main">
            <a:r>
              <a:t>[발표자 메모]</a:t>
            </a:r>
            <a:endParaRPr/>
          </a:p>
          <a:p xmlns:a="http://schemas.openxmlformats.org/drawingml/2006/main">
            <a:r>
              <a:t>아래 31/90은 결과 순위가 아니라 구조 생성 설계의 진단값이라고 말한다.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단계에서는 생성된 구조를 UMA 포텐셜로 빠르게 이완합니다. 심하게 무너지거나 수렴하지 않는 구조를 먼저 찾고, 같은 계산 규약 안에서 상대 에너지와 변형 정도를 기록합니다. DFT보다 훨씬 싸서 넓은 구조 공간을 훑는 데 유용하지만, 이 값은 formation energy나 hull stability를 증명하지 않습니다. Li₃N처럼 모델 편향이 확인된 계열은 이 증거에서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초록 상자는 용도, 빨간 상자는 한계다. 두 문장을 모두 말한다.</a:t>
            </a:r>
            <a:endParaRPr/>
          </a:p>
          <a:p xmlns:a="http://schemas.openxmlformats.org/drawingml/2006/main">
            <a:r>
              <a:t/>
            </a:r>
            <a:endParaRPr/>
          </a:p>
          <a:p xmlns:a="http://schemas.openxmlformats.org/drawingml/2006/main">
            <a:r>
              <a:t>[Sources]</a:t>
            </a:r>
            <a:endParaRPr/>
          </a:p>
          <a:p xmlns:a="http://schemas.openxmlformats.org/drawingml/2006/main">
            <a:r>
              <a:t>tools/doping/run_uma_screening.py lineage; project UMA validity rules.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이완된 구조 중 다음 단계로 보낼 대표 구조를 고릅니다. 여기서 winner라는 말이 나오지만, 의미는 생성된 메뉴 안에서 상대적으로 나은 배치라는 정도입니다. 후보 수와 seed 수가 화학종마다 다르기 때문에, 이 선택을 곧바로 최고의 도펀트라고 부를 수는 없습니다. 구조 선택과 화학종 순위는 반드시 분리해서 봐야 합니다.</a:t>
            </a:r>
            <a:endParaRPr/>
          </a:p>
          <a:p xmlns:a="http://schemas.openxmlformats.org/drawingml/2006/main">
            <a:r>
              <a:t/>
            </a:r>
            <a:endParaRPr/>
          </a:p>
          <a:p xmlns:a="http://schemas.openxmlformats.org/drawingml/2006/main">
            <a:r>
              <a:t>[발표자 메모]</a:t>
            </a:r>
            <a:endParaRPr/>
          </a:p>
          <a:p xmlns:a="http://schemas.openxmlformats.org/drawingml/2006/main">
            <a:r>
              <a:t>‘winner’라는 단어의 범위를 좁히는 슬라이드다.</a:t>
            </a:r>
            <a:endParaRPr/>
          </a:p>
          <a:p xmlns:a="http://schemas.openxmlformats.org/drawingml/2006/main">
            <a:r>
              <a:t/>
            </a:r>
            <a:endParaRPr/>
          </a:p>
          <a:p xmlns:a="http://schemas.openxmlformats.org/drawingml/2006/main">
            <a:r>
              <a:t>[Sources]</a:t>
            </a:r>
            <a:endParaRPr/>
          </a:p>
          <a:p xmlns:a="http://schemas.openxmlformats.org/drawingml/2006/main">
            <a:r>
              <a:t>tools/doping/select_winners.py lineage; cascade_v23_all.csv.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선택된 구조는 짧게 가열한 뒤 다시 이완합니다. 목적은 처음 잡힌 국소 최소가 조금 흔들렸을 때도 남아 있는지 보는 것입니다. 궤적을 사용하기 때문에 MD처럼 보이지만, 장시간 확산계수나 상온 전도도를 얻는 계산은 아닙니다. 전도도를 말하려면 여러 seed와 충분한 생산 구간을 가진 별도 MD가 필요합니다.</a:t>
            </a:r>
            <a:endParaRPr/>
          </a:p>
          <a:p xmlns:a="http://schemas.openxmlformats.org/drawingml/2006/main">
            <a:r>
              <a:t/>
            </a:r>
            <a:endParaRPr/>
          </a:p>
          <a:p xmlns:a="http://schemas.openxmlformats.org/drawingml/2006/main">
            <a:r>
              <a:t>[발표자 메모]</a:t>
            </a:r>
            <a:endParaRPr/>
          </a:p>
          <a:p xmlns:a="http://schemas.openxmlformats.org/drawingml/2006/main">
            <a:r>
              <a:t>anneal과 conductivity MD를 구분해서 말한다.</a:t>
            </a:r>
            <a:endParaRPr/>
          </a:p>
          <a:p xmlns:a="http://schemas.openxmlformats.org/drawingml/2006/main">
            <a:r>
              <a:t/>
            </a:r>
            <a:endParaRPr/>
          </a:p>
          <a:p xmlns:a="http://schemas.openxmlformats.org/drawingml/2006/main">
            <a:r>
              <a:t>[Sources]</a:t>
            </a:r>
            <a:endParaRPr/>
          </a:p>
          <a:p xmlns:a="http://schemas.openxmlformats.org/drawingml/2006/main">
            <a:r>
              <a:t>tools/doping/anneal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여섯 번째 단계는 정적 구조에서 Li 경로가 불리해 보이는지 빠르게 확인합니다. bond-valence 지형은 국소 배위를 보고, 4 Å 지표는 도펀트 주변에 놓인 Li의 기하학적 비율을 셉니다. 둘 다 확산계수나 전도도가 아닙니다. 또 과거 cascade의 파라미터는 현재 프로젝트 표준 softBV와 다르기 때문에, 지금은 과거 구조의 위험 신호로만 사용하고 최종 후보는 표준 규약으로 다시 계산해야 합니다.</a:t>
            </a:r>
            <a:endParaRPr/>
          </a:p>
          <a:p xmlns:a="http://schemas.openxmlformats.org/drawingml/2006/main">
            <a:r>
              <a:t/>
            </a:r>
            <a:endParaRPr/>
          </a:p>
          <a:p xmlns:a="http://schemas.openxmlformats.org/drawingml/2006/main">
            <a:r>
              <a:t>[발표자 메모]</a:t>
            </a:r>
            <a:endParaRPr/>
          </a:p>
          <a:p xmlns:a="http://schemas.openxmlformats.org/drawingml/2006/main">
            <a:r>
              <a:t>그림의 노란 영역을 ‘통로’라고 단정하지 말고 정적 low-energy region이라고 설명한다.</a:t>
            </a:r>
            <a:endParaRPr/>
          </a:p>
          <a:p xmlns:a="http://schemas.openxmlformats.org/drawingml/2006/main">
            <a:r>
              <a:t/>
            </a:r>
            <a:endParaRPr/>
          </a:p>
          <a:p xmlns:a="http://schemas.openxmlformats.org/drawingml/2006/main">
            <a:r>
              <a:t>[Sources]</a:t>
            </a:r>
            <a:endParaRPr/>
          </a:p>
          <a:p xmlns:a="http://schemas.openxmlformats.org/drawingml/2006/main">
            <a:r>
              <a:t>docs/figures/bv_structure_panels_comp1.png; legacy cascade BVS code; canonical softBV convention.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일곱 번째 단계에서는 부피를 조금씩 바꿔 EOS를 맞추고, 작은 변형을 가해 탄성 응답을 계산합니다. 이렇게 하면 지나치게 연하거나 비물리적인 구조를 찾고, 어떤 후보가 DFT 확인이 필요한지 정할 수 있습니다. 다만 화면의 DFT EOS는 한 사례의 검증 예시이고, 90종 전체가 DFT로 검증됐다는 뜻은 아닙니다. screen-wide 탄성값은 같은 MLIP 규약 안의 방향 비교로 보는 게 안전합니다.</a:t>
            </a:r>
          </a:p>
          <a:p xmlns:a="http://schemas.openxmlformats.org/drawingml/2006/main">
            <a:r>
              <a:t/>
            </a:r>
          </a:p>
          <a:p xmlns:a="http://schemas.openxmlformats.org/drawingml/2006/main">
            <a:r>
              <a:t>[발표자 메모]</a:t>
            </a:r>
          </a:p>
          <a:p xmlns:a="http://schemas.openxmlformats.org/drawingml/2006/main">
            <a:r>
              <a:t>오른쪽은 두 계산이 답하는 질문을 나눈다. B0와 VRH B를 같은 값처럼 섞지 않는다.</a:t>
            </a:r>
          </a:p>
          <a:p xmlns:a="http://schemas.openxmlformats.org/drawingml/2006/main">
            <a:r>
              <a:t/>
            </a:r>
          </a:p>
          <a:p xmlns:a="http://schemas.openxmlformats.org/drawingml/2006/main">
            <a:r>
              <a:t>[Sources]</a:t>
            </a:r>
          </a:p>
          <a:p xmlns:a="http://schemas.openxmlformats.org/drawingml/2006/main">
            <a:r>
              <a:t>docs/figures/cascade/b2o3_eos_dft_vs_modelc.png; run_mlip_postproc.py lineage.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여덟 번째 단계에서는 Li 화학퍼텐셜을 전압축으로 바꾸고, 후보 조성이 어떤 상으로 분해될 수 있는지 봅니다. 같은 경쟁상 목록 안에서 host와 후보를 비교하면 bulk 산화 onset과 분해 산물을 얻을 수 있습니다. 하지만 이 계산은 0 K bulk 열역학입니다. 실제 계면 구조, 접착, 반응 속도와 passivation은 별도 계산과 실험이 필요합니다.</a:t>
            </a:r>
            <a:endParaRPr/>
          </a:p>
          <a:p xmlns:a="http://schemas.openxmlformats.org/drawingml/2006/main">
            <a:r>
              <a:t/>
            </a:r>
            <a:endParaRPr/>
          </a:p>
          <a:p xmlns:a="http://schemas.openxmlformats.org/drawingml/2006/main">
            <a:r>
              <a:t>[발표자 메모]</a:t>
            </a:r>
            <a:endParaRPr/>
          </a:p>
          <a:p xmlns:a="http://schemas.openxmlformats.org/drawingml/2006/main">
            <a:r>
              <a:t>convex hull과 grand potential은 ‘분해 가능성’이지 ‘실제 수명’이 아니라고 선을 긋는다.</a:t>
            </a:r>
            <a:endParaRPr/>
          </a:p>
          <a:p xmlns:a="http://schemas.openxmlformats.org/drawingml/2006/main">
            <a:r>
              <a:t/>
            </a:r>
            <a:endParaRPr/>
          </a:p>
          <a:p xmlns:a="http://schemas.openxmlformats.org/drawingml/2006/main">
            <a:r>
              <a:t>[Sources]</a:t>
            </a:r>
            <a:endParaRPr/>
          </a:p>
          <a:p xmlns:a="http://schemas.openxmlformats.org/drawingml/2006/main">
            <a:r>
              <a:t>tools/oxidation/esw_cascade_batch.py; MP grand-potential workflow; same-phase-roster contract.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단계에서는 앞의 기록을 모아 다음 고비용 계산의 순서를 정합니다. 이때 도펀트 이름만 합치는 것이 아니라 exact formula, site, 계산 규약과 불확실성을 함께 넘겨야 합니다. 산출물은 1등 후보가 아니라 DFT, 멀티시드 MD, 계면 계산이나 실험으로 확인할 질문 목록입니다. 새로운 결과가 들어오면 다시 순서를 갱신합니다.</a:t>
            </a:r>
            <a:endParaRPr/>
          </a:p>
          <a:p xmlns:a="http://schemas.openxmlformats.org/drawingml/2006/main">
            <a:r>
              <a:t/>
            </a:r>
            <a:endParaRPr/>
          </a:p>
          <a:p xmlns:a="http://schemas.openxmlformats.org/drawingml/2006/main">
            <a:r>
              <a:t>[발표자 메모]</a:t>
            </a:r>
            <a:endParaRPr/>
          </a:p>
          <a:p xmlns:a="http://schemas.openxmlformats.org/drawingml/2006/main">
            <a:r>
              <a:t>마지막 상자에서 첫 상자로 돌아오는 화살표를 active-learning loop로 설명한다.</a:t>
            </a:r>
            <a:endParaRPr/>
          </a:p>
          <a:p xmlns:a="http://schemas.openxmlformats.org/drawingml/2006/main">
            <a:r>
              <a:t/>
            </a:r>
            <a:endParaRPr/>
          </a:p>
          <a:p xmlns:a="http://schemas.openxmlformats.org/drawingml/2006/main">
            <a:r>
              <a:t>[Sources]</a:t>
            </a:r>
            <a:endParaRPr/>
          </a:p>
          <a:p xmlns:a="http://schemas.openxmlformats.org/drawingml/2006/main">
            <a:r>
              <a:t>stage 10–12b design; acquisition workflow; explicit validation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270개 실행 슬롯에서 구조, 짧은 anneal, 정적 지표, 탄성, bulk 산화 기록은 남았습니다. 반면 장시간 멀티시드 전도도 MD와 명시적 계면 접착 계산은 v23에서 돌지 않았습니다. DFT 입력 폴더가 있다는 사실도 DFT 검증 완료와는 다릅니다. 이 슬라이드는 현재 데이터가 답할 수 있는 질문과 답할 수 없는 질문을 한 번에 나누기 위한 것입니다.</a:t>
            </a:r>
            <a:endParaRPr/>
          </a:p>
          <a:p xmlns:a="http://schemas.openxmlformats.org/drawingml/2006/main">
            <a:r>
              <a:t/>
            </a:r>
            <a:endParaRPr/>
          </a:p>
          <a:p xmlns:a="http://schemas.openxmlformats.org/drawingml/2006/main">
            <a:r>
              <a:t>[발표자 메모]</a:t>
            </a:r>
            <a:endParaRPr/>
          </a:p>
          <a:p xmlns:a="http://schemas.openxmlformats.org/drawingml/2006/main">
            <a:r>
              <a:t>왼쪽과 오른쪽을 같은 속도로 읽지 말고, 오른쪽 세 가지 핵심: real concentration, MD, interface만 강조한다.</a:t>
            </a:r>
            <a:endParaRPr/>
          </a:p>
          <a:p xmlns:a="http://schemas.openxmlformats.org/drawingml/2006/main">
            <a:r>
              <a:t/>
            </a:r>
            <a:endParaRPr/>
          </a:p>
          <a:p xmlns:a="http://schemas.openxmlformats.org/drawingml/2006/main">
            <a:r>
              <a:t>[Sources]</a:t>
            </a:r>
            <a:endParaRPr/>
          </a:p>
          <a:p xmlns:a="http://schemas.openxmlformats.org/drawingml/2006/main">
            <a:r>
              <a:t>Run-tree inventory; cascade pipeline anatomy; v23 enabled-stage configuration.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먼저 배운 것은 도펀트 이름만으로 비교 대상을 정의할 수 없다는 점입니다. 세 실행 라벨을 exact formula 기준으로 다시 묶으면 59종은 조성이 같았지만 31종은 조성 자체가 달라졌습니다. 같은 이름 아래 다른 물질을 평균한 경우가 있었다는 뜻입니다. 다음 계산에서는 formula와 site를 먼저 고정하고, 그 안에서 여러 seed를 돌려 자리 의존성과 수치적 흔들림을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이 슬라이드의 목적은 과거 데이터를 버리는 게 아니라, 어떤 단위로 다시 묶어야 하는지를 설명하는 것이다.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 corrected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 작은 표만 보면 산화 onset 변화가 산화물 계열의 특징처럼 보였습니다. 전체 화학 풀을 다시 보니 일부 황화물 대조군도 같은 산화 반응 가지에 들어갔습니다. 그래서 ‘산화물이라서 좋아진다’는 설명은 충분하지 않습니다. Banik의 그림은 S 상태가 산화 반응을 지배할 수 있다는 배경을 주고, Sundar의 그림은 같은 개질재도 어느 계면에서 보느냐에 따라 반응성이 달라진다는 점을 보여줍니다. 현재 결과는 메커니즘 확정이 아니라, 다음 matched comparison을 정하는 가설입니다.</a:t>
            </a:r>
            <a:endParaRPr/>
          </a:p>
          <a:p xmlns:a="http://schemas.openxmlformats.org/drawingml/2006/main">
            <a:r>
              <a:t/>
            </a:r>
            <a:endParaRPr/>
          </a:p>
          <a:p xmlns:a="http://schemas.openxmlformats.org/drawingml/2006/main">
            <a:r>
              <a:t>[발표자 메모]</a:t>
            </a:r>
            <a:endParaRPr/>
          </a:p>
          <a:p xmlns:a="http://schemas.openxmlformats.org/drawingml/2006/main">
            <a:r>
              <a:t>문헌 그림을 우리 데이터 검증처럼 말하지 않는다. 왼쪽은 bulk 전자구조 배경, 오른쪽은 interface-specific 판단의 필요성이다.</a:t>
            </a:r>
            <a:endParaRPr/>
          </a:p>
          <a:p xmlns:a="http://schemas.openxmlformats.org/drawingml/2006/main">
            <a:r>
              <a:t/>
            </a:r>
            <a:endParaRPr/>
          </a:p>
          <a:p xmlns:a="http://schemas.openxmlformats.org/drawingml/2006/main">
            <a:r>
              <a:t>[Sources]</a:t>
            </a:r>
            <a:endParaRPr/>
          </a:p>
          <a:p xmlns:a="http://schemas.openxmlformats.org/drawingml/2006/main">
            <a:r>
              <a:t>Banik et al., Fig. 4; Sundar et al., Fig. 2; recovered oxide/sulfide family controls.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campaign은 후보 수를 더 늘리기 전에 통제를 먼저 강화해야 합니다. 큰 셀에서 실제 저농도를 만들고, formula와 site를 고정한 뒤 여러 seed를 반복해야 합니다. 정적 Li 경로는 프로젝트 표준 softBV로 다시 계산하고, 경계 후보만 멀티시드 MD로 올립니다. 산화와 계면은 같은 구조 계보와 reference를 사용해 따로 검증하고, 마지막에만 결과를 합치는 게 맞습니다.</a:t>
            </a:r>
            <a:endParaRPr/>
          </a:p>
          <a:p xmlns:a="http://schemas.openxmlformats.org/drawingml/2006/main">
            <a:r>
              <a:t/>
            </a:r>
            <a:endParaRPr/>
          </a:p>
          <a:p xmlns:a="http://schemas.openxmlformats.org/drawingml/2006/main">
            <a:r>
              <a:t>[발표자 메모]</a:t>
            </a:r>
            <a:endParaRPr/>
          </a:p>
          <a:p xmlns:a="http://schemas.openxmlformats.org/drawingml/2006/main">
            <a:r>
              <a:t>구조, 수송, 계면 세 칸을 future work의 세 묶음으로 정리한다.</a:t>
            </a:r>
            <a:endParaRPr/>
          </a:p>
          <a:p xmlns:a="http://schemas.openxmlformats.org/drawingml/2006/main">
            <a:r>
              <a:t/>
            </a:r>
            <a:endParaRPr/>
          </a:p>
          <a:p xmlns:a="http://schemas.openxmlformats.org/drawingml/2006/main">
            <a:r>
              <a:t>[Sources]</a:t>
            </a:r>
            <a:endParaRPr/>
          </a:p>
          <a:p xmlns:a="http://schemas.openxmlformats.org/drawingml/2006/main">
            <a:r>
              <a:t>Canonical softBV and MLIP-MD protocols; cascade design review; interface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ML은 처음 보는 화학의 물성값을 믿을 정도로 검증되지 않았습니다. 대신 이미 물리적으로 허용한 후보 안에서 불확실성과 다양성을 보고 다음 계산 순서를 정하는 데 쓸 수 있습니다. 공동 개질도 마찬가지입니다. 지금 explicit pair property label은 0개이므로 pair 순위를 결과처럼 말하면 안 됩니다. 첫 pair는 같은 cell, site, seed 조건의 단일 개질 대조군과 함께 계산하고, 그 결과를 다시 모델에 넣는 방식이 적절합니다.</a:t>
            </a:r>
            <a:endParaRPr/>
          </a:p>
          <a:p xmlns:a="http://schemas.openxmlformats.org/drawingml/2006/main">
            <a:r>
              <a:t/>
            </a:r>
            <a:endParaRPr/>
          </a:p>
          <a:p xmlns:a="http://schemas.openxmlformats.org/drawingml/2006/main">
            <a:r>
              <a:t>[발표자 메모]</a:t>
            </a:r>
            <a:endParaRPr/>
          </a:p>
          <a:p xmlns:a="http://schemas.openxmlformats.org/drawingml/2006/main">
            <a:r>
              <a:t>Sendek 그림에서는 y축 확률만 보지 말고 x축의 training-domain distance를 함께 보라고 짚는다.</a:t>
            </a:r>
            <a:endParaRPr/>
          </a:p>
          <a:p xmlns:a="http://schemas.openxmlformats.org/drawingml/2006/main">
            <a:r>
              <a:t/>
            </a:r>
            <a:endParaRPr/>
          </a:p>
          <a:p xmlns:a="http://schemas.openxmlformats.org/drawingml/2006/main">
            <a:r>
              <a:t>[Sources]</a:t>
            </a:r>
            <a:endParaRPr/>
          </a:p>
          <a:p xmlns:a="http://schemas.openxmlformats.org/drawingml/2006/main">
            <a:r>
              <a:t>Sendek et al., EES 2017, Fig. 4; codoping ML metadata; explicit pair inventory.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이 campaign의 가장 큰 성과는 1등 도펀트를 찾았다는 것이 아니라 비교가 어디서 흔들리는지 알게 됐다는 점입니다. 넓은 화학 풀은 기존 해석을 시험할 대조군을 줬고, 구조 감사는 formula와 site를 먼저 고정해야 한다는 걸 보여줬습니다. 이제 논의할 질문은 세 가지입니다. 저농도 멀티시드 MD와 명시적 계면 중 무엇을 먼저 할지, best-case와 robust candidate 중 어느 정의를 쓸지, 그리고 몇 개의 site와 seed가 충분한지입니다.</a:t>
            </a:r>
            <a:endParaRPr/>
          </a:p>
          <a:p xmlns:a="http://schemas.openxmlformats.org/drawingml/2006/main">
            <a:r>
              <a:t/>
            </a:r>
            <a:endParaRPr/>
          </a:p>
          <a:p xmlns:a="http://schemas.openxmlformats.org/drawingml/2006/main">
            <a:r>
              <a:t>[발표자 메모]</a:t>
            </a:r>
            <a:endParaRPr/>
          </a:p>
          <a:p xmlns:a="http://schemas.openxmlformats.org/drawingml/2006/main">
            <a:r>
              <a:t>세 질문 중 청중에게 실제로 의견을 받을 하나를 미리 고른다.</a:t>
            </a:r>
            <a:endParaRPr/>
          </a:p>
          <a:p xmlns:a="http://schemas.openxmlformats.org/drawingml/2006/main">
            <a:r>
              <a:t/>
            </a:r>
            <a:endParaRPr/>
          </a:p>
          <a:p xmlns:a="http://schemas.openxmlformats.org/drawingml/2006/main">
            <a:r>
              <a:t>[Sources]</a:t>
            </a:r>
            <a:endParaRPr/>
          </a:p>
          <a:p xmlns:a="http://schemas.openxmlformats.org/drawingml/2006/main">
            <a:r>
              <a:t>Seminar synthesis of the current cascade evidence and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전체 분모를 보여주는 부록입니다. 산화물만이 아니라 여러 할라이드, 질화물과 황화물을 포함해 91종을 계획했습니다. 오른쪽 숫자가 우리 roster이고, 왼쪽 주기율표는 LLZO 논문에서 넓은 dopant 명단을 보여준 배치 예시일 뿐 우리 성능 결과가 아닙니다.</a:t>
            </a:r>
            <a:endParaRPr/>
          </a:p>
          <a:p xmlns:a="http://schemas.openxmlformats.org/drawingml/2006/main">
            <a:r>
              <a:t/>
            </a:r>
            <a:endParaRPr/>
          </a:p>
          <a:p xmlns:a="http://schemas.openxmlformats.org/drawingml/2006/main">
            <a:r>
              <a:t>[발표자 메모]</a:t>
            </a:r>
            <a:endParaRPr/>
          </a:p>
          <a:p xmlns:a="http://schemas.openxmlformats.org/drawingml/2006/main">
            <a:r>
              <a:t>질문이 없으면 가족 수만 읽고 넘어간다.</a:t>
            </a:r>
            <a:endParaRPr/>
          </a:p>
          <a:p xmlns:a="http://schemas.openxmlformats.org/drawingml/2006/main">
            <a:r>
              <a:t/>
            </a:r>
            <a:endParaRPr/>
          </a:p>
          <a:p xmlns:a="http://schemas.openxmlformats.org/drawingml/2006/main">
            <a:r>
              <a:t>[Sources]</a:t>
            </a:r>
            <a:endParaRPr/>
          </a:p>
          <a:p xmlns:a="http://schemas.openxmlformats.org/drawingml/2006/main">
            <a:r>
              <a:t>Anderson et al. 2024, Fig. 1; project campaign roster.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들어오면 전체 91종을 보여주는 페이지입니다. 순서는 성능 순위가 아니고, 가족별로 어떤 화학 공간을 처음에 열었는지 보여줍니다. Li₃N은 명단에는 있었지만 프로젝트 규약상 UMA 판단 근거에서는 분리해야 하고, As₂S₃ 세 슬롯은 구조 생성 단계에서 끝났습니다.</a:t>
            </a:r>
            <a:endParaRPr/>
          </a:p>
          <a:p xmlns:a="http://schemas.openxmlformats.org/drawingml/2006/main">
            <a:r>
              <a:t/>
            </a:r>
            <a:endParaRPr/>
          </a:p>
          <a:p xmlns:a="http://schemas.openxmlformats.org/drawingml/2006/main">
            <a:r>
              <a:t>[발표자 메모]</a:t>
            </a:r>
            <a:endParaRPr/>
          </a:p>
          <a:p xmlns:a="http://schemas.openxmlformats.org/drawingml/2006/main">
            <a:r>
              <a:t>발표 본문에서는 열지 않아도 된다.</a:t>
            </a:r>
            <a:endParaRPr/>
          </a:p>
          <a:p xmlns:a="http://schemas.openxmlformats.org/drawingml/2006/main">
            <a:r>
              <a:t/>
            </a:r>
            <a:endParaRPr/>
          </a:p>
          <a:p xmlns:a="http://schemas.openxmlformats.org/drawingml/2006/main">
            <a:r>
              <a:t>[Sources]</a:t>
            </a:r>
            <a:endParaRPr/>
          </a:p>
          <a:p xmlns:a="http://schemas.openxmlformats.org/drawingml/2006/main">
            <a:r>
              <a:t>master_batch_273.sh roster; project UMA exclusion rule for Li3N.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본문에서는 청중이 이해하기 쉬운 아홉 질문으로 묶었지만, 실제 폴더는 00부터 12b까지 더 잘게 나뉩니다. 이 표는 두 표현을 연결합니다. 특히 마지막 thermodynamic context와 validation queue는 여러 후처리 폴더와 외부 grand-potential 계산을 함께 묶은 개념 단계입니다.</a:t>
            </a:r>
            <a:endParaRPr/>
          </a:p>
          <a:p xmlns:a="http://schemas.openxmlformats.org/drawingml/2006/main">
            <a:r>
              <a:t/>
            </a:r>
            <a:endParaRPr/>
          </a:p>
          <a:p xmlns:a="http://schemas.openxmlformats.org/drawingml/2006/main">
            <a:r>
              <a:t>[발표자 메모]</a:t>
            </a:r>
            <a:endParaRPr/>
          </a:p>
          <a:p xmlns:a="http://schemas.openxmlformats.org/drawingml/2006/main">
            <a:r>
              <a:t>구현 질문이 나올 때만 연다.</a:t>
            </a:r>
            <a:endParaRPr/>
          </a:p>
          <a:p xmlns:a="http://schemas.openxmlformats.org/drawingml/2006/main">
            <a:r>
              <a:t/>
            </a:r>
            <a:endParaRPr/>
          </a:p>
          <a:p xmlns:a="http://schemas.openxmlformats.org/drawingml/2006/main">
            <a:r>
              <a:t>[Sources]</a:t>
            </a:r>
            <a:endParaRPr/>
          </a:p>
          <a:p xmlns:a="http://schemas.openxmlformats.org/drawingml/2006/main">
            <a:r>
              <a:t>Archived tier_cascade.sh;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라벨은 2, 5, 10퍼센트 농도축으로 설계됐지만 실제 작은 셀에서는 같은 정수 치환량으로 양자화됐습니다. 동시에 31종에서는 선택된 자리와 조성이 달라져 exact formula도 바뀌었습니다. 따라서 세 값을 농도 경향이나 통제된 반복 측정으로 부르면 안 됩니다. 앞으로는 formula와 site를 고정한 뒤 seed만 바꾸는 반복과, cell 크기를 바꿔 실제 농도를 바꾸는 계산을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수치 질문이 나올 때만 본문 P5보다 자세히 설명한다.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부록은 발표에서 쓴 계산 용어를 한 번에 정리합니다. 왼쪽은 넓은 후보를 싸게 훑는 증거이고, 오른쪽은 최종 재료 주장을 위해 필요한 검증입니다. 정적 지표가 전도도를 대신하지 않고, bulk 열역학이 계면 수명을 대신하지 않는다는 구분이 핵심입니다.</a:t>
            </a:r>
            <a:endParaRPr/>
          </a:p>
          <a:p xmlns:a="http://schemas.openxmlformats.org/drawingml/2006/main">
            <a:r>
              <a:t/>
            </a:r>
            <a:endParaRPr/>
          </a:p>
          <a:p xmlns:a="http://schemas.openxmlformats.org/drawingml/2006/main">
            <a:r>
              <a:t>[발표자 메모]</a:t>
            </a:r>
            <a:endParaRPr/>
          </a:p>
          <a:p xmlns:a="http://schemas.openxmlformats.org/drawingml/2006/main">
            <a:r>
              <a:t>용어 질문이 나왔을 때 사용한다.</a:t>
            </a:r>
            <a:endParaRPr/>
          </a:p>
          <a:p xmlns:a="http://schemas.openxmlformats.org/drawingml/2006/main">
            <a:r>
              <a:t/>
            </a:r>
            <a:endParaRPr/>
          </a:p>
          <a:p xmlns:a="http://schemas.openxmlformats.org/drawingml/2006/main">
            <a:r>
              <a:t>[Sources]</a:t>
            </a:r>
            <a:endParaRPr/>
          </a:p>
          <a:p xmlns:a="http://schemas.openxmlformats.org/drawingml/2006/main">
            <a:r>
              <a:t>Project canonical BVSE, MLIP-MD, DFT, interface, and grand-potential protocols.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567e83c79114d43"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3280d18f2f3450f" Type="http://schemas.openxmlformats.org/officeDocument/2006/relationships/theme" Target="theme/theme2.xml"/><Relationship Id="Ra667905730bd4f44"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67905730bd4f4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a586bc1e3a8c4e1e" Type="http://schemas.openxmlformats.org/officeDocument/2006/relationships/notesSlide" Target="../notesSlides/notesSlide1.xml"/><Relationship Id="Reb8cbb49eadf4f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06cc3b2b82a64024" Type="http://schemas.openxmlformats.org/officeDocument/2006/relationships/notesSlide" Target="../notesSlides/notesSlide2.xml"/><Relationship Id="Rf6c3590f50c04caa" Type="http://schemas.openxmlformats.org/officeDocument/2006/relationships/slideLayout" Target="../slideLayouts/slideLayout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f6c3590f50c04caa"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0486b66683e74bee" Type="http://schemas.openxmlformats.org/officeDocument/2006/relationships/slideLayout" Target="../slideLayouts/slideLayout1.xml"/><Relationship Id="R6deca4d840cc4253" Type="http://schemas.openxmlformats.org/officeDocument/2006/relationships/image" Target="../media/image.png"/><Relationship Id="R79dedd7a1a8147ea" Type="http://schemas.openxmlformats.org/officeDocument/2006/relationships/notesSlide" Target="../notesSlides/notesSlide3.xml"/><Relationship Id="R9fca5c5484f246df" Type="http://schemas.openxmlformats.org/officeDocument/2006/relationships/image" Target="../media/image2.png"/></Relationships>
</file>

<file path=ppt/slides/_rels/slide5.xml.rels><?xml version='1.0' encoding='UTF-8' standalone='yes'?>
<Relationships xmlns="http://schemas.openxmlformats.org/package/2006/relationships"><Relationship Id="R07fe1e7f0afa4efe" Type="http://schemas.openxmlformats.org/officeDocument/2006/relationships/notesSlide" Target="../notesSlides/notesSlide4.xml"/><Relationship Id="Ra6a2ed24502f45cf" Type="http://schemas.openxmlformats.org/officeDocument/2006/relationships/slideLayout" Target="../slideLayouts/slideLayout1.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5e175781f8174f78" Type="http://schemas.openxmlformats.org/officeDocument/2006/relationships/slideLayout" Target="../slideLayouts/slideLayout1.xml"/><Relationship Id="Re4d46d810f534167" Type="http://schemas.openxmlformats.org/officeDocument/2006/relationships/notesSlide" Target="../notesSlides/notesSlide22.xml"/></Relationships>
</file>

<file path=ppt/slides/_rels/slide7.xml.rels><?xml version='1.0' encoding='UTF-8' standalone='yes'?>
<Relationships xmlns="http://schemas.openxmlformats.org/package/2006/relationships"><Relationship Id="R0b22e29227af4dfd" Type="http://schemas.openxmlformats.org/officeDocument/2006/relationships/notesSlide" Target="../notesSlides/notesSlide5.xml"/><Relationship Id="R978acf923ad445bc" Type="http://schemas.openxmlformats.org/officeDocument/2006/relationships/slideLayout" Target="../slideLayouts/slideLayout1.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51b24b0c6a0f41f6" Type="http://schemas.openxmlformats.org/officeDocument/2006/relationships/slideLayout" Target="../slideLayouts/slideLayout1.xml"/><Relationship Id="Re63c6527db6947e5" Type="http://schemas.openxmlformats.org/officeDocument/2006/relationships/notesSlide" Target="../notesSlides/notesSlide6.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5bda15701a644d4a" Type="http://schemas.openxmlformats.org/officeDocument/2006/relationships/slideLayout" Target="../slideLayouts/slideLayout1.xml"/><Relationship Id="R75417081aaa641b3" Type="http://schemas.openxmlformats.org/officeDocument/2006/relationships/notesSlide" Target="../notesSlides/notesSlide7.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9e0230364baa4842" Type="http://schemas.openxmlformats.org/officeDocument/2006/relationships/slideLayout" Target="../slideLayouts/slideLayout1.xml"/><Relationship Id="Rd63d5a2cf0ef48ff" Type="http://schemas.openxmlformats.org/officeDocument/2006/relationships/notesSlide" Target="../notesSlides/notesSlide8.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02df4fce4b614a80" Type="http://schemas.openxmlformats.org/officeDocument/2006/relationships/notesSlide" Target="../notesSlides/notesSlide9.xml"/><Relationship Id="R4a31a6a4449642b1" Type="http://schemas.openxmlformats.org/officeDocument/2006/relationships/slideLayout" Target="../slideLayouts/slideLayout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092aaa430d00492a" Type="http://schemas.openxmlformats.org/officeDocument/2006/relationships/notesSlide" Target="../notesSlides/notesSlide10.xml"/><Relationship Id="Rf28edbf6e701401e" Type="http://schemas.openxmlformats.org/officeDocument/2006/relationships/slideLayout" Target="../slideLayouts/slideLayout1.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6b3f270135454dce" Type="http://schemas.openxmlformats.org/officeDocument/2006/relationships/notesSlide" Target="../notesSlides/notesSlide11.xml"/><Relationship Id="Re915225b4e2744da" Type="http://schemas.openxmlformats.org/officeDocument/2006/relationships/image" Target="../media/image3.png"/><Relationship Id="Rf455cd2d2108455e"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1021685119a248bf" Type="http://schemas.openxmlformats.org/officeDocument/2006/relationships/notesSlide" Target="../notesSlides/notesSlide12.xml"/><Relationship Id="R546c4c07047d4a55" Type="http://schemas.openxmlformats.org/officeDocument/2006/relationships/slideLayout" Target="../slideLayouts/slideLayout1.xml"/><Relationship Id="R65d023672e8d410a" Type="http://schemas.openxmlformats.org/officeDocument/2006/relationships/image" Target="../media/image4.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2590317027994963" Type="http://schemas.openxmlformats.org/officeDocument/2006/relationships/notesSlide" Target="../notesSlides/notesSlide13.xml"/><Relationship Id="R7de8b2dcde8b4299" Type="http://schemas.openxmlformats.org/officeDocument/2006/relationships/slideLayout" Target="../slideLayouts/slideLayout1.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8359da94a46448a8" Type="http://schemas.openxmlformats.org/officeDocument/2006/relationships/slideLayout" Target="../slideLayouts/slideLayout1.xml"/><Relationship Id="Rf20db68f8fad4626" Type="http://schemas.openxmlformats.org/officeDocument/2006/relationships/notesSlide" Target="../notesSlides/notesSlide14.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8dbd413e7a124206" Type="http://schemas.openxmlformats.org/officeDocument/2006/relationships/slideLayout" Target="../slideLayouts/slideLayout1.xml"/><Relationship Id="Rb665912394854af6"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1cfcb68ced4b419c" Type="http://schemas.openxmlformats.org/officeDocument/2006/relationships/notesSlide" Target="../notesSlides/notesSlide16.xml"/><Relationship Id="Rb65a02830b1a434c" Type="http://schemas.openxmlformats.org/officeDocument/2006/relationships/slideLayout" Target="../slideLayouts/slideLayout1.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17e897009f404d13" Type="http://schemas.openxmlformats.org/officeDocument/2006/relationships/image" Target="../media/image5.png"/><Relationship Id="R85b1ab9abc184e26" Type="http://schemas.openxmlformats.org/officeDocument/2006/relationships/notesSlide" Target="../notesSlides/notesSlide17.xml"/><Relationship Id="Rb3a9725744bc4a13" Type="http://schemas.openxmlformats.org/officeDocument/2006/relationships/image" Target="../media/image6.png"/><Relationship Id="Re4118e6e80224e5a" Type="http://schemas.openxmlformats.org/officeDocument/2006/relationships/slideLayout" Target="../slideLayouts/slideLayout1.xml"/><Relationship Id="rId5" Type="http://schemas.openxmlformats.org/officeDocument/2006/relationships/image" Target="../media/image20.png"/></Relationships>
</file>

<file path=ppt/slides/_rels/slide20.xml.rels><?xml version='1.0' encoding='UTF-8' standalone='yes'?>
<Relationships xmlns="http://schemas.openxmlformats.org/package/2006/relationships"><Relationship Id="Rf6c3590f50c04caa"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0f59e6dfc01c49f1" Type="http://schemas.openxmlformats.org/officeDocument/2006/relationships/slideLayout" Target="../slideLayouts/slideLayout1.xml"/><Relationship Id="R91db3424564c4196" Type="http://schemas.openxmlformats.org/officeDocument/2006/relationships/notesSlide" Target="../notesSlides/notesSlide18.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37aeb1508b324da7" Type="http://schemas.openxmlformats.org/officeDocument/2006/relationships/slideLayout" Target="../slideLayouts/slideLayout1.xml"/><Relationship Id="R921af0ec6a3c4aec" Type="http://schemas.openxmlformats.org/officeDocument/2006/relationships/image" Target="../media/image7.png"/><Relationship Id="Rfa26b8530dc54f17"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33beb340747244ac" Type="http://schemas.openxmlformats.org/officeDocument/2006/relationships/notesSlide" Target="../notesSlides/notesSlide20.xml"/><Relationship Id="Rb6d2b06b66264f18"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0c779884c4004931" Type="http://schemas.openxmlformats.org/officeDocument/2006/relationships/image" Target="../media/image8.png"/><Relationship Id="R685e833d95464a54" Type="http://schemas.openxmlformats.org/officeDocument/2006/relationships/notesSlide" Target="../notesSlides/notesSlide21.xml"/><Relationship Id="Rf61fb32876c4485c"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0e1528b53c9e4eef" Type="http://schemas.openxmlformats.org/officeDocument/2006/relationships/slideLayout" Target="../slideLayouts/slideLayout1.xml"/><Relationship Id="R95658c919bdf4d69"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a43d242820da4a2e" Type="http://schemas.openxmlformats.org/officeDocument/2006/relationships/notesSlide" Target="../notesSlides/notesSlide24.xml"/><Relationship Id="Rf25573a49a73402f"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668d903d47d94387" Type="http://schemas.openxmlformats.org/officeDocument/2006/relationships/slideLayout" Target="../slideLayouts/slideLayout1.xml"/><Relationship Id="Rc3edc59d963840f4" Type="http://schemas.openxmlformats.org/officeDocument/2006/relationships/notesSlide" Target="../notesSlides/notesSlide25.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5" name="cover-bg">
            <a:extLst xmlns:a="http://schemas.openxmlformats.org/drawingml/2006/main">
              <a:ext uri="{FF2B5EF4-FFF2-40B4-BE49-F238E27FC236}">
                <a16:creationId xmlns:a16="http://schemas.microsoft.com/office/drawing/2014/main" id="{D698041D-B912-4E99-B476-666A73179A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cover-kicker">
            <a:extLst xmlns:a="http://schemas.openxmlformats.org/drawingml/2006/main">
              <a:ext uri="{FF2B5EF4-FFF2-40B4-BE49-F238E27FC236}">
                <a16:creationId xmlns:a16="http://schemas.microsoft.com/office/drawing/2014/main" id="{EA05E306-8FA4-41F6-A4BD-2A5FA5EE5FF4}"/>
              </a:ext>
            </a:extLst>
          </p:cNvPr>
          <p:cNvSpPr>
            <a:spLocks xmlns:a="http://schemas.openxmlformats.org/drawingml/2006/main" noGrp="1"/>
          </p:cNvSpPr>
          <p:nvPr/>
        </p:nvSpPr>
        <p:spPr>
          <a:xfrm xmlns:a="http://schemas.openxmlformats.org/drawingml/2006/main">
            <a:off x="619125" y="495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A61B2B"/>
                </a:solidFill>
                <a:latin typeface="Arial"/>
                <a:ea typeface="Arial"/>
                <a:cs typeface="Arial"/>
              </a:defRPr>
            </a:pPr>
            <a:r>
              <a:rPr sz="900" b="1">
                <a:solidFill>
                  <a:srgbClr val="A61B2B"/>
                </a:solidFill>
                <a:latin typeface="Arial"/>
                <a:ea typeface="Arial"/>
                <a:cs typeface="Arial"/>
              </a:rPr>
              <a:t>RESEARCH SEMINAR · AUGUST 2026</a:t>
            </a:r>
          </a:p>
        </p:txBody>
      </p:sp>
      <p:sp>
        <p:nvSpPr>
          <p:cNvPr id="3" name="cover-title">
            <a:extLst xmlns:a="http://schemas.openxmlformats.org/drawingml/2006/main">
              <a:ext uri="{FF2B5EF4-FFF2-40B4-BE49-F238E27FC236}">
                <a16:creationId xmlns:a16="http://schemas.microsoft.com/office/drawing/2014/main" id="{CDE9E00D-BF8F-4CEC-9453-DC65CAEDBD1C}"/>
              </a:ext>
            </a:extLst>
          </p:cNvPr>
          <p:cNvSpPr>
            <a:spLocks xmlns:a="http://schemas.openxmlformats.org/drawingml/2006/main" noGrp="1"/>
          </p:cNvSpPr>
          <p:nvPr/>
        </p:nvSpPr>
        <p:spPr>
          <a:xfrm xmlns:a="http://schemas.openxmlformats.org/drawingml/2006/main">
            <a:off x="619125" y="1000125"/>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Why screen dopants</a:t>
            </a:r>
          </a:p>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for LPSCl?</a:t>
            </a:r>
          </a:p>
        </p:txBody>
      </p:sp>
      <p:sp>
        <p:nvSpPr>
          <p:cNvPr id="4" name="cover-subtitle">
            <a:extLst xmlns:a="http://schemas.openxmlformats.org/drawingml/2006/main">
              <a:ext uri="{FF2B5EF4-FFF2-40B4-BE49-F238E27FC236}">
                <a16:creationId xmlns:a16="http://schemas.microsoft.com/office/drawing/2014/main" id="{75FBE3C5-1000-43C8-B7E0-425E95432123}"/>
              </a:ext>
            </a:extLst>
          </p:cNvPr>
          <p:cNvSpPr>
            <a:spLocks xmlns:a="http://schemas.openxmlformats.org/drawingml/2006/main" noGrp="1"/>
          </p:cNvSpPr>
          <p:nvPr/>
        </p:nvSpPr>
        <p:spPr>
          <a:xfrm xmlns:a="http://schemas.openxmlformats.org/drawingml/2006/main">
            <a:off x="638175" y="2352675"/>
            <a:ext cx="561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A staged, low-cost route from broad chemistry</a:t>
            </a:r>
          </a:p>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to targeted DFT, MD, interface calculations, and experiments</a:t>
            </a:r>
          </a:p>
        </p:txBody>
      </p:sp>
      <p:sp>
        <p:nvSpPr>
          <p:cNvPr id="20" name="cover-message">
            <a:extLst xmlns:a="http://schemas.openxmlformats.org/drawingml/2006/main">
              <a:ext uri="{FF2B5EF4-FFF2-40B4-BE49-F238E27FC236}">
                <a16:creationId xmlns:a16="http://schemas.microsoft.com/office/drawing/2014/main" id="{587A41A1-B110-4E3D-AFD1-8D83648CC34F}"/>
              </a:ext>
            </a:extLst>
          </p:cNvPr>
          <p:cNvSpPr>
            <a:spLocks xmlns:a="http://schemas.openxmlformats.org/drawingml/2006/main" noGrp="1"/>
          </p:cNvSpPr>
          <p:nvPr/>
        </p:nvSpPr>
        <p:spPr>
          <a:xfrm xmlns:a="http://schemas.openxmlformats.org/drawingml/2006/main">
            <a:off x="1809750" y="509587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The purpose is not to announce a universal winner.</a:t>
            </a:r>
          </a:p>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It is to decide what deserves the next expensive calculation.</a:t>
            </a:r>
          </a:p>
        </p:txBody>
      </p:sp>
      <p:sp>
        <p:nvSpPr>
          <p:cNvPr id="21" name="cover-author">
            <a:extLst xmlns:a="http://schemas.openxmlformats.org/drawingml/2006/main">
              <a:ext uri="{FF2B5EF4-FFF2-40B4-BE49-F238E27FC236}">
                <a16:creationId xmlns:a16="http://schemas.microsoft.com/office/drawing/2014/main" id="{01B35D2E-F9CC-4FFB-AE46-A3F037C42275}"/>
              </a:ext>
            </a:extLst>
          </p:cNvPr>
          <p:cNvSpPr>
            <a:spLocks xmlns:a="http://schemas.openxmlformats.org/drawingml/2006/main" noGrp="1"/>
          </p:cNvSpPr>
          <p:nvPr/>
        </p:nvSpPr>
        <p:spPr>
          <a:xfrm xmlns:a="http://schemas.openxmlformats.org/drawingml/2006/main">
            <a:off x="619125" y="60198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75">
                <a:solidFill>
                  <a:srgbClr val="6B7280"/>
                </a:solidFill>
                <a:latin typeface="Arial"/>
                <a:ea typeface="Arial"/>
                <a:cs typeface="Arial"/>
              </a:defRPr>
            </a:pPr>
            <a:r>
              <a:rPr sz="975">
                <a:solidFill>
                  <a:srgbClr val="6B7280"/>
                </a:solidFill>
                <a:latin typeface="Arial"/>
                <a:ea typeface="Arial"/>
                <a:cs typeface="Arial"/>
              </a:rPr>
              <a:t>Yonghoon An · Battery Materials Lab.</a:t>
            </a:r>
          </a:p>
        </p:txBody>
      </p:sp>
      <p:sp>
        <p:nvSpPr>
          <p:cNvPr id="22" name="footer-brand-1">
            <a:extLst xmlns:a="http://schemas.openxmlformats.org/drawingml/2006/main">
              <a:ext uri="{FF2B5EF4-FFF2-40B4-BE49-F238E27FC236}">
                <a16:creationId xmlns:a16="http://schemas.microsoft.com/office/drawing/2014/main" id="{93F26BDD-E39E-4A1C-BCA3-5AFB27E688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23" name="footer-lab-1">
            <a:extLst xmlns:a="http://schemas.openxmlformats.org/drawingml/2006/main">
              <a:ext uri="{FF2B5EF4-FFF2-40B4-BE49-F238E27FC236}">
                <a16:creationId xmlns:a16="http://schemas.microsoft.com/office/drawing/2014/main" id="{6EF5523B-BAC1-461D-8915-F3AE855240D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24" name="footer-page-1">
            <a:extLst xmlns:a="http://schemas.openxmlformats.org/drawingml/2006/main">
              <a:ext uri="{FF2B5EF4-FFF2-40B4-BE49-F238E27FC236}">
                <a16:creationId xmlns:a16="http://schemas.microsoft.com/office/drawing/2014/main" id="{F3A18BCF-CD42-44DC-8FC1-D06C2AABD016}"/>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a:t>
            </a:r>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The problem</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Argyrodite: the Li₆PS₅Cl crystal family  ·  Cathode-side: where the electrolyte is oxidised
Dendrite: metal growing through the electrolyte</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 sulfide electrolyte fails in several ways at once</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Oxidation at the cathode, contact loss, cracking and dendrites are </a:t>
            </a:r>
            <a:r>
              <a:rPr sz="1275" b="1">
                <a:solidFill>
                  <a:srgbClr val="BE123C"/>
                </a:solidFill>
                <a:latin typeface="Arial"/>
                <a:ea typeface="Arial"/>
                <a:cs typeface="Arial"/>
              </a:rPr>
              <a:t>coupled</a:t>
            </a:r>
            <a:r>
              <a:rPr sz="1275" b="0">
                <a:solidFill>
                  <a:srgbClr val="374151"/>
                </a:solidFill>
                <a:latin typeface="Arial"/>
                <a:ea typeface="Arial"/>
                <a:cs typeface="Arial"/>
              </a:rPr>
              <a:t>, not separate.</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So a modifier that helps one axis can </a:t>
            </a:r>
            <a:r>
              <a:rPr sz="1275" b="1">
                <a:solidFill>
                  <a:srgbClr val="BE123C"/>
                </a:solidFill>
                <a:latin typeface="Arial"/>
                <a:ea typeface="Arial"/>
                <a:cs typeface="Arial"/>
              </a:rPr>
              <a:t>quietly cost you another</a:t>
            </a:r>
            <a:r>
              <a:rPr sz="1275" b="0">
                <a:solidFill>
                  <a:srgbClr val="374151"/>
                </a:solidFill>
                <a:latin typeface="Arial"/>
                <a:ea typeface="Arial"/>
                <a:cs typeface="Arial"/>
              </a:rPr>
              <a:t>.</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Kang et al., Chem. Commun. 2026</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a:t>
            </a:r>
          </a:p>
        </p:txBody>
      </p:sp>
      <p:pic xmlns:a="http://schemas.openxmlformats.org/drawingml/2006/main" xmlns:r="http://schemas.openxmlformats.org/officeDocument/2006/relationships">
        <p:nvPicPr>
          <p:cNvPr id="35" name="Picture 34" descr="fig_16.png"/>
          <p:cNvPicPr>
            <a:picLocks noChangeAspect="1"/>
          </p:cNvPicPr>
          <p:nvPr/>
        </p:nvPicPr>
        <p:blipFill>
          <a:blip r:embed="rId3"/>
          <a:stretch>
            <a:fillRect/>
          </a:stretch>
        </p:blipFill>
        <p:spPr>
          <a:xfrm>
            <a:off x="502920" y="2488088"/>
            <a:ext cx="8138160" cy="2905951"/>
          </a:xfrm>
          <a:prstGeom prst="rect">
            <a:avLst/>
          </a:prstGeom>
        </p:spPr>
      </p:pic>
      <p:sp xmlns:a="http://schemas.openxmlformats.org/drawingml/2006/main">
        <p:nvSpPr>
          <p:cNvPr id="36" name="TextBox 3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Kang et al., Chem. Commun. (2026), Fig. 16 — a literature map of how the failure modes feed each other. The three green boxes are the levers people actually pull. Not our result.</a:t>
            </a:r>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250" b="1">
                <a:solidFill>
                  <a:srgbClr val="1F4E79"/>
                </a:solidFill>
                <a:latin typeface="Arial"/>
                <a:ea typeface="Arial"/>
                <a:cs typeface="Arial"/>
              </a:rPr>
              <a:t>The lever, and the cost</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Lever: the variable you are allowed to change  ·  Charge recipe: how Li is added or removed to keep the cell neutral</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Doping the electrolyte is the lever we can screen cheaply</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Coating and anode work live at </a:t>
            </a:r>
            <a:r>
              <a:rPr sz="1275" b="1">
                <a:solidFill>
                  <a:srgbClr val="BE123C"/>
                </a:solidFill>
                <a:latin typeface="Arial"/>
                <a:ea typeface="Arial"/>
                <a:cs typeface="Arial"/>
              </a:rPr>
              <a:t>interfaces</a:t>
            </a:r>
            <a:r>
              <a:rPr sz="1275" b="0">
                <a:solidFill>
                  <a:srgbClr val="374151"/>
                </a:solidFill>
                <a:latin typeface="Arial"/>
                <a:ea typeface="Arial"/>
                <a:cs typeface="Arial"/>
              </a:rPr>
              <a:t> — hard to build, harder to predict in advance.</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Doping happens </a:t>
            </a:r>
            <a:r>
              <a:rPr sz="1275" b="1">
                <a:solidFill>
                  <a:srgbClr val="2563EB"/>
                </a:solidFill>
                <a:latin typeface="Arial"/>
                <a:ea typeface="Arial"/>
                <a:cs typeface="Arial"/>
              </a:rPr>
              <a:t>inside the lattice</a:t>
            </a:r>
            <a:r>
              <a:rPr sz="1275" b="0">
                <a:solidFill>
                  <a:srgbClr val="374151"/>
                </a:solidFill>
                <a:latin typeface="Arial"/>
                <a:ea typeface="Arial"/>
                <a:cs typeface="Arial"/>
              </a:rPr>
              <a:t>, so a computer can survey it before anyone synthesises.</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Framing for this talk</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3</a:t>
            </a:r>
          </a:p>
        </p:txBody>
      </p:sp>
      <p:sp xmlns:a="http://schemas.openxmlformats.org/drawingml/2006/main">
        <p:nvSpPr>
          <p:cNvPr id="35" name="TextBox 34"/>
          <p:cNvSpPr txBox="1"/>
          <p:nvPr/>
        </p:nvSpPr>
        <p:spPr>
          <a:xfrm>
            <a:off x="960120" y="2788920"/>
            <a:ext cx="7223760" cy="603504"/>
          </a:xfrm>
          <a:prstGeom prst="rect">
            <a:avLst/>
          </a:prstGeom>
          <a:noFill/>
        </p:spPr>
        <p:txBody>
          <a:bodyPr wrap="square">
            <a:spAutoFit/>
          </a:bodyPr>
          <a:lstStyle/>
          <a:p>
            <a:r>
              <a:rPr sz="1450" b="1">
                <a:solidFill>
                  <a:srgbClr val="1F2937"/>
                </a:solidFill>
                <a:latin typeface="Arial"/>
              </a:rPr>
              <a:t>The catch  </a:t>
            </a:r>
            <a:r>
              <a:rPr sz="1450" b="0">
                <a:solidFill>
                  <a:srgbClr val="374151"/>
                </a:solidFill>
                <a:latin typeface="Arial"/>
              </a:rPr>
              <a:t>one element changes oxidation, Li transport and stiffness </a:t>
            </a:r>
            <a:r>
              <a:rPr sz="1450" b="1">
                <a:solidFill>
                  <a:srgbClr val="BE123C"/>
                </a:solidFill>
                <a:latin typeface="Arial"/>
              </a:rPr>
              <a:t>all at once</a:t>
            </a:r>
            <a:r>
              <a:rPr sz="1450" b="0">
                <a:solidFill>
                  <a:srgbClr val="374151"/>
                </a:solidFill>
                <a:latin typeface="Arial"/>
              </a:rPr>
              <a:t> — several axes, not one.</a:t>
            </a:r>
          </a:p>
        </p:txBody>
      </p:sp>
      <p:sp xmlns:a="http://schemas.openxmlformats.org/drawingml/2006/main">
        <p:nvSpPr>
          <p:cNvPr id="36" name="TextBox 35"/>
          <p:cNvSpPr txBox="1"/>
          <p:nvPr/>
        </p:nvSpPr>
        <p:spPr>
          <a:xfrm>
            <a:off x="960120" y="3392424"/>
            <a:ext cx="7223760" cy="603504"/>
          </a:xfrm>
          <a:prstGeom prst="rect">
            <a:avLst/>
          </a:prstGeom>
          <a:noFill/>
        </p:spPr>
        <p:txBody>
          <a:bodyPr wrap="square">
            <a:spAutoFit/>
          </a:bodyPr>
          <a:lstStyle/>
          <a:p>
            <a:r>
              <a:rPr sz="1450" b="1">
                <a:solidFill>
                  <a:srgbClr val="1F2937"/>
                </a:solidFill>
                <a:latin typeface="Arial"/>
              </a:rPr>
              <a:t>The arithmetic  </a:t>
            </a:r>
            <a:r>
              <a:rPr sz="1450" b="1">
                <a:solidFill>
                  <a:srgbClr val="2563EB"/>
                </a:solidFill>
                <a:latin typeface="Arial"/>
              </a:rPr>
              <a:t>91 candidates</a:t>
            </a:r>
            <a:r>
              <a:rPr sz="1450" b="0">
                <a:solidFill>
                  <a:srgbClr val="374151"/>
                </a:solidFill>
                <a:latin typeface="Arial"/>
              </a:rPr>
              <a:t> × several sites × several charge recipes = thousands of structures.</a:t>
            </a:r>
          </a:p>
        </p:txBody>
      </p:sp>
      <p:sp xmlns:a="http://schemas.openxmlformats.org/drawingml/2006/main">
        <p:nvSpPr>
          <p:cNvPr id="37" name="TextBox 36"/>
          <p:cNvSpPr txBox="1"/>
          <p:nvPr/>
        </p:nvSpPr>
        <p:spPr>
          <a:xfrm>
            <a:off x="960120" y="3995928"/>
            <a:ext cx="7223760" cy="603504"/>
          </a:xfrm>
          <a:prstGeom prst="rect">
            <a:avLst/>
          </a:prstGeom>
          <a:noFill/>
        </p:spPr>
        <p:txBody>
          <a:bodyPr wrap="square">
            <a:spAutoFit/>
          </a:bodyPr>
          <a:lstStyle/>
          <a:p>
            <a:r>
              <a:rPr sz="1450" b="1">
                <a:solidFill>
                  <a:srgbClr val="1F2937"/>
                </a:solidFill>
                <a:latin typeface="Arial"/>
              </a:rPr>
              <a:t>So the question is not  </a:t>
            </a:r>
            <a:r>
              <a:rPr sz="1450" b="0">
                <a:solidFill>
                  <a:srgbClr val="374151"/>
                </a:solidFill>
                <a:latin typeface="Arial"/>
              </a:rPr>
              <a:t>which is best? — it is </a:t>
            </a:r>
            <a:r>
              <a:rPr sz="1450" b="1">
                <a:solidFill>
                  <a:srgbClr val="2563EB"/>
                </a:solidFill>
                <a:latin typeface="Arial"/>
              </a:rPr>
              <a:t>what deserves the expensive calculation next?</a:t>
            </a:r>
          </a:p>
        </p:txBody>
      </p:sp>
      <p:sp xmlns:a="http://schemas.openxmlformats.org/drawingml/2006/main">
        <p:nvSpPr>
          <p:cNvPr id="38" name="TextBox 37"/>
          <p:cNvSpPr txBox="1"/>
          <p:nvPr/>
        </p:nvSpPr>
        <p:spPr>
          <a:xfrm>
            <a:off x="960120" y="4892040"/>
            <a:ext cx="7223760" cy="1371600"/>
          </a:xfrm>
          <a:prstGeom prst="rect">
            <a:avLst/>
          </a:prstGeom>
          <a:noFill/>
        </p:spPr>
        <p:txBody>
          <a:bodyPr wrap="square">
            <a:spAutoFit/>
          </a:bodyPr>
          <a:lstStyle/>
          <a:p>
            <a:pPr>
              <a:spcAft>
                <a:spcPts val="600"/>
              </a:spcAft>
            </a:pPr>
            <a:r>
              <a:rPr sz="1750">
                <a:solidFill>
                  <a:srgbClr val="1F2937"/>
                </a:solidFill>
                <a:latin typeface="Arial"/>
              </a:rPr>
              <a:t>Screen broadly and cheaply.</a:t>
            </a:r>
          </a:p>
          <a:p>
            <a:pPr>
              <a:spcAft>
                <a:spcPts val="600"/>
              </a:spcAft>
            </a:pPr>
            <a:r>
              <a:rPr sz="1750">
                <a:solidFill>
                  <a:srgbClr val="1F2937"/>
                </a:solidFill>
                <a:latin typeface="Arial"/>
              </a:rPr>
              <a:t>Spend the accurate methods only where the answer would change.</a:t>
            </a:r>
          </a:p>
        </p:txBody>
      </p:sp>
    </p:spTree>
    <p:extLst>
      <p:ext uri="{BB962C8B-B14F-4D97-AF65-F5344CB8AC3E}">
        <p14:creationId xmlns:p14="http://schemas.microsoft.com/office/powerpoint/2010/main" val="7910676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 name="bg-3">
            <a:extLst xmlns:a="http://schemas.openxmlformats.org/drawingml/2006/main">
              <a:ext uri="{FF2B5EF4-FFF2-40B4-BE49-F238E27FC236}">
                <a16:creationId xmlns:a16="http://schemas.microsoft.com/office/drawing/2014/main" id="{DF2F1CF4-C5C5-48F1-A6CD-D9C981AF46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3">
            <a:extLst xmlns:a="http://schemas.openxmlformats.org/drawingml/2006/main">
              <a:ext uri="{FF2B5EF4-FFF2-40B4-BE49-F238E27FC236}">
                <a16:creationId xmlns:a16="http://schemas.microsoft.com/office/drawing/2014/main" id="{CEBC3DC1-69E6-42A3-AAF1-7F24C47FFEEA}"/>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How others do it</a:t>
            </a:r>
          </a:p>
        </p:txBody>
      </p:sp>
      <p:sp>
        <p:nvSpPr>
          <p:cNvPr id="3" name="terms-3">
            <a:extLst xmlns:a="http://schemas.openxmlformats.org/drawingml/2006/main">
              <a:ext uri="{FF2B5EF4-FFF2-40B4-BE49-F238E27FC236}">
                <a16:creationId xmlns:a16="http://schemas.microsoft.com/office/drawing/2014/main" id="{57A6B2F4-9144-4415-AA08-888962193C5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Gate: a pass / fail condition  ·  Fidelity: how accurate and how expensive the method is</a:t>
            </a:r>
          </a:p>
        </p:txBody>
      </p:sp>
      <p:sp>
        <p:nvSpPr>
          <p:cNvPr id="4" name="divider-3">
            <a:extLst xmlns:a="http://schemas.openxmlformats.org/drawingml/2006/main">
              <a:ext uri="{FF2B5EF4-FFF2-40B4-BE49-F238E27FC236}">
                <a16:creationId xmlns:a16="http://schemas.microsoft.com/office/drawing/2014/main" id="{474EE9F7-820A-404E-A998-AA354C7B139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3">
            <a:extLst xmlns:a="http://schemas.openxmlformats.org/drawingml/2006/main">
              <a:ext uri="{FF2B5EF4-FFF2-40B4-BE49-F238E27FC236}">
                <a16:creationId xmlns:a16="http://schemas.microsoft.com/office/drawing/2014/main" id="{22CAF046-A033-41C7-B2BB-15710B02A1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3">
            <a:extLst xmlns:a="http://schemas.openxmlformats.org/drawingml/2006/main">
              <a:ext uri="{FF2B5EF4-FFF2-40B4-BE49-F238E27FC236}">
                <a16:creationId xmlns:a16="http://schemas.microsoft.com/office/drawing/2014/main" id="{693F58EA-8A7E-47C4-BDF8-BF2E6F8E1E9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Everyone narrows the space before spending on accuracy</a:t>
            </a:r>
          </a:p>
        </p:txBody>
      </p:sp>
      <p:sp>
        <p:nvSpPr>
          <p:cNvPr id="7" name="bullet-dot-3-0">
            <a:extLst xmlns:a="http://schemas.openxmlformats.org/drawingml/2006/main">
              <a:ext uri="{FF2B5EF4-FFF2-40B4-BE49-F238E27FC236}">
                <a16:creationId xmlns:a16="http://schemas.microsoft.com/office/drawing/2014/main" id="{442A00DD-4A31-4B55-82E9-5E47B066A2F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3-0">
            <a:extLst xmlns:a="http://schemas.openxmlformats.org/drawingml/2006/main">
              <a:ext uri="{FF2B5EF4-FFF2-40B4-BE49-F238E27FC236}">
                <a16:creationId xmlns:a16="http://schemas.microsoft.com/office/drawing/2014/main" id="{05E7B1C3-F832-48C1-AD37-928CECC19D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Xiao cuts 104,082 coating candidates to three with </a:t>
            </a:r>
            <a:r>
              <a:rPr sz="1275" b="1">
                <a:solidFill>
                  <a:srgbClr val="2563EB"/>
                </a:solidFill>
                <a:latin typeface="Arial"/>
                <a:ea typeface="Arial"/>
                <a:cs typeface="Arial"/>
              </a:rPr>
              <a:t>sequential physical gates</a:t>
            </a:r>
            <a:r>
              <a:rPr sz="1275" b="0">
                <a:solidFill>
                  <a:srgbClr val="374151"/>
                </a:solidFill>
                <a:latin typeface="Arial"/>
                <a:ea typeface="Arial"/>
                <a:cs typeface="Arial"/>
              </a:rPr>
              <a:t>.</a:t>
            </a:r>
          </a:p>
        </p:txBody>
      </p:sp>
      <p:sp>
        <p:nvSpPr>
          <p:cNvPr id="9" name="bullet-dot-3-1">
            <a:extLst xmlns:a="http://schemas.openxmlformats.org/drawingml/2006/main">
              <a:ext uri="{FF2B5EF4-FFF2-40B4-BE49-F238E27FC236}">
                <a16:creationId xmlns:a16="http://schemas.microsoft.com/office/drawing/2014/main" id="{C2DAC255-B3A8-4E25-9B2B-B544E04C425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3-1">
            <a:extLst xmlns:a="http://schemas.openxmlformats.org/drawingml/2006/main">
              <a:ext uri="{FF2B5EF4-FFF2-40B4-BE49-F238E27FC236}">
                <a16:creationId xmlns:a16="http://schemas.microsoft.com/office/drawing/2014/main" id="{9F468294-B5E5-40CB-B35E-4FF4E711D4C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Kahle instead </a:t>
            </a:r>
            <a:r>
              <a:rPr sz="1275" b="1">
                <a:solidFill>
                  <a:srgbClr val="2563EB"/>
                </a:solidFill>
                <a:latin typeface="Arial"/>
                <a:ea typeface="Arial"/>
                <a:cs typeface="Arial"/>
              </a:rPr>
              <a:t>raises the accuracy</a:t>
            </a:r>
            <a:r>
              <a:rPr sz="1275" b="0">
                <a:solidFill>
                  <a:srgbClr val="374151"/>
                </a:solidFill>
                <a:latin typeface="Arial"/>
                <a:ea typeface="Arial"/>
                <a:cs typeface="Arial"/>
              </a:rPr>
              <a:t> stage by stage, ending in first-principles MD.</a:t>
            </a:r>
          </a:p>
        </p:txBody>
      </p:sp>
      <p:sp>
        <p:nvSpPr>
          <p:cNvPr id="11" name="citation-3">
            <a:extLst xmlns:a="http://schemas.openxmlformats.org/drawingml/2006/main">
              <a:ext uri="{FF2B5EF4-FFF2-40B4-BE49-F238E27FC236}">
                <a16:creationId xmlns:a16="http://schemas.microsoft.com/office/drawing/2014/main" id="{8A8E8A86-E3CF-4B99-83B7-6F9404291DC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Xiao 2019  ·  Kahle 2020</a:t>
            </a:r>
          </a:p>
        </p:txBody>
      </p:sp>
      <p:sp>
        <p:nvSpPr>
          <p:cNvPr id="12" name="footer-brand-3">
            <a:extLst xmlns:a="http://schemas.openxmlformats.org/drawingml/2006/main">
              <a:ext uri="{FF2B5EF4-FFF2-40B4-BE49-F238E27FC236}">
                <a16:creationId xmlns:a16="http://schemas.microsoft.com/office/drawing/2014/main" id="{1CBBBBE8-B016-49D1-B2E2-F8AE457C7B4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3">
            <a:extLst xmlns:a="http://schemas.openxmlformats.org/drawingml/2006/main">
              <a:ext uri="{FF2B5EF4-FFF2-40B4-BE49-F238E27FC236}">
                <a16:creationId xmlns:a16="http://schemas.microsoft.com/office/drawing/2014/main" id="{0F5D86C1-9B4C-493F-B021-1B43E83405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3">
            <a:extLst xmlns:a="http://schemas.openxmlformats.org/drawingml/2006/main">
              <a:ext uri="{FF2B5EF4-FFF2-40B4-BE49-F238E27FC236}">
                <a16:creationId xmlns:a16="http://schemas.microsoft.com/office/drawing/2014/main" id="{E832C5AE-9CB2-4EFE-8657-BEBDF2D9FFC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4</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deca4d840cc4253"/>
          <a:stretch xmlns:a="http://schemas.openxmlformats.org/drawingml/2006/main"/>
        </p:blipFill>
        <p:spPr>
          <a:xfrm xmlns:a="http://schemas.openxmlformats.org/drawingml/2006/main">
            <a:off x="1140411" y="2286000"/>
            <a:ext cx="2757903" cy="347472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fca5c5484f246df"/>
          <a:stretch xmlns:a="http://schemas.openxmlformats.org/drawingml/2006/main"/>
        </p:blipFill>
        <p:spPr>
          <a:xfrm xmlns:a="http://schemas.openxmlformats.org/drawingml/2006/main">
            <a:off x="5022164" y="2286000"/>
            <a:ext cx="3100172" cy="3474720"/>
          </a:xfrm>
          <a:prstGeom xmlns:a="http://schemas.openxmlformats.org/drawingml/2006/main" prst="rect">
            <a:avLst/>
          </a:prstGeom>
        </p:spPr>
      </p:pic>
      <p:sp xmlns:a="http://schemas.openxmlformats.org/drawingml/2006/main">
        <p:nvSpPr>
          <p:cNvPr id="35" name="TextBox 34"/>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Xiao, Miara, Wang &amp; Ceder, Joule 3 (2019) 1252, Fig. 1.   Right: Kahle, Marcolongo &amp; Marzari, Energy Environ. Sci. 13 (2020) 928, Fig. 1.</a:t>
            </a:r>
          </a:p>
        </p:txBody>
      </p:sp>
    </p:spTree>
    <p:extLst>
      <p:ext uri="{BB962C8B-B14F-4D97-AF65-F5344CB8AC3E}">
        <p14:creationId xmlns:p14="http://schemas.microsoft.com/office/powerpoint/2010/main" val="4134409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7" name="bg-4">
            <a:extLst xmlns:a="http://schemas.openxmlformats.org/drawingml/2006/main">
              <a:ext uri="{FF2B5EF4-FFF2-40B4-BE49-F238E27FC236}">
                <a16:creationId xmlns:a16="http://schemas.microsoft.com/office/drawing/2014/main" id="{4BDB3DB1-F0D2-47F1-9A10-7D81868BBE45}"/>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4">
            <a:extLst xmlns:a="http://schemas.openxmlformats.org/drawingml/2006/main">
              <a:ext uri="{FF2B5EF4-FFF2-40B4-BE49-F238E27FC236}">
                <a16:creationId xmlns:a16="http://schemas.microsoft.com/office/drawing/2014/main" id="{49262A36-F761-495D-BC8E-C21FEB43B4B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What we took</a:t>
            </a:r>
          </a:p>
        </p:txBody>
      </p:sp>
      <p:sp>
        <p:nvSpPr>
          <p:cNvPr id="3" name="terms-4">
            <a:extLst xmlns:a="http://schemas.openxmlformats.org/drawingml/2006/main">
              <a:ext uri="{FF2B5EF4-FFF2-40B4-BE49-F238E27FC236}">
                <a16:creationId xmlns:a16="http://schemas.microsoft.com/office/drawing/2014/main" id="{B3063AEA-D37F-4F88-A11D-D7A58D1AEC5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Threshold: the numeric value of a gate  ·  Queue: the order in which expensive calculations get run</a:t>
            </a:r>
          </a:p>
        </p:txBody>
      </p:sp>
      <p:sp>
        <p:nvSpPr>
          <p:cNvPr id="4" name="divider-4">
            <a:extLst xmlns:a="http://schemas.openxmlformats.org/drawingml/2006/main">
              <a:ext uri="{FF2B5EF4-FFF2-40B4-BE49-F238E27FC236}">
                <a16:creationId xmlns:a16="http://schemas.microsoft.com/office/drawing/2014/main" id="{370504A0-7C97-4C9D-9747-EC6C551DFF9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4">
            <a:extLst xmlns:a="http://schemas.openxmlformats.org/drawingml/2006/main">
              <a:ext uri="{FF2B5EF4-FFF2-40B4-BE49-F238E27FC236}">
                <a16:creationId xmlns:a16="http://schemas.microsoft.com/office/drawing/2014/main" id="{5BFFE75D-89A1-4129-ADCD-529BE0C5424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4">
            <a:extLst xmlns:a="http://schemas.openxmlformats.org/drawingml/2006/main">
              <a:ext uri="{FF2B5EF4-FFF2-40B4-BE49-F238E27FC236}">
                <a16:creationId xmlns:a16="http://schemas.microsoft.com/office/drawing/2014/main" id="{EC7A92B1-D6EB-435E-931B-409A96AB9C9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We borrowed the ordering, not the thresholds</a:t>
            </a:r>
          </a:p>
        </p:txBody>
      </p:sp>
      <p:sp>
        <p:nvSpPr>
          <p:cNvPr id="7" name="bullet-dot-4-0">
            <a:extLst xmlns:a="http://schemas.openxmlformats.org/drawingml/2006/main">
              <a:ext uri="{FF2B5EF4-FFF2-40B4-BE49-F238E27FC236}">
                <a16:creationId xmlns:a16="http://schemas.microsoft.com/office/drawing/2014/main" id="{EE64737B-452A-4734-B65A-ECDC511AE5C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4-0">
            <a:extLst xmlns:a="http://schemas.openxmlformats.org/drawingml/2006/main">
              <a:ext uri="{FF2B5EF4-FFF2-40B4-BE49-F238E27FC236}">
                <a16:creationId xmlns:a16="http://schemas.microsoft.com/office/drawing/2014/main" id="{35CA1936-1001-48FD-9EC0-D73181F335C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Their cut-offs were tuned for coatings; </a:t>
            </a:r>
            <a:r>
              <a:rPr sz="1275" b="1">
                <a:solidFill>
                  <a:srgbClr val="BE123C"/>
                </a:solidFill>
                <a:latin typeface="Arial"/>
                <a:ea typeface="Arial"/>
                <a:cs typeface="Arial"/>
              </a:rPr>
              <a:t>a sulfide host would fail all of them</a:t>
            </a:r>
            <a:r>
              <a:rPr sz="1275" b="0">
                <a:solidFill>
                  <a:srgbClr val="374151"/>
                </a:solidFill>
                <a:latin typeface="Arial"/>
                <a:ea typeface="Arial"/>
                <a:cs typeface="Arial"/>
              </a:rPr>
              <a:t>.</a:t>
            </a:r>
          </a:p>
        </p:txBody>
      </p:sp>
      <p:sp>
        <p:nvSpPr>
          <p:cNvPr id="9" name="bullet-dot-4-1">
            <a:extLst xmlns:a="http://schemas.openxmlformats.org/drawingml/2006/main">
              <a:ext uri="{FF2B5EF4-FFF2-40B4-BE49-F238E27FC236}">
                <a16:creationId xmlns:a16="http://schemas.microsoft.com/office/drawing/2014/main" id="{00E4E1D3-3E6B-429D-A82A-B692228A1623}"/>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4-1">
            <a:extLst xmlns:a="http://schemas.openxmlformats.org/drawingml/2006/main">
              <a:ext uri="{FF2B5EF4-FFF2-40B4-BE49-F238E27FC236}">
                <a16:creationId xmlns:a16="http://schemas.microsoft.com/office/drawing/2014/main" id="{F5A27B81-C7CD-428D-AB85-F87C713106F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What transfers: </a:t>
            </a:r>
            <a:r>
              <a:rPr sz="1275" b="1">
                <a:solidFill>
                  <a:srgbClr val="2563EB"/>
                </a:solidFill>
                <a:latin typeface="Arial"/>
                <a:ea typeface="Arial"/>
                <a:cs typeface="Arial"/>
              </a:rPr>
              <a:t>a cheap stage reorders the queue — it never certifies a material</a:t>
            </a:r>
            <a:r>
              <a:rPr sz="1275" b="0">
                <a:solidFill>
                  <a:srgbClr val="374151"/>
                </a:solidFill>
                <a:latin typeface="Arial"/>
                <a:ea typeface="Arial"/>
                <a:cs typeface="Arial"/>
              </a:rPr>
              <a:t>.</a:t>
            </a:r>
          </a:p>
        </p:txBody>
      </p:sp>
      <p:sp>
        <p:nvSpPr>
          <p:cNvPr id="11" name="citation-4">
            <a:extLst xmlns:a="http://schemas.openxmlformats.org/drawingml/2006/main">
              <a:ext uri="{FF2B5EF4-FFF2-40B4-BE49-F238E27FC236}">
                <a16:creationId xmlns:a16="http://schemas.microsoft.com/office/drawing/2014/main" id="{BC16564A-0A65-4FEC-9F7C-408C940EA696}"/>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Sendek 2017</a:t>
            </a:r>
          </a:p>
        </p:txBody>
      </p:sp>
      <p:sp>
        <p:nvSpPr>
          <p:cNvPr id="12" name="footer-brand-4">
            <a:extLst xmlns:a="http://schemas.openxmlformats.org/drawingml/2006/main">
              <a:ext uri="{FF2B5EF4-FFF2-40B4-BE49-F238E27FC236}">
                <a16:creationId xmlns:a16="http://schemas.microsoft.com/office/drawing/2014/main" id="{8E8C852F-E377-450C-9EDD-85A21E6A6C6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4">
            <a:extLst xmlns:a="http://schemas.openxmlformats.org/drawingml/2006/main">
              <a:ext uri="{FF2B5EF4-FFF2-40B4-BE49-F238E27FC236}">
                <a16:creationId xmlns:a16="http://schemas.microsoft.com/office/drawing/2014/main" id="{DAACC2F2-22A6-43E5-A4AE-8F2EA8EC690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4">
            <a:extLst xmlns:a="http://schemas.openxmlformats.org/drawingml/2006/main">
              <a:ext uri="{FF2B5EF4-FFF2-40B4-BE49-F238E27FC236}">
                <a16:creationId xmlns:a16="http://schemas.microsoft.com/office/drawing/2014/main" id="{304BC6B6-EC47-4E39-A5AB-77E07465C80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5</a:t>
            </a:r>
          </a:p>
        </p:txBody>
      </p:sp>
      <p:pic xmlns:a="http://schemas.openxmlformats.org/drawingml/2006/main" xmlns:r="http://schemas.openxmlformats.org/officeDocument/2006/relationships">
        <p:nvPicPr>
          <p:cNvPr id="38" name="Picture 37" descr="fig_1.png"/>
          <p:cNvPicPr>
            <a:picLocks noChangeAspect="1"/>
          </p:cNvPicPr>
          <p:nvPr/>
        </p:nvPicPr>
        <p:blipFill>
          <a:blip r:embed="rId3"/>
          <a:stretch>
            <a:fillRect/>
          </a:stretch>
        </p:blipFill>
        <p:spPr>
          <a:xfrm>
            <a:off x="1263391" y="2286000"/>
            <a:ext cx="6617216" cy="3310128"/>
          </a:xfrm>
          <a:prstGeom prst="rect">
            <a:avLst/>
          </a:prstGeom>
        </p:spPr>
      </p:pic>
      <p:sp xmlns:a="http://schemas.openxmlformats.org/drawingml/2006/main">
        <p:nvSpPr>
          <p:cNvPr id="39" name="TextBox 38"/>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Sendek, Yang, Cubuk, Duerloo, Cui &amp; Reed, Energy Environ. Sci. 10 (2017) 306, Fig. 1 — physical gates first, then a classifier trained on only 40 measured conductors. Their honesty about small training sets is the part we reuse.</a:t>
            </a:r>
          </a:p>
        </p:txBody>
      </p:sp>
    </p:spTree>
    <p:extLst>
      <p:ext uri="{BB962C8B-B14F-4D97-AF65-F5344CB8AC3E}">
        <p14:creationId xmlns:p14="http://schemas.microsoft.com/office/powerpoint/2010/main" val="141251834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1" name="bg-22">
            <a:extLst xmlns:a="http://schemas.openxmlformats.org/drawingml/2006/main">
              <a:ext uri="{FF2B5EF4-FFF2-40B4-BE49-F238E27FC236}">
                <a16:creationId xmlns:a16="http://schemas.microsoft.com/office/drawing/2014/main" id="{4F72F056-415F-43AF-AFEA-1DED65A49E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2">
            <a:extLst xmlns:a="http://schemas.openxmlformats.org/drawingml/2006/main">
              <a:ext uri="{FF2B5EF4-FFF2-40B4-BE49-F238E27FC236}">
                <a16:creationId xmlns:a16="http://schemas.microsoft.com/office/drawing/2014/main" id="{EAE697CF-2A36-4A97-872B-0D9EB4CF002B}"/>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What we put in</a:t>
            </a:r>
          </a:p>
        </p:txBody>
      </p:sp>
      <p:sp>
        <p:nvSpPr>
          <p:cNvPr id="3" name="terms-22">
            <a:extLst xmlns:a="http://schemas.openxmlformats.org/drawingml/2006/main">
              <a:ext uri="{FF2B5EF4-FFF2-40B4-BE49-F238E27FC236}">
                <a16:creationId xmlns:a16="http://schemas.microsoft.com/office/drawing/2014/main" id="{A035B498-4C2D-40D6-B934-4DD8B160110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Family: compounds grouped by their dominant anion  ·  Roster: the full input list, before anything is judged</a:t>
            </a:r>
          </a:p>
        </p:txBody>
      </p:sp>
      <p:sp>
        <p:nvSpPr>
          <p:cNvPr id="4" name="divider-22">
            <a:extLst xmlns:a="http://schemas.openxmlformats.org/drawingml/2006/main">
              <a:ext uri="{FF2B5EF4-FFF2-40B4-BE49-F238E27FC236}">
                <a16:creationId xmlns:a16="http://schemas.microsoft.com/office/drawing/2014/main" id="{72FF47E2-5483-4CCF-B52E-3DF1E3CFE11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2">
            <a:extLst xmlns:a="http://schemas.openxmlformats.org/drawingml/2006/main">
              <a:ext uri="{FF2B5EF4-FFF2-40B4-BE49-F238E27FC236}">
                <a16:creationId xmlns:a16="http://schemas.microsoft.com/office/drawing/2014/main" id="{5BC284FD-AA9A-487D-82E1-1FAF6F51F70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2">
            <a:extLst xmlns:a="http://schemas.openxmlformats.org/drawingml/2006/main">
              <a:ext uri="{FF2B5EF4-FFF2-40B4-BE49-F238E27FC236}">
                <a16:creationId xmlns:a16="http://schemas.microsoft.com/office/drawing/2014/main" id="{7F5DD33D-4747-4EB0-8129-BA372D612A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91 compounds across seven families — chosen to span the chemistry</a:t>
            </a:r>
          </a:p>
        </p:txBody>
      </p:sp>
      <p:sp>
        <p:nvSpPr>
          <p:cNvPr id="7" name="bullet-dot-22-0">
            <a:extLst xmlns:a="http://schemas.openxmlformats.org/drawingml/2006/main">
              <a:ext uri="{FF2B5EF4-FFF2-40B4-BE49-F238E27FC236}">
                <a16:creationId xmlns:a16="http://schemas.microsoft.com/office/drawing/2014/main" id="{FB55D7A1-9BA5-416E-8D28-153A46B8DE7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2-0">
            <a:extLst xmlns:a="http://schemas.openxmlformats.org/drawingml/2006/main">
              <a:ext uri="{FF2B5EF4-FFF2-40B4-BE49-F238E27FC236}">
                <a16:creationId xmlns:a16="http://schemas.microsoft.com/office/drawing/2014/main" id="{B843B54B-155A-40AC-AEEA-F40AF2328AC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Oxides for </a:t>
            </a:r>
            <a:r>
              <a:rPr sz="1275" b="1">
                <a:solidFill>
                  <a:srgbClr val="2563EB"/>
                </a:solidFill>
                <a:latin typeface="Arial"/>
                <a:ea typeface="Arial"/>
                <a:cs typeface="Arial"/>
              </a:rPr>
              <a:t>strong bonds</a:t>
            </a:r>
            <a:r>
              <a:rPr sz="1275" b="0">
                <a:solidFill>
                  <a:srgbClr val="374151"/>
                </a:solidFill>
                <a:latin typeface="Arial"/>
                <a:ea typeface="Arial"/>
                <a:cs typeface="Arial"/>
              </a:rPr>
              <a:t>; halides because the host has Cl; nitrides and sulfides as controls.</a:t>
            </a:r>
          </a:p>
        </p:txBody>
      </p:sp>
      <p:sp>
        <p:nvSpPr>
          <p:cNvPr id="9" name="bullet-dot-22-1">
            <a:extLst xmlns:a="http://schemas.openxmlformats.org/drawingml/2006/main">
              <a:ext uri="{FF2B5EF4-FFF2-40B4-BE49-F238E27FC236}">
                <a16:creationId xmlns:a16="http://schemas.microsoft.com/office/drawing/2014/main" id="{B6F1FB03-3FCA-43E5-84B7-BA2D15A5288F}"/>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2-1">
            <a:extLst xmlns:a="http://schemas.openxmlformats.org/drawingml/2006/main">
              <a:ext uri="{FF2B5EF4-FFF2-40B4-BE49-F238E27FC236}">
                <a16:creationId xmlns:a16="http://schemas.microsoft.com/office/drawing/2014/main" id="{D80FF8D8-8C62-4E68-A2E0-DD53D87E695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 The list leans toward </a:t>
            </a:r>
            <a:r>
              <a:rPr sz="1275" b="1">
                <a:solidFill>
                  <a:srgbClr val="BE123C"/>
                </a:solidFill>
                <a:latin typeface="Arial"/>
                <a:ea typeface="Arial"/>
                <a:cs typeface="Arial"/>
              </a:rPr>
              <a:t>well-known stable compounds</a:t>
            </a:r>
            <a:r>
              <a:rPr sz="1275" b="0">
                <a:solidFill>
                  <a:srgbClr val="374151"/>
                </a:solidFill>
                <a:latin typeface="Arial"/>
                <a:ea typeface="Arial"/>
                <a:cs typeface="Arial"/>
              </a:rPr>
              <a:t> — that turns out to matter later.</a:t>
            </a:r>
          </a:p>
        </p:txBody>
      </p:sp>
      <p:sp>
        <p:nvSpPr>
          <p:cNvPr id="11" name="citation-22">
            <a:extLst xmlns:a="http://schemas.openxmlformats.org/drawingml/2006/main">
              <a:ext uri="{FF2B5EF4-FFF2-40B4-BE49-F238E27FC236}">
                <a16:creationId xmlns:a16="http://schemas.microsoft.com/office/drawing/2014/main" id="{3190A366-02BE-4DFC-9799-0F9345A9169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Input roster — not a shortlist</a:t>
            </a:r>
          </a:p>
        </p:txBody>
      </p:sp>
      <p:sp>
        <p:nvSpPr>
          <p:cNvPr id="12" name="footer-brand-22">
            <a:extLst xmlns:a="http://schemas.openxmlformats.org/drawingml/2006/main">
              <a:ext uri="{FF2B5EF4-FFF2-40B4-BE49-F238E27FC236}">
                <a16:creationId xmlns:a16="http://schemas.microsoft.com/office/drawing/2014/main" id="{5AE3638C-C758-4D3E-AD43-68962E044FA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2">
            <a:extLst xmlns:a="http://schemas.openxmlformats.org/drawingml/2006/main">
              <a:ext uri="{FF2B5EF4-FFF2-40B4-BE49-F238E27FC236}">
                <a16:creationId xmlns:a16="http://schemas.microsoft.com/office/drawing/2014/main" id="{C03000F9-4F40-4C8C-BBE3-A9B46BC09E4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2">
            <a:extLst xmlns:a="http://schemas.openxmlformats.org/drawingml/2006/main">
              <a:ext uri="{FF2B5EF4-FFF2-40B4-BE49-F238E27FC236}">
                <a16:creationId xmlns:a16="http://schemas.microsoft.com/office/drawing/2014/main" id="{8E1C8697-5C18-488A-A0BE-45AAE76DBBF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6</a:t>
            </a:r>
          </a:p>
        </p:txBody>
      </p:sp>
      <p:sp xmlns:a="http://schemas.openxmlformats.org/drawingml/2006/main">
        <p:nvSpPr>
          <p:cNvPr id="32" name="TextBox 31"/>
          <p:cNvSpPr txBox="1"/>
          <p:nvPr/>
        </p:nvSpPr>
        <p:spPr>
          <a:xfrm>
            <a:off x="566928" y="4498848"/>
            <a:ext cx="8010144" cy="1508760"/>
          </a:xfrm>
          <a:prstGeom prst="rect">
            <a:avLst/>
          </a:prstGeom>
          <a:noFill/>
        </p:spPr>
        <p:txBody>
          <a:bodyPr wrap="square">
            <a:spAutoFit/>
          </a:bodyPr>
          <a:lstStyle/>
          <a:p>
            <a:pPr>
              <a:spcAft>
                <a:spcPts val="150"/>
              </a:spcAft>
            </a:pPr>
            <a:r>
              <a:rPr sz="950" b="1">
                <a:solidFill>
                  <a:srgbClr val="BE123C"/>
                </a:solidFill>
                <a:latin typeface="Arial"/>
              </a:rPr>
              <a:t>OXIDES  </a:t>
            </a:r>
            <a:r>
              <a:rPr sz="950">
                <a:solidFill>
                  <a:srgbClr val="4B5563"/>
                </a:solidFill>
                <a:latin typeface="Arial"/>
              </a:rPr>
              <a:t>Ag₂O  Al₂O₃  B₂O₃  BaO  CaO  CoO  Cr₂O₃  CrO₃  Cu₂O  Fe₂O₃  Ga₂O₃  Gd₂O₃  GeO₂  HfO₂  In₂O₃  La₂O₃  Li₂O  MgO  MnO  MoO₃  Na₂O  Nb₂O₅  Nd₂O₃  NiO  Sb₂O₅  Sc₂O₃  SiO₂  Sm₂O₃  SnO₂  SrO  Ta₂O₅  TiO₂  V₂O₅  WO₃  Y₂O₃  ZnO  ZrO₂</a:t>
            </a:r>
          </a:p>
          <a:p>
            <a:pPr>
              <a:spcAft>
                <a:spcPts val="150"/>
              </a:spcAft>
            </a:pPr>
            <a:r>
              <a:rPr sz="950" b="1">
                <a:solidFill>
                  <a:srgbClr val="65A30D"/>
                </a:solidFill>
                <a:latin typeface="Arial"/>
              </a:rPr>
              <a:t>CHLORIDES  </a:t>
            </a:r>
            <a:r>
              <a:rPr sz="950">
                <a:solidFill>
                  <a:srgbClr val="4B5563"/>
                </a:solidFill>
                <a:latin typeface="Arial"/>
              </a:rPr>
              <a:t>AlCl₃  BaCl₂  CaCl₂  CrCl₃  FeCl₃  GaCl₃  HfCl₄  LaCl₃  LiCl  MgCl₂  NbCl₅  NdCl₃  ScCl₃  SmCl₃  SrCl₂  TaCl₅  TiCl₄  YCl₃  ZrCl₄</a:t>
            </a:r>
          </a:p>
          <a:p>
            <a:pPr>
              <a:spcAft>
                <a:spcPts val="150"/>
              </a:spcAft>
            </a:pPr>
            <a:r>
              <a:rPr sz="950" b="1">
                <a:solidFill>
                  <a:srgbClr val="C05621"/>
                </a:solidFill>
                <a:latin typeface="Arial"/>
              </a:rPr>
              <a:t>SULFIDES  </a:t>
            </a:r>
            <a:r>
              <a:rPr sz="950">
                <a:solidFill>
                  <a:srgbClr val="4B5563"/>
                </a:solidFill>
                <a:latin typeface="Arial"/>
              </a:rPr>
              <a:t>Al₂S₃  As₂S₃  CaS  Ga₂S₃  GeS₂  Li₂S  MgS  Na₂S  Sb₂S₃  SiS₂  SnS₂</a:t>
            </a:r>
          </a:p>
          <a:p>
            <a:pPr>
              <a:spcAft>
                <a:spcPts val="150"/>
              </a:spcAft>
            </a:pPr>
            <a:r>
              <a:rPr sz="950" b="1">
                <a:solidFill>
                  <a:srgbClr val="0284C7"/>
                </a:solidFill>
                <a:latin typeface="Arial"/>
              </a:rPr>
              <a:t>FLUORIDES  </a:t>
            </a:r>
            <a:r>
              <a:rPr sz="950">
                <a:solidFill>
                  <a:srgbClr val="4B5563"/>
                </a:solidFill>
                <a:latin typeface="Arial"/>
              </a:rPr>
              <a:t>AlF₃  CaF₂  LaF₃  LiF  MgF₂  NdF₃  ScF₃  TiF₄  YF₃  ZrF₄</a:t>
            </a:r>
          </a:p>
          <a:p>
            <a:pPr>
              <a:spcAft>
                <a:spcPts val="150"/>
              </a:spcAft>
            </a:pPr>
            <a:r>
              <a:rPr sz="950" b="1">
                <a:solidFill>
                  <a:srgbClr val="7C3AED"/>
                </a:solidFill>
                <a:latin typeface="Arial"/>
              </a:rPr>
              <a:t>BROMIDES  </a:t>
            </a:r>
            <a:r>
              <a:rPr sz="950">
                <a:solidFill>
                  <a:srgbClr val="4B5563"/>
                </a:solidFill>
                <a:latin typeface="Arial"/>
              </a:rPr>
              <a:t>AlBr₃  CaBr₂  LiBr  MgBr₂  ZrBr₄</a:t>
            </a:r>
          </a:p>
          <a:p>
            <a:pPr>
              <a:spcAft>
                <a:spcPts val="150"/>
              </a:spcAft>
            </a:pPr>
            <a:r>
              <a:rPr sz="950" b="1">
                <a:solidFill>
                  <a:srgbClr val="0D9488"/>
                </a:solidFill>
                <a:latin typeface="Arial"/>
              </a:rPr>
              <a:t>NITRIDES  </a:t>
            </a:r>
            <a:r>
              <a:rPr sz="950">
                <a:solidFill>
                  <a:srgbClr val="4B5563"/>
                </a:solidFill>
                <a:latin typeface="Arial"/>
              </a:rPr>
              <a:t>AlN  Ca₃N₂  GaN  Li₃N  Mg₃N₂</a:t>
            </a:r>
          </a:p>
          <a:p>
            <a:pPr>
              <a:spcAft>
                <a:spcPts val="150"/>
              </a:spcAft>
            </a:pPr>
            <a:r>
              <a:rPr sz="950" b="1">
                <a:solidFill>
                  <a:srgbClr val="6B7280"/>
                </a:solidFill>
                <a:latin typeface="Arial"/>
              </a:rPr>
              <a:t>IODIDES  </a:t>
            </a:r>
            <a:r>
              <a:rPr sz="950">
                <a:solidFill>
                  <a:srgbClr val="4B5563"/>
                </a:solidFill>
                <a:latin typeface="Arial"/>
              </a:rPr>
              <a:t>AlI₃  LiI  MgI₂  NaI</a:t>
            </a:r>
          </a:p>
        </p:txBody>
      </p:sp>
      <p:graphicFrame xmlns:a="http://schemas.openxmlformats.org/drawingml/2006/main">
        <p:nvGraphicFramePr>
          <p:cNvPr id="33" name="Table 32"/>
          <p:cNvGraphicFramePr>
            <a:graphicFrameLocks noGrp="1"/>
          </p:cNvGraphicFramePr>
          <p:nvPr/>
        </p:nvGraphicFramePr>
        <p:xfrm>
          <a:off x="566928" y="2377440"/>
          <a:ext cx="8010144" cy="1976928"/>
        </p:xfrm>
        <a:graphic>
          <a:graphicData uri="http://schemas.openxmlformats.org/drawingml/2006/table">
            <a:tbl>
              <a:tblPr firstRow="1">
                <a:tableStyleId>{5C22544A-7EE6-4342-B048-85BDC9FD1C3A}</a:tableStyleId>
              </a:tblPr>
              <a:tblGrid>
                <a:gridCol w="1234440"/>
                <a:gridCol w="2258568"/>
                <a:gridCol w="2258568"/>
                <a:gridCol w="2258568"/>
              </a:tblGrid>
              <a:tr h="247116">
                <a:tc>
                  <a:txBody>
                    <a:bodyPr/>
                    <a:lstStyle/>
                    <a:p>
                      <a:pPr algn="l"/>
                      <a:r>
                        <a:rPr sz="1150" b="1">
                          <a:solidFill>
                            <a:srgbClr val="1F2937"/>
                          </a:solidFill>
                          <a:latin typeface="Arial"/>
                        </a:rPr>
                        <a:t>family</a:t>
                      </a:r>
                    </a:p>
                  </a:txBody>
                  <a:tcPr marL="64008" marR="64008" marT="18288" marB="18288">
                    <a:solidFill>
                      <a:srgbClr val="EEF2F7"/>
                    </a:solidFill>
                  </a:tcPr>
                </a:tc>
                <a:tc>
                  <a:txBody>
                    <a:bodyPr/>
                    <a:lstStyle/>
                    <a:p>
                      <a:pPr algn="ctr"/>
                      <a:r>
                        <a:rPr sz="1150" b="1">
                          <a:solidFill>
                            <a:srgbClr val="1F2937"/>
                          </a:solidFill>
                          <a:latin typeface="Arial"/>
                        </a:rPr>
                        <a:t>n</a:t>
                      </a:r>
                    </a:p>
                  </a:txBody>
                  <a:tcPr marL="64008" marR="64008" marT="18288" marB="18288">
                    <a:solidFill>
                      <a:srgbClr val="EEF2F7"/>
                    </a:solidFill>
                  </a:tcPr>
                </a:tc>
                <a:tc>
                  <a:txBody>
                    <a:bodyPr/>
                    <a:lstStyle/>
                    <a:p>
                      <a:pPr algn="ctr"/>
                      <a:r>
                        <a:rPr sz="1150" b="1">
                          <a:solidFill>
                            <a:srgbClr val="1F2937"/>
                          </a:solidFill>
                          <a:latin typeface="Arial"/>
                        </a:rPr>
                        <a:t>why it is in the list</a:t>
                      </a:r>
                    </a:p>
                  </a:txBody>
                  <a:tcPr marL="64008" marR="64008" marT="18288" marB="18288">
                    <a:solidFill>
                      <a:srgbClr val="EEF2F7"/>
                    </a:solidFill>
                  </a:tcPr>
                </a:tc>
                <a:tc>
                  <a:txBody>
                    <a:bodyPr/>
                    <a:lstStyle/>
                    <a:p>
                      <a:pPr algn="ctr"/>
                      <a:r>
                        <a:rPr sz="1150" b="1">
                          <a:solidFill>
                            <a:srgbClr val="1F2937"/>
                          </a:solidFill>
                          <a:latin typeface="Arial"/>
                        </a:rPr>
                        <a:t>examples</a:t>
                      </a:r>
                    </a:p>
                  </a:txBody>
                  <a:tcPr marL="64008" marR="64008" marT="18288" marB="18288">
                    <a:solidFill>
                      <a:srgbClr val="EEF2F7"/>
                    </a:solidFill>
                  </a:tcPr>
                </a:tc>
              </a:tr>
              <a:tr h="247116">
                <a:tc>
                  <a:txBody>
                    <a:bodyPr/>
                    <a:lstStyle/>
                    <a:p>
                      <a:pPr algn="l"/>
                      <a:r>
                        <a:rPr sz="1150" b="0">
                          <a:solidFill>
                            <a:srgbClr val="374151"/>
                          </a:solidFill>
                          <a:latin typeface="Arial"/>
                        </a:rPr>
                        <a:t>oxides</a:t>
                      </a:r>
                    </a:p>
                  </a:txBody>
                  <a:tcPr marL="64008" marR="64008" marT="18288" marB="18288">
                    <a:solidFill>
                      <a:srgbClr val="FFFFFF"/>
                    </a:solidFill>
                  </a:tcPr>
                </a:tc>
                <a:tc>
                  <a:txBody>
                    <a:bodyPr/>
                    <a:lstStyle/>
                    <a:p>
                      <a:pPr algn="ctr"/>
                      <a:r>
                        <a:rPr sz="1150" b="0">
                          <a:solidFill>
                            <a:srgbClr val="374151"/>
                          </a:solidFill>
                          <a:latin typeface="Arial"/>
                        </a:rPr>
                        <a:t>37</a:t>
                      </a:r>
                    </a:p>
                  </a:txBody>
                  <a:tcPr marL="64008" marR="64008" marT="18288" marB="18288">
                    <a:solidFill>
                      <a:srgbClr val="FFFFFF"/>
                    </a:solidFill>
                  </a:tcPr>
                </a:tc>
                <a:tc>
                  <a:txBody>
                    <a:bodyPr/>
                    <a:lstStyle/>
                    <a:p>
                      <a:pPr algn="ctr"/>
                      <a:r>
                        <a:rPr sz="1150" b="0">
                          <a:solidFill>
                            <a:srgbClr val="374151"/>
                          </a:solidFill>
                          <a:latin typeface="Arial"/>
                        </a:rPr>
                        <a:t>strong M–O bonds, expected to resist oxidation</a:t>
                      </a:r>
                    </a:p>
                  </a:txBody>
                  <a:tcPr marL="64008" marR="64008" marT="18288" marB="18288">
                    <a:solidFill>
                      <a:srgbClr val="FFFFFF"/>
                    </a:solidFill>
                  </a:tcPr>
                </a:tc>
                <a:tc>
                  <a:txBody>
                    <a:bodyPr/>
                    <a:lstStyle/>
                    <a:p>
                      <a:pPr algn="ctr"/>
                      <a:r>
                        <a:rPr sz="1150" b="0">
                          <a:solidFill>
                            <a:srgbClr val="374151"/>
                          </a:solidFill>
                          <a:latin typeface="Arial"/>
                        </a:rPr>
                        <a:t>Ag2O  Al2O3  B2O3  BaO …</a:t>
                      </a:r>
                    </a:p>
                  </a:txBody>
                  <a:tcPr marL="64008" marR="64008" marT="18288" marB="18288">
                    <a:solidFill>
                      <a:srgbClr val="FFFFFF"/>
                    </a:solidFill>
                  </a:tcPr>
                </a:tc>
              </a:tr>
              <a:tr h="247116">
                <a:tc>
                  <a:txBody>
                    <a:bodyPr/>
                    <a:lstStyle/>
                    <a:p>
                      <a:pPr algn="l"/>
                      <a:r>
                        <a:rPr sz="1150" b="0">
                          <a:solidFill>
                            <a:srgbClr val="374151"/>
                          </a:solidFill>
                          <a:latin typeface="Arial"/>
                        </a:rPr>
                        <a:t>chlorides</a:t>
                      </a:r>
                    </a:p>
                  </a:txBody>
                  <a:tcPr marL="64008" marR="64008" marT="18288" marB="18288">
                    <a:solidFill>
                      <a:srgbClr val="FFFFFF"/>
                    </a:solidFill>
                  </a:tcPr>
                </a:tc>
                <a:tc>
                  <a:txBody>
                    <a:bodyPr/>
                    <a:lstStyle/>
                    <a:p>
                      <a:pPr algn="ctr"/>
                      <a:r>
                        <a:rPr sz="1150" b="0">
                          <a:solidFill>
                            <a:srgbClr val="374151"/>
                          </a:solidFill>
                          <a:latin typeface="Arial"/>
                        </a:rPr>
                        <a:t>19</a:t>
                      </a:r>
                    </a:p>
                  </a:txBody>
                  <a:tcPr marL="64008" marR="64008" marT="18288" marB="18288">
                    <a:solidFill>
                      <a:srgbClr val="FFFFFF"/>
                    </a:solidFill>
                  </a:tcPr>
                </a:tc>
                <a:tc>
                  <a:txBody>
                    <a:bodyPr/>
                    <a:lstStyle/>
                    <a:p>
                      <a:pPr algn="ctr"/>
                      <a:r>
                        <a:rPr sz="1150" b="0">
                          <a:solidFill>
                            <a:srgbClr val="374151"/>
                          </a:solidFill>
                          <a:latin typeface="Arial"/>
                        </a:rPr>
                        <a:t>host already contains Cl</a:t>
                      </a:r>
                    </a:p>
                  </a:txBody>
                  <a:tcPr marL="64008" marR="64008" marT="18288" marB="18288">
                    <a:solidFill>
                      <a:srgbClr val="FFFFFF"/>
                    </a:solidFill>
                  </a:tcPr>
                </a:tc>
                <a:tc>
                  <a:txBody>
                    <a:bodyPr/>
                    <a:lstStyle/>
                    <a:p>
                      <a:pPr algn="ctr"/>
                      <a:r>
                        <a:rPr sz="1150" b="0">
                          <a:solidFill>
                            <a:srgbClr val="374151"/>
                          </a:solidFill>
                          <a:latin typeface="Arial"/>
                        </a:rPr>
                        <a:t>AlCl3  BaCl2  CaCl2  CrCl3 …</a:t>
                      </a:r>
                    </a:p>
                  </a:txBody>
                  <a:tcPr marL="64008" marR="64008" marT="18288" marB="18288">
                    <a:solidFill>
                      <a:srgbClr val="FFFFFF"/>
                    </a:solidFill>
                  </a:tcPr>
                </a:tc>
              </a:tr>
              <a:tr h="247116">
                <a:tc>
                  <a:txBody>
                    <a:bodyPr/>
                    <a:lstStyle/>
                    <a:p>
                      <a:pPr algn="l"/>
                      <a:r>
                        <a:rPr sz="1150" b="0">
                          <a:solidFill>
                            <a:srgbClr val="374151"/>
                          </a:solidFill>
                          <a:latin typeface="Arial"/>
                        </a:rPr>
                        <a:t>sulfides</a:t>
                      </a:r>
                    </a:p>
                  </a:txBody>
                  <a:tcPr marL="64008" marR="64008" marT="18288" marB="18288">
                    <a:solidFill>
                      <a:srgbClr val="FFFFFF"/>
                    </a:solidFill>
                  </a:tcPr>
                </a:tc>
                <a:tc>
                  <a:txBody>
                    <a:bodyPr/>
                    <a:lstStyle/>
                    <a:p>
                      <a:pPr algn="ctr"/>
                      <a:r>
                        <a:rPr sz="1150" b="0">
                          <a:solidFill>
                            <a:srgbClr val="374151"/>
                          </a:solidFill>
                          <a:latin typeface="Arial"/>
                        </a:rPr>
                        <a:t>10</a:t>
                      </a:r>
                    </a:p>
                  </a:txBody>
                  <a:tcPr marL="64008" marR="64008" marT="18288" marB="18288">
                    <a:solidFill>
                      <a:srgbClr val="FFFFFF"/>
                    </a:solidFill>
                  </a:tcPr>
                </a:tc>
                <a:tc>
                  <a:txBody>
                    <a:bodyPr/>
                    <a:lstStyle/>
                    <a:p>
                      <a:pPr algn="ctr"/>
                      <a:r>
                        <a:rPr sz="1150" b="0">
                          <a:solidFill>
                            <a:srgbClr val="374151"/>
                          </a:solidFill>
                          <a:latin typeface="Arial"/>
                        </a:rPr>
                        <a:t>same anion as the host — control</a:t>
                      </a:r>
                    </a:p>
                  </a:txBody>
                  <a:tcPr marL="64008" marR="64008" marT="18288" marB="18288">
                    <a:solidFill>
                      <a:srgbClr val="FFFFFF"/>
                    </a:solidFill>
                  </a:tcPr>
                </a:tc>
                <a:tc>
                  <a:txBody>
                    <a:bodyPr/>
                    <a:lstStyle/>
                    <a:p>
                      <a:pPr algn="ctr"/>
                      <a:r>
                        <a:rPr sz="1150" b="0">
                          <a:solidFill>
                            <a:srgbClr val="374151"/>
                          </a:solidFill>
                          <a:latin typeface="Arial"/>
                        </a:rPr>
                        <a:t>Al2S3  CaS  Ga2S3  GeS2 …</a:t>
                      </a:r>
                    </a:p>
                  </a:txBody>
                  <a:tcPr marL="64008" marR="64008" marT="18288" marB="18288">
                    <a:solidFill>
                      <a:srgbClr val="FFFFFF"/>
                    </a:solidFill>
                  </a:tcPr>
                </a:tc>
              </a:tr>
              <a:tr h="247116">
                <a:tc>
                  <a:txBody>
                    <a:bodyPr/>
                    <a:lstStyle/>
                    <a:p>
                      <a:pPr algn="l"/>
                      <a:r>
                        <a:rPr sz="1150" b="0">
                          <a:solidFill>
                            <a:srgbClr val="374151"/>
                          </a:solidFill>
                          <a:latin typeface="Arial"/>
                        </a:rPr>
                        <a:t>fluorides</a:t>
                      </a:r>
                    </a:p>
                  </a:txBody>
                  <a:tcPr marL="64008" marR="64008" marT="18288" marB="18288">
                    <a:solidFill>
                      <a:srgbClr val="FFFFFF"/>
                    </a:solidFill>
                  </a:tcPr>
                </a:tc>
                <a:tc>
                  <a:txBody>
                    <a:bodyPr/>
                    <a:lstStyle/>
                    <a:p>
                      <a:pPr algn="ctr"/>
                      <a:r>
                        <a:rPr sz="1150" b="0">
                          <a:solidFill>
                            <a:srgbClr val="374151"/>
                          </a:solidFill>
                          <a:latin typeface="Arial"/>
                        </a:rPr>
                        <a:t>10</a:t>
                      </a:r>
                    </a:p>
                  </a:txBody>
                  <a:tcPr marL="64008" marR="64008" marT="18288" marB="18288">
                    <a:solidFill>
                      <a:srgbClr val="FFFFFF"/>
                    </a:solidFill>
                  </a:tcPr>
                </a:tc>
                <a:tc>
                  <a:txBody>
                    <a:bodyPr/>
                    <a:lstStyle/>
                    <a:p>
                      <a:pPr algn="ctr"/>
                      <a:r>
                        <a:rPr sz="1150" b="0">
                          <a:solidFill>
                            <a:srgbClr val="374151"/>
                          </a:solidFill>
                          <a:latin typeface="Arial"/>
                        </a:rPr>
                        <a:t>strongest bonds, worst Li mobility risk</a:t>
                      </a:r>
                    </a:p>
                  </a:txBody>
                  <a:tcPr marL="64008" marR="64008" marT="18288" marB="18288">
                    <a:solidFill>
                      <a:srgbClr val="FFFFFF"/>
                    </a:solidFill>
                  </a:tcPr>
                </a:tc>
                <a:tc>
                  <a:txBody>
                    <a:bodyPr/>
                    <a:lstStyle/>
                    <a:p>
                      <a:pPr algn="ctr"/>
                      <a:r>
                        <a:rPr sz="1150" b="0">
                          <a:solidFill>
                            <a:srgbClr val="374151"/>
                          </a:solidFill>
                          <a:latin typeface="Arial"/>
                        </a:rPr>
                        <a:t>AlF3  CaF2  LaF3  LiF …</a:t>
                      </a:r>
                    </a:p>
                  </a:txBody>
                  <a:tcPr marL="64008" marR="64008" marT="18288" marB="18288">
                    <a:solidFill>
                      <a:srgbClr val="FFFFFF"/>
                    </a:solidFill>
                  </a:tcPr>
                </a:tc>
              </a:tr>
              <a:tr h="247116">
                <a:tc>
                  <a:txBody>
                    <a:bodyPr/>
                    <a:lstStyle/>
                    <a:p>
                      <a:pPr algn="l"/>
                      <a:r>
                        <a:rPr sz="1150" b="0">
                          <a:solidFill>
                            <a:srgbClr val="374151"/>
                          </a:solidFill>
                          <a:latin typeface="Arial"/>
                        </a:rPr>
                        <a:t>bromides</a:t>
                      </a:r>
                    </a:p>
                  </a:txBody>
                  <a:tcPr marL="64008" marR="64008" marT="18288" marB="18288">
                    <a:solidFill>
                      <a:srgbClr val="FFFFFF"/>
                    </a:solidFill>
                  </a:tcPr>
                </a:tc>
                <a:tc>
                  <a:txBody>
                    <a:bodyPr/>
                    <a:lstStyle/>
                    <a:p>
                      <a:pPr algn="ctr"/>
                      <a:r>
                        <a:rPr sz="1150" b="0">
                          <a:solidFill>
                            <a:srgbClr val="374151"/>
                          </a:solidFill>
                          <a:latin typeface="Arial"/>
                        </a:rPr>
                        <a:t>5</a:t>
                      </a:r>
                    </a:p>
                  </a:txBody>
                  <a:tcPr marL="64008" marR="64008" marT="18288" marB="18288">
                    <a:solidFill>
                      <a:srgbClr val="FFFFFF"/>
                    </a:solidFill>
                  </a:tcPr>
                </a:tc>
                <a:tc>
                  <a:txBody>
                    <a:bodyPr/>
                    <a:lstStyle/>
                    <a:p>
                      <a:pPr algn="ctr"/>
                      <a:r>
                        <a:rPr sz="1150" b="0">
                          <a:solidFill>
                            <a:srgbClr val="374151"/>
                          </a:solidFill>
                          <a:latin typeface="Arial"/>
                        </a:rPr>
                        <a:t>larger halide — lattice-size control</a:t>
                      </a:r>
                    </a:p>
                  </a:txBody>
                  <a:tcPr marL="64008" marR="64008" marT="18288" marB="18288">
                    <a:solidFill>
                      <a:srgbClr val="FFFFFF"/>
                    </a:solidFill>
                  </a:tcPr>
                </a:tc>
                <a:tc>
                  <a:txBody>
                    <a:bodyPr/>
                    <a:lstStyle/>
                    <a:p>
                      <a:pPr algn="ctr"/>
                      <a:r>
                        <a:rPr sz="1150" b="0">
                          <a:solidFill>
                            <a:srgbClr val="374151"/>
                          </a:solidFill>
                          <a:latin typeface="Arial"/>
                        </a:rPr>
                        <a:t>AlBr3  CaBr2  LiBr  MgBr2 …</a:t>
                      </a:r>
                    </a:p>
                  </a:txBody>
                  <a:tcPr marL="64008" marR="64008" marT="18288" marB="18288">
                    <a:solidFill>
                      <a:srgbClr val="FFFFFF"/>
                    </a:solidFill>
                  </a:tcPr>
                </a:tc>
              </a:tr>
              <a:tr h="247116">
                <a:tc>
                  <a:txBody>
                    <a:bodyPr/>
                    <a:lstStyle/>
                    <a:p>
                      <a:pPr algn="l"/>
                      <a:r>
                        <a:rPr sz="1150" b="0">
                          <a:solidFill>
                            <a:srgbClr val="374151"/>
                          </a:solidFill>
                          <a:latin typeface="Arial"/>
                        </a:rPr>
                        <a:t>nitrides</a:t>
                      </a:r>
                    </a:p>
                  </a:txBody>
                  <a:tcPr marL="64008" marR="64008" marT="18288" marB="18288">
                    <a:solidFill>
                      <a:srgbClr val="FFFFFF"/>
                    </a:solidFill>
                  </a:tcPr>
                </a:tc>
                <a:tc>
                  <a:txBody>
                    <a:bodyPr/>
                    <a:lstStyle/>
                    <a:p>
                      <a:pPr algn="ctr"/>
                      <a:r>
                        <a:rPr sz="1150" b="0">
                          <a:solidFill>
                            <a:srgbClr val="374151"/>
                          </a:solidFill>
                          <a:latin typeface="Arial"/>
                        </a:rPr>
                        <a:t>5</a:t>
                      </a:r>
                    </a:p>
                  </a:txBody>
                  <a:tcPr marL="64008" marR="64008" marT="18288" marB="18288">
                    <a:solidFill>
                      <a:srgbClr val="FFFFFF"/>
                    </a:solidFill>
                  </a:tcPr>
                </a:tc>
                <a:tc>
                  <a:txBody>
                    <a:bodyPr/>
                    <a:lstStyle/>
                    <a:p>
                      <a:pPr algn="ctr"/>
                      <a:r>
                        <a:rPr sz="1150" b="0">
                          <a:solidFill>
                            <a:srgbClr val="374151"/>
                          </a:solidFill>
                          <a:latin typeface="Arial"/>
                        </a:rPr>
                        <a:t>high charge anion — charge-compensation control</a:t>
                      </a:r>
                    </a:p>
                  </a:txBody>
                  <a:tcPr marL="64008" marR="64008" marT="18288" marB="18288">
                    <a:solidFill>
                      <a:srgbClr val="FFFFFF"/>
                    </a:solidFill>
                  </a:tcPr>
                </a:tc>
                <a:tc>
                  <a:txBody>
                    <a:bodyPr/>
                    <a:lstStyle/>
                    <a:p>
                      <a:pPr algn="ctr"/>
                      <a:r>
                        <a:rPr sz="1150" b="0">
                          <a:solidFill>
                            <a:srgbClr val="374151"/>
                          </a:solidFill>
                          <a:latin typeface="Arial"/>
                        </a:rPr>
                        <a:t>AlN  Ca3N2  GaN  Li3N …</a:t>
                      </a:r>
                    </a:p>
                  </a:txBody>
                  <a:tcPr marL="64008" marR="64008" marT="18288" marB="18288">
                    <a:solidFill>
                      <a:srgbClr val="FFFFFF"/>
                    </a:solidFill>
                  </a:tcPr>
                </a:tc>
              </a:tr>
              <a:tr h="247116">
                <a:tc>
                  <a:txBody>
                    <a:bodyPr/>
                    <a:lstStyle/>
                    <a:p>
                      <a:pPr algn="l"/>
                      <a:r>
                        <a:rPr sz="1150" b="0">
                          <a:solidFill>
                            <a:srgbClr val="374151"/>
                          </a:solidFill>
                          <a:latin typeface="Arial"/>
                        </a:rPr>
                        <a:t>iodides</a:t>
                      </a:r>
                    </a:p>
                  </a:txBody>
                  <a:tcPr marL="64008" marR="64008" marT="18288" marB="18288">
                    <a:solidFill>
                      <a:srgbClr val="FFFFFF"/>
                    </a:solidFill>
                  </a:tcPr>
                </a:tc>
                <a:tc>
                  <a:txBody>
                    <a:bodyPr/>
                    <a:lstStyle/>
                    <a:p>
                      <a:pPr algn="ctr"/>
                      <a:r>
                        <a:rPr sz="1150" b="0">
                          <a:solidFill>
                            <a:srgbClr val="374151"/>
                          </a:solidFill>
                          <a:latin typeface="Arial"/>
                        </a:rPr>
                        <a:t>4</a:t>
                      </a:r>
                    </a:p>
                  </a:txBody>
                  <a:tcPr marL="64008" marR="64008" marT="18288" marB="18288">
                    <a:solidFill>
                      <a:srgbClr val="FFFFFF"/>
                    </a:solidFill>
                  </a:tcPr>
                </a:tc>
                <a:tc>
                  <a:txBody>
                    <a:bodyPr/>
                    <a:lstStyle/>
                    <a:p>
                      <a:pPr algn="ctr"/>
                      <a:r>
                        <a:rPr sz="1150" b="0">
                          <a:solidFill>
                            <a:srgbClr val="374151"/>
                          </a:solidFill>
                          <a:latin typeface="Arial"/>
                        </a:rPr>
                        <a:t>largest halide — mobility control</a:t>
                      </a:r>
                    </a:p>
                  </a:txBody>
                  <a:tcPr marL="64008" marR="64008" marT="18288" marB="18288">
                    <a:solidFill>
                      <a:srgbClr val="FFFFFF"/>
                    </a:solidFill>
                  </a:tcPr>
                </a:tc>
                <a:tc>
                  <a:txBody>
                    <a:bodyPr/>
                    <a:lstStyle/>
                    <a:p>
                      <a:pPr algn="ctr"/>
                      <a:r>
                        <a:rPr sz="1150" b="0">
                          <a:solidFill>
                            <a:srgbClr val="374151"/>
                          </a:solidFill>
                          <a:latin typeface="Arial"/>
                        </a:rPr>
                        <a:t>AlI3  LiI  MgI2  NaI</a:t>
                      </a:r>
                    </a:p>
                  </a:txBody>
                  <a:tcPr marL="64008" marR="64008" marT="18288" marB="18288">
                    <a:solidFill>
                      <a:srgbClr val="FFFFFF"/>
                    </a:solidFill>
                  </a:tcPr>
                </a:tc>
              </a:tr>
            </a:tbl>
          </a:graphicData>
        </a:graphic>
      </p:graphicFrame>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Grouped by the dominant anion. Order inside a family carries no meaning — this is the input list, not a shortlist.</a:t>
            </a:r>
          </a:p>
        </p:txBody>
      </p:sp>
    </p:spTree>
    <p:extLst>
      <p:ext uri="{BB962C8B-B14F-4D97-AF65-F5344CB8AC3E}">
        <p14:creationId xmlns:p14="http://schemas.microsoft.com/office/powerpoint/2010/main" val="19244058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3" name="bg-5">
            <a:extLst xmlns:a="http://schemas.openxmlformats.org/drawingml/2006/main">
              <a:ext uri="{FF2B5EF4-FFF2-40B4-BE49-F238E27FC236}">
                <a16:creationId xmlns:a16="http://schemas.microsoft.com/office/drawing/2014/main" id="{F6C65ECC-966A-4434-B5BB-D132BAF1613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5">
            <a:extLst xmlns:a="http://schemas.openxmlformats.org/drawingml/2006/main">
              <a:ext uri="{FF2B5EF4-FFF2-40B4-BE49-F238E27FC236}">
                <a16:creationId xmlns:a16="http://schemas.microsoft.com/office/drawing/2014/main" id="{B055E6A9-098C-432C-98EC-3556E185ACE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Where they sit</a:t>
            </a:r>
          </a:p>
        </p:txBody>
      </p:sp>
      <p:sp>
        <p:nvSpPr>
          <p:cNvPr id="3" name="terms-5">
            <a:extLst xmlns:a="http://schemas.openxmlformats.org/drawingml/2006/main">
              <a:ext uri="{FF2B5EF4-FFF2-40B4-BE49-F238E27FC236}">
                <a16:creationId xmlns:a16="http://schemas.microsoft.com/office/drawing/2014/main" id="{9CCEC6A8-8923-4D3A-B681-60539A62F4EA}"/>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Cation: the metal we substitute in  ·  Coverage: how many compounds of that element we ran</a:t>
            </a:r>
          </a:p>
        </p:txBody>
      </p:sp>
      <p:sp>
        <p:nvSpPr>
          <p:cNvPr id="4" name="divider-5">
            <a:extLst xmlns:a="http://schemas.openxmlformats.org/drawingml/2006/main">
              <a:ext uri="{FF2B5EF4-FFF2-40B4-BE49-F238E27FC236}">
                <a16:creationId xmlns:a16="http://schemas.microsoft.com/office/drawing/2014/main" id="{2E281D3E-967F-4D4D-91B7-79A74E8D2D7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5">
            <a:extLst xmlns:a="http://schemas.openxmlformats.org/drawingml/2006/main">
              <a:ext uri="{FF2B5EF4-FFF2-40B4-BE49-F238E27FC236}">
                <a16:creationId xmlns:a16="http://schemas.microsoft.com/office/drawing/2014/main" id="{120FA710-7C58-4098-9834-96495D5EE960}"/>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5">
            <a:extLst xmlns:a="http://schemas.openxmlformats.org/drawingml/2006/main">
              <a:ext uri="{FF2B5EF4-FFF2-40B4-BE49-F238E27FC236}">
                <a16:creationId xmlns:a16="http://schemas.microsoft.com/office/drawing/2014/main" id="{C01476F7-6575-4D3A-92D6-0C616590C07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6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36 cation elements, from alkali metals to lanthanides</a:t>
            </a:r>
          </a:p>
        </p:txBody>
      </p:sp>
      <p:sp>
        <p:nvSpPr>
          <p:cNvPr id="7" name="bullet-dot-5-0">
            <a:extLst xmlns:a="http://schemas.openxmlformats.org/drawingml/2006/main">
              <a:ext uri="{FF2B5EF4-FFF2-40B4-BE49-F238E27FC236}">
                <a16:creationId xmlns:a16="http://schemas.microsoft.com/office/drawing/2014/main" id="{94E5C115-80F6-4C7F-B6E0-7A90B8E1443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5-0">
            <a:extLst xmlns:a="http://schemas.openxmlformats.org/drawingml/2006/main">
              <a:ext uri="{FF2B5EF4-FFF2-40B4-BE49-F238E27FC236}">
                <a16:creationId xmlns:a16="http://schemas.microsoft.com/office/drawing/2014/main" id="{1847B9A6-08D7-4ABB-B47B-BC7FCBDD420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number in each box is </a:t>
            </a:r>
            <a:r>
              <a:rPr sz="1275" b="1">
                <a:solidFill>
                  <a:srgbClr val="2563EB"/>
                </a:solidFill>
                <a:latin typeface="Arial"/>
                <a:ea typeface="Arial"/>
                <a:cs typeface="Arial"/>
              </a:rPr>
              <a:t>how many different compounds of that element</a:t>
            </a:r>
            <a:r>
              <a:rPr sz="1275" b="0">
                <a:solidFill>
                  <a:srgbClr val="374151"/>
                </a:solidFill>
                <a:latin typeface="Arial"/>
                <a:ea typeface="Arial"/>
                <a:cs typeface="Arial"/>
              </a:rPr>
              <a:t> we actually ran.</a:t>
            </a:r>
          </a:p>
        </p:txBody>
      </p:sp>
      <p:sp>
        <p:nvSpPr>
          <p:cNvPr id="9" name="bullet-dot-5-1">
            <a:extLst xmlns:a="http://schemas.openxmlformats.org/drawingml/2006/main">
              <a:ext uri="{FF2B5EF4-FFF2-40B4-BE49-F238E27FC236}">
                <a16:creationId xmlns:a16="http://schemas.microsoft.com/office/drawing/2014/main" id="{FA32E48E-6825-4945-A51D-30C41D84071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5-1">
            <a:extLst xmlns:a="http://schemas.openxmlformats.org/drawingml/2006/main">
              <a:ext uri="{FF2B5EF4-FFF2-40B4-BE49-F238E27FC236}">
                <a16:creationId xmlns:a16="http://schemas.microsoft.com/office/drawing/2014/main" id="{1C50A290-B17E-4DF0-BA0C-3A4989D33DE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Coverage is broad in the transition metals and thin in the </a:t>
            </a:r>
            <a:r>
              <a:rPr sz="1275" b="1">
                <a:solidFill>
                  <a:srgbClr val="BE123C"/>
                </a:solidFill>
                <a:latin typeface="Arial"/>
                <a:ea typeface="Arial"/>
                <a:cs typeface="Arial"/>
              </a:rPr>
              <a:t>heavy main group</a:t>
            </a:r>
            <a:r>
              <a:rPr sz="1275" b="0">
                <a:solidFill>
                  <a:srgbClr val="374151"/>
                </a:solidFill>
                <a:latin typeface="Arial"/>
                <a:ea typeface="Arial"/>
                <a:cs typeface="Arial"/>
              </a:rPr>
              <a:t>.</a:t>
            </a:r>
          </a:p>
        </p:txBody>
      </p:sp>
      <p:sp>
        <p:nvSpPr>
          <p:cNvPr id="11" name="citation-5">
            <a:extLst xmlns:a="http://schemas.openxmlformats.org/drawingml/2006/main">
              <a:ext uri="{FF2B5EF4-FFF2-40B4-BE49-F238E27FC236}">
                <a16:creationId xmlns:a16="http://schemas.microsoft.com/office/drawing/2014/main" id="{6E35C789-0B9A-4EEE-BBAB-49ADB96A9816}"/>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roster, drawn on the table</a:t>
            </a:r>
          </a:p>
        </p:txBody>
      </p:sp>
      <p:sp>
        <p:nvSpPr>
          <p:cNvPr id="12" name="footer-brand-5">
            <a:extLst xmlns:a="http://schemas.openxmlformats.org/drawingml/2006/main">
              <a:ext uri="{FF2B5EF4-FFF2-40B4-BE49-F238E27FC236}">
                <a16:creationId xmlns:a16="http://schemas.microsoft.com/office/drawing/2014/main" id="{E8213834-278A-4868-935E-D4FE7EAC3D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5">
            <a:extLst xmlns:a="http://schemas.openxmlformats.org/drawingml/2006/main">
              <a:ext uri="{FF2B5EF4-FFF2-40B4-BE49-F238E27FC236}">
                <a16:creationId xmlns:a16="http://schemas.microsoft.com/office/drawing/2014/main" id="{607ACE82-BDB8-4372-BF66-4DCD744F138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5">
            <a:extLst xmlns:a="http://schemas.openxmlformats.org/drawingml/2006/main">
              <a:ext uri="{FF2B5EF4-FFF2-40B4-BE49-F238E27FC236}">
                <a16:creationId xmlns:a16="http://schemas.microsoft.com/office/drawing/2014/main" id="{51E93E5B-9C8B-4BB0-9417-36D9CDFE27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7</a:t>
            </a:r>
          </a:p>
        </p:txBody>
      </p:sp>
      <p:pic xmlns:a="http://schemas.openxmlformats.org/drawingml/2006/main" xmlns:r="http://schemas.openxmlformats.org/officeDocument/2006/relationships">
        <p:nvPicPr>
          <p:cNvPr id="24" name="Picture 23" descr="roster_periodic_table.png"/>
          <p:cNvPicPr>
            <a:picLocks noChangeAspect="1"/>
          </p:cNvPicPr>
          <p:nvPr/>
        </p:nvPicPr>
        <p:blipFill>
          <a:blip r:embed="rId3"/>
          <a:stretch>
            <a:fillRect/>
          </a:stretch>
        </p:blipFill>
        <p:spPr>
          <a:xfrm>
            <a:off x="506580" y="2286000"/>
            <a:ext cx="8130839" cy="3310128"/>
          </a:xfrm>
          <a:prstGeom prst="rect">
            <a:avLst/>
          </a:prstGeom>
        </p:spPr>
      </p:pic>
      <p:sp xmlns:a="http://schemas.openxmlformats.org/drawingml/2006/main">
        <p:nvSpPr>
          <p:cNvPr id="25" name="TextBox 24"/>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own roster. Colour marks the chemical family only — it is not a score and not a ranking.</a:t>
            </a:r>
          </a:p>
        </p:txBody>
      </p:sp>
    </p:spTree>
    <p:extLst>
      <p:ext uri="{BB962C8B-B14F-4D97-AF65-F5344CB8AC3E}">
        <p14:creationId xmlns:p14="http://schemas.microsoft.com/office/powerpoint/2010/main" val="6949876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2" name="bg-6">
            <a:extLst xmlns:a="http://schemas.openxmlformats.org/drawingml/2006/main">
              <a:ext uri="{FF2B5EF4-FFF2-40B4-BE49-F238E27FC236}">
                <a16:creationId xmlns:a16="http://schemas.microsoft.com/office/drawing/2014/main" id="{56576768-A713-4E28-A6B6-DFC8105A24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6">
            <a:extLst xmlns:a="http://schemas.openxmlformats.org/drawingml/2006/main">
              <a:ext uri="{FF2B5EF4-FFF2-40B4-BE49-F238E27FC236}">
                <a16:creationId xmlns:a16="http://schemas.microsoft.com/office/drawing/2014/main" id="{448F932F-EE45-494C-8018-F5DCEC353ED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69"/>
          </a:bodyPr>
          <a:lstStyle xmlns:a="http://schemas.openxmlformats.org/drawingml/2006/main"/>
          <a:p xmlns:a="http://schemas.openxmlformats.org/drawingml/2006/main">
            <a:pPr>
              <a:defRPr sz="2325" b="1">
                <a:solidFill>
                  <a:srgbClr val="1F4E79"/>
                </a:solidFill>
                <a:latin typeface="Arial"/>
                <a:ea typeface="Arial"/>
                <a:cs typeface="Arial"/>
              </a:defRPr>
            </a:pPr>
            <a:r>
              <a:rPr sz="2175" b="1">
                <a:solidFill>
                  <a:srgbClr val="1F4E79"/>
                </a:solidFill>
                <a:latin typeface="Arial"/>
                <a:ea typeface="Arial"/>
                <a:cs typeface="Arial"/>
              </a:rPr>
              <a:t>STEP 1 — Where it sits</a:t>
            </a:r>
          </a:p>
        </p:txBody>
      </p:sp>
      <p:sp>
        <p:nvSpPr>
          <p:cNvPr id="3" name="terms-6">
            <a:extLst xmlns:a="http://schemas.openxmlformats.org/drawingml/2006/main">
              <a:ext uri="{FF2B5EF4-FFF2-40B4-BE49-F238E27FC236}">
                <a16:creationId xmlns:a16="http://schemas.microsoft.com/office/drawing/2014/main" id="{A3D41F79-3204-45C2-BF1F-D2746AB55EA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Sublattice: the set of equivalent positions one element occupies  ·  Aliovalent: a different charge from the ion it replaces</a:t>
            </a:r>
          </a:p>
        </p:txBody>
      </p:sp>
      <p:sp>
        <p:nvSpPr>
          <p:cNvPr id="4" name="divider-6">
            <a:extLst xmlns:a="http://schemas.openxmlformats.org/drawingml/2006/main">
              <a:ext uri="{FF2B5EF4-FFF2-40B4-BE49-F238E27FC236}">
                <a16:creationId xmlns:a16="http://schemas.microsoft.com/office/drawing/2014/main" id="{79D9B8C3-B25E-471C-9845-2775C2E67E4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6">
            <a:extLst xmlns:a="http://schemas.openxmlformats.org/drawingml/2006/main">
              <a:ext uri="{FF2B5EF4-FFF2-40B4-BE49-F238E27FC236}">
                <a16:creationId xmlns:a16="http://schemas.microsoft.com/office/drawing/2014/main" id="{D5C7520B-28F1-4830-B1FC-19AE6F0E015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6">
            <a:extLst xmlns:a="http://schemas.openxmlformats.org/drawingml/2006/main">
              <a:ext uri="{FF2B5EF4-FFF2-40B4-BE49-F238E27FC236}">
                <a16:creationId xmlns:a16="http://schemas.microsoft.com/office/drawing/2014/main" id="{CA987F87-5C3F-4F04-9FDC-F3EDC3C8A4F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 dopant name is not yet a structure</a:t>
            </a:r>
          </a:p>
        </p:txBody>
      </p:sp>
      <p:sp>
        <p:nvSpPr>
          <p:cNvPr id="7" name="bullet-dot-6-0">
            <a:extLst xmlns:a="http://schemas.openxmlformats.org/drawingml/2006/main">
              <a:ext uri="{FF2B5EF4-FFF2-40B4-BE49-F238E27FC236}">
                <a16:creationId xmlns:a16="http://schemas.microsoft.com/office/drawing/2014/main" id="{8CF33AF8-5848-4127-9616-9D4BEE127EC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6-0">
            <a:extLst xmlns:a="http://schemas.openxmlformats.org/drawingml/2006/main">
              <a:ext uri="{FF2B5EF4-FFF2-40B4-BE49-F238E27FC236}">
                <a16:creationId xmlns:a16="http://schemas.microsoft.com/office/drawing/2014/main" id="{0664EB91-E4D3-4674-A717-CEBA0E89D44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Li, P, S and Cl sublattices are distinct — an oxide needs </a:t>
            </a:r>
            <a:r>
              <a:rPr sz="1275" b="1">
                <a:solidFill>
                  <a:srgbClr val="2563EB"/>
                </a:solidFill>
                <a:latin typeface="Arial"/>
                <a:ea typeface="Arial"/>
                <a:cs typeface="Arial"/>
              </a:rPr>
              <a:t>a cation site and an anion site</a:t>
            </a:r>
            <a:r>
              <a:rPr sz="1275" b="0">
                <a:solidFill>
                  <a:srgbClr val="374151"/>
                </a:solidFill>
                <a:latin typeface="Arial"/>
                <a:ea typeface="Arial"/>
                <a:cs typeface="Arial"/>
              </a:rPr>
              <a:t>.</a:t>
            </a:r>
          </a:p>
        </p:txBody>
      </p:sp>
      <p:sp>
        <p:nvSpPr>
          <p:cNvPr id="9" name="bullet-dot-6-1">
            <a:extLst xmlns:a="http://schemas.openxmlformats.org/drawingml/2006/main">
              <a:ext uri="{FF2B5EF4-FFF2-40B4-BE49-F238E27FC236}">
                <a16:creationId xmlns:a16="http://schemas.microsoft.com/office/drawing/2014/main" id="{20311F4F-3DF1-4658-8446-15E0753A4C6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6-1">
            <a:extLst xmlns:a="http://schemas.openxmlformats.org/drawingml/2006/main">
              <a:ext uri="{FF2B5EF4-FFF2-40B4-BE49-F238E27FC236}">
                <a16:creationId xmlns:a16="http://schemas.microsoft.com/office/drawing/2014/main" id="{B71D4069-E657-4DE0-A4C4-0D56C48060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Aliovalent substitution adds or removes Li, and </a:t>
            </a:r>
            <a:r>
              <a:rPr sz="1275" b="1">
                <a:solidFill>
                  <a:srgbClr val="BE123C"/>
                </a:solidFill>
                <a:latin typeface="Arial"/>
                <a:ea typeface="Arial"/>
                <a:cs typeface="Arial"/>
              </a:rPr>
              <a:t>more than one recipe balances the charge</a:t>
            </a:r>
            <a:r>
              <a:rPr sz="1275" b="0">
                <a:solidFill>
                  <a:srgbClr val="374151"/>
                </a:solidFill>
                <a:latin typeface="Arial"/>
                <a:ea typeface="Arial"/>
                <a:cs typeface="Arial"/>
              </a:rPr>
              <a:t>.</a:t>
            </a:r>
          </a:p>
        </p:txBody>
      </p:sp>
      <p:sp>
        <p:nvSpPr>
          <p:cNvPr id="11" name="citation-6">
            <a:extLst xmlns:a="http://schemas.openxmlformats.org/drawingml/2006/main">
              <a:ext uri="{FF2B5EF4-FFF2-40B4-BE49-F238E27FC236}">
                <a16:creationId xmlns:a16="http://schemas.microsoft.com/office/drawing/2014/main" id="{267946A7-8A5A-4909-B3D3-376F66D14782}"/>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site preference</a:t>
            </a:r>
          </a:p>
        </p:txBody>
      </p:sp>
      <p:sp>
        <p:nvSpPr>
          <p:cNvPr id="12" name="footer-brand-6">
            <a:extLst xmlns:a="http://schemas.openxmlformats.org/drawingml/2006/main">
              <a:ext uri="{FF2B5EF4-FFF2-40B4-BE49-F238E27FC236}">
                <a16:creationId xmlns:a16="http://schemas.microsoft.com/office/drawing/2014/main" id="{A0745599-0DE5-4278-B723-2DA6D65A588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6">
            <a:extLst xmlns:a="http://schemas.openxmlformats.org/drawingml/2006/main">
              <a:ext uri="{FF2B5EF4-FFF2-40B4-BE49-F238E27FC236}">
                <a16:creationId xmlns:a16="http://schemas.microsoft.com/office/drawing/2014/main" id="{43983313-12AC-4AA1-801E-62C108B271A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6">
            <a:extLst xmlns:a="http://schemas.openxmlformats.org/drawingml/2006/main">
              <a:ext uri="{FF2B5EF4-FFF2-40B4-BE49-F238E27FC236}">
                <a16:creationId xmlns:a16="http://schemas.microsoft.com/office/drawing/2014/main" id="{B1D86954-2D4F-4276-9A81-38FAAF9242B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8</a:t>
            </a:r>
          </a:p>
        </p:txBody>
      </p:sp>
      <p:pic xmlns:a="http://schemas.openxmlformats.org/drawingml/2006/main" xmlns:r="http://schemas.openxmlformats.org/officeDocument/2006/relationships">
        <p:nvPicPr>
          <p:cNvPr id="33" name="Picture 32" descr="step1_site_choice.png"/>
          <p:cNvPicPr>
            <a:picLocks noChangeAspect="1"/>
          </p:cNvPicPr>
          <p:nvPr/>
        </p:nvPicPr>
        <p:blipFill>
          <a:blip r:embed="rId3"/>
          <a:stretch>
            <a:fillRect/>
          </a:stretch>
        </p:blipFill>
        <p:spPr>
          <a:xfrm>
            <a:off x="1732832" y="2286000"/>
            <a:ext cx="5678334" cy="3310128"/>
          </a:xfrm>
          <a:prstGeom prst="rect">
            <a:avLst/>
          </a:prstGeom>
        </p:spPr>
      </p:pic>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which sublattice each cation prefers, plotted against its ionic radius. Big cations end up on Li sites; small group-14 ions replace P. Bars are the spread across our three runs.</a:t>
            </a:r>
          </a:p>
        </p:txBody>
      </p:sp>
    </p:spTree>
    <p:extLst>
      <p:ext uri="{BB962C8B-B14F-4D97-AF65-F5344CB8AC3E}">
        <p14:creationId xmlns:p14="http://schemas.microsoft.com/office/powerpoint/2010/main" val="84752153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0" name="bg-7">
            <a:extLst xmlns:a="http://schemas.openxmlformats.org/drawingml/2006/main">
              <a:ext uri="{FF2B5EF4-FFF2-40B4-BE49-F238E27FC236}">
                <a16:creationId xmlns:a16="http://schemas.microsoft.com/office/drawing/2014/main" id="{3F5CAAEB-90CE-4533-80EB-F6B785EF32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7">
            <a:extLst xmlns:a="http://schemas.openxmlformats.org/drawingml/2006/main">
              <a:ext uri="{FF2B5EF4-FFF2-40B4-BE49-F238E27FC236}">
                <a16:creationId xmlns:a16="http://schemas.microsoft.com/office/drawing/2014/main" id="{E40601E1-C519-4CC2-A768-354D58CBFAB0}"/>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098"/>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2 — Building it</a:t>
            </a:r>
          </a:p>
        </p:txBody>
      </p:sp>
      <p:sp>
        <p:nvSpPr>
          <p:cNvPr id="3" name="terms-7">
            <a:extLst xmlns:a="http://schemas.openxmlformats.org/drawingml/2006/main">
              <a:ext uri="{FF2B5EF4-FFF2-40B4-BE49-F238E27FC236}">
                <a16:creationId xmlns:a16="http://schemas.microsoft.com/office/drawing/2014/main" id="{896AB69D-EA41-47E3-B382-867F137A910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Configuration: one specific arrangement of atoms in the cell  ·  Generator: the code that enumerates candidate structures</a:t>
            </a:r>
          </a:p>
        </p:txBody>
      </p:sp>
      <p:sp>
        <p:nvSpPr>
          <p:cNvPr id="4" name="divider-7">
            <a:extLst xmlns:a="http://schemas.openxmlformats.org/drawingml/2006/main">
              <a:ext uri="{FF2B5EF4-FFF2-40B4-BE49-F238E27FC236}">
                <a16:creationId xmlns:a16="http://schemas.microsoft.com/office/drawing/2014/main" id="{C7F2DE18-B846-4ED1-9B8F-9DD3ABC5413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7">
            <a:extLst xmlns:a="http://schemas.openxmlformats.org/drawingml/2006/main">
              <a:ext uri="{FF2B5EF4-FFF2-40B4-BE49-F238E27FC236}">
                <a16:creationId xmlns:a16="http://schemas.microsoft.com/office/drawing/2014/main" id="{0A22044F-E634-4326-BD8E-11A056C7E6F1}"/>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7">
            <a:extLst xmlns:a="http://schemas.openxmlformats.org/drawingml/2006/main">
              <a:ext uri="{FF2B5EF4-FFF2-40B4-BE49-F238E27FC236}">
                <a16:creationId xmlns:a16="http://schemas.microsoft.com/office/drawing/2014/main" id="{28D11498-1F7B-46AA-B52A-D9F939DA5FD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2"/>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Every allowed site becomes its own candidate structure</a:t>
            </a:r>
          </a:p>
        </p:txBody>
      </p:sp>
      <p:sp>
        <p:nvSpPr>
          <p:cNvPr id="7" name="bullet-dot-7-0">
            <a:extLst xmlns:a="http://schemas.openxmlformats.org/drawingml/2006/main">
              <a:ext uri="{FF2B5EF4-FFF2-40B4-BE49-F238E27FC236}">
                <a16:creationId xmlns:a16="http://schemas.microsoft.com/office/drawing/2014/main" id="{8B729D4D-1370-4A21-B87D-F550CCB31EB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7-0">
            <a:extLst xmlns:a="http://schemas.openxmlformats.org/drawingml/2006/main">
              <a:ext uri="{FF2B5EF4-FFF2-40B4-BE49-F238E27FC236}">
                <a16:creationId xmlns:a16="http://schemas.microsoft.com/office/drawing/2014/main" id="{CD5F8FA1-A024-4B20-A034-58681A1E0F2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One compound produces </a:t>
            </a:r>
            <a:r>
              <a:rPr sz="1275" b="1">
                <a:solidFill>
                  <a:srgbClr val="2563EB"/>
                </a:solidFill>
                <a:latin typeface="Arial"/>
                <a:ea typeface="Arial"/>
                <a:cs typeface="Arial"/>
              </a:rPr>
              <a:t>several structures</a:t>
            </a:r>
            <a:r>
              <a:rPr sz="1275" b="0">
                <a:solidFill>
                  <a:srgbClr val="374151"/>
                </a:solidFill>
                <a:latin typeface="Arial"/>
                <a:ea typeface="Arial"/>
                <a:cs typeface="Arial"/>
              </a:rPr>
              <a:t>, not one — different sites, different charge recipes.</a:t>
            </a:r>
          </a:p>
        </p:txBody>
      </p:sp>
      <p:sp>
        <p:nvSpPr>
          <p:cNvPr id="9" name="bullet-dot-7-1">
            <a:extLst xmlns:a="http://schemas.openxmlformats.org/drawingml/2006/main">
              <a:ext uri="{FF2B5EF4-FFF2-40B4-BE49-F238E27FC236}">
                <a16:creationId xmlns:a16="http://schemas.microsoft.com/office/drawing/2014/main" id="{8C1A5506-08A1-4B0E-8632-2E6F78D51E3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7-1">
            <a:extLst xmlns:a="http://schemas.openxmlformats.org/drawingml/2006/main">
              <a:ext uri="{FF2B5EF4-FFF2-40B4-BE49-F238E27FC236}">
                <a16:creationId xmlns:a16="http://schemas.microsoft.com/office/drawing/2014/main" id="{617BA323-E5E0-4229-91DB-6D0F0F42900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 Which site wins is </a:t>
            </a:r>
            <a:r>
              <a:rPr sz="1275" b="1">
                <a:solidFill>
                  <a:srgbClr val="BE123C"/>
                </a:solidFill>
                <a:latin typeface="Arial"/>
                <a:ea typeface="Arial"/>
                <a:cs typeface="Arial"/>
              </a:rPr>
              <a:t>an output of the generator</a:t>
            </a:r>
            <a:r>
              <a:rPr sz="1275" b="0">
                <a:solidFill>
                  <a:srgbClr val="374151"/>
                </a:solidFill>
                <a:latin typeface="Arial"/>
                <a:ea typeface="Arial"/>
                <a:cs typeface="Arial"/>
              </a:rPr>
              <a:t>, not something we controlled.</a:t>
            </a:r>
          </a:p>
        </p:txBody>
      </p:sp>
      <p:sp>
        <p:nvSpPr>
          <p:cNvPr id="11" name="citation-7">
            <a:extLst xmlns:a="http://schemas.openxmlformats.org/drawingml/2006/main">
              <a:ext uri="{FF2B5EF4-FFF2-40B4-BE49-F238E27FC236}">
                <a16:creationId xmlns:a16="http://schemas.microsoft.com/office/drawing/2014/main" id="{1B5AAFC1-27DD-46B6-B739-F552B41D1A0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where the anion landed</a:t>
            </a:r>
          </a:p>
        </p:txBody>
      </p:sp>
      <p:sp>
        <p:nvSpPr>
          <p:cNvPr id="12" name="footer-brand-7">
            <a:extLst xmlns:a="http://schemas.openxmlformats.org/drawingml/2006/main">
              <a:ext uri="{FF2B5EF4-FFF2-40B4-BE49-F238E27FC236}">
                <a16:creationId xmlns:a16="http://schemas.microsoft.com/office/drawing/2014/main" id="{46BC1CC5-3053-4C81-B525-5A06538DED2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7">
            <a:extLst xmlns:a="http://schemas.openxmlformats.org/drawingml/2006/main">
              <a:ext uri="{FF2B5EF4-FFF2-40B4-BE49-F238E27FC236}">
                <a16:creationId xmlns:a16="http://schemas.microsoft.com/office/drawing/2014/main" id="{AF03F0C6-1690-4949-A516-83BE967382B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7">
            <a:extLst xmlns:a="http://schemas.openxmlformats.org/drawingml/2006/main">
              <a:ext uri="{FF2B5EF4-FFF2-40B4-BE49-F238E27FC236}">
                <a16:creationId xmlns:a16="http://schemas.microsoft.com/office/drawing/2014/main" id="{87518756-9244-43BF-AB49-DCB47889BC2A}"/>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9</a:t>
            </a:r>
          </a:p>
        </p:txBody>
      </p:sp>
      <p:pic xmlns:a="http://schemas.openxmlformats.org/drawingml/2006/main" xmlns:r="http://schemas.openxmlformats.org/officeDocument/2006/relationships">
        <p:nvPicPr>
          <p:cNvPr id="31" name="Picture 30" descr="step2_anion_site.png"/>
          <p:cNvPicPr>
            <a:picLocks noChangeAspect="1"/>
          </p:cNvPicPr>
          <p:nvPr/>
        </p:nvPicPr>
        <p:blipFill>
          <a:blip r:embed="rId3"/>
          <a:stretch>
            <a:fillRect/>
          </a:stretch>
        </p:blipFill>
        <p:spPr>
          <a:xfrm>
            <a:off x="554096" y="2286000"/>
            <a:ext cx="8035806" cy="3310128"/>
          </a:xfrm>
          <a:prstGeom prst="rect">
            <a:avLst/>
          </a:prstGeom>
        </p:spPr>
      </p:pic>
      <p:sp xmlns:a="http://schemas.openxmlformats.org/drawingml/2006/main">
        <p:nvSpPr>
          <p:cNvPr id="32" name="TextBox 31"/>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where the dopant's anion actually landed across the campaign. Three sublattices absorbed it in comparable numbers, so the site was never fixed by design.</a:t>
            </a:r>
          </a:p>
        </p:txBody>
      </p:sp>
    </p:spTree>
    <p:extLst>
      <p:ext uri="{BB962C8B-B14F-4D97-AF65-F5344CB8AC3E}">
        <p14:creationId xmlns:p14="http://schemas.microsoft.com/office/powerpoint/2010/main" val="1291255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8" name="bg-8">
            <a:extLst xmlns:a="http://schemas.openxmlformats.org/drawingml/2006/main">
              <a:ext uri="{FF2B5EF4-FFF2-40B4-BE49-F238E27FC236}">
                <a16:creationId xmlns:a16="http://schemas.microsoft.com/office/drawing/2014/main" id="{9C659025-4049-4965-A0DC-5F97C470B5C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8">
            <a:extLst xmlns:a="http://schemas.openxmlformats.org/drawingml/2006/main">
              <a:ext uri="{FF2B5EF4-FFF2-40B4-BE49-F238E27FC236}">
                <a16:creationId xmlns:a16="http://schemas.microsoft.com/office/drawing/2014/main" id="{ACFF66F3-C828-44B7-A06E-BD3A7DA00A0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143"/>
          </a:bodyPr>
          <a:lstStyle xmlns:a="http://schemas.openxmlformats.org/drawingml/2006/main"/>
          <a:p xmlns:a="http://schemas.openxmlformats.org/drawingml/2006/main">
            <a:pPr>
              <a:defRPr sz="2325" b="1">
                <a:solidFill>
                  <a:srgbClr val="1F4E79"/>
                </a:solidFill>
                <a:latin typeface="Arial"/>
                <a:ea typeface="Arial"/>
                <a:cs typeface="Arial"/>
              </a:defRPr>
            </a:pPr>
            <a:r>
              <a:rPr sz="1800" b="1">
                <a:solidFill>
                  <a:srgbClr val="1F4E79"/>
                </a:solidFill>
                <a:latin typeface="Arial"/>
                <a:ea typeface="Arial"/>
                <a:cs typeface="Arial"/>
              </a:rPr>
              <a:t>STEP 3 — Cheap relaxation</a:t>
            </a:r>
          </a:p>
        </p:txBody>
      </p:sp>
      <p:sp>
        <p:nvSpPr>
          <p:cNvPr id="3" name="terms-8">
            <a:extLst xmlns:a="http://schemas.openxmlformats.org/drawingml/2006/main">
              <a:ext uri="{FF2B5EF4-FFF2-40B4-BE49-F238E27FC236}">
                <a16:creationId xmlns:a16="http://schemas.microsoft.com/office/drawing/2014/main" id="{4B35C2AA-6235-442E-9E33-3413BCE4021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Relaxation: moving atoms until the forces vanish  ·  Machine-learned potential: a fast stand-in for quantum-mechanical forces</a:t>
            </a:r>
          </a:p>
        </p:txBody>
      </p:sp>
      <p:sp>
        <p:nvSpPr>
          <p:cNvPr id="4" name="divider-8">
            <a:extLst xmlns:a="http://schemas.openxmlformats.org/drawingml/2006/main">
              <a:ext uri="{FF2B5EF4-FFF2-40B4-BE49-F238E27FC236}">
                <a16:creationId xmlns:a16="http://schemas.microsoft.com/office/drawing/2014/main" id="{A965172E-EC5B-48C2-8B74-D22D2EC3933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8">
            <a:extLst xmlns:a="http://schemas.openxmlformats.org/drawingml/2006/main">
              <a:ext uri="{FF2B5EF4-FFF2-40B4-BE49-F238E27FC236}">
                <a16:creationId xmlns:a16="http://schemas.microsoft.com/office/drawing/2014/main" id="{0CC4BAF0-C91D-4A24-87A3-B2BDCA8DDCB2}"/>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8">
            <a:extLst xmlns:a="http://schemas.openxmlformats.org/drawingml/2006/main">
              <a:ext uri="{FF2B5EF4-FFF2-40B4-BE49-F238E27FC236}">
                <a16:creationId xmlns:a16="http://schemas.microsoft.com/office/drawing/2014/main" id="{3594EC4D-313A-4B29-90B2-16FFF0C32D9F}"/>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Let a fast model decide which structures are even plausible</a:t>
            </a:r>
          </a:p>
        </p:txBody>
      </p:sp>
      <p:sp>
        <p:nvSpPr>
          <p:cNvPr id="7" name="bullet-dot-8-0">
            <a:extLst xmlns:a="http://schemas.openxmlformats.org/drawingml/2006/main">
              <a:ext uri="{FF2B5EF4-FFF2-40B4-BE49-F238E27FC236}">
                <a16:creationId xmlns:a16="http://schemas.microsoft.com/office/drawing/2014/main" id="{5F2C4AE9-ADF1-4FA4-97DC-64A9FEF49CB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8-0">
            <a:extLst xmlns:a="http://schemas.openxmlformats.org/drawingml/2006/main">
              <a:ext uri="{FF2B5EF4-FFF2-40B4-BE49-F238E27FC236}">
                <a16:creationId xmlns:a16="http://schemas.microsoft.com/office/drawing/2014/main" id="{185DA0CD-C30F-4B43-A41C-574D54D0CBC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machine-learned potential relaxes in </a:t>
            </a:r>
            <a:r>
              <a:rPr sz="1275" b="1">
                <a:solidFill>
                  <a:srgbClr val="2563EB"/>
                </a:solidFill>
                <a:latin typeface="Arial"/>
                <a:ea typeface="Arial"/>
                <a:cs typeface="Arial"/>
              </a:rPr>
              <a:t>minutes instead of hours</a:t>
            </a:r>
            <a:r>
              <a:rPr sz="1275" b="0">
                <a:solidFill>
                  <a:srgbClr val="374151"/>
                </a:solidFill>
                <a:latin typeface="Arial"/>
                <a:ea typeface="Arial"/>
                <a:cs typeface="Arial"/>
              </a:rPr>
              <a:t>, so we can afford all of them.</a:t>
            </a:r>
          </a:p>
        </p:txBody>
      </p:sp>
      <p:sp>
        <p:nvSpPr>
          <p:cNvPr id="9" name="bullet-dot-8-1">
            <a:extLst xmlns:a="http://schemas.openxmlformats.org/drawingml/2006/main">
              <a:ext uri="{FF2B5EF4-FFF2-40B4-BE49-F238E27FC236}">
                <a16:creationId xmlns:a16="http://schemas.microsoft.com/office/drawing/2014/main" id="{17B86401-BE1D-48D3-9A59-F53D9CA2BD2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8-1">
            <a:extLst xmlns:a="http://schemas.openxmlformats.org/drawingml/2006/main">
              <a:ext uri="{FF2B5EF4-FFF2-40B4-BE49-F238E27FC236}">
                <a16:creationId xmlns:a16="http://schemas.microsoft.com/office/drawing/2014/main" id="{DD58248A-31CC-4D85-8B31-03F018264B2D}"/>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Structures that collapse or refuse to converge drop out here.</a:t>
            </a:r>
          </a:p>
        </p:txBody>
      </p:sp>
      <p:sp>
        <p:nvSpPr>
          <p:cNvPr id="11" name="citation-8">
            <a:extLst xmlns:a="http://schemas.openxmlformats.org/drawingml/2006/main">
              <a:ext uri="{FF2B5EF4-FFF2-40B4-BE49-F238E27FC236}">
                <a16:creationId xmlns:a16="http://schemas.microsoft.com/office/drawing/2014/main" id="{49D07D5D-7D97-43A4-8188-397C3D1E5ADC}"/>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note</a:t>
            </a:r>
          </a:p>
        </p:txBody>
      </p:sp>
      <p:sp>
        <p:nvSpPr>
          <p:cNvPr id="12" name="footer-brand-8">
            <a:extLst xmlns:a="http://schemas.openxmlformats.org/drawingml/2006/main">
              <a:ext uri="{FF2B5EF4-FFF2-40B4-BE49-F238E27FC236}">
                <a16:creationId xmlns:a16="http://schemas.microsoft.com/office/drawing/2014/main" id="{4A188F76-D1EB-4DD3-B474-5E66AB953DA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8">
            <a:extLst xmlns:a="http://schemas.openxmlformats.org/drawingml/2006/main">
              <a:ext uri="{FF2B5EF4-FFF2-40B4-BE49-F238E27FC236}">
                <a16:creationId xmlns:a16="http://schemas.microsoft.com/office/drawing/2014/main" id="{C342A7D7-8C05-45A2-9727-7866E042E16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8">
            <a:extLst xmlns:a="http://schemas.openxmlformats.org/drawingml/2006/main">
              <a:ext uri="{FF2B5EF4-FFF2-40B4-BE49-F238E27FC236}">
                <a16:creationId xmlns:a16="http://schemas.microsoft.com/office/drawing/2014/main" id="{AE5D586F-2405-4755-B629-60492BC7B23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10</a:t>
            </a:r>
          </a:p>
        </p:txBody>
      </p:sp>
      <p:pic xmlns:a="http://schemas.openxmlformats.org/drawingml/2006/main" xmlns:r="http://schemas.openxmlformats.org/officeDocument/2006/relationships">
        <p:nvPicPr>
          <p:cNvPr id="39" name="Picture 38" descr="step3_survival.png"/>
          <p:cNvPicPr>
            <a:picLocks noChangeAspect="1"/>
          </p:cNvPicPr>
          <p:nvPr/>
        </p:nvPicPr>
        <p:blipFill>
          <a:blip r:embed="rId3"/>
          <a:stretch>
            <a:fillRect/>
          </a:stretch>
        </p:blipFill>
        <p:spPr>
          <a:xfrm>
            <a:off x="2351941" y="2267712"/>
            <a:ext cx="4440117" cy="2212848"/>
          </a:xfrm>
          <a:prstGeom prst="rect">
            <a:avLst/>
          </a:prstGeom>
        </p:spPr>
      </p:pic>
      <p:sp xmlns:a="http://schemas.openxmlformats.org/drawingml/2006/main">
        <p:nvSpPr>
          <p:cNvPr id="40" name="TextBox 39"/>
          <p:cNvSpPr txBox="1"/>
          <p:nvPr/>
        </p:nvSpPr>
        <p:spPr>
          <a:xfrm>
            <a:off x="2351941" y="4498848"/>
            <a:ext cx="4440117" cy="256032"/>
          </a:xfrm>
          <a:prstGeom prst="rect">
            <a:avLst/>
          </a:prstGeom>
          <a:noFill/>
        </p:spPr>
        <p:txBody>
          <a:bodyPr wrap="none">
            <a:spAutoFit/>
          </a:bodyPr>
          <a:lstStyle/>
          <a:p>
            <a:pPr algn="ctr"/>
            <a:r>
              <a:rPr sz="1300" b="0">
                <a:solidFill>
                  <a:srgbClr val="1F2937"/>
                </a:solidFill>
                <a:latin typeface="Arial"/>
              </a:rPr>
              <a:t>&lt; how far each structure moved &gt;</a:t>
            </a:r>
          </a:p>
        </p:txBody>
      </p:sp>
      <p:sp xmlns:a="http://schemas.openxmlformats.org/drawingml/2006/main">
        <p:nvSpPr>
          <p:cNvPr id="41" name="TextBox 40"/>
          <p:cNvSpPr txBox="1"/>
          <p:nvPr/>
        </p:nvSpPr>
        <p:spPr>
          <a:xfrm>
            <a:off x="960120" y="4956048"/>
            <a:ext cx="7223760" cy="1371600"/>
          </a:xfrm>
          <a:prstGeom prst="rect">
            <a:avLst/>
          </a:prstGeom>
          <a:noFill/>
        </p:spPr>
        <p:txBody>
          <a:bodyPr wrap="square">
            <a:spAutoFit/>
          </a:bodyPr>
          <a:lstStyle/>
          <a:p>
            <a:pPr>
              <a:spcAft>
                <a:spcPts val="600"/>
              </a:spcAft>
            </a:pPr>
            <a:r>
              <a:rPr sz="1550">
                <a:solidFill>
                  <a:srgbClr val="1F2937"/>
                </a:solidFill>
                <a:latin typeface="Arial"/>
              </a:rPr>
              <a:t>This stage answers one question: does the structure hold together?</a:t>
            </a:r>
          </a:p>
        </p:txBody>
      </p:sp>
    </p:spTree>
    <p:extLst>
      <p:ext uri="{BB962C8B-B14F-4D97-AF65-F5344CB8AC3E}">
        <p14:creationId xmlns:p14="http://schemas.microsoft.com/office/powerpoint/2010/main" val="63302296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9" name="bg-9">
            <a:extLst xmlns:a="http://schemas.openxmlformats.org/drawingml/2006/main">
              <a:ext uri="{FF2B5EF4-FFF2-40B4-BE49-F238E27FC236}">
                <a16:creationId xmlns:a16="http://schemas.microsoft.com/office/drawing/2014/main" id="{435E53D0-CEAA-46C2-BB49-53B6455897B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9">
            <a:extLst xmlns:a="http://schemas.openxmlformats.org/drawingml/2006/main">
              <a:ext uri="{FF2B5EF4-FFF2-40B4-BE49-F238E27FC236}">
                <a16:creationId xmlns:a16="http://schemas.microsoft.com/office/drawing/2014/main" id="{C81C8D5A-4935-46EC-8322-BF08C9A5DC8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0424"/>
          </a:bodyPr>
          <a:lstStyle xmlns:a="http://schemas.openxmlformats.org/drawingml/2006/main"/>
          <a:p xmlns:a="http://schemas.openxmlformats.org/drawingml/2006/main">
            <a:pPr>
              <a:defRPr sz="2325" b="1">
                <a:solidFill>
                  <a:srgbClr val="1F4E79"/>
                </a:solidFill>
                <a:latin typeface="Arial"/>
                <a:ea typeface="Arial"/>
                <a:cs typeface="Arial"/>
              </a:defRPr>
            </a:pPr>
            <a:r>
              <a:rPr sz="2250" b="1">
                <a:solidFill>
                  <a:srgbClr val="1F4E79"/>
                </a:solidFill>
                <a:latin typeface="Arial"/>
                <a:ea typeface="Arial"/>
                <a:cs typeface="Arial"/>
              </a:rPr>
              <a:t>STEP 4 — Picking one</a:t>
            </a:r>
          </a:p>
        </p:txBody>
      </p:sp>
      <p:sp>
        <p:nvSpPr>
          <p:cNvPr id="3" name="terms-9">
            <a:extLst xmlns:a="http://schemas.openxmlformats.org/drawingml/2006/main">
              <a:ext uri="{FF2B5EF4-FFF2-40B4-BE49-F238E27FC236}">
                <a16:creationId xmlns:a16="http://schemas.microsoft.com/office/drawing/2014/main" id="{7ED23FC5-965C-470E-83D6-2B28B5018765}"/>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Representative: the one structure carried forward  ·  Convergence: the optimiser actually finished</a:t>
            </a:r>
          </a:p>
        </p:txBody>
      </p:sp>
      <p:sp>
        <p:nvSpPr>
          <p:cNvPr id="4" name="divider-9">
            <a:extLst xmlns:a="http://schemas.openxmlformats.org/drawingml/2006/main">
              <a:ext uri="{FF2B5EF4-FFF2-40B4-BE49-F238E27FC236}">
                <a16:creationId xmlns:a16="http://schemas.microsoft.com/office/drawing/2014/main" id="{94480B59-D522-450C-A078-7CCFF97C635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9">
            <a:extLst xmlns:a="http://schemas.openxmlformats.org/drawingml/2006/main">
              <a:ext uri="{FF2B5EF4-FFF2-40B4-BE49-F238E27FC236}">
                <a16:creationId xmlns:a16="http://schemas.microsoft.com/office/drawing/2014/main" id="{DFE43A8F-2800-4FD5-9D8C-70C0F926AA8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9">
            <a:extLst xmlns:a="http://schemas.openxmlformats.org/drawingml/2006/main">
              <a:ext uri="{FF2B5EF4-FFF2-40B4-BE49-F238E27FC236}">
                <a16:creationId xmlns:a16="http://schemas.microsoft.com/office/drawing/2014/main" id="{91B269EA-4BE7-4FDF-99EB-D4B987BA8238}"/>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One structure per candidate goes forward — and that is a choice</a:t>
            </a:r>
          </a:p>
        </p:txBody>
      </p:sp>
      <p:sp>
        <p:nvSpPr>
          <p:cNvPr id="7" name="bullet-dot-9-0">
            <a:extLst xmlns:a="http://schemas.openxmlformats.org/drawingml/2006/main">
              <a:ext uri="{FF2B5EF4-FFF2-40B4-BE49-F238E27FC236}">
                <a16:creationId xmlns:a16="http://schemas.microsoft.com/office/drawing/2014/main" id="{B05F1B8D-DB8F-4785-B727-975BF771C2EA}"/>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9-0">
            <a:extLst xmlns:a="http://schemas.openxmlformats.org/drawingml/2006/main">
              <a:ext uri="{FF2B5EF4-FFF2-40B4-BE49-F238E27FC236}">
                <a16:creationId xmlns:a16="http://schemas.microsoft.com/office/drawing/2014/main" id="{097DF6AB-08A8-499E-BD2A-D6A037DC272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We keep the converged, low-energy structure whose cell volume did not blow up.</a:t>
            </a:r>
          </a:p>
        </p:txBody>
      </p:sp>
      <p:sp>
        <p:nvSpPr>
          <p:cNvPr id="9" name="bullet-dot-9-1">
            <a:extLst xmlns:a="http://schemas.openxmlformats.org/drawingml/2006/main">
              <a:ext uri="{FF2B5EF4-FFF2-40B4-BE49-F238E27FC236}">
                <a16:creationId xmlns:a16="http://schemas.microsoft.com/office/drawing/2014/main" id="{317F55AD-BD44-4DD2-B51A-BBB5D38F7E2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9-1">
            <a:extLst xmlns:a="http://schemas.openxmlformats.org/drawingml/2006/main">
              <a:ext uri="{FF2B5EF4-FFF2-40B4-BE49-F238E27FC236}">
                <a16:creationId xmlns:a16="http://schemas.microsoft.com/office/drawing/2014/main" id="{B0F4EE59-F92C-4E5E-9E16-6DBBD9977EA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 Candidate counts differ per compound, so </a:t>
            </a:r>
            <a:r>
              <a:rPr sz="1275" b="1">
                <a:solidFill>
                  <a:srgbClr val="BE123C"/>
                </a:solidFill>
                <a:latin typeface="Arial"/>
                <a:ea typeface="Arial"/>
                <a:cs typeface="Arial"/>
              </a:rPr>
              <a:t>this is not a ranking of the elements</a:t>
            </a:r>
            <a:r>
              <a:rPr sz="1275" b="0">
                <a:solidFill>
                  <a:srgbClr val="374151"/>
                </a:solidFill>
                <a:latin typeface="Arial"/>
                <a:ea typeface="Arial"/>
                <a:cs typeface="Arial"/>
              </a:rPr>
              <a:t>.</a:t>
            </a:r>
          </a:p>
        </p:txBody>
      </p:sp>
      <p:sp>
        <p:nvSpPr>
          <p:cNvPr id="11" name="citation-9">
            <a:extLst xmlns:a="http://schemas.openxmlformats.org/drawingml/2006/main">
              <a:ext uri="{FF2B5EF4-FFF2-40B4-BE49-F238E27FC236}">
                <a16:creationId xmlns:a16="http://schemas.microsoft.com/office/drawing/2014/main" id="{25B9E05E-DC04-4A5D-8569-13F31ACF028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stability band</a:t>
            </a:r>
          </a:p>
        </p:txBody>
      </p:sp>
      <p:sp>
        <p:nvSpPr>
          <p:cNvPr id="12" name="footer-brand-9">
            <a:extLst xmlns:a="http://schemas.openxmlformats.org/drawingml/2006/main">
              <a:ext uri="{FF2B5EF4-FFF2-40B4-BE49-F238E27FC236}">
                <a16:creationId xmlns:a16="http://schemas.microsoft.com/office/drawing/2014/main" id="{DACB3A1B-7A3B-4DBD-B207-7A59F3E80B5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9">
            <a:extLst xmlns:a="http://schemas.openxmlformats.org/drawingml/2006/main">
              <a:ext uri="{FF2B5EF4-FFF2-40B4-BE49-F238E27FC236}">
                <a16:creationId xmlns:a16="http://schemas.microsoft.com/office/drawing/2014/main" id="{F7ABA427-5C5A-4CBA-86C3-074010FBC4AB}"/>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9">
            <a:extLst xmlns:a="http://schemas.openxmlformats.org/drawingml/2006/main">
              <a:ext uri="{FF2B5EF4-FFF2-40B4-BE49-F238E27FC236}">
                <a16:creationId xmlns:a16="http://schemas.microsoft.com/office/drawing/2014/main" id="{13129437-2C2C-4E12-B0FB-B0263BC9619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11</a:t>
            </a:r>
          </a:p>
        </p:txBody>
      </p:sp>
      <p:pic xmlns:a="http://schemas.openxmlformats.org/drawingml/2006/main" xmlns:r="http://schemas.openxmlformats.org/officeDocument/2006/relationships">
        <p:nvPicPr>
          <p:cNvPr id="30" name="Picture 29" descr="step4_stability_band.png"/>
          <p:cNvPicPr>
            <a:picLocks noChangeAspect="1"/>
          </p:cNvPicPr>
          <p:nvPr/>
        </p:nvPicPr>
        <p:blipFill>
          <a:blip r:embed="rId3"/>
          <a:stretch>
            <a:fillRect/>
          </a:stretch>
        </p:blipFill>
        <p:spPr>
          <a:xfrm>
            <a:off x="1592485" y="2286000"/>
            <a:ext cx="5959029" cy="3310128"/>
          </a:xfrm>
          <a:prstGeom prst="rect">
            <a:avLst/>
          </a:prstGeom>
        </p:spPr>
      </p:pic>
      <p:sp xmlns:a="http://schemas.openxmlformats.org/drawingml/2006/main">
        <p:nvSpPr>
          <p:cNvPr id="31" name="TextBox 30"/>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relative stability against the undoped host, with the spread across our three runs. Here the runs agree, so a representative structure is defensible on this axis.</a:t>
            </a:r>
          </a:p>
        </p:txBody>
      </p:sp>
    </p:spTree>
    <p:extLst>
      <p:ext uri="{BB962C8B-B14F-4D97-AF65-F5344CB8AC3E}">
        <p14:creationId xmlns:p14="http://schemas.microsoft.com/office/powerpoint/2010/main" val="6330229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8" name="bg-10">
            <a:extLst xmlns:a="http://schemas.openxmlformats.org/drawingml/2006/main">
              <a:ext uri="{FF2B5EF4-FFF2-40B4-BE49-F238E27FC236}">
                <a16:creationId xmlns:a16="http://schemas.microsoft.com/office/drawing/2014/main" id="{2EB630F4-43B9-4330-A73C-7FDABEE3BB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0">
            <a:extLst xmlns:a="http://schemas.openxmlformats.org/drawingml/2006/main">
              <a:ext uri="{FF2B5EF4-FFF2-40B4-BE49-F238E27FC236}">
                <a16:creationId xmlns:a16="http://schemas.microsoft.com/office/drawing/2014/main" id="{D040B401-5AB7-4650-A366-D2B67D2E129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12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STEP 5 — Shaking it</a:t>
            </a:r>
          </a:p>
        </p:txBody>
      </p:sp>
      <p:sp>
        <p:nvSpPr>
          <p:cNvPr id="3" name="terms-10">
            <a:extLst xmlns:a="http://schemas.openxmlformats.org/drawingml/2006/main">
              <a:ext uri="{FF2B5EF4-FFF2-40B4-BE49-F238E27FC236}">
                <a16:creationId xmlns:a16="http://schemas.microsoft.com/office/drawing/2014/main" id="{52B82C7C-1661-47F5-A640-9217254AAE7B}"/>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Anneal: a brief run at high temperature  ·  Local minimum: the nearest stable arrangement, not necessarily the right one</a:t>
            </a:r>
          </a:p>
        </p:txBody>
      </p:sp>
      <p:sp>
        <p:nvSpPr>
          <p:cNvPr id="4" name="divider-10">
            <a:extLst xmlns:a="http://schemas.openxmlformats.org/drawingml/2006/main">
              <a:ext uri="{FF2B5EF4-FFF2-40B4-BE49-F238E27FC236}">
                <a16:creationId xmlns:a16="http://schemas.microsoft.com/office/drawing/2014/main" id="{7D90B29B-A327-4A12-A4B3-D4993D02793E}"/>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0">
            <a:extLst xmlns:a="http://schemas.openxmlformats.org/drawingml/2006/main">
              <a:ext uri="{FF2B5EF4-FFF2-40B4-BE49-F238E27FC236}">
                <a16:creationId xmlns:a16="http://schemas.microsoft.com/office/drawing/2014/main" id="{431E7742-5169-412A-94C8-F3CE1D49A02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0">
            <a:extLst xmlns:a="http://schemas.openxmlformats.org/drawingml/2006/main">
              <a:ext uri="{FF2B5EF4-FFF2-40B4-BE49-F238E27FC236}">
                <a16:creationId xmlns:a16="http://schemas.microsoft.com/office/drawing/2014/main" id="{DE778ADA-B1FE-4FE9-8217-77B17EA3820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 short heat-and-relax tests whether the structure survives</a:t>
            </a:r>
          </a:p>
        </p:txBody>
      </p:sp>
      <p:sp>
        <p:nvSpPr>
          <p:cNvPr id="7" name="bullet-dot-10-0">
            <a:extLst xmlns:a="http://schemas.openxmlformats.org/drawingml/2006/main">
              <a:ext uri="{FF2B5EF4-FFF2-40B4-BE49-F238E27FC236}">
                <a16:creationId xmlns:a16="http://schemas.microsoft.com/office/drawing/2014/main" id="{97DEEB77-5B2F-4B24-B6B9-402FA694F5F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0-0">
            <a:extLst xmlns:a="http://schemas.openxmlformats.org/drawingml/2006/main">
              <a:ext uri="{FF2B5EF4-FFF2-40B4-BE49-F238E27FC236}">
                <a16:creationId xmlns:a16="http://schemas.microsoft.com/office/drawing/2014/main" id="{629ADE05-6B38-48CC-9E84-269E04156C96}"/>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Plain relaxation only finds the </a:t>
            </a:r>
            <a:r>
              <a:rPr sz="1275" b="1">
                <a:solidFill>
                  <a:srgbClr val="BE123C"/>
                </a:solidFill>
                <a:latin typeface="Arial"/>
                <a:ea typeface="Arial"/>
                <a:cs typeface="Arial"/>
              </a:rPr>
              <a:t>nearest</a:t>
            </a:r>
            <a:r>
              <a:rPr sz="1275" b="0">
                <a:solidFill>
                  <a:srgbClr val="374151"/>
                </a:solidFill>
                <a:latin typeface="Arial"/>
                <a:ea typeface="Arial"/>
                <a:cs typeface="Arial"/>
              </a:rPr>
              <a:t> minimum; real synthesis explores much further.</a:t>
            </a:r>
          </a:p>
        </p:txBody>
      </p:sp>
      <p:sp>
        <p:nvSpPr>
          <p:cNvPr id="9" name="bullet-dot-10-1">
            <a:extLst xmlns:a="http://schemas.openxmlformats.org/drawingml/2006/main">
              <a:ext uri="{FF2B5EF4-FFF2-40B4-BE49-F238E27FC236}">
                <a16:creationId xmlns:a16="http://schemas.microsoft.com/office/drawing/2014/main" id="{CD5E783F-B8CC-4C67-A8C6-B4F3F5E821E9}"/>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0-1">
            <a:extLst xmlns:a="http://schemas.openxmlformats.org/drawingml/2006/main">
              <a:ext uri="{FF2B5EF4-FFF2-40B4-BE49-F238E27FC236}">
                <a16:creationId xmlns:a16="http://schemas.microsoft.com/office/drawing/2014/main" id="{30F58E80-15CC-4B1D-A10C-F0DF9D69CCE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So we heat briefly, then relax again — everything measured next depends on </a:t>
            </a:r>
            <a:r>
              <a:rPr sz="1275" b="1">
                <a:solidFill>
                  <a:srgbClr val="2563EB"/>
                </a:solidFill>
                <a:latin typeface="Arial"/>
                <a:ea typeface="Arial"/>
                <a:cs typeface="Arial"/>
              </a:rPr>
              <a:t>bond lengths</a:t>
            </a:r>
            <a:r>
              <a:rPr sz="1275" b="0">
                <a:solidFill>
                  <a:srgbClr val="374151"/>
                </a:solidFill>
                <a:latin typeface="Arial"/>
                <a:ea typeface="Arial"/>
                <a:cs typeface="Arial"/>
              </a:rPr>
              <a:t>.</a:t>
            </a:r>
          </a:p>
        </p:txBody>
      </p:sp>
      <p:sp>
        <p:nvSpPr>
          <p:cNvPr id="11" name="citation-10">
            <a:extLst xmlns:a="http://schemas.openxmlformats.org/drawingml/2006/main">
              <a:ext uri="{FF2B5EF4-FFF2-40B4-BE49-F238E27FC236}">
                <a16:creationId xmlns:a16="http://schemas.microsoft.com/office/drawing/2014/main" id="{CF335250-6E0A-4747-A397-F139386F77A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note</a:t>
            </a:r>
          </a:p>
        </p:txBody>
      </p:sp>
      <p:sp>
        <p:nvSpPr>
          <p:cNvPr id="12" name="footer-brand-10">
            <a:extLst xmlns:a="http://schemas.openxmlformats.org/drawingml/2006/main">
              <a:ext uri="{FF2B5EF4-FFF2-40B4-BE49-F238E27FC236}">
                <a16:creationId xmlns:a16="http://schemas.microsoft.com/office/drawing/2014/main" id="{5A0AE661-7824-40E3-A3B8-AE0620E55AAD}"/>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0">
            <a:extLst xmlns:a="http://schemas.openxmlformats.org/drawingml/2006/main">
              <a:ext uri="{FF2B5EF4-FFF2-40B4-BE49-F238E27FC236}">
                <a16:creationId xmlns:a16="http://schemas.microsoft.com/office/drawing/2014/main" id="{1323845D-FBE7-44B7-B9A3-6D5AF4C7423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0">
            <a:extLst xmlns:a="http://schemas.openxmlformats.org/drawingml/2006/main">
              <a:ext uri="{FF2B5EF4-FFF2-40B4-BE49-F238E27FC236}">
                <a16:creationId xmlns:a16="http://schemas.microsoft.com/office/drawing/2014/main" id="{DA8660D3-A4F3-4AEC-8FB7-8FF736EEA12D}"/>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12</a:t>
            </a:r>
          </a:p>
        </p:txBody>
      </p:sp>
      <p:pic xmlns:a="http://schemas.openxmlformats.org/drawingml/2006/main" xmlns:r="http://schemas.openxmlformats.org/officeDocument/2006/relationships">
        <p:nvPicPr>
          <p:cNvPr id="39" name="Picture 38" descr="step5_anneal_gain.png"/>
          <p:cNvPicPr>
            <a:picLocks noChangeAspect="1"/>
          </p:cNvPicPr>
          <p:nvPr/>
        </p:nvPicPr>
        <p:blipFill>
          <a:blip r:embed="rId3"/>
          <a:stretch>
            <a:fillRect/>
          </a:stretch>
        </p:blipFill>
        <p:spPr>
          <a:xfrm>
            <a:off x="2302544" y="2267712"/>
            <a:ext cx="4538911" cy="2212848"/>
          </a:xfrm>
          <a:prstGeom prst="rect">
            <a:avLst/>
          </a:prstGeom>
        </p:spPr>
      </p:pic>
      <p:sp xmlns:a="http://schemas.openxmlformats.org/drawingml/2006/main">
        <p:nvSpPr>
          <p:cNvPr id="40" name="TextBox 39"/>
          <p:cNvSpPr txBox="1"/>
          <p:nvPr/>
        </p:nvSpPr>
        <p:spPr>
          <a:xfrm>
            <a:off x="2302544" y="4498848"/>
            <a:ext cx="4538911" cy="256032"/>
          </a:xfrm>
          <a:prstGeom prst="rect">
            <a:avLst/>
          </a:prstGeom>
          <a:noFill/>
        </p:spPr>
        <p:txBody>
          <a:bodyPr wrap="none">
            <a:spAutoFit/>
          </a:bodyPr>
          <a:lstStyle/>
          <a:p>
            <a:pPr algn="ctr"/>
            <a:r>
              <a:rPr sz="1300" b="0">
                <a:solidFill>
                  <a:srgbClr val="1F2937"/>
                </a:solidFill>
                <a:latin typeface="Arial"/>
              </a:rPr>
              <a:t>&lt; energy gained by shaking the structure &gt;</a:t>
            </a:r>
          </a:p>
        </p:txBody>
      </p:sp>
      <p:sp xmlns:a="http://schemas.openxmlformats.org/drawingml/2006/main">
        <p:nvSpPr>
          <p:cNvPr id="41" name="TextBox 40"/>
          <p:cNvSpPr txBox="1"/>
          <p:nvPr/>
        </p:nvSpPr>
        <p:spPr>
          <a:xfrm>
            <a:off x="960120" y="4956048"/>
            <a:ext cx="7223760" cy="1371600"/>
          </a:xfrm>
          <a:prstGeom prst="rect">
            <a:avLst/>
          </a:prstGeom>
          <a:noFill/>
        </p:spPr>
        <p:txBody>
          <a:bodyPr wrap="square">
            <a:spAutoFit/>
          </a:bodyPr>
          <a:lstStyle/>
          <a:p>
            <a:pPr>
              <a:spcAft>
                <a:spcPts val="600"/>
              </a:spcAft>
            </a:pPr>
            <a:r>
              <a:rPr sz="1550">
                <a:solidFill>
                  <a:srgbClr val="1F2937"/>
                </a:solidFill>
                <a:latin typeface="Arial"/>
              </a:rPr>
              <a:t>500 K for 50 picoseconds, then relax again — long enough to cross a small barrier.</a:t>
            </a:r>
          </a:p>
        </p:txBody>
      </p:sp>
    </p:spTree>
    <p:extLst>
      <p:ext uri="{BB962C8B-B14F-4D97-AF65-F5344CB8AC3E}">
        <p14:creationId xmlns:p14="http://schemas.microsoft.com/office/powerpoint/2010/main" val="41894597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8" name="bg-11">
            <a:extLst xmlns:a="http://schemas.openxmlformats.org/drawingml/2006/main">
              <a:ext uri="{FF2B5EF4-FFF2-40B4-BE49-F238E27FC236}">
                <a16:creationId xmlns:a16="http://schemas.microsoft.com/office/drawing/2014/main" id="{42BCE85D-7FF1-4A39-81FC-4F57336820D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1">
            <a:extLst xmlns:a="http://schemas.openxmlformats.org/drawingml/2006/main">
              <a:ext uri="{FF2B5EF4-FFF2-40B4-BE49-F238E27FC236}">
                <a16:creationId xmlns:a16="http://schemas.microsoft.com/office/drawing/2014/main" id="{6BD01FA7-AB46-428E-86BD-81D025FFFF3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082"/>
          </a:bodyPr>
          <a:lstStyle xmlns:a="http://schemas.openxmlformats.org/drawingml/2006/main"/>
          <a:p xmlns:a="http://schemas.openxmlformats.org/drawingml/2006/main">
            <a:pPr>
              <a:defRPr sz="2325" b="1">
                <a:solidFill>
                  <a:srgbClr val="1F4E79"/>
                </a:solidFill>
                <a:latin typeface="Arial"/>
                <a:ea typeface="Arial"/>
                <a:cs typeface="Arial"/>
              </a:defRPr>
            </a:pPr>
            <a:r>
              <a:rPr sz="2250" b="1">
                <a:solidFill>
                  <a:srgbClr val="1F4E79"/>
                </a:solidFill>
                <a:latin typeface="Arial"/>
                <a:ea typeface="Arial"/>
                <a:cs typeface="Arial"/>
              </a:rPr>
              <a:t>STEP 6 — The Li path</a:t>
            </a:r>
          </a:p>
        </p:txBody>
      </p:sp>
      <p:sp>
        <p:nvSpPr>
          <p:cNvPr id="3" name="terms-11">
            <a:extLst xmlns:a="http://schemas.openxmlformats.org/drawingml/2006/main">
              <a:ext uri="{FF2B5EF4-FFF2-40B4-BE49-F238E27FC236}">
                <a16:creationId xmlns:a16="http://schemas.microsoft.com/office/drawing/2014/main" id="{1576C10E-4D2B-4CF8-B1BF-7D59CE711D8B}"/>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Bond-valence map: a cheap estimate of how comfortable an ion is at a point  ·  Percolation: a low-energy path that spans the crystal</a:t>
            </a:r>
          </a:p>
        </p:txBody>
      </p:sp>
      <p:sp>
        <p:nvSpPr>
          <p:cNvPr id="4" name="divider-11">
            <a:extLst xmlns:a="http://schemas.openxmlformats.org/drawingml/2006/main">
              <a:ext uri="{FF2B5EF4-FFF2-40B4-BE49-F238E27FC236}">
                <a16:creationId xmlns:a16="http://schemas.microsoft.com/office/drawing/2014/main" id="{A562BBF3-1F41-4961-9084-83E274E8EDC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1">
            <a:extLst xmlns:a="http://schemas.openxmlformats.org/drawingml/2006/main">
              <a:ext uri="{FF2B5EF4-FFF2-40B4-BE49-F238E27FC236}">
                <a16:creationId xmlns:a16="http://schemas.microsoft.com/office/drawing/2014/main" id="{625E0C1A-217D-4BB4-A278-B712AB04E2E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1">
            <a:extLst xmlns:a="http://schemas.openxmlformats.org/drawingml/2006/main">
              <a:ext uri="{FF2B5EF4-FFF2-40B4-BE49-F238E27FC236}">
                <a16:creationId xmlns:a16="http://schemas.microsoft.com/office/drawing/2014/main" id="{1800E3FB-DDE3-4845-BC77-13FB348163C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Map the energy landscape a lithium ion would have to cross</a:t>
            </a:r>
          </a:p>
        </p:txBody>
      </p:sp>
      <p:sp>
        <p:nvSpPr>
          <p:cNvPr id="7" name="bullet-dot-11-0">
            <a:extLst xmlns:a="http://schemas.openxmlformats.org/drawingml/2006/main">
              <a:ext uri="{FF2B5EF4-FFF2-40B4-BE49-F238E27FC236}">
                <a16:creationId xmlns:a16="http://schemas.microsoft.com/office/drawing/2014/main" id="{575266FD-784D-4D5D-8973-706488C1DF1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1-0">
            <a:extLst xmlns:a="http://schemas.openxmlformats.org/drawingml/2006/main">
              <a:ext uri="{FF2B5EF4-FFF2-40B4-BE49-F238E27FC236}">
                <a16:creationId xmlns:a16="http://schemas.microsoft.com/office/drawing/2014/main" id="{FBF502C3-1E31-458F-BCDB-B44C85856F4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We score every point for how comfortable a Li ion would be, then look for </a:t>
            </a:r>
            <a:r>
              <a:rPr sz="1275" b="1">
                <a:solidFill>
                  <a:srgbClr val="2563EB"/>
                </a:solidFill>
                <a:latin typeface="Arial"/>
                <a:ea typeface="Arial"/>
                <a:cs typeface="Arial"/>
              </a:rPr>
              <a:t>connected valleys</a:t>
            </a:r>
            <a:r>
              <a:rPr sz="1275" b="0">
                <a:solidFill>
                  <a:srgbClr val="374151"/>
                </a:solidFill>
                <a:latin typeface="Arial"/>
                <a:ea typeface="Arial"/>
                <a:cs typeface="Arial"/>
              </a:rPr>
              <a:t>.</a:t>
            </a:r>
          </a:p>
        </p:txBody>
      </p:sp>
      <p:sp>
        <p:nvSpPr>
          <p:cNvPr id="9" name="bullet-dot-11-1">
            <a:extLst xmlns:a="http://schemas.openxmlformats.org/drawingml/2006/main">
              <a:ext uri="{FF2B5EF4-FFF2-40B4-BE49-F238E27FC236}">
                <a16:creationId xmlns:a16="http://schemas.microsoft.com/office/drawing/2014/main" id="{94A13DB2-4EC0-4A18-B733-353E5E29950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1-1">
            <a:extLst xmlns:a="http://schemas.openxmlformats.org/drawingml/2006/main">
              <a:ext uri="{FF2B5EF4-FFF2-40B4-BE49-F238E27FC236}">
                <a16:creationId xmlns:a16="http://schemas.microsoft.com/office/drawing/2014/main" id="{F889828F-7509-4F0E-8D36-88ECFCBB1B3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We also count how much of the path the dopant itself </a:t>
            </a:r>
            <a:r>
              <a:rPr sz="1275" b="1">
                <a:solidFill>
                  <a:srgbClr val="BE123C"/>
                </a:solidFill>
                <a:latin typeface="Arial"/>
                <a:ea typeface="Arial"/>
                <a:cs typeface="Arial"/>
              </a:rPr>
              <a:t>sits in the way of</a:t>
            </a:r>
            <a:r>
              <a:rPr sz="1275" b="0">
                <a:solidFill>
                  <a:srgbClr val="374151"/>
                </a:solidFill>
                <a:latin typeface="Arial"/>
                <a:ea typeface="Arial"/>
                <a:cs typeface="Arial"/>
              </a:rPr>
              <a:t>.</a:t>
            </a:r>
          </a:p>
        </p:txBody>
      </p:sp>
      <p:sp>
        <p:nvSpPr>
          <p:cNvPr id="11" name="citation-11">
            <a:extLst xmlns:a="http://schemas.openxmlformats.org/drawingml/2006/main">
              <a:ext uri="{FF2B5EF4-FFF2-40B4-BE49-F238E27FC236}">
                <a16:creationId xmlns:a16="http://schemas.microsoft.com/office/drawing/2014/main" id="{1AB8F407-3106-4DC6-BE8D-3AA13BF69CD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Li landscape</a:t>
            </a:r>
          </a:p>
        </p:txBody>
      </p:sp>
      <p:sp>
        <p:nvSpPr>
          <p:cNvPr id="12" name="footer-brand-11">
            <a:extLst xmlns:a="http://schemas.openxmlformats.org/drawingml/2006/main">
              <a:ext uri="{FF2B5EF4-FFF2-40B4-BE49-F238E27FC236}">
                <a16:creationId xmlns:a16="http://schemas.microsoft.com/office/drawing/2014/main" id="{72094AD0-9D08-44F8-8D2C-641CACA8704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1">
            <a:extLst xmlns:a="http://schemas.openxmlformats.org/drawingml/2006/main">
              <a:ext uri="{FF2B5EF4-FFF2-40B4-BE49-F238E27FC236}">
                <a16:creationId xmlns:a16="http://schemas.microsoft.com/office/drawing/2014/main" id="{77073424-3802-4A2B-A036-E49628422C16}"/>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1">
            <a:extLst xmlns:a="http://schemas.openxmlformats.org/drawingml/2006/main">
              <a:ext uri="{FF2B5EF4-FFF2-40B4-BE49-F238E27FC236}">
                <a16:creationId xmlns:a16="http://schemas.microsoft.com/office/drawing/2014/main" id="{A5893C2A-6074-4180-8227-B9C0731E1499}"/>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13</a:t>
            </a:r>
          </a:p>
        </p:txBody>
      </p:sp>
      <p:pic xmlns:a="http://schemas.openxmlformats.org/drawingml/2006/main" xmlns:r="http://schemas.openxmlformats.org/officeDocument/2006/relationships">
        <p:nvPicPr>
          <p:cNvPr id="19" name="Picture 18" descr="step6_li_landscape.png"/>
          <p:cNvPicPr>
            <a:picLocks noChangeAspect="1"/>
          </p:cNvPicPr>
          <p:nvPr/>
        </p:nvPicPr>
        <p:blipFill>
          <a:blip r:embed="rId4"/>
          <a:stretch>
            <a:fillRect/>
          </a:stretch>
        </p:blipFill>
        <p:spPr>
          <a:xfrm>
            <a:off x="1007094" y="2286000"/>
            <a:ext cx="7129810" cy="3310128"/>
          </a:xfrm>
          <a:prstGeom prst="rect">
            <a:avLst/>
          </a:prstGeom>
        </p:spPr>
      </p:pic>
      <p:sp xmlns:a="http://schemas.openxmlformats.org/drawingml/2006/main">
        <p:nvSpPr>
          <p:cNvPr id="20" name="TextBox 19"/>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static landscape, undoped versus B₂O₃-doped. ⚠ Valleys are low-energy regions, not verified channels — this flags risk, it does not measure conductivity.</a:t>
            </a:r>
          </a:p>
        </p:txBody>
      </p:sp>
    </p:spTree>
    <p:extLst>
      <p:ext uri="{BB962C8B-B14F-4D97-AF65-F5344CB8AC3E}">
        <p14:creationId xmlns:p14="http://schemas.microsoft.com/office/powerpoint/2010/main" val="63302296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5" name="bg-12">
            <a:extLst xmlns:a="http://schemas.openxmlformats.org/drawingml/2006/main">
              <a:ext uri="{FF2B5EF4-FFF2-40B4-BE49-F238E27FC236}">
                <a16:creationId xmlns:a16="http://schemas.microsoft.com/office/drawing/2014/main" id="{0DDCCF3C-C54E-4F96-A357-F033D01360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2">
            <a:extLst xmlns:a="http://schemas.openxmlformats.org/drawingml/2006/main">
              <a:ext uri="{FF2B5EF4-FFF2-40B4-BE49-F238E27FC236}">
                <a16:creationId xmlns:a16="http://schemas.microsoft.com/office/drawing/2014/main" id="{5EB8DF65-AF0A-4A39-982E-F6A43166B45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211"/>
          </a:bodyPr>
          <a:lstStyle xmlns:a="http://schemas.openxmlformats.org/drawingml/2006/main"/>
          <a:p xmlns:a="http://schemas.openxmlformats.org/drawingml/2006/main">
            <a:pPr>
              <a:defRPr sz="2325" b="1">
                <a:solidFill>
                  <a:srgbClr val="1F4E79"/>
                </a:solidFill>
                <a:latin typeface="Arial"/>
                <a:ea typeface="Arial"/>
                <a:cs typeface="Arial"/>
              </a:defRPr>
            </a:pPr>
            <a:r>
              <a:rPr sz="2175" b="1">
                <a:solidFill>
                  <a:srgbClr val="1F4E79"/>
                </a:solidFill>
                <a:latin typeface="Arial"/>
                <a:ea typeface="Arial"/>
                <a:cs typeface="Arial"/>
              </a:rPr>
              <a:t>STEP 7 — Squeezing it</a:t>
            </a:r>
          </a:p>
        </p:txBody>
      </p:sp>
      <p:sp>
        <p:nvSpPr>
          <p:cNvPr id="3" name="terms-12">
            <a:extLst xmlns:a="http://schemas.openxmlformats.org/drawingml/2006/main">
              <a:ext uri="{FF2B5EF4-FFF2-40B4-BE49-F238E27FC236}">
                <a16:creationId xmlns:a16="http://schemas.microsoft.com/office/drawing/2014/main" id="{AEFA0D98-A834-4992-937F-DC9C8D606053}"/>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Equation of state: energy as the cell volume changes  ·  Stack pressure: the force holding the cell together</a:t>
            </a:r>
          </a:p>
        </p:txBody>
      </p:sp>
      <p:sp>
        <p:nvSpPr>
          <p:cNvPr id="4" name="divider-12">
            <a:extLst xmlns:a="http://schemas.openxmlformats.org/drawingml/2006/main">
              <a:ext uri="{FF2B5EF4-FFF2-40B4-BE49-F238E27FC236}">
                <a16:creationId xmlns:a16="http://schemas.microsoft.com/office/drawing/2014/main" id="{E7AF1E31-4644-4D10-A129-B0CBA47AFB8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2">
            <a:extLst xmlns:a="http://schemas.openxmlformats.org/drawingml/2006/main">
              <a:ext uri="{FF2B5EF4-FFF2-40B4-BE49-F238E27FC236}">
                <a16:creationId xmlns:a16="http://schemas.microsoft.com/office/drawing/2014/main" id="{FA489BE3-9B9A-4D45-90B0-2BF1632C753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2">
            <a:extLst xmlns:a="http://schemas.openxmlformats.org/drawingml/2006/main">
              <a:ext uri="{FF2B5EF4-FFF2-40B4-BE49-F238E27FC236}">
                <a16:creationId xmlns:a16="http://schemas.microsoft.com/office/drawing/2014/main" id="{498261F2-FC40-45CF-B75F-DA344BCC85B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In a solid-state cell the mechanics are part of the performance</a:t>
            </a:r>
          </a:p>
        </p:txBody>
      </p:sp>
      <p:sp>
        <p:nvSpPr>
          <p:cNvPr id="7" name="bullet-dot-12-0">
            <a:extLst xmlns:a="http://schemas.openxmlformats.org/drawingml/2006/main">
              <a:ext uri="{FF2B5EF4-FFF2-40B4-BE49-F238E27FC236}">
                <a16:creationId xmlns:a16="http://schemas.microsoft.com/office/drawing/2014/main" id="{6F5090DF-65A6-4C95-84D1-E859AC2EC16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2-0">
            <a:extLst xmlns:a="http://schemas.openxmlformats.org/drawingml/2006/main">
              <a:ext uri="{FF2B5EF4-FFF2-40B4-BE49-F238E27FC236}">
                <a16:creationId xmlns:a16="http://schemas.microsoft.com/office/drawing/2014/main" id="{04F63963-5C87-4ADF-A30B-A5D87369B108}"/>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Too stiff and particles </a:t>
            </a:r>
            <a:r>
              <a:rPr sz="1275" b="1">
                <a:solidFill>
                  <a:srgbClr val="BE123C"/>
                </a:solidFill>
                <a:latin typeface="Arial"/>
                <a:ea typeface="Arial"/>
                <a:cs typeface="Arial"/>
              </a:rPr>
              <a:t>never make contact</a:t>
            </a:r>
            <a:r>
              <a:rPr sz="1275" b="0">
                <a:solidFill>
                  <a:srgbClr val="374151"/>
                </a:solidFill>
                <a:latin typeface="Arial"/>
                <a:ea typeface="Arial"/>
                <a:cs typeface="Arial"/>
              </a:rPr>
              <a:t>; too soft and the layer creeps.</a:t>
            </a:r>
          </a:p>
        </p:txBody>
      </p:sp>
      <p:sp>
        <p:nvSpPr>
          <p:cNvPr id="9" name="bullet-dot-12-1">
            <a:extLst xmlns:a="http://schemas.openxmlformats.org/drawingml/2006/main">
              <a:ext uri="{FF2B5EF4-FFF2-40B4-BE49-F238E27FC236}">
                <a16:creationId xmlns:a16="http://schemas.microsoft.com/office/drawing/2014/main" id="{24482457-D12D-4DAD-A142-8484D4982BB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2-1">
            <a:extLst xmlns:a="http://schemas.openxmlformats.org/drawingml/2006/main">
              <a:ext uri="{FF2B5EF4-FFF2-40B4-BE49-F238E27FC236}">
                <a16:creationId xmlns:a16="http://schemas.microsoft.com/office/drawing/2014/main" id="{8C2F66E6-F1E8-4CBA-A7A2-31D4F4A65D9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We change the cell volume and apply small strains to get </a:t>
            </a:r>
            <a:r>
              <a:rPr sz="1275" b="1">
                <a:solidFill>
                  <a:srgbClr val="2563EB"/>
                </a:solidFill>
                <a:latin typeface="Arial"/>
                <a:ea typeface="Arial"/>
                <a:cs typeface="Arial"/>
              </a:rPr>
              <a:t>stiffness and ductility</a:t>
            </a:r>
            <a:r>
              <a:rPr sz="1275" b="0">
                <a:solidFill>
                  <a:srgbClr val="374151"/>
                </a:solidFill>
                <a:latin typeface="Arial"/>
                <a:ea typeface="Arial"/>
                <a:cs typeface="Arial"/>
              </a:rPr>
              <a:t>.</a:t>
            </a:r>
          </a:p>
        </p:txBody>
      </p:sp>
      <p:sp>
        <p:nvSpPr>
          <p:cNvPr id="11" name="citation-12">
            <a:extLst xmlns:a="http://schemas.openxmlformats.org/drawingml/2006/main">
              <a:ext uri="{FF2B5EF4-FFF2-40B4-BE49-F238E27FC236}">
                <a16:creationId xmlns:a16="http://schemas.microsoft.com/office/drawing/2014/main" id="{A8BC88BF-7D00-4A26-8FB0-830F6E1D0CD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checked against DFT</a:t>
            </a:r>
          </a:p>
        </p:txBody>
      </p:sp>
      <p:sp>
        <p:nvSpPr>
          <p:cNvPr id="12" name="footer-brand-12">
            <a:extLst xmlns:a="http://schemas.openxmlformats.org/drawingml/2006/main">
              <a:ext uri="{FF2B5EF4-FFF2-40B4-BE49-F238E27FC236}">
                <a16:creationId xmlns:a16="http://schemas.microsoft.com/office/drawing/2014/main" id="{729EBB29-B7C6-40D1-8797-EEF3DDF9AAFE}"/>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2">
            <a:extLst xmlns:a="http://schemas.openxmlformats.org/drawingml/2006/main">
              <a:ext uri="{FF2B5EF4-FFF2-40B4-BE49-F238E27FC236}">
                <a16:creationId xmlns:a16="http://schemas.microsoft.com/office/drawing/2014/main" id="{61955381-FBB0-4423-B157-5C11BFBF3CF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2">
            <a:extLst xmlns:a="http://schemas.openxmlformats.org/drawingml/2006/main">
              <a:ext uri="{FF2B5EF4-FFF2-40B4-BE49-F238E27FC236}">
                <a16:creationId xmlns:a16="http://schemas.microsoft.com/office/drawing/2014/main" id="{F925C58A-4236-459E-A796-A94F4CFE3A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14</a:t>
            </a:r>
          </a:p>
        </p:txBody>
      </p:sp>
      <p:pic xmlns:a="http://schemas.openxmlformats.org/drawingml/2006/main" xmlns:r="http://schemas.openxmlformats.org/officeDocument/2006/relationships">
        <p:nvPicPr>
          <p:cNvPr id="26" name="Picture 25" descr="step7_equation_of_state.png"/>
          <p:cNvPicPr>
            <a:picLocks noChangeAspect="1"/>
          </p:cNvPicPr>
          <p:nvPr/>
        </p:nvPicPr>
        <p:blipFill>
          <a:blip r:embed="rId4"/>
          <a:stretch>
            <a:fillRect/>
          </a:stretch>
        </p:blipFill>
        <p:spPr>
          <a:xfrm>
            <a:off x="1958288" y="2286000"/>
            <a:ext cx="5227422" cy="3310128"/>
          </a:xfrm>
          <a:prstGeom prst="rect">
            <a:avLst/>
          </a:prstGeom>
        </p:spPr>
      </p:pic>
      <p:sp xmlns:a="http://schemas.openxmlformats.org/drawingml/2006/main">
        <p:nvSpPr>
          <p:cNvPr id="27" name="TextBox 2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one equation-of-state case checked against DFT. ⚠ A single-case check — the campaign-wide elastic numbers are model values compared within one convention.</a:t>
            </a:r>
          </a:p>
        </p:txBody>
      </p:sp>
    </p:spTree>
    <p:extLst>
      <p:ext uri="{BB962C8B-B14F-4D97-AF65-F5344CB8AC3E}">
        <p14:creationId xmlns:p14="http://schemas.microsoft.com/office/powerpoint/2010/main" val="181836792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1" name="bg-13">
            <a:extLst xmlns:a="http://schemas.openxmlformats.org/drawingml/2006/main">
              <a:ext uri="{FF2B5EF4-FFF2-40B4-BE49-F238E27FC236}">
                <a16:creationId xmlns:a16="http://schemas.microsoft.com/office/drawing/2014/main" id="{3D5609ED-E38A-449C-B02D-E290DCD3F07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3">
            <a:extLst xmlns:a="http://schemas.openxmlformats.org/drawingml/2006/main">
              <a:ext uri="{FF2B5EF4-FFF2-40B4-BE49-F238E27FC236}">
                <a16:creationId xmlns:a16="http://schemas.microsoft.com/office/drawing/2014/main" id="{2EC70312-3194-4AFC-9A3A-FDE2660C6D9F}"/>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366"/>
          </a:bodyPr>
          <a:lstStyle xmlns:a="http://schemas.openxmlformats.org/drawingml/2006/main"/>
          <a:p xmlns:a="http://schemas.openxmlformats.org/drawingml/2006/main">
            <a:pPr>
              <a:defRPr sz="2325" b="1">
                <a:solidFill>
                  <a:srgbClr val="1F4E79"/>
                </a:solidFill>
                <a:latin typeface="Arial"/>
                <a:ea typeface="Arial"/>
                <a:cs typeface="Arial"/>
              </a:defRPr>
            </a:pPr>
            <a:r>
              <a:rPr sz="2175" b="1">
                <a:solidFill>
                  <a:srgbClr val="1F4E79"/>
                </a:solidFill>
                <a:latin typeface="Arial"/>
                <a:ea typeface="Arial"/>
                <a:cs typeface="Arial"/>
              </a:rPr>
              <a:t>STEP 8 — The window</a:t>
            </a:r>
          </a:p>
        </p:txBody>
      </p:sp>
      <p:sp>
        <p:nvSpPr>
          <p:cNvPr id="3" name="terms-13">
            <a:extLst xmlns:a="http://schemas.openxmlformats.org/drawingml/2006/main">
              <a:ext uri="{FF2B5EF4-FFF2-40B4-BE49-F238E27FC236}">
                <a16:creationId xmlns:a16="http://schemas.microsoft.com/office/drawing/2014/main" id="{A4228897-517C-407B-BA46-F66243AE0A88}"/>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Oxidation onset: the voltage at which decomposition becomes favourable  ·  Window: the voltage range where nothing is driven to decompose</a:t>
            </a:r>
          </a:p>
        </p:txBody>
      </p:sp>
      <p:sp>
        <p:nvSpPr>
          <p:cNvPr id="4" name="divider-13">
            <a:extLst xmlns:a="http://schemas.openxmlformats.org/drawingml/2006/main">
              <a:ext uri="{FF2B5EF4-FFF2-40B4-BE49-F238E27FC236}">
                <a16:creationId xmlns:a16="http://schemas.microsoft.com/office/drawing/2014/main" id="{A716BF5D-C236-4FAB-86C8-5AC8CAA5A49F}"/>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3">
            <a:extLst xmlns:a="http://schemas.openxmlformats.org/drawingml/2006/main">
              <a:ext uri="{FF2B5EF4-FFF2-40B4-BE49-F238E27FC236}">
                <a16:creationId xmlns:a16="http://schemas.microsoft.com/office/drawing/2014/main" id="{6E558DBF-8E89-4CF5-8086-9601E2F40C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3">
            <a:extLst xmlns:a="http://schemas.openxmlformats.org/drawingml/2006/main">
              <a:ext uri="{FF2B5EF4-FFF2-40B4-BE49-F238E27FC236}">
                <a16:creationId xmlns:a16="http://schemas.microsoft.com/office/drawing/2014/main" id="{3CFCD0E2-136E-4770-AC8F-862FE17576E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Raising the voltage pulls Li out — we compute where it breaks</a:t>
            </a:r>
          </a:p>
        </p:txBody>
      </p:sp>
      <p:sp>
        <p:nvSpPr>
          <p:cNvPr id="7" name="bullet-dot-13-0">
            <a:extLst xmlns:a="http://schemas.openxmlformats.org/drawingml/2006/main">
              <a:ext uri="{FF2B5EF4-FFF2-40B4-BE49-F238E27FC236}">
                <a16:creationId xmlns:a16="http://schemas.microsoft.com/office/drawing/2014/main" id="{AA64C761-0CEE-4C64-B777-F0B9C1F6C3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3-0">
            <a:extLst xmlns:a="http://schemas.openxmlformats.org/drawingml/2006/main">
              <a:ext uri="{FF2B5EF4-FFF2-40B4-BE49-F238E27FC236}">
                <a16:creationId xmlns:a16="http://schemas.microsoft.com/office/drawing/2014/main" id="{9949F69E-0086-4EF5-83F0-40FC2B34FF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At each voltage we ask whether the material would rather stay whole or </a:t>
            </a:r>
            <a:r>
              <a:rPr sz="1275" b="1">
                <a:solidFill>
                  <a:srgbClr val="BE123C"/>
                </a:solidFill>
                <a:latin typeface="Arial"/>
                <a:ea typeface="Arial"/>
                <a:cs typeface="Arial"/>
              </a:rPr>
              <a:t>split into other phases</a:t>
            </a:r>
            <a:r>
              <a:rPr sz="1275" b="0">
                <a:solidFill>
                  <a:srgbClr val="374151"/>
                </a:solidFill>
                <a:latin typeface="Arial"/>
                <a:ea typeface="Arial"/>
                <a:cs typeface="Arial"/>
              </a:rPr>
              <a:t>.</a:t>
            </a:r>
          </a:p>
        </p:txBody>
      </p:sp>
      <p:sp>
        <p:nvSpPr>
          <p:cNvPr id="9" name="bullet-dot-13-1">
            <a:extLst xmlns:a="http://schemas.openxmlformats.org/drawingml/2006/main">
              <a:ext uri="{FF2B5EF4-FFF2-40B4-BE49-F238E27FC236}">
                <a16:creationId xmlns:a16="http://schemas.microsoft.com/office/drawing/2014/main" id="{A4F70014-7C5E-4F50-B767-7CE3878BFAE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3-1">
            <a:extLst xmlns:a="http://schemas.openxmlformats.org/drawingml/2006/main">
              <a:ext uri="{FF2B5EF4-FFF2-40B4-BE49-F238E27FC236}">
                <a16:creationId xmlns:a16="http://schemas.microsoft.com/office/drawing/2014/main" id="{89938A81-117B-4351-9897-A02C11D402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We get the onset </a:t>
            </a:r>
            <a:r>
              <a:rPr sz="1275" b="1">
                <a:solidFill>
                  <a:srgbClr val="2563EB"/>
                </a:solidFill>
                <a:latin typeface="Arial"/>
                <a:ea typeface="Arial"/>
                <a:cs typeface="Arial"/>
              </a:rPr>
              <a:t>and the products</a:t>
            </a:r>
            <a:r>
              <a:rPr sz="1275" b="0">
                <a:solidFill>
                  <a:srgbClr val="374151"/>
                </a:solidFill>
                <a:latin typeface="Arial"/>
                <a:ea typeface="Arial"/>
                <a:cs typeface="Arial"/>
              </a:rPr>
              <a:t> — an insulating one behaves nothing like a conducting one.</a:t>
            </a:r>
          </a:p>
        </p:txBody>
      </p:sp>
      <p:sp>
        <p:nvSpPr>
          <p:cNvPr id="11" name="citation-13">
            <a:extLst xmlns:a="http://schemas.openxmlformats.org/drawingml/2006/main">
              <a:ext uri="{FF2B5EF4-FFF2-40B4-BE49-F238E27FC236}">
                <a16:creationId xmlns:a16="http://schemas.microsoft.com/office/drawing/2014/main" id="{F36358EF-D7A9-4C67-A2CB-2163000E2B8C}"/>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90 candidates</a:t>
            </a:r>
          </a:p>
        </p:txBody>
      </p:sp>
      <p:sp>
        <p:nvSpPr>
          <p:cNvPr id="12" name="footer-brand-13">
            <a:extLst xmlns:a="http://schemas.openxmlformats.org/drawingml/2006/main">
              <a:ext uri="{FF2B5EF4-FFF2-40B4-BE49-F238E27FC236}">
                <a16:creationId xmlns:a16="http://schemas.microsoft.com/office/drawing/2014/main" id="{75694E06-3312-4145-8CA4-D260F2EE8C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3">
            <a:extLst xmlns:a="http://schemas.openxmlformats.org/drawingml/2006/main">
              <a:ext uri="{FF2B5EF4-FFF2-40B4-BE49-F238E27FC236}">
                <a16:creationId xmlns:a16="http://schemas.microsoft.com/office/drawing/2014/main" id="{17BD0498-EB0C-4EE4-A844-A974FB550634}"/>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3">
            <a:extLst xmlns:a="http://schemas.openxmlformats.org/drawingml/2006/main">
              <a:ext uri="{FF2B5EF4-FFF2-40B4-BE49-F238E27FC236}">
                <a16:creationId xmlns:a16="http://schemas.microsoft.com/office/drawing/2014/main" id="{9ADCA14B-0B8F-469D-BBD5-9D665B4950F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15</a:t>
            </a:r>
          </a:p>
        </p:txBody>
      </p:sp>
      <p:pic xmlns:a="http://schemas.openxmlformats.org/drawingml/2006/main" xmlns:r="http://schemas.openxmlformats.org/officeDocument/2006/relationships">
        <p:nvPicPr>
          <p:cNvPr id="32" name="Picture 31" descr="step8_oxidation_windows.png"/>
          <p:cNvPicPr>
            <a:picLocks noChangeAspect="1"/>
          </p:cNvPicPr>
          <p:nvPr/>
        </p:nvPicPr>
        <p:blipFill>
          <a:blip r:embed="rId3"/>
          <a:stretch>
            <a:fillRect/>
          </a:stretch>
        </p:blipFill>
        <p:spPr>
          <a:xfrm>
            <a:off x="1061361" y="2286000"/>
            <a:ext cx="7021277" cy="3310128"/>
          </a:xfrm>
          <a:prstGeom prst="rect">
            <a:avLst/>
          </a:prstGeom>
        </p:spPr>
      </p:pic>
      <p:sp xmlns:a="http://schemas.openxmlformats.org/drawingml/2006/main">
        <p:nvSpPr>
          <p:cNvPr id="33" name="TextBox 32"/>
          <p:cNvSpPr txBox="1"/>
          <p:nvPr/>
        </p:nvSpPr>
        <p:spPr>
          <a:xfrm>
            <a:off x="1061361" y="5614416"/>
            <a:ext cx="7021277" cy="256032"/>
          </a:xfrm>
          <a:prstGeom prst="rect">
            <a:avLst/>
          </a:prstGeom>
          <a:noFill/>
        </p:spPr>
        <p:txBody>
          <a:bodyPr wrap="none">
            <a:spAutoFit/>
          </a:bodyPr>
          <a:lstStyle/>
          <a:p>
            <a:pPr algn="ctr"/>
            <a:r>
              <a:rPr sz="1300" b="0">
                <a:solidFill>
                  <a:srgbClr val="1F2937"/>
                </a:solidFill>
                <a:latin typeface="Arial"/>
              </a:rPr>
              <a:t>&lt; stability window of every candidate &gt;</a:t>
            </a:r>
          </a:p>
        </p:txBody>
      </p:sp>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voltage range over which each candidate is not driven to decompose. Late transition metals lose the window entirely. 0 K bulk thermodynamics — this says decomposition is allowed, not how fast.</a:t>
            </a:r>
          </a:p>
        </p:txBody>
      </p:sp>
    </p:spTree>
    <p:extLst>
      <p:ext uri="{BB962C8B-B14F-4D97-AF65-F5344CB8AC3E}">
        <p14:creationId xmlns:p14="http://schemas.microsoft.com/office/powerpoint/2010/main" val="58220651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2" name="bg-14">
            <a:extLst xmlns:a="http://schemas.openxmlformats.org/drawingml/2006/main">
              <a:ext uri="{FF2B5EF4-FFF2-40B4-BE49-F238E27FC236}">
                <a16:creationId xmlns:a16="http://schemas.microsoft.com/office/drawing/2014/main" id="{F4D6ADAB-3FAC-480B-9E80-92522F3221D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4">
            <a:extLst xmlns:a="http://schemas.openxmlformats.org/drawingml/2006/main">
              <a:ext uri="{FF2B5EF4-FFF2-40B4-BE49-F238E27FC236}">
                <a16:creationId xmlns:a16="http://schemas.microsoft.com/office/drawing/2014/main" id="{EBB81441-240B-43DE-8988-26A38E686C03}"/>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547"/>
          </a:bodyPr>
          <a:lstStyle xmlns:a="http://schemas.openxmlformats.org/drawingml/2006/main"/>
          <a:p xmlns:a="http://schemas.openxmlformats.org/drawingml/2006/main">
            <a:pPr>
              <a:defRPr sz="2325" b="1">
                <a:solidFill>
                  <a:srgbClr val="1F4E79"/>
                </a:solidFill>
                <a:latin typeface="Arial"/>
                <a:ea typeface="Arial"/>
                <a:cs typeface="Arial"/>
              </a:defRPr>
            </a:pPr>
            <a:r>
              <a:rPr sz="1800" b="1">
                <a:solidFill>
                  <a:srgbClr val="1F4E79"/>
                </a:solidFill>
                <a:latin typeface="Arial"/>
                <a:ea typeface="Arial"/>
                <a:cs typeface="Arial"/>
              </a:rPr>
              <a:t>STEP 9 — What we skipped</a:t>
            </a:r>
          </a:p>
        </p:txBody>
      </p:sp>
      <p:sp>
        <p:nvSpPr>
          <p:cNvPr id="3" name="terms-14">
            <a:extLst xmlns:a="http://schemas.openxmlformats.org/drawingml/2006/main">
              <a:ext uri="{FF2B5EF4-FFF2-40B4-BE49-F238E27FC236}">
                <a16:creationId xmlns:a16="http://schemas.microsoft.com/office/drawing/2014/main" id="{1F808798-5278-4EF3-B10D-6F41CB13E04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something cheap that correlates with what you want  ·  Adhesion: how strongly two materials stick across an interface</a:t>
            </a:r>
          </a:p>
        </p:txBody>
      </p:sp>
      <p:sp>
        <p:nvSpPr>
          <p:cNvPr id="4" name="divider-14">
            <a:extLst xmlns:a="http://schemas.openxmlformats.org/drawingml/2006/main">
              <a:ext uri="{FF2B5EF4-FFF2-40B4-BE49-F238E27FC236}">
                <a16:creationId xmlns:a16="http://schemas.microsoft.com/office/drawing/2014/main" id="{B374AE6F-956C-4BF7-ADBF-C9699F5B07D9}"/>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4">
            <a:extLst xmlns:a="http://schemas.openxmlformats.org/drawingml/2006/main">
              <a:ext uri="{FF2B5EF4-FFF2-40B4-BE49-F238E27FC236}">
                <a16:creationId xmlns:a16="http://schemas.microsoft.com/office/drawing/2014/main" id="{02A3B435-66DC-4456-9D32-AC2C1D47FDC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4">
            <a:extLst xmlns:a="http://schemas.openxmlformats.org/drawingml/2006/main">
              <a:ext uri="{FF2B5EF4-FFF2-40B4-BE49-F238E27FC236}">
                <a16:creationId xmlns:a16="http://schemas.microsoft.com/office/drawing/2014/main" id="{F2E40C6A-4A39-4FAD-9221-9240345B80FC}"/>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Two calculations were designed in and never run</a:t>
            </a:r>
          </a:p>
        </p:txBody>
      </p:sp>
      <p:sp>
        <p:nvSpPr>
          <p:cNvPr id="7" name="bullet-dot-14-0">
            <a:extLst xmlns:a="http://schemas.openxmlformats.org/drawingml/2006/main">
              <a:ext uri="{FF2B5EF4-FFF2-40B4-BE49-F238E27FC236}">
                <a16:creationId xmlns:a16="http://schemas.microsoft.com/office/drawing/2014/main" id="{1362EA0F-E169-416C-998F-2E75E89D92C8}"/>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4-0">
            <a:extLst xmlns:a="http://schemas.openxmlformats.org/drawingml/2006/main">
              <a:ext uri="{FF2B5EF4-FFF2-40B4-BE49-F238E27FC236}">
                <a16:creationId xmlns:a16="http://schemas.microsoft.com/office/drawing/2014/main" id="{F106D4E4-3B2D-4C02-B20E-4F52B1E6348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BE123C"/>
                </a:solidFill>
                <a:latin typeface="Arial"/>
                <a:ea typeface="Arial"/>
                <a:cs typeface="Arial"/>
              </a:rPr>
              <a:t>Real conductivity</a:t>
            </a:r>
            <a:r>
              <a:rPr sz="1275" b="0">
                <a:solidFill>
                  <a:srgbClr val="374151"/>
                </a:solidFill>
                <a:latin typeface="Arial"/>
                <a:ea typeface="Arial"/>
                <a:cs typeface="Arial"/>
              </a:rPr>
              <a:t> — long dynamics per candidate, days each. Step 6 stands in as a proxy.</a:t>
            </a:r>
          </a:p>
        </p:txBody>
      </p:sp>
      <p:sp>
        <p:nvSpPr>
          <p:cNvPr id="9" name="bullet-dot-14-1">
            <a:extLst xmlns:a="http://schemas.openxmlformats.org/drawingml/2006/main">
              <a:ext uri="{FF2B5EF4-FFF2-40B4-BE49-F238E27FC236}">
                <a16:creationId xmlns:a16="http://schemas.microsoft.com/office/drawing/2014/main" id="{E6D09F13-161C-4D17-9F32-195E56CF8A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4-1">
            <a:extLst xmlns:a="http://schemas.openxmlformats.org/drawingml/2006/main">
              <a:ext uri="{FF2B5EF4-FFF2-40B4-BE49-F238E27FC236}">
                <a16:creationId xmlns:a16="http://schemas.microsoft.com/office/drawing/2014/main" id="{45FD67AA-B183-40EA-AD77-1A6DAA00ECF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BE123C"/>
                </a:solidFill>
                <a:latin typeface="Arial"/>
                <a:ea typeface="Arial"/>
                <a:cs typeface="Arial"/>
              </a:rPr>
              <a:t>The interface</a:t>
            </a:r>
            <a:r>
              <a:rPr sz="1275" b="0">
                <a:solidFill>
                  <a:srgbClr val="374151"/>
                </a:solidFill>
                <a:latin typeface="Arial"/>
                <a:ea typeface="Arial"/>
                <a:cs typeface="Arial"/>
              </a:rPr>
              <a:t> — how the doped electrolyte meets the cathode. Not attempted at all.</a:t>
            </a:r>
          </a:p>
        </p:txBody>
      </p:sp>
      <p:sp>
        <p:nvSpPr>
          <p:cNvPr id="11" name="citation-14">
            <a:extLst xmlns:a="http://schemas.openxmlformats.org/drawingml/2006/main">
              <a:ext uri="{FF2B5EF4-FFF2-40B4-BE49-F238E27FC236}">
                <a16:creationId xmlns:a16="http://schemas.microsoft.com/office/drawing/2014/main" id="{83E37C3B-ACDC-438F-8A24-0A30AA05B2DB}"/>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Sundar et al., Adv. Sci. 2025</a:t>
            </a:r>
          </a:p>
        </p:txBody>
      </p:sp>
      <p:sp>
        <p:nvSpPr>
          <p:cNvPr id="12" name="footer-brand-14">
            <a:extLst xmlns:a="http://schemas.openxmlformats.org/drawingml/2006/main">
              <a:ext uri="{FF2B5EF4-FFF2-40B4-BE49-F238E27FC236}">
                <a16:creationId xmlns:a16="http://schemas.microsoft.com/office/drawing/2014/main" id="{FD0267FA-62FC-4A8E-835C-48F4AEF0517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4">
            <a:extLst xmlns:a="http://schemas.openxmlformats.org/drawingml/2006/main">
              <a:ext uri="{FF2B5EF4-FFF2-40B4-BE49-F238E27FC236}">
                <a16:creationId xmlns:a16="http://schemas.microsoft.com/office/drawing/2014/main" id="{F5D662E9-2255-4309-8802-D448A8DA55A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4">
            <a:extLst xmlns:a="http://schemas.openxmlformats.org/drawingml/2006/main">
              <a:ext uri="{FF2B5EF4-FFF2-40B4-BE49-F238E27FC236}">
                <a16:creationId xmlns:a16="http://schemas.microsoft.com/office/drawing/2014/main" id="{6516A74B-721B-4F26-B054-E814FDF75E8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16</a:t>
            </a:r>
          </a:p>
        </p:txBody>
      </p:sp>
      <p:pic xmlns:a="http://schemas.openxmlformats.org/drawingml/2006/main" xmlns:r="http://schemas.openxmlformats.org/officeDocument/2006/relationships">
        <p:nvPicPr>
          <p:cNvPr id="33" name="Picture 32" descr="image.png"/>
          <p:cNvPicPr>
            <a:picLocks noChangeAspect="1"/>
          </p:cNvPicPr>
          <p:nvPr/>
        </p:nvPicPr>
        <p:blipFill>
          <a:blip r:embed="rId3"/>
          <a:stretch>
            <a:fillRect/>
          </a:stretch>
        </p:blipFill>
        <p:spPr>
          <a:xfrm>
            <a:off x="502920" y="2394506"/>
            <a:ext cx="8138160" cy="3093115"/>
          </a:xfrm>
          <a:prstGeom prst="rect">
            <a:avLst/>
          </a:prstGeom>
        </p:spPr>
      </p:pic>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Sundar et al., Adv. Sci. (2025), Fig. 2 — the same oxide scored at four different interfaces. An element that looks safe against the electrolyte can look bad against the anode. We computed none of these four maps.</a:t>
            </a:r>
          </a:p>
        </p:txBody>
      </p:sp>
    </p:spTree>
    <p:extLst>
      <p:ext uri="{BB962C8B-B14F-4D97-AF65-F5344CB8AC3E}">
        <p14:creationId xmlns:p14="http://schemas.microsoft.com/office/powerpoint/2010/main" val="63302296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4" name="bg-15">
            <a:extLst xmlns:a="http://schemas.openxmlformats.org/drawingml/2006/main">
              <a:ext uri="{FF2B5EF4-FFF2-40B4-BE49-F238E27FC236}">
                <a16:creationId xmlns:a16="http://schemas.microsoft.com/office/drawing/2014/main" id="{9B518387-3606-4DEB-B243-56401402C1B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5">
            <a:extLst xmlns:a="http://schemas.openxmlformats.org/drawingml/2006/main">
              <a:ext uri="{FF2B5EF4-FFF2-40B4-BE49-F238E27FC236}">
                <a16:creationId xmlns:a16="http://schemas.microsoft.com/office/drawing/2014/main" id="{460050E1-305B-4C9F-A799-6159F9EBFBF1}"/>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What exists</a:t>
            </a:r>
          </a:p>
        </p:txBody>
      </p:sp>
      <p:sp>
        <p:nvSpPr>
          <p:cNvPr id="3" name="terms-15">
            <a:extLst xmlns:a="http://schemas.openxmlformats.org/drawingml/2006/main">
              <a:ext uri="{FF2B5EF4-FFF2-40B4-BE49-F238E27FC236}">
                <a16:creationId xmlns:a16="http://schemas.microsoft.com/office/drawing/2014/main" id="{4651653C-1672-4E6F-A4F6-B0123BD9597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Computed: a file-backed result exists  ·  Not computed: no result exists, and no proxy substitutes for it</a:t>
            </a:r>
          </a:p>
        </p:txBody>
      </p:sp>
      <p:sp>
        <p:nvSpPr>
          <p:cNvPr id="4" name="divider-15">
            <a:extLst xmlns:a="http://schemas.openxmlformats.org/drawingml/2006/main">
              <a:ext uri="{FF2B5EF4-FFF2-40B4-BE49-F238E27FC236}">
                <a16:creationId xmlns:a16="http://schemas.microsoft.com/office/drawing/2014/main" id="{C2DDE2E8-B9A1-42AC-A3C2-4E5B0E5B9F7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5">
            <a:extLst xmlns:a="http://schemas.openxmlformats.org/drawingml/2006/main">
              <a:ext uri="{FF2B5EF4-FFF2-40B4-BE49-F238E27FC236}">
                <a16:creationId xmlns:a16="http://schemas.microsoft.com/office/drawing/2014/main" id="{99E5A78D-85AC-42A9-B1F8-5A71B762C1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5">
            <a:extLst xmlns:a="http://schemas.openxmlformats.org/drawingml/2006/main">
              <a:ext uri="{FF2B5EF4-FFF2-40B4-BE49-F238E27FC236}">
                <a16:creationId xmlns:a16="http://schemas.microsoft.com/office/drawing/2014/main" id="{FBCB6D7C-C50B-4E03-A9B2-0AB23372BAB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00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Broad in structures, thin in the expensive evidence</a:t>
            </a:r>
          </a:p>
        </p:txBody>
      </p:sp>
      <p:sp>
        <p:nvSpPr>
          <p:cNvPr id="7" name="bullet-dot-15-0">
            <a:extLst xmlns:a="http://schemas.openxmlformats.org/drawingml/2006/main">
              <a:ext uri="{FF2B5EF4-FFF2-40B4-BE49-F238E27FC236}">
                <a16:creationId xmlns:a16="http://schemas.microsoft.com/office/drawing/2014/main" id="{DEBB883F-F9B6-464E-A894-22816033814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5-0">
            <a:extLst xmlns:a="http://schemas.openxmlformats.org/drawingml/2006/main">
              <a:ext uri="{FF2B5EF4-FFF2-40B4-BE49-F238E27FC236}">
                <a16:creationId xmlns:a16="http://schemas.microsoft.com/office/drawing/2014/main" id="{DEFF5C0A-A46D-43F8-9689-337089AD931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Structures, relaxation, anneal, Li maps, mechanics and oxidation windows </a:t>
            </a:r>
            <a:r>
              <a:rPr sz="1275" b="1">
                <a:solidFill>
                  <a:srgbClr val="2563EB"/>
                </a:solidFill>
                <a:latin typeface="Arial"/>
                <a:ea typeface="Arial"/>
                <a:cs typeface="Arial"/>
              </a:rPr>
              <a:t>all exist</a:t>
            </a:r>
            <a:r>
              <a:rPr sz="1275" b="0">
                <a:solidFill>
                  <a:srgbClr val="374151"/>
                </a:solidFill>
                <a:latin typeface="Arial"/>
                <a:ea typeface="Arial"/>
                <a:cs typeface="Arial"/>
              </a:rPr>
              <a:t>.</a:t>
            </a:r>
          </a:p>
        </p:txBody>
      </p:sp>
      <p:sp>
        <p:nvSpPr>
          <p:cNvPr id="9" name="bullet-dot-15-1">
            <a:extLst xmlns:a="http://schemas.openxmlformats.org/drawingml/2006/main">
              <a:ext uri="{FF2B5EF4-FFF2-40B4-BE49-F238E27FC236}">
                <a16:creationId xmlns:a16="http://schemas.microsoft.com/office/drawing/2014/main" id="{C5DB3774-8067-406F-82A8-BAE3C209D28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5-1">
            <a:extLst xmlns:a="http://schemas.openxmlformats.org/drawingml/2006/main">
              <a:ext uri="{FF2B5EF4-FFF2-40B4-BE49-F238E27FC236}">
                <a16:creationId xmlns:a16="http://schemas.microsoft.com/office/drawing/2014/main" id="{C8CBC129-3D46-456E-BC8C-92A28F7D939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5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Real conductivity, explicit interfaces and pool-wide DFT confirmation </a:t>
            </a:r>
            <a:r>
              <a:rPr sz="1275" b="1">
                <a:solidFill>
                  <a:srgbClr val="BE123C"/>
                </a:solidFill>
                <a:latin typeface="Arial"/>
                <a:ea typeface="Arial"/>
                <a:cs typeface="Arial"/>
              </a:rPr>
              <a:t>do not</a:t>
            </a:r>
            <a:r>
              <a:rPr sz="1275" b="0">
                <a:solidFill>
                  <a:srgbClr val="374151"/>
                </a:solidFill>
                <a:latin typeface="Arial"/>
                <a:ea typeface="Arial"/>
                <a:cs typeface="Arial"/>
              </a:rPr>
              <a:t>.</a:t>
            </a:r>
          </a:p>
        </p:txBody>
      </p:sp>
      <p:sp>
        <p:nvSpPr>
          <p:cNvPr id="11" name="citation-15">
            <a:extLst xmlns:a="http://schemas.openxmlformats.org/drawingml/2006/main">
              <a:ext uri="{FF2B5EF4-FFF2-40B4-BE49-F238E27FC236}">
                <a16:creationId xmlns:a16="http://schemas.microsoft.com/office/drawing/2014/main" id="{F8331B71-8EE4-4337-B147-193B7B990C6A}"/>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Evidence inventory</a:t>
            </a:r>
          </a:p>
        </p:txBody>
      </p:sp>
      <p:sp>
        <p:nvSpPr>
          <p:cNvPr id="12" name="footer-brand-15">
            <a:extLst xmlns:a="http://schemas.openxmlformats.org/drawingml/2006/main">
              <a:ext uri="{FF2B5EF4-FFF2-40B4-BE49-F238E27FC236}">
                <a16:creationId xmlns:a16="http://schemas.microsoft.com/office/drawing/2014/main" id="{BB483178-1F73-4CCB-A2E7-F2C150CBA04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5">
            <a:extLst xmlns:a="http://schemas.openxmlformats.org/drawingml/2006/main">
              <a:ext uri="{FF2B5EF4-FFF2-40B4-BE49-F238E27FC236}">
                <a16:creationId xmlns:a16="http://schemas.microsoft.com/office/drawing/2014/main" id="{A82673B2-B550-4C90-85F2-7F940C31EB78}"/>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5">
            <a:extLst xmlns:a="http://schemas.openxmlformats.org/drawingml/2006/main">
              <a:ext uri="{FF2B5EF4-FFF2-40B4-BE49-F238E27FC236}">
                <a16:creationId xmlns:a16="http://schemas.microsoft.com/office/drawing/2014/main" id="{F108C6CC-D214-431A-A345-3FAE5DF5E58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17</a:t>
            </a:r>
          </a:p>
        </p:txBody>
      </p:sp>
      <p:graphicFrame xmlns:a="http://schemas.openxmlformats.org/drawingml/2006/main">
        <p:nvGraphicFramePr>
          <p:cNvPr id="25" name="Table 24"/>
          <p:cNvGraphicFramePr>
            <a:graphicFrameLocks noGrp="1"/>
          </p:cNvGraphicFramePr>
          <p:nvPr/>
        </p:nvGraphicFramePr>
        <p:xfrm>
          <a:off x="566928" y="2395728"/>
          <a:ext cx="5532120" cy="2320740"/>
        </p:xfrm>
        <a:graphic>
          <a:graphicData uri="http://schemas.openxmlformats.org/drawingml/2006/table">
            <a:tbl>
              <a:tblPr firstRow="1">
                <a:tableStyleId>{5C22544A-7EE6-4342-B048-85BDC9FD1C3A}</a:tableStyleId>
              </a:tblPr>
              <a:tblGrid>
                <a:gridCol w="2788920"/>
                <a:gridCol w="1371600"/>
                <a:gridCol w="1371600"/>
              </a:tblGrid>
              <a:tr h="257860">
                <a:tc>
                  <a:txBody>
                    <a:bodyPr/>
                    <a:lstStyle/>
                    <a:p>
                      <a:pPr algn="l"/>
                      <a:r>
                        <a:rPr sz="1200" b="1">
                          <a:solidFill>
                            <a:srgbClr val="1F2937"/>
                          </a:solidFill>
                          <a:latin typeface="Arial"/>
                        </a:rPr>
                        <a:t>what</a:t>
                      </a:r>
                    </a:p>
                  </a:txBody>
                  <a:tcPr marL="64008" marR="64008" marT="18288" marB="18288">
                    <a:solidFill>
                      <a:srgbClr val="EEF2F7"/>
                    </a:solidFill>
                  </a:tcPr>
                </a:tc>
                <a:tc>
                  <a:txBody>
                    <a:bodyPr/>
                    <a:lstStyle/>
                    <a:p>
                      <a:pPr algn="ctr"/>
                      <a:r>
                        <a:rPr sz="1200" b="1">
                          <a:solidFill>
                            <a:srgbClr val="1F2937"/>
                          </a:solidFill>
                          <a:latin typeface="Arial"/>
                        </a:rPr>
                        <a:t>how many of 270</a:t>
                      </a:r>
                    </a:p>
                  </a:txBody>
                  <a:tcPr marL="64008" marR="64008" marT="18288" marB="18288">
                    <a:solidFill>
                      <a:srgbClr val="EEF2F7"/>
                    </a:solidFill>
                  </a:tcPr>
                </a:tc>
                <a:tc>
                  <a:txBody>
                    <a:bodyPr/>
                    <a:lstStyle/>
                    <a:p>
                      <a:pPr algn="ctr"/>
                      <a:r>
                        <a:rPr sz="1200" b="1">
                          <a:solidFill>
                            <a:srgbClr val="1F2937"/>
                          </a:solidFill>
                          <a:latin typeface="Arial"/>
                        </a:rPr>
                        <a:t>status</a:t>
                      </a:r>
                    </a:p>
                  </a:txBody>
                  <a:tcPr marL="64008" marR="64008" marT="18288" marB="18288">
                    <a:solidFill>
                      <a:srgbClr val="EEF2F7"/>
                    </a:solidFill>
                  </a:tcPr>
                </a:tc>
              </a:tr>
              <a:tr h="257860">
                <a:tc>
                  <a:txBody>
                    <a:bodyPr/>
                    <a:lstStyle/>
                    <a:p>
                      <a:pPr algn="l"/>
                      <a:r>
                        <a:rPr sz="1200" b="0">
                          <a:solidFill>
                            <a:srgbClr val="374151"/>
                          </a:solidFill>
                          <a:latin typeface="Arial"/>
                        </a:rPr>
                        <a:t>candidate structures</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fast relaxation</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short anneal</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static Li-path map</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stiffness / EOS</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oxidation window</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conductivity from dynamics</a:t>
                      </a:r>
                    </a:p>
                  </a:txBody>
                  <a:tcPr marL="64008" marR="64008" marT="18288" marB="18288">
                    <a:solidFill>
                      <a:srgbClr val="FFFFFF"/>
                    </a:solidFill>
                  </a:tcPr>
                </a:tc>
                <a:tc>
                  <a:txBody>
                    <a:bodyPr/>
                    <a:lstStyle/>
                    <a:p>
                      <a:pPr algn="ctr"/>
                      <a:r>
                        <a:rPr sz="1200" b="0">
                          <a:solidFill>
                            <a:srgbClr val="374151"/>
                          </a:solidFill>
                          <a:latin typeface="Arial"/>
                        </a:rPr>
                        <a:t>0</a:t>
                      </a:r>
                    </a:p>
                  </a:txBody>
                  <a:tcPr marL="64008" marR="64008" marT="18288" marB="18288">
                    <a:solidFill>
                      <a:srgbClr val="FFFFFF"/>
                    </a:solidFill>
                  </a:tcPr>
                </a:tc>
                <a:tc>
                  <a:txBody>
                    <a:bodyPr/>
                    <a:lstStyle/>
                    <a:p>
                      <a:pPr algn="ctr"/>
                      <a:r>
                        <a:rPr sz="1200" b="1">
                          <a:solidFill>
                            <a:srgbClr val="BE123C"/>
                          </a:solidFill>
                          <a:latin typeface="Arial"/>
                        </a:rPr>
                        <a:t>not run</a:t>
                      </a:r>
                    </a:p>
                  </a:txBody>
                  <a:tcPr marL="64008" marR="64008" marT="18288" marB="18288">
                    <a:solidFill>
                      <a:srgbClr val="FFFFFF"/>
                    </a:solidFill>
                  </a:tcPr>
                </a:tc>
              </a:tr>
              <a:tr h="257860">
                <a:tc>
                  <a:txBody>
                    <a:bodyPr/>
                    <a:lstStyle/>
                    <a:p>
                      <a:pPr algn="l"/>
                      <a:r>
                        <a:rPr sz="1200" b="0">
                          <a:solidFill>
                            <a:srgbClr val="374151"/>
                          </a:solidFill>
                          <a:latin typeface="Arial"/>
                        </a:rPr>
                        <a:t>cathode interface / adhesion</a:t>
                      </a:r>
                    </a:p>
                  </a:txBody>
                  <a:tcPr marL="64008" marR="64008" marT="18288" marB="18288">
                    <a:solidFill>
                      <a:srgbClr val="FFFFFF"/>
                    </a:solidFill>
                  </a:tcPr>
                </a:tc>
                <a:tc>
                  <a:txBody>
                    <a:bodyPr/>
                    <a:lstStyle/>
                    <a:p>
                      <a:pPr algn="ctr"/>
                      <a:r>
                        <a:rPr sz="1200" b="0">
                          <a:solidFill>
                            <a:srgbClr val="374151"/>
                          </a:solidFill>
                          <a:latin typeface="Arial"/>
                        </a:rPr>
                        <a:t>0</a:t>
                      </a:r>
                    </a:p>
                  </a:txBody>
                  <a:tcPr marL="64008" marR="64008" marT="18288" marB="18288">
                    <a:solidFill>
                      <a:srgbClr val="FFFFFF"/>
                    </a:solidFill>
                  </a:tcPr>
                </a:tc>
                <a:tc>
                  <a:txBody>
                    <a:bodyPr/>
                    <a:lstStyle/>
                    <a:p>
                      <a:pPr algn="ctr"/>
                      <a:r>
                        <a:rPr sz="1200" b="1">
                          <a:solidFill>
                            <a:srgbClr val="BE123C"/>
                          </a:solidFill>
                          <a:latin typeface="Arial"/>
                        </a:rPr>
                        <a:t>not run</a:t>
                      </a:r>
                    </a:p>
                  </a:txBody>
                  <a:tcPr marL="64008" marR="64008" marT="18288" marB="18288">
                    <a:solidFill>
                      <a:srgbClr val="FFFFFF"/>
                    </a:solidFill>
                  </a:tcPr>
                </a:tc>
              </a:tr>
            </a:tbl>
          </a:graphicData>
        </a:graphic>
      </p:graphicFrame>
      <p:sp xmlns:a="http://schemas.openxmlformats.org/drawingml/2006/main">
        <p:nvSpPr>
          <p:cNvPr id="26" name="TextBox 25"/>
          <p:cNvSpPr txBox="1"/>
          <p:nvPr/>
        </p:nvSpPr>
        <p:spPr>
          <a:xfrm>
            <a:off x="6355080" y="2697480"/>
            <a:ext cx="2331720" cy="1371600"/>
          </a:xfrm>
          <a:prstGeom prst="rect">
            <a:avLst/>
          </a:prstGeom>
          <a:noFill/>
        </p:spPr>
        <p:txBody>
          <a:bodyPr wrap="square">
            <a:spAutoFit/>
          </a:bodyPr>
          <a:lstStyle/>
          <a:p>
            <a:pPr>
              <a:spcAft>
                <a:spcPts val="600"/>
              </a:spcAft>
            </a:pPr>
            <a:r>
              <a:rPr sz="1450">
                <a:solidFill>
                  <a:srgbClr val="1F2937"/>
                </a:solidFill>
                <a:latin typeface="Arial"/>
              </a:rPr>
              <a:t>A missing calculation</a:t>
            </a:r>
          </a:p>
          <a:p>
            <a:pPr>
              <a:spcAft>
                <a:spcPts val="600"/>
              </a:spcAft>
            </a:pPr>
            <a:r>
              <a:rPr sz="1450">
                <a:solidFill>
                  <a:srgbClr val="1F2937"/>
                </a:solidFill>
                <a:latin typeface="Arial"/>
              </a:rPr>
              <a:t>stays missing.</a:t>
            </a:r>
          </a:p>
          <a:p>
            <a:pPr>
              <a:spcAft>
                <a:spcPts val="600"/>
              </a:spcAft>
            </a:pPr>
            <a:r>
              <a:rPr sz="1450">
                <a:solidFill>
                  <a:srgbClr val="1F2937"/>
                </a:solidFill>
                <a:latin typeface="Arial"/>
              </a:rPr>
              <a:t/>
            </a:r>
          </a:p>
          <a:p>
            <a:pPr>
              <a:spcAft>
                <a:spcPts val="600"/>
              </a:spcAft>
            </a:pPr>
            <a:r>
              <a:rPr sz="1450">
                <a:solidFill>
                  <a:srgbClr val="1F2937"/>
                </a:solidFill>
                <a:latin typeface="Arial"/>
              </a:rPr>
              <a:t>A proxy can reorder the queue;</a:t>
            </a:r>
          </a:p>
          <a:p>
            <a:pPr>
              <a:spcAft>
                <a:spcPts val="600"/>
              </a:spcAft>
            </a:pPr>
            <a:r>
              <a:rPr sz="1450">
                <a:solidFill>
                  <a:srgbClr val="1F2937"/>
                </a:solidFill>
                <a:latin typeface="Arial"/>
              </a:rPr>
              <a:t>it cannot take the place</a:t>
            </a:r>
          </a:p>
          <a:p>
            <a:pPr>
              <a:spcAft>
                <a:spcPts val="600"/>
              </a:spcAft>
            </a:pPr>
            <a:r>
              <a:rPr sz="1450">
                <a:solidFill>
                  <a:srgbClr val="1F2937"/>
                </a:solidFill>
                <a:latin typeface="Arial"/>
              </a:rPr>
              <a:t>of the answer.</a:t>
            </a:r>
          </a:p>
        </p:txBody>
      </p:sp>
    </p:spTree>
    <p:extLst>
      <p:ext uri="{BB962C8B-B14F-4D97-AF65-F5344CB8AC3E}">
        <p14:creationId xmlns:p14="http://schemas.microsoft.com/office/powerpoint/2010/main" val="59665616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5" name="bg-16">
            <a:extLst xmlns:a="http://schemas.openxmlformats.org/drawingml/2006/main">
              <a:ext uri="{FF2B5EF4-FFF2-40B4-BE49-F238E27FC236}">
                <a16:creationId xmlns:a16="http://schemas.microsoft.com/office/drawing/2014/main" id="{36768FCF-F1E4-4F16-B3F6-DD449F6246B9}"/>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6">
            <a:extLst xmlns:a="http://schemas.openxmlformats.org/drawingml/2006/main">
              <a:ext uri="{FF2B5EF4-FFF2-40B4-BE49-F238E27FC236}">
                <a16:creationId xmlns:a16="http://schemas.microsoft.com/office/drawing/2014/main" id="{DD92164E-E852-4F32-ACBF-522D00AC1788}"/>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393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Result 1 — Identity</a:t>
            </a:r>
          </a:p>
        </p:txBody>
      </p:sp>
      <p:sp>
        <p:nvSpPr>
          <p:cNvPr id="3" name="terms-16">
            <a:extLst xmlns:a="http://schemas.openxmlformats.org/drawingml/2006/main">
              <a:ext uri="{FF2B5EF4-FFF2-40B4-BE49-F238E27FC236}">
                <a16:creationId xmlns:a16="http://schemas.microsoft.com/office/drawing/2014/main" id="{354E58A3-48F7-47A3-B4E8-571E05451EFE}"/>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Exact formula: the atom counts in the simulated cell  ·  Placement: which site the dopant actually took</a:t>
            </a:r>
          </a:p>
        </p:txBody>
      </p:sp>
      <p:sp>
        <p:nvSpPr>
          <p:cNvPr id="4" name="divider-16">
            <a:extLst xmlns:a="http://schemas.openxmlformats.org/drawingml/2006/main">
              <a:ext uri="{FF2B5EF4-FFF2-40B4-BE49-F238E27FC236}">
                <a16:creationId xmlns:a16="http://schemas.microsoft.com/office/drawing/2014/main" id="{FAE58257-4D6E-4959-AFCA-F30B3B98DAB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6">
            <a:extLst xmlns:a="http://schemas.openxmlformats.org/drawingml/2006/main">
              <a:ext uri="{FF2B5EF4-FFF2-40B4-BE49-F238E27FC236}">
                <a16:creationId xmlns:a16="http://schemas.microsoft.com/office/drawing/2014/main" id="{D2DA4C3F-E9F8-40F8-8191-1D2578FACEA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6">
            <a:extLst xmlns:a="http://schemas.openxmlformats.org/drawingml/2006/main">
              <a:ext uri="{FF2B5EF4-FFF2-40B4-BE49-F238E27FC236}">
                <a16:creationId xmlns:a16="http://schemas.microsoft.com/office/drawing/2014/main" id="{0039DF47-636F-4DFC-AD51-8EF4A76FC10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same dopant name did not mean the same material</a:t>
            </a:r>
          </a:p>
        </p:txBody>
      </p:sp>
      <p:sp>
        <p:nvSpPr>
          <p:cNvPr id="7" name="bullet-dot-16-0">
            <a:extLst xmlns:a="http://schemas.openxmlformats.org/drawingml/2006/main">
              <a:ext uri="{FF2B5EF4-FFF2-40B4-BE49-F238E27FC236}">
                <a16:creationId xmlns:a16="http://schemas.microsoft.com/office/drawing/2014/main" id="{893A925A-2323-471C-A790-A386E73F8EA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6-0">
            <a:extLst xmlns:a="http://schemas.openxmlformats.org/drawingml/2006/main">
              <a:ext uri="{FF2B5EF4-FFF2-40B4-BE49-F238E27FC236}">
                <a16:creationId xmlns:a16="http://schemas.microsoft.com/office/drawing/2014/main" id="{E80EB770-92D2-47CF-B8FF-F78C1DE023F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921"/>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2563EB"/>
                </a:solidFill>
                <a:latin typeface="Arial"/>
                <a:ea typeface="Arial"/>
                <a:cs typeface="Arial"/>
              </a:rPr>
              <a:t>59 of 90</a:t>
            </a:r>
            <a:r>
              <a:rPr sz="1275" b="0">
                <a:solidFill>
                  <a:srgbClr val="374151"/>
                </a:solidFill>
                <a:latin typeface="Arial"/>
                <a:ea typeface="Arial"/>
                <a:cs typeface="Arial"/>
              </a:rPr>
              <a:t> species kept one exact formula across our three runs; </a:t>
            </a:r>
            <a:r>
              <a:rPr sz="1275" b="1">
                <a:solidFill>
                  <a:srgbClr val="BE123C"/>
                </a:solidFill>
                <a:latin typeface="Arial"/>
                <a:ea typeface="Arial"/>
                <a:cs typeface="Arial"/>
              </a:rPr>
              <a:t>31 did not</a:t>
            </a:r>
            <a:r>
              <a:rPr sz="1275" b="0">
                <a:solidFill>
                  <a:srgbClr val="374151"/>
                </a:solidFill>
                <a:latin typeface="Arial"/>
                <a:ea typeface="Arial"/>
                <a:cs typeface="Arial"/>
              </a:rPr>
              <a:t>.</a:t>
            </a:r>
          </a:p>
        </p:txBody>
      </p:sp>
      <p:sp>
        <p:nvSpPr>
          <p:cNvPr id="9" name="bullet-dot-16-1">
            <a:extLst xmlns:a="http://schemas.openxmlformats.org/drawingml/2006/main">
              <a:ext uri="{FF2B5EF4-FFF2-40B4-BE49-F238E27FC236}">
                <a16:creationId xmlns:a16="http://schemas.microsoft.com/office/drawing/2014/main" id="{05A01BDF-1972-4C80-82C7-34385D6D8110}"/>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6-1">
            <a:extLst xmlns:a="http://schemas.openxmlformats.org/drawingml/2006/main">
              <a:ext uri="{FF2B5EF4-FFF2-40B4-BE49-F238E27FC236}">
                <a16:creationId xmlns:a16="http://schemas.microsoft.com/office/drawing/2014/main" id="{9601755B-EEB6-4EBE-AC05-1F3DE331290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82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Where the site moved the value moved too — averaging the three </a:t>
            </a:r>
            <a:r>
              <a:rPr sz="1275" b="1">
                <a:solidFill>
                  <a:srgbClr val="BE123C"/>
                </a:solidFill>
                <a:latin typeface="Arial"/>
                <a:ea typeface="Arial"/>
                <a:cs typeface="Arial"/>
              </a:rPr>
              <a:t>mixes different materials</a:t>
            </a:r>
            <a:r>
              <a:rPr sz="1275" b="0">
                <a:solidFill>
                  <a:srgbClr val="374151"/>
                </a:solidFill>
                <a:latin typeface="Arial"/>
                <a:ea typeface="Arial"/>
                <a:cs typeface="Arial"/>
              </a:rPr>
              <a:t>.</a:t>
            </a:r>
          </a:p>
        </p:txBody>
      </p:sp>
      <p:sp>
        <p:nvSpPr>
          <p:cNvPr id="11" name="citation-16">
            <a:extLst xmlns:a="http://schemas.openxmlformats.org/drawingml/2006/main">
              <a:ext uri="{FF2B5EF4-FFF2-40B4-BE49-F238E27FC236}">
                <a16:creationId xmlns:a16="http://schemas.microsoft.com/office/drawing/2014/main" id="{A5E37E2E-10BB-47FA-B8D1-7600B1D46D94}"/>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label spread</a:t>
            </a:r>
          </a:p>
        </p:txBody>
      </p:sp>
      <p:sp>
        <p:nvSpPr>
          <p:cNvPr id="12" name="footer-brand-16">
            <a:extLst xmlns:a="http://schemas.openxmlformats.org/drawingml/2006/main">
              <a:ext uri="{FF2B5EF4-FFF2-40B4-BE49-F238E27FC236}">
                <a16:creationId xmlns:a16="http://schemas.microsoft.com/office/drawing/2014/main" id="{F0216672-7A44-430A-AD08-AA0ACA0DE08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6">
            <a:extLst xmlns:a="http://schemas.openxmlformats.org/drawingml/2006/main">
              <a:ext uri="{FF2B5EF4-FFF2-40B4-BE49-F238E27FC236}">
                <a16:creationId xmlns:a16="http://schemas.microsoft.com/office/drawing/2014/main" id="{91C369CA-DFF1-4CDB-8D75-5C8B96264D6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6">
            <a:extLst xmlns:a="http://schemas.openxmlformats.org/drawingml/2006/main">
              <a:ext uri="{FF2B5EF4-FFF2-40B4-BE49-F238E27FC236}">
                <a16:creationId xmlns:a16="http://schemas.microsoft.com/office/drawing/2014/main" id="{46380CE6-AAAB-4B73-AAFB-AC2B4D5CDE0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18</a:t>
            </a:r>
          </a:p>
        </p:txBody>
      </p:sp>
      <p:pic xmlns:a="http://schemas.openxmlformats.org/drawingml/2006/main" xmlns:r="http://schemas.openxmlformats.org/officeDocument/2006/relationships">
        <p:nvPicPr>
          <p:cNvPr id="26" name="Picture 25" descr="result1_same_name_different_value.png"/>
          <p:cNvPicPr>
            <a:picLocks noChangeAspect="1"/>
          </p:cNvPicPr>
          <p:nvPr/>
        </p:nvPicPr>
        <p:blipFill>
          <a:blip r:embed="rId3"/>
          <a:stretch>
            <a:fillRect/>
          </a:stretch>
        </p:blipFill>
        <p:spPr>
          <a:xfrm>
            <a:off x="2119009" y="2286000"/>
            <a:ext cx="4905980" cy="2084831"/>
          </a:xfrm>
          <a:prstGeom prst="rect">
            <a:avLst/>
          </a:prstGeom>
        </p:spPr>
      </p:pic>
      <p:graphicFrame xmlns:a="http://schemas.openxmlformats.org/drawingml/2006/main">
        <p:nvGraphicFramePr>
          <p:cNvPr id="27" name="Table 26"/>
          <p:cNvGraphicFramePr>
            <a:graphicFrameLocks noGrp="1"/>
          </p:cNvGraphicFramePr>
          <p:nvPr/>
        </p:nvGraphicFramePr>
        <p:xfrm>
          <a:off x="566928" y="4663440"/>
          <a:ext cx="8010140" cy="1181860"/>
        </p:xfrm>
        <a:graphic>
          <a:graphicData uri="http://schemas.openxmlformats.org/drawingml/2006/table">
            <a:tbl>
              <a:tblPr firstRow="1">
                <a:tableStyleId>{5C22544A-7EE6-4342-B048-85BDC9FD1C3A}</a:tableStyleId>
              </a:tblPr>
              <a:tblGrid>
                <a:gridCol w="1691640"/>
                <a:gridCol w="1263700"/>
                <a:gridCol w="1263700"/>
                <a:gridCol w="1263700"/>
                <a:gridCol w="1263700"/>
                <a:gridCol w="1263700"/>
              </a:tblGrid>
              <a:tr h="236372">
                <a:tc>
                  <a:txBody>
                    <a:bodyPr/>
                    <a:lstStyle/>
                    <a:p>
                      <a:pPr algn="l"/>
                      <a:r>
                        <a:rPr sz="1100" b="1">
                          <a:solidFill>
                            <a:srgbClr val="1F2937"/>
                          </a:solidFill>
                          <a:latin typeface="Arial"/>
                        </a:rPr>
                        <a:t>axis</a:t>
                      </a:r>
                    </a:p>
                  </a:txBody>
                  <a:tcPr marL="64008" marR="64008" marT="18288" marB="18288">
                    <a:solidFill>
                      <a:srgbClr val="EEF2F7"/>
                    </a:solidFill>
                  </a:tcPr>
                </a:tc>
                <a:tc>
                  <a:txBody>
                    <a:bodyPr/>
                    <a:lstStyle/>
                    <a:p>
                      <a:pPr algn="ctr"/>
                      <a:r>
                        <a:rPr sz="1100" b="1">
                          <a:solidFill>
                            <a:srgbClr val="1F2937"/>
                          </a:solidFill>
                          <a:latin typeface="Arial"/>
                        </a:rPr>
                        <a:t>unit</a:t>
                      </a:r>
                    </a:p>
                  </a:txBody>
                  <a:tcPr marL="64008" marR="64008" marT="18288" marB="18288">
                    <a:solidFill>
                      <a:srgbClr val="EEF2F7"/>
                    </a:solidFill>
                  </a:tcPr>
                </a:tc>
                <a:tc>
                  <a:txBody>
                    <a:bodyPr/>
                    <a:lstStyle/>
                    <a:p>
                      <a:pPr algn="ctr"/>
                      <a:r>
                        <a:rPr sz="1100" b="1">
                          <a:solidFill>
                            <a:srgbClr val="1F2937"/>
                          </a:solidFill>
                          <a:latin typeface="Arial"/>
                        </a:rPr>
                        <a:t>within one species</a:t>
                      </a:r>
                    </a:p>
                  </a:txBody>
                  <a:tcPr marL="64008" marR="64008" marT="18288" marB="18288">
                    <a:solidFill>
                      <a:srgbClr val="EEF2F7"/>
                    </a:solidFill>
                  </a:tcPr>
                </a:tc>
                <a:tc>
                  <a:txBody>
                    <a:bodyPr/>
                    <a:lstStyle/>
                    <a:p>
                      <a:pPr algn="ctr"/>
                      <a:r>
                        <a:rPr sz="1100" b="1">
                          <a:solidFill>
                            <a:srgbClr val="1F2937"/>
                          </a:solidFill>
                          <a:latin typeface="Arial"/>
                        </a:rPr>
                        <a:t>across species</a:t>
                      </a:r>
                    </a:p>
                  </a:txBody>
                  <a:tcPr marL="64008" marR="64008" marT="18288" marB="18288">
                    <a:solidFill>
                      <a:srgbClr val="EEF2F7"/>
                    </a:solidFill>
                  </a:tcPr>
                </a:tc>
                <a:tc>
                  <a:txBody>
                    <a:bodyPr/>
                    <a:lstStyle/>
                    <a:p>
                      <a:pPr algn="ctr"/>
                      <a:r>
                        <a:rPr sz="1100" b="1">
                          <a:solidFill>
                            <a:srgbClr val="1F2937"/>
                          </a:solidFill>
                          <a:latin typeface="Arial"/>
                        </a:rPr>
                        <a:t>ratio</a:t>
                      </a:r>
                    </a:p>
                  </a:txBody>
                  <a:tcPr marL="64008" marR="64008" marT="18288" marB="18288">
                    <a:solidFill>
                      <a:srgbClr val="EEF2F7"/>
                    </a:solidFill>
                  </a:tcPr>
                </a:tc>
                <a:tc>
                  <a:txBody>
                    <a:bodyPr/>
                    <a:lstStyle/>
                    <a:p>
                      <a:pPr algn="ctr"/>
                      <a:r>
                        <a:rPr sz="1100" b="1">
                          <a:solidFill>
                            <a:srgbClr val="1F2937"/>
                          </a:solidFill>
                          <a:latin typeface="Arial"/>
                        </a:rPr>
                        <a:t>read as</a:t>
                      </a:r>
                    </a:p>
                  </a:txBody>
                  <a:tcPr marL="64008" marR="64008" marT="18288" marB="18288">
                    <a:solidFill>
                      <a:srgbClr val="EEF2F7"/>
                    </a:solidFill>
                  </a:tcPr>
                </a:tc>
              </a:tr>
              <a:tr h="236372">
                <a:tc>
                  <a:txBody>
                    <a:bodyPr/>
                    <a:lstStyle/>
                    <a:p>
                      <a:pPr algn="l"/>
                      <a:r>
                        <a:rPr sz="1100" b="0">
                          <a:solidFill>
                            <a:srgbClr val="374151"/>
                          </a:solidFill>
                          <a:latin typeface="Arial"/>
                        </a:rPr>
                        <a:t>relative stability</a:t>
                      </a:r>
                    </a:p>
                  </a:txBody>
                  <a:tcPr marL="64008" marR="64008" marT="18288" marB="18288">
                    <a:solidFill>
                      <a:srgbClr val="FFFFFF"/>
                    </a:solidFill>
                  </a:tcPr>
                </a:tc>
                <a:tc>
                  <a:txBody>
                    <a:bodyPr/>
                    <a:lstStyle/>
                    <a:p>
                      <a:pPr algn="ctr"/>
                      <a:r>
                        <a:rPr sz="1100" b="0">
                          <a:solidFill>
                            <a:srgbClr val="374151"/>
                          </a:solidFill>
                          <a:latin typeface="Arial"/>
                        </a:rPr>
                        <a:t>eV/atom</a:t>
                      </a:r>
                    </a:p>
                  </a:txBody>
                  <a:tcPr marL="64008" marR="64008" marT="18288" marB="18288">
                    <a:solidFill>
                      <a:srgbClr val="FFFFFF"/>
                    </a:solidFill>
                  </a:tcPr>
                </a:tc>
                <a:tc>
                  <a:txBody>
                    <a:bodyPr/>
                    <a:lstStyle/>
                    <a:p>
                      <a:pPr algn="ctr"/>
                      <a:r>
                        <a:rPr sz="1100" b="0">
                          <a:solidFill>
                            <a:srgbClr val="374151"/>
                          </a:solidFill>
                          <a:latin typeface="Arial"/>
                        </a:rPr>
                        <a:t>0.037</a:t>
                      </a:r>
                    </a:p>
                  </a:txBody>
                  <a:tcPr marL="64008" marR="64008" marT="18288" marB="18288">
                    <a:solidFill>
                      <a:srgbClr val="FFFFFF"/>
                    </a:solidFill>
                  </a:tcPr>
                </a:tc>
                <a:tc>
                  <a:txBody>
                    <a:bodyPr/>
                    <a:lstStyle/>
                    <a:p>
                      <a:pPr algn="ctr"/>
                      <a:r>
                        <a:rPr sz="1100" b="0">
                          <a:solidFill>
                            <a:srgbClr val="374151"/>
                          </a:solidFill>
                          <a:latin typeface="Arial"/>
                        </a:rPr>
                        <a:t>0.174</a:t>
                      </a:r>
                    </a:p>
                  </a:txBody>
                  <a:tcPr marL="64008" marR="64008" marT="18288" marB="18288">
                    <a:solidFill>
                      <a:srgbClr val="FFFFFF"/>
                    </a:solidFill>
                  </a:tcPr>
                </a:tc>
                <a:tc>
                  <a:txBody>
                    <a:bodyPr/>
                    <a:lstStyle/>
                    <a:p>
                      <a:pPr algn="ctr"/>
                      <a:r>
                        <a:rPr sz="1100" b="0">
                          <a:solidFill>
                            <a:srgbClr val="374151"/>
                          </a:solidFill>
                          <a:latin typeface="Arial"/>
                        </a:rPr>
                        <a:t>0.21</a:t>
                      </a:r>
                    </a:p>
                  </a:txBody>
                  <a:tcPr marL="64008" marR="64008" marT="18288" marB="18288">
                    <a:solidFill>
                      <a:srgbClr val="FFFFFF"/>
                    </a:solidFill>
                  </a:tcPr>
                </a:tc>
                <a:tc>
                  <a:txBody>
                    <a:bodyPr/>
                    <a:lstStyle/>
                    <a:p>
                      <a:pPr algn="ctr"/>
                      <a:r>
                        <a:rPr sz="1100" b="1">
                          <a:solidFill>
                            <a:srgbClr val="2563EB"/>
                          </a:solidFill>
                          <a:latin typeface="Arial"/>
                        </a:rPr>
                        <a:t>chemistry dominates</a:t>
                      </a:r>
                    </a:p>
                  </a:txBody>
                  <a:tcPr marL="64008" marR="64008" marT="18288" marB="18288">
                    <a:solidFill>
                      <a:srgbClr val="FFFFFF"/>
                    </a:solidFill>
                  </a:tcPr>
                </a:tc>
              </a:tr>
              <a:tr h="236372">
                <a:tc>
                  <a:txBody>
                    <a:bodyPr/>
                    <a:lstStyle/>
                    <a:p>
                      <a:pPr algn="l"/>
                      <a:r>
                        <a:rPr sz="1100" b="0">
                          <a:solidFill>
                            <a:srgbClr val="374151"/>
                          </a:solidFill>
                          <a:latin typeface="Arial"/>
                        </a:rPr>
                        <a:t>Young's modulus</a:t>
                      </a:r>
                    </a:p>
                  </a:txBody>
                  <a:tcPr marL="64008" marR="64008" marT="18288" marB="18288">
                    <a:solidFill>
                      <a:srgbClr val="FFFFFF"/>
                    </a:solidFill>
                  </a:tcPr>
                </a:tc>
                <a:tc>
                  <a:txBody>
                    <a:bodyPr/>
                    <a:lstStyle/>
                    <a:p>
                      <a:pPr algn="ctr"/>
                      <a:r>
                        <a:rPr sz="1100" b="0">
                          <a:solidFill>
                            <a:srgbClr val="374151"/>
                          </a:solidFill>
                          <a:latin typeface="Arial"/>
                        </a:rPr>
                        <a:t>GPa</a:t>
                      </a:r>
                    </a:p>
                  </a:txBody>
                  <a:tcPr marL="64008" marR="64008" marT="18288" marB="18288">
                    <a:solidFill>
                      <a:srgbClr val="FFFFFF"/>
                    </a:solidFill>
                  </a:tcPr>
                </a:tc>
                <a:tc>
                  <a:txBody>
                    <a:bodyPr/>
                    <a:lstStyle/>
                    <a:p>
                      <a:pPr algn="ctr"/>
                      <a:r>
                        <a:rPr sz="1100" b="0">
                          <a:solidFill>
                            <a:srgbClr val="374151"/>
                          </a:solidFill>
                          <a:latin typeface="Arial"/>
                        </a:rPr>
                        <a:t>6.553</a:t>
                      </a:r>
                    </a:p>
                  </a:txBody>
                  <a:tcPr marL="64008" marR="64008" marT="18288" marB="18288">
                    <a:solidFill>
                      <a:srgbClr val="FFFFFF"/>
                    </a:solidFill>
                  </a:tcPr>
                </a:tc>
                <a:tc>
                  <a:txBody>
                    <a:bodyPr/>
                    <a:lstStyle/>
                    <a:p>
                      <a:pPr algn="ctr"/>
                      <a:r>
                        <a:rPr sz="1100" b="0">
                          <a:solidFill>
                            <a:srgbClr val="374151"/>
                          </a:solidFill>
                          <a:latin typeface="Arial"/>
                        </a:rPr>
                        <a:t>5.919</a:t>
                      </a:r>
                    </a:p>
                  </a:txBody>
                  <a:tcPr marL="64008" marR="64008" marT="18288" marB="18288">
                    <a:solidFill>
                      <a:srgbClr val="FFFFFF"/>
                    </a:solidFill>
                  </a:tcPr>
                </a:tc>
                <a:tc>
                  <a:txBody>
                    <a:bodyPr/>
                    <a:lstStyle/>
                    <a:p>
                      <a:pPr algn="ctr"/>
                      <a:r>
                        <a:rPr sz="1100" b="0">
                          <a:solidFill>
                            <a:srgbClr val="374151"/>
                          </a:solidFill>
                          <a:latin typeface="Arial"/>
                        </a:rPr>
                        <a:t>1.11</a:t>
                      </a:r>
                    </a:p>
                  </a:txBody>
                  <a:tcPr marL="64008" marR="64008" marT="18288" marB="18288">
                    <a:solidFill>
                      <a:srgbClr val="FFFFFF"/>
                    </a:solidFill>
                  </a:tcPr>
                </a:tc>
                <a:tc>
                  <a:txBody>
                    <a:bodyPr/>
                    <a:lstStyle/>
                    <a:p>
                      <a:pPr algn="ctr"/>
                      <a:r>
                        <a:rPr sz="1100" b="1">
                          <a:solidFill>
                            <a:srgbClr val="BE123C"/>
                          </a:solidFill>
                          <a:latin typeface="Arial"/>
                        </a:rPr>
                        <a:t>placement dominates</a:t>
                      </a:r>
                    </a:p>
                  </a:txBody>
                  <a:tcPr marL="64008" marR="64008" marT="18288" marB="18288">
                    <a:solidFill>
                      <a:srgbClr val="FFFFFF"/>
                    </a:solidFill>
                  </a:tcPr>
                </a:tc>
              </a:tr>
              <a:tr h="236372">
                <a:tc>
                  <a:txBody>
                    <a:bodyPr/>
                    <a:lstStyle/>
                    <a:p>
                      <a:pPr algn="l"/>
                      <a:r>
                        <a:rPr sz="1100" b="0">
                          <a:solidFill>
                            <a:srgbClr val="374151"/>
                          </a:solidFill>
                          <a:latin typeface="Arial"/>
                        </a:rPr>
                        <a:t>Pugh ratio G/B</a:t>
                      </a:r>
                    </a:p>
                  </a:txBody>
                  <a:tcPr marL="64008" marR="64008" marT="18288" marB="18288">
                    <a:solidFill>
                      <a:srgbClr val="FFFFFF"/>
                    </a:solidFill>
                  </a:tcPr>
                </a:tc>
                <a:tc>
                  <a:txBody>
                    <a:bodyPr/>
                    <a:lstStyle/>
                    <a:p>
                      <a:pPr algn="ctr"/>
                      <a:r>
                        <a:rPr sz="1100" b="0">
                          <a:solidFill>
                            <a:srgbClr val="374151"/>
                          </a:solidFill>
                          <a:latin typeface="Arial"/>
                        </a:rPr>
                        <a:t>—</a:t>
                      </a:r>
                    </a:p>
                  </a:txBody>
                  <a:tcPr marL="64008" marR="64008" marT="18288" marB="18288">
                    <a:solidFill>
                      <a:srgbClr val="FFFFFF"/>
                    </a:solidFill>
                  </a:tcPr>
                </a:tc>
                <a:tc>
                  <a:txBody>
                    <a:bodyPr/>
                    <a:lstStyle/>
                    <a:p>
                      <a:pPr algn="ctr"/>
                      <a:r>
                        <a:rPr sz="1100" b="0">
                          <a:solidFill>
                            <a:srgbClr val="374151"/>
                          </a:solidFill>
                          <a:latin typeface="Arial"/>
                        </a:rPr>
                        <a:t>0.119</a:t>
                      </a:r>
                    </a:p>
                  </a:txBody>
                  <a:tcPr marL="64008" marR="64008" marT="18288" marB="18288">
                    <a:solidFill>
                      <a:srgbClr val="FFFFFF"/>
                    </a:solidFill>
                  </a:tcPr>
                </a:tc>
                <a:tc>
                  <a:txBody>
                    <a:bodyPr/>
                    <a:lstStyle/>
                    <a:p>
                      <a:pPr algn="ctr"/>
                      <a:r>
                        <a:rPr sz="1100" b="0">
                          <a:solidFill>
                            <a:srgbClr val="374151"/>
                          </a:solidFill>
                          <a:latin typeface="Arial"/>
                        </a:rPr>
                        <a:t>0.200</a:t>
                      </a:r>
                    </a:p>
                  </a:txBody>
                  <a:tcPr marL="64008" marR="64008" marT="18288" marB="18288">
                    <a:solidFill>
                      <a:srgbClr val="FFFFFF"/>
                    </a:solidFill>
                  </a:tcPr>
                </a:tc>
                <a:tc>
                  <a:txBody>
                    <a:bodyPr/>
                    <a:lstStyle/>
                    <a:p>
                      <a:pPr algn="ctr"/>
                      <a:r>
                        <a:rPr sz="1100" b="0">
                          <a:solidFill>
                            <a:srgbClr val="374151"/>
                          </a:solidFill>
                          <a:latin typeface="Arial"/>
                        </a:rPr>
                        <a:t>0.59</a:t>
                      </a:r>
                    </a:p>
                  </a:txBody>
                  <a:tcPr marL="64008" marR="64008" marT="18288" marB="18288">
                    <a:solidFill>
                      <a:srgbClr val="FFFFFF"/>
                    </a:solidFill>
                  </a:tcPr>
                </a:tc>
                <a:tc>
                  <a:txBody>
                    <a:bodyPr/>
                    <a:lstStyle/>
                    <a:p>
                      <a:pPr algn="ctr"/>
                      <a:r>
                        <a:rPr sz="1100" b="1">
                          <a:solidFill>
                            <a:srgbClr val="2563EB"/>
                          </a:solidFill>
                          <a:latin typeface="Arial"/>
                        </a:rPr>
                        <a:t>chemistry dominates</a:t>
                      </a:r>
                    </a:p>
                  </a:txBody>
                  <a:tcPr marL="64008" marR="64008" marT="18288" marB="18288">
                    <a:solidFill>
                      <a:srgbClr val="FFFFFF"/>
                    </a:solidFill>
                  </a:tcPr>
                </a:tc>
              </a:tr>
              <a:tr h="236372">
                <a:tc>
                  <a:txBody>
                    <a:bodyPr/>
                    <a:lstStyle/>
                    <a:p>
                      <a:pPr algn="l"/>
                      <a:r>
                        <a:rPr sz="1100" b="0">
                          <a:solidFill>
                            <a:srgbClr val="374151"/>
                          </a:solidFill>
                          <a:latin typeface="Arial"/>
                        </a:rPr>
                        <a:t>Li-path proxy</a:t>
                      </a:r>
                    </a:p>
                  </a:txBody>
                  <a:tcPr marL="64008" marR="64008" marT="18288" marB="18288">
                    <a:solidFill>
                      <a:srgbClr val="FFFFFF"/>
                    </a:solidFill>
                  </a:tcPr>
                </a:tc>
                <a:tc>
                  <a:txBody>
                    <a:bodyPr/>
                    <a:lstStyle/>
                    <a:p>
                      <a:pPr algn="ctr"/>
                      <a:r>
                        <a:rPr sz="1100" b="0">
                          <a:solidFill>
                            <a:srgbClr val="374151"/>
                          </a:solidFill>
                          <a:latin typeface="Arial"/>
                        </a:rPr>
                        <a:t>—</a:t>
                      </a:r>
                    </a:p>
                  </a:txBody>
                  <a:tcPr marL="64008" marR="64008" marT="18288" marB="18288">
                    <a:solidFill>
                      <a:srgbClr val="FFFFFF"/>
                    </a:solidFill>
                  </a:tcPr>
                </a:tc>
                <a:tc>
                  <a:txBody>
                    <a:bodyPr/>
                    <a:lstStyle/>
                    <a:p>
                      <a:pPr algn="ctr"/>
                      <a:r>
                        <a:rPr sz="1100" b="0">
                          <a:solidFill>
                            <a:srgbClr val="374151"/>
                          </a:solidFill>
                          <a:latin typeface="Arial"/>
                        </a:rPr>
                        <a:t>0.037</a:t>
                      </a:r>
                    </a:p>
                  </a:txBody>
                  <a:tcPr marL="64008" marR="64008" marT="18288" marB="18288">
                    <a:solidFill>
                      <a:srgbClr val="FFFFFF"/>
                    </a:solidFill>
                  </a:tcPr>
                </a:tc>
                <a:tc>
                  <a:txBody>
                    <a:bodyPr/>
                    <a:lstStyle/>
                    <a:p>
                      <a:pPr algn="ctr"/>
                      <a:r>
                        <a:rPr sz="1100" b="0">
                          <a:solidFill>
                            <a:srgbClr val="374151"/>
                          </a:solidFill>
                          <a:latin typeface="Arial"/>
                        </a:rPr>
                        <a:t>0.013</a:t>
                      </a:r>
                    </a:p>
                  </a:txBody>
                  <a:tcPr marL="64008" marR="64008" marT="18288" marB="18288">
                    <a:solidFill>
                      <a:srgbClr val="FFFFFF"/>
                    </a:solidFill>
                  </a:tcPr>
                </a:tc>
                <a:tc>
                  <a:txBody>
                    <a:bodyPr/>
                    <a:lstStyle/>
                    <a:p>
                      <a:pPr algn="ctr"/>
                      <a:r>
                        <a:rPr sz="1100" b="0">
                          <a:solidFill>
                            <a:srgbClr val="374151"/>
                          </a:solidFill>
                          <a:latin typeface="Arial"/>
                        </a:rPr>
                        <a:t>2.83</a:t>
                      </a:r>
                    </a:p>
                  </a:txBody>
                  <a:tcPr marL="64008" marR="64008" marT="18288" marB="18288">
                    <a:solidFill>
                      <a:srgbClr val="FFFFFF"/>
                    </a:solidFill>
                  </a:tcPr>
                </a:tc>
                <a:tc>
                  <a:txBody>
                    <a:bodyPr/>
                    <a:lstStyle/>
                    <a:p>
                      <a:pPr algn="ctr"/>
                      <a:r>
                        <a:rPr sz="1100" b="1">
                          <a:solidFill>
                            <a:srgbClr val="BE123C"/>
                          </a:solidFill>
                          <a:latin typeface="Arial"/>
                        </a:rPr>
                        <a:t>placement dominates</a:t>
                      </a:r>
                    </a:p>
                  </a:txBody>
                  <a:tcPr marL="64008" marR="64008" marT="18288" marB="18288">
                    <a:solidFill>
                      <a:srgbClr val="FFFFFF"/>
                    </a:solidFill>
                  </a:tcPr>
                </a:tc>
              </a:tr>
            </a:tbl>
          </a:graphicData>
        </a:graphic>
      </p:graphicFrame>
      <p:sp xmlns:a="http://schemas.openxmlformats.org/drawingml/2006/main">
        <p:nvSpPr>
          <p:cNvPr id="28" name="TextBox 27"/>
          <p:cNvSpPr txBox="1"/>
          <p:nvPr/>
        </p:nvSpPr>
        <p:spPr>
          <a:xfrm>
            <a:off x="2119009" y="4389119"/>
            <a:ext cx="4905980" cy="256032"/>
          </a:xfrm>
          <a:prstGeom prst="rect">
            <a:avLst/>
          </a:prstGeom>
          <a:noFill/>
        </p:spPr>
        <p:txBody>
          <a:bodyPr wrap="none">
            <a:spAutoFit/>
          </a:bodyPr>
          <a:lstStyle/>
          <a:p>
            <a:pPr algn="ctr"/>
            <a:r>
              <a:rPr sz="1300" b="0">
                <a:solidFill>
                  <a:srgbClr val="1F2937"/>
                </a:solidFill>
                <a:latin typeface="Arial"/>
              </a:rPr>
              <a:t>&lt; spread of the three runs, species by species &gt;</a:t>
            </a:r>
          </a:p>
        </p:txBody>
      </p:sp>
      <p:sp xmlns:a="http://schemas.openxmlformats.org/drawingml/2006/main">
        <p:nvSpPr>
          <p:cNvPr id="29" name="TextBox 28"/>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each grey bar is one species, each dot one run. The bar is as tall as the gap between a dozen different species — which means placement, not chemistry, is driving that axis.</a:t>
            </a:r>
          </a:p>
        </p:txBody>
      </p:sp>
    </p:spTree>
    <p:extLst>
      <p:ext uri="{BB962C8B-B14F-4D97-AF65-F5344CB8AC3E}">
        <p14:creationId xmlns:p14="http://schemas.microsoft.com/office/powerpoint/2010/main" val="192440589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0" name="bg-17">
            <a:extLst xmlns:a="http://schemas.openxmlformats.org/drawingml/2006/main">
              <a:ext uri="{FF2B5EF4-FFF2-40B4-BE49-F238E27FC236}">
                <a16:creationId xmlns:a16="http://schemas.microsoft.com/office/drawing/2014/main" id="{F99F08B9-CA52-4B50-B0A6-C576DA2B63A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7">
            <a:extLst xmlns:a="http://schemas.openxmlformats.org/drawingml/2006/main">
              <a:ext uri="{FF2B5EF4-FFF2-40B4-BE49-F238E27FC236}">
                <a16:creationId xmlns:a16="http://schemas.microsoft.com/office/drawing/2014/main" id="{494B2734-F8A8-4699-93F1-DE87B053F76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56452"/>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Result 2 — Oxidation</a:t>
            </a:r>
          </a:p>
        </p:txBody>
      </p:sp>
      <p:sp>
        <p:nvSpPr>
          <p:cNvPr id="3" name="terms-17">
            <a:extLst xmlns:a="http://schemas.openxmlformats.org/drawingml/2006/main">
              <a:ext uri="{FF2B5EF4-FFF2-40B4-BE49-F238E27FC236}">
                <a16:creationId xmlns:a16="http://schemas.microsoft.com/office/drawing/2014/main" id="{AF736175-C018-431B-80CF-1C0892D2B3C1}"/>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Valence band: the highest filled electronic states  ·  Pinned: set by one element regardless of what else changes</a:t>
            </a:r>
          </a:p>
        </p:txBody>
      </p:sp>
      <p:sp>
        <p:nvSpPr>
          <p:cNvPr id="4" name="divider-17">
            <a:extLst xmlns:a="http://schemas.openxmlformats.org/drawingml/2006/main">
              <a:ext uri="{FF2B5EF4-FFF2-40B4-BE49-F238E27FC236}">
                <a16:creationId xmlns:a16="http://schemas.microsoft.com/office/drawing/2014/main" id="{10944AF5-9D73-4A85-B4A1-6950241F1A0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7">
            <a:extLst xmlns:a="http://schemas.openxmlformats.org/drawingml/2006/main">
              <a:ext uri="{FF2B5EF4-FFF2-40B4-BE49-F238E27FC236}">
                <a16:creationId xmlns:a16="http://schemas.microsoft.com/office/drawing/2014/main" id="{BEE25AEF-1068-4B71-A54E-52466A269CA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7">
            <a:extLst xmlns:a="http://schemas.openxmlformats.org/drawingml/2006/main">
              <a:ext uri="{FF2B5EF4-FFF2-40B4-BE49-F238E27FC236}">
                <a16:creationId xmlns:a16="http://schemas.microsoft.com/office/drawing/2014/main" id="{71C4CEB1-CA86-4346-BE71-3668BB1FC0C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163"/>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Sulfur sets the limit, and shifts away from it are conditional</a:t>
            </a:r>
          </a:p>
        </p:txBody>
      </p:sp>
      <p:sp>
        <p:nvSpPr>
          <p:cNvPr id="7" name="bullet-dot-17-0">
            <a:extLst xmlns:a="http://schemas.openxmlformats.org/drawingml/2006/main">
              <a:ext uri="{FF2B5EF4-FFF2-40B4-BE49-F238E27FC236}">
                <a16:creationId xmlns:a16="http://schemas.microsoft.com/office/drawing/2014/main" id="{78A65BF3-5CA1-443B-9527-D6FCE6380D5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7-0">
            <a:extLst xmlns:a="http://schemas.openxmlformats.org/drawingml/2006/main">
              <a:ext uri="{FF2B5EF4-FFF2-40B4-BE49-F238E27FC236}">
                <a16:creationId xmlns:a16="http://schemas.microsoft.com/office/drawing/2014/main" id="{7C26C5C6-649B-4456-8AF1-54FCF88AF95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top of the valence band is </a:t>
            </a:r>
            <a:r>
              <a:rPr sz="1275" b="1">
                <a:solidFill>
                  <a:srgbClr val="2563EB"/>
                </a:solidFill>
                <a:latin typeface="Arial"/>
                <a:ea typeface="Arial"/>
                <a:cs typeface="Arial"/>
              </a:rPr>
              <a:t>sulfur</a:t>
            </a:r>
            <a:r>
              <a:rPr sz="1275" b="0">
                <a:solidFill>
                  <a:srgbClr val="374151"/>
                </a:solidFill>
                <a:latin typeface="Arial"/>
                <a:ea typeface="Arial"/>
                <a:cs typeface="Arial"/>
              </a:rPr>
              <a:t>, so sulfur is oxidised first no matter what we add.</a:t>
            </a:r>
          </a:p>
        </p:txBody>
      </p:sp>
      <p:sp>
        <p:nvSpPr>
          <p:cNvPr id="9" name="bullet-dot-17-1">
            <a:extLst xmlns:a="http://schemas.openxmlformats.org/drawingml/2006/main">
              <a:ext uri="{FF2B5EF4-FFF2-40B4-BE49-F238E27FC236}">
                <a16:creationId xmlns:a16="http://schemas.microsoft.com/office/drawing/2014/main" id="{DBD47D45-CD3B-4444-962D-12544CDE9ED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7-1">
            <a:extLst xmlns:a="http://schemas.openxmlformats.org/drawingml/2006/main">
              <a:ext uri="{FF2B5EF4-FFF2-40B4-BE49-F238E27FC236}">
                <a16:creationId xmlns:a16="http://schemas.microsoft.com/office/drawing/2014/main" id="{2774817A-DAB3-4861-943C-7F8FF182CA4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9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Late transition metals are the clear loss: </a:t>
            </a:r>
            <a:r>
              <a:rPr sz="1275" b="1">
                <a:solidFill>
                  <a:srgbClr val="BE123C"/>
                </a:solidFill>
                <a:latin typeface="Arial"/>
                <a:ea typeface="Arial"/>
                <a:cs typeface="Arial"/>
              </a:rPr>
              <a:t>the window collapses</a:t>
            </a:r>
            <a:r>
              <a:rPr sz="1275" b="0">
                <a:solidFill>
                  <a:srgbClr val="374151"/>
                </a:solidFill>
                <a:latin typeface="Arial"/>
                <a:ea typeface="Arial"/>
                <a:cs typeface="Arial"/>
              </a:rPr>
              <a:t> rather than shifting.</a:t>
            </a:r>
          </a:p>
        </p:txBody>
      </p:sp>
      <p:sp>
        <p:nvSpPr>
          <p:cNvPr id="11" name="citation-17">
            <a:extLst xmlns:a="http://schemas.openxmlformats.org/drawingml/2006/main">
              <a:ext uri="{FF2B5EF4-FFF2-40B4-BE49-F238E27FC236}">
                <a16:creationId xmlns:a16="http://schemas.microsoft.com/office/drawing/2014/main" id="{99E12C0B-DF19-459E-9E38-C0D3D2438657}"/>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Banik 2022  ·  our onsets</a:t>
            </a:r>
          </a:p>
        </p:txBody>
      </p:sp>
      <p:sp>
        <p:nvSpPr>
          <p:cNvPr id="12" name="footer-brand-17">
            <a:extLst xmlns:a="http://schemas.openxmlformats.org/drawingml/2006/main">
              <a:ext uri="{FF2B5EF4-FFF2-40B4-BE49-F238E27FC236}">
                <a16:creationId xmlns:a16="http://schemas.microsoft.com/office/drawing/2014/main" id="{ECDF19C8-141B-4F74-94CE-1C4F7757873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7">
            <a:extLst xmlns:a="http://schemas.openxmlformats.org/drawingml/2006/main">
              <a:ext uri="{FF2B5EF4-FFF2-40B4-BE49-F238E27FC236}">
                <a16:creationId xmlns:a16="http://schemas.microsoft.com/office/drawing/2014/main" id="{83CCB482-BC03-4D84-94A8-A5253B4B918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7">
            <a:extLst xmlns:a="http://schemas.openxmlformats.org/drawingml/2006/main">
              <a:ext uri="{FF2B5EF4-FFF2-40B4-BE49-F238E27FC236}">
                <a16:creationId xmlns:a16="http://schemas.microsoft.com/office/drawing/2014/main" id="{7E11B285-7068-4980-BBF8-7B84FD0FF42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19</a:t>
            </a:r>
          </a:p>
        </p:txBody>
      </p:sp>
      <p:pic xmlns:a="http://schemas.openxmlformats.org/drawingml/2006/main" xmlns:r="http://schemas.openxmlformats.org/officeDocument/2006/relationships">
        <p:nvPicPr>
          <p:cNvPr id="21" name="Picture 20" descr="image.png"/>
          <p:cNvPicPr>
            <a:picLocks noChangeAspect="1"/>
          </p:cNvPicPr>
          <p:nvPr/>
        </p:nvPicPr>
        <p:blipFill>
          <a:blip r:embed="R17e897009f404d13"/>
          <a:stretch>
            <a:fillRect/>
          </a:stretch>
        </p:blipFill>
        <p:spPr>
          <a:xfrm>
            <a:off x="1244807" y="2267712"/>
            <a:ext cx="2484720" cy="1755648"/>
          </a:xfrm>
          <a:prstGeom prst="rect">
            <a:avLst/>
          </a:prstGeom>
        </p:spPr>
      </p:pic>
      <p:pic xmlns:a="http://schemas.openxmlformats.org/drawingml/2006/main" xmlns:r="http://schemas.openxmlformats.org/officeDocument/2006/relationships">
        <p:nvPicPr>
          <p:cNvPr id="22" name="Picture 21" descr="result2_onset_by_chemistry.png"/>
          <p:cNvPicPr>
            <a:picLocks noChangeAspect="1"/>
          </p:cNvPicPr>
          <p:nvPr/>
        </p:nvPicPr>
        <p:blipFill>
          <a:blip r:embed="rId5"/>
          <a:stretch>
            <a:fillRect/>
          </a:stretch>
        </p:blipFill>
        <p:spPr>
          <a:xfrm>
            <a:off x="4885331" y="2267712"/>
            <a:ext cx="3543000" cy="1755648"/>
          </a:xfrm>
          <a:prstGeom prst="rect">
            <a:avLst/>
          </a:prstGeom>
        </p:spPr>
      </p:pic>
      <p:graphicFrame xmlns:a="http://schemas.openxmlformats.org/drawingml/2006/main">
        <p:nvGraphicFramePr>
          <p:cNvPr id="23" name="Table 22"/>
          <p:cNvGraphicFramePr>
            <a:graphicFrameLocks noGrp="1"/>
          </p:cNvGraphicFramePr>
          <p:nvPr/>
        </p:nvGraphicFramePr>
        <p:xfrm>
          <a:off x="566928" y="4315968"/>
          <a:ext cx="8010144" cy="1353768"/>
        </p:xfrm>
        <a:graphic>
          <a:graphicData uri="http://schemas.openxmlformats.org/drawingml/2006/table">
            <a:tbl>
              <a:tblPr firstRow="1">
                <a:tableStyleId>{5C22544A-7EE6-4342-B048-85BDC9FD1C3A}</a:tableStyleId>
              </a:tblPr>
              <a:tblGrid>
                <a:gridCol w="1920240"/>
                <a:gridCol w="1522476"/>
                <a:gridCol w="1522476"/>
                <a:gridCol w="1522476"/>
                <a:gridCol w="1522476"/>
              </a:tblGrid>
              <a:tr h="225628">
                <a:tc>
                  <a:txBody>
                    <a:bodyPr/>
                    <a:lstStyle/>
                    <a:p>
                      <a:pPr algn="l"/>
                      <a:r>
                        <a:rPr sz="1050" b="1">
                          <a:solidFill>
                            <a:srgbClr val="1F2937"/>
                          </a:solidFill>
                          <a:latin typeface="Arial"/>
                        </a:rPr>
                        <a:t>dopant chemistry</a:t>
                      </a:r>
                    </a:p>
                  </a:txBody>
                  <a:tcPr marL="64008" marR="64008" marT="18288" marB="18288">
                    <a:solidFill>
                      <a:srgbClr val="EEF2F7"/>
                    </a:solidFill>
                  </a:tcPr>
                </a:tc>
                <a:tc>
                  <a:txBody>
                    <a:bodyPr/>
                    <a:lstStyle/>
                    <a:p>
                      <a:pPr algn="ctr"/>
                      <a:r>
                        <a:rPr sz="1050" b="1">
                          <a:solidFill>
                            <a:srgbClr val="1F2937"/>
                          </a:solidFill>
                          <a:latin typeface="Arial"/>
                        </a:rPr>
                        <a:t>n</a:t>
                      </a:r>
                    </a:p>
                  </a:txBody>
                  <a:tcPr marL="64008" marR="64008" marT="18288" marB="18288">
                    <a:solidFill>
                      <a:srgbClr val="EEF2F7"/>
                    </a:solidFill>
                  </a:tcPr>
                </a:tc>
                <a:tc>
                  <a:txBody>
                    <a:bodyPr/>
                    <a:lstStyle/>
                    <a:p>
                      <a:pPr algn="ctr"/>
                      <a:r>
                        <a:rPr sz="1050" b="1">
                          <a:solidFill>
                            <a:srgbClr val="1F2937"/>
                          </a:solidFill>
                          <a:latin typeface="Arial"/>
                        </a:rPr>
                        <a:t>median onset (V)</a:t>
                      </a:r>
                    </a:p>
                  </a:txBody>
                  <a:tcPr marL="64008" marR="64008" marT="18288" marB="18288">
                    <a:solidFill>
                      <a:srgbClr val="EEF2F7"/>
                    </a:solidFill>
                  </a:tcPr>
                </a:tc>
                <a:tc>
                  <a:txBody>
                    <a:bodyPr/>
                    <a:lstStyle/>
                    <a:p>
                      <a:pPr algn="ctr"/>
                      <a:r>
                        <a:rPr sz="1050" b="1">
                          <a:solidFill>
                            <a:srgbClr val="1F2937"/>
                          </a:solidFill>
                          <a:latin typeface="Arial"/>
                        </a:rPr>
                        <a:t>range (V)</a:t>
                      </a:r>
                    </a:p>
                  </a:txBody>
                  <a:tcPr marL="64008" marR="64008" marT="18288" marB="18288">
                    <a:solidFill>
                      <a:srgbClr val="EEF2F7"/>
                    </a:solidFill>
                  </a:tcPr>
                </a:tc>
                <a:tc>
                  <a:txBody>
                    <a:bodyPr/>
                    <a:lstStyle/>
                    <a:p>
                      <a:pPr algn="ctr"/>
                      <a:r>
                        <a:rPr sz="1050" b="1">
                          <a:solidFill>
                            <a:srgbClr val="1F2937"/>
                          </a:solidFill>
                          <a:latin typeface="Arial"/>
                        </a:rPr>
                        <a:t>windows lost</a:t>
                      </a:r>
                    </a:p>
                  </a:txBody>
                  <a:tcPr marL="64008" marR="64008" marT="18288" marB="18288">
                    <a:solidFill>
                      <a:srgbClr val="EEF2F7"/>
                    </a:solidFill>
                  </a:tcPr>
                </a:tc>
              </a:tr>
              <a:tr h="225628">
                <a:tc>
                  <a:txBody>
                    <a:bodyPr/>
                    <a:lstStyle/>
                    <a:p>
                      <a:pPr algn="l"/>
                      <a:r>
                        <a:rPr sz="1050" b="0">
                          <a:solidFill>
                            <a:srgbClr val="374151"/>
                          </a:solidFill>
                          <a:latin typeface="Arial"/>
                        </a:rPr>
                        <a:t>main-group</a:t>
                      </a:r>
                    </a:p>
                  </a:txBody>
                  <a:tcPr marL="64008" marR="64008" marT="18288" marB="18288">
                    <a:solidFill>
                      <a:srgbClr val="FFFFFF"/>
                    </a:solidFill>
                  </a:tcPr>
                </a:tc>
                <a:tc>
                  <a:txBody>
                    <a:bodyPr/>
                    <a:lstStyle/>
                    <a:p>
                      <a:pPr algn="ctr"/>
                      <a:r>
                        <a:rPr sz="1050" b="0">
                          <a:solidFill>
                            <a:srgbClr val="374151"/>
                          </a:solidFill>
                          <a:latin typeface="Arial"/>
                        </a:rPr>
                        <a:t>21</a:t>
                      </a:r>
                    </a:p>
                  </a:txBody>
                  <a:tcPr marL="64008" marR="64008" marT="18288" marB="18288">
                    <a:solidFill>
                      <a:srgbClr val="FFFFFF"/>
                    </a:solidFill>
                  </a:tcPr>
                </a:tc>
                <a:tc>
                  <a:txBody>
                    <a:bodyPr/>
                    <a:lstStyle/>
                    <a:p>
                      <a:pPr algn="ctr"/>
                      <a:r>
                        <a:rPr sz="1050" b="0">
                          <a:solidFill>
                            <a:srgbClr val="374151"/>
                          </a:solidFill>
                          <a:latin typeface="Arial"/>
                        </a:rPr>
                        <a:t>2.140</a:t>
                      </a:r>
                    </a:p>
                  </a:txBody>
                  <a:tcPr marL="64008" marR="64008" marT="18288" marB="18288">
                    <a:solidFill>
                      <a:srgbClr val="FFFFFF"/>
                    </a:solidFill>
                  </a:tcPr>
                </a:tc>
                <a:tc>
                  <a:txBody>
                    <a:bodyPr/>
                    <a:lstStyle/>
                    <a:p>
                      <a:pPr algn="ctr"/>
                      <a:r>
                        <a:rPr sz="1050" b="0">
                          <a:solidFill>
                            <a:srgbClr val="374151"/>
                          </a:solidFill>
                          <a:latin typeface="Arial"/>
                        </a:rPr>
                        <a:t>1.72 – 2.36</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r h="225628">
                <a:tc>
                  <a:txBody>
                    <a:bodyPr/>
                    <a:lstStyle/>
                    <a:p>
                      <a:pPr algn="l"/>
                      <a:r>
                        <a:rPr sz="1050" b="0">
                          <a:solidFill>
                            <a:srgbClr val="374151"/>
                          </a:solidFill>
                          <a:latin typeface="Arial"/>
                        </a:rPr>
                        <a:t>alk.earth</a:t>
                      </a:r>
                    </a:p>
                  </a:txBody>
                  <a:tcPr marL="64008" marR="64008" marT="18288" marB="18288">
                    <a:solidFill>
                      <a:srgbClr val="FFFFFF"/>
                    </a:solidFill>
                  </a:tcPr>
                </a:tc>
                <a:tc>
                  <a:txBody>
                    <a:bodyPr/>
                    <a:lstStyle/>
                    <a:p>
                      <a:pPr algn="ctr"/>
                      <a:r>
                        <a:rPr sz="1050" b="0">
                          <a:solidFill>
                            <a:srgbClr val="374151"/>
                          </a:solidFill>
                          <a:latin typeface="Arial"/>
                        </a:rPr>
                        <a:t>17</a:t>
                      </a:r>
                    </a:p>
                  </a:txBody>
                  <a:tcPr marL="64008" marR="64008" marT="18288" marB="18288">
                    <a:solidFill>
                      <a:srgbClr val="FFFFFF"/>
                    </a:solidFill>
                  </a:tcPr>
                </a:tc>
                <a:tc>
                  <a:txBody>
                    <a:bodyPr/>
                    <a:lstStyle/>
                    <a:p>
                      <a:pPr algn="ctr"/>
                      <a:r>
                        <a:rPr sz="1050" b="0">
                          <a:solidFill>
                            <a:srgbClr val="374151"/>
                          </a:solidFill>
                          <a:latin typeface="Arial"/>
                        </a:rPr>
                        <a:t>2.140</a:t>
                      </a:r>
                    </a:p>
                  </a:txBody>
                  <a:tcPr marL="64008" marR="64008" marT="18288" marB="18288">
                    <a:solidFill>
                      <a:srgbClr val="FFFFFF"/>
                    </a:solidFill>
                  </a:tcPr>
                </a:tc>
                <a:tc>
                  <a:txBody>
                    <a:bodyPr/>
                    <a:lstStyle/>
                    <a:p>
                      <a:pPr algn="ctr"/>
                      <a:r>
                        <a:rPr sz="1050" b="0">
                          <a:solidFill>
                            <a:srgbClr val="374151"/>
                          </a:solidFill>
                          <a:latin typeface="Arial"/>
                        </a:rPr>
                        <a:t>2.06 – 2.14</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r h="225628">
                <a:tc>
                  <a:txBody>
                    <a:bodyPr/>
                    <a:lstStyle/>
                    <a:p>
                      <a:pPr algn="l"/>
                      <a:r>
                        <a:rPr sz="1050" b="0">
                          <a:solidFill>
                            <a:srgbClr val="374151"/>
                          </a:solidFill>
                          <a:latin typeface="Arial"/>
                        </a:rPr>
                        <a:t>alkali</a:t>
                      </a:r>
                    </a:p>
                  </a:txBody>
                  <a:tcPr marL="64008" marR="64008" marT="18288" marB="18288">
                    <a:solidFill>
                      <a:srgbClr val="FFFFFF"/>
                    </a:solidFill>
                  </a:tcPr>
                </a:tc>
                <a:tc>
                  <a:txBody>
                    <a:bodyPr/>
                    <a:lstStyle/>
                    <a:p>
                      <a:pPr algn="ctr"/>
                      <a:r>
                        <a:rPr sz="1050" b="0">
                          <a:solidFill>
                            <a:srgbClr val="374151"/>
                          </a:solidFill>
                          <a:latin typeface="Arial"/>
                        </a:rPr>
                        <a:t>10</a:t>
                      </a:r>
                    </a:p>
                  </a:txBody>
                  <a:tcPr marL="64008" marR="64008" marT="18288" marB="18288">
                    <a:solidFill>
                      <a:srgbClr val="FFFFFF"/>
                    </a:solidFill>
                  </a:tcPr>
                </a:tc>
                <a:tc>
                  <a:txBody>
                    <a:bodyPr/>
                    <a:lstStyle/>
                    <a:p>
                      <a:pPr algn="ctr"/>
                      <a:r>
                        <a:rPr sz="1050" b="0">
                          <a:solidFill>
                            <a:srgbClr val="374151"/>
                          </a:solidFill>
                          <a:latin typeface="Arial"/>
                        </a:rPr>
                        <a:t>2.140</a:t>
                      </a:r>
                    </a:p>
                  </a:txBody>
                  <a:tcPr marL="64008" marR="64008" marT="18288" marB="18288">
                    <a:solidFill>
                      <a:srgbClr val="FFFFFF"/>
                    </a:solidFill>
                  </a:tcPr>
                </a:tc>
                <a:tc>
                  <a:txBody>
                    <a:bodyPr/>
                    <a:lstStyle/>
                    <a:p>
                      <a:pPr algn="ctr"/>
                      <a:r>
                        <a:rPr sz="1050" b="0">
                          <a:solidFill>
                            <a:srgbClr val="374151"/>
                          </a:solidFill>
                          <a:latin typeface="Arial"/>
                        </a:rPr>
                        <a:t>2.06 – 2.14</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r h="225628">
                <a:tc>
                  <a:txBody>
                    <a:bodyPr/>
                    <a:lstStyle/>
                    <a:p>
                      <a:pPr algn="l"/>
                      <a:r>
                        <a:rPr sz="1050" b="0">
                          <a:solidFill>
                            <a:srgbClr val="374151"/>
                          </a:solidFill>
                          <a:latin typeface="Arial"/>
                        </a:rPr>
                        <a:t>TM</a:t>
                      </a:r>
                    </a:p>
                  </a:txBody>
                  <a:tcPr marL="64008" marR="64008" marT="18288" marB="18288">
                    <a:solidFill>
                      <a:srgbClr val="FFFFFF"/>
                    </a:solidFill>
                  </a:tcPr>
                </a:tc>
                <a:tc>
                  <a:txBody>
                    <a:bodyPr/>
                    <a:lstStyle/>
                    <a:p>
                      <a:pPr algn="ctr"/>
                      <a:r>
                        <a:rPr sz="1050" b="0">
                          <a:solidFill>
                            <a:srgbClr val="374151"/>
                          </a:solidFill>
                          <a:latin typeface="Arial"/>
                        </a:rPr>
                        <a:t>33</a:t>
                      </a:r>
                    </a:p>
                  </a:txBody>
                  <a:tcPr marL="64008" marR="64008" marT="18288" marB="18288">
                    <a:solidFill>
                      <a:srgbClr val="FFFFFF"/>
                    </a:solidFill>
                  </a:tcPr>
                </a:tc>
                <a:tc>
                  <a:txBody>
                    <a:bodyPr/>
                    <a:lstStyle/>
                    <a:p>
                      <a:pPr algn="ctr"/>
                      <a:r>
                        <a:rPr sz="1050" b="0">
                          <a:solidFill>
                            <a:srgbClr val="374151"/>
                          </a:solidFill>
                          <a:latin typeface="Arial"/>
                        </a:rPr>
                        <a:t>2.024</a:t>
                      </a:r>
                    </a:p>
                  </a:txBody>
                  <a:tcPr marL="64008" marR="64008" marT="18288" marB="18288">
                    <a:solidFill>
                      <a:srgbClr val="FFFFFF"/>
                    </a:solidFill>
                  </a:tcPr>
                </a:tc>
                <a:tc>
                  <a:txBody>
                    <a:bodyPr/>
                    <a:lstStyle/>
                    <a:p>
                      <a:pPr algn="ctr"/>
                      <a:r>
                        <a:rPr sz="1050" b="0">
                          <a:solidFill>
                            <a:srgbClr val="374151"/>
                          </a:solidFill>
                          <a:latin typeface="Arial"/>
                        </a:rPr>
                        <a:t>1.72 – 2.36</a:t>
                      </a:r>
                    </a:p>
                  </a:txBody>
                  <a:tcPr marL="64008" marR="64008" marT="18288" marB="18288">
                    <a:solidFill>
                      <a:srgbClr val="FFFFFF"/>
                    </a:solidFill>
                  </a:tcPr>
                </a:tc>
                <a:tc>
                  <a:txBody>
                    <a:bodyPr/>
                    <a:lstStyle/>
                    <a:p>
                      <a:pPr algn="ctr"/>
                      <a:r>
                        <a:rPr sz="1050" b="1">
                          <a:solidFill>
                            <a:srgbClr val="BE123C"/>
                          </a:solidFill>
                          <a:latin typeface="Arial"/>
                        </a:rPr>
                        <a:t>5</a:t>
                      </a:r>
                    </a:p>
                  </a:txBody>
                  <a:tcPr marL="64008" marR="64008" marT="18288" marB="18288">
                    <a:solidFill>
                      <a:srgbClr val="FFFFFF"/>
                    </a:solidFill>
                  </a:tcPr>
                </a:tc>
              </a:tr>
              <a:tr h="225628">
                <a:tc>
                  <a:txBody>
                    <a:bodyPr/>
                    <a:lstStyle/>
                    <a:p>
                      <a:pPr algn="l"/>
                      <a:r>
                        <a:rPr sz="1050" b="0">
                          <a:solidFill>
                            <a:srgbClr val="374151"/>
                          </a:solidFill>
                          <a:latin typeface="Arial"/>
                        </a:rPr>
                        <a:t>lanthanide</a:t>
                      </a:r>
                    </a:p>
                  </a:txBody>
                  <a:tcPr marL="64008" marR="64008" marT="18288" marB="18288">
                    <a:solidFill>
                      <a:srgbClr val="FFFFFF"/>
                    </a:solidFill>
                  </a:tcPr>
                </a:tc>
                <a:tc>
                  <a:txBody>
                    <a:bodyPr/>
                    <a:lstStyle/>
                    <a:p>
                      <a:pPr algn="ctr"/>
                      <a:r>
                        <a:rPr sz="1050" b="0">
                          <a:solidFill>
                            <a:srgbClr val="374151"/>
                          </a:solidFill>
                          <a:latin typeface="Arial"/>
                        </a:rPr>
                        <a:t>9</a:t>
                      </a:r>
                    </a:p>
                  </a:txBody>
                  <a:tcPr marL="64008" marR="64008" marT="18288" marB="18288">
                    <a:solidFill>
                      <a:srgbClr val="FFFFFF"/>
                    </a:solidFill>
                  </a:tcPr>
                </a:tc>
                <a:tc>
                  <a:txBody>
                    <a:bodyPr/>
                    <a:lstStyle/>
                    <a:p>
                      <a:pPr algn="ctr"/>
                      <a:r>
                        <a:rPr sz="1050" b="0">
                          <a:solidFill>
                            <a:srgbClr val="374151"/>
                          </a:solidFill>
                          <a:latin typeface="Arial"/>
                        </a:rPr>
                        <a:t>1.920</a:t>
                      </a:r>
                    </a:p>
                  </a:txBody>
                  <a:tcPr marL="64008" marR="64008" marT="18288" marB="18288">
                    <a:solidFill>
                      <a:srgbClr val="FFFFFF"/>
                    </a:solidFill>
                  </a:tcPr>
                </a:tc>
                <a:tc>
                  <a:txBody>
                    <a:bodyPr/>
                    <a:lstStyle/>
                    <a:p>
                      <a:pPr algn="ctr"/>
                      <a:r>
                        <a:rPr sz="1050" b="0">
                          <a:solidFill>
                            <a:srgbClr val="374151"/>
                          </a:solidFill>
                          <a:latin typeface="Arial"/>
                        </a:rPr>
                        <a:t>1.89 – 2.12</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bl>
          </a:graphicData>
        </a:graphic>
      </p:graphicFrame>
      <p:sp xmlns:a="http://schemas.openxmlformats.org/drawingml/2006/main">
        <p:nvSpPr>
          <p:cNvPr id="24" name="TextBox 23"/>
          <p:cNvSpPr txBox="1"/>
          <p:nvPr/>
        </p:nvSpPr>
        <p:spPr>
          <a:xfrm>
            <a:off x="1244807" y="4041648"/>
            <a:ext cx="2484720" cy="256032"/>
          </a:xfrm>
          <a:prstGeom prst="rect">
            <a:avLst/>
          </a:prstGeom>
          <a:noFill/>
        </p:spPr>
        <p:txBody>
          <a:bodyPr wrap="none">
            <a:spAutoFit/>
          </a:bodyPr>
          <a:lstStyle/>
          <a:p>
            <a:pPr algn="ctr"/>
            <a:r>
              <a:rPr sz="1300" b="0">
                <a:solidFill>
                  <a:srgbClr val="1F2937"/>
                </a:solidFill>
                <a:latin typeface="Arial"/>
              </a:rPr>
              <a:t>&lt; valence band edge of the host &gt;</a:t>
            </a:r>
          </a:p>
        </p:txBody>
      </p:sp>
      <p:sp xmlns:a="http://schemas.openxmlformats.org/drawingml/2006/main">
        <p:nvSpPr>
          <p:cNvPr id="25" name="TextBox 24"/>
          <p:cNvSpPr txBox="1"/>
          <p:nvPr/>
        </p:nvSpPr>
        <p:spPr>
          <a:xfrm>
            <a:off x="4885331" y="4041648"/>
            <a:ext cx="3543000" cy="256032"/>
          </a:xfrm>
          <a:prstGeom prst="rect">
            <a:avLst/>
          </a:prstGeom>
          <a:noFill/>
        </p:spPr>
        <p:txBody>
          <a:bodyPr wrap="none">
            <a:spAutoFit/>
          </a:bodyPr>
          <a:lstStyle/>
          <a:p>
            <a:pPr algn="ctr"/>
            <a:r>
              <a:rPr sz="1300" b="0">
                <a:solidFill>
                  <a:srgbClr val="1F2937"/>
                </a:solidFill>
                <a:latin typeface="Arial"/>
              </a:rPr>
              <a:t>&lt; onset by dopant chemistry &gt;</a:t>
            </a:r>
          </a:p>
        </p:txBody>
      </p:sp>
      <p:sp xmlns:a="http://schemas.openxmlformats.org/drawingml/2006/main">
        <p:nvSpPr>
          <p:cNvPr id="26" name="TextBox 2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Banik et al. (2022), Fig. 4 — the valence-band edge of Li₆PS₅Cl is sulfur. Right: our onsets grouped by cation chemistry. Most sit pinned at the host value; we cannot yet attribute the exceptions to an element.</a:t>
            </a:r>
          </a:p>
        </p:txBody>
      </p:sp>
    </p:spTree>
    <p:extLst>
      <p:ext uri="{BB962C8B-B14F-4D97-AF65-F5344CB8AC3E}">
        <p14:creationId xmlns:p14="http://schemas.microsoft.com/office/powerpoint/2010/main" val="8475215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Result 3 — The trade</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Blocking fraction: how much of the Li path the dopant occupies  ·  Trade-off: a gain on one axis paid for on another</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What stabilises the lattice also blocks the traffic</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Across our candidates the two axes </a:t>
            </a:r>
            <a:r>
              <a:rPr sz="1275" b="1">
                <a:solidFill>
                  <a:srgbClr val="BE123C"/>
                </a:solidFill>
                <a:latin typeface="Arial"/>
                <a:ea typeface="Arial"/>
                <a:cs typeface="Arial"/>
              </a:rPr>
              <a:t>pull against each other</a:t>
            </a:r>
            <a:r>
              <a:rPr sz="1275" b="0">
                <a:solidFill>
                  <a:srgbClr val="374151"/>
                </a:solidFill>
                <a:latin typeface="Arial"/>
                <a:ea typeface="Arial"/>
                <a:cs typeface="Arial"/>
              </a:rPr>
              <a:t> — the trend is real, not noise.</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same tension shows up in the literature on a completely different material set.</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data  ·  Xiao 2019</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20</a:t>
            </a:r>
          </a:p>
        </p:txBody>
      </p:sp>
      <p:pic xmlns:a="http://schemas.openxmlformats.org/drawingml/2006/main" xmlns:r="http://schemas.openxmlformats.org/officeDocument/2006/relationships">
        <p:nvPicPr>
          <p:cNvPr id="35" name="Picture 34" descr="result3_stability_vs_traffic.png"/>
          <p:cNvPicPr>
            <a:picLocks noChangeAspect="1"/>
          </p:cNvPicPr>
          <p:nvPr/>
        </p:nvPicPr>
        <p:blipFill>
          <a:blip r:embed="rId2"/>
          <a:stretch>
            <a:fillRect/>
          </a:stretch>
        </p:blipFill>
        <p:spPr>
          <a:xfrm>
            <a:off x="502920" y="2827782"/>
            <a:ext cx="3968496" cy="2226564"/>
          </a:xfrm>
          <a:prstGeom prst="rect">
            <a:avLst/>
          </a:prstGeom>
        </p:spPr>
      </p:pic>
      <p:pic xmlns:a="http://schemas.openxmlformats.org/drawingml/2006/main" xmlns:r="http://schemas.openxmlformats.org/officeDocument/2006/relationships">
        <p:nvPicPr>
          <p:cNvPr id="36" name="Picture 35" descr="fig_7.png"/>
          <p:cNvPicPr>
            <a:picLocks noChangeAspect="1"/>
          </p:cNvPicPr>
          <p:nvPr/>
        </p:nvPicPr>
        <p:blipFill>
          <a:blip r:embed="rId3"/>
          <a:stretch>
            <a:fillRect/>
          </a:stretch>
        </p:blipFill>
        <p:spPr>
          <a:xfrm>
            <a:off x="4672583" y="2582739"/>
            <a:ext cx="3968496" cy="2716649"/>
          </a:xfrm>
          <a:prstGeom prst="rect">
            <a:avLst/>
          </a:prstGeom>
        </p:spPr>
      </p:pic>
      <p:sp xmlns:a="http://schemas.openxmlformats.org/drawingml/2006/main">
        <p:nvSpPr>
          <p:cNvPr id="37" name="TextBox 3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our candidates — more stabilising means more Li sites blocked. Right: Xiao et al. (2019), Fig. 7 — across 411 oxides, more lithium means a lower oxidation limit. Same shape of problem.</a:t>
            </a:r>
          </a:p>
        </p:txBody>
      </p:sp>
    </p:spTree>
    <p:extLst>
      <p:ext uri="{BB962C8B-B14F-4D97-AF65-F5344CB8AC3E}">
        <p14:creationId xmlns:p14="http://schemas.microsoft.com/office/powerpoint/2010/main" val="79106766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2" name="bg-18">
            <a:extLst xmlns:a="http://schemas.openxmlformats.org/drawingml/2006/main">
              <a:ext uri="{FF2B5EF4-FFF2-40B4-BE49-F238E27FC236}">
                <a16:creationId xmlns:a16="http://schemas.microsoft.com/office/drawing/2014/main" id="{EABA8A47-C655-46FB-AED7-152E2A0383F6}"/>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8">
            <a:extLst xmlns:a="http://schemas.openxmlformats.org/drawingml/2006/main">
              <a:ext uri="{FF2B5EF4-FFF2-40B4-BE49-F238E27FC236}">
                <a16:creationId xmlns:a16="http://schemas.microsoft.com/office/drawing/2014/main" id="{DB8B9514-92B5-40D3-94B0-2871FEE91C37}"/>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Next round</a:t>
            </a:r>
          </a:p>
        </p:txBody>
      </p:sp>
      <p:sp>
        <p:nvSpPr>
          <p:cNvPr id="3" name="terms-18">
            <a:extLst xmlns:a="http://schemas.openxmlformats.org/drawingml/2006/main">
              <a:ext uri="{FF2B5EF4-FFF2-40B4-BE49-F238E27FC236}">
                <a16:creationId xmlns:a16="http://schemas.microsoft.com/office/drawing/2014/main" id="{537B7FD0-3501-46EA-B103-35A6EB755C53}"/>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Seed: a different random starting arrangement  ·  Boundary case: a candidate sitting near a decision threshold</a:t>
            </a:r>
          </a:p>
        </p:txBody>
      </p:sp>
      <p:sp>
        <p:nvSpPr>
          <p:cNvPr id="4" name="divider-18">
            <a:extLst xmlns:a="http://schemas.openxmlformats.org/drawingml/2006/main">
              <a:ext uri="{FF2B5EF4-FFF2-40B4-BE49-F238E27FC236}">
                <a16:creationId xmlns:a16="http://schemas.microsoft.com/office/drawing/2014/main" id="{B7977071-B736-4EBA-A3D3-29FB6555755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8">
            <a:extLst xmlns:a="http://schemas.openxmlformats.org/drawingml/2006/main">
              <a:ext uri="{FF2B5EF4-FFF2-40B4-BE49-F238E27FC236}">
                <a16:creationId xmlns:a16="http://schemas.microsoft.com/office/drawing/2014/main" id="{9CF9BDE0-C2FD-4B1E-99E6-D1099BB3505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8">
            <a:extLst xmlns:a="http://schemas.openxmlformats.org/drawingml/2006/main">
              <a:ext uri="{FF2B5EF4-FFF2-40B4-BE49-F238E27FC236}">
                <a16:creationId xmlns:a16="http://schemas.microsoft.com/office/drawing/2014/main" id="{E824BBC8-8AAE-43E4-8836-8E1B38C5CC2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Fix the comparison before making it bigger</a:t>
            </a:r>
          </a:p>
        </p:txBody>
      </p:sp>
      <p:sp>
        <p:nvSpPr>
          <p:cNvPr id="7" name="bullet-dot-18-0">
            <a:extLst xmlns:a="http://schemas.openxmlformats.org/drawingml/2006/main">
              <a:ext uri="{FF2B5EF4-FFF2-40B4-BE49-F238E27FC236}">
                <a16:creationId xmlns:a16="http://schemas.microsoft.com/office/drawing/2014/main" id="{DC7C9AF8-CBF1-4916-9B59-096A9587AF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8-0">
            <a:extLst xmlns:a="http://schemas.openxmlformats.org/drawingml/2006/main">
              <a:ext uri="{FF2B5EF4-FFF2-40B4-BE49-F238E27FC236}">
                <a16:creationId xmlns:a16="http://schemas.microsoft.com/office/drawing/2014/main" id="{8DEBD1A6-D331-4DBB-8E5A-326C41A9737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2563EB"/>
                </a:solidFill>
                <a:latin typeface="Arial"/>
                <a:ea typeface="Arial"/>
                <a:cs typeface="Arial"/>
              </a:rPr>
              <a:t>Freeze the site and the formula</a:t>
            </a:r>
            <a:r>
              <a:rPr sz="1275" b="0">
                <a:solidFill>
                  <a:srgbClr val="374151"/>
                </a:solidFill>
                <a:latin typeface="Arial"/>
                <a:ea typeface="Arial"/>
                <a:cs typeface="Arial"/>
              </a:rPr>
              <a:t>, then repeat — that separates chemistry from placement.</a:t>
            </a:r>
          </a:p>
        </p:txBody>
      </p:sp>
      <p:sp>
        <p:nvSpPr>
          <p:cNvPr id="9" name="bullet-dot-18-1">
            <a:extLst xmlns:a="http://schemas.openxmlformats.org/drawingml/2006/main">
              <a:ext uri="{FF2B5EF4-FFF2-40B4-BE49-F238E27FC236}">
                <a16:creationId xmlns:a16="http://schemas.microsoft.com/office/drawing/2014/main" id="{4AB07E0A-E36A-4E95-AABD-94421157DC9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8-1">
            <a:extLst xmlns:a="http://schemas.openxmlformats.org/drawingml/2006/main">
              <a:ext uri="{FF2B5EF4-FFF2-40B4-BE49-F238E27FC236}">
                <a16:creationId xmlns:a16="http://schemas.microsoft.com/office/drawing/2014/main" id="{52A58528-F5BA-4674-8261-DB2648E2806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Build real low concentrations in </a:t>
            </a:r>
            <a:r>
              <a:rPr sz="1275" b="1">
                <a:solidFill>
                  <a:srgbClr val="2563EB"/>
                </a:solidFill>
                <a:latin typeface="Arial"/>
                <a:ea typeface="Arial"/>
                <a:cs typeface="Arial"/>
              </a:rPr>
              <a:t>larger cells</a:t>
            </a:r>
            <a:r>
              <a:rPr sz="1275" b="0">
                <a:solidFill>
                  <a:srgbClr val="374151"/>
                </a:solidFill>
                <a:latin typeface="Arial"/>
                <a:ea typeface="Arial"/>
                <a:cs typeface="Arial"/>
              </a:rPr>
              <a:t>; promote only boundary cases upward.</a:t>
            </a:r>
          </a:p>
        </p:txBody>
      </p:sp>
      <p:sp>
        <p:nvSpPr>
          <p:cNvPr id="11" name="citation-18">
            <a:extLst xmlns:a="http://schemas.openxmlformats.org/drawingml/2006/main">
              <a:ext uri="{FF2B5EF4-FFF2-40B4-BE49-F238E27FC236}">
                <a16:creationId xmlns:a16="http://schemas.microsoft.com/office/drawing/2014/main" id="{10908271-717E-4DDF-A5D4-3F1D2A7ACCD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reference host</a:t>
            </a:r>
          </a:p>
        </p:txBody>
      </p:sp>
      <p:sp>
        <p:nvSpPr>
          <p:cNvPr id="12" name="footer-brand-18">
            <a:extLst xmlns:a="http://schemas.openxmlformats.org/drawingml/2006/main">
              <a:ext uri="{FF2B5EF4-FFF2-40B4-BE49-F238E27FC236}">
                <a16:creationId xmlns:a16="http://schemas.microsoft.com/office/drawing/2014/main" id="{2E6BBCA6-B5BC-49EC-AD5F-AD8B702B930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8">
            <a:extLst xmlns:a="http://schemas.openxmlformats.org/drawingml/2006/main">
              <a:ext uri="{FF2B5EF4-FFF2-40B4-BE49-F238E27FC236}">
                <a16:creationId xmlns:a16="http://schemas.microsoft.com/office/drawing/2014/main" id="{2CFC4BDB-3781-4023-AFE5-BBE06CA20AC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8">
            <a:extLst xmlns:a="http://schemas.openxmlformats.org/drawingml/2006/main">
              <a:ext uri="{FF2B5EF4-FFF2-40B4-BE49-F238E27FC236}">
                <a16:creationId xmlns:a16="http://schemas.microsoft.com/office/drawing/2014/main" id="{19F91DED-6695-4604-BA74-E765DD935DE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21</a:t>
            </a:r>
          </a:p>
        </p:txBody>
      </p:sp>
      <p:pic xmlns:a="http://schemas.openxmlformats.org/drawingml/2006/main" xmlns:r="http://schemas.openxmlformats.org/officeDocument/2006/relationships">
        <p:nvPicPr>
          <p:cNvPr id="43" name="Picture 42" descr="image.png"/>
          <p:cNvPicPr>
            <a:picLocks noChangeAspect="1"/>
          </p:cNvPicPr>
          <p:nvPr/>
        </p:nvPicPr>
        <p:blipFill>
          <a:blip r:embed="rId3"/>
          <a:stretch>
            <a:fillRect/>
          </a:stretch>
        </p:blipFill>
        <p:spPr>
          <a:xfrm>
            <a:off x="502920" y="2480368"/>
            <a:ext cx="8138160" cy="2921390"/>
          </a:xfrm>
          <a:prstGeom prst="rect">
            <a:avLst/>
          </a:prstGeom>
        </p:spPr>
      </p:pic>
      <p:sp xmlns:a="http://schemas.openxmlformats.org/drawingml/2006/main">
        <p:nvSpPr>
          <p:cNvPr id="44" name="TextBox 4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framework, Li percolation path and the bond-valence channel of the undoped host — the reference the next campaign is built on.</a:t>
            </a:r>
          </a:p>
        </p:txBody>
      </p:sp>
    </p:spTree>
    <p:extLst>
      <p:ext uri="{BB962C8B-B14F-4D97-AF65-F5344CB8AC3E}">
        <p14:creationId xmlns:p14="http://schemas.microsoft.com/office/powerpoint/2010/main" val="176524132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2" name="bg-19">
            <a:extLst xmlns:a="http://schemas.openxmlformats.org/drawingml/2006/main">
              <a:ext uri="{FF2B5EF4-FFF2-40B4-BE49-F238E27FC236}">
                <a16:creationId xmlns:a16="http://schemas.microsoft.com/office/drawing/2014/main" id="{1A7045C9-3AA1-4FF0-82F0-C1FA5F41846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9">
            <a:extLst xmlns:a="http://schemas.openxmlformats.org/drawingml/2006/main">
              <a:ext uri="{FF2B5EF4-FFF2-40B4-BE49-F238E27FC236}">
                <a16:creationId xmlns:a16="http://schemas.microsoft.com/office/drawing/2014/main" id="{CC45A2D8-F193-4ECB-BC74-0C761E5AA16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ML &amp; co-doping</a:t>
            </a:r>
          </a:p>
        </p:txBody>
      </p:sp>
      <p:sp>
        <p:nvSpPr>
          <p:cNvPr id="3" name="terms-19">
            <a:extLst xmlns:a="http://schemas.openxmlformats.org/drawingml/2006/main">
              <a:ext uri="{FF2B5EF4-FFF2-40B4-BE49-F238E27FC236}">
                <a16:creationId xmlns:a16="http://schemas.microsoft.com/office/drawing/2014/main" id="{DC404B88-0C05-489C-B757-E60D852464F9}"/>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Applicability domain: the region the training data actually covers  ·  Co-doping: two modifiers in the same lattice</a:t>
            </a:r>
          </a:p>
        </p:txBody>
      </p:sp>
      <p:sp>
        <p:nvSpPr>
          <p:cNvPr id="4" name="divider-19">
            <a:extLst xmlns:a="http://schemas.openxmlformats.org/drawingml/2006/main">
              <a:ext uri="{FF2B5EF4-FFF2-40B4-BE49-F238E27FC236}">
                <a16:creationId xmlns:a16="http://schemas.microsoft.com/office/drawing/2014/main" id="{CCA609FD-25EE-409B-8562-96D804B5ED4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9">
            <a:extLst xmlns:a="http://schemas.openxmlformats.org/drawingml/2006/main">
              <a:ext uri="{FF2B5EF4-FFF2-40B4-BE49-F238E27FC236}">
                <a16:creationId xmlns:a16="http://schemas.microsoft.com/office/drawing/2014/main" id="{D7DA8F0A-AB8C-477D-9358-CEBD727D146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9">
            <a:extLst xmlns:a="http://schemas.openxmlformats.org/drawingml/2006/main">
              <a:ext uri="{FF2B5EF4-FFF2-40B4-BE49-F238E27FC236}">
                <a16:creationId xmlns:a16="http://schemas.microsoft.com/office/drawing/2014/main" id="{ACF2560A-F4F2-4C25-AD3B-D436B0AD6DE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Use the data to schedule calculations, not to invent results</a:t>
            </a:r>
          </a:p>
        </p:txBody>
      </p:sp>
      <p:sp>
        <p:nvSpPr>
          <p:cNvPr id="7" name="bullet-dot-19-0">
            <a:extLst xmlns:a="http://schemas.openxmlformats.org/drawingml/2006/main">
              <a:ext uri="{FF2B5EF4-FFF2-40B4-BE49-F238E27FC236}">
                <a16:creationId xmlns:a16="http://schemas.microsoft.com/office/drawing/2014/main" id="{C6B20BCA-A05E-4EBB-9AEB-4B4E3F10E83C}"/>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9-0">
            <a:extLst xmlns:a="http://schemas.openxmlformats.org/drawingml/2006/main">
              <a:ext uri="{FF2B5EF4-FFF2-40B4-BE49-F238E27FC236}">
                <a16:creationId xmlns:a16="http://schemas.microsoft.com/office/drawing/2014/main" id="{4CE55677-D9DD-4CF6-8F6C-F2F990E8B47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97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90 candidates gives </a:t>
            </a:r>
            <a:r>
              <a:rPr sz="1275" b="1">
                <a:solidFill>
                  <a:srgbClr val="2563EB"/>
                </a:solidFill>
                <a:latin typeface="Arial"/>
                <a:ea typeface="Arial"/>
                <a:cs typeface="Arial"/>
              </a:rPr>
              <a:t>4,000 pairs</a:t>
            </a:r>
            <a:r>
              <a:rPr sz="1275" b="0">
                <a:solidFill>
                  <a:srgbClr val="374151"/>
                </a:solidFill>
                <a:latin typeface="Arial"/>
                <a:ea typeface="Arial"/>
                <a:cs typeface="Arial"/>
              </a:rPr>
              <a:t> — never computable, but predictable enough to prioritise.</a:t>
            </a:r>
          </a:p>
        </p:txBody>
      </p:sp>
      <p:sp>
        <p:nvSpPr>
          <p:cNvPr id="9" name="bullet-dot-19-1">
            <a:extLst xmlns:a="http://schemas.openxmlformats.org/drawingml/2006/main">
              <a:ext uri="{FF2B5EF4-FFF2-40B4-BE49-F238E27FC236}">
                <a16:creationId xmlns:a16="http://schemas.microsoft.com/office/drawing/2014/main" id="{B75A0010-32D1-4B3D-9654-D7FBB062F67C}"/>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9-1">
            <a:extLst xmlns:a="http://schemas.openxmlformats.org/drawingml/2006/main">
              <a:ext uri="{FF2B5EF4-FFF2-40B4-BE49-F238E27FC236}">
                <a16:creationId xmlns:a16="http://schemas.microsoft.com/office/drawing/2014/main" id="{B3694F6E-1097-4C16-B8FE-58D0095D949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68"/>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 On today's data a model would also learn our </a:t>
            </a:r>
            <a:r>
              <a:rPr sz="1275" b="1">
                <a:solidFill>
                  <a:srgbClr val="BE123C"/>
                </a:solidFill>
                <a:latin typeface="Arial"/>
                <a:ea typeface="Arial"/>
                <a:cs typeface="Arial"/>
              </a:rPr>
              <a:t>placement noise</a:t>
            </a:r>
            <a:r>
              <a:rPr sz="1275" b="0">
                <a:solidFill>
                  <a:srgbClr val="374151"/>
                </a:solidFill>
                <a:latin typeface="Arial"/>
                <a:ea typeface="Arial"/>
                <a:cs typeface="Arial"/>
              </a:rPr>
              <a:t> — Result 1 comes first.</a:t>
            </a:r>
          </a:p>
        </p:txBody>
      </p:sp>
      <p:sp>
        <p:nvSpPr>
          <p:cNvPr id="11" name="citation-19">
            <a:extLst xmlns:a="http://schemas.openxmlformats.org/drawingml/2006/main">
              <a:ext uri="{FF2B5EF4-FFF2-40B4-BE49-F238E27FC236}">
                <a16:creationId xmlns:a16="http://schemas.microsoft.com/office/drawing/2014/main" id="{778738B2-0BCA-4F83-BE19-254F04418C60}"/>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Sendek 2017</a:t>
            </a:r>
          </a:p>
        </p:txBody>
      </p:sp>
      <p:sp>
        <p:nvSpPr>
          <p:cNvPr id="12" name="footer-brand-19">
            <a:extLst xmlns:a="http://schemas.openxmlformats.org/drawingml/2006/main">
              <a:ext uri="{FF2B5EF4-FFF2-40B4-BE49-F238E27FC236}">
                <a16:creationId xmlns:a16="http://schemas.microsoft.com/office/drawing/2014/main" id="{424B9FA3-4596-4606-8102-AE3129E70F4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9">
            <a:extLst xmlns:a="http://schemas.openxmlformats.org/drawingml/2006/main">
              <a:ext uri="{FF2B5EF4-FFF2-40B4-BE49-F238E27FC236}">
                <a16:creationId xmlns:a16="http://schemas.microsoft.com/office/drawing/2014/main" id="{6F9C2129-2913-470D-9D4D-D8C0765FC4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9">
            <a:extLst xmlns:a="http://schemas.openxmlformats.org/drawingml/2006/main">
              <a:ext uri="{FF2B5EF4-FFF2-40B4-BE49-F238E27FC236}">
                <a16:creationId xmlns:a16="http://schemas.microsoft.com/office/drawing/2014/main" id="{5F38BBBF-D41A-43B8-A24F-C1CA277ADA8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22</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21af0ec6a3c4aec"/>
          <a:stretch xmlns:a="http://schemas.openxmlformats.org/drawingml/2006/main"/>
        </p:blipFill>
        <p:spPr>
          <a:xfrm xmlns:a="http://schemas.openxmlformats.org/drawingml/2006/main">
            <a:off x="714375" y="2673248"/>
            <a:ext cx="3714750" cy="2464004"/>
          </a:xfrm>
          <a:prstGeom xmlns:a="http://schemas.openxmlformats.org/drawingml/2006/main" prst="rect">
            <a:avLst/>
          </a:prstGeom>
        </p:spPr>
      </p:pic>
      <p:sp xmlns:a="http://schemas.openxmlformats.org/drawingml/2006/main">
        <p:nvSpPr>
          <p:cNvPr id="37" name="TextBox 3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Sendek et al. (2017), Fig. 4 — read the distance from the training data on the x-axis, not only the probability on the y-axis. Confidence outside the training domain is the failure mode to guard against.</a:t>
            </a:r>
          </a:p>
        </p:txBody>
      </p:sp>
    </p:spTree>
    <p:extLst>
      <p:ext uri="{BB962C8B-B14F-4D97-AF65-F5344CB8AC3E}">
        <p14:creationId xmlns:p14="http://schemas.microsoft.com/office/powerpoint/2010/main" val="192440589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8" name="bg-20">
            <a:extLst xmlns:a="http://schemas.openxmlformats.org/drawingml/2006/main">
              <a:ext uri="{FF2B5EF4-FFF2-40B4-BE49-F238E27FC236}">
                <a16:creationId xmlns:a16="http://schemas.microsoft.com/office/drawing/2014/main" id="{C7163743-19C8-400E-8491-FE2CBD9515D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0">
            <a:extLst xmlns:a="http://schemas.openxmlformats.org/drawingml/2006/main">
              <a:ext uri="{FF2B5EF4-FFF2-40B4-BE49-F238E27FC236}">
                <a16:creationId xmlns:a16="http://schemas.microsoft.com/office/drawing/2014/main" id="{E8776989-0370-4843-9F9C-E6767BFAB413}"/>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Discussion</a:t>
            </a:r>
          </a:p>
        </p:txBody>
      </p:sp>
      <p:sp>
        <p:nvSpPr>
          <p:cNvPr id="3" name="terms-20">
            <a:extLst xmlns:a="http://schemas.openxmlformats.org/drawingml/2006/main">
              <a:ext uri="{FF2B5EF4-FFF2-40B4-BE49-F238E27FC236}">
                <a16:creationId xmlns:a16="http://schemas.microsoft.com/office/drawing/2014/main" id="{E8D4395B-143E-4B62-92F6-F512EC8D4B6D}"/>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Robust: survives being rebuilt a different way  ·  Validation budget: how many expensive calculations we can afford</a:t>
            </a:r>
          </a:p>
        </p:txBody>
      </p:sp>
      <p:sp>
        <p:nvSpPr>
          <p:cNvPr id="4" name="divider-20">
            <a:extLst xmlns:a="http://schemas.openxmlformats.org/drawingml/2006/main">
              <a:ext uri="{FF2B5EF4-FFF2-40B4-BE49-F238E27FC236}">
                <a16:creationId xmlns:a16="http://schemas.microsoft.com/office/drawing/2014/main" id="{EBFC1F24-82CE-49BB-AD86-AED86FEB914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0">
            <a:extLst xmlns:a="http://schemas.openxmlformats.org/drawingml/2006/main">
              <a:ext uri="{FF2B5EF4-FFF2-40B4-BE49-F238E27FC236}">
                <a16:creationId xmlns:a16="http://schemas.microsoft.com/office/drawing/2014/main" id="{61AEF378-9903-4218-A94D-20732ECF5C8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0">
            <a:extLst xmlns:a="http://schemas.openxmlformats.org/drawingml/2006/main">
              <a:ext uri="{FF2B5EF4-FFF2-40B4-BE49-F238E27FC236}">
                <a16:creationId xmlns:a16="http://schemas.microsoft.com/office/drawing/2014/main" id="{D2CB399A-A7DC-455C-AE34-EF20AD50DF5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7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Where I would like the room's opinion</a:t>
            </a:r>
          </a:p>
        </p:txBody>
      </p:sp>
      <p:sp>
        <p:nvSpPr>
          <p:cNvPr id="7" name="bullet-dot-20-0">
            <a:extLst xmlns:a="http://schemas.openxmlformats.org/drawingml/2006/main">
              <a:ext uri="{FF2B5EF4-FFF2-40B4-BE49-F238E27FC236}">
                <a16:creationId xmlns:a16="http://schemas.microsoft.com/office/drawing/2014/main" id="{DADC7549-F2BE-4AB9-B138-CAC352D8FEE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0">
            <a:extLst xmlns:a="http://schemas.openxmlformats.org/drawingml/2006/main">
              <a:ext uri="{FF2B5EF4-FFF2-40B4-BE49-F238E27FC236}">
                <a16:creationId xmlns:a16="http://schemas.microsoft.com/office/drawing/2014/main" id="{E02240D2-C09B-4646-AE33-EC00FDE2F75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15"/>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What we have is a </a:t>
            </a:r>
            <a:r>
              <a:rPr sz="1275" b="1">
                <a:solidFill>
                  <a:srgbClr val="2563EB"/>
                </a:solidFill>
                <a:latin typeface="Arial"/>
                <a:ea typeface="Arial"/>
                <a:cs typeface="Arial"/>
              </a:rPr>
              <a:t>map of where the comparison is solid</a:t>
            </a:r>
            <a:r>
              <a:rPr sz="1275" b="0">
                <a:solidFill>
                  <a:srgbClr val="374151"/>
                </a:solidFill>
                <a:latin typeface="Arial"/>
                <a:ea typeface="Arial"/>
                <a:cs typeface="Arial"/>
              </a:rPr>
              <a:t> and where it wobbles.</a:t>
            </a:r>
          </a:p>
        </p:txBody>
      </p:sp>
      <p:sp>
        <p:nvSpPr>
          <p:cNvPr id="9" name="bullet-dot-20-1">
            <a:extLst xmlns:a="http://schemas.openxmlformats.org/drawingml/2006/main">
              <a:ext uri="{FF2B5EF4-FFF2-40B4-BE49-F238E27FC236}">
                <a16:creationId xmlns:a16="http://schemas.microsoft.com/office/drawing/2014/main" id="{1573A6DB-F81B-421C-B6FF-9DE9DA0D1CD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0-1">
            <a:extLst xmlns:a="http://schemas.openxmlformats.org/drawingml/2006/main">
              <a:ext uri="{FF2B5EF4-FFF2-40B4-BE49-F238E27FC236}">
                <a16:creationId xmlns:a16="http://schemas.microsoft.com/office/drawing/2014/main" id="{DFEF2EB8-0A6D-4E20-90BF-6C29A8C0875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What we do not have is a shortlist — and I would rather earn one than announce one.</a:t>
            </a:r>
          </a:p>
        </p:txBody>
      </p:sp>
      <p:sp>
        <p:nvSpPr>
          <p:cNvPr id="11" name="citation-20">
            <a:extLst xmlns:a="http://schemas.openxmlformats.org/drawingml/2006/main">
              <a:ext uri="{FF2B5EF4-FFF2-40B4-BE49-F238E27FC236}">
                <a16:creationId xmlns:a16="http://schemas.microsoft.com/office/drawing/2014/main" id="{68E4F095-E601-4AA6-B27C-590470A1F8D1}"/>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Questions for the room</a:t>
            </a:r>
          </a:p>
        </p:txBody>
      </p:sp>
      <p:sp>
        <p:nvSpPr>
          <p:cNvPr id="12" name="footer-brand-20">
            <a:extLst xmlns:a="http://schemas.openxmlformats.org/drawingml/2006/main">
              <a:ext uri="{FF2B5EF4-FFF2-40B4-BE49-F238E27FC236}">
                <a16:creationId xmlns:a16="http://schemas.microsoft.com/office/drawing/2014/main" id="{2B9C6505-B207-4B75-A508-FDEAE8F8C0E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0">
            <a:extLst xmlns:a="http://schemas.openxmlformats.org/drawingml/2006/main">
              <a:ext uri="{FF2B5EF4-FFF2-40B4-BE49-F238E27FC236}">
                <a16:creationId xmlns:a16="http://schemas.microsoft.com/office/drawing/2014/main" id="{C53472CC-79AC-47A5-BE50-82887263A94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0">
            <a:extLst xmlns:a="http://schemas.openxmlformats.org/drawingml/2006/main">
              <a:ext uri="{FF2B5EF4-FFF2-40B4-BE49-F238E27FC236}">
                <a16:creationId xmlns:a16="http://schemas.microsoft.com/office/drawing/2014/main" id="{E8EC0694-3580-4980-987F-70FC5D7C58D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23</a:t>
            </a:r>
          </a:p>
        </p:txBody>
      </p:sp>
      <p:sp xmlns:a="http://schemas.openxmlformats.org/drawingml/2006/main">
        <p:nvSpPr>
          <p:cNvPr id="29" name="TextBox 28"/>
          <p:cNvSpPr txBox="1"/>
          <p:nvPr/>
        </p:nvSpPr>
        <p:spPr>
          <a:xfrm>
            <a:off x="960120" y="2651760"/>
            <a:ext cx="7223760" cy="749808"/>
          </a:xfrm>
          <a:prstGeom prst="rect">
            <a:avLst/>
          </a:prstGeom>
          <a:noFill/>
        </p:spPr>
        <p:txBody>
          <a:bodyPr wrap="square">
            <a:spAutoFit/>
          </a:bodyPr>
          <a:lstStyle/>
          <a:p>
            <a:r>
              <a:rPr sz="1450" b="1">
                <a:solidFill>
                  <a:srgbClr val="1F2937"/>
                </a:solidFill>
                <a:latin typeface="Arial"/>
              </a:rPr>
              <a:t>1 · What first?  </a:t>
            </a:r>
            <a:r>
              <a:rPr sz="1450" b="0">
                <a:solidFill>
                  <a:srgbClr val="374151"/>
                </a:solidFill>
                <a:latin typeface="Arial"/>
              </a:rPr>
              <a:t>A real concentration series with repeats, or the first explicit interface?</a:t>
            </a:r>
          </a:p>
        </p:txBody>
      </p:sp>
      <p:sp xmlns:a="http://schemas.openxmlformats.org/drawingml/2006/main">
        <p:nvSpPr>
          <p:cNvPr id="30" name="TextBox 29"/>
          <p:cNvSpPr txBox="1"/>
          <p:nvPr/>
        </p:nvSpPr>
        <p:spPr>
          <a:xfrm>
            <a:off x="960120" y="3401568"/>
            <a:ext cx="7223760" cy="749808"/>
          </a:xfrm>
          <a:prstGeom prst="rect">
            <a:avLst/>
          </a:prstGeom>
          <a:noFill/>
        </p:spPr>
        <p:txBody>
          <a:bodyPr wrap="square">
            <a:spAutoFit/>
          </a:bodyPr>
          <a:lstStyle/>
          <a:p>
            <a:r>
              <a:rPr sz="1450" b="1">
                <a:solidFill>
                  <a:srgbClr val="1F2937"/>
                </a:solidFill>
                <a:latin typeface="Arial"/>
              </a:rPr>
              <a:t>2 · What is “best”?  </a:t>
            </a:r>
            <a:r>
              <a:rPr sz="1450" b="0">
                <a:solidFill>
                  <a:srgbClr val="374151"/>
                </a:solidFill>
                <a:latin typeface="Arial"/>
              </a:rPr>
              <a:t>The best single configuration, or the candidate that survives </a:t>
            </a:r>
            <a:r>
              <a:rPr sz="1450" b="1">
                <a:solidFill>
                  <a:srgbClr val="2563EB"/>
                </a:solidFill>
                <a:latin typeface="Arial"/>
              </a:rPr>
              <a:t>being rebuilt</a:t>
            </a:r>
            <a:r>
              <a:rPr sz="1450" b="0">
                <a:solidFill>
                  <a:srgbClr val="374151"/>
                </a:solidFill>
                <a:latin typeface="Arial"/>
              </a:rPr>
              <a:t>?</a:t>
            </a:r>
          </a:p>
        </p:txBody>
      </p:sp>
      <p:sp xmlns:a="http://schemas.openxmlformats.org/drawingml/2006/main">
        <p:nvSpPr>
          <p:cNvPr id="31" name="TextBox 30"/>
          <p:cNvSpPr txBox="1"/>
          <p:nvPr/>
        </p:nvSpPr>
        <p:spPr>
          <a:xfrm>
            <a:off x="960120" y="4151376"/>
            <a:ext cx="7223760" cy="749808"/>
          </a:xfrm>
          <a:prstGeom prst="rect">
            <a:avLst/>
          </a:prstGeom>
          <a:noFill/>
        </p:spPr>
        <p:txBody>
          <a:bodyPr wrap="square">
            <a:spAutoFit/>
          </a:bodyPr>
          <a:lstStyle/>
          <a:p>
            <a:r>
              <a:rPr sz="1450" b="1">
                <a:solidFill>
                  <a:srgbClr val="1F2937"/>
                </a:solidFill>
                <a:latin typeface="Arial"/>
              </a:rPr>
              <a:t>3 · How many repeats?  </a:t>
            </a:r>
            <a:r>
              <a:rPr sz="1450" b="0">
                <a:solidFill>
                  <a:srgbClr val="374151"/>
                </a:solidFill>
                <a:latin typeface="Arial"/>
              </a:rPr>
              <a:t>How many sites and seeds before a chemistry is worth promoting?</a:t>
            </a:r>
          </a:p>
        </p:txBody>
      </p:sp>
      <p:sp xmlns:a="http://schemas.openxmlformats.org/drawingml/2006/main">
        <p:nvSpPr>
          <p:cNvPr id="32" name="TextBox 31"/>
          <p:cNvSpPr txBox="1"/>
          <p:nvPr/>
        </p:nvSpPr>
        <p:spPr>
          <a:xfrm>
            <a:off x="960120" y="4901183"/>
            <a:ext cx="7223760" cy="749808"/>
          </a:xfrm>
          <a:prstGeom prst="rect">
            <a:avLst/>
          </a:prstGeom>
          <a:noFill/>
        </p:spPr>
        <p:txBody>
          <a:bodyPr wrap="square">
            <a:spAutoFit/>
          </a:bodyPr>
          <a:lstStyle/>
          <a:p>
            <a:r>
              <a:rPr sz="1450" b="1">
                <a:solidFill>
                  <a:srgbClr val="1F2937"/>
                </a:solidFill>
                <a:latin typeface="Arial"/>
              </a:rPr>
              <a:t>4 · Is a bulk-only screen worth handing to experiment?  </a:t>
            </a:r>
            <a:r>
              <a:rPr sz="1450" b="0">
                <a:solidFill>
                  <a:srgbClr val="374151"/>
                </a:solidFill>
                <a:latin typeface="Arial"/>
              </a:rPr>
              <a:t>Or must the </a:t>
            </a:r>
            <a:r>
              <a:rPr sz="1450" b="1">
                <a:solidFill>
                  <a:srgbClr val="BE123C"/>
                </a:solidFill>
                <a:latin typeface="Arial"/>
              </a:rPr>
              <a:t>interface</a:t>
            </a:r>
            <a:r>
              <a:rPr sz="1450" b="0">
                <a:solidFill>
                  <a:srgbClr val="374151"/>
                </a:solidFill>
                <a:latin typeface="Arial"/>
              </a:rPr>
              <a:t> be computed first?</a:t>
            </a:r>
          </a:p>
        </p:txBody>
      </p:sp>
      <p:sp xmlns:a="http://schemas.openxmlformats.org/drawingml/2006/main">
        <p:nvSpPr>
          <p:cNvPr id="33" name="TextBox 32"/>
          <p:cNvSpPr txBox="1"/>
          <p:nvPr/>
        </p:nvSpPr>
        <p:spPr>
          <a:xfrm>
            <a:off x="960120" y="5532120"/>
            <a:ext cx="7223760" cy="1371600"/>
          </a:xfrm>
          <a:prstGeom prst="rect">
            <a:avLst/>
          </a:prstGeom>
          <a:noFill/>
        </p:spPr>
        <p:txBody>
          <a:bodyPr wrap="square">
            <a:spAutoFit/>
          </a:bodyPr>
          <a:lstStyle/>
          <a:p>
            <a:pPr>
              <a:spcAft>
                <a:spcPts val="600"/>
              </a:spcAft>
            </a:pPr>
            <a:r>
              <a:rPr sz="1750">
                <a:solidFill>
                  <a:srgbClr val="1F2937"/>
                </a:solidFill>
                <a:latin typeface="Arial"/>
              </a:rPr>
              <a:t>Screen broadly  →  control the comparison  →  validate selectively</a:t>
            </a:r>
          </a:p>
        </p:txBody>
      </p:sp>
    </p:spTree>
    <p:extLst>
      <p:ext uri="{BB962C8B-B14F-4D97-AF65-F5344CB8AC3E}">
        <p14:creationId xmlns:p14="http://schemas.microsoft.com/office/powerpoint/2010/main" val="19244058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 name="bg-21">
            <a:extLst xmlns:a="http://schemas.openxmlformats.org/drawingml/2006/main">
              <a:ext uri="{FF2B5EF4-FFF2-40B4-BE49-F238E27FC236}">
                <a16:creationId xmlns:a16="http://schemas.microsoft.com/office/drawing/2014/main" id="{5064A353-4541-4114-A499-14970DA785C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1">
            <a:extLst xmlns:a="http://schemas.openxmlformats.org/drawingml/2006/main">
              <a:ext uri="{FF2B5EF4-FFF2-40B4-BE49-F238E27FC236}">
                <a16:creationId xmlns:a16="http://schemas.microsoft.com/office/drawing/2014/main" id="{B9B576D3-3892-47CC-A5AC-6D3151B8308C}"/>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 the twin</a:t>
            </a:r>
          </a:p>
        </p:txBody>
      </p:sp>
      <p:sp>
        <p:nvSpPr>
          <p:cNvPr id="3" name="terms-21">
            <a:extLst xmlns:a="http://schemas.openxmlformats.org/drawingml/2006/main">
              <a:ext uri="{FF2B5EF4-FFF2-40B4-BE49-F238E27FC236}">
                <a16:creationId xmlns:a16="http://schemas.microsoft.com/office/drawing/2014/main" id="{B50087BE-7F60-4DB5-AA4D-D07DB8C22872}"/>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Garnet: the Li₇La₃Zr₂O₁₂ oxide electrolyte family  ·  Survey: every dopant tried, not only the ones that worked</a:t>
            </a:r>
          </a:p>
        </p:txBody>
      </p:sp>
      <p:sp>
        <p:nvSpPr>
          <p:cNvPr id="4" name="divider-21">
            <a:extLst xmlns:a="http://schemas.openxmlformats.org/drawingml/2006/main">
              <a:ext uri="{FF2B5EF4-FFF2-40B4-BE49-F238E27FC236}">
                <a16:creationId xmlns:a16="http://schemas.microsoft.com/office/drawing/2014/main" id="{1A714DEC-FED9-43BA-A308-B99CE7F5C4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1">
            <a:extLst xmlns:a="http://schemas.openxmlformats.org/drawingml/2006/main">
              <a:ext uri="{FF2B5EF4-FFF2-40B4-BE49-F238E27FC236}">
                <a16:creationId xmlns:a16="http://schemas.microsoft.com/office/drawing/2014/main" id="{F8E740CD-D1DA-415B-8B85-5352AE7E66E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1">
            <a:extLst xmlns:a="http://schemas.openxmlformats.org/drawingml/2006/main">
              <a:ext uri="{FF2B5EF4-FFF2-40B4-BE49-F238E27FC236}">
                <a16:creationId xmlns:a16="http://schemas.microsoft.com/office/drawing/2014/main" id="{8A5243D0-D85E-4010-A393-A6C8AC76847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same survey, done in a laboratory instead of a computer</a:t>
            </a:r>
          </a:p>
        </p:txBody>
      </p:sp>
      <p:sp>
        <p:nvSpPr>
          <p:cNvPr id="7" name="bullet-dot-21-0">
            <a:extLst xmlns:a="http://schemas.openxmlformats.org/drawingml/2006/main">
              <a:ext uri="{FF2B5EF4-FFF2-40B4-BE49-F238E27FC236}">
                <a16:creationId xmlns:a16="http://schemas.microsoft.com/office/drawing/2014/main" id="{ED512B5D-D247-4D8B-BBC7-A4D68C6447E6}"/>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1-0">
            <a:extLst xmlns:a="http://schemas.openxmlformats.org/drawingml/2006/main">
              <a:ext uri="{FF2B5EF4-FFF2-40B4-BE49-F238E27FC236}">
                <a16:creationId xmlns:a16="http://schemas.microsoft.com/office/drawing/2014/main" id="{E65058ED-D274-4C49-BA3D-8E73B646C3B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59 dopants synthesised and measured in a garnet — </a:t>
            </a:r>
            <a:r>
              <a:rPr sz="1275" b="1">
                <a:solidFill>
                  <a:srgbClr val="2563EB"/>
                </a:solidFill>
                <a:latin typeface="Arial"/>
                <a:ea typeface="Arial"/>
                <a:cs typeface="Arial"/>
              </a:rPr>
              <a:t>our closest experimental twin</a:t>
            </a:r>
            <a:r>
              <a:rPr sz="1275" b="0">
                <a:solidFill>
                  <a:srgbClr val="374151"/>
                </a:solidFill>
                <a:latin typeface="Arial"/>
                <a:ea typeface="Arial"/>
                <a:cs typeface="Arial"/>
              </a:rPr>
              <a:t>.</a:t>
            </a:r>
          </a:p>
        </p:txBody>
      </p:sp>
      <p:sp>
        <p:nvSpPr>
          <p:cNvPr id="9" name="bullet-dot-21-1">
            <a:extLst xmlns:a="http://schemas.openxmlformats.org/drawingml/2006/main">
              <a:ext uri="{FF2B5EF4-FFF2-40B4-BE49-F238E27FC236}">
                <a16:creationId xmlns:a16="http://schemas.microsoft.com/office/drawing/2014/main" id="{936B74AC-FFDE-46B9-B210-8178F4CD06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1">
            <a:extLst xmlns:a="http://schemas.openxmlformats.org/drawingml/2006/main">
              <a:ext uri="{FF2B5EF4-FFF2-40B4-BE49-F238E27FC236}">
                <a16:creationId xmlns:a16="http://schemas.microsoft.com/office/drawing/2014/main" id="{34DE1D15-67D8-4C16-A1F8-22ACD77EE83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32 of our 36 cation elements appear in their table too.</a:t>
            </a:r>
          </a:p>
        </p:txBody>
      </p:sp>
      <p:sp>
        <p:nvSpPr>
          <p:cNvPr id="11" name="citation-21">
            <a:extLst xmlns:a="http://schemas.openxmlformats.org/drawingml/2006/main">
              <a:ext uri="{FF2B5EF4-FFF2-40B4-BE49-F238E27FC236}">
                <a16:creationId xmlns:a16="http://schemas.microsoft.com/office/drawing/2014/main" id="{CC214A43-4B77-4B41-B1A6-F27B108C9A53}"/>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Anderson et al., 2024</a:t>
            </a:r>
          </a:p>
        </p:txBody>
      </p:sp>
      <p:sp>
        <p:nvSpPr>
          <p:cNvPr id="12" name="footer-brand-21">
            <a:extLst xmlns:a="http://schemas.openxmlformats.org/drawingml/2006/main">
              <a:ext uri="{FF2B5EF4-FFF2-40B4-BE49-F238E27FC236}">
                <a16:creationId xmlns:a16="http://schemas.microsoft.com/office/drawing/2014/main" id="{24C21DDA-2E21-4919-B551-A65A8720C4C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1">
            <a:extLst xmlns:a="http://schemas.openxmlformats.org/drawingml/2006/main">
              <a:ext uri="{FF2B5EF4-FFF2-40B4-BE49-F238E27FC236}">
                <a16:creationId xmlns:a16="http://schemas.microsoft.com/office/drawing/2014/main" id="{AB9CB0ED-6036-4C3A-895E-A1E2C99B45E5}"/>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1">
            <a:extLst xmlns:a="http://schemas.openxmlformats.org/drawingml/2006/main">
              <a:ext uri="{FF2B5EF4-FFF2-40B4-BE49-F238E27FC236}">
                <a16:creationId xmlns:a16="http://schemas.microsoft.com/office/drawing/2014/main" id="{BBDDCA6C-1499-4A49-ACEC-03CBBC713F8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24</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c779884c4004931"/>
          <a:stretch xmlns:a="http://schemas.openxmlformats.org/drawingml/2006/main"/>
        </p:blipFill>
        <p:spPr>
          <a:xfrm xmlns:a="http://schemas.openxmlformats.org/drawingml/2006/main">
            <a:off x="666750" y="2908408"/>
            <a:ext cx="4762500" cy="2088934"/>
          </a:xfrm>
          <a:prstGeom xmlns:a="http://schemas.openxmlformats.org/drawingml/2006/main" prst="rect">
            <a:avLst/>
          </a:prstGeom>
        </p:spPr>
      </p:pic>
      <p:sp xmlns:a="http://schemas.openxmlformats.org/drawingml/2006/main">
        <p:nvSpPr>
          <p:cNvPr id="36" name="TextBox 3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Anderson, Zolfaghar, Jonderian, Khaliullin &amp; McCalla, Adv. Energy Mater. 14 (2024) 2304025, Fig. 1. Yellow marks dopants tried there for the first time.</a:t>
            </a:r>
          </a:p>
        </p:txBody>
      </p:sp>
    </p:spTree>
    <p:extLst>
      <p:ext uri="{BB962C8B-B14F-4D97-AF65-F5344CB8AC3E}">
        <p14:creationId xmlns:p14="http://schemas.microsoft.com/office/powerpoint/2010/main" val="19244058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2" name="bg-23">
            <a:extLst xmlns:a="http://schemas.openxmlformats.org/drawingml/2006/main">
              <a:ext uri="{FF2B5EF4-FFF2-40B4-BE49-F238E27FC236}">
                <a16:creationId xmlns:a16="http://schemas.microsoft.com/office/drawing/2014/main" id="{F8AEA1F3-62BC-464C-B519-647506F4AB4C}"/>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3">
            <a:extLst xmlns:a="http://schemas.openxmlformats.org/drawingml/2006/main">
              <a:ext uri="{FF2B5EF4-FFF2-40B4-BE49-F238E27FC236}">
                <a16:creationId xmlns:a16="http://schemas.microsoft.com/office/drawing/2014/main" id="{102EBA2A-2956-4934-AE57-6BFE835FC234}"/>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 steps</a:t>
            </a:r>
          </a:p>
        </p:txBody>
      </p:sp>
      <p:sp>
        <p:nvSpPr>
          <p:cNvPr id="3" name="terms-23">
            <a:extLst xmlns:a="http://schemas.openxmlformats.org/drawingml/2006/main">
              <a:ext uri="{FF2B5EF4-FFF2-40B4-BE49-F238E27FC236}">
                <a16:creationId xmlns:a16="http://schemas.microsoft.com/office/drawing/2014/main" id="{E4A4C947-E205-45D4-A447-BAE685AA633C}"/>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Talk step: the question as told here  ·  Workflow stage: the folder that actually ran</a:t>
            </a:r>
          </a:p>
        </p:txBody>
      </p:sp>
      <p:sp>
        <p:nvSpPr>
          <p:cNvPr id="4" name="divider-23">
            <a:extLst xmlns:a="http://schemas.openxmlformats.org/drawingml/2006/main">
              <a:ext uri="{FF2B5EF4-FFF2-40B4-BE49-F238E27FC236}">
                <a16:creationId xmlns:a16="http://schemas.microsoft.com/office/drawing/2014/main" id="{7C7E602F-7291-4347-BD3E-4CEDB391AA6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3">
            <a:extLst xmlns:a="http://schemas.openxmlformats.org/drawingml/2006/main">
              <a:ext uri="{FF2B5EF4-FFF2-40B4-BE49-F238E27FC236}">
                <a16:creationId xmlns:a16="http://schemas.microsoft.com/office/drawing/2014/main" id="{7A1BBE2C-AEEA-4332-8FFC-4B6F167BCC1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3">
            <a:extLst xmlns:a="http://schemas.openxmlformats.org/drawingml/2006/main">
              <a:ext uri="{FF2B5EF4-FFF2-40B4-BE49-F238E27FC236}">
                <a16:creationId xmlns:a16="http://schemas.microsoft.com/office/drawing/2014/main" id="{93C5E338-C559-4FF3-AD8F-45ADFCD3B50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How the nine talk steps map onto what actually ran</a:t>
            </a:r>
          </a:p>
        </p:txBody>
      </p:sp>
      <p:sp>
        <p:nvSpPr>
          <p:cNvPr id="7" name="bullet-dot-23-0">
            <a:extLst xmlns:a="http://schemas.openxmlformats.org/drawingml/2006/main">
              <a:ext uri="{FF2B5EF4-FFF2-40B4-BE49-F238E27FC236}">
                <a16:creationId xmlns:a16="http://schemas.microsoft.com/office/drawing/2014/main" id="{8E919BF2-0594-421D-BA05-013ED4FA8F15}"/>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3-0">
            <a:extLst xmlns:a="http://schemas.openxmlformats.org/drawingml/2006/main">
              <a:ext uri="{FF2B5EF4-FFF2-40B4-BE49-F238E27FC236}">
                <a16:creationId xmlns:a16="http://schemas.microsoft.com/office/drawing/2014/main" id="{BB070E40-B2AA-4829-9103-1E60D30E74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talk names each step by </a:t>
            </a:r>
            <a:r>
              <a:rPr sz="1275" b="1">
                <a:solidFill>
                  <a:srgbClr val="2563EB"/>
                </a:solidFill>
                <a:latin typeface="Arial"/>
                <a:ea typeface="Arial"/>
                <a:cs typeface="Arial"/>
              </a:rPr>
              <a:t>the question it answers</a:t>
            </a:r>
            <a:r>
              <a:rPr sz="1275" b="0">
                <a:solidFill>
                  <a:srgbClr val="374151"/>
                </a:solidFill>
                <a:latin typeface="Arial"/>
                <a:ea typeface="Arial"/>
                <a:cs typeface="Arial"/>
              </a:rPr>
              <a:t>; the folders are named by what ran.</a:t>
            </a:r>
          </a:p>
        </p:txBody>
      </p:sp>
      <p:sp>
        <p:nvSpPr>
          <p:cNvPr id="9" name="bullet-dot-23-1">
            <a:extLst xmlns:a="http://schemas.openxmlformats.org/drawingml/2006/main">
              <a:ext uri="{FF2B5EF4-FFF2-40B4-BE49-F238E27FC236}">
                <a16:creationId xmlns:a16="http://schemas.microsoft.com/office/drawing/2014/main" id="{7BCD3ECC-6942-485B-90F7-8BFF68DF273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3-1">
            <a:extLst xmlns:a="http://schemas.openxmlformats.org/drawingml/2006/main">
              <a:ext uri="{FF2B5EF4-FFF2-40B4-BE49-F238E27FC236}">
                <a16:creationId xmlns:a16="http://schemas.microsoft.com/office/drawing/2014/main" id="{0EF98CCA-AE71-4F79-A812-61CD9B9BDB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Two designed stages never produced evidence — they are marked </a:t>
            </a:r>
            <a:r>
              <a:rPr sz="1275" b="1">
                <a:solidFill>
                  <a:srgbClr val="BE123C"/>
                </a:solidFill>
                <a:latin typeface="Arial"/>
                <a:ea typeface="Arial"/>
                <a:cs typeface="Arial"/>
              </a:rPr>
              <a:t>not run</a:t>
            </a:r>
            <a:r>
              <a:rPr sz="1275" b="0">
                <a:solidFill>
                  <a:srgbClr val="374151"/>
                </a:solidFill>
                <a:latin typeface="Arial"/>
                <a:ea typeface="Arial"/>
                <a:cs typeface="Arial"/>
              </a:rPr>
              <a:t>.</a:t>
            </a:r>
          </a:p>
        </p:txBody>
      </p:sp>
      <p:sp>
        <p:nvSpPr>
          <p:cNvPr id="11" name="citation-23">
            <a:extLst xmlns:a="http://schemas.openxmlformats.org/drawingml/2006/main">
              <a:ext uri="{FF2B5EF4-FFF2-40B4-BE49-F238E27FC236}">
                <a16:creationId xmlns:a16="http://schemas.microsoft.com/office/drawing/2014/main" id="{E91BCB6B-49B1-4826-A897-F95A7BBB5EE7}"/>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Implementation map</a:t>
            </a:r>
          </a:p>
        </p:txBody>
      </p:sp>
      <p:sp>
        <p:nvSpPr>
          <p:cNvPr id="12" name="footer-brand-23">
            <a:extLst xmlns:a="http://schemas.openxmlformats.org/drawingml/2006/main">
              <a:ext uri="{FF2B5EF4-FFF2-40B4-BE49-F238E27FC236}">
                <a16:creationId xmlns:a16="http://schemas.microsoft.com/office/drawing/2014/main" id="{3DBAA3D8-C834-472C-9579-1A2A9DBC16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3">
            <a:extLst xmlns:a="http://schemas.openxmlformats.org/drawingml/2006/main">
              <a:ext uri="{FF2B5EF4-FFF2-40B4-BE49-F238E27FC236}">
                <a16:creationId xmlns:a16="http://schemas.microsoft.com/office/drawing/2014/main" id="{5DA90FE6-587E-477F-AA31-BFE24F8A5ED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3">
            <a:extLst xmlns:a="http://schemas.openxmlformats.org/drawingml/2006/main">
              <a:ext uri="{FF2B5EF4-FFF2-40B4-BE49-F238E27FC236}">
                <a16:creationId xmlns:a16="http://schemas.microsoft.com/office/drawing/2014/main" id="{8CB0823F-6207-4BF8-9803-A2392C3D6013}"/>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25</a:t>
            </a:r>
          </a:p>
        </p:txBody>
      </p:sp>
      <p:sp xmlns:a="http://schemas.openxmlformats.org/drawingml/2006/main">
        <p:nvSpPr>
          <p:cNvPr id="43" name="TextBox 42"/>
          <p:cNvSpPr txBox="1"/>
          <p:nvPr/>
        </p:nvSpPr>
        <p:spPr>
          <a:xfrm>
            <a:off x="960120" y="2542032"/>
            <a:ext cx="7223760" cy="352044"/>
          </a:xfrm>
          <a:prstGeom prst="rect">
            <a:avLst/>
          </a:prstGeom>
          <a:noFill/>
        </p:spPr>
        <p:txBody>
          <a:bodyPr wrap="square">
            <a:spAutoFit/>
          </a:bodyPr>
          <a:lstStyle/>
          <a:p>
            <a:r>
              <a:rPr sz="1300" b="1">
                <a:solidFill>
                  <a:srgbClr val="1F2937"/>
                </a:solidFill>
                <a:latin typeface="Arial"/>
              </a:rPr>
              <a:t>1 · Where it sits  </a:t>
            </a:r>
            <a:r>
              <a:rPr sz="1300" b="0">
                <a:solidFill>
                  <a:srgbClr val="374151"/>
                </a:solidFill>
                <a:latin typeface="Arial"/>
              </a:rPr>
              <a:t>enumerate the sublattices and the charge recipes</a:t>
            </a:r>
          </a:p>
        </p:txBody>
      </p:sp>
      <p:sp xmlns:a="http://schemas.openxmlformats.org/drawingml/2006/main">
        <p:nvSpPr>
          <p:cNvPr id="44" name="TextBox 43"/>
          <p:cNvSpPr txBox="1"/>
          <p:nvPr/>
        </p:nvSpPr>
        <p:spPr>
          <a:xfrm>
            <a:off x="960120" y="2894076"/>
            <a:ext cx="7223760" cy="352044"/>
          </a:xfrm>
          <a:prstGeom prst="rect">
            <a:avLst/>
          </a:prstGeom>
          <a:noFill/>
        </p:spPr>
        <p:txBody>
          <a:bodyPr wrap="square">
            <a:spAutoFit/>
          </a:bodyPr>
          <a:lstStyle/>
          <a:p>
            <a:r>
              <a:rPr sz="1300" b="1">
                <a:solidFill>
                  <a:srgbClr val="1F2937"/>
                </a:solidFill>
                <a:latin typeface="Arial"/>
              </a:rPr>
              <a:t>2 · Building it  </a:t>
            </a:r>
            <a:r>
              <a:rPr sz="1300" b="0">
                <a:solidFill>
                  <a:srgbClr val="374151"/>
                </a:solidFill>
                <a:latin typeface="Arial"/>
              </a:rPr>
              <a:t>generate one structure per allowed placement</a:t>
            </a:r>
          </a:p>
        </p:txBody>
      </p:sp>
      <p:sp xmlns:a="http://schemas.openxmlformats.org/drawingml/2006/main">
        <p:nvSpPr>
          <p:cNvPr id="45" name="TextBox 44"/>
          <p:cNvSpPr txBox="1"/>
          <p:nvPr/>
        </p:nvSpPr>
        <p:spPr>
          <a:xfrm>
            <a:off x="960120" y="3246120"/>
            <a:ext cx="7223760" cy="352044"/>
          </a:xfrm>
          <a:prstGeom prst="rect">
            <a:avLst/>
          </a:prstGeom>
          <a:noFill/>
        </p:spPr>
        <p:txBody>
          <a:bodyPr wrap="square">
            <a:spAutoFit/>
          </a:bodyPr>
          <a:lstStyle/>
          <a:p>
            <a:r>
              <a:rPr sz="1300" b="1">
                <a:solidFill>
                  <a:srgbClr val="1F2937"/>
                </a:solidFill>
                <a:latin typeface="Arial"/>
              </a:rPr>
              <a:t>3 · Cheap relaxation  </a:t>
            </a:r>
            <a:r>
              <a:rPr sz="1300" b="0">
                <a:solidFill>
                  <a:srgbClr val="374151"/>
                </a:solidFill>
                <a:latin typeface="Arial"/>
              </a:rPr>
              <a:t>relax every candidate with the fast potential</a:t>
            </a:r>
          </a:p>
        </p:txBody>
      </p:sp>
      <p:sp xmlns:a="http://schemas.openxmlformats.org/drawingml/2006/main">
        <p:nvSpPr>
          <p:cNvPr id="46" name="TextBox 45"/>
          <p:cNvSpPr txBox="1"/>
          <p:nvPr/>
        </p:nvSpPr>
        <p:spPr>
          <a:xfrm>
            <a:off x="960120" y="3598163"/>
            <a:ext cx="7223760" cy="352044"/>
          </a:xfrm>
          <a:prstGeom prst="rect">
            <a:avLst/>
          </a:prstGeom>
          <a:noFill/>
        </p:spPr>
        <p:txBody>
          <a:bodyPr wrap="square">
            <a:spAutoFit/>
          </a:bodyPr>
          <a:lstStyle/>
          <a:p>
            <a:r>
              <a:rPr sz="1300" b="1">
                <a:solidFill>
                  <a:srgbClr val="1F2937"/>
                </a:solidFill>
                <a:latin typeface="Arial"/>
              </a:rPr>
              <a:t>4 · Picking one  </a:t>
            </a:r>
            <a:r>
              <a:rPr sz="1300" b="0">
                <a:solidFill>
                  <a:srgbClr val="374151"/>
                </a:solidFill>
                <a:latin typeface="Arial"/>
              </a:rPr>
              <a:t>keep a converged, low-energy representative</a:t>
            </a:r>
          </a:p>
        </p:txBody>
      </p:sp>
      <p:sp xmlns:a="http://schemas.openxmlformats.org/drawingml/2006/main">
        <p:nvSpPr>
          <p:cNvPr id="47" name="TextBox 46"/>
          <p:cNvSpPr txBox="1"/>
          <p:nvPr/>
        </p:nvSpPr>
        <p:spPr>
          <a:xfrm>
            <a:off x="960120" y="3950208"/>
            <a:ext cx="7223760" cy="352044"/>
          </a:xfrm>
          <a:prstGeom prst="rect">
            <a:avLst/>
          </a:prstGeom>
          <a:noFill/>
        </p:spPr>
        <p:txBody>
          <a:bodyPr wrap="square">
            <a:spAutoFit/>
          </a:bodyPr>
          <a:lstStyle/>
          <a:p>
            <a:r>
              <a:rPr sz="1300" b="1">
                <a:solidFill>
                  <a:srgbClr val="1F2937"/>
                </a:solidFill>
                <a:latin typeface="Arial"/>
              </a:rPr>
              <a:t>5 · Shaking it  </a:t>
            </a:r>
            <a:r>
              <a:rPr sz="1300" b="0">
                <a:solidFill>
                  <a:srgbClr val="374151"/>
                </a:solidFill>
                <a:latin typeface="Arial"/>
              </a:rPr>
              <a:t>brief anneal at 500 K, then relax again</a:t>
            </a:r>
          </a:p>
        </p:txBody>
      </p:sp>
      <p:sp xmlns:a="http://schemas.openxmlformats.org/drawingml/2006/main">
        <p:nvSpPr>
          <p:cNvPr id="48" name="TextBox 47"/>
          <p:cNvSpPr txBox="1"/>
          <p:nvPr/>
        </p:nvSpPr>
        <p:spPr>
          <a:xfrm>
            <a:off x="960120" y="4302252"/>
            <a:ext cx="7223760" cy="352044"/>
          </a:xfrm>
          <a:prstGeom prst="rect">
            <a:avLst/>
          </a:prstGeom>
          <a:noFill/>
        </p:spPr>
        <p:txBody>
          <a:bodyPr wrap="square">
            <a:spAutoFit/>
          </a:bodyPr>
          <a:lstStyle/>
          <a:p>
            <a:r>
              <a:rPr sz="1300" b="1">
                <a:solidFill>
                  <a:srgbClr val="1F2937"/>
                </a:solidFill>
                <a:latin typeface="Arial"/>
              </a:rPr>
              <a:t>6 · The Li path  </a:t>
            </a:r>
            <a:r>
              <a:rPr sz="1300" b="0">
                <a:solidFill>
                  <a:srgbClr val="374151"/>
                </a:solidFill>
                <a:latin typeface="Arial"/>
              </a:rPr>
              <a:t>bond-valence landscape and the blocking count</a:t>
            </a:r>
          </a:p>
        </p:txBody>
      </p:sp>
      <p:sp xmlns:a="http://schemas.openxmlformats.org/drawingml/2006/main">
        <p:nvSpPr>
          <p:cNvPr id="49" name="TextBox 48"/>
          <p:cNvSpPr txBox="1"/>
          <p:nvPr/>
        </p:nvSpPr>
        <p:spPr>
          <a:xfrm>
            <a:off x="960120" y="4654296"/>
            <a:ext cx="7223760" cy="352044"/>
          </a:xfrm>
          <a:prstGeom prst="rect">
            <a:avLst/>
          </a:prstGeom>
          <a:noFill/>
        </p:spPr>
        <p:txBody>
          <a:bodyPr wrap="square">
            <a:spAutoFit/>
          </a:bodyPr>
          <a:lstStyle/>
          <a:p>
            <a:r>
              <a:rPr sz="1300" b="1">
                <a:solidFill>
                  <a:srgbClr val="1F2937"/>
                </a:solidFill>
                <a:latin typeface="Arial"/>
              </a:rPr>
              <a:t>7 · Squeezing it  </a:t>
            </a:r>
            <a:r>
              <a:rPr sz="1300" b="0">
                <a:solidFill>
                  <a:srgbClr val="374151"/>
                </a:solidFill>
                <a:latin typeface="Arial"/>
              </a:rPr>
              <a:t>equation of state and elastic response</a:t>
            </a:r>
          </a:p>
        </p:txBody>
      </p:sp>
      <p:sp xmlns:a="http://schemas.openxmlformats.org/drawingml/2006/main">
        <p:nvSpPr>
          <p:cNvPr id="50" name="TextBox 49"/>
          <p:cNvSpPr txBox="1"/>
          <p:nvPr/>
        </p:nvSpPr>
        <p:spPr>
          <a:xfrm>
            <a:off x="960120" y="5006340"/>
            <a:ext cx="7223760" cy="352044"/>
          </a:xfrm>
          <a:prstGeom prst="rect">
            <a:avLst/>
          </a:prstGeom>
          <a:noFill/>
        </p:spPr>
        <p:txBody>
          <a:bodyPr wrap="square">
            <a:spAutoFit/>
          </a:bodyPr>
          <a:lstStyle/>
          <a:p>
            <a:r>
              <a:rPr sz="1300" b="1">
                <a:solidFill>
                  <a:srgbClr val="1F2937"/>
                </a:solidFill>
                <a:latin typeface="Arial"/>
              </a:rPr>
              <a:t>8 · The window  </a:t>
            </a:r>
            <a:r>
              <a:rPr sz="1300" b="0">
                <a:solidFill>
                  <a:srgbClr val="374151"/>
                </a:solidFill>
                <a:latin typeface="Arial"/>
              </a:rPr>
              <a:t>grand-potential oxidation onset and products</a:t>
            </a:r>
          </a:p>
        </p:txBody>
      </p:sp>
      <p:sp xmlns:a="http://schemas.openxmlformats.org/drawingml/2006/main">
        <p:nvSpPr>
          <p:cNvPr id="51" name="TextBox 50"/>
          <p:cNvSpPr txBox="1"/>
          <p:nvPr/>
        </p:nvSpPr>
        <p:spPr>
          <a:xfrm>
            <a:off x="960120" y="5358383"/>
            <a:ext cx="7223760" cy="352044"/>
          </a:xfrm>
          <a:prstGeom prst="rect">
            <a:avLst/>
          </a:prstGeom>
          <a:noFill/>
        </p:spPr>
        <p:txBody>
          <a:bodyPr wrap="square">
            <a:spAutoFit/>
          </a:bodyPr>
          <a:lstStyle/>
          <a:p>
            <a:r>
              <a:rPr sz="1300" b="1">
                <a:solidFill>
                  <a:srgbClr val="1F2937"/>
                </a:solidFill>
                <a:latin typeface="Arial"/>
              </a:rPr>
              <a:t>9 · What we skipped  </a:t>
            </a:r>
            <a:r>
              <a:rPr sz="1300" b="1">
                <a:solidFill>
                  <a:srgbClr val="BE123C"/>
                </a:solidFill>
                <a:latin typeface="Arial"/>
              </a:rPr>
              <a:t>conductivity dynamics · explicit interface — never run</a:t>
            </a:r>
          </a:p>
        </p:txBody>
      </p:sp>
    </p:spTree>
    <p:extLst>
      <p:ext uri="{BB962C8B-B14F-4D97-AF65-F5344CB8AC3E}">
        <p14:creationId xmlns:p14="http://schemas.microsoft.com/office/powerpoint/2010/main" val="192440589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8" name="bg-24">
            <a:extLst xmlns:a="http://schemas.openxmlformats.org/drawingml/2006/main">
              <a:ext uri="{FF2B5EF4-FFF2-40B4-BE49-F238E27FC236}">
                <a16:creationId xmlns:a16="http://schemas.microsoft.com/office/drawing/2014/main" id="{9B6A9AEF-8FAC-48BD-BFAA-442567A6518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4">
            <a:extLst xmlns:a="http://schemas.openxmlformats.org/drawingml/2006/main">
              <a:ext uri="{FF2B5EF4-FFF2-40B4-BE49-F238E27FC236}">
                <a16:creationId xmlns:a16="http://schemas.microsoft.com/office/drawing/2014/main" id="{02D52619-0D96-4E7A-969F-A3A55752B895}"/>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 labels</a:t>
            </a:r>
          </a:p>
        </p:txBody>
      </p:sp>
      <p:sp>
        <p:nvSpPr>
          <p:cNvPr id="3" name="terms-24">
            <a:extLst xmlns:a="http://schemas.openxmlformats.org/drawingml/2006/main">
              <a:ext uri="{FF2B5EF4-FFF2-40B4-BE49-F238E27FC236}">
                <a16:creationId xmlns:a16="http://schemas.microsoft.com/office/drawing/2014/main" id="{966C8049-33FA-4C1E-800D-04C73AEA3D57}"/>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Replicate: the same thing measured again under the same conditions  ·  Quantised: rounded to the nearest whole atom</a:t>
            </a:r>
          </a:p>
        </p:txBody>
      </p:sp>
      <p:sp>
        <p:nvSpPr>
          <p:cNvPr id="4" name="divider-24">
            <a:extLst xmlns:a="http://schemas.openxmlformats.org/drawingml/2006/main">
              <a:ext uri="{FF2B5EF4-FFF2-40B4-BE49-F238E27FC236}">
                <a16:creationId xmlns:a16="http://schemas.microsoft.com/office/drawing/2014/main" id="{EC345498-7ADC-4254-9F2E-877CA2E5CF2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4">
            <a:extLst xmlns:a="http://schemas.openxmlformats.org/drawingml/2006/main">
              <a:ext uri="{FF2B5EF4-FFF2-40B4-BE49-F238E27FC236}">
                <a16:creationId xmlns:a16="http://schemas.microsoft.com/office/drawing/2014/main" id="{B41357B3-2BA4-428F-8D65-F0EED812ACB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4">
            <a:extLst xmlns:a="http://schemas.openxmlformats.org/drawingml/2006/main">
              <a:ext uri="{FF2B5EF4-FFF2-40B4-BE49-F238E27FC236}">
                <a16:creationId xmlns:a16="http://schemas.microsoft.com/office/drawing/2014/main" id="{8D1F8E85-14F9-4C4D-9CAC-35FBEC64AD7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Why our three runs are neither concentrations nor clean repeats</a:t>
            </a:r>
          </a:p>
        </p:txBody>
      </p:sp>
      <p:sp>
        <p:nvSpPr>
          <p:cNvPr id="7" name="bullet-dot-24-0">
            <a:extLst xmlns:a="http://schemas.openxmlformats.org/drawingml/2006/main">
              <a:ext uri="{FF2B5EF4-FFF2-40B4-BE49-F238E27FC236}">
                <a16:creationId xmlns:a16="http://schemas.microsoft.com/office/drawing/2014/main" id="{7E9EBA98-8256-4FD1-AB21-461AB0911BA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AD56FC6B-BB69-459D-A7CD-4F8E361BEC1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All three collapsed to the </a:t>
            </a:r>
            <a:r>
              <a:rPr sz="1275" b="1">
                <a:solidFill>
                  <a:srgbClr val="BE123C"/>
                </a:solidFill>
                <a:latin typeface="Arial"/>
                <a:ea typeface="Arial"/>
                <a:cs typeface="Arial"/>
              </a:rPr>
              <a:t>same substitution</a:t>
            </a:r>
            <a:r>
              <a:rPr sz="1275" b="0">
                <a:solidFill>
                  <a:srgbClr val="374151"/>
                </a:solidFill>
                <a:latin typeface="Arial"/>
                <a:ea typeface="Arial"/>
                <a:cs typeface="Arial"/>
              </a:rPr>
              <a:t> in a small cell — no concentration axis.</a:t>
            </a:r>
          </a:p>
        </p:txBody>
      </p:sp>
      <p:sp>
        <p:nvSpPr>
          <p:cNvPr id="9" name="bullet-dot-24-1">
            <a:extLst xmlns:a="http://schemas.openxmlformats.org/drawingml/2006/main">
              <a:ext uri="{FF2B5EF4-FFF2-40B4-BE49-F238E27FC236}">
                <a16:creationId xmlns:a16="http://schemas.microsoft.com/office/drawing/2014/main" id="{0DC16FF1-EEB0-48B1-8B0C-01B5AAE4FE7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B7480898-814A-4ED4-BE88-D8B1FD00590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Regrouping by exact formula gives </a:t>
            </a:r>
            <a:r>
              <a:rPr sz="1275" b="1">
                <a:solidFill>
                  <a:srgbClr val="2563EB"/>
                </a:solidFill>
                <a:latin typeface="Arial"/>
                <a:ea typeface="Arial"/>
                <a:cs typeface="Arial"/>
              </a:rPr>
              <a:t>59 same-formula</a:t>
            </a:r>
            <a:r>
              <a:rPr sz="1275" b="0">
                <a:solidFill>
                  <a:srgbClr val="374151"/>
                </a:solidFill>
                <a:latin typeface="Arial"/>
                <a:ea typeface="Arial"/>
                <a:cs typeface="Arial"/>
              </a:rPr>
              <a:t> and </a:t>
            </a:r>
            <a:r>
              <a:rPr sz="1275" b="1">
                <a:solidFill>
                  <a:srgbClr val="BE123C"/>
                </a:solidFill>
                <a:latin typeface="Arial"/>
                <a:ea typeface="Arial"/>
                <a:cs typeface="Arial"/>
              </a:rPr>
              <a:t>31 changed-formula</a:t>
            </a:r>
            <a:r>
              <a:rPr sz="1275" b="0">
                <a:solidFill>
                  <a:srgbClr val="374151"/>
                </a:solidFill>
                <a:latin typeface="Arial"/>
                <a:ea typeface="Arial"/>
                <a:cs typeface="Arial"/>
              </a:rPr>
              <a:t> species.</a:t>
            </a:r>
          </a:p>
        </p:txBody>
      </p:sp>
      <p:sp>
        <p:nvSpPr>
          <p:cNvPr id="11" name="citation-24">
            <a:extLst xmlns:a="http://schemas.openxmlformats.org/drawingml/2006/main">
              <a:ext uri="{FF2B5EF4-FFF2-40B4-BE49-F238E27FC236}">
                <a16:creationId xmlns:a16="http://schemas.microsoft.com/office/drawing/2014/main" id="{1D804E7A-2493-49AA-909B-F95E583079FA}"/>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Label audit</a:t>
            </a:r>
          </a:p>
        </p:txBody>
      </p:sp>
      <p:sp>
        <p:nvSpPr>
          <p:cNvPr id="12" name="footer-brand-24">
            <a:extLst xmlns:a="http://schemas.openxmlformats.org/drawingml/2006/main">
              <a:ext uri="{FF2B5EF4-FFF2-40B4-BE49-F238E27FC236}">
                <a16:creationId xmlns:a16="http://schemas.microsoft.com/office/drawing/2014/main" id="{D7232256-28F3-4AF1-860E-41BD49751FC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6F8411AF-2029-41D4-87FC-414567B277B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ACD71AF9-88DA-4C0B-AB96-AF60D26D0994}"/>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26</a:t>
            </a:r>
          </a:p>
        </p:txBody>
      </p:sp>
      <p:sp xmlns:a="http://schemas.openxmlformats.org/drawingml/2006/main">
        <p:nvSpPr>
          <p:cNvPr id="39" name="TextBox 38"/>
          <p:cNvSpPr txBox="1"/>
          <p:nvPr/>
        </p:nvSpPr>
        <p:spPr>
          <a:xfrm>
            <a:off x="960120" y="2697480"/>
            <a:ext cx="7223760" cy="548640"/>
          </a:xfrm>
          <a:prstGeom prst="rect">
            <a:avLst/>
          </a:prstGeom>
          <a:noFill/>
        </p:spPr>
        <p:txBody>
          <a:bodyPr wrap="square">
            <a:spAutoFit/>
          </a:bodyPr>
          <a:lstStyle/>
          <a:p>
            <a:r>
              <a:rPr sz="1350" b="1">
                <a:solidFill>
                  <a:srgbClr val="1F2937"/>
                </a:solidFill>
                <a:latin typeface="Arial"/>
              </a:rPr>
              <a:t>What they are  </a:t>
            </a:r>
            <a:r>
              <a:rPr sz="1350" b="0">
                <a:solidFill>
                  <a:srgbClr val="374151"/>
                </a:solidFill>
                <a:latin typeface="Arial"/>
              </a:rPr>
              <a:t>three directory names — x002, x005, x010.</a:t>
            </a:r>
          </a:p>
        </p:txBody>
      </p:sp>
      <p:sp xmlns:a="http://schemas.openxmlformats.org/drawingml/2006/main">
        <p:nvSpPr>
          <p:cNvPr id="40" name="TextBox 39"/>
          <p:cNvSpPr txBox="1"/>
          <p:nvPr/>
        </p:nvSpPr>
        <p:spPr>
          <a:xfrm>
            <a:off x="960120" y="3246120"/>
            <a:ext cx="7223760" cy="548640"/>
          </a:xfrm>
          <a:prstGeom prst="rect">
            <a:avLst/>
          </a:prstGeom>
          <a:noFill/>
        </p:spPr>
        <p:txBody>
          <a:bodyPr wrap="square">
            <a:spAutoFit/>
          </a:bodyPr>
          <a:lstStyle/>
          <a:p>
            <a:r>
              <a:rPr sz="1350" b="1">
                <a:solidFill>
                  <a:srgbClr val="1F2937"/>
                </a:solidFill>
                <a:latin typeface="Arial"/>
              </a:rPr>
              <a:t>What they actually were  </a:t>
            </a:r>
            <a:r>
              <a:rPr sz="1350" b="1">
                <a:solidFill>
                  <a:srgbClr val="BE123C"/>
                </a:solidFill>
                <a:latin typeface="Arial"/>
              </a:rPr>
              <a:t>the same integer substitution</a:t>
            </a:r>
            <a:r>
              <a:rPr sz="1350" b="0">
                <a:solidFill>
                  <a:srgbClr val="374151"/>
                </a:solidFill>
                <a:latin typeface="Arial"/>
              </a:rPr>
              <a:t> in a four-formula-unit cell.</a:t>
            </a:r>
          </a:p>
        </p:txBody>
      </p:sp>
      <p:sp xmlns:a="http://schemas.openxmlformats.org/drawingml/2006/main">
        <p:nvSpPr>
          <p:cNvPr id="41" name="TextBox 40"/>
          <p:cNvSpPr txBox="1"/>
          <p:nvPr/>
        </p:nvSpPr>
        <p:spPr>
          <a:xfrm>
            <a:off x="960120" y="3794760"/>
            <a:ext cx="7223760" cy="548640"/>
          </a:xfrm>
          <a:prstGeom prst="rect">
            <a:avLst/>
          </a:prstGeom>
          <a:noFill/>
        </p:spPr>
        <p:txBody>
          <a:bodyPr wrap="square">
            <a:spAutoFit/>
          </a:bodyPr>
          <a:lstStyle/>
          <a:p>
            <a:r>
              <a:rPr sz="1350" b="1">
                <a:solidFill>
                  <a:srgbClr val="1F2937"/>
                </a:solidFill>
                <a:latin typeface="Arial"/>
              </a:rPr>
              <a:t>What to do instead  </a:t>
            </a:r>
            <a:r>
              <a:rPr sz="1350" b="1">
                <a:solidFill>
                  <a:srgbClr val="2563EB"/>
                </a:solidFill>
                <a:latin typeface="Arial"/>
              </a:rPr>
              <a:t>fix the formula and the site</a:t>
            </a:r>
            <a:r>
              <a:rPr sz="1350" b="0">
                <a:solidFill>
                  <a:srgbClr val="374151"/>
                </a:solidFill>
                <a:latin typeface="Arial"/>
              </a:rPr>
              <a:t>, then vary only the starting seed.</a:t>
            </a:r>
          </a:p>
        </p:txBody>
      </p:sp>
      <p:sp xmlns:a="http://schemas.openxmlformats.org/drawingml/2006/main">
        <p:nvSpPr>
          <p:cNvPr id="42" name="TextBox 41"/>
          <p:cNvSpPr txBox="1"/>
          <p:nvPr/>
        </p:nvSpPr>
        <p:spPr>
          <a:xfrm>
            <a:off x="960120" y="4343400"/>
            <a:ext cx="7223760" cy="548640"/>
          </a:xfrm>
          <a:prstGeom prst="rect">
            <a:avLst/>
          </a:prstGeom>
          <a:noFill/>
        </p:spPr>
        <p:txBody>
          <a:bodyPr wrap="square">
            <a:spAutoFit/>
          </a:bodyPr>
          <a:lstStyle/>
          <a:p>
            <a:r>
              <a:rPr sz="1350" b="1">
                <a:solidFill>
                  <a:srgbClr val="1F2937"/>
                </a:solidFill>
                <a:latin typeface="Arial"/>
              </a:rPr>
              <a:t>And separately  </a:t>
            </a:r>
            <a:r>
              <a:rPr sz="1350" b="0">
                <a:solidFill>
                  <a:srgbClr val="374151"/>
                </a:solidFill>
                <a:latin typeface="Arial"/>
              </a:rPr>
              <a:t>change the cell size to create </a:t>
            </a:r>
            <a:r>
              <a:rPr sz="1350" b="1">
                <a:solidFill>
                  <a:srgbClr val="2563EB"/>
                </a:solidFill>
                <a:latin typeface="Arial"/>
              </a:rPr>
              <a:t>a real concentration axis</a:t>
            </a:r>
            <a:r>
              <a:rPr sz="1350" b="0">
                <a:solidFill>
                  <a:srgbClr val="374151"/>
                </a:solidFill>
                <a:latin typeface="Arial"/>
              </a:rPr>
              <a:t>.</a:t>
            </a:r>
          </a:p>
        </p:txBody>
      </p:sp>
      <p:sp xmlns:a="http://schemas.openxmlformats.org/drawingml/2006/main">
        <p:nvSpPr>
          <p:cNvPr id="43" name="TextBox 42"/>
          <p:cNvSpPr txBox="1"/>
          <p:nvPr/>
        </p:nvSpPr>
        <p:spPr>
          <a:xfrm>
            <a:off x="960120" y="5120640"/>
            <a:ext cx="7223760" cy="1371600"/>
          </a:xfrm>
          <a:prstGeom prst="rect">
            <a:avLst/>
          </a:prstGeom>
          <a:noFill/>
        </p:spPr>
        <p:txBody>
          <a:bodyPr wrap="square">
            <a:spAutoFit/>
          </a:bodyPr>
          <a:lstStyle/>
          <a:p>
            <a:pPr>
              <a:spcAft>
                <a:spcPts val="600"/>
              </a:spcAft>
            </a:pPr>
            <a:r>
              <a:rPr sz="1700">
                <a:solidFill>
                  <a:srgbClr val="1F2937"/>
                </a:solidFill>
                <a:latin typeface="Arial"/>
              </a:rPr>
              <a:t>A directory name is not a concentration,</a:t>
            </a:r>
          </a:p>
          <a:p>
            <a:pPr>
              <a:spcAft>
                <a:spcPts val="600"/>
              </a:spcAft>
            </a:pPr>
            <a:r>
              <a:rPr sz="1700">
                <a:solidFill>
                  <a:srgbClr val="1F2937"/>
                </a:solidFill>
                <a:latin typeface="Arial"/>
              </a:rPr>
              <a:t>and three of them are not three repeats.</a:t>
            </a:r>
          </a:p>
        </p:txBody>
      </p:sp>
    </p:spTree>
    <p:extLst>
      <p:ext uri="{BB962C8B-B14F-4D97-AF65-F5344CB8AC3E}">
        <p14:creationId xmlns:p14="http://schemas.microsoft.com/office/powerpoint/2010/main" val="192440589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4" name="bg-25">
            <a:extLst xmlns:a="http://schemas.openxmlformats.org/drawingml/2006/main">
              <a:ext uri="{FF2B5EF4-FFF2-40B4-BE49-F238E27FC236}">
                <a16:creationId xmlns:a16="http://schemas.microsoft.com/office/drawing/2014/main" id="{B7D91817-4976-48A5-B96F-ED8D58EE71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5">
            <a:extLst xmlns:a="http://schemas.openxmlformats.org/drawingml/2006/main">
              <a:ext uri="{FF2B5EF4-FFF2-40B4-BE49-F238E27FC236}">
                <a16:creationId xmlns:a16="http://schemas.microsoft.com/office/drawing/2014/main" id="{0E775C21-FF5B-4965-A51C-A049041AB848}"/>
              </a:ext>
            </a:extLst>
          </p:cNvPr>
          <p:cNvSpPr>
            <a:spLocks xmlns:a="http://schemas.openxmlformats.org/drawingml/2006/main" noGrp="1"/>
          </p:cNvSpPr>
          <p:nvPr/>
        </p:nvSpPr>
        <p:spPr>
          <a:xfrm xmlns:a="http://schemas.openxmlformats.org/drawingml/2006/main">
            <a:off x="523875" y="209550"/>
            <a:ext cx="3000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 methods</a:t>
            </a:r>
          </a:p>
        </p:txBody>
      </p:sp>
      <p:sp>
        <p:nvSpPr>
          <p:cNvPr id="3" name="terms-25">
            <a:extLst xmlns:a="http://schemas.openxmlformats.org/drawingml/2006/main">
              <a:ext uri="{FF2B5EF4-FFF2-40B4-BE49-F238E27FC236}">
                <a16:creationId xmlns:a16="http://schemas.microsoft.com/office/drawing/2014/main" id="{29DBDC0F-C7D6-4320-AF45-95C6E3BBBF76}"/>
              </a:ext>
            </a:extLst>
          </p:cNvPr>
          <p:cNvSpPr>
            <a:spLocks xmlns:a="http://schemas.openxmlformats.org/drawingml/2006/main" noGrp="1"/>
          </p:cNvSpPr>
          <p:nvPr/>
        </p:nvSpPr>
        <p:spPr>
          <a:xfrm xmlns:a="http://schemas.openxmlformats.org/drawingml/2006/main">
            <a:off x="3857625" y="180975"/>
            <a:ext cx="481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cheap and correlated  ·  Validation: the matched, higher-fidelity calculation the claim actually needs</a:t>
            </a:r>
          </a:p>
        </p:txBody>
      </p:sp>
      <p:sp>
        <p:nvSpPr>
          <p:cNvPr id="4" name="divider-25">
            <a:extLst xmlns:a="http://schemas.openxmlformats.org/drawingml/2006/main">
              <a:ext uri="{FF2B5EF4-FFF2-40B4-BE49-F238E27FC236}">
                <a16:creationId xmlns:a16="http://schemas.microsoft.com/office/drawing/2014/main" id="{FA58136B-78B6-45D3-AAB2-DAF8BF0780B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5">
            <a:extLst xmlns:a="http://schemas.openxmlformats.org/drawingml/2006/main">
              <a:ext uri="{FF2B5EF4-FFF2-40B4-BE49-F238E27FC236}">
                <a16:creationId xmlns:a16="http://schemas.microsoft.com/office/drawing/2014/main" id="{FC87F59A-33F4-4EB3-97FB-0726BA4A68B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5">
            <a:extLst xmlns:a="http://schemas.openxmlformats.org/drawingml/2006/main">
              <a:ext uri="{FF2B5EF4-FFF2-40B4-BE49-F238E27FC236}">
                <a16:creationId xmlns:a16="http://schemas.microsoft.com/office/drawing/2014/main" id="{8BCFFF03-3DEF-4690-A1D9-C26A1CC8A12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Every method is named by the question it can actually answer</a:t>
            </a:r>
          </a:p>
        </p:txBody>
      </p:sp>
      <p:sp>
        <p:nvSpPr>
          <p:cNvPr id="7" name="bullet-dot-25-0">
            <a:extLst xmlns:a="http://schemas.openxmlformats.org/drawingml/2006/main">
              <a:ext uri="{FF2B5EF4-FFF2-40B4-BE49-F238E27FC236}">
                <a16:creationId xmlns:a16="http://schemas.microsoft.com/office/drawing/2014/main" id="{BF928B87-E377-4391-B4A3-0EC49F5D3DD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5-0">
            <a:extLst xmlns:a="http://schemas.openxmlformats.org/drawingml/2006/main">
              <a:ext uri="{FF2B5EF4-FFF2-40B4-BE49-F238E27FC236}">
                <a16:creationId xmlns:a16="http://schemas.microsoft.com/office/drawing/2014/main" id="{265AAB48-C963-42DE-9E2D-EC1A4504F14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Left of the arrow is </a:t>
            </a:r>
            <a:r>
              <a:rPr sz="1275" b="1">
                <a:solidFill>
                  <a:srgbClr val="2563EB"/>
                </a:solidFill>
                <a:latin typeface="Arial"/>
                <a:ea typeface="Arial"/>
                <a:cs typeface="Arial"/>
              </a:rPr>
              <a:t>what the method answers</a:t>
            </a:r>
            <a:r>
              <a:rPr sz="1275" b="0">
                <a:solidFill>
                  <a:srgbClr val="374151"/>
                </a:solidFill>
                <a:latin typeface="Arial"/>
                <a:ea typeface="Arial"/>
                <a:cs typeface="Arial"/>
              </a:rPr>
              <a:t>; right of it is what people assume it answers.</a:t>
            </a:r>
          </a:p>
        </p:txBody>
      </p:sp>
      <p:sp>
        <p:nvSpPr>
          <p:cNvPr id="9" name="bullet-dot-25-1">
            <a:extLst xmlns:a="http://schemas.openxmlformats.org/drawingml/2006/main">
              <a:ext uri="{FF2B5EF4-FFF2-40B4-BE49-F238E27FC236}">
                <a16:creationId xmlns:a16="http://schemas.microsoft.com/office/drawing/2014/main" id="{0B0658F5-D16B-45C0-864D-7042557F1DA5}"/>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5-1">
            <a:extLst xmlns:a="http://schemas.openxmlformats.org/drawingml/2006/main">
              <a:ext uri="{FF2B5EF4-FFF2-40B4-BE49-F238E27FC236}">
                <a16:creationId xmlns:a16="http://schemas.microsoft.com/office/drawing/2014/main" id="{EAB52A63-4B25-46F3-AA3F-BF213CA0D46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Every line on the right is a calculation we </a:t>
            </a:r>
            <a:r>
              <a:rPr sz="1275" b="1">
                <a:solidFill>
                  <a:srgbClr val="BE123C"/>
                </a:solidFill>
                <a:latin typeface="Arial"/>
                <a:ea typeface="Arial"/>
                <a:cs typeface="Arial"/>
              </a:rPr>
              <a:t>have not run</a:t>
            </a:r>
            <a:r>
              <a:rPr sz="1275" b="0">
                <a:solidFill>
                  <a:srgbClr val="374151"/>
                </a:solidFill>
                <a:latin typeface="Arial"/>
                <a:ea typeface="Arial"/>
                <a:cs typeface="Arial"/>
              </a:rPr>
              <a:t>.</a:t>
            </a:r>
          </a:p>
        </p:txBody>
      </p:sp>
      <p:sp>
        <p:nvSpPr>
          <p:cNvPr id="11" name="citation-25">
            <a:extLst xmlns:a="http://schemas.openxmlformats.org/drawingml/2006/main">
              <a:ext uri="{FF2B5EF4-FFF2-40B4-BE49-F238E27FC236}">
                <a16:creationId xmlns:a16="http://schemas.microsoft.com/office/drawing/2014/main" id="{195A867C-6820-411D-96FB-F1E2B3D21EAB}"/>
              </a:ext>
            </a:extLst>
          </p:cNvPr>
          <p:cNvSpPr>
            <a:spLocks xmlns:a="http://schemas.openxmlformats.org/drawingml/2006/main" noGrp="1"/>
          </p:cNvSpPr>
          <p:nvPr/>
        </p:nvSpPr>
        <p:spPr>
          <a:xfrm xmlns:a="http://schemas.openxmlformats.org/drawingml/2006/main">
            <a:off x="5286375" y="828675"/>
            <a:ext cx="3381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boundaries</a:t>
            </a:r>
          </a:p>
        </p:txBody>
      </p:sp>
      <p:sp>
        <p:nvSpPr>
          <p:cNvPr id="12" name="footer-brand-25">
            <a:extLst xmlns:a="http://schemas.openxmlformats.org/drawingml/2006/main">
              <a:ext uri="{FF2B5EF4-FFF2-40B4-BE49-F238E27FC236}">
                <a16:creationId xmlns:a16="http://schemas.microsoft.com/office/drawing/2014/main" id="{AE0F7B6D-9D9D-423C-87E8-A9B6197F1C8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5">
            <a:extLst xmlns:a="http://schemas.openxmlformats.org/drawingml/2006/main">
              <a:ext uri="{FF2B5EF4-FFF2-40B4-BE49-F238E27FC236}">
                <a16:creationId xmlns:a16="http://schemas.microsoft.com/office/drawing/2014/main" id="{DD8700DD-2681-4D5E-9A5B-75F06345B08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5">
            <a:extLst xmlns:a="http://schemas.openxmlformats.org/drawingml/2006/main">
              <a:ext uri="{FF2B5EF4-FFF2-40B4-BE49-F238E27FC236}">
                <a16:creationId xmlns:a16="http://schemas.microsoft.com/office/drawing/2014/main" id="{5D885CDF-83EB-499A-9E57-09DCC250FE5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27</a:t>
            </a:r>
          </a:p>
        </p:txBody>
      </p:sp>
      <p:sp xmlns:a="http://schemas.openxmlformats.org/drawingml/2006/main">
        <p:nvSpPr>
          <p:cNvPr id="25" name="TextBox 24"/>
          <p:cNvSpPr txBox="1"/>
          <p:nvPr/>
        </p:nvSpPr>
        <p:spPr>
          <a:xfrm>
            <a:off x="960120" y="2560320"/>
            <a:ext cx="7223760" cy="530352"/>
          </a:xfrm>
          <a:prstGeom prst="rect">
            <a:avLst/>
          </a:prstGeom>
          <a:noFill/>
        </p:spPr>
        <p:txBody>
          <a:bodyPr wrap="square">
            <a:spAutoFit/>
          </a:bodyPr>
          <a:lstStyle/>
          <a:p>
            <a:r>
              <a:rPr sz="1350" b="1">
                <a:solidFill>
                  <a:srgbClr val="1F2937"/>
                </a:solidFill>
                <a:latin typeface="Arial"/>
              </a:rPr>
              <a:t>Fast relaxation  </a:t>
            </a:r>
            <a:r>
              <a:rPr sz="1350" b="0">
                <a:solidFill>
                  <a:srgbClr val="374151"/>
                </a:solidFill>
                <a:latin typeface="Arial"/>
              </a:rPr>
              <a:t>does the structure hold together?  →  </a:t>
            </a:r>
            <a:r>
              <a:rPr sz="1350" b="1">
                <a:solidFill>
                  <a:srgbClr val="BE123C"/>
                </a:solidFill>
                <a:latin typeface="Arial"/>
              </a:rPr>
              <a:t>not</a:t>
            </a:r>
            <a:r>
              <a:rPr sz="1350" b="0">
                <a:solidFill>
                  <a:srgbClr val="374151"/>
                </a:solidFill>
                <a:latin typeface="Arial"/>
              </a:rPr>
              <a:t> a formation energy</a:t>
            </a:r>
          </a:p>
        </p:txBody>
      </p:sp>
      <p:sp xmlns:a="http://schemas.openxmlformats.org/drawingml/2006/main">
        <p:nvSpPr>
          <p:cNvPr id="26" name="TextBox 25"/>
          <p:cNvSpPr txBox="1"/>
          <p:nvPr/>
        </p:nvSpPr>
        <p:spPr>
          <a:xfrm>
            <a:off x="960120" y="3090672"/>
            <a:ext cx="7223760" cy="530352"/>
          </a:xfrm>
          <a:prstGeom prst="rect">
            <a:avLst/>
          </a:prstGeom>
          <a:noFill/>
        </p:spPr>
        <p:txBody>
          <a:bodyPr wrap="square">
            <a:spAutoFit/>
          </a:bodyPr>
          <a:lstStyle/>
          <a:p>
            <a:r>
              <a:rPr sz="1350" b="1">
                <a:solidFill>
                  <a:srgbClr val="1F2937"/>
                </a:solidFill>
                <a:latin typeface="Arial"/>
              </a:rPr>
              <a:t>Short anneal  </a:t>
            </a:r>
            <a:r>
              <a:rPr sz="1350" b="0">
                <a:solidFill>
                  <a:srgbClr val="374151"/>
                </a:solidFill>
                <a:latin typeface="Arial"/>
              </a:rPr>
              <a:t>does it survive being disturbed?  →  </a:t>
            </a:r>
            <a:r>
              <a:rPr sz="1350" b="1">
                <a:solidFill>
                  <a:srgbClr val="BE123C"/>
                </a:solidFill>
                <a:latin typeface="Arial"/>
              </a:rPr>
              <a:t>not</a:t>
            </a:r>
            <a:r>
              <a:rPr sz="1350" b="0">
                <a:solidFill>
                  <a:srgbClr val="374151"/>
                </a:solidFill>
                <a:latin typeface="Arial"/>
              </a:rPr>
              <a:t> a conductivity</a:t>
            </a:r>
          </a:p>
        </p:txBody>
      </p:sp>
      <p:sp xmlns:a="http://schemas.openxmlformats.org/drawingml/2006/main">
        <p:nvSpPr>
          <p:cNvPr id="27" name="TextBox 26"/>
          <p:cNvSpPr txBox="1"/>
          <p:nvPr/>
        </p:nvSpPr>
        <p:spPr>
          <a:xfrm>
            <a:off x="960120" y="3621024"/>
            <a:ext cx="7223760" cy="530352"/>
          </a:xfrm>
          <a:prstGeom prst="rect">
            <a:avLst/>
          </a:prstGeom>
          <a:noFill/>
        </p:spPr>
        <p:txBody>
          <a:bodyPr wrap="square">
            <a:spAutoFit/>
          </a:bodyPr>
          <a:lstStyle/>
          <a:p>
            <a:r>
              <a:rPr sz="1350" b="1">
                <a:solidFill>
                  <a:srgbClr val="1F2937"/>
                </a:solidFill>
                <a:latin typeface="Arial"/>
              </a:rPr>
              <a:t>Bond-valence map  </a:t>
            </a:r>
            <a:r>
              <a:rPr sz="1350" b="0">
                <a:solidFill>
                  <a:srgbClr val="374151"/>
                </a:solidFill>
                <a:latin typeface="Arial"/>
              </a:rPr>
              <a:t>is there a plausible Li path?  →  </a:t>
            </a:r>
            <a:r>
              <a:rPr sz="1350" b="1">
                <a:solidFill>
                  <a:srgbClr val="BE123C"/>
                </a:solidFill>
                <a:latin typeface="Arial"/>
              </a:rPr>
              <a:t>not</a:t>
            </a:r>
            <a:r>
              <a:rPr sz="1350" b="0">
                <a:solidFill>
                  <a:srgbClr val="374151"/>
                </a:solidFill>
                <a:latin typeface="Arial"/>
              </a:rPr>
              <a:t> a diffusion coefficient</a:t>
            </a:r>
          </a:p>
        </p:txBody>
      </p:sp>
      <p:sp xmlns:a="http://schemas.openxmlformats.org/drawingml/2006/main">
        <p:nvSpPr>
          <p:cNvPr id="28" name="TextBox 27"/>
          <p:cNvSpPr txBox="1"/>
          <p:nvPr/>
        </p:nvSpPr>
        <p:spPr>
          <a:xfrm>
            <a:off x="960120" y="4151375"/>
            <a:ext cx="7223760" cy="530352"/>
          </a:xfrm>
          <a:prstGeom prst="rect">
            <a:avLst/>
          </a:prstGeom>
          <a:noFill/>
        </p:spPr>
        <p:txBody>
          <a:bodyPr wrap="square">
            <a:spAutoFit/>
          </a:bodyPr>
          <a:lstStyle/>
          <a:p>
            <a:r>
              <a:rPr sz="1350" b="1">
                <a:solidFill>
                  <a:srgbClr val="1F2937"/>
                </a:solidFill>
                <a:latin typeface="Arial"/>
              </a:rPr>
              <a:t>Equation of state, strain  </a:t>
            </a:r>
            <a:r>
              <a:rPr sz="1350" b="0">
                <a:solidFill>
                  <a:srgbClr val="374151"/>
                </a:solidFill>
                <a:latin typeface="Arial"/>
              </a:rPr>
              <a:t>is the mechanical response plausible?  →  </a:t>
            </a:r>
            <a:r>
              <a:rPr sz="1350" b="1">
                <a:solidFill>
                  <a:srgbClr val="BE123C"/>
                </a:solidFill>
                <a:latin typeface="Arial"/>
              </a:rPr>
              <a:t>not</a:t>
            </a:r>
            <a:r>
              <a:rPr sz="1350" b="0">
                <a:solidFill>
                  <a:srgbClr val="374151"/>
                </a:solidFill>
                <a:latin typeface="Arial"/>
              </a:rPr>
              <a:t> a measured modulus</a:t>
            </a:r>
          </a:p>
        </p:txBody>
      </p:sp>
      <p:sp xmlns:a="http://schemas.openxmlformats.org/drawingml/2006/main">
        <p:nvSpPr>
          <p:cNvPr id="29" name="TextBox 28"/>
          <p:cNvSpPr txBox="1"/>
          <p:nvPr/>
        </p:nvSpPr>
        <p:spPr>
          <a:xfrm>
            <a:off x="960120" y="4681727"/>
            <a:ext cx="7223760" cy="530352"/>
          </a:xfrm>
          <a:prstGeom prst="rect">
            <a:avLst/>
          </a:prstGeom>
          <a:noFill/>
        </p:spPr>
        <p:txBody>
          <a:bodyPr wrap="square">
            <a:spAutoFit/>
          </a:bodyPr>
          <a:lstStyle/>
          <a:p>
            <a:r>
              <a:rPr sz="1350" b="1">
                <a:solidFill>
                  <a:srgbClr val="1F2937"/>
                </a:solidFill>
                <a:latin typeface="Arial"/>
              </a:rPr>
              <a:t>Grand potential  </a:t>
            </a:r>
            <a:r>
              <a:rPr sz="1350" b="0">
                <a:solidFill>
                  <a:srgbClr val="374151"/>
                </a:solidFill>
                <a:latin typeface="Arial"/>
              </a:rPr>
              <a:t>what can decompose, and into what?  →  </a:t>
            </a:r>
            <a:r>
              <a:rPr sz="1350" b="1">
                <a:solidFill>
                  <a:srgbClr val="BE123C"/>
                </a:solidFill>
                <a:latin typeface="Arial"/>
              </a:rPr>
              <a:t>not</a:t>
            </a:r>
            <a:r>
              <a:rPr sz="1350" b="0">
                <a:solidFill>
                  <a:srgbClr val="374151"/>
                </a:solidFill>
                <a:latin typeface="Arial"/>
              </a:rPr>
              <a:t> a lifetime, and </a:t>
            </a:r>
            <a:r>
              <a:rPr sz="1350" b="1">
                <a:solidFill>
                  <a:srgbClr val="BE123C"/>
                </a:solidFill>
                <a:latin typeface="Arial"/>
              </a:rPr>
              <a:t>not</a:t>
            </a:r>
            <a:r>
              <a:rPr sz="1350" b="0">
                <a:solidFill>
                  <a:srgbClr val="374151"/>
                </a:solidFill>
                <a:latin typeface="Arial"/>
              </a:rPr>
              <a:t> an interface</a:t>
            </a:r>
          </a:p>
        </p:txBody>
      </p:sp>
      <p:sp xmlns:a="http://schemas.openxmlformats.org/drawingml/2006/main">
        <p:nvSpPr>
          <p:cNvPr id="30" name="TextBox 29"/>
          <p:cNvSpPr txBox="1"/>
          <p:nvPr/>
        </p:nvSpPr>
        <p:spPr>
          <a:xfrm>
            <a:off x="960120" y="5303520"/>
            <a:ext cx="7223760" cy="1371600"/>
          </a:xfrm>
          <a:prstGeom prst="rect">
            <a:avLst/>
          </a:prstGeom>
          <a:noFill/>
        </p:spPr>
        <p:txBody>
          <a:bodyPr wrap="square">
            <a:spAutoFit/>
          </a:bodyPr>
          <a:lstStyle/>
          <a:p>
            <a:pPr>
              <a:spcAft>
                <a:spcPts val="600"/>
              </a:spcAft>
            </a:pPr>
            <a:r>
              <a:rPr sz="1700">
                <a:solidFill>
                  <a:srgbClr val="1F2937"/>
                </a:solidFill>
                <a:latin typeface="Arial"/>
              </a:rPr>
              <a:t>A proxy may decide what to compute next.</a:t>
            </a:r>
          </a:p>
          <a:p>
            <a:pPr>
              <a:spcAft>
                <a:spcPts val="600"/>
              </a:spcAft>
            </a:pPr>
            <a:r>
              <a:rPr sz="1700">
                <a:solidFill>
                  <a:srgbClr val="1F2937"/>
                </a:solidFill>
                <a:latin typeface="Arial"/>
              </a:rPr>
              <a:t>It may not stand in for the result.</a:t>
            </a:r>
          </a:p>
        </p:txBody>
      </p:sp>
    </p:spTree>
    <p:extLst>
      <p:ext uri="{BB962C8B-B14F-4D97-AF65-F5344CB8AC3E}">
        <p14:creationId xmlns:p14="http://schemas.microsoft.com/office/powerpoint/2010/main" val="19244058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2026-08-16T17:36:15.2940000Z</dcterms:created>
  <dcterms:modified xsi:type="dcterms:W3CDTF">2026-08-16T17:36:15.2940000Z</dcterms:modified>
</coreProperties>
</file>