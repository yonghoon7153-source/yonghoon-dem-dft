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269442fd8ce4b81" Type="http://schemas.openxmlformats.org/officeDocument/2006/relationships/officeDocument" Target="ppt/presentation.xml"/><Relationship Id="R69334117c5514b65" Type="http://schemas.openxmlformats.org/package/2006/relationships/metadata/core-properties" Target="docProps/core.xml"/><Relationship Id="Rcd7563b061c1420c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9f4c5f7750487f"/>
  </p:sldMasterIdLst>
  <p:notesMasterIdLst>
    <p:notesMasterId xmlns:r="http://schemas.openxmlformats.org/officeDocument/2006/relationships" r:id="R636b2433d8094769"/>
  </p:notesMasterIdLst>
  <p:sldIdLst>
    <p:sldId xmlns:r="http://schemas.openxmlformats.org/officeDocument/2006/relationships" id="264" r:id="R4ba3f48111084143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bedd3fc95014fed" Type="http://schemas.openxmlformats.org/officeDocument/2006/relationships/presProps" Target="presProps.xml"/><Relationship Id="R245a50a1643649ab" Type="http://schemas.openxmlformats.org/officeDocument/2006/relationships/tableStyles" Target="tableStyles.xml"/><Relationship Id="R3eabe3a8ecf741a2" Type="http://schemas.openxmlformats.org/officeDocument/2006/relationships/viewProps" Target="viewProps.xml"/><Relationship Id="R4ba3f48111084143" Type="http://schemas.openxmlformats.org/officeDocument/2006/relationships/slide" Target="slides/slide9.xml"/><Relationship Id="R636b2433d8094769" Type="http://schemas.openxmlformats.org/officeDocument/2006/relationships/notesMaster" Target="notesMasters/notesMaster1.xml"/><Relationship Id="R7a9f4c5f7750487f" Type="http://schemas.openxmlformats.org/officeDocument/2006/relationships/slideMaster" Target="slideMasters/slideMaster1.xml"/><Relationship Id="Rd15051cc896443fc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32b1c3d1c614449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6.xml.rels><?xml version='1.0' encoding='UTF-8' standalone='yes'?>
<Relationships xmlns="http://schemas.openxmlformats.org/package/2006/relationships"><Relationship Id="R1c922b19d1a54e9e" Type="http://schemas.openxmlformats.org/officeDocument/2006/relationships/notesMaster" Target="../notesMasters/notesMaster1.xml"/><Relationship Id="Rbc4a71bc818b445b" Type="http://schemas.openxmlformats.org/officeDocument/2006/relationships/slide" Target="../slides/slide9.xml"/></Relationship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단계는 물성을 계산하는 단계가 아닙니다. 어떤 host 구조, 어떤 화학 명단, 어떤 모델과 장비를 썼는지 먼저 고정합니다. 수백 개 구조를 만든 뒤에 모델이나 경로가 잘못됐다는 걸 발견하면 비용을 거의 전부 잃기 때문입니다. 그래서 preflight는 계산 환경과 provenance를 먼저 묶는 단계입니다.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[발표자 메모]</a:t>
            </a:r>
            <a:endParaRPr/>
          </a:p>
          <a:p xmlns:a="http://schemas.openxmlformats.org/drawingml/2006/main">
            <a:r>
              <a:t>‘재료를 거르는 단계가 아니라 실행을 거르는 단계’라고 설명한다.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Archived tier_cascade.sh lineage; cascade pipeline anatomy.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567e83c79114d4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3280d18f2f3450f" Type="http://schemas.openxmlformats.org/officeDocument/2006/relationships/theme" Target="theme/theme2.xml"/><Relationship Id="Ra667905730bd4f44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67905730bd4f4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9.xml.rels><?xml version='1.0' encoding='UTF-8' standalone='yes'?>
<Relationships xmlns="http://schemas.openxmlformats.org/package/2006/relationships"><Relationship Id="R51b24b0c6a0f41f6" Type="http://schemas.openxmlformats.org/officeDocument/2006/relationships/slideLayout" Target="../slideLayouts/slideLayout1.xml"/><Relationship Id="Re63c6527db6947e5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bg-6">
            <a:extLst xmlns:a="http://schemas.openxmlformats.org/drawingml/2006/main">
              <a:ext uri="{FF2B5EF4-FFF2-40B4-BE49-F238E27FC236}">
                <a16:creationId xmlns:a16="http://schemas.microsoft.com/office/drawing/2014/main" id="{56576768-A713-4E28-A6B6-DFC8105A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448F932F-EE45-494C-8018-F5DCEC35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237744"/>
            <a:ext cx="81381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06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Substitution site and charge compensation</a:t>
            </a:r>
          </a:p>
        </p:txBody>
      </p:sp>
      <p:sp>
        <p:nvSpPr>
          <p:cNvPr id="3" name="terms-6">
            <a:extLst xmlns:a="http://schemas.openxmlformats.org/drawingml/2006/main">
              <a:ext uri="{FF2B5EF4-FFF2-40B4-BE49-F238E27FC236}">
                <a16:creationId xmlns:a16="http://schemas.microsoft.com/office/drawing/2014/main" id="{A3D41F79-3204-45C2-BF1F-D2746AB5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6272784"/>
            <a:ext cx="8101583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63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F2937"/>
                </a:solidFill>
                <a:latin typeface="Arial"/>
                <a:ea typeface="Arial"/>
                <a:cs typeface="Arial"/>
              </a:rPr>
              <a:t>Sublattice: the set of equivalent positions one element occupies  ·  Aliovalent: a dopant whose charge differs from the ion it replaces</a:t>
            </a:r>
          </a:p>
        </p:txBody>
      </p:sp>
      <p:sp>
        <p:nvSpPr>
          <p:cNvPr id="4" name="divider-6">
            <a:extLst xmlns:a="http://schemas.openxmlformats.org/drawingml/2006/main">
              <a:ext uri="{FF2B5EF4-FFF2-40B4-BE49-F238E27FC236}">
                <a16:creationId xmlns:a16="http://schemas.microsoft.com/office/drawing/2014/main" id="{79D9B8C3-B25E-471C-9845-2775C2E6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83343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claim-square-6">
            <a:extLst xmlns:a="http://schemas.openxmlformats.org/drawingml/2006/main">
              <a:ext uri="{FF2B5EF4-FFF2-40B4-BE49-F238E27FC236}">
                <a16:creationId xmlns:a16="http://schemas.microsoft.com/office/drawing/2014/main" id="{D5C7520B-28F1-4830-B1FC-19AE6F0E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028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1B2B"/>
          </a:solidFill>
          <a:ln xmlns:a="http://schemas.openxmlformats.org/drawingml/2006/main" w="0">
            <a:solidFill>
              <a:srgbClr val="A61B2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claim-6">
            <a:extLst xmlns:a="http://schemas.openxmlformats.org/drawingml/2006/main">
              <a:ext uri="{FF2B5EF4-FFF2-40B4-BE49-F238E27FC236}">
                <a16:creationId xmlns:a16="http://schemas.microsoft.com/office/drawing/2014/main" id="{CA987F87-5C3F-4F04-9FDC-F3EDC3C8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59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7"/>
                </a:solidFill>
                <a:latin typeface="Arial"/>
                <a:ea typeface="Arial"/>
                <a:cs typeface="Arial"/>
              </a:rPr>
              <a:t>Step 1: The substitution site is enumerated before a structure is built</a:t>
            </a:r>
          </a:p>
        </p:txBody>
      </p:sp>
      <p:sp>
        <p:nvSpPr>
          <p:cNvPr id="7" name="bullet-dot-6-0">
            <a:extLst xmlns:a="http://schemas.openxmlformats.org/drawingml/2006/main">
              <a:ext uri="{FF2B5EF4-FFF2-40B4-BE49-F238E27FC236}">
                <a16:creationId xmlns:a16="http://schemas.microsoft.com/office/drawing/2014/main" id="{8CF33AF8-5848-4127-9616-9D4BEE12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37160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F4E7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bullet-6-0">
            <a:extLst xmlns:a="http://schemas.openxmlformats.org/drawingml/2006/main">
              <a:ext uri="{FF2B5EF4-FFF2-40B4-BE49-F238E27FC236}">
                <a16:creationId xmlns:a16="http://schemas.microsoft.com/office/drawing/2014/main" id="{0664EB91-E4D3-4674-A717-CEBA0E89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81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2937"/>
                </a:solidFill>
                <a:latin typeface="Arial"/>
                <a:ea typeface="Arial"/>
                <a:cs typeface="Arial"/>
              </a:rPr>
              <a:t>Li, P, S and Cl are separate sublattices — an oxide has to take </a:t>
            </a: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one cation and one anion site</a:t>
            </a:r>
            <a:r>
              <a:rPr sz="127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bullet-dot-6-1">
            <a:extLst xmlns:a="http://schemas.openxmlformats.org/drawingml/2006/main">
              <a:ext uri="{FF2B5EF4-FFF2-40B4-BE49-F238E27FC236}">
                <a16:creationId xmlns:a16="http://schemas.microsoft.com/office/drawing/2014/main" id="{20311F4F-3DF1-4658-8446-15E0753A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73355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bullet-6-1">
            <a:extLst xmlns:a="http://schemas.openxmlformats.org/drawingml/2006/main">
              <a:ext uri="{FF2B5EF4-FFF2-40B4-BE49-F238E27FC236}">
                <a16:creationId xmlns:a16="http://schemas.microsoft.com/office/drawing/2014/main" id="{B71D4069-E657-4DE0-A4C4-0D56C480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430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2937"/>
                </a:solidFill>
                <a:latin typeface="Arial"/>
                <a:ea typeface="Arial"/>
                <a:cs typeface="Arial"/>
              </a:rPr>
              <a:t>An aliovalent dopant changes the Li content, and </a:t>
            </a:r>
            <a:r>
              <a:rPr sz="1275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more than one way balances the charge</a:t>
            </a:r>
            <a:r>
              <a:rPr sz="127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A0745599-0DE5-4278-B723-2DA6D65A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05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HANYANG UNIVERSITY</a:t>
            </a:r>
          </a:p>
        </p:txBody>
      </p:sp>
      <p:sp>
        <p:nvSpPr>
          <p:cNvPr id="13" name="footer-lab-6">
            <a:extLst xmlns:a="http://schemas.openxmlformats.org/drawingml/2006/main">
              <a:ext uri="{FF2B5EF4-FFF2-40B4-BE49-F238E27FC236}">
                <a16:creationId xmlns:a16="http://schemas.microsoft.com/office/drawing/2014/main" id="{43983313-12AC-4AA1-801E-62C108B2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5055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280"/>
                </a:solidFill>
                <a:latin typeface="Arial"/>
                <a:ea typeface="Arial"/>
                <a:cs typeface="Arial"/>
              </a:rPr>
              <a:t>Battery Materials Lab.</a:t>
            </a:r>
          </a:p>
        </p:txBody>
      </p:sp>
      <p:sp>
        <p:nvSpPr>
          <p:cNvPr id="14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B1D86954-2D4F-4276-9A81-38FAAF92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B728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 xmlns:a="http://schemas.openxmlformats.org/drawingml/2006/main" xmlns:r="http://schemas.openxmlformats.org/officeDocument/2006/relationships">
        <p:nvPicPr>
          <p:cNvPr id="33" name="Picture 32" descr="step1_site_cho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283" y="2084831"/>
            <a:ext cx="5847432" cy="3310128"/>
          </a:xfrm>
          <a:prstGeom prst="rect">
            <a:avLst/>
          </a:prstGeom>
        </p:spPr>
      </p:pic>
      <p:sp xmlns:a="http://schemas.openxmlformats.org/drawingml/2006/main">
        <p:nvSpPr>
          <p:cNvPr id="34" name="TextBox 33"/>
          <p:cNvSpPr txBox="1"/>
          <p:nvPr/>
        </p:nvSpPr>
        <p:spPr>
          <a:xfrm>
            <a:off x="502920" y="5449824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rial"/>
              </a:rPr>
              <a:t>&lt; site preference vs ionic radius &gt;</a:t>
            </a:r>
          </a:p>
        </p:txBody>
      </p:sp>
      <p:sp xmlns:a="http://schemas.openxmlformats.org/drawingml/2006/main">
        <p:nvSpPr>
          <p:cNvPr id="35" name="TextBox 34"/>
          <p:cNvSpPr txBox="1"/>
          <p:nvPr/>
        </p:nvSpPr>
        <p:spPr>
          <a:xfrm>
            <a:off x="502920" y="576072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4B5563"/>
                </a:solidFill>
                <a:latin typeface="Arial"/>
              </a:rPr>
              <a:t>large cations go to Li sites, small group-14 ions replace P — </a:t>
            </a:r>
            <a:r>
              <a:rPr sz="1150" b="1">
                <a:solidFill>
                  <a:srgbClr val="2563EB"/>
                </a:solidFill>
                <a:latin typeface="Arial"/>
              </a:rPr>
              <a:t>size decides it</a:t>
            </a:r>
          </a:p>
        </p:txBody>
      </p:sp>
    </p:spTree>
    <p:extLst>
      <p:ext uri="{BB962C8B-B14F-4D97-AF65-F5344CB8AC3E}">
        <p14:creationId xmlns:p14="http://schemas.microsoft.com/office/powerpoint/2010/main" val="8475215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2026-08-16T17:36:15.2940000Z</dcterms:created>
  <dcterms:modified xsi:type="dcterms:W3CDTF">2026-08-16T17:36:15.2940000Z</dcterms:modified>
</coreProperties>
</file>