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64" r:id="R4ba3f48111084143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4ba3f48111084143" Type="http://schemas.openxmlformats.org/officeDocument/2006/relationships/slide" Target="slides/slide9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d15051cc896443f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6.xml.rels><?xml version='1.0' encoding='UTF-8' standalone='yes'?>
<Relationships xmlns="http://schemas.openxmlformats.org/package/2006/relationships"><Relationship Id="R1c922b19d1a54e9e" Type="http://schemas.openxmlformats.org/officeDocument/2006/relationships/notesMaster" Target="../notesMasters/notesMaster1.xml"/><Relationship Id="Rbc4a71bc818b445b" Type="http://schemas.openxmlformats.org/officeDocument/2006/relationships/slide" Target="../slides/slide9.xml"/></Relationship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첫 단계는 물성을 계산하는 단계가 아닙니다. 어떤 host 구조, 어떤 화학 명단, 어떤 모델과 장비를 썼는지 먼저 고정합니다. 수백 개 구조를 만든 뒤에 모델이나 경로가 잘못됐다는 걸 발견하면 비용을 거의 전부 잃기 때문입니다. 그래서 preflight는 계산 환경과 provenance를 먼저 묶는 단계입니다.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[발표자 메모]</a:t>
            </a:r>
            <a:endParaRPr/>
          </a:p>
          <a:p xmlns:a="http://schemas.openxmlformats.org/drawingml/2006/main">
            <a:r>
              <a:t>‘재료를 거르는 단계가 아니라 실행을 거르는 단계’라고 설명한다.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Archived tier_cascade.sh lineage; cascade pipeline anatomy.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9.xml.rels><?xml version='1.0' encoding='UTF-8' standalone='yes'?>
<Relationships xmlns="http://schemas.openxmlformats.org/package/2006/relationships"><Relationship Id="R51b24b0c6a0f41f6" Type="http://schemas.openxmlformats.org/officeDocument/2006/relationships/slideLayout" Target="../slideLayouts/slideLayout1.xml"/><Relationship Id="Re63c6527db6947e5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bg-6">
            <a:extLst xmlns:a="http://schemas.openxmlformats.org/drawingml/2006/main">
              <a:ext uri="{FF2B5EF4-FFF2-40B4-BE49-F238E27FC236}">
                <a16:creationId xmlns:a16="http://schemas.microsoft.com/office/drawing/2014/main" id="{56576768-A713-4E28-A6B6-DFC8105A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6">
            <a:extLst xmlns:a="http://schemas.openxmlformats.org/drawingml/2006/main">
              <a:ext uri="{FF2B5EF4-FFF2-40B4-BE49-F238E27FC236}">
                <a16:creationId xmlns:a16="http://schemas.microsoft.com/office/drawing/2014/main" id="{448F932F-EE45-494C-8018-F5DCEC353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69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Substitution site and charge compensation</a:t>
            </a:r>
          </a:p>
        </p:txBody>
      </p:sp>
      <p:sp>
        <p:nvSpPr>
          <p:cNvPr id="3" name="terms-6">
            <a:extLst xmlns:a="http://schemas.openxmlformats.org/drawingml/2006/main">
              <a:ext uri="{FF2B5EF4-FFF2-40B4-BE49-F238E27FC236}">
                <a16:creationId xmlns:a16="http://schemas.microsoft.com/office/drawing/2014/main" id="{A3D41F79-3204-45C2-BF1F-D2746AB55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Sublattice: equivalent positions of one element  ·  Charge compensation: adding or removing Li to keep the cell neutral  ·  bars = three doping levels, not repeat runs</a:t>
            </a:r>
          </a:p>
        </p:txBody>
      </p:sp>
      <p:sp>
        <p:nvSpPr>
          <p:cNvPr id="4" name="divider-6">
            <a:extLst xmlns:a="http://schemas.openxmlformats.org/drawingml/2006/main">
              <a:ext uri="{FF2B5EF4-FFF2-40B4-BE49-F238E27FC236}">
                <a16:creationId xmlns:a16="http://schemas.microsoft.com/office/drawing/2014/main" id="{79D9B8C3-B25E-471C-9845-2775C2E6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6">
            <a:extLst xmlns:a="http://schemas.openxmlformats.org/drawingml/2006/main">
              <a:ext uri="{FF2B5EF4-FFF2-40B4-BE49-F238E27FC236}">
                <a16:creationId xmlns:a16="http://schemas.microsoft.com/office/drawing/2014/main" id="{D5C7520B-28F1-4830-B1FC-19AE6F0E0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6">
            <a:extLst xmlns:a="http://schemas.openxmlformats.org/drawingml/2006/main">
              <a:ext uri="{FF2B5EF4-FFF2-40B4-BE49-F238E27FC236}">
                <a16:creationId xmlns:a16="http://schemas.microsoft.com/office/drawing/2014/main" id="{CA987F87-5C3F-4F04-9FDC-F3EDC3C8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59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Step 1: The substitution site is enumerated before a structure is built</a:t>
            </a:r>
          </a:p>
        </p:txBody>
      </p:sp>
      <p:sp>
        <p:nvSpPr>
          <p:cNvPr id="7" name="bullet-dot-6-0">
            <a:extLst xmlns:a="http://schemas.openxmlformats.org/drawingml/2006/main">
              <a:ext uri="{FF2B5EF4-FFF2-40B4-BE49-F238E27FC236}">
                <a16:creationId xmlns:a16="http://schemas.microsoft.com/office/drawing/2014/main" id="{8CF33AF8-5848-4127-9616-9D4BEE12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6-0">
            <a:extLst xmlns:a="http://schemas.openxmlformats.org/drawingml/2006/main">
              <a:ext uri="{FF2B5EF4-FFF2-40B4-BE49-F238E27FC236}">
                <a16:creationId xmlns:a16="http://schemas.microsoft.com/office/drawing/2014/main" id="{0664EB91-E4D3-4674-A717-CEBA0E89D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Li, P, S and Cl are separate sublattices — an oxide has to take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one cation and one anion site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9" name="bullet-dot-6-1">
            <a:extLst xmlns:a="http://schemas.openxmlformats.org/drawingml/2006/main">
              <a:ext uri="{FF2B5EF4-FFF2-40B4-BE49-F238E27FC236}">
                <a16:creationId xmlns:a16="http://schemas.microsoft.com/office/drawing/2014/main" id="{20311F4F-3DF1-4658-8446-15E0753A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3355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6-1">
            <a:extLst xmlns:a="http://schemas.openxmlformats.org/drawingml/2006/main">
              <a:ext uri="{FF2B5EF4-FFF2-40B4-BE49-F238E27FC236}">
                <a16:creationId xmlns:a16="http://schemas.microsoft.com/office/drawing/2014/main" id="{B71D4069-E657-4DE0-A4C4-0D56C4806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A 2+ dopant on a Li site leaves extra charge — </a:t>
            </a:r>
            <a:r>
              <a:rPr sz="1275" b="1">
                <a:solidFill>
                  <a:srgbClr val="BE123C"/>
                </a:solidFill>
                <a:latin typeface="Arial"/>
                <a:ea typeface="Arial"/>
                <a:cs typeface="Arial"/>
              </a:rPr>
              <a:t>each way of balancing it is a different structure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2" name="footer-brand-6">
            <a:extLst xmlns:a="http://schemas.openxmlformats.org/drawingml/2006/main">
              <a:ext uri="{FF2B5EF4-FFF2-40B4-BE49-F238E27FC236}">
                <a16:creationId xmlns:a16="http://schemas.microsoft.com/office/drawing/2014/main" id="{A0745599-0DE5-4278-B723-2DA6D65A5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6">
            <a:extLst xmlns:a="http://schemas.openxmlformats.org/drawingml/2006/main">
              <a:ext uri="{FF2B5EF4-FFF2-40B4-BE49-F238E27FC236}">
                <a16:creationId xmlns:a16="http://schemas.microsoft.com/office/drawing/2014/main" id="{43983313-12AC-4AA1-801E-62C108B27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B1D86954-2D4F-4276-9A81-38FAAF92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33" name="Picture 32" descr="step1_site_cho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8283" y="2084831"/>
            <a:ext cx="5847432" cy="3310128"/>
          </a:xfrm>
          <a:prstGeom prst="rect">
            <a:avLst/>
          </a:prstGeom>
        </p:spPr>
      </p:pic>
      <p:sp xmlns:a="http://schemas.openxmlformats.org/drawingml/2006/main">
        <p:nvSpPr>
          <p:cNvPr id="34" name="TextBox 33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site preference vs ionic radius &gt;</a:t>
            </a:r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4B5563"/>
                </a:solidFill>
                <a:latin typeface="Arial"/>
              </a:rPr>
              <a:t>only Si always takes the P framework; 19 of 26 always take Li — </a:t>
            </a:r>
            <a:r>
              <a:rPr sz="1150" b="1">
                <a:solidFill>
                  <a:srgbClr val="BE123C"/>
                </a:solidFill>
                <a:latin typeface="Arial"/>
              </a:rPr>
              <a:t>6 switch with the doping level</a:t>
            </a:r>
          </a:p>
        </p:txBody>
      </p:sp>
    </p:spTree>
    <p:extLst>
      <p:ext uri="{BB962C8B-B14F-4D97-AF65-F5344CB8AC3E}">
        <p14:creationId xmlns:p14="http://schemas.microsoft.com/office/powerpoint/2010/main" val="84752153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