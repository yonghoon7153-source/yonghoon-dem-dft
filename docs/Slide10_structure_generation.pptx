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269442fd8ce4b81" Type="http://schemas.openxmlformats.org/officeDocument/2006/relationships/officeDocument" Target="ppt/presentation.xml"/><Relationship Id="R69334117c5514b65" Type="http://schemas.openxmlformats.org/package/2006/relationships/metadata/core-properties" Target="docProps/core.xml"/><Relationship Id="Rcd7563b061c1420c"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7a9f4c5f7750487f"/>
  </p:sldMasterIdLst>
  <p:notesMasterIdLst>
    <p:notesMasterId xmlns:r="http://schemas.openxmlformats.org/officeDocument/2006/relationships" r:id="R636b2433d8094769"/>
  </p:notesMasterIdLst>
  <p:sldIdLst>
    <p:sldId xmlns:r="http://schemas.openxmlformats.org/officeDocument/2006/relationships" id="265" r:id="Rb665c5fe9e3347e9"/>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bedd3fc95014fed" Type="http://schemas.openxmlformats.org/officeDocument/2006/relationships/presProps" Target="presProps.xml"/><Relationship Id="R245a50a1643649ab" Type="http://schemas.openxmlformats.org/officeDocument/2006/relationships/tableStyles" Target="tableStyles.xml"/><Relationship Id="R3eabe3a8ecf741a2" Type="http://schemas.openxmlformats.org/officeDocument/2006/relationships/viewProps" Target="viewProps.xml"/><Relationship Id="R636b2433d8094769" Type="http://schemas.openxmlformats.org/officeDocument/2006/relationships/notesMaster" Target="notesMasters/notesMaster1.xml"/><Relationship Id="R7a9f4c5f7750487f" Type="http://schemas.openxmlformats.org/officeDocument/2006/relationships/slideMaster" Target="slideMasters/slideMaster1.xml"/><Relationship Id="Rb665c5fe9e3347e9" Type="http://schemas.openxmlformats.org/officeDocument/2006/relationships/slide" Target="slides/slide10.xml"/><Relationship Id="Rd15051cc896443fc"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32b1c3d1c614449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7.xml.rels><?xml version='1.0' encoding='UTF-8' standalone='yes'?>
<Relationships xmlns="http://schemas.openxmlformats.org/package/2006/relationships"><Relationship Id="R620f081ef26f4981" Type="http://schemas.openxmlformats.org/officeDocument/2006/relationships/notesMaster" Target="../notesMasters/notesMaster1.xml"/><Relationship Id="Rb0c696a537c9454c" Type="http://schemas.openxmlformats.org/officeDocument/2006/relationships/slide" Target="../slides/slide10.xml"/></Relationship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번째 단계에서는 첨가제 이름을 실제 원자 구조로 바꿉니다. 가능한 치환 자리와 전하보상 조합을 만들고, 여러 초기 배치를 준비합니다. 이때부터 같은 도펀트 이름도 exact formula와 자리가 다르면 다른 물질입니다. 실제로 90종 가운데 31종은 세 라벨 사이에서 exact formula가 바뀌었기 때문에, 세 값을 농도 응답이나 반복 측정처럼 평균하면 안 됩니다.</a:t>
            </a:r>
            <a:endParaRPr/>
          </a:p>
          <a:p xmlns:a="http://schemas.openxmlformats.org/drawingml/2006/main">
            <a:r>
              <a:t/>
            </a:r>
            <a:endParaRPr/>
          </a:p>
          <a:p xmlns:a="http://schemas.openxmlformats.org/drawingml/2006/main">
            <a:r>
              <a:t>[발표자 메모]</a:t>
            </a:r>
            <a:endParaRPr/>
          </a:p>
          <a:p xmlns:a="http://schemas.openxmlformats.org/drawingml/2006/main">
            <a:r>
              <a:t>아래 31/90은 결과 순위가 아니라 구조 생성 설계의 진단값이라고 말한다.</a:t>
            </a:r>
            <a:endParaRPr/>
          </a:p>
          <a:p xmlns:a="http://schemas.openxmlformats.org/drawingml/2006/main">
            <a:r>
              <a:t/>
            </a:r>
            <a:endParaRPr/>
          </a:p>
          <a:p xmlns:a="http://schemas.openxmlformats.org/drawingml/2006/main">
            <a:r>
              <a:t>[Sources]</a:t>
            </a:r>
            <a:endParaRPr/>
          </a:p>
          <a:p xmlns:a="http://schemas.openxmlformats.org/drawingml/2006/main">
            <a:r>
              <a:t>db/properties/cascade_label_scatter_audit.json; tools/cascade/audit_label_scatter.py.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2567e83c79114d43"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43280d18f2f3450f" Type="http://schemas.openxmlformats.org/officeDocument/2006/relationships/theme" Target="theme/theme2.xml"/><Relationship Id="Ra667905730bd4f44" Type="http://schemas.openxmlformats.org/officeDocument/2006/relationships/slideLayout" Target="../slideLayouts/slideLayout1.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67905730bd4f4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0.xml.rels><?xml version='1.0' encoding='UTF-8' standalone='yes'?>
<Relationships xmlns="http://schemas.openxmlformats.org/package/2006/relationships"><Relationship Id="R5bda15701a644d4a" Type="http://schemas.openxmlformats.org/officeDocument/2006/relationships/slideLayout" Target="../slideLayouts/slideLayout1.xml"/><Relationship Id="R75417081aaa641b3"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2.png"/></Relationships>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0" name="bg-7">
            <a:extLst xmlns:a="http://schemas.openxmlformats.org/drawingml/2006/main">
              <a:ext uri="{FF2B5EF4-FFF2-40B4-BE49-F238E27FC236}">
                <a16:creationId xmlns:a16="http://schemas.microsoft.com/office/drawing/2014/main" id="{3F5CAAEB-90CE-4533-80EB-F6B785EF323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 name="section-7">
            <a:extLst xmlns:a="http://schemas.openxmlformats.org/drawingml/2006/main">
              <a:ext uri="{FF2B5EF4-FFF2-40B4-BE49-F238E27FC236}">
                <a16:creationId xmlns:a16="http://schemas.microsoft.com/office/drawing/2014/main" id="{E40601E1-C519-4CC2-A768-354D58CBFAB0}"/>
              </a:ext>
            </a:extLst>
          </p:cNvPr>
          <p:cNvSpPr>
            <a:spLocks xmlns:a="http://schemas.openxmlformats.org/drawingml/2006/main" noGrp="1"/>
          </p:cNvSpPr>
          <p:nvPr/>
        </p:nvSpPr>
        <p:spPr>
          <a:xfrm xmlns:a="http://schemas.openxmlformats.org/drawingml/2006/main">
            <a:off x="521207" y="237744"/>
            <a:ext cx="813816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0098"/>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Candidate structure generation</a:t>
            </a:r>
          </a:p>
        </p:txBody>
      </p:sp>
      <p:sp>
        <p:nvSpPr>
          <p:cNvPr id="3" name="terms-7">
            <a:extLst xmlns:a="http://schemas.openxmlformats.org/drawingml/2006/main">
              <a:ext uri="{FF2B5EF4-FFF2-40B4-BE49-F238E27FC236}">
                <a16:creationId xmlns:a16="http://schemas.microsoft.com/office/drawing/2014/main" id="{896AB69D-EA41-47E3-B382-867F137A9102}"/>
              </a:ext>
            </a:extLst>
          </p:cNvPr>
          <p:cNvSpPr>
            <a:spLocks xmlns:a="http://schemas.openxmlformats.org/drawingml/2006/main" noGrp="1"/>
          </p:cNvSpPr>
          <p:nvPr/>
        </p:nvSpPr>
        <p:spPr>
          <a:xfrm xmlns:a="http://schemas.openxmlformats.org/drawingml/2006/main">
            <a:off x="521207" y="6272784"/>
            <a:ext cx="8101583" cy="2194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Configuration: one specific arrangement of atoms in the cell  ·  24g / 48h / 4b / 4a / 16e / 4d: Wyckoff labels for the sublattice positions</a:t>
            </a:r>
          </a:p>
        </p:txBody>
      </p:sp>
      <p:sp>
        <p:nvSpPr>
          <p:cNvPr id="4" name="divider-7">
            <a:extLst xmlns:a="http://schemas.openxmlformats.org/drawingml/2006/main">
              <a:ext uri="{FF2B5EF4-FFF2-40B4-BE49-F238E27FC236}">
                <a16:creationId xmlns:a16="http://schemas.microsoft.com/office/drawing/2014/main" id="{C7F2DE18-B846-4ED1-9B8F-9DD3ABC54134}"/>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xmlns:a="http://schemas.openxmlformats.org/drawingml/2006/main">
          <a:bodyPr/>
          <a:p/>
        </p:txBody>
      </p:sp>
      <p:sp>
        <p:nvSpPr>
          <p:cNvPr id="5" name="claim-square-7">
            <a:extLst xmlns:a="http://schemas.openxmlformats.org/drawingml/2006/main">
              <a:ext uri="{FF2B5EF4-FFF2-40B4-BE49-F238E27FC236}">
                <a16:creationId xmlns:a16="http://schemas.microsoft.com/office/drawing/2014/main" id="{0A22044F-E634-4326-BD8E-11A056C7E6F1}"/>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xmlns:a="http://schemas.openxmlformats.org/drawingml/2006/main">
          <a:bodyPr/>
          <a:p/>
        </p:txBody>
      </p:sp>
      <p:sp>
        <p:nvSpPr>
          <p:cNvPr id="6" name="claim-7">
            <a:extLst xmlns:a="http://schemas.openxmlformats.org/drawingml/2006/main">
              <a:ext uri="{FF2B5EF4-FFF2-40B4-BE49-F238E27FC236}">
                <a16:creationId xmlns:a16="http://schemas.microsoft.com/office/drawing/2014/main" id="{28D11498-1F7B-46AA-B52A-D9F939DA5FD2}"/>
              </a:ext>
            </a:extLst>
          </p:cNvPr>
          <p:cNvSpPr>
            <a:spLocks xmlns:a="http://schemas.openxmlformats.org/drawingml/2006/main" noGrp="1"/>
          </p:cNvSpPr>
          <p:nvPr/>
        </p:nvSpPr>
        <p:spPr>
          <a:xfrm xmlns:a="http://schemas.openxmlformats.org/drawingml/2006/main">
            <a:off x="914400" y="923925"/>
            <a:ext cx="7762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02"/>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Step 2: Each allowed placement becomes a separate structure</a:t>
            </a:r>
          </a:p>
        </p:txBody>
      </p:sp>
      <p:sp>
        <p:nvSpPr>
          <p:cNvPr id="7" name="bullet-dot-7-0">
            <a:extLst xmlns:a="http://schemas.openxmlformats.org/drawingml/2006/main">
              <a:ext uri="{FF2B5EF4-FFF2-40B4-BE49-F238E27FC236}">
                <a16:creationId xmlns:a16="http://schemas.microsoft.com/office/drawing/2014/main" id="{8B729D4D-1370-4A21-B87D-F550CCB31EB3}"/>
              </a:ext>
            </a:extLst>
          </p:cNvPr>
          <p:cNvSpPr>
            <a:spLocks xmlns:a="http://schemas.openxmlformats.org/drawingml/2006/main" noGrp="1"/>
          </p:cNvSpPr>
          <p:nvPr/>
        </p:nvSpPr>
        <p:spPr>
          <a:xfrm xmlns:a="http://schemas.openxmlformats.org/drawingml/2006/main">
            <a:off x="942975" y="137160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7-0">
            <a:extLst xmlns:a="http://schemas.openxmlformats.org/drawingml/2006/main">
              <a:ext uri="{FF2B5EF4-FFF2-40B4-BE49-F238E27FC236}">
                <a16:creationId xmlns:a16="http://schemas.microsoft.com/office/drawing/2014/main" id="{CD5F8FA1-A024-4B20-A034-58681A1E0F2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21"/>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One compound became </a:t>
            </a:r>
            <a:r>
              <a:rPr sz="1275" b="1">
                <a:solidFill>
                  <a:srgbClr val="2563EB"/>
                </a:solidFill>
                <a:latin typeface="Arial"/>
                <a:ea typeface="Arial"/>
                <a:cs typeface="Arial"/>
              </a:rPr>
              <a:t>30 structures</a:t>
            </a:r>
            <a:r>
              <a:rPr sz="1275" b="0">
                <a:solidFill>
                  <a:srgbClr val="374151"/>
                </a:solidFill>
                <a:latin typeface="Arial"/>
                <a:ea typeface="Arial"/>
                <a:cs typeface="Arial"/>
              </a:rPr>
              <a:t> on average, and 3,615 in total.</a:t>
            </a:r>
          </a:p>
        </p:txBody>
      </p:sp>
      <p:sp>
        <p:nvSpPr>
          <p:cNvPr id="9" name="bullet-dot-7-1">
            <a:extLst xmlns:a="http://schemas.openxmlformats.org/drawingml/2006/main">
              <a:ext uri="{FF2B5EF4-FFF2-40B4-BE49-F238E27FC236}">
                <a16:creationId xmlns:a16="http://schemas.microsoft.com/office/drawing/2014/main" id="{8C1A5506-08A1-4B0E-8632-2E6F78D51E3D}"/>
              </a:ext>
            </a:extLst>
          </p:cNvPr>
          <p:cNvSpPr>
            <a:spLocks xmlns:a="http://schemas.openxmlformats.org/drawingml/2006/main" noGrp="1"/>
          </p:cNvSpPr>
          <p:nvPr/>
        </p:nvSpPr>
        <p:spPr>
          <a:xfrm xmlns:a="http://schemas.openxmlformats.org/drawingml/2006/main">
            <a:off x="942975" y="1733550"/>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7-1">
            <a:extLst xmlns:a="http://schemas.openxmlformats.org/drawingml/2006/main">
              <a:ext uri="{FF2B5EF4-FFF2-40B4-BE49-F238E27FC236}">
                <a16:creationId xmlns:a16="http://schemas.microsoft.com/office/drawing/2014/main" id="{617BA323-E5E0-4229-91DB-6D0F0F429002}"/>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a:solidFill>
                  <a:srgbClr val="1F2937"/>
                </a:solidFill>
                <a:latin typeface="Arial"/>
                <a:ea typeface="Arial"/>
                <a:cs typeface="Arial"/>
              </a:defRPr>
            </a:pPr>
            <a:r>
              <a:rPr sz="1275">
                <a:solidFill>
                  <a:srgbClr val="1F2937"/>
                </a:solidFill>
                <a:latin typeface="Arial"/>
                <a:ea typeface="Arial"/>
                <a:cs typeface="Arial"/>
              </a:rPr>
              <a:t>The winning site is </a:t>
            </a:r>
            <a:r>
              <a:rPr sz="1275" b="1">
                <a:solidFill>
                  <a:srgbClr val="BE123C"/>
                </a:solidFill>
                <a:latin typeface="Arial"/>
                <a:ea typeface="Arial"/>
                <a:cs typeface="Arial"/>
              </a:rPr>
              <a:t>an output of the generator</a:t>
            </a:r>
            <a:r>
              <a:rPr sz="1275" b="0">
                <a:solidFill>
                  <a:srgbClr val="374151"/>
                </a:solidFill>
                <a:latin typeface="Arial"/>
                <a:ea typeface="Arial"/>
                <a:cs typeface="Arial"/>
              </a:rPr>
              <a:t>, not a variable that was set.</a:t>
            </a:r>
          </a:p>
        </p:txBody>
      </p:sp>
      <p:sp>
        <p:nvSpPr>
          <p:cNvPr id="12" name="footer-brand-7">
            <a:extLst xmlns:a="http://schemas.openxmlformats.org/drawingml/2006/main">
              <a:ext uri="{FF2B5EF4-FFF2-40B4-BE49-F238E27FC236}">
                <a16:creationId xmlns:a16="http://schemas.microsoft.com/office/drawing/2014/main" id="{46BC1CC5-3053-4C81-B525-5A06538DED26}"/>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7">
            <a:extLst xmlns:a="http://schemas.openxmlformats.org/drawingml/2006/main">
              <a:ext uri="{FF2B5EF4-FFF2-40B4-BE49-F238E27FC236}">
                <a16:creationId xmlns:a16="http://schemas.microsoft.com/office/drawing/2014/main" id="{AF03F0C6-1690-4949-A516-83BE967382BF}"/>
              </a:ext>
            </a:extLst>
          </p:cNvPr>
          <p:cNvSpPr>
            <a:spLocks xmlns:a="http://schemas.openxmlformats.org/drawingml/2006/main" noGrp="1"/>
          </p:cNvSpPr>
          <p:nvPr/>
        </p:nvSpPr>
        <p:spPr>
          <a:xfrm xmlns:a="http://schemas.openxmlformats.org/drawingml/2006/main">
            <a:off x="3619500" y="65055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7">
            <a:extLst xmlns:a="http://schemas.openxmlformats.org/drawingml/2006/main">
              <a:ext uri="{FF2B5EF4-FFF2-40B4-BE49-F238E27FC236}">
                <a16:creationId xmlns:a16="http://schemas.microsoft.com/office/drawing/2014/main" id="{87518756-9244-43BF-AB49-DCB47889BC2A}"/>
              </a:ext>
            </a:extLst>
          </p:cNvPr>
          <p:cNvSpPr>
            <a:spLocks xmlns:a="http://schemas.openxmlformats.org/drawingml/2006/main" noGrp="1"/>
          </p:cNvSpPr>
          <p:nvPr/>
        </p:nvSpPr>
        <p:spPr>
          <a:xfrm xmlns:a="http://schemas.openxmlformats.org/drawingml/2006/main">
            <a:off x="8448675" y="64865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10</a:t>
            </a:r>
          </a:p>
        </p:txBody>
      </p:sp>
      <p:pic xmlns:a="http://schemas.openxmlformats.org/drawingml/2006/main" xmlns:r="http://schemas.openxmlformats.org/officeDocument/2006/relationships">
        <p:nvPicPr>
          <p:cNvPr id="31" name="Picture 30" descr="step2_anion_site.png"/>
          <p:cNvPicPr>
            <a:picLocks noChangeAspect="1"/>
          </p:cNvPicPr>
          <p:nvPr/>
        </p:nvPicPr>
        <p:blipFill>
          <a:blip r:embed="rId4"/>
          <a:stretch>
            <a:fillRect/>
          </a:stretch>
        </p:blipFill>
        <p:spPr>
          <a:xfrm>
            <a:off x="502920" y="2889503"/>
            <a:ext cx="3968496" cy="1700784"/>
          </a:xfrm>
          <a:prstGeom prst="rect">
            <a:avLst/>
          </a:prstGeom>
        </p:spPr>
      </p:pic>
      <p:pic xmlns:a="http://schemas.openxmlformats.org/drawingml/2006/main" xmlns:r="http://schemas.openxmlformats.org/officeDocument/2006/relationships">
        <p:nvPicPr>
          <p:cNvPr id="32" name="Picture 31" descr="step2_site_grid.png"/>
          <p:cNvPicPr>
            <a:picLocks noChangeAspect="1"/>
          </p:cNvPicPr>
          <p:nvPr/>
        </p:nvPicPr>
        <p:blipFill>
          <a:blip r:embed="rId5"/>
          <a:stretch>
            <a:fillRect/>
          </a:stretch>
        </p:blipFill>
        <p:spPr>
          <a:xfrm>
            <a:off x="4672583" y="2869860"/>
            <a:ext cx="3968496" cy="1740071"/>
          </a:xfrm>
          <a:prstGeom prst="rect">
            <a:avLst/>
          </a:prstGeom>
        </p:spPr>
      </p:pic>
      <p:sp xmlns:a="http://schemas.openxmlformats.org/drawingml/2006/main">
        <p:nvSpPr>
          <p:cNvPr id="33" name="TextBox 32"/>
          <p:cNvSpPr txBox="1"/>
          <p:nvPr/>
        </p:nvSpPr>
        <p:spPr>
          <a:xfrm>
            <a:off x="502920" y="5449824"/>
            <a:ext cx="8138160" cy="256032"/>
          </a:xfrm>
          <a:prstGeom prst="rect">
            <a:avLst/>
          </a:prstGeom>
          <a:noFill/>
        </p:spPr>
        <p:txBody>
          <a:bodyPr wrap="none">
            <a:spAutoFit/>
          </a:bodyPr>
          <a:lstStyle/>
          <a:p>
            <a:pPr algn="ctr"/>
            <a:r>
              <a:rPr sz="1300" b="0">
                <a:solidFill>
                  <a:srgbClr val="1F2937"/>
                </a:solidFill>
                <a:latin typeface="Arial"/>
              </a:rPr>
              <a:t>&lt; where the anion landed  ·  structures per site pair &gt;</a:t>
            </a:r>
          </a:p>
        </p:txBody>
      </p:sp>
      <p:sp xmlns:a="http://schemas.openxmlformats.org/drawingml/2006/main">
        <p:nvSpPr>
          <p:cNvPr id="34" name="TextBox 33"/>
          <p:cNvSpPr txBox="1"/>
          <p:nvPr/>
        </p:nvSpPr>
        <p:spPr>
          <a:xfrm>
            <a:off x="502920" y="5760720"/>
            <a:ext cx="8138160" cy="274320"/>
          </a:xfrm>
          <a:prstGeom prst="rect">
            <a:avLst/>
          </a:prstGeom>
          <a:noFill/>
        </p:spPr>
        <p:txBody>
          <a:bodyPr wrap="square">
            <a:spAutoFit/>
          </a:bodyPr>
          <a:lstStyle/>
          <a:p>
            <a:pPr algn="ctr"/>
            <a:r>
              <a:rPr sz="1150" b="0">
                <a:solidFill>
                  <a:srgbClr val="4B5563"/>
                </a:solidFill>
                <a:latin typeface="Arial"/>
              </a:rPr>
              <a:t>all nine site pairs were populated — </a:t>
            </a:r>
            <a:r>
              <a:rPr sz="1150" b="1">
                <a:solidFill>
                  <a:srgbClr val="BE123C"/>
                </a:solidFill>
                <a:latin typeface="Arial"/>
              </a:rPr>
              <a:t>the site was never fixed by design</a:t>
            </a:r>
          </a:p>
        </p:txBody>
      </p:sp>
    </p:spTree>
    <p:extLst>
      <p:ext uri="{BB962C8B-B14F-4D97-AF65-F5344CB8AC3E}">
        <p14:creationId xmlns:p14="http://schemas.microsoft.com/office/powerpoint/2010/main" val="12912558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2026-08-16T17:36:15.2940000Z</dcterms:created>
  <dcterms:modified xsi:type="dcterms:W3CDTF">2026-08-16T17:36:15.2940000Z</dcterms:modified>
</coreProperties>
</file>