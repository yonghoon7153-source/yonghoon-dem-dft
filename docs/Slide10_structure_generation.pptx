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269442fd8ce4b81" Type="http://schemas.openxmlformats.org/officeDocument/2006/relationships/officeDocument" Target="ppt/presentation.xml"/><Relationship Id="R69334117c5514b65" Type="http://schemas.openxmlformats.org/package/2006/relationships/metadata/core-properties" Target="docProps/core.xml"/><Relationship Id="Rcd7563b061c1420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7a9f4c5f7750487f"/>
  </p:sldMasterIdLst>
  <p:notesMasterIdLst>
    <p:notesMasterId xmlns:r="http://schemas.openxmlformats.org/officeDocument/2006/relationships" r:id="R636b2433d8094769"/>
  </p:notesMasterIdLst>
  <p:sldIdLst>
    <p:sldId xmlns:r="http://schemas.openxmlformats.org/officeDocument/2006/relationships" id="265" r:id="Rb665c5fe9e3347e9"/>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bedd3fc95014fed" Type="http://schemas.openxmlformats.org/officeDocument/2006/relationships/presProps" Target="presProps.xml"/><Relationship Id="R245a50a1643649ab" Type="http://schemas.openxmlformats.org/officeDocument/2006/relationships/tableStyles" Target="tableStyles.xml"/><Relationship Id="R3eabe3a8ecf741a2" Type="http://schemas.openxmlformats.org/officeDocument/2006/relationships/viewProps" Target="viewProps.xml"/><Relationship Id="R636b2433d8094769" Type="http://schemas.openxmlformats.org/officeDocument/2006/relationships/notesMaster" Target="notesMasters/notesMaster1.xml"/><Relationship Id="R7a9f4c5f7750487f" Type="http://schemas.openxmlformats.org/officeDocument/2006/relationships/slideMaster" Target="slideMasters/slideMaster1.xml"/><Relationship Id="Rb665c5fe9e3347e9" Type="http://schemas.openxmlformats.org/officeDocument/2006/relationships/slide" Target="slides/slide10.xml"/><Relationship Id="Rd15051cc896443fc"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32b1c3d1c614449b"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7.xml.rels><?xml version='1.0' encoding='UTF-8' standalone='yes'?>
<Relationships xmlns="http://schemas.openxmlformats.org/package/2006/relationships"><Relationship Id="R620f081ef26f4981" Type="http://schemas.openxmlformats.org/officeDocument/2006/relationships/notesMaster" Target="../notesMasters/notesMaster1.xml"/><Relationship Id="Rb0c696a537c9454c" Type="http://schemas.openxmlformats.org/officeDocument/2006/relationships/slide" Target="../slides/slide10.xml"/></Relationship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단계에서는 첨가제 이름을 실제 원자 구조로 바꿉니다. 가능한 치환 자리와 전하보상 조합을 만들고, 여러 초기 배치를 준비합니다. 이때부터 같은 도펀트 이름도 exact formula와 자리가 다르면 다른 물질입니다. 실제로 90종 가운데 31종은 세 라벨 사이에서 exact formula가 바뀌었기 때문에, 세 값을 농도 응답이나 반복 측정처럼 평균하면 안 됩니다.</a:t>
            </a:r>
            <a:endParaRPr/>
          </a:p>
          <a:p xmlns:a="http://schemas.openxmlformats.org/drawingml/2006/main">
            <a:r>
              <a:t/>
            </a:r>
            <a:endParaRPr/>
          </a:p>
          <a:p xmlns:a="http://schemas.openxmlformats.org/drawingml/2006/main">
            <a:r>
              <a:t>[발표자 메모]</a:t>
            </a:r>
            <a:endParaRPr/>
          </a:p>
          <a:p xmlns:a="http://schemas.openxmlformats.org/drawingml/2006/main">
            <a:r>
              <a:t>아래 31/90은 결과 순위가 아니라 구조 생성 설계의 진단값이라고 말한다.</a:t>
            </a:r>
            <a:endParaRPr/>
          </a:p>
          <a:p xmlns:a="http://schemas.openxmlformats.org/drawingml/2006/main">
            <a:r>
              <a:t/>
            </a:r>
            <a:endParaRPr/>
          </a:p>
          <a:p xmlns:a="http://schemas.openxmlformats.org/drawingml/2006/main">
            <a:r>
              <a:t>[Sources]</a:t>
            </a:r>
            <a:endParaRPr/>
          </a:p>
          <a:p xmlns:a="http://schemas.openxmlformats.org/drawingml/2006/main">
            <a:r>
              <a:t>db/properties/cascade_label_scatter_audit.json; tools/cascade/audit_label_scatter.py.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567e83c79114d43"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3280d18f2f3450f" Type="http://schemas.openxmlformats.org/officeDocument/2006/relationships/theme" Target="theme/theme2.xml"/><Relationship Id="Ra667905730bd4f44"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667905730bd4f44"/>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0.xml.rels><?xml version='1.0' encoding='UTF-8' standalone='yes'?>
<Relationships xmlns="http://schemas.openxmlformats.org/package/2006/relationships"><Relationship Id="R5bda15701a644d4a" Type="http://schemas.openxmlformats.org/officeDocument/2006/relationships/slideLayout" Target="../slideLayouts/slideLayout1.xml"/><Relationship Id="R75417081aaa641b3"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png"/></Relationships>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0" name="bg-7">
            <a:extLst xmlns:a="http://schemas.openxmlformats.org/drawingml/2006/main">
              <a:ext uri="{FF2B5EF4-FFF2-40B4-BE49-F238E27FC236}">
                <a16:creationId xmlns:a16="http://schemas.microsoft.com/office/drawing/2014/main" id="{3F5CAAEB-90CE-4533-80EB-F6B785EF3231}"/>
              </a:ext>
            </a:extLst>
          </p:cNvPr>
          <p:cNvSpPr>
            <a:spLocks xmlns:a="http://schemas.openxmlformats.org/drawingml/2006/main" noGrp="1"/>
          </p:cNvSpPr>
          <p:nvPr/>
        </p:nvSpPr>
        <p:spPr>
          <a:xfrm xmlns:a="http://schemas.openxmlformats.org/drawingml/2006/main">
            <a:off x="0" y="0"/>
            <a:ext cx="9144000" cy="6858000"/>
          </a:xfrm>
          <a:prstGeom xmlns:a="http://schemas.openxmlformats.org/drawingml/2006/main" prst="rect">
            <a:avLst/>
          </a:prstGeom>
          <a:solidFill xmlns:a="http://schemas.openxmlformats.org/drawingml/2006/main">
            <a:srgbClr val="FFFFFF"/>
          </a:solidFill>
          <a:ln xmlns:a="http://schemas.openxmlformats.org/drawingml/2006/main" w="0">
            <a:solidFill>
              <a:srgbClr val="FFFFFF"/>
            </a:solidFill>
            <a:prstDash val="solid"/>
          </a:ln>
        </p:spPr>
        <p:txBody xmlns:a="http://schemas.openxmlformats.org/drawingml/2006/main">
          <a:bodyPr/>
          <a:p/>
        </p:txBody>
      </p:sp>
      <p:sp>
        <p:nvSpPr>
          <p:cNvPr id="2" name="section-7">
            <a:extLst xmlns:a="http://schemas.openxmlformats.org/drawingml/2006/main">
              <a:ext uri="{FF2B5EF4-FFF2-40B4-BE49-F238E27FC236}">
                <a16:creationId xmlns:a16="http://schemas.microsoft.com/office/drawing/2014/main" id="{E40601E1-C519-4CC2-A768-354D58CBFAB0}"/>
              </a:ext>
            </a:extLst>
          </p:cNvPr>
          <p:cNvSpPr>
            <a:spLocks xmlns:a="http://schemas.openxmlformats.org/drawingml/2006/main" noGrp="1"/>
          </p:cNvSpPr>
          <p:nvPr/>
        </p:nvSpPr>
        <p:spPr>
          <a:xfrm xmlns:a="http://schemas.openxmlformats.org/drawingml/2006/main">
            <a:off x="521207" y="237744"/>
            <a:ext cx="813816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0098"/>
          </a:bodyPr>
          <a:lstStyle xmlns:a="http://schemas.openxmlformats.org/drawingml/2006/main"/>
          <a:p xmlns:a="http://schemas.openxmlformats.org/drawingml/2006/main">
            <a:pPr>
              <a:defRPr sz="2325" b="1">
                <a:solidFill>
                  <a:srgbClr val="1F4E79"/>
                </a:solidFill>
                <a:latin typeface="Arial"/>
                <a:ea typeface="Arial"/>
                <a:cs typeface="Arial"/>
              </a:defRPr>
            </a:pPr>
            <a:r>
              <a:rPr sz="2325" b="1">
                <a:solidFill>
                  <a:srgbClr val="1F4E79"/>
                </a:solidFill>
                <a:latin typeface="Arial"/>
                <a:ea typeface="Arial"/>
                <a:cs typeface="Arial"/>
              </a:rPr>
              <a:t>Candidate structure generation</a:t>
            </a:r>
          </a:p>
        </p:txBody>
      </p:sp>
      <p:sp>
        <p:nvSpPr>
          <p:cNvPr id="3" name="terms-7">
            <a:extLst xmlns:a="http://schemas.openxmlformats.org/drawingml/2006/main">
              <a:ext uri="{FF2B5EF4-FFF2-40B4-BE49-F238E27FC236}">
                <a16:creationId xmlns:a16="http://schemas.microsoft.com/office/drawing/2014/main" id="{896AB69D-EA41-47E3-B382-867F137A9102}"/>
              </a:ext>
            </a:extLst>
          </p:cNvPr>
          <p:cNvSpPr>
            <a:spLocks xmlns:a="http://schemas.openxmlformats.org/drawingml/2006/main" noGrp="1"/>
          </p:cNvSpPr>
          <p:nvPr/>
        </p:nvSpPr>
        <p:spPr>
          <a:xfrm xmlns:a="http://schemas.openxmlformats.org/drawingml/2006/main">
            <a:off x="521207" y="6272784"/>
            <a:ext cx="8101583" cy="21945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nSpc>
                <a:spcPct val="108000"/>
              </a:lnSpc>
              <a:buNone/>
              <a:defRPr sz="863">
                <a:solidFill>
                  <a:srgbClr val="1F2937"/>
                </a:solidFill>
                <a:latin typeface="Arial"/>
                <a:ea typeface="Arial"/>
                <a:cs typeface="Arial"/>
              </a:defRPr>
            </a:pPr>
            <a:r>
              <a:rPr sz="863">
                <a:solidFill>
                  <a:srgbClr val="1F2937"/>
                </a:solidFill>
                <a:latin typeface="Arial"/>
                <a:ea typeface="Arial"/>
                <a:cs typeface="Arial"/>
              </a:rPr>
              <a:t>Configuration: one specific arrangement of atoms in the cell  ·  24g / 48h / 4b: Wyckoff labels for the sublattice positions</a:t>
            </a:r>
          </a:p>
        </p:txBody>
      </p:sp>
      <p:sp>
        <p:nvSpPr>
          <p:cNvPr id="4" name="divider-7">
            <a:extLst xmlns:a="http://schemas.openxmlformats.org/drawingml/2006/main">
              <a:ext uri="{FF2B5EF4-FFF2-40B4-BE49-F238E27FC236}">
                <a16:creationId xmlns:a16="http://schemas.microsoft.com/office/drawing/2014/main" id="{C7F2DE18-B846-4ED1-9B8F-9DD3ABC54134}"/>
              </a:ext>
            </a:extLst>
          </p:cNvPr>
          <p:cNvSpPr>
            <a:spLocks xmlns:a="http://schemas.openxmlformats.org/drawingml/2006/main" noGrp="1"/>
          </p:cNvSpPr>
          <p:nvPr/>
        </p:nvSpPr>
        <p:spPr>
          <a:xfrm xmlns:a="http://schemas.openxmlformats.org/drawingml/2006/main">
            <a:off x="400050" y="790575"/>
            <a:ext cx="8334375" cy="11430"/>
          </a:xfrm>
          <a:prstGeom xmlns:a="http://schemas.openxmlformats.org/drawingml/2006/main" prst="rect">
            <a:avLst/>
          </a:prstGeom>
          <a:solidFill xmlns:a="http://schemas.openxmlformats.org/drawingml/2006/main">
            <a:srgbClr val="6B7280"/>
          </a:solidFill>
          <a:ln xmlns:a="http://schemas.openxmlformats.org/drawingml/2006/main" w="0">
            <a:solidFill>
              <a:srgbClr val="6B7280"/>
            </a:solidFill>
            <a:prstDash val="solid"/>
          </a:ln>
        </p:spPr>
        <p:txBody xmlns:a="http://schemas.openxmlformats.org/drawingml/2006/main">
          <a:bodyPr/>
          <a:p/>
        </p:txBody>
      </p:sp>
      <p:sp>
        <p:nvSpPr>
          <p:cNvPr id="5" name="claim-square-7">
            <a:extLst xmlns:a="http://schemas.openxmlformats.org/drawingml/2006/main">
              <a:ext uri="{FF2B5EF4-FFF2-40B4-BE49-F238E27FC236}">
                <a16:creationId xmlns:a16="http://schemas.microsoft.com/office/drawing/2014/main" id="{0A22044F-E634-4326-BD8E-11A056C7E6F1}"/>
              </a:ext>
            </a:extLst>
          </p:cNvPr>
          <p:cNvSpPr>
            <a:spLocks xmlns:a="http://schemas.openxmlformats.org/drawingml/2006/main" noGrp="1"/>
          </p:cNvSpPr>
          <p:nvPr/>
        </p:nvSpPr>
        <p:spPr>
          <a:xfrm xmlns:a="http://schemas.openxmlformats.org/drawingml/2006/main">
            <a:off x="657225" y="1028700"/>
            <a:ext cx="104775" cy="104775"/>
          </a:xfrm>
          <a:prstGeom xmlns:a="http://schemas.openxmlformats.org/drawingml/2006/main" prst="rect">
            <a:avLst/>
          </a:prstGeom>
          <a:solidFill xmlns:a="http://schemas.openxmlformats.org/drawingml/2006/main">
            <a:srgbClr val="A61B2B"/>
          </a:solidFill>
          <a:ln xmlns:a="http://schemas.openxmlformats.org/drawingml/2006/main" w="0">
            <a:solidFill>
              <a:srgbClr val="A61B2B"/>
            </a:solidFill>
            <a:prstDash val="solid"/>
          </a:ln>
        </p:spPr>
        <p:txBody xmlns:a="http://schemas.openxmlformats.org/drawingml/2006/main">
          <a:bodyPr/>
          <a:p/>
        </p:txBody>
      </p:sp>
      <p:sp>
        <p:nvSpPr>
          <p:cNvPr id="6" name="claim-7">
            <a:extLst xmlns:a="http://schemas.openxmlformats.org/drawingml/2006/main">
              <a:ext uri="{FF2B5EF4-FFF2-40B4-BE49-F238E27FC236}">
                <a16:creationId xmlns:a16="http://schemas.microsoft.com/office/drawing/2014/main" id="{28D11498-1F7B-46AA-B52A-D9F939DA5FD2}"/>
              </a:ext>
            </a:extLst>
          </p:cNvPr>
          <p:cNvSpPr>
            <a:spLocks xmlns:a="http://schemas.openxmlformats.org/drawingml/2006/main" noGrp="1"/>
          </p:cNvSpPr>
          <p:nvPr/>
        </p:nvSpPr>
        <p:spPr>
          <a:xfrm xmlns:a="http://schemas.openxmlformats.org/drawingml/2006/main">
            <a:off x="914400" y="923925"/>
            <a:ext cx="776287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1802"/>
          </a:bodyPr>
          <a:lstStyle xmlns:a="http://schemas.openxmlformats.org/drawingml/2006/main"/>
          <a:p xmlns:a="http://schemas.openxmlformats.org/drawingml/2006/main">
            <a:pPr>
              <a:defRPr sz="1725">
                <a:solidFill>
                  <a:srgbClr val="1F2937"/>
                </a:solidFill>
                <a:latin typeface="Arial"/>
                <a:ea typeface="Arial"/>
                <a:cs typeface="Arial"/>
              </a:defRPr>
            </a:pPr>
            <a:r>
              <a:rPr sz="1725">
                <a:solidFill>
                  <a:srgbClr val="1F2937"/>
                </a:solidFill>
                <a:latin typeface="Arial"/>
                <a:ea typeface="Arial"/>
                <a:cs typeface="Arial"/>
              </a:rPr>
              <a:t>Step 2: Each allowed placement becomes a separate structure</a:t>
            </a:r>
          </a:p>
        </p:txBody>
      </p:sp>
      <p:sp>
        <p:nvSpPr>
          <p:cNvPr id="7" name="bullet-dot-7-0">
            <a:extLst xmlns:a="http://schemas.openxmlformats.org/drawingml/2006/main">
              <a:ext uri="{FF2B5EF4-FFF2-40B4-BE49-F238E27FC236}">
                <a16:creationId xmlns:a16="http://schemas.microsoft.com/office/drawing/2014/main" id="{8B729D4D-1370-4A21-B87D-F550CCB31EB3}"/>
              </a:ext>
            </a:extLst>
          </p:cNvPr>
          <p:cNvSpPr>
            <a:spLocks xmlns:a="http://schemas.openxmlformats.org/drawingml/2006/main" noGrp="1"/>
          </p:cNvSpPr>
          <p:nvPr/>
        </p:nvSpPr>
        <p:spPr>
          <a:xfrm xmlns:a="http://schemas.openxmlformats.org/drawingml/2006/main">
            <a:off x="942975" y="137160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4E79"/>
                </a:solidFill>
                <a:latin typeface="Arial"/>
                <a:ea typeface="Arial"/>
                <a:cs typeface="Arial"/>
              </a:defRPr>
            </a:pPr>
            <a:r>
              <a:rPr sz="1500">
                <a:solidFill>
                  <a:srgbClr val="1F4E79"/>
                </a:solidFill>
                <a:latin typeface="Arial"/>
                <a:ea typeface="Arial"/>
                <a:cs typeface="Arial"/>
              </a:rPr>
              <a:t>•</a:t>
            </a:r>
          </a:p>
        </p:txBody>
      </p:sp>
      <p:sp>
        <p:nvSpPr>
          <p:cNvPr id="8" name="bullet-7-0">
            <a:extLst xmlns:a="http://schemas.openxmlformats.org/drawingml/2006/main">
              <a:ext uri="{FF2B5EF4-FFF2-40B4-BE49-F238E27FC236}">
                <a16:creationId xmlns:a16="http://schemas.microsoft.com/office/drawing/2014/main" id="{CD5F8FA1-A024-4B20-A034-58681A1E0F20}"/>
              </a:ext>
            </a:extLst>
          </p:cNvPr>
          <p:cNvSpPr>
            <a:spLocks xmlns:a="http://schemas.openxmlformats.org/drawingml/2006/main" noGrp="1"/>
          </p:cNvSpPr>
          <p:nvPr/>
        </p:nvSpPr>
        <p:spPr>
          <a:xfrm xmlns:a="http://schemas.openxmlformats.org/drawingml/2006/main">
            <a:off x="1219200" y="138112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121"/>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One compound became </a:t>
            </a:r>
            <a:r>
              <a:rPr sz="1275" b="1">
                <a:solidFill>
                  <a:srgbClr val="2563EB"/>
                </a:solidFill>
                <a:latin typeface="Arial"/>
                <a:ea typeface="Arial"/>
                <a:cs typeface="Arial"/>
              </a:rPr>
              <a:t>30 structures</a:t>
            </a:r>
            <a:r>
              <a:rPr sz="1275" b="0">
                <a:solidFill>
                  <a:srgbClr val="374151"/>
                </a:solidFill>
                <a:latin typeface="Arial"/>
                <a:ea typeface="Arial"/>
                <a:cs typeface="Arial"/>
              </a:rPr>
              <a:t> on average, and 3,615 in total.</a:t>
            </a:r>
          </a:p>
        </p:txBody>
      </p:sp>
      <p:sp>
        <p:nvSpPr>
          <p:cNvPr id="9" name="bullet-dot-7-1">
            <a:extLst xmlns:a="http://schemas.openxmlformats.org/drawingml/2006/main">
              <a:ext uri="{FF2B5EF4-FFF2-40B4-BE49-F238E27FC236}">
                <a16:creationId xmlns:a16="http://schemas.microsoft.com/office/drawing/2014/main" id="{8C1A5506-08A1-4B0E-8632-2E6F78D51E3D}"/>
              </a:ext>
            </a:extLst>
          </p:cNvPr>
          <p:cNvSpPr>
            <a:spLocks xmlns:a="http://schemas.openxmlformats.org/drawingml/2006/main" noGrp="1"/>
          </p:cNvSpPr>
          <p:nvPr/>
        </p:nvSpPr>
        <p:spPr>
          <a:xfrm xmlns:a="http://schemas.openxmlformats.org/drawingml/2006/main">
            <a:off x="942975" y="1733550"/>
            <a:ext cx="1714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500">
                <a:solidFill>
                  <a:srgbClr val="1F2937"/>
                </a:solidFill>
                <a:latin typeface="Arial"/>
                <a:ea typeface="Arial"/>
                <a:cs typeface="Arial"/>
              </a:defRPr>
            </a:pPr>
            <a:r>
              <a:rPr sz="1500">
                <a:solidFill>
                  <a:srgbClr val="1F2937"/>
                </a:solidFill>
                <a:latin typeface="Arial"/>
                <a:ea typeface="Arial"/>
                <a:cs typeface="Arial"/>
              </a:rPr>
              <a:t>•</a:t>
            </a:r>
          </a:p>
        </p:txBody>
      </p:sp>
      <p:sp>
        <p:nvSpPr>
          <p:cNvPr id="10" name="bullet-7-1">
            <a:extLst xmlns:a="http://schemas.openxmlformats.org/drawingml/2006/main">
              <a:ext uri="{FF2B5EF4-FFF2-40B4-BE49-F238E27FC236}">
                <a16:creationId xmlns:a16="http://schemas.microsoft.com/office/drawing/2014/main" id="{617BA323-E5E0-4229-91DB-6D0F0F429002}"/>
              </a:ext>
            </a:extLst>
          </p:cNvPr>
          <p:cNvSpPr>
            <a:spLocks xmlns:a="http://schemas.openxmlformats.org/drawingml/2006/main" noGrp="1"/>
          </p:cNvSpPr>
          <p:nvPr/>
        </p:nvSpPr>
        <p:spPr>
          <a:xfrm xmlns:a="http://schemas.openxmlformats.org/drawingml/2006/main">
            <a:off x="1219200" y="1743075"/>
            <a:ext cx="723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1275">
                <a:solidFill>
                  <a:srgbClr val="1F2937"/>
                </a:solidFill>
                <a:latin typeface="Arial"/>
                <a:ea typeface="Arial"/>
                <a:cs typeface="Arial"/>
              </a:defRPr>
            </a:pPr>
            <a:r>
              <a:rPr sz="1275">
                <a:solidFill>
                  <a:srgbClr val="1F2937"/>
                </a:solidFill>
                <a:latin typeface="Arial"/>
                <a:ea typeface="Arial"/>
                <a:cs typeface="Arial"/>
              </a:rPr>
              <a:t>The winning site is </a:t>
            </a:r>
            <a:r>
              <a:rPr sz="1275" b="1">
                <a:solidFill>
                  <a:srgbClr val="BE123C"/>
                </a:solidFill>
                <a:latin typeface="Arial"/>
                <a:ea typeface="Arial"/>
                <a:cs typeface="Arial"/>
              </a:rPr>
              <a:t>an output of the generator</a:t>
            </a:r>
            <a:r>
              <a:rPr sz="1275" b="0">
                <a:solidFill>
                  <a:srgbClr val="374151"/>
                </a:solidFill>
                <a:latin typeface="Arial"/>
                <a:ea typeface="Arial"/>
                <a:cs typeface="Arial"/>
              </a:rPr>
              <a:t>, not a variable that was set.</a:t>
            </a:r>
          </a:p>
        </p:txBody>
      </p:sp>
      <p:sp>
        <p:nvSpPr>
          <p:cNvPr id="12" name="footer-brand-7">
            <a:extLst xmlns:a="http://schemas.openxmlformats.org/drawingml/2006/main">
              <a:ext uri="{FF2B5EF4-FFF2-40B4-BE49-F238E27FC236}">
                <a16:creationId xmlns:a16="http://schemas.microsoft.com/office/drawing/2014/main" id="{46BC1CC5-3053-4C81-B525-5A06538DED26}"/>
              </a:ext>
            </a:extLst>
          </p:cNvPr>
          <p:cNvSpPr>
            <a:spLocks xmlns:a="http://schemas.openxmlformats.org/drawingml/2006/main" noGrp="1"/>
          </p:cNvSpPr>
          <p:nvPr/>
        </p:nvSpPr>
        <p:spPr>
          <a:xfrm xmlns:a="http://schemas.openxmlformats.org/drawingml/2006/main">
            <a:off x="523875" y="6505575"/>
            <a:ext cx="1714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defRPr sz="750" b="1">
                <a:solidFill>
                  <a:srgbClr val="1F4E79"/>
                </a:solidFill>
                <a:latin typeface="Arial"/>
                <a:ea typeface="Arial"/>
                <a:cs typeface="Arial"/>
              </a:defRPr>
            </a:pPr>
            <a:r>
              <a:rPr sz="750" b="1">
                <a:solidFill>
                  <a:srgbClr val="1F4E79"/>
                </a:solidFill>
                <a:latin typeface="Arial"/>
                <a:ea typeface="Arial"/>
                <a:cs typeface="Arial"/>
              </a:rPr>
              <a:t>HANYANG UNIVERSITY</a:t>
            </a:r>
          </a:p>
        </p:txBody>
      </p:sp>
      <p:sp>
        <p:nvSpPr>
          <p:cNvPr id="13" name="footer-lab-7">
            <a:extLst xmlns:a="http://schemas.openxmlformats.org/drawingml/2006/main">
              <a:ext uri="{FF2B5EF4-FFF2-40B4-BE49-F238E27FC236}">
                <a16:creationId xmlns:a16="http://schemas.microsoft.com/office/drawing/2014/main" id="{AF03F0C6-1690-4949-A516-83BE967382BF}"/>
              </a:ext>
            </a:extLst>
          </p:cNvPr>
          <p:cNvSpPr>
            <a:spLocks xmlns:a="http://schemas.openxmlformats.org/drawingml/2006/main" noGrp="1"/>
          </p:cNvSpPr>
          <p:nvPr/>
        </p:nvSpPr>
        <p:spPr>
          <a:xfrm xmlns:a="http://schemas.openxmlformats.org/drawingml/2006/main">
            <a:off x="3619500" y="6505575"/>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defRPr sz="750">
                <a:solidFill>
                  <a:srgbClr val="6B7280"/>
                </a:solidFill>
                <a:latin typeface="Arial"/>
                <a:ea typeface="Arial"/>
                <a:cs typeface="Arial"/>
              </a:defRPr>
            </a:pPr>
            <a:r>
              <a:rPr sz="750">
                <a:solidFill>
                  <a:srgbClr val="6B7280"/>
                </a:solidFill>
                <a:latin typeface="Arial"/>
                <a:ea typeface="Arial"/>
                <a:cs typeface="Arial"/>
              </a:rPr>
              <a:t>Battery Materials Lab.</a:t>
            </a:r>
          </a:p>
        </p:txBody>
      </p:sp>
      <p:sp>
        <p:nvSpPr>
          <p:cNvPr id="14" name="footer-page-7">
            <a:extLst xmlns:a="http://schemas.openxmlformats.org/drawingml/2006/main">
              <a:ext uri="{FF2B5EF4-FFF2-40B4-BE49-F238E27FC236}">
                <a16:creationId xmlns:a16="http://schemas.microsoft.com/office/drawing/2014/main" id="{87518756-9244-43BF-AB49-DCB47889BC2A}"/>
              </a:ext>
            </a:extLst>
          </p:cNvPr>
          <p:cNvSpPr>
            <a:spLocks xmlns:a="http://schemas.openxmlformats.org/drawingml/2006/main" noGrp="1"/>
          </p:cNvSpPr>
          <p:nvPr/>
        </p:nvSpPr>
        <p:spPr>
          <a:xfrm xmlns:a="http://schemas.openxmlformats.org/drawingml/2006/main">
            <a:off x="8448675" y="6486525"/>
            <a:ext cx="2667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defRPr sz="825">
                <a:solidFill>
                  <a:srgbClr val="6B7280"/>
                </a:solidFill>
                <a:latin typeface="Arial"/>
                <a:ea typeface="Arial"/>
                <a:cs typeface="Arial"/>
              </a:defRPr>
            </a:pPr>
            <a:r>
              <a:rPr sz="825">
                <a:solidFill>
                  <a:srgbClr val="6B7280"/>
                </a:solidFill>
                <a:latin typeface="Arial"/>
                <a:ea typeface="Arial"/>
                <a:cs typeface="Arial"/>
              </a:rPr>
              <a:t>10</a:t>
            </a:r>
          </a:p>
        </p:txBody>
      </p:sp>
      <p:pic xmlns:a="http://schemas.openxmlformats.org/drawingml/2006/main" xmlns:r="http://schemas.openxmlformats.org/officeDocument/2006/relationships">
        <p:nvPicPr>
          <p:cNvPr id="31" name="Picture 30" descr="step2_anion_site.png"/>
          <p:cNvPicPr>
            <a:picLocks noChangeAspect="1"/>
          </p:cNvPicPr>
          <p:nvPr/>
        </p:nvPicPr>
        <p:blipFill>
          <a:blip r:embed="rId4"/>
          <a:stretch>
            <a:fillRect/>
          </a:stretch>
        </p:blipFill>
        <p:spPr>
          <a:xfrm>
            <a:off x="502920" y="2820924"/>
            <a:ext cx="4160520" cy="1783080"/>
          </a:xfrm>
          <a:prstGeom prst="rect">
            <a:avLst/>
          </a:prstGeom>
        </p:spPr>
      </p:pic>
      <p:graphicFrame xmlns:a="http://schemas.openxmlformats.org/drawingml/2006/main">
        <p:nvGraphicFramePr>
          <p:cNvPr id="32" name="Table 31"/>
          <p:cNvGraphicFramePr>
            <a:graphicFrameLocks noGrp="1"/>
          </p:cNvGraphicFramePr>
          <p:nvPr/>
        </p:nvGraphicFramePr>
        <p:xfrm>
          <a:off x="4864608" y="3172968"/>
          <a:ext cx="3776469" cy="1031440"/>
        </p:xfrm>
        <a:graphic>
          <a:graphicData uri="http://schemas.openxmlformats.org/drawingml/2006/table">
            <a:tbl>
              <a:tblPr firstRow="1">
                <a:tableStyleId>{5C22544A-7EE6-4342-B048-85BDC9FD1C3A}</a:tableStyleId>
              </a:tblPr>
              <a:tblGrid>
                <a:gridCol w="1325880"/>
                <a:gridCol w="816863"/>
                <a:gridCol w="816863"/>
                <a:gridCol w="816863"/>
              </a:tblGrid>
              <a:tr h="257860">
                <a:tc>
                  <a:txBody>
                    <a:bodyPr/>
                    <a:lstStyle/>
                    <a:p>
                      <a:pPr algn="l"/>
                      <a:r>
                        <a:rPr sz="1200" b="1">
                          <a:solidFill>
                            <a:srgbClr val="1F2937"/>
                          </a:solidFill>
                          <a:latin typeface="Arial"/>
                        </a:rPr>
                        <a:t/>
                      </a:r>
                    </a:p>
                  </a:txBody>
                  <a:tcPr marL="64008" marR="64008" marT="18288" marB="18288">
                    <a:solidFill>
                      <a:srgbClr val="EEF2F7"/>
                    </a:solidFill>
                  </a:tcPr>
                </a:tc>
                <a:tc>
                  <a:txBody>
                    <a:bodyPr/>
                    <a:lstStyle/>
                    <a:p>
                      <a:pPr algn="ctr"/>
                      <a:r>
                        <a:rPr sz="1200" b="1">
                          <a:solidFill>
                            <a:srgbClr val="1F2937"/>
                          </a:solidFill>
                          <a:latin typeface="Arial"/>
                        </a:rPr>
                        <a:t>free S</a:t>
                      </a:r>
                    </a:p>
                  </a:txBody>
                  <a:tcPr marL="64008" marR="64008" marT="18288" marB="18288">
                    <a:solidFill>
                      <a:srgbClr val="EEF2F7"/>
                    </a:solidFill>
                  </a:tcPr>
                </a:tc>
                <a:tc>
                  <a:txBody>
                    <a:bodyPr/>
                    <a:lstStyle/>
                    <a:p>
                      <a:pPr algn="ctr"/>
                      <a:r>
                        <a:rPr sz="1200" b="1">
                          <a:solidFill>
                            <a:srgbClr val="1F2937"/>
                          </a:solidFill>
                          <a:latin typeface="Arial"/>
                        </a:rPr>
                        <a:t>PS₄ corner</a:t>
                      </a:r>
                    </a:p>
                  </a:txBody>
                  <a:tcPr marL="64008" marR="64008" marT="18288" marB="18288">
                    <a:solidFill>
                      <a:srgbClr val="EEF2F7"/>
                    </a:solidFill>
                  </a:tcPr>
                </a:tc>
                <a:tc>
                  <a:txBody>
                    <a:bodyPr/>
                    <a:lstStyle/>
                    <a:p>
                      <a:pPr algn="ctr"/>
                      <a:r>
                        <a:rPr sz="1200" b="1">
                          <a:solidFill>
                            <a:srgbClr val="1F2937"/>
                          </a:solidFill>
                          <a:latin typeface="Arial"/>
                        </a:rPr>
                        <a:t>halide</a:t>
                      </a:r>
                    </a:p>
                  </a:txBody>
                  <a:tcPr marL="64008" marR="64008" marT="18288" marB="18288">
                    <a:solidFill>
                      <a:srgbClr val="EEF2F7"/>
                    </a:solidFill>
                  </a:tcPr>
                </a:tc>
              </a:tr>
              <a:tr h="257860">
                <a:tc>
                  <a:txBody>
                    <a:bodyPr/>
                    <a:lstStyle/>
                    <a:p>
                      <a:pPr algn="l"/>
                      <a:r>
                        <a:rPr sz="1200" b="0">
                          <a:solidFill>
                            <a:srgbClr val="374151"/>
                          </a:solidFill>
                          <a:latin typeface="Arial"/>
                        </a:rPr>
                        <a:t>Li 24g</a:t>
                      </a:r>
                    </a:p>
                  </a:txBody>
                  <a:tcPr marL="64008" marR="64008" marT="18288" marB="18288">
                    <a:solidFill>
                      <a:srgbClr val="FFFFFF"/>
                    </a:solidFill>
                  </a:tcPr>
                </a:tc>
                <a:tc>
                  <a:txBody>
                    <a:bodyPr/>
                    <a:lstStyle/>
                    <a:p>
                      <a:pPr algn="ctr"/>
                      <a:r>
                        <a:rPr sz="1200" b="1">
                          <a:solidFill>
                            <a:srgbClr val="2563EB"/>
                          </a:solidFill>
                          <a:latin typeface="Arial"/>
                        </a:rPr>
                        <a:t>1050</a:t>
                      </a:r>
                    </a:p>
                  </a:txBody>
                  <a:tcPr marL="64008" marR="64008" marT="18288" marB="18288">
                    <a:solidFill>
                      <a:srgbClr val="FFFFFF"/>
                    </a:solidFill>
                  </a:tcPr>
                </a:tc>
                <a:tc>
                  <a:txBody>
                    <a:bodyPr/>
                    <a:lstStyle/>
                    <a:p>
                      <a:pPr algn="ctr"/>
                      <a:r>
                        <a:rPr sz="1200" b="0">
                          <a:solidFill>
                            <a:srgbClr val="374151"/>
                          </a:solidFill>
                          <a:latin typeface="Arial"/>
                        </a:rPr>
                        <a:t>810</a:t>
                      </a:r>
                    </a:p>
                  </a:txBody>
                  <a:tcPr marL="64008" marR="64008" marT="18288" marB="18288">
                    <a:solidFill>
                      <a:srgbClr val="FFFFFF"/>
                    </a:solidFill>
                  </a:tcPr>
                </a:tc>
                <a:tc>
                  <a:txBody>
                    <a:bodyPr/>
                    <a:lstStyle/>
                    <a:p>
                      <a:pPr algn="ctr"/>
                      <a:r>
                        <a:rPr sz="1200" b="0">
                          <a:solidFill>
                            <a:srgbClr val="374151"/>
                          </a:solidFill>
                          <a:latin typeface="Arial"/>
                        </a:rPr>
                        <a:t>600</a:t>
                      </a:r>
                    </a:p>
                  </a:txBody>
                  <a:tcPr marL="64008" marR="64008" marT="18288" marB="18288">
                    <a:solidFill>
                      <a:srgbClr val="FFFFFF"/>
                    </a:solidFill>
                  </a:tcPr>
                </a:tc>
              </a:tr>
              <a:tr h="257860">
                <a:tc>
                  <a:txBody>
                    <a:bodyPr/>
                    <a:lstStyle/>
                    <a:p>
                      <a:pPr algn="l"/>
                      <a:r>
                        <a:rPr sz="1200" b="0">
                          <a:solidFill>
                            <a:srgbClr val="374151"/>
                          </a:solidFill>
                          <a:latin typeface="Arial"/>
                        </a:rPr>
                        <a:t>P 4b</a:t>
                      </a:r>
                    </a:p>
                  </a:txBody>
                  <a:tcPr marL="64008" marR="64008" marT="18288" marB="18288">
                    <a:solidFill>
                      <a:srgbClr val="FFFFFF"/>
                    </a:solidFill>
                  </a:tcPr>
                </a:tc>
                <a:tc>
                  <a:txBody>
                    <a:bodyPr/>
                    <a:lstStyle/>
                    <a:p>
                      <a:pPr algn="ctr"/>
                      <a:r>
                        <a:rPr sz="1200" b="0">
                          <a:solidFill>
                            <a:srgbClr val="374151"/>
                          </a:solidFill>
                          <a:latin typeface="Arial"/>
                        </a:rPr>
                        <a:t>375</a:t>
                      </a:r>
                    </a:p>
                  </a:txBody>
                  <a:tcPr marL="64008" marR="64008" marT="18288" marB="18288">
                    <a:solidFill>
                      <a:srgbClr val="FFFFFF"/>
                    </a:solidFill>
                  </a:tcPr>
                </a:tc>
                <a:tc>
                  <a:txBody>
                    <a:bodyPr/>
                    <a:lstStyle/>
                    <a:p>
                      <a:pPr algn="ctr"/>
                      <a:r>
                        <a:rPr sz="1200" b="0">
                          <a:solidFill>
                            <a:srgbClr val="374151"/>
                          </a:solidFill>
                          <a:latin typeface="Arial"/>
                        </a:rPr>
                        <a:t>270</a:t>
                      </a:r>
                    </a:p>
                  </a:txBody>
                  <a:tcPr marL="64008" marR="64008" marT="18288" marB="18288">
                    <a:solidFill>
                      <a:srgbClr val="FFFFFF"/>
                    </a:solidFill>
                  </a:tcPr>
                </a:tc>
                <a:tc>
                  <a:txBody>
                    <a:bodyPr/>
                    <a:lstStyle/>
                    <a:p>
                      <a:pPr algn="ctr"/>
                      <a:r>
                        <a:rPr sz="1200" b="0">
                          <a:solidFill>
                            <a:srgbClr val="374151"/>
                          </a:solidFill>
                          <a:latin typeface="Arial"/>
                        </a:rPr>
                        <a:t>180</a:t>
                      </a:r>
                    </a:p>
                  </a:txBody>
                  <a:tcPr marL="64008" marR="64008" marT="18288" marB="18288">
                    <a:solidFill>
                      <a:srgbClr val="FFFFFF"/>
                    </a:solidFill>
                  </a:tcPr>
                </a:tc>
              </a:tr>
              <a:tr h="257860">
                <a:tc>
                  <a:txBody>
                    <a:bodyPr/>
                    <a:lstStyle/>
                    <a:p>
                      <a:pPr algn="l"/>
                      <a:r>
                        <a:rPr sz="1200" b="0">
                          <a:solidFill>
                            <a:srgbClr val="374151"/>
                          </a:solidFill>
                          <a:latin typeface="Arial"/>
                        </a:rPr>
                        <a:t>Li 48h</a:t>
                      </a:r>
                    </a:p>
                  </a:txBody>
                  <a:tcPr marL="64008" marR="64008" marT="18288" marB="18288">
                    <a:solidFill>
                      <a:srgbClr val="FFFFFF"/>
                    </a:solidFill>
                  </a:tcPr>
                </a:tc>
                <a:tc>
                  <a:txBody>
                    <a:bodyPr/>
                    <a:lstStyle/>
                    <a:p>
                      <a:pPr algn="ctr"/>
                      <a:r>
                        <a:rPr sz="1200" b="0">
                          <a:solidFill>
                            <a:srgbClr val="374151"/>
                          </a:solidFill>
                          <a:latin typeface="Arial"/>
                        </a:rPr>
                        <a:t>120</a:t>
                      </a:r>
                    </a:p>
                  </a:txBody>
                  <a:tcPr marL="64008" marR="64008" marT="18288" marB="18288">
                    <a:solidFill>
                      <a:srgbClr val="FFFFFF"/>
                    </a:solidFill>
                  </a:tcPr>
                </a:tc>
                <a:tc>
                  <a:txBody>
                    <a:bodyPr/>
                    <a:lstStyle/>
                    <a:p>
                      <a:pPr algn="ctr"/>
                      <a:r>
                        <a:rPr sz="1200" b="0">
                          <a:solidFill>
                            <a:srgbClr val="374151"/>
                          </a:solidFill>
                          <a:latin typeface="Arial"/>
                        </a:rPr>
                        <a:t>105</a:t>
                      </a:r>
                    </a:p>
                  </a:txBody>
                  <a:tcPr marL="64008" marR="64008" marT="18288" marB="18288">
                    <a:solidFill>
                      <a:srgbClr val="FFFFFF"/>
                    </a:solidFill>
                  </a:tcPr>
                </a:tc>
                <a:tc>
                  <a:txBody>
                    <a:bodyPr/>
                    <a:lstStyle/>
                    <a:p>
                      <a:pPr algn="ctr"/>
                      <a:r>
                        <a:rPr sz="1200" b="0">
                          <a:solidFill>
                            <a:srgbClr val="374151"/>
                          </a:solidFill>
                          <a:latin typeface="Arial"/>
                        </a:rPr>
                        <a:t>105</a:t>
                      </a:r>
                    </a:p>
                  </a:txBody>
                  <a:tcPr marL="64008" marR="64008" marT="18288" marB="18288">
                    <a:solidFill>
                      <a:srgbClr val="FFFFFF"/>
                    </a:solidFill>
                  </a:tcPr>
                </a:tc>
              </a:tr>
            </a:tbl>
          </a:graphicData>
        </a:graphic>
      </p:graphicFrame>
      <p:sp xmlns:a="http://schemas.openxmlformats.org/drawingml/2006/main">
        <p:nvSpPr>
          <p:cNvPr id="33" name="TextBox 32"/>
          <p:cNvSpPr txBox="1"/>
          <p:nvPr/>
        </p:nvSpPr>
        <p:spPr>
          <a:xfrm>
            <a:off x="502920" y="5449824"/>
            <a:ext cx="8138160" cy="256032"/>
          </a:xfrm>
          <a:prstGeom prst="rect">
            <a:avLst/>
          </a:prstGeom>
          <a:noFill/>
        </p:spPr>
        <p:txBody>
          <a:bodyPr wrap="none">
            <a:spAutoFit/>
          </a:bodyPr>
          <a:lstStyle/>
          <a:p>
            <a:pPr algn="ctr"/>
            <a:r>
              <a:rPr sz="1300" b="0">
                <a:solidFill>
                  <a:srgbClr val="1F2937"/>
                </a:solidFill>
                <a:latin typeface="Arial"/>
              </a:rPr>
              <a:t>&lt; where the anion landed  ·  structures per site pair (cation ↓ / anion →) &gt;</a:t>
            </a:r>
          </a:p>
        </p:txBody>
      </p:sp>
      <p:sp xmlns:a="http://schemas.openxmlformats.org/drawingml/2006/main">
        <p:nvSpPr>
          <p:cNvPr id="34" name="TextBox 33"/>
          <p:cNvSpPr txBox="1"/>
          <p:nvPr/>
        </p:nvSpPr>
        <p:spPr>
          <a:xfrm>
            <a:off x="502920" y="5760720"/>
            <a:ext cx="8138160" cy="274320"/>
          </a:xfrm>
          <a:prstGeom prst="rect">
            <a:avLst/>
          </a:prstGeom>
          <a:noFill/>
        </p:spPr>
        <p:txBody>
          <a:bodyPr wrap="square">
            <a:spAutoFit/>
          </a:bodyPr>
          <a:lstStyle/>
          <a:p>
            <a:pPr algn="ctr"/>
            <a:r>
              <a:rPr sz="1150" b="0">
                <a:solidFill>
                  <a:srgbClr val="4B5563"/>
                </a:solidFill>
                <a:latin typeface="Arial"/>
              </a:rPr>
              <a:t>all nine site pairs were populated — </a:t>
            </a:r>
            <a:r>
              <a:rPr sz="1150" b="1">
                <a:solidFill>
                  <a:srgbClr val="BE123C"/>
                </a:solidFill>
                <a:latin typeface="Arial"/>
              </a:rPr>
              <a:t>the site was never fixed by design</a:t>
            </a:r>
          </a:p>
        </p:txBody>
      </p:sp>
    </p:spTree>
    <p:extLst>
      <p:ext uri="{BB962C8B-B14F-4D97-AF65-F5344CB8AC3E}">
        <p14:creationId xmlns:p14="http://schemas.microsoft.com/office/powerpoint/2010/main" val="129125584"/>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2026-08-16T17:36:15.2940000Z</dcterms:created>
  <dcterms:modified xsi:type="dcterms:W3CDTF">2026-08-16T17:36:15.2940000Z</dcterms:modified>
</coreProperties>
</file>